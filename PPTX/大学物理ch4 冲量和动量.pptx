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5"/>
  </p:notesMasterIdLst>
  <p:sldIdLst>
    <p:sldId id="269" r:id="rId2"/>
    <p:sldId id="310" r:id="rId3"/>
    <p:sldId id="282" r:id="rId4"/>
    <p:sldId id="283" r:id="rId5"/>
    <p:sldId id="311" r:id="rId6"/>
    <p:sldId id="312" r:id="rId7"/>
    <p:sldId id="314" r:id="rId8"/>
    <p:sldId id="285" r:id="rId9"/>
    <p:sldId id="316" r:id="rId10"/>
    <p:sldId id="317" r:id="rId11"/>
    <p:sldId id="318" r:id="rId12"/>
    <p:sldId id="319" r:id="rId13"/>
    <p:sldId id="286" r:id="rId14"/>
    <p:sldId id="305" r:id="rId15"/>
    <p:sldId id="287" r:id="rId16"/>
    <p:sldId id="288" r:id="rId17"/>
    <p:sldId id="289" r:id="rId18"/>
    <p:sldId id="290" r:id="rId19"/>
    <p:sldId id="301" r:id="rId20"/>
    <p:sldId id="327" r:id="rId21"/>
    <p:sldId id="298" r:id="rId22"/>
    <p:sldId id="299" r:id="rId23"/>
    <p:sldId id="330" r:id="rId24"/>
    <p:sldId id="309" r:id="rId25"/>
    <p:sldId id="293" r:id="rId26"/>
    <p:sldId id="296" r:id="rId27"/>
    <p:sldId id="294" r:id="rId28"/>
    <p:sldId id="295" r:id="rId29"/>
    <p:sldId id="297" r:id="rId30"/>
    <p:sldId id="303" r:id="rId31"/>
    <p:sldId id="308" r:id="rId32"/>
    <p:sldId id="306" r:id="rId33"/>
    <p:sldId id="329" r:id="rId3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00CC"/>
    <a:srgbClr val="080808"/>
    <a:srgbClr val="1C1C1C"/>
    <a:srgbClr val="333333"/>
    <a:srgbClr val="5F5F5F"/>
    <a:srgbClr val="B2B2B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24" autoAdjust="0"/>
  </p:normalViewPr>
  <p:slideViewPr>
    <p:cSldViewPr>
      <p:cViewPr varScale="1">
        <p:scale>
          <a:sx n="123" d="100"/>
          <a:sy n="123" d="100"/>
        </p:scale>
        <p:origin x="33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48F44A0-DF64-4991-9CE3-7411F910222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zh-CN" altLang="en-US"/>
          </a:p>
        </p:txBody>
      </p:sp>
      <p:sp>
        <p:nvSpPr>
          <p:cNvPr id="3" name="日期占位符 2">
            <a:extLst>
              <a:ext uri="{FF2B5EF4-FFF2-40B4-BE49-F238E27FC236}">
                <a16:creationId xmlns:a16="http://schemas.microsoft.com/office/drawing/2014/main" id="{316854C9-76D2-4516-B3CE-A084751593B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2E184796-50AB-4DEA-8D61-9811A0271DED}" type="datetimeFigureOut">
              <a:rPr lang="zh-CN" altLang="en-US"/>
              <a:pPr>
                <a:defRPr/>
              </a:pPr>
              <a:t>2026/3/12</a:t>
            </a:fld>
            <a:endParaRPr lang="zh-CN" altLang="en-US"/>
          </a:p>
        </p:txBody>
      </p:sp>
      <p:sp>
        <p:nvSpPr>
          <p:cNvPr id="4" name="幻灯片图像占位符 3">
            <a:extLst>
              <a:ext uri="{FF2B5EF4-FFF2-40B4-BE49-F238E27FC236}">
                <a16:creationId xmlns:a16="http://schemas.microsoft.com/office/drawing/2014/main" id="{4687CA3B-C385-4A58-8A3B-DF3C5265425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4E44200E-FA1C-4249-839E-9CA6F46527A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C9B08ACB-A893-48FC-83A4-4B7900B7813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zh-CN" altLang="en-US"/>
          </a:p>
        </p:txBody>
      </p:sp>
      <p:sp>
        <p:nvSpPr>
          <p:cNvPr id="7" name="灯片编号占位符 6">
            <a:extLst>
              <a:ext uri="{FF2B5EF4-FFF2-40B4-BE49-F238E27FC236}">
                <a16:creationId xmlns:a16="http://schemas.microsoft.com/office/drawing/2014/main" id="{4BB556E1-DE8E-433A-BF03-BD5A35EEDF0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C7E8B242-987A-48D3-907B-000C407B1895}"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486442865"/>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atin typeface="+mn-lt"/>
              </a:defRPr>
            </a:lvl1p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44005699"/>
      </p:ext>
    </p:extLst>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916818523"/>
      </p:ext>
    </p:extLst>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68645953"/>
      </p:ext>
    </p:extLst>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75014132"/>
      </p:ext>
    </p:extLst>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67301770"/>
      </p:ext>
    </p:extLst>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51974998"/>
      </p:ext>
    </p:extLst>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741188757"/>
      </p:ext>
    </p:extLst>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289150583"/>
      </p:ext>
    </p:extLst>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92338293"/>
      </p:ext>
    </p:extLst>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32638161"/>
      </p:ext>
    </p:extLst>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39590718"/>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a:extLst>
              <a:ext uri="{FF2B5EF4-FFF2-40B4-BE49-F238E27FC236}">
                <a16:creationId xmlns:a16="http://schemas.microsoft.com/office/drawing/2014/main" id="{57FF8B17-BEC4-40CD-8418-D2C4000B280C}"/>
              </a:ext>
            </a:extLst>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endParaRPr lang="zh-CN" altLang="en-US"/>
          </a:p>
        </p:txBody>
      </p:sp>
      <p:sp>
        <p:nvSpPr>
          <p:cNvPr id="1027" name="AutoShape 5">
            <a:hlinkClick r:id="" action="ppaction://hlinkshowjump?jump=firstslide" highlightClick="1"/>
            <a:extLst>
              <a:ext uri="{FF2B5EF4-FFF2-40B4-BE49-F238E27FC236}">
                <a16:creationId xmlns:a16="http://schemas.microsoft.com/office/drawing/2014/main" id="{53B0584B-4D21-4F34-9B12-3BAADF93E14E}"/>
              </a:ext>
            </a:extLst>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endParaRPr lang="zh-CN" altLang="en-US"/>
          </a:p>
        </p:txBody>
      </p:sp>
      <p:sp>
        <p:nvSpPr>
          <p:cNvPr id="1028" name="AutoShape 6">
            <a:hlinkClick r:id="" action="ppaction://hlinkshowjump?jump=nextslide" highlightClick="1"/>
            <a:extLst>
              <a:ext uri="{FF2B5EF4-FFF2-40B4-BE49-F238E27FC236}">
                <a16:creationId xmlns:a16="http://schemas.microsoft.com/office/drawing/2014/main" id="{C30DCA68-DD07-4100-8436-771BE4E4ADB8}"/>
              </a:ext>
            </a:extLst>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endParaRPr lang="zh-CN" altLang="en-US"/>
          </a:p>
        </p:txBody>
      </p:sp>
      <p:sp>
        <p:nvSpPr>
          <p:cNvPr id="1029" name="Rectangle 5">
            <a:extLst>
              <a:ext uri="{FF2B5EF4-FFF2-40B4-BE49-F238E27FC236}">
                <a16:creationId xmlns:a16="http://schemas.microsoft.com/office/drawing/2014/main" id="{C1E7BBBD-3C0B-4B82-A510-14FE773C3771}"/>
              </a:ext>
            </a:extLst>
          </p:cNvPr>
          <p:cNvSpPr>
            <a:spLocks noChangeArrowheads="1"/>
          </p:cNvSpPr>
          <p:nvPr userDrawn="1"/>
        </p:nvSpPr>
        <p:spPr bwMode="auto">
          <a:xfrm>
            <a:off x="1116013" y="3495675"/>
            <a:ext cx="7777162" cy="438150"/>
          </a:xfrm>
          <a:prstGeom prst="rect">
            <a:avLst/>
          </a:prstGeom>
          <a:noFill/>
          <a:ln>
            <a:noFill/>
          </a:ln>
          <a:effectLst/>
        </p:spPr>
        <p:txBody>
          <a:bodyPr lIns="90000" tIns="46800" rIns="90000" bIns="46800"/>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20000"/>
              </a:spcBef>
              <a:defRPr/>
            </a:pPr>
            <a:endParaRPr lang="zh-CN" altLang="en-US" sz="800">
              <a:latin typeface="Times New Roman" pitchFamily="18" charset="0"/>
            </a:endParaRPr>
          </a:p>
        </p:txBody>
      </p:sp>
      <p:grpSp>
        <p:nvGrpSpPr>
          <p:cNvPr id="1030" name="Group 6">
            <a:extLst>
              <a:ext uri="{FF2B5EF4-FFF2-40B4-BE49-F238E27FC236}">
                <a16:creationId xmlns:a16="http://schemas.microsoft.com/office/drawing/2014/main" id="{CDAA0483-B9A0-08EE-20EC-CCE003131E0A}"/>
              </a:ext>
            </a:extLst>
          </p:cNvPr>
          <p:cNvGrpSpPr>
            <a:grpSpLocks/>
          </p:cNvGrpSpPr>
          <p:nvPr userDrawn="1"/>
        </p:nvGrpSpPr>
        <p:grpSpPr bwMode="auto">
          <a:xfrm>
            <a:off x="7938" y="6604000"/>
            <a:ext cx="9086850" cy="4763"/>
            <a:chOff x="5" y="4160"/>
            <a:chExt cx="5724" cy="3"/>
          </a:xfrm>
        </p:grpSpPr>
        <p:sp>
          <p:nvSpPr>
            <p:cNvPr id="1031" name="Line 7">
              <a:extLst>
                <a:ext uri="{FF2B5EF4-FFF2-40B4-BE49-F238E27FC236}">
                  <a16:creationId xmlns:a16="http://schemas.microsoft.com/office/drawing/2014/main" id="{0E45330F-1088-256B-C077-3EBE901F46E7}"/>
                </a:ext>
              </a:extLst>
            </p:cNvPr>
            <p:cNvSpPr>
              <a:spLocks noChangeShapeType="1"/>
            </p:cNvSpPr>
            <p:nvPr userDrawn="1"/>
          </p:nvSpPr>
          <p:spPr bwMode="auto">
            <a:xfrm>
              <a:off x="5" y="4163"/>
              <a:ext cx="5724"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8">
              <a:extLst>
                <a:ext uri="{FF2B5EF4-FFF2-40B4-BE49-F238E27FC236}">
                  <a16:creationId xmlns:a16="http://schemas.microsoft.com/office/drawing/2014/main" id="{6E2DB9ED-3AED-A228-6FFA-48E4D89F1303}"/>
                </a:ext>
              </a:extLst>
            </p:cNvPr>
            <p:cNvSpPr>
              <a:spLocks noChangeShapeType="1"/>
            </p:cNvSpPr>
            <p:nvPr userDrawn="1"/>
          </p:nvSpPr>
          <p:spPr bwMode="auto">
            <a:xfrm>
              <a:off x="21" y="4160"/>
              <a:ext cx="5701"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charset="-122"/>
        </a:defRPr>
      </a:lvl2pPr>
      <a:lvl3pPr algn="ctr" rtl="0" eaLnBrk="0" fontAlgn="base" hangingPunct="0">
        <a:spcBef>
          <a:spcPct val="0"/>
        </a:spcBef>
        <a:spcAft>
          <a:spcPct val="0"/>
        </a:spcAft>
        <a:defRPr sz="4400">
          <a:solidFill>
            <a:schemeClr val="tx2"/>
          </a:solidFill>
          <a:latin typeface="Times New Roman" pitchFamily="18" charset="0"/>
          <a:ea typeface="宋体" charset="-122"/>
        </a:defRPr>
      </a:lvl3pPr>
      <a:lvl4pPr algn="ctr" rtl="0" eaLnBrk="0" fontAlgn="base" hangingPunct="0">
        <a:spcBef>
          <a:spcPct val="0"/>
        </a:spcBef>
        <a:spcAft>
          <a:spcPct val="0"/>
        </a:spcAft>
        <a:defRPr sz="4400">
          <a:solidFill>
            <a:schemeClr val="tx2"/>
          </a:solidFill>
          <a:latin typeface="Times New Roman" pitchFamily="18" charset="0"/>
          <a:ea typeface="宋体" charset="-122"/>
        </a:defRPr>
      </a:lvl4pPr>
      <a:lvl5pPr algn="ctr" rtl="0" eaLnBrk="0" fontAlgn="base" hangingPunct="0">
        <a:spcBef>
          <a:spcPct val="0"/>
        </a:spcBef>
        <a:spcAft>
          <a:spcPct val="0"/>
        </a:spcAft>
        <a:defRPr sz="4400">
          <a:solidFill>
            <a:schemeClr val="tx2"/>
          </a:solidFill>
          <a:latin typeface="Times New Roman" pitchFamily="18" charset="0"/>
          <a:ea typeface="宋体" charset="-122"/>
        </a:defRPr>
      </a:lvl5pPr>
      <a:lvl6pPr marL="457200" algn="ctr" rtl="0" fontAlgn="base">
        <a:spcBef>
          <a:spcPct val="0"/>
        </a:spcBef>
        <a:spcAft>
          <a:spcPct val="0"/>
        </a:spcAft>
        <a:defRPr sz="4400">
          <a:solidFill>
            <a:schemeClr val="tx2"/>
          </a:solidFill>
          <a:latin typeface="Times New Roman" pitchFamily="18" charset="0"/>
          <a:ea typeface="宋体" charset="-122"/>
        </a:defRPr>
      </a:lvl6pPr>
      <a:lvl7pPr marL="914400" algn="ctr" rtl="0" fontAlgn="base">
        <a:spcBef>
          <a:spcPct val="0"/>
        </a:spcBef>
        <a:spcAft>
          <a:spcPct val="0"/>
        </a:spcAft>
        <a:defRPr sz="4400">
          <a:solidFill>
            <a:schemeClr val="tx2"/>
          </a:solidFill>
          <a:latin typeface="Times New Roman" pitchFamily="18" charset="0"/>
          <a:ea typeface="宋体" charset="-122"/>
        </a:defRPr>
      </a:lvl7pPr>
      <a:lvl8pPr marL="1371600" algn="ctr" rtl="0" fontAlgn="base">
        <a:spcBef>
          <a:spcPct val="0"/>
        </a:spcBef>
        <a:spcAft>
          <a:spcPct val="0"/>
        </a:spcAft>
        <a:defRPr sz="4400">
          <a:solidFill>
            <a:schemeClr val="tx2"/>
          </a:solidFill>
          <a:latin typeface="Times New Roman" pitchFamily="18" charset="0"/>
          <a:ea typeface="宋体" charset="-122"/>
        </a:defRPr>
      </a:lvl8pPr>
      <a:lvl9pPr marL="1828800" algn="ctr" rtl="0" fontAlgn="base">
        <a:spcBef>
          <a:spcPct val="0"/>
        </a:spcBef>
        <a:spcAft>
          <a:spcPct val="0"/>
        </a:spcAft>
        <a:defRPr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2.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2.emf"/><Relationship Id="rId18" Type="http://schemas.openxmlformats.org/officeDocument/2006/relationships/oleObject" Target="../embeddings/oleObject14.bin"/><Relationship Id="rId3" Type="http://schemas.openxmlformats.org/officeDocument/2006/relationships/image" Target="../media/image7.emf"/><Relationship Id="rId7" Type="http://schemas.openxmlformats.org/officeDocument/2006/relationships/image" Target="../media/image9.emf"/><Relationship Id="rId12" Type="http://schemas.openxmlformats.org/officeDocument/2006/relationships/oleObject" Target="../embeddings/oleObject11.bin"/><Relationship Id="rId17" Type="http://schemas.openxmlformats.org/officeDocument/2006/relationships/image" Target="../media/image14.emf"/><Relationship Id="rId2" Type="http://schemas.openxmlformats.org/officeDocument/2006/relationships/oleObject" Target="../embeddings/oleObject6.bin"/><Relationship Id="rId16" Type="http://schemas.openxmlformats.org/officeDocument/2006/relationships/oleObject" Target="../embeddings/oleObject13.bin"/><Relationship Id="rId20" Type="http://schemas.openxmlformats.org/officeDocument/2006/relationships/image" Target="../media/image16.wmf"/><Relationship Id="rId1" Type="http://schemas.openxmlformats.org/officeDocument/2006/relationships/slideLayout" Target="../slideLayouts/slideLayout7.xml"/><Relationship Id="rId6" Type="http://schemas.openxmlformats.org/officeDocument/2006/relationships/oleObject" Target="../embeddings/oleObject8.bin"/><Relationship Id="rId11" Type="http://schemas.openxmlformats.org/officeDocument/2006/relationships/image" Target="../media/image11.emf"/><Relationship Id="rId5" Type="http://schemas.openxmlformats.org/officeDocument/2006/relationships/image" Target="../media/image8.emf"/><Relationship Id="rId15" Type="http://schemas.openxmlformats.org/officeDocument/2006/relationships/image" Target="../media/image13.emf"/><Relationship Id="rId10" Type="http://schemas.openxmlformats.org/officeDocument/2006/relationships/oleObject" Target="../embeddings/oleObject10.bin"/><Relationship Id="rId19" Type="http://schemas.openxmlformats.org/officeDocument/2006/relationships/image" Target="../media/image15.emf"/><Relationship Id="rId4" Type="http://schemas.openxmlformats.org/officeDocument/2006/relationships/oleObject" Target="../embeddings/oleObject7.bin"/><Relationship Id="rId9" Type="http://schemas.openxmlformats.org/officeDocument/2006/relationships/image" Target="../media/image10.emf"/><Relationship Id="rId14"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2.emf"/><Relationship Id="rId18" Type="http://schemas.openxmlformats.org/officeDocument/2006/relationships/oleObject" Target="../embeddings/oleObject23.bin"/><Relationship Id="rId3" Type="http://schemas.openxmlformats.org/officeDocument/2006/relationships/image" Target="../media/image17.emf"/><Relationship Id="rId21" Type="http://schemas.openxmlformats.org/officeDocument/2006/relationships/image" Target="../media/image26.emf"/><Relationship Id="rId7" Type="http://schemas.openxmlformats.org/officeDocument/2006/relationships/image" Target="../media/image19.emf"/><Relationship Id="rId12" Type="http://schemas.openxmlformats.org/officeDocument/2006/relationships/oleObject" Target="../embeddings/oleObject20.bin"/><Relationship Id="rId17" Type="http://schemas.openxmlformats.org/officeDocument/2006/relationships/image" Target="../media/image24.emf"/><Relationship Id="rId2" Type="http://schemas.openxmlformats.org/officeDocument/2006/relationships/oleObject" Target="../embeddings/oleObject15.bin"/><Relationship Id="rId16" Type="http://schemas.openxmlformats.org/officeDocument/2006/relationships/oleObject" Target="../embeddings/oleObject22.bin"/><Relationship Id="rId20" Type="http://schemas.openxmlformats.org/officeDocument/2006/relationships/oleObject" Target="../embeddings/oleObject24.bin"/><Relationship Id="rId1" Type="http://schemas.openxmlformats.org/officeDocument/2006/relationships/slideLayout" Target="../slideLayouts/slideLayout7.xml"/><Relationship Id="rId6" Type="http://schemas.openxmlformats.org/officeDocument/2006/relationships/oleObject" Target="../embeddings/oleObject17.bin"/><Relationship Id="rId11" Type="http://schemas.openxmlformats.org/officeDocument/2006/relationships/image" Target="../media/image21.emf"/><Relationship Id="rId5" Type="http://schemas.openxmlformats.org/officeDocument/2006/relationships/image" Target="../media/image18.emf"/><Relationship Id="rId15" Type="http://schemas.openxmlformats.org/officeDocument/2006/relationships/image" Target="../media/image23.emf"/><Relationship Id="rId10" Type="http://schemas.openxmlformats.org/officeDocument/2006/relationships/oleObject" Target="../embeddings/oleObject19.bin"/><Relationship Id="rId19" Type="http://schemas.openxmlformats.org/officeDocument/2006/relationships/image" Target="../media/image25.emf"/><Relationship Id="rId4" Type="http://schemas.openxmlformats.org/officeDocument/2006/relationships/oleObject" Target="../embeddings/oleObject16.bin"/><Relationship Id="rId9" Type="http://schemas.openxmlformats.org/officeDocument/2006/relationships/image" Target="../media/image20.emf"/><Relationship Id="rId14" Type="http://schemas.openxmlformats.org/officeDocument/2006/relationships/oleObject" Target="../embeddings/oleObject21.bin"/></Relationships>
</file>

<file path=ppt/slides/_rels/slide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wmf"/><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30.wmf"/><Relationship Id="rId4" Type="http://schemas.openxmlformats.org/officeDocument/2006/relationships/oleObject" Target="../embeddings/oleObject2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37.emf"/><Relationship Id="rId18" Type="http://schemas.openxmlformats.org/officeDocument/2006/relationships/oleObject" Target="../embeddings/oleObject36.bin"/><Relationship Id="rId3" Type="http://schemas.openxmlformats.org/officeDocument/2006/relationships/image" Target="../media/image32.emf"/><Relationship Id="rId21" Type="http://schemas.openxmlformats.org/officeDocument/2006/relationships/image" Target="../media/image41.emf"/><Relationship Id="rId7" Type="http://schemas.openxmlformats.org/officeDocument/2006/relationships/image" Target="../media/image34.emf"/><Relationship Id="rId12" Type="http://schemas.openxmlformats.org/officeDocument/2006/relationships/oleObject" Target="../embeddings/oleObject33.bin"/><Relationship Id="rId17" Type="http://schemas.openxmlformats.org/officeDocument/2006/relationships/image" Target="../media/image39.emf"/><Relationship Id="rId25" Type="http://schemas.openxmlformats.org/officeDocument/2006/relationships/image" Target="../media/image43.emf"/><Relationship Id="rId2" Type="http://schemas.openxmlformats.org/officeDocument/2006/relationships/oleObject" Target="../embeddings/oleObject28.bin"/><Relationship Id="rId16" Type="http://schemas.openxmlformats.org/officeDocument/2006/relationships/oleObject" Target="../embeddings/oleObject35.bin"/><Relationship Id="rId20"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36.emf"/><Relationship Id="rId24" Type="http://schemas.openxmlformats.org/officeDocument/2006/relationships/oleObject" Target="../embeddings/oleObject39.bin"/><Relationship Id="rId5" Type="http://schemas.openxmlformats.org/officeDocument/2006/relationships/image" Target="../media/image33.emf"/><Relationship Id="rId15" Type="http://schemas.openxmlformats.org/officeDocument/2006/relationships/image" Target="../media/image38.emf"/><Relationship Id="rId23" Type="http://schemas.openxmlformats.org/officeDocument/2006/relationships/image" Target="../media/image42.emf"/><Relationship Id="rId10" Type="http://schemas.openxmlformats.org/officeDocument/2006/relationships/oleObject" Target="../embeddings/oleObject32.bin"/><Relationship Id="rId19" Type="http://schemas.openxmlformats.org/officeDocument/2006/relationships/image" Target="../media/image40.emf"/><Relationship Id="rId4" Type="http://schemas.openxmlformats.org/officeDocument/2006/relationships/oleObject" Target="../embeddings/oleObject29.bin"/><Relationship Id="rId9" Type="http://schemas.openxmlformats.org/officeDocument/2006/relationships/image" Target="../media/image35.emf"/><Relationship Id="rId14" Type="http://schemas.openxmlformats.org/officeDocument/2006/relationships/oleObject" Target="../embeddings/oleObject34.bin"/><Relationship Id="rId22" Type="http://schemas.openxmlformats.org/officeDocument/2006/relationships/oleObject" Target="../embeddings/oleObject38.bin"/></Relationships>
</file>

<file path=ppt/slides/_rels/slide1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oleObject" Target="../embeddings/oleObject40.bin"/><Relationship Id="rId1" Type="http://schemas.openxmlformats.org/officeDocument/2006/relationships/slideLayout" Target="../slideLayouts/slideLayout2.xml"/><Relationship Id="rId5" Type="http://schemas.openxmlformats.org/officeDocument/2006/relationships/image" Target="../media/image45.emf"/><Relationship Id="rId4" Type="http://schemas.openxmlformats.org/officeDocument/2006/relationships/oleObject" Target="../embeddings/oleObject41.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46.emf"/><Relationship Id="rId7" Type="http://schemas.openxmlformats.org/officeDocument/2006/relationships/image" Target="../media/image48.emf"/><Relationship Id="rId2"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44.bin"/><Relationship Id="rId5" Type="http://schemas.openxmlformats.org/officeDocument/2006/relationships/image" Target="../media/image47.emf"/><Relationship Id="rId4" Type="http://schemas.openxmlformats.org/officeDocument/2006/relationships/oleObject" Target="../embeddings/oleObject43.bin"/><Relationship Id="rId9" Type="http://schemas.openxmlformats.org/officeDocument/2006/relationships/image" Target="../media/image49.e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50.emf"/><Relationship Id="rId7" Type="http://schemas.openxmlformats.org/officeDocument/2006/relationships/image" Target="../media/image52.e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5" Type="http://schemas.openxmlformats.org/officeDocument/2006/relationships/image" Target="../media/image51.emf"/><Relationship Id="rId4" Type="http://schemas.openxmlformats.org/officeDocument/2006/relationships/oleObject" Target="../embeddings/oleObject47.bin"/><Relationship Id="rId9" Type="http://schemas.openxmlformats.org/officeDocument/2006/relationships/image" Target="../media/image53.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s>
</file>

<file path=ppt/slides/_rels/slide16.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slideLayout" Target="../slideLayouts/slideLayout2.xml"/><Relationship Id="rId5" Type="http://schemas.openxmlformats.org/officeDocument/2006/relationships/image" Target="../media/image61.wmf"/><Relationship Id="rId4" Type="http://schemas.openxmlformats.org/officeDocument/2006/relationships/oleObject" Target="../embeddings/oleObject50.bin"/></Relationships>
</file>

<file path=ppt/slides/_rels/slide17.x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slideLayout" Target="../slideLayouts/slideLayout2.xml"/><Relationship Id="rId4" Type="http://schemas.openxmlformats.org/officeDocument/2006/relationships/image" Target="../media/image73.wmf"/></Relationships>
</file>

<file path=ppt/slides/_rels/slide2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2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image" Target="../media/image79.wmf"/><Relationship Id="rId7" Type="http://schemas.openxmlformats.org/officeDocument/2006/relationships/image" Target="../media/image81.wmf"/><Relationship Id="rId2" Type="http://schemas.openxmlformats.org/officeDocument/2006/relationships/oleObject" Target="../embeddings/oleObject51.bin"/><Relationship Id="rId1" Type="http://schemas.openxmlformats.org/officeDocument/2006/relationships/slideLayout" Target="../slideLayouts/slideLayout2.xml"/><Relationship Id="rId6" Type="http://schemas.openxmlformats.org/officeDocument/2006/relationships/oleObject" Target="../embeddings/oleObject53.bin"/><Relationship Id="rId5" Type="http://schemas.openxmlformats.org/officeDocument/2006/relationships/image" Target="../media/image80.wmf"/><Relationship Id="rId4" Type="http://schemas.openxmlformats.org/officeDocument/2006/relationships/oleObject" Target="../embeddings/oleObject52.bin"/><Relationship Id="rId9" Type="http://schemas.openxmlformats.org/officeDocument/2006/relationships/image" Target="../media/image8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Text Box 2">
            <a:extLst>
              <a:ext uri="{FF2B5EF4-FFF2-40B4-BE49-F238E27FC236}">
                <a16:creationId xmlns:a16="http://schemas.microsoft.com/office/drawing/2014/main" id="{48B56E7E-6835-4287-B221-7D573D4518EE}"/>
              </a:ext>
            </a:extLst>
          </p:cNvPr>
          <p:cNvSpPr txBox="1">
            <a:spLocks noChangeArrowheads="1"/>
          </p:cNvSpPr>
          <p:nvPr/>
        </p:nvSpPr>
        <p:spPr bwMode="auto">
          <a:xfrm>
            <a:off x="1430338" y="712788"/>
            <a:ext cx="6251575" cy="987425"/>
          </a:xfrm>
          <a:prstGeom prst="rect">
            <a:avLst/>
          </a:prstGeom>
          <a:noFill/>
          <a:ln>
            <a:noFill/>
          </a:ln>
          <a:effectLst/>
        </p:spPr>
        <p:txBody>
          <a:bodyPr tIns="82800" bIns="82800">
            <a:spAutoFit/>
          </a:bodyPr>
          <a:lstStyle/>
          <a:p>
            <a:pPr algn="ctr">
              <a:spcBef>
                <a:spcPct val="50000"/>
              </a:spcBef>
              <a:defRPr/>
            </a:pPr>
            <a:r>
              <a:rPr lang="zh-CN" altLang="en-US" sz="5400" b="1">
                <a:solidFill>
                  <a:srgbClr val="FF3300"/>
                </a:solidFill>
                <a:effectLst>
                  <a:outerShdw blurRad="38100" dist="38100" dir="2700000" algn="tl">
                    <a:srgbClr val="000000"/>
                  </a:outerShdw>
                </a:effectLst>
                <a:latin typeface="隶书" pitchFamily="49" charset="-122"/>
                <a:ea typeface="隶书" pitchFamily="49" charset="-122"/>
              </a:rPr>
              <a:t>第</a:t>
            </a:r>
            <a:r>
              <a:rPr lang="en-US" altLang="zh-CN" sz="5400" b="1">
                <a:solidFill>
                  <a:srgbClr val="FF3300"/>
                </a:solidFill>
                <a:effectLst>
                  <a:outerShdw blurRad="38100" dist="38100" dir="2700000" algn="tl">
                    <a:srgbClr val="000000"/>
                  </a:outerShdw>
                </a:effectLst>
                <a:latin typeface="隶书" pitchFamily="49" charset="-122"/>
                <a:ea typeface="隶书" pitchFamily="49" charset="-122"/>
              </a:rPr>
              <a:t>4</a:t>
            </a:r>
            <a:r>
              <a:rPr lang="zh-CN" altLang="en-US" sz="5400" b="1">
                <a:solidFill>
                  <a:srgbClr val="FF3300"/>
                </a:solidFill>
                <a:effectLst>
                  <a:outerShdw blurRad="38100" dist="38100" dir="2700000" algn="tl">
                    <a:srgbClr val="000000"/>
                  </a:outerShdw>
                </a:effectLst>
                <a:latin typeface="隶书" pitchFamily="49" charset="-122"/>
                <a:ea typeface="隶书" pitchFamily="49" charset="-122"/>
              </a:rPr>
              <a:t>章 冲量和动量</a:t>
            </a:r>
          </a:p>
        </p:txBody>
      </p:sp>
      <p:sp>
        <p:nvSpPr>
          <p:cNvPr id="3075" name="Text Box 9">
            <a:extLst>
              <a:ext uri="{FF2B5EF4-FFF2-40B4-BE49-F238E27FC236}">
                <a16:creationId xmlns:a16="http://schemas.microsoft.com/office/drawing/2014/main" id="{CC7755DC-60BE-CB87-6FEA-BDABD141807C}"/>
              </a:ext>
            </a:extLst>
          </p:cNvPr>
          <p:cNvSpPr txBox="1">
            <a:spLocks noChangeArrowheads="1"/>
          </p:cNvSpPr>
          <p:nvPr/>
        </p:nvSpPr>
        <p:spPr bwMode="auto">
          <a:xfrm>
            <a:off x="2784475" y="2967038"/>
            <a:ext cx="4086225"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FF66"/>
                </a:solidFill>
                <a:latin typeface="Times New Roman" panose="02020603050405020304" pitchFamily="18" charset="0"/>
              </a:rPr>
              <a:t>4. 1 </a:t>
            </a:r>
            <a:r>
              <a:rPr kumimoji="1" lang="zh-CN" altLang="en-US" sz="3200" b="1">
                <a:solidFill>
                  <a:srgbClr val="FFFF66"/>
                </a:solidFill>
                <a:latin typeface="Times New Roman" panose="02020603050405020304" pitchFamily="18" charset="0"/>
              </a:rPr>
              <a:t>质点动量定理</a:t>
            </a:r>
          </a:p>
        </p:txBody>
      </p:sp>
      <p:sp>
        <p:nvSpPr>
          <p:cNvPr id="3076" name="Text Box 10">
            <a:extLst>
              <a:ext uri="{FF2B5EF4-FFF2-40B4-BE49-F238E27FC236}">
                <a16:creationId xmlns:a16="http://schemas.microsoft.com/office/drawing/2014/main" id="{84C09B99-2BBE-ED72-BC43-46A5E7DDA38C}"/>
              </a:ext>
            </a:extLst>
          </p:cNvPr>
          <p:cNvSpPr txBox="1">
            <a:spLocks noChangeArrowheads="1"/>
          </p:cNvSpPr>
          <p:nvPr/>
        </p:nvSpPr>
        <p:spPr bwMode="auto">
          <a:xfrm>
            <a:off x="2784475" y="3535363"/>
            <a:ext cx="5532438"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FF66"/>
                </a:solidFill>
                <a:latin typeface="Times New Roman" panose="02020603050405020304" pitchFamily="18" charset="0"/>
              </a:rPr>
              <a:t>4. 2 </a:t>
            </a:r>
            <a:r>
              <a:rPr kumimoji="1" lang="zh-CN" altLang="en-US" sz="3200" b="1">
                <a:solidFill>
                  <a:srgbClr val="FFFF66"/>
                </a:solidFill>
                <a:latin typeface="Times New Roman" panose="02020603050405020304" pitchFamily="18" charset="0"/>
              </a:rPr>
              <a:t>质点系动量定理</a:t>
            </a:r>
          </a:p>
        </p:txBody>
      </p:sp>
      <p:sp>
        <p:nvSpPr>
          <p:cNvPr id="3077" name="Text Box 11">
            <a:extLst>
              <a:ext uri="{FF2B5EF4-FFF2-40B4-BE49-F238E27FC236}">
                <a16:creationId xmlns:a16="http://schemas.microsoft.com/office/drawing/2014/main" id="{C119009A-AC1E-B65C-A4B4-C095CDAEC7FA}"/>
              </a:ext>
            </a:extLst>
          </p:cNvPr>
          <p:cNvSpPr txBox="1">
            <a:spLocks noChangeArrowheads="1"/>
          </p:cNvSpPr>
          <p:nvPr/>
        </p:nvSpPr>
        <p:spPr bwMode="auto">
          <a:xfrm>
            <a:off x="2784475" y="4103688"/>
            <a:ext cx="5532438"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FF66"/>
                </a:solidFill>
                <a:latin typeface="Times New Roman" panose="02020603050405020304" pitchFamily="18" charset="0"/>
              </a:rPr>
              <a:t>4. 3 </a:t>
            </a:r>
            <a:r>
              <a:rPr kumimoji="1" lang="zh-CN" altLang="en-US" sz="3200" b="1">
                <a:solidFill>
                  <a:srgbClr val="FFFF66"/>
                </a:solidFill>
                <a:latin typeface="Times New Roman" panose="02020603050405020304" pitchFamily="18" charset="0"/>
              </a:rPr>
              <a:t>质点系动量守恒定律</a:t>
            </a:r>
          </a:p>
        </p:txBody>
      </p:sp>
      <p:sp>
        <p:nvSpPr>
          <p:cNvPr id="3078" name="Text Box 11">
            <a:extLst>
              <a:ext uri="{FF2B5EF4-FFF2-40B4-BE49-F238E27FC236}">
                <a16:creationId xmlns:a16="http://schemas.microsoft.com/office/drawing/2014/main" id="{10FB3EC9-F2FD-6662-5FF0-97BC81D08FC9}"/>
              </a:ext>
            </a:extLst>
          </p:cNvPr>
          <p:cNvSpPr txBox="1">
            <a:spLocks noChangeArrowheads="1"/>
          </p:cNvSpPr>
          <p:nvPr/>
        </p:nvSpPr>
        <p:spPr bwMode="auto">
          <a:xfrm>
            <a:off x="2749550" y="4724400"/>
            <a:ext cx="5532438"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FF66"/>
                </a:solidFill>
                <a:latin typeface="Times New Roman" panose="02020603050405020304" pitchFamily="18" charset="0"/>
              </a:rPr>
              <a:t>4. 4 </a:t>
            </a:r>
            <a:r>
              <a:rPr kumimoji="1" lang="zh-CN" altLang="en-US" sz="3200" b="1">
                <a:solidFill>
                  <a:srgbClr val="FFFF66"/>
                </a:solidFill>
                <a:latin typeface="Times New Roman" panose="02020603050405020304" pitchFamily="18" charset="0"/>
              </a:rPr>
              <a:t>质心和质心运动定理</a:t>
            </a:r>
          </a:p>
        </p:txBody>
      </p:sp>
    </p:spTree>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a:extLst>
              <a:ext uri="{FF2B5EF4-FFF2-40B4-BE49-F238E27FC236}">
                <a16:creationId xmlns:a16="http://schemas.microsoft.com/office/drawing/2014/main" id="{47F4C42B-E023-0EC9-62DD-E92FD9F5004E}"/>
              </a:ext>
            </a:extLst>
          </p:cNvPr>
          <p:cNvSpPr txBox="1">
            <a:spLocks noChangeArrowheads="1"/>
          </p:cNvSpPr>
          <p:nvPr/>
        </p:nvSpPr>
        <p:spPr bwMode="auto">
          <a:xfrm>
            <a:off x="2209800" y="298450"/>
            <a:ext cx="449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3200" b="1">
                <a:solidFill>
                  <a:srgbClr val="66FF33"/>
                </a:solidFill>
                <a:latin typeface="Times New Roman" panose="02020603050405020304" pitchFamily="18" charset="0"/>
                <a:ea typeface="黑体" panose="02010609060101010101" pitchFamily="49" charset="-122"/>
              </a:rPr>
              <a:t>4.1  </a:t>
            </a:r>
            <a:r>
              <a:rPr lang="zh-CN" altLang="en-US" sz="3200" b="1">
                <a:solidFill>
                  <a:srgbClr val="66FF33"/>
                </a:solidFill>
                <a:latin typeface="Times New Roman" panose="02020603050405020304" pitchFamily="18" charset="0"/>
                <a:ea typeface="黑体" panose="02010609060101010101" pitchFamily="49" charset="-122"/>
              </a:rPr>
              <a:t>质点动量定理</a:t>
            </a:r>
          </a:p>
        </p:txBody>
      </p:sp>
      <p:sp>
        <p:nvSpPr>
          <p:cNvPr id="4099" name="Text Box 15">
            <a:extLst>
              <a:ext uri="{FF2B5EF4-FFF2-40B4-BE49-F238E27FC236}">
                <a16:creationId xmlns:a16="http://schemas.microsoft.com/office/drawing/2014/main" id="{723978D8-0E4B-A6E1-B72E-EE3F628310C6}"/>
              </a:ext>
            </a:extLst>
          </p:cNvPr>
          <p:cNvSpPr txBox="1">
            <a:spLocks noChangeArrowheads="1"/>
          </p:cNvSpPr>
          <p:nvPr/>
        </p:nvSpPr>
        <p:spPr bwMode="auto">
          <a:xfrm>
            <a:off x="822325" y="974725"/>
            <a:ext cx="3935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kumimoji="1" lang="zh-CN" altLang="en-US" sz="2400" b="1">
              <a:latin typeface="Times New Roman" panose="02020603050405020304" pitchFamily="18" charset="0"/>
            </a:endParaRPr>
          </a:p>
        </p:txBody>
      </p:sp>
      <p:sp>
        <p:nvSpPr>
          <p:cNvPr id="4100" name="Text Box 16">
            <a:extLst>
              <a:ext uri="{FF2B5EF4-FFF2-40B4-BE49-F238E27FC236}">
                <a16:creationId xmlns:a16="http://schemas.microsoft.com/office/drawing/2014/main" id="{B1679FD5-7C8E-77F0-1514-5E4862920581}"/>
              </a:ext>
            </a:extLst>
          </p:cNvPr>
          <p:cNvSpPr txBox="1">
            <a:spLocks noChangeArrowheads="1"/>
          </p:cNvSpPr>
          <p:nvPr/>
        </p:nvSpPr>
        <p:spPr bwMode="auto">
          <a:xfrm>
            <a:off x="-138113" y="904875"/>
            <a:ext cx="32019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Times New Roman" panose="02020603050405020304" pitchFamily="18" charset="0"/>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冲量和动量</a:t>
            </a:r>
          </a:p>
        </p:txBody>
      </p:sp>
      <p:grpSp>
        <p:nvGrpSpPr>
          <p:cNvPr id="2" name="组合 1">
            <a:extLst>
              <a:ext uri="{FF2B5EF4-FFF2-40B4-BE49-F238E27FC236}">
                <a16:creationId xmlns:a16="http://schemas.microsoft.com/office/drawing/2014/main" id="{FA646171-5357-1ADD-2106-8A0312230565}"/>
              </a:ext>
            </a:extLst>
          </p:cNvPr>
          <p:cNvGrpSpPr>
            <a:grpSpLocks/>
          </p:cNvGrpSpPr>
          <p:nvPr/>
        </p:nvGrpSpPr>
        <p:grpSpPr bwMode="auto">
          <a:xfrm>
            <a:off x="6804025" y="987425"/>
            <a:ext cx="2065338" cy="1157288"/>
            <a:chOff x="6156325" y="1593850"/>
            <a:chExt cx="2065338" cy="1157288"/>
          </a:xfrm>
        </p:grpSpPr>
        <p:sp>
          <p:nvSpPr>
            <p:cNvPr id="4107" name="Oval 5">
              <a:extLst>
                <a:ext uri="{FF2B5EF4-FFF2-40B4-BE49-F238E27FC236}">
                  <a16:creationId xmlns:a16="http://schemas.microsoft.com/office/drawing/2014/main" id="{0B322DC4-6D47-5A89-2C00-C591BD6CE331}"/>
                </a:ext>
              </a:extLst>
            </p:cNvPr>
            <p:cNvSpPr>
              <a:spLocks noChangeArrowheads="1"/>
            </p:cNvSpPr>
            <p:nvPr/>
          </p:nvSpPr>
          <p:spPr bwMode="auto">
            <a:xfrm>
              <a:off x="6232525" y="2446338"/>
              <a:ext cx="304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108" name="Line 6">
              <a:extLst>
                <a:ext uri="{FF2B5EF4-FFF2-40B4-BE49-F238E27FC236}">
                  <a16:creationId xmlns:a16="http://schemas.microsoft.com/office/drawing/2014/main" id="{6B1D7D20-AAD9-C35D-C95F-C22B7B1322A2}"/>
                </a:ext>
              </a:extLst>
            </p:cNvPr>
            <p:cNvSpPr>
              <a:spLocks noChangeShapeType="1"/>
            </p:cNvSpPr>
            <p:nvPr/>
          </p:nvSpPr>
          <p:spPr bwMode="auto">
            <a:xfrm flipV="1">
              <a:off x="6527800" y="2084388"/>
              <a:ext cx="1143000" cy="45720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 name="Text Box 7">
              <a:extLst>
                <a:ext uri="{FF2B5EF4-FFF2-40B4-BE49-F238E27FC236}">
                  <a16:creationId xmlns:a16="http://schemas.microsoft.com/office/drawing/2014/main" id="{2A6939B2-BD8C-9CD4-C899-F57931C24435}"/>
                </a:ext>
              </a:extLst>
            </p:cNvPr>
            <p:cNvSpPr txBox="1">
              <a:spLocks noChangeArrowheads="1"/>
            </p:cNvSpPr>
            <p:nvPr/>
          </p:nvSpPr>
          <p:spPr bwMode="auto">
            <a:xfrm>
              <a:off x="6156325" y="1912938"/>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i="1">
                  <a:solidFill>
                    <a:srgbClr val="00FFFF"/>
                  </a:solidFill>
                  <a:latin typeface="Times New Roman" panose="02020603050405020304" pitchFamily="18" charset="0"/>
                </a:rPr>
                <a:t>m</a:t>
              </a:r>
              <a:endParaRPr lang="en-US" altLang="zh-CN" sz="2400">
                <a:solidFill>
                  <a:srgbClr val="00FFFF"/>
                </a:solidFill>
                <a:latin typeface="Times New Roman" panose="02020603050405020304" pitchFamily="18" charset="0"/>
              </a:endParaRPr>
            </a:p>
          </p:txBody>
        </p:sp>
        <p:graphicFrame>
          <p:nvGraphicFramePr>
            <p:cNvPr id="4110" name="Object 18">
              <a:extLst>
                <a:ext uri="{FF2B5EF4-FFF2-40B4-BE49-F238E27FC236}">
                  <a16:creationId xmlns:a16="http://schemas.microsoft.com/office/drawing/2014/main" id="{A132473E-271F-9660-AC4B-EEB06DA85D5E}"/>
                </a:ext>
              </a:extLst>
            </p:cNvPr>
            <p:cNvGraphicFramePr>
              <a:graphicFrameLocks noChangeAspect="1"/>
            </p:cNvGraphicFramePr>
            <p:nvPr/>
          </p:nvGraphicFramePr>
          <p:xfrm>
            <a:off x="6972300" y="1593850"/>
            <a:ext cx="1249363" cy="381000"/>
          </p:xfrm>
          <a:graphic>
            <a:graphicData uri="http://schemas.openxmlformats.org/presentationml/2006/ole">
              <mc:AlternateContent xmlns:mc="http://schemas.openxmlformats.org/markup-compatibility/2006">
                <mc:Choice xmlns:v="urn:schemas-microsoft-com:vml" Requires="v">
                  <p:oleObj name="公式" r:id="rId2" imgW="1000199" imgH="257175" progId="Equation.3">
                    <p:embed/>
                  </p:oleObj>
                </mc:Choice>
                <mc:Fallback>
                  <p:oleObj name="公式" r:id="rId2" imgW="1000199" imgH="257175"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2300" y="1593850"/>
                          <a:ext cx="1249363" cy="38100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102" name="对象 10">
            <a:extLst>
              <a:ext uri="{FF2B5EF4-FFF2-40B4-BE49-F238E27FC236}">
                <a16:creationId xmlns:a16="http://schemas.microsoft.com/office/drawing/2014/main" id="{1D5AEFF8-352D-55A2-97B4-F22377B90F20}"/>
              </a:ext>
            </a:extLst>
          </p:cNvPr>
          <p:cNvGraphicFramePr>
            <a:graphicFrameLocks noChangeAspect="1"/>
          </p:cNvGraphicFramePr>
          <p:nvPr/>
        </p:nvGraphicFramePr>
        <p:xfrm>
          <a:off x="3330575" y="1431925"/>
          <a:ext cx="1127125" cy="688975"/>
        </p:xfrm>
        <a:graphic>
          <a:graphicData uri="http://schemas.openxmlformats.org/presentationml/2006/ole">
            <mc:AlternateContent xmlns:mc="http://schemas.openxmlformats.org/markup-compatibility/2006">
              <mc:Choice xmlns:v="urn:schemas-microsoft-com:vml" Requires="v">
                <p:oleObj name="Equation" r:id="rId4" imgW="634725" imgH="393529" progId="Equation.DSMT4">
                  <p:embed/>
                </p:oleObj>
              </mc:Choice>
              <mc:Fallback>
                <p:oleObj name="Equation" r:id="rId4" imgW="634725" imgH="393529" progId="Equation.DSMT4">
                  <p:embed/>
                  <p:pic>
                    <p:nvPicPr>
                      <p:cNvPr id="0"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0575" y="1431925"/>
                        <a:ext cx="1127125" cy="688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3" name="对象 11">
            <a:extLst>
              <a:ext uri="{FF2B5EF4-FFF2-40B4-BE49-F238E27FC236}">
                <a16:creationId xmlns:a16="http://schemas.microsoft.com/office/drawing/2014/main" id="{E8015554-7FEF-E3FF-280E-A7E0A07C2F42}"/>
              </a:ext>
            </a:extLst>
          </p:cNvPr>
          <p:cNvGraphicFramePr>
            <a:graphicFrameLocks noChangeAspect="1"/>
          </p:cNvGraphicFramePr>
          <p:nvPr/>
        </p:nvGraphicFramePr>
        <p:xfrm>
          <a:off x="2998788" y="2349500"/>
          <a:ext cx="2265362" cy="842963"/>
        </p:xfrm>
        <a:graphic>
          <a:graphicData uri="http://schemas.openxmlformats.org/presentationml/2006/ole">
            <mc:AlternateContent xmlns:mc="http://schemas.openxmlformats.org/markup-compatibility/2006">
              <mc:Choice xmlns:v="urn:schemas-microsoft-com:vml" Requires="v">
                <p:oleObj name="Equation" r:id="rId6" imgW="1079032" imgH="406224" progId="Equation.DSMT4">
                  <p:embed/>
                </p:oleObj>
              </mc:Choice>
              <mc:Fallback>
                <p:oleObj name="Equation" r:id="rId6" imgW="1079032" imgH="406224" progId="Equation.DSMT4">
                  <p:embed/>
                  <p:pic>
                    <p:nvPicPr>
                      <p:cNvPr id="0" name="对象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98788" y="2349500"/>
                        <a:ext cx="2265362" cy="842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4" name="Rectangle 32">
            <a:extLst>
              <a:ext uri="{FF2B5EF4-FFF2-40B4-BE49-F238E27FC236}">
                <a16:creationId xmlns:a16="http://schemas.microsoft.com/office/drawing/2014/main" id="{C47DCF4B-76D4-B2B5-CF8A-4B20ED9F057F}"/>
              </a:ext>
            </a:extLst>
          </p:cNvPr>
          <p:cNvSpPr>
            <a:spLocks noChangeArrowheads="1"/>
          </p:cNvSpPr>
          <p:nvPr/>
        </p:nvSpPr>
        <p:spPr bwMode="auto">
          <a:xfrm>
            <a:off x="295275" y="1458913"/>
            <a:ext cx="24939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rgbClr val="FFC000"/>
                </a:solidFill>
                <a:latin typeface="Times New Roman" panose="02020603050405020304" pitchFamily="18" charset="0"/>
                <a:cs typeface="Times New Roman" panose="02020603050405020304" pitchFamily="18" charset="0"/>
              </a:rPr>
              <a:t>牛顿第二定律：</a:t>
            </a:r>
            <a:r>
              <a:rPr lang="zh-CN" altLang="en-US" sz="2400" b="1">
                <a:solidFill>
                  <a:srgbClr val="FFC000"/>
                </a:solidFill>
                <a:latin typeface="Times New Roman" panose="02020603050405020304" pitchFamily="18" charset="0"/>
                <a:cs typeface="Times New Roman" panose="02020603050405020304" pitchFamily="18" charset="0"/>
              </a:rPr>
              <a:t>  </a:t>
            </a:r>
            <a:endParaRPr lang="zh-CN" altLang="en-US" sz="3200" b="1">
              <a:solidFill>
                <a:srgbClr val="FFC000"/>
              </a:solidFill>
            </a:endParaRPr>
          </a:p>
        </p:txBody>
      </p:sp>
      <p:sp>
        <p:nvSpPr>
          <p:cNvPr id="4105" name="Rectangle 33">
            <a:extLst>
              <a:ext uri="{FF2B5EF4-FFF2-40B4-BE49-F238E27FC236}">
                <a16:creationId xmlns:a16="http://schemas.microsoft.com/office/drawing/2014/main" id="{3A37DD94-D5CC-2A72-98D8-3E9C00A19FB3}"/>
              </a:ext>
            </a:extLst>
          </p:cNvPr>
          <p:cNvSpPr>
            <a:spLocks noChangeArrowheads="1"/>
          </p:cNvSpPr>
          <p:nvPr/>
        </p:nvSpPr>
        <p:spPr bwMode="auto">
          <a:xfrm>
            <a:off x="295275" y="1397000"/>
            <a:ext cx="648017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latin typeface="Times New Roman" panose="02020603050405020304" pitchFamily="18" charset="0"/>
                <a:cs typeface="Times New Roman" panose="02020603050405020304" pitchFamily="18" charset="0"/>
              </a:rPr>
              <a:t>  				                                             </a:t>
            </a:r>
            <a:r>
              <a:rPr lang="en-US" altLang="zh-CN" sz="2400" b="1">
                <a:solidFill>
                  <a:srgbClr val="FFC000"/>
                </a:solidFill>
                <a:latin typeface="Times New Roman" panose="02020603050405020304" pitchFamily="18" charset="0"/>
                <a:cs typeface="Times New Roman" panose="02020603050405020304" pitchFamily="18" charset="0"/>
              </a:rPr>
              <a:t>(1)</a:t>
            </a:r>
            <a:endParaRPr lang="en-US" altLang="zh-CN" sz="800" b="1">
              <a:solidFill>
                <a:srgbClr val="FFC000"/>
              </a:solidFill>
            </a:endParaRPr>
          </a:p>
          <a:p>
            <a:endParaRPr lang="en-US" altLang="zh-CN" sz="2400" b="1">
              <a:solidFill>
                <a:srgbClr val="FFC000"/>
              </a:solidFill>
              <a:latin typeface="Times New Roman" panose="02020603050405020304" pitchFamily="18" charset="0"/>
              <a:cs typeface="Times New Roman" panose="02020603050405020304" pitchFamily="18" charset="0"/>
            </a:endParaRPr>
          </a:p>
          <a:p>
            <a:r>
              <a:rPr lang="zh-CN" altLang="en-US" sz="2400" b="1">
                <a:solidFill>
                  <a:srgbClr val="FFC000"/>
                </a:solidFill>
                <a:latin typeface="Times New Roman" panose="02020603050405020304" pitchFamily="18" charset="0"/>
                <a:cs typeface="Times New Roman" panose="02020603050405020304" pitchFamily="18" charset="0"/>
              </a:rPr>
              <a:t>更本质的写法：</a:t>
            </a:r>
            <a:endParaRPr lang="zh-CN" altLang="en-US" sz="3200" b="1">
              <a:solidFill>
                <a:srgbClr val="FFC000"/>
              </a:solidFill>
            </a:endParaRPr>
          </a:p>
        </p:txBody>
      </p:sp>
      <p:sp>
        <p:nvSpPr>
          <p:cNvPr id="15" name="Rectangle 34">
            <a:extLst>
              <a:ext uri="{FF2B5EF4-FFF2-40B4-BE49-F238E27FC236}">
                <a16:creationId xmlns:a16="http://schemas.microsoft.com/office/drawing/2014/main" id="{EF9D1D3B-6ACF-2E25-3939-0208DC83BF69}"/>
              </a:ext>
            </a:extLst>
          </p:cNvPr>
          <p:cNvSpPr>
            <a:spLocks noChangeArrowheads="1"/>
          </p:cNvSpPr>
          <p:nvPr/>
        </p:nvSpPr>
        <p:spPr bwMode="auto">
          <a:xfrm>
            <a:off x="-203200" y="2381250"/>
            <a:ext cx="7708900" cy="422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556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400" b="1">
                <a:solidFill>
                  <a:srgbClr val="FFC000"/>
                </a:solidFill>
                <a:latin typeface="Times New Roman" panose="02020603050405020304" pitchFamily="18" charset="0"/>
                <a:cs typeface="Times New Roman" panose="02020603050405020304" pitchFamily="18" charset="0"/>
              </a:rPr>
              <a:t>  			                                                   (2)</a:t>
            </a:r>
          </a:p>
          <a:p>
            <a:pPr>
              <a:lnSpc>
                <a:spcPct val="150000"/>
              </a:lnSpc>
            </a:pPr>
            <a:endParaRPr lang="en-US" altLang="zh-CN" sz="1100" b="1">
              <a:solidFill>
                <a:srgbClr val="FFC000"/>
              </a:solidFill>
            </a:endParaRPr>
          </a:p>
          <a:p>
            <a:pPr>
              <a:lnSpc>
                <a:spcPct val="150000"/>
              </a:lnSpc>
            </a:pPr>
            <a:r>
              <a:rPr lang="en-US" altLang="zh-CN" sz="2400" b="1">
                <a:solidFill>
                  <a:srgbClr val="FFC000"/>
                </a:solidFill>
                <a:latin typeface="Times New Roman" panose="02020603050405020304" pitchFamily="18" charset="0"/>
                <a:cs typeface="Times New Roman" panose="02020603050405020304" pitchFamily="18" charset="0"/>
              </a:rPr>
              <a:t>(2)</a:t>
            </a:r>
            <a:r>
              <a:rPr lang="zh-CN" altLang="en-US" sz="2400" b="1">
                <a:solidFill>
                  <a:srgbClr val="FFC000"/>
                </a:solidFill>
                <a:latin typeface="Times New Roman" panose="02020603050405020304" pitchFamily="18" charset="0"/>
                <a:cs typeface="Times New Roman" panose="02020603050405020304" pitchFamily="18" charset="0"/>
              </a:rPr>
              <a:t>式的写法比</a:t>
            </a:r>
            <a:r>
              <a:rPr lang="en-US" altLang="zh-CN" sz="2400" b="1">
                <a:solidFill>
                  <a:srgbClr val="FFC000"/>
                </a:solidFill>
                <a:latin typeface="Times New Roman" panose="02020603050405020304" pitchFamily="18" charset="0"/>
                <a:cs typeface="Times New Roman" panose="02020603050405020304" pitchFamily="18" charset="0"/>
              </a:rPr>
              <a:t>(1)</a:t>
            </a:r>
            <a:r>
              <a:rPr lang="zh-CN" altLang="en-US" sz="2400" b="1">
                <a:solidFill>
                  <a:srgbClr val="FFC000"/>
                </a:solidFill>
                <a:latin typeface="Times New Roman" panose="02020603050405020304" pitchFamily="18" charset="0"/>
                <a:cs typeface="Times New Roman" panose="02020603050405020304" pitchFamily="18" charset="0"/>
              </a:rPr>
              <a:t>式的写法更具有普遍性。</a:t>
            </a:r>
            <a:endParaRPr lang="zh-CN" altLang="en-US" sz="1100" b="1">
              <a:solidFill>
                <a:srgbClr val="FFC000"/>
              </a:solidFill>
            </a:endParaRPr>
          </a:p>
          <a:p>
            <a:pPr>
              <a:lnSpc>
                <a:spcPct val="150000"/>
              </a:lnSpc>
            </a:pPr>
            <a:r>
              <a:rPr lang="zh-CN" altLang="en-US" sz="2400" b="1">
                <a:solidFill>
                  <a:srgbClr val="FFC000"/>
                </a:solidFill>
                <a:latin typeface="Times New Roman" panose="02020603050405020304" pitchFamily="18" charset="0"/>
                <a:cs typeface="Times New Roman" panose="02020603050405020304" pitchFamily="18" charset="0"/>
              </a:rPr>
              <a:t>当</a:t>
            </a:r>
            <a:r>
              <a:rPr lang="en-US" altLang="zh-CN" sz="2400" b="1">
                <a:solidFill>
                  <a:srgbClr val="FFC000"/>
                </a:solidFill>
                <a:latin typeface="Times New Roman" panose="02020603050405020304" pitchFamily="18" charset="0"/>
                <a:cs typeface="Times New Roman" panose="02020603050405020304" pitchFamily="18" charset="0"/>
              </a:rPr>
              <a:t>m</a:t>
            </a:r>
            <a:r>
              <a:rPr lang="zh-CN" altLang="en-US" sz="2400" b="1">
                <a:solidFill>
                  <a:srgbClr val="FFC000"/>
                </a:solidFill>
                <a:latin typeface="Times New Roman" panose="02020603050405020304" pitchFamily="18" charset="0"/>
                <a:cs typeface="Times New Roman" panose="02020603050405020304" pitchFamily="18" charset="0"/>
              </a:rPr>
              <a:t>为常数时，</a:t>
            </a:r>
            <a:r>
              <a:rPr lang="en-US" altLang="zh-CN" sz="2400" b="1">
                <a:solidFill>
                  <a:srgbClr val="FFC000"/>
                </a:solidFill>
                <a:latin typeface="Times New Roman" panose="02020603050405020304" pitchFamily="18" charset="0"/>
                <a:cs typeface="Times New Roman" panose="02020603050405020304" pitchFamily="18" charset="0"/>
              </a:rPr>
              <a:t>(2)</a:t>
            </a:r>
            <a:r>
              <a:rPr lang="zh-CN" altLang="en-US" sz="2400" b="1">
                <a:solidFill>
                  <a:srgbClr val="FFC000"/>
                </a:solidFill>
                <a:latin typeface="Times New Roman" panose="02020603050405020304" pitchFamily="18" charset="0"/>
                <a:cs typeface="Times New Roman" panose="02020603050405020304" pitchFamily="18" charset="0"/>
              </a:rPr>
              <a:t>式由导数运算可得</a:t>
            </a:r>
            <a:r>
              <a:rPr lang="en-US" altLang="zh-CN" sz="2400" b="1">
                <a:solidFill>
                  <a:srgbClr val="FFC000"/>
                </a:solidFill>
                <a:latin typeface="Times New Roman" panose="02020603050405020304" pitchFamily="18" charset="0"/>
                <a:cs typeface="Times New Roman" panose="02020603050405020304" pitchFamily="18" charset="0"/>
              </a:rPr>
              <a:t>(1)</a:t>
            </a:r>
            <a:r>
              <a:rPr lang="zh-CN" altLang="en-US" sz="2400" b="1">
                <a:solidFill>
                  <a:srgbClr val="FFC000"/>
                </a:solidFill>
                <a:latin typeface="Times New Roman" panose="02020603050405020304" pitchFamily="18" charset="0"/>
                <a:cs typeface="Times New Roman" panose="02020603050405020304" pitchFamily="18" charset="0"/>
              </a:rPr>
              <a:t>式</a:t>
            </a:r>
            <a:r>
              <a:rPr lang="en-US" altLang="zh-CN" sz="2400" b="1">
                <a:solidFill>
                  <a:srgbClr val="FFC000"/>
                </a:solidFill>
                <a:latin typeface="Times New Roman" panose="02020603050405020304" pitchFamily="18" charset="0"/>
                <a:cs typeface="Times New Roman" panose="02020603050405020304" pitchFamily="18" charset="0"/>
              </a:rPr>
              <a:t>;</a:t>
            </a:r>
            <a:endParaRPr lang="en-US" altLang="zh-CN" sz="1100" b="1">
              <a:solidFill>
                <a:srgbClr val="FFC000"/>
              </a:solidFill>
            </a:endParaRPr>
          </a:p>
          <a:p>
            <a:pPr>
              <a:lnSpc>
                <a:spcPct val="150000"/>
              </a:lnSpc>
            </a:pPr>
            <a:r>
              <a:rPr lang="zh-CN" altLang="en-US" sz="2400" b="1">
                <a:solidFill>
                  <a:srgbClr val="FFC000"/>
                </a:solidFill>
                <a:latin typeface="Times New Roman" panose="02020603050405020304" pitchFamily="18" charset="0"/>
                <a:cs typeface="Times New Roman" panose="02020603050405020304" pitchFamily="18" charset="0"/>
              </a:rPr>
              <a:t>当</a:t>
            </a:r>
            <a:r>
              <a:rPr lang="en-US" altLang="zh-CN" sz="2400" b="1">
                <a:solidFill>
                  <a:srgbClr val="FFC000"/>
                </a:solidFill>
                <a:latin typeface="Times New Roman" panose="02020603050405020304" pitchFamily="18" charset="0"/>
                <a:cs typeface="Times New Roman" panose="02020603050405020304" pitchFamily="18" charset="0"/>
              </a:rPr>
              <a:t>m</a:t>
            </a:r>
            <a:r>
              <a:rPr lang="zh-CN" altLang="en-US" sz="2400" b="1">
                <a:solidFill>
                  <a:srgbClr val="FFC000"/>
                </a:solidFill>
                <a:latin typeface="Times New Roman" panose="02020603050405020304" pitchFamily="18" charset="0"/>
                <a:cs typeface="Times New Roman" panose="02020603050405020304" pitchFamily="18" charset="0"/>
              </a:rPr>
              <a:t>为变量时，</a:t>
            </a:r>
            <a:r>
              <a:rPr lang="en-US" altLang="zh-CN" sz="2400" b="1">
                <a:solidFill>
                  <a:srgbClr val="FFC000"/>
                </a:solidFill>
                <a:latin typeface="Times New Roman" panose="02020603050405020304" pitchFamily="18" charset="0"/>
                <a:cs typeface="Times New Roman" panose="02020603050405020304" pitchFamily="18" charset="0"/>
              </a:rPr>
              <a:t>(1)</a:t>
            </a:r>
            <a:r>
              <a:rPr lang="zh-CN" altLang="en-US" sz="2400" b="1">
                <a:solidFill>
                  <a:srgbClr val="FFC000"/>
                </a:solidFill>
                <a:latin typeface="Times New Roman" panose="02020603050405020304" pitchFamily="18" charset="0"/>
                <a:cs typeface="Times New Roman" panose="02020603050405020304" pitchFamily="18" charset="0"/>
              </a:rPr>
              <a:t>式解决不了问题，但</a:t>
            </a:r>
            <a:r>
              <a:rPr lang="en-US" altLang="zh-CN" sz="2400" b="1">
                <a:solidFill>
                  <a:srgbClr val="FFC000"/>
                </a:solidFill>
                <a:latin typeface="Times New Roman" panose="02020603050405020304" pitchFamily="18" charset="0"/>
                <a:cs typeface="Times New Roman" panose="02020603050405020304" pitchFamily="18" charset="0"/>
              </a:rPr>
              <a:t>(2)</a:t>
            </a:r>
            <a:r>
              <a:rPr lang="zh-CN" altLang="en-US" sz="2400" b="1">
                <a:solidFill>
                  <a:srgbClr val="FFC000"/>
                </a:solidFill>
                <a:latin typeface="Times New Roman" panose="02020603050405020304" pitchFamily="18" charset="0"/>
                <a:cs typeface="Times New Roman" panose="02020603050405020304" pitchFamily="18" charset="0"/>
              </a:rPr>
              <a:t>式能解决。</a:t>
            </a:r>
            <a:endParaRPr lang="zh-CN" altLang="en-US" sz="1100" b="1">
              <a:solidFill>
                <a:srgbClr val="FFC000"/>
              </a:solidFill>
            </a:endParaRPr>
          </a:p>
          <a:p>
            <a:pPr>
              <a:lnSpc>
                <a:spcPct val="150000"/>
              </a:lnSpc>
            </a:pPr>
            <a:r>
              <a:rPr lang="en-US" altLang="zh-CN" sz="2400" b="1">
                <a:solidFill>
                  <a:srgbClr val="FFC000"/>
                </a:solidFill>
                <a:latin typeface="Times New Roman" panose="02020603050405020304" pitchFamily="18" charset="0"/>
                <a:cs typeface="Times New Roman" panose="02020603050405020304" pitchFamily="18" charset="0"/>
              </a:rPr>
              <a:t>P</a:t>
            </a:r>
            <a:r>
              <a:rPr lang="zh-CN" altLang="en-US" sz="2400" b="1">
                <a:solidFill>
                  <a:srgbClr val="FFC000"/>
                </a:solidFill>
                <a:latin typeface="Times New Roman" panose="02020603050405020304" pitchFamily="18" charset="0"/>
                <a:cs typeface="Times New Roman" panose="02020603050405020304" pitchFamily="18" charset="0"/>
              </a:rPr>
              <a:t>＝</a:t>
            </a:r>
            <a:r>
              <a:rPr lang="en-US" altLang="zh-CN" sz="2400" b="1">
                <a:solidFill>
                  <a:srgbClr val="FFC000"/>
                </a:solidFill>
                <a:latin typeface="Times New Roman" panose="02020603050405020304" pitchFamily="18" charset="0"/>
                <a:cs typeface="Times New Roman" panose="02020603050405020304" pitchFamily="18" charset="0"/>
              </a:rPr>
              <a:t>mv</a:t>
            </a:r>
            <a:r>
              <a:rPr lang="zh-CN" altLang="en-US" sz="2400" b="1">
                <a:solidFill>
                  <a:srgbClr val="FFC000"/>
                </a:solidFill>
                <a:latin typeface="Times New Roman" panose="02020603050405020304" pitchFamily="18" charset="0"/>
                <a:cs typeface="Times New Roman" panose="02020603050405020304" pitchFamily="18" charset="0"/>
              </a:rPr>
              <a:t>就是</a:t>
            </a:r>
            <a:r>
              <a:rPr lang="en-US" altLang="zh-CN" sz="2400" b="1">
                <a:solidFill>
                  <a:srgbClr val="FFC000"/>
                </a:solidFill>
                <a:latin typeface="Times New Roman" panose="02020603050405020304" pitchFamily="18" charset="0"/>
                <a:cs typeface="Times New Roman" panose="02020603050405020304" pitchFamily="18" charset="0"/>
              </a:rPr>
              <a:t>——</a:t>
            </a:r>
            <a:r>
              <a:rPr lang="zh-CN" altLang="en-US" sz="2400" b="1">
                <a:solidFill>
                  <a:srgbClr val="FF0000"/>
                </a:solidFill>
                <a:latin typeface="Times New Roman" panose="02020603050405020304" pitchFamily="18" charset="0"/>
                <a:cs typeface="Times New Roman" panose="02020603050405020304" pitchFamily="18" charset="0"/>
              </a:rPr>
              <a:t>动量</a:t>
            </a:r>
            <a:endParaRPr lang="zh-CN" altLang="en-US" sz="1100" b="1">
              <a:solidFill>
                <a:srgbClr val="FF0000"/>
              </a:solidFill>
            </a:endParaRPr>
          </a:p>
          <a:p>
            <a:pPr>
              <a:lnSpc>
                <a:spcPct val="150000"/>
              </a:lnSpc>
            </a:pPr>
            <a:r>
              <a:rPr lang="en-US" altLang="zh-CN" sz="2400" b="1">
                <a:solidFill>
                  <a:srgbClr val="FFC000"/>
                </a:solidFill>
                <a:latin typeface="Times New Roman" panose="02020603050405020304" pitchFamily="18" charset="0"/>
                <a:cs typeface="Times New Roman" panose="02020603050405020304" pitchFamily="18" charset="0"/>
              </a:rPr>
              <a:t>(2)</a:t>
            </a:r>
            <a:r>
              <a:rPr lang="zh-CN" altLang="en-US" sz="2400" b="1">
                <a:solidFill>
                  <a:srgbClr val="FFC000"/>
                </a:solidFill>
                <a:latin typeface="Times New Roman" panose="02020603050405020304" pitchFamily="18" charset="0"/>
                <a:cs typeface="Times New Roman" panose="02020603050405020304" pitchFamily="18" charset="0"/>
              </a:rPr>
              <a:t>式可解释成：</a:t>
            </a:r>
            <a:r>
              <a:rPr lang="zh-CN" altLang="en-US" sz="2400" b="1">
                <a:solidFill>
                  <a:srgbClr val="FF0000"/>
                </a:solidFill>
                <a:latin typeface="Times New Roman" panose="02020603050405020304" pitchFamily="18" charset="0"/>
                <a:cs typeface="Times New Roman" panose="02020603050405020304" pitchFamily="18" charset="0"/>
              </a:rPr>
              <a:t>力的效果是使质点的动量发生变化</a:t>
            </a:r>
            <a:r>
              <a:rPr lang="zh-CN" altLang="en-US" sz="2400" b="1">
                <a:solidFill>
                  <a:srgbClr val="FFC000"/>
                </a:solidFill>
                <a:latin typeface="Times New Roman" panose="02020603050405020304" pitchFamily="18" charset="0"/>
                <a:cs typeface="Times New Roman" panose="02020603050405020304" pitchFamily="18" charset="0"/>
              </a:rPr>
              <a:t>。</a:t>
            </a:r>
            <a:endParaRPr lang="zh-CN" altLang="en-US" sz="1100" b="1">
              <a:solidFill>
                <a:srgbClr val="FFC000"/>
              </a:solidFill>
            </a:endParaRPr>
          </a:p>
          <a:p>
            <a:pPr>
              <a:lnSpc>
                <a:spcPct val="150000"/>
              </a:lnSpc>
            </a:pPr>
            <a:r>
              <a:rPr lang="zh-CN" altLang="en-US" sz="2400" b="1">
                <a:solidFill>
                  <a:srgbClr val="FF0000"/>
                </a:solidFill>
                <a:latin typeface="Times New Roman" panose="02020603050405020304" pitchFamily="18" charset="0"/>
                <a:cs typeface="Times New Roman" panose="02020603050405020304" pitchFamily="18" charset="0"/>
              </a:rPr>
              <a:t>力＝质点动量的变化率</a:t>
            </a:r>
            <a:endParaRPr lang="zh-CN" altLang="en-US" sz="3200" b="1">
              <a:solidFill>
                <a:srgbClr val="FF0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E68FAFD2-3872-7333-0252-418F853987CD}"/>
              </a:ext>
            </a:extLst>
          </p:cNvPr>
          <p:cNvGraphicFramePr>
            <a:graphicFrameLocks noChangeAspect="1"/>
          </p:cNvGraphicFramePr>
          <p:nvPr/>
        </p:nvGraphicFramePr>
        <p:xfrm>
          <a:off x="3798888" y="765175"/>
          <a:ext cx="1477962" cy="496888"/>
        </p:xfrm>
        <a:graphic>
          <a:graphicData uri="http://schemas.openxmlformats.org/presentationml/2006/ole">
            <mc:AlternateContent xmlns:mc="http://schemas.openxmlformats.org/markup-compatibility/2006">
              <mc:Choice xmlns:v="urn:schemas-microsoft-com:vml" Requires="v">
                <p:oleObj name="Equation" r:id="rId2" imgW="596641" imgH="203112" progId="Equation.DSMT4">
                  <p:embed/>
                </p:oleObj>
              </mc:Choice>
              <mc:Fallback>
                <p:oleObj name="Equation" r:id="rId2" imgW="596641" imgH="203112"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8888" y="765175"/>
                        <a:ext cx="14779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386" name="Picture 2">
            <a:extLst>
              <a:ext uri="{FF2B5EF4-FFF2-40B4-BE49-F238E27FC236}">
                <a16:creationId xmlns:a16="http://schemas.microsoft.com/office/drawing/2014/main" id="{C314A2EC-C079-F648-117F-2AE5C27EAE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2132013"/>
            <a:ext cx="4435475" cy="863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3" name="对象 2">
            <a:extLst>
              <a:ext uri="{FF2B5EF4-FFF2-40B4-BE49-F238E27FC236}">
                <a16:creationId xmlns:a16="http://schemas.microsoft.com/office/drawing/2014/main" id="{3E4A67FB-0A81-8DE0-6307-5F8C8BB66636}"/>
              </a:ext>
            </a:extLst>
          </p:cNvPr>
          <p:cNvGraphicFramePr>
            <a:graphicFrameLocks noChangeAspect="1"/>
          </p:cNvGraphicFramePr>
          <p:nvPr/>
        </p:nvGraphicFramePr>
        <p:xfrm>
          <a:off x="3805238" y="3141663"/>
          <a:ext cx="1708150" cy="889000"/>
        </p:xfrm>
        <a:graphic>
          <a:graphicData uri="http://schemas.openxmlformats.org/presentationml/2006/ole">
            <mc:AlternateContent xmlns:mc="http://schemas.openxmlformats.org/markup-compatibility/2006">
              <mc:Choice xmlns:v="urn:schemas-microsoft-com:vml" Requires="v">
                <p:oleObj name="Equation" r:id="rId5" imgW="672808" imgH="355446" progId="Equation.DSMT4">
                  <p:embed/>
                </p:oleObj>
              </mc:Choice>
              <mc:Fallback>
                <p:oleObj name="Equation" r:id="rId5" imgW="672808" imgH="355446" progId="Equation.DSMT4">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5238" y="3141663"/>
                        <a:ext cx="17081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4">
            <a:extLst>
              <a:ext uri="{FF2B5EF4-FFF2-40B4-BE49-F238E27FC236}">
                <a16:creationId xmlns:a16="http://schemas.microsoft.com/office/drawing/2014/main" id="{32C3F663-39AF-19E2-96BB-E858DD2EC593}"/>
              </a:ext>
            </a:extLst>
          </p:cNvPr>
          <p:cNvSpPr>
            <a:spLocks noChangeArrowheads="1"/>
          </p:cNvSpPr>
          <p:nvPr/>
        </p:nvSpPr>
        <p:spPr bwMode="auto">
          <a:xfrm>
            <a:off x="755650" y="184150"/>
            <a:ext cx="3602038"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rgbClr val="FFC000"/>
                </a:solidFill>
                <a:latin typeface="Times New Roman" panose="02020603050405020304" pitchFamily="18" charset="0"/>
                <a:cs typeface="Times New Roman" panose="02020603050405020304" pitchFamily="18" charset="0"/>
              </a:rPr>
              <a:t>由</a:t>
            </a:r>
            <a:r>
              <a:rPr lang="en-US" altLang="zh-CN" sz="2400" b="1">
                <a:solidFill>
                  <a:srgbClr val="FFC000"/>
                </a:solidFill>
                <a:latin typeface="Times New Roman" panose="02020603050405020304" pitchFamily="18" charset="0"/>
                <a:cs typeface="Times New Roman" panose="02020603050405020304" pitchFamily="18" charset="0"/>
              </a:rPr>
              <a:t>(2)</a:t>
            </a:r>
            <a:r>
              <a:rPr lang="zh-CN" altLang="en-US" sz="2400" b="1">
                <a:solidFill>
                  <a:srgbClr val="FFC000"/>
                </a:solidFill>
                <a:latin typeface="Times New Roman" panose="02020603050405020304" pitchFamily="18" charset="0"/>
                <a:cs typeface="Times New Roman" panose="02020603050405020304" pitchFamily="18" charset="0"/>
              </a:rPr>
              <a:t>式两边同乘</a:t>
            </a:r>
            <a:r>
              <a:rPr lang="en-US" altLang="zh-CN" sz="2400" b="1">
                <a:solidFill>
                  <a:srgbClr val="FFC000"/>
                </a:solidFill>
                <a:latin typeface="Times New Roman" panose="02020603050405020304" pitchFamily="18" charset="0"/>
                <a:cs typeface="Times New Roman" panose="02020603050405020304" pitchFamily="18" charset="0"/>
              </a:rPr>
              <a:t>d</a:t>
            </a:r>
            <a:r>
              <a:rPr lang="en-US" altLang="zh-CN" sz="2400" b="1" i="1">
                <a:solidFill>
                  <a:srgbClr val="FFC000"/>
                </a:solidFill>
                <a:latin typeface="Times New Roman" panose="02020603050405020304" pitchFamily="18" charset="0"/>
                <a:cs typeface="Times New Roman" panose="02020603050405020304" pitchFamily="18" charset="0"/>
              </a:rPr>
              <a:t>t</a:t>
            </a:r>
            <a:r>
              <a:rPr lang="zh-CN" altLang="en-US" sz="2400" b="1">
                <a:solidFill>
                  <a:srgbClr val="FFC000"/>
                </a:solidFill>
                <a:latin typeface="Times New Roman" panose="02020603050405020304" pitchFamily="18" charset="0"/>
                <a:cs typeface="Times New Roman" panose="02020603050405020304" pitchFamily="18" charset="0"/>
              </a:rPr>
              <a:t>可得：</a:t>
            </a:r>
            <a:endParaRPr lang="zh-CN" altLang="en-US" sz="3200" b="1">
              <a:solidFill>
                <a:srgbClr val="FFC000"/>
              </a:solidFill>
            </a:endParaRPr>
          </a:p>
        </p:txBody>
      </p:sp>
      <p:sp>
        <p:nvSpPr>
          <p:cNvPr id="5" name="Rectangle 5">
            <a:extLst>
              <a:ext uri="{FF2B5EF4-FFF2-40B4-BE49-F238E27FC236}">
                <a16:creationId xmlns:a16="http://schemas.microsoft.com/office/drawing/2014/main" id="{2DC2F385-8CC8-CF29-8D88-CAD7EC25047D}"/>
              </a:ext>
            </a:extLst>
          </p:cNvPr>
          <p:cNvSpPr>
            <a:spLocks noChangeArrowheads="1"/>
          </p:cNvSpPr>
          <p:nvPr/>
        </p:nvSpPr>
        <p:spPr bwMode="auto">
          <a:xfrm>
            <a:off x="20638" y="1557338"/>
            <a:ext cx="4160837"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8890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rgbClr val="FFC000"/>
                </a:solidFill>
                <a:latin typeface="Times New Roman" panose="02020603050405020304" pitchFamily="18" charset="0"/>
                <a:cs typeface="Times New Roman" panose="02020603050405020304" pitchFamily="18" charset="0"/>
              </a:rPr>
              <a:t>等式两边同时积分得：</a:t>
            </a:r>
            <a:endParaRPr lang="zh-CN" altLang="zh-CN" sz="1100" b="1">
              <a:solidFill>
                <a:srgbClr val="FFC000"/>
              </a:solidFill>
            </a:endParaRPr>
          </a:p>
          <a:p>
            <a:endParaRPr lang="zh-CN" altLang="zh-CN"/>
          </a:p>
        </p:txBody>
      </p:sp>
      <p:sp>
        <p:nvSpPr>
          <p:cNvPr id="6" name="Rectangle 6">
            <a:extLst>
              <a:ext uri="{FF2B5EF4-FFF2-40B4-BE49-F238E27FC236}">
                <a16:creationId xmlns:a16="http://schemas.microsoft.com/office/drawing/2014/main" id="{31EBE95F-B8E7-ABBF-3903-5C4825E6330B}"/>
              </a:ext>
            </a:extLst>
          </p:cNvPr>
          <p:cNvSpPr>
            <a:spLocks noChangeArrowheads="1"/>
          </p:cNvSpPr>
          <p:nvPr/>
        </p:nvSpPr>
        <p:spPr bwMode="auto">
          <a:xfrm>
            <a:off x="47625" y="3325813"/>
            <a:ext cx="32004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8890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FFC000"/>
                </a:solidFill>
                <a:latin typeface="Times New Roman" panose="02020603050405020304" pitchFamily="18" charset="0"/>
                <a:cs typeface="Times New Roman" panose="02020603050405020304" pitchFamily="18" charset="0"/>
              </a:rPr>
              <a:t>冲量的定义：  </a:t>
            </a:r>
            <a:endParaRPr lang="zh-CN" altLang="en-US" sz="3200" b="1">
              <a:solidFill>
                <a:srgbClr val="FFC000"/>
              </a:solidFill>
            </a:endParaRPr>
          </a:p>
        </p:txBody>
      </p:sp>
      <p:sp>
        <p:nvSpPr>
          <p:cNvPr id="7" name="Rectangle 7">
            <a:extLst>
              <a:ext uri="{FF2B5EF4-FFF2-40B4-BE49-F238E27FC236}">
                <a16:creationId xmlns:a16="http://schemas.microsoft.com/office/drawing/2014/main" id="{61B6599A-2115-C17B-6A65-E3B81710CB67}"/>
              </a:ext>
            </a:extLst>
          </p:cNvPr>
          <p:cNvSpPr>
            <a:spLocks noChangeArrowheads="1"/>
          </p:cNvSpPr>
          <p:nvPr/>
        </p:nvSpPr>
        <p:spPr bwMode="auto">
          <a:xfrm>
            <a:off x="539750" y="3573463"/>
            <a:ext cx="8239125"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FFC000"/>
                </a:solidFill>
                <a:latin typeface="Times New Roman" panose="02020603050405020304" pitchFamily="18" charset="0"/>
                <a:cs typeface="Times New Roman" panose="02020603050405020304" pitchFamily="18" charset="0"/>
              </a:rPr>
              <a:t>		</a:t>
            </a:r>
            <a:endParaRPr lang="en-US" altLang="zh-CN" sz="1100" b="1">
              <a:solidFill>
                <a:srgbClr val="FFC000"/>
              </a:solidFill>
            </a:endParaRPr>
          </a:p>
          <a:p>
            <a:r>
              <a:rPr lang="zh-CN" altLang="en-US" sz="2400" b="1">
                <a:solidFill>
                  <a:srgbClr val="FFC000"/>
                </a:solidFill>
                <a:latin typeface="Times New Roman" panose="02020603050405020304" pitchFamily="18" charset="0"/>
                <a:cs typeface="Times New Roman" panose="02020603050405020304" pitchFamily="18" charset="0"/>
              </a:rPr>
              <a:t>注意：</a:t>
            </a:r>
            <a:endParaRPr lang="zh-CN" altLang="en-US" sz="1100" b="1">
              <a:solidFill>
                <a:srgbClr val="FFC000"/>
              </a:solidFill>
            </a:endParaRPr>
          </a:p>
          <a:p>
            <a:r>
              <a:rPr lang="en-US" altLang="zh-CN" sz="2400" b="1">
                <a:solidFill>
                  <a:srgbClr val="FFC000"/>
                </a:solidFill>
                <a:latin typeface="Times New Roman" panose="02020603050405020304" pitchFamily="18" charset="0"/>
                <a:cs typeface="Times New Roman" panose="02020603050405020304" pitchFamily="18" charset="0"/>
              </a:rPr>
              <a:t>(1)</a:t>
            </a:r>
            <a:r>
              <a:rPr lang="zh-CN" altLang="en-US" sz="2400" b="1">
                <a:solidFill>
                  <a:srgbClr val="FFC000"/>
                </a:solidFill>
                <a:latin typeface="Times New Roman" panose="02020603050405020304" pitchFamily="18" charset="0"/>
                <a:cs typeface="Times New Roman" panose="02020603050405020304" pitchFamily="18" charset="0"/>
              </a:rPr>
              <a:t>冲量是</a:t>
            </a:r>
            <a:r>
              <a:rPr lang="zh-CN" altLang="en-US" sz="2400" b="1">
                <a:solidFill>
                  <a:srgbClr val="FF0000"/>
                </a:solidFill>
                <a:latin typeface="Times New Roman" panose="02020603050405020304" pitchFamily="18" charset="0"/>
                <a:cs typeface="Times New Roman" panose="02020603050405020304" pitchFamily="18" charset="0"/>
              </a:rPr>
              <a:t>矢量</a:t>
            </a:r>
            <a:r>
              <a:rPr lang="zh-CN" altLang="en-US" sz="2400" b="1">
                <a:solidFill>
                  <a:srgbClr val="FFC000"/>
                </a:solidFill>
                <a:latin typeface="Times New Roman" panose="02020603050405020304" pitchFamily="18" charset="0"/>
                <a:cs typeface="Times New Roman" panose="02020603050405020304" pitchFamily="18" charset="0"/>
              </a:rPr>
              <a:t>。冲量的方向：与力</a:t>
            </a:r>
            <a:r>
              <a:rPr lang="en-US" altLang="zh-CN" sz="2400" b="1" i="1">
                <a:solidFill>
                  <a:srgbClr val="FFC000"/>
                </a:solidFill>
                <a:latin typeface="Times New Roman" panose="02020603050405020304" pitchFamily="18" charset="0"/>
                <a:cs typeface="Times New Roman" panose="02020603050405020304" pitchFamily="18" charset="0"/>
              </a:rPr>
              <a:t>F</a:t>
            </a:r>
            <a:r>
              <a:rPr lang="zh-CN" altLang="en-US" sz="2400" b="1">
                <a:solidFill>
                  <a:srgbClr val="FFC000"/>
                </a:solidFill>
                <a:latin typeface="Times New Roman" panose="02020603050405020304" pitchFamily="18" charset="0"/>
                <a:cs typeface="Times New Roman" panose="02020603050405020304" pitchFamily="18" charset="0"/>
              </a:rPr>
              <a:t>的方向没有必然联系，它由</a:t>
            </a:r>
            <a:r>
              <a:rPr lang="en-US" altLang="zh-CN" sz="2400" b="1" i="1">
                <a:solidFill>
                  <a:srgbClr val="FF0000"/>
                </a:solidFill>
                <a:latin typeface="Times New Roman" panose="02020603050405020304" pitchFamily="18" charset="0"/>
                <a:cs typeface="Times New Roman" panose="02020603050405020304" pitchFamily="18" charset="0"/>
              </a:rPr>
              <a:t>F</a:t>
            </a:r>
            <a:r>
              <a:rPr lang="zh-CN" altLang="en-US" sz="2400" b="1">
                <a:solidFill>
                  <a:srgbClr val="FF0000"/>
                </a:solidFill>
                <a:latin typeface="Times New Roman" panose="02020603050405020304" pitchFamily="18" charset="0"/>
                <a:cs typeface="Times New Roman" panose="02020603050405020304" pitchFamily="18" charset="0"/>
              </a:rPr>
              <a:t>对时间的积分决定</a:t>
            </a:r>
            <a:r>
              <a:rPr lang="zh-CN" altLang="en-US" sz="2400" b="1">
                <a:solidFill>
                  <a:srgbClr val="FFC000"/>
                </a:solidFill>
                <a:latin typeface="Times New Roman" panose="02020603050405020304" pitchFamily="18" charset="0"/>
                <a:cs typeface="Times New Roman" panose="02020603050405020304" pitchFamily="18" charset="0"/>
              </a:rPr>
              <a:t>。</a:t>
            </a:r>
            <a:endParaRPr lang="zh-CN" altLang="en-US" sz="1100" b="1">
              <a:solidFill>
                <a:srgbClr val="FFC000"/>
              </a:solidFill>
            </a:endParaRPr>
          </a:p>
          <a:p>
            <a:r>
              <a:rPr lang="zh-CN" altLang="en-US" sz="2400" b="1">
                <a:solidFill>
                  <a:srgbClr val="FFC000"/>
                </a:solidFill>
                <a:latin typeface="Times New Roman" panose="02020603050405020304" pitchFamily="18" charset="0"/>
                <a:cs typeface="Times New Roman" panose="02020603050405020304" pitchFamily="18" charset="0"/>
              </a:rPr>
              <a:t>元冲量</a:t>
            </a:r>
            <a:r>
              <a:rPr lang="en-US" altLang="zh-CN" sz="2400" b="1">
                <a:solidFill>
                  <a:srgbClr val="FFC000"/>
                </a:solidFill>
                <a:latin typeface="Times New Roman" panose="02020603050405020304" pitchFamily="18" charset="0"/>
                <a:cs typeface="Times New Roman" panose="02020603050405020304" pitchFamily="18" charset="0"/>
              </a:rPr>
              <a:t>d</a:t>
            </a:r>
            <a:r>
              <a:rPr lang="en-US" altLang="zh-CN" sz="2400" b="1" i="1">
                <a:solidFill>
                  <a:srgbClr val="FFC000"/>
                </a:solidFill>
                <a:latin typeface="Times New Roman" panose="02020603050405020304" pitchFamily="18" charset="0"/>
                <a:cs typeface="Times New Roman" panose="02020603050405020304" pitchFamily="18" charset="0"/>
              </a:rPr>
              <a:t>I</a:t>
            </a:r>
            <a:r>
              <a:rPr lang="zh-CN" altLang="en-US" sz="2400" b="1">
                <a:solidFill>
                  <a:srgbClr val="FFC000"/>
                </a:solidFill>
                <a:latin typeface="Times New Roman" panose="02020603050405020304" pitchFamily="18" charset="0"/>
                <a:cs typeface="Times New Roman" panose="02020603050405020304" pitchFamily="18" charset="0"/>
              </a:rPr>
              <a:t>＝</a:t>
            </a:r>
            <a:r>
              <a:rPr lang="en-US" altLang="zh-CN" sz="2400" b="1" i="1">
                <a:solidFill>
                  <a:srgbClr val="FFC000"/>
                </a:solidFill>
                <a:latin typeface="Times New Roman" panose="02020603050405020304" pitchFamily="18" charset="0"/>
                <a:cs typeface="Times New Roman" panose="02020603050405020304" pitchFamily="18" charset="0"/>
              </a:rPr>
              <a:t>F</a:t>
            </a:r>
            <a:r>
              <a:rPr lang="en-US" altLang="zh-CN" sz="2400" b="1">
                <a:solidFill>
                  <a:srgbClr val="FFC000"/>
                </a:solidFill>
                <a:latin typeface="Times New Roman" panose="02020603050405020304" pitchFamily="18" charset="0"/>
                <a:cs typeface="Times New Roman" panose="02020603050405020304" pitchFamily="18" charset="0"/>
              </a:rPr>
              <a:t>d</a:t>
            </a:r>
            <a:r>
              <a:rPr lang="en-US" altLang="zh-CN" sz="2400" b="1" i="1">
                <a:solidFill>
                  <a:srgbClr val="FFC000"/>
                </a:solidFill>
                <a:latin typeface="Times New Roman" panose="02020603050405020304" pitchFamily="18" charset="0"/>
                <a:cs typeface="Times New Roman" panose="02020603050405020304" pitchFamily="18" charset="0"/>
              </a:rPr>
              <a:t>t</a:t>
            </a:r>
            <a:r>
              <a:rPr lang="zh-CN" altLang="en-US" sz="2400" b="1">
                <a:solidFill>
                  <a:srgbClr val="FFC000"/>
                </a:solidFill>
                <a:latin typeface="Times New Roman" panose="02020603050405020304" pitchFamily="18" charset="0"/>
                <a:cs typeface="Times New Roman" panose="02020603050405020304" pitchFamily="18" charset="0"/>
              </a:rPr>
              <a:t>的方向与</a:t>
            </a:r>
            <a:r>
              <a:rPr lang="en-US" altLang="zh-CN" sz="2400" b="1">
                <a:solidFill>
                  <a:srgbClr val="FFC000"/>
                </a:solidFill>
                <a:latin typeface="Times New Roman" panose="02020603050405020304" pitchFamily="18" charset="0"/>
                <a:cs typeface="Times New Roman" panose="02020603050405020304" pitchFamily="18" charset="0"/>
              </a:rPr>
              <a:t>F</a:t>
            </a:r>
            <a:r>
              <a:rPr lang="zh-CN" altLang="en-US" sz="2400" b="1">
                <a:solidFill>
                  <a:srgbClr val="FFC000"/>
                </a:solidFill>
                <a:latin typeface="Times New Roman" panose="02020603050405020304" pitchFamily="18" charset="0"/>
                <a:cs typeface="Times New Roman" panose="02020603050405020304" pitchFamily="18" charset="0"/>
              </a:rPr>
              <a:t>的方向相同。</a:t>
            </a:r>
            <a:endParaRPr lang="zh-CN" altLang="en-US" sz="1100" b="1">
              <a:solidFill>
                <a:srgbClr val="FFC000"/>
              </a:solidFill>
            </a:endParaRPr>
          </a:p>
          <a:p>
            <a:r>
              <a:rPr lang="en-US" altLang="zh-CN" sz="2400" b="1">
                <a:solidFill>
                  <a:srgbClr val="FFC000"/>
                </a:solidFill>
                <a:latin typeface="Times New Roman" panose="02020603050405020304" pitchFamily="18" charset="0"/>
                <a:cs typeface="Times New Roman" panose="02020603050405020304" pitchFamily="18" charset="0"/>
              </a:rPr>
              <a:t>(2) </a:t>
            </a:r>
            <a:r>
              <a:rPr lang="zh-CN" altLang="en-US" sz="2400" b="1">
                <a:solidFill>
                  <a:srgbClr val="FFC000"/>
                </a:solidFill>
                <a:latin typeface="Times New Roman" panose="02020603050405020304" pitchFamily="18" charset="0"/>
                <a:cs typeface="Times New Roman" panose="02020603050405020304" pitchFamily="18" charset="0"/>
              </a:rPr>
              <a:t>冲量与力的作用过程有关，是</a:t>
            </a:r>
            <a:r>
              <a:rPr lang="zh-CN" altLang="en-US" sz="2400" b="1">
                <a:solidFill>
                  <a:srgbClr val="FF0000"/>
                </a:solidFill>
                <a:latin typeface="Times New Roman" panose="02020603050405020304" pitchFamily="18" charset="0"/>
                <a:cs typeface="Times New Roman" panose="02020603050405020304" pitchFamily="18" charset="0"/>
              </a:rPr>
              <a:t>过程量</a:t>
            </a:r>
            <a:r>
              <a:rPr lang="zh-CN" altLang="en-US" sz="2400" b="1">
                <a:solidFill>
                  <a:srgbClr val="FFC000"/>
                </a:solidFill>
                <a:latin typeface="Times New Roman" panose="02020603050405020304" pitchFamily="18" charset="0"/>
                <a:cs typeface="Times New Roman" panose="02020603050405020304" pitchFamily="18" charset="0"/>
              </a:rPr>
              <a:t>。</a:t>
            </a:r>
            <a:endParaRPr lang="zh-CN" altLang="en-US" sz="1100" b="1">
              <a:solidFill>
                <a:srgbClr val="FFC000"/>
              </a:solidFill>
            </a:endParaRPr>
          </a:p>
          <a:p>
            <a:r>
              <a:rPr lang="zh-CN" altLang="en-US" sz="2400" b="1">
                <a:solidFill>
                  <a:srgbClr val="FFC000"/>
                </a:solidFill>
                <a:latin typeface="Times New Roman" panose="02020603050405020304" pitchFamily="18" charset="0"/>
                <a:cs typeface="Times New Roman" panose="02020603050405020304" pitchFamily="18" charset="0"/>
              </a:rPr>
              <a:t>冲量的大小：即与</a:t>
            </a:r>
            <a:r>
              <a:rPr lang="en-US" altLang="zh-CN" sz="2400" b="1" i="1">
                <a:solidFill>
                  <a:srgbClr val="FFC000"/>
                </a:solidFill>
                <a:latin typeface="Times New Roman" panose="02020603050405020304" pitchFamily="18" charset="0"/>
                <a:cs typeface="Times New Roman" panose="02020603050405020304" pitchFamily="18" charset="0"/>
              </a:rPr>
              <a:t>F</a:t>
            </a:r>
            <a:r>
              <a:rPr lang="en-US" altLang="zh-CN" sz="2400" b="1">
                <a:solidFill>
                  <a:srgbClr val="FFC000"/>
                </a:solidFill>
                <a:latin typeface="Times New Roman" panose="02020603050405020304" pitchFamily="18" charset="0"/>
                <a:cs typeface="Times New Roman" panose="02020603050405020304" pitchFamily="18" charset="0"/>
              </a:rPr>
              <a:t>(</a:t>
            </a:r>
            <a:r>
              <a:rPr lang="en-US" altLang="zh-CN" sz="2400" b="1" i="1">
                <a:solidFill>
                  <a:srgbClr val="FFC000"/>
                </a:solidFill>
                <a:latin typeface="Times New Roman" panose="02020603050405020304" pitchFamily="18" charset="0"/>
                <a:cs typeface="Times New Roman" panose="02020603050405020304" pitchFamily="18" charset="0"/>
              </a:rPr>
              <a:t>t</a:t>
            </a:r>
            <a:r>
              <a:rPr lang="en-US" altLang="zh-CN" sz="2400" b="1">
                <a:solidFill>
                  <a:srgbClr val="FFC000"/>
                </a:solidFill>
                <a:latin typeface="Times New Roman" panose="02020603050405020304" pitchFamily="18" charset="0"/>
                <a:cs typeface="Times New Roman" panose="02020603050405020304" pitchFamily="18" charset="0"/>
              </a:rPr>
              <a:t>)</a:t>
            </a:r>
            <a:r>
              <a:rPr lang="zh-CN" altLang="en-US" sz="2400" b="1">
                <a:solidFill>
                  <a:srgbClr val="FFC000"/>
                </a:solidFill>
                <a:latin typeface="Times New Roman" panose="02020603050405020304" pitchFamily="18" charset="0"/>
                <a:cs typeface="Times New Roman" panose="02020603050405020304" pitchFamily="18" charset="0"/>
              </a:rPr>
              <a:t>函数形式有关，还与时间间隔（积分限）有关。</a:t>
            </a:r>
            <a:endParaRPr lang="zh-CN" altLang="en-US" sz="3200" b="1">
              <a:solidFill>
                <a:srgbClr val="FFC000"/>
              </a:solidFill>
            </a:endParaRPr>
          </a:p>
        </p:txBody>
      </p:sp>
      <p:sp>
        <p:nvSpPr>
          <p:cNvPr id="8" name="TextBox 7">
            <a:extLst>
              <a:ext uri="{FF2B5EF4-FFF2-40B4-BE49-F238E27FC236}">
                <a16:creationId xmlns:a16="http://schemas.microsoft.com/office/drawing/2014/main" id="{145A2146-E18C-40B4-D339-DED8198BFD40}"/>
              </a:ext>
            </a:extLst>
          </p:cNvPr>
          <p:cNvSpPr txBox="1">
            <a:spLocks noChangeArrowheads="1"/>
          </p:cNvSpPr>
          <p:nvPr/>
        </p:nvSpPr>
        <p:spPr bwMode="auto">
          <a:xfrm>
            <a:off x="7451725" y="2295525"/>
            <a:ext cx="625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chemeClr val="bg1"/>
                </a:solidFill>
              </a:rPr>
              <a:t>(3)</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AB0184A-64E3-474C-8188-8898B08395B2}"/>
              </a:ext>
            </a:extLst>
          </p:cNvPr>
          <p:cNvSpPr/>
          <p:nvPr/>
        </p:nvSpPr>
        <p:spPr>
          <a:xfrm>
            <a:off x="323850" y="2349500"/>
            <a:ext cx="8569325" cy="4246563"/>
          </a:xfrm>
          <a:prstGeom prst="rect">
            <a:avLst/>
          </a:prstGeom>
        </p:spPr>
        <p:txBody>
          <a:bodyPr>
            <a:spAutoFit/>
          </a:bodyPr>
          <a:lstStyle/>
          <a:p>
            <a:pPr marL="457200" indent="-457200" eaLnBrk="1" hangingPunct="1">
              <a:lnSpc>
                <a:spcPct val="125000"/>
              </a:lnSpc>
              <a:buFont typeface="Arial" panose="020B0604020202020204" pitchFamily="34" charset="0"/>
              <a:buChar char="•"/>
              <a:defRPr/>
            </a:pPr>
            <a:r>
              <a:rPr lang="zh-CN" altLang="zh-CN" sz="2400" b="1" dirty="0">
                <a:solidFill>
                  <a:srgbClr val="FFC000"/>
                </a:solidFill>
                <a:latin typeface="+mn-lt"/>
                <a:ea typeface="宋体" charset="-122"/>
              </a:rPr>
              <a:t>在积分式</a:t>
            </a:r>
            <a:r>
              <a:rPr lang="zh-CN" altLang="zh-CN" sz="2400" b="1">
                <a:solidFill>
                  <a:srgbClr val="FFC000"/>
                </a:solidFill>
                <a:latin typeface="+mn-lt"/>
                <a:ea typeface="宋体" charset="-122"/>
              </a:rPr>
              <a:t>中，</a:t>
            </a:r>
            <a:r>
              <a:rPr lang="en-US" altLang="zh-CN" sz="2000" b="1" i="1">
                <a:solidFill>
                  <a:srgbClr val="FFC000"/>
                </a:solidFill>
                <a:latin typeface="+mn-lt"/>
              </a:rPr>
              <a:t> </a:t>
            </a:r>
            <a:r>
              <a:rPr lang="en-US" altLang="zh-CN" sz="2400" b="1" i="1">
                <a:solidFill>
                  <a:srgbClr val="FFC000"/>
                </a:solidFill>
                <a:latin typeface="+mn-lt"/>
              </a:rPr>
              <a:t>F</a:t>
            </a:r>
            <a:r>
              <a:rPr lang="en-US" altLang="zh-CN" sz="2400" b="1">
                <a:solidFill>
                  <a:srgbClr val="FFC000"/>
                </a:solidFill>
                <a:latin typeface="+mn-lt"/>
              </a:rPr>
              <a:t>(</a:t>
            </a:r>
            <a:r>
              <a:rPr lang="en-US" altLang="zh-CN" sz="2400" b="1" i="1">
                <a:solidFill>
                  <a:srgbClr val="FFC000"/>
                </a:solidFill>
                <a:latin typeface="+mn-lt"/>
              </a:rPr>
              <a:t>t</a:t>
            </a:r>
            <a:r>
              <a:rPr lang="en-US" altLang="zh-CN" sz="2400" b="1">
                <a:solidFill>
                  <a:srgbClr val="FFC000"/>
                </a:solidFill>
                <a:latin typeface="+mn-lt"/>
              </a:rPr>
              <a:t>)</a:t>
            </a:r>
            <a:r>
              <a:rPr lang="zh-CN" altLang="zh-CN" sz="2400" b="1">
                <a:solidFill>
                  <a:srgbClr val="FFC000"/>
                </a:solidFill>
                <a:latin typeface="+mn-lt"/>
                <a:ea typeface="宋体" charset="-122"/>
              </a:rPr>
              <a:t>的</a:t>
            </a:r>
            <a:r>
              <a:rPr lang="zh-CN" altLang="zh-CN" sz="2400" b="1" dirty="0">
                <a:solidFill>
                  <a:srgbClr val="FFC000"/>
                </a:solidFill>
                <a:latin typeface="+mn-lt"/>
                <a:ea typeface="宋体" charset="-122"/>
              </a:rPr>
              <a:t>函数形式往往不知道，或者很复杂，甚至积分限</a:t>
            </a:r>
            <a:r>
              <a:rPr lang="en-US" altLang="zh-CN" sz="2400" b="1" i="1" dirty="0">
                <a:solidFill>
                  <a:srgbClr val="FFC000"/>
                </a:solidFill>
                <a:latin typeface="+mn-lt"/>
                <a:ea typeface="宋体" charset="-122"/>
              </a:rPr>
              <a:t>t</a:t>
            </a:r>
            <a:r>
              <a:rPr lang="en-US" altLang="zh-CN" sz="1600" b="1" dirty="0">
                <a:solidFill>
                  <a:srgbClr val="FFC000"/>
                </a:solidFill>
                <a:latin typeface="+mn-lt"/>
                <a:ea typeface="宋体" charset="-122"/>
              </a:rPr>
              <a:t>0</a:t>
            </a:r>
            <a:r>
              <a:rPr lang="zh-CN" altLang="zh-CN" sz="2400" b="1" dirty="0">
                <a:solidFill>
                  <a:srgbClr val="FFC000"/>
                </a:solidFill>
                <a:latin typeface="+mn-lt"/>
                <a:ea typeface="宋体" charset="-122"/>
              </a:rPr>
              <a:t>与</a:t>
            </a:r>
            <a:r>
              <a:rPr lang="en-US" altLang="zh-CN" sz="2400" b="1" i="1" dirty="0">
                <a:solidFill>
                  <a:srgbClr val="FFC000"/>
                </a:solidFill>
                <a:latin typeface="+mn-lt"/>
                <a:ea typeface="宋体" charset="-122"/>
              </a:rPr>
              <a:t>t</a:t>
            </a:r>
            <a:r>
              <a:rPr lang="en-US" altLang="zh-CN" sz="1600" b="1" dirty="0">
                <a:solidFill>
                  <a:srgbClr val="FFC000"/>
                </a:solidFill>
                <a:latin typeface="+mn-lt"/>
                <a:ea typeface="宋体" charset="-122"/>
              </a:rPr>
              <a:t>1</a:t>
            </a:r>
            <a:r>
              <a:rPr lang="zh-CN" altLang="zh-CN" sz="2400" b="1" dirty="0">
                <a:solidFill>
                  <a:srgbClr val="FFC000"/>
                </a:solidFill>
                <a:latin typeface="+mn-lt"/>
                <a:ea typeface="宋体" charset="-122"/>
              </a:rPr>
              <a:t>也很难确定，但其积分的结果却是已知的。</a:t>
            </a:r>
          </a:p>
          <a:p>
            <a:pPr marL="457200" indent="-457200" eaLnBrk="1" hangingPunct="1">
              <a:lnSpc>
                <a:spcPct val="125000"/>
              </a:lnSpc>
              <a:buFont typeface="Arial" panose="020B0604020202020204" pitchFamily="34" charset="0"/>
              <a:buChar char="•"/>
              <a:defRPr/>
            </a:pPr>
            <a:r>
              <a:rPr lang="en-US" altLang="zh-CN" sz="2400" b="1">
                <a:solidFill>
                  <a:srgbClr val="FFC000"/>
                </a:solidFill>
                <a:latin typeface="+mn-lt"/>
                <a:ea typeface="宋体" charset="-122"/>
              </a:rPr>
              <a:t>(3)</a:t>
            </a:r>
            <a:r>
              <a:rPr lang="zh-CN" altLang="zh-CN" sz="2400" b="1">
                <a:solidFill>
                  <a:srgbClr val="FFC000"/>
                </a:solidFill>
                <a:latin typeface="+mn-lt"/>
                <a:ea typeface="宋体" charset="-122"/>
              </a:rPr>
              <a:t>式</a:t>
            </a:r>
            <a:r>
              <a:rPr lang="zh-CN" altLang="zh-CN" sz="2400" b="1" dirty="0">
                <a:solidFill>
                  <a:srgbClr val="FFC000"/>
                </a:solidFill>
                <a:latin typeface="+mn-lt"/>
                <a:ea typeface="宋体" charset="-122"/>
              </a:rPr>
              <a:t>左边与力的作用过程有关，</a:t>
            </a:r>
            <a:r>
              <a:rPr lang="zh-CN" altLang="zh-CN" sz="2400" b="1">
                <a:solidFill>
                  <a:srgbClr val="FFC000"/>
                </a:solidFill>
                <a:latin typeface="+mn-lt"/>
                <a:ea typeface="宋体" charset="-122"/>
              </a:rPr>
              <a:t>即与</a:t>
            </a:r>
            <a:r>
              <a:rPr lang="en-US" altLang="zh-CN" sz="2400" b="1" i="1">
                <a:solidFill>
                  <a:srgbClr val="FFC000"/>
                </a:solidFill>
                <a:latin typeface="+mn-lt"/>
              </a:rPr>
              <a:t>F</a:t>
            </a:r>
            <a:r>
              <a:rPr lang="en-US" altLang="zh-CN" sz="2400" b="1">
                <a:solidFill>
                  <a:srgbClr val="FFC000"/>
                </a:solidFill>
                <a:latin typeface="+mn-lt"/>
              </a:rPr>
              <a:t>(</a:t>
            </a:r>
            <a:r>
              <a:rPr lang="en-US" altLang="zh-CN" sz="2400" b="1" i="1">
                <a:solidFill>
                  <a:srgbClr val="FFC000"/>
                </a:solidFill>
                <a:latin typeface="+mn-lt"/>
              </a:rPr>
              <a:t>t</a:t>
            </a:r>
            <a:r>
              <a:rPr lang="en-US" altLang="zh-CN" sz="2400" b="1">
                <a:solidFill>
                  <a:srgbClr val="FFC000"/>
                </a:solidFill>
                <a:latin typeface="+mn-lt"/>
              </a:rPr>
              <a:t>)</a:t>
            </a:r>
            <a:r>
              <a:rPr lang="zh-CN" altLang="zh-CN" sz="2400" b="1">
                <a:solidFill>
                  <a:srgbClr val="FFC000"/>
                </a:solidFill>
                <a:latin typeface="+mn-lt"/>
                <a:ea typeface="宋体" charset="-122"/>
              </a:rPr>
              <a:t>和</a:t>
            </a:r>
            <a:r>
              <a:rPr lang="en-US" altLang="zh-CN" sz="2400" b="1" i="1">
                <a:solidFill>
                  <a:srgbClr val="FFC000"/>
                </a:solidFill>
                <a:latin typeface="+mn-lt"/>
                <a:ea typeface="宋体" charset="-122"/>
              </a:rPr>
              <a:t>t</a:t>
            </a:r>
            <a:r>
              <a:rPr lang="en-US" altLang="zh-CN" sz="1600" b="1">
                <a:solidFill>
                  <a:srgbClr val="FFC000"/>
                </a:solidFill>
                <a:latin typeface="+mn-lt"/>
                <a:ea typeface="宋体" charset="-122"/>
              </a:rPr>
              <a:t>0</a:t>
            </a:r>
            <a:r>
              <a:rPr lang="zh-CN" altLang="zh-CN" sz="2400" b="1">
                <a:solidFill>
                  <a:srgbClr val="FFC000"/>
                </a:solidFill>
                <a:latin typeface="+mn-lt"/>
                <a:ea typeface="宋体" charset="-122"/>
              </a:rPr>
              <a:t>与</a:t>
            </a:r>
            <a:r>
              <a:rPr lang="en-US" altLang="zh-CN" sz="2400" b="1" i="1">
                <a:solidFill>
                  <a:srgbClr val="FFC000"/>
                </a:solidFill>
                <a:latin typeface="+mn-lt"/>
                <a:ea typeface="宋体" charset="-122"/>
              </a:rPr>
              <a:t>t</a:t>
            </a:r>
            <a:r>
              <a:rPr lang="en-US" altLang="zh-CN" sz="1600" b="1">
                <a:solidFill>
                  <a:srgbClr val="FFC000"/>
                </a:solidFill>
                <a:latin typeface="+mn-lt"/>
                <a:ea typeface="宋体" charset="-122"/>
              </a:rPr>
              <a:t>1</a:t>
            </a:r>
            <a:r>
              <a:rPr lang="zh-CN" altLang="zh-CN" sz="2400" b="1">
                <a:solidFill>
                  <a:srgbClr val="FFC000"/>
                </a:solidFill>
                <a:latin typeface="+mn-lt"/>
                <a:ea typeface="宋体" charset="-122"/>
              </a:rPr>
              <a:t>有关；</a:t>
            </a:r>
            <a:r>
              <a:rPr lang="en-US" altLang="zh-CN" sz="2400" b="1">
                <a:solidFill>
                  <a:srgbClr val="FFC000"/>
                </a:solidFill>
                <a:latin typeface="+mn-lt"/>
                <a:ea typeface="宋体" charset="-122"/>
              </a:rPr>
              <a:t>(3)</a:t>
            </a:r>
            <a:r>
              <a:rPr lang="zh-CN" altLang="zh-CN" sz="2400" b="1">
                <a:solidFill>
                  <a:srgbClr val="FFC000"/>
                </a:solidFill>
                <a:latin typeface="+mn-lt"/>
                <a:ea typeface="宋体" charset="-122"/>
              </a:rPr>
              <a:t>式</a:t>
            </a:r>
            <a:r>
              <a:rPr lang="zh-CN" altLang="zh-CN" sz="2400" b="1" dirty="0">
                <a:solidFill>
                  <a:srgbClr val="FFC000"/>
                </a:solidFill>
                <a:latin typeface="+mn-lt"/>
                <a:ea typeface="宋体" charset="-122"/>
              </a:rPr>
              <a:t>右边与作用过程毫不相关——状态量</a:t>
            </a:r>
          </a:p>
          <a:p>
            <a:pPr marL="457200" indent="-457200" eaLnBrk="1" hangingPunct="1">
              <a:lnSpc>
                <a:spcPct val="125000"/>
              </a:lnSpc>
              <a:buFont typeface="Arial" panose="020B0604020202020204" pitchFamily="34" charset="0"/>
              <a:buChar char="•"/>
              <a:defRPr/>
            </a:pPr>
            <a:r>
              <a:rPr lang="zh-CN" altLang="zh-CN" sz="2400" b="1" dirty="0">
                <a:solidFill>
                  <a:srgbClr val="FFC000"/>
                </a:solidFill>
                <a:latin typeface="+mn-lt"/>
                <a:ea typeface="宋体" charset="-122"/>
              </a:rPr>
              <a:t>动量只与质点的运动状态有关，与力的作用过程无关，故称其为</a:t>
            </a:r>
            <a:r>
              <a:rPr lang="zh-CN" altLang="zh-CN" sz="2400" b="1" dirty="0">
                <a:solidFill>
                  <a:srgbClr val="FF0000"/>
                </a:solidFill>
                <a:latin typeface="+mn-lt"/>
                <a:ea typeface="宋体" charset="-122"/>
              </a:rPr>
              <a:t>状态</a:t>
            </a:r>
            <a:r>
              <a:rPr lang="zh-CN" altLang="zh-CN" sz="2400" b="1">
                <a:solidFill>
                  <a:srgbClr val="FF0000"/>
                </a:solidFill>
                <a:latin typeface="+mn-lt"/>
                <a:ea typeface="宋体" charset="-122"/>
              </a:rPr>
              <a:t>量</a:t>
            </a:r>
            <a:r>
              <a:rPr lang="zh-CN" altLang="zh-CN" sz="2400" b="1">
                <a:solidFill>
                  <a:srgbClr val="FFC000"/>
                </a:solidFill>
                <a:latin typeface="+mn-lt"/>
                <a:ea typeface="宋体" charset="-122"/>
              </a:rPr>
              <a:t>。</a:t>
            </a:r>
            <a:endParaRPr lang="en-US" altLang="zh-CN" sz="2400" b="1">
              <a:solidFill>
                <a:srgbClr val="FFC000"/>
              </a:solidFill>
              <a:latin typeface="+mn-lt"/>
              <a:ea typeface="宋体" charset="-122"/>
            </a:endParaRPr>
          </a:p>
          <a:p>
            <a:pPr marL="457200" indent="-457200" eaLnBrk="1" hangingPunct="1">
              <a:lnSpc>
                <a:spcPct val="125000"/>
              </a:lnSpc>
              <a:buFont typeface="Arial" panose="020B0604020202020204" pitchFamily="34" charset="0"/>
              <a:buChar char="•"/>
              <a:defRPr/>
            </a:pPr>
            <a:r>
              <a:rPr lang="en-US" altLang="zh-CN" sz="2400" b="1">
                <a:solidFill>
                  <a:srgbClr val="FFC000"/>
                </a:solidFill>
                <a:latin typeface="+mn-lt"/>
                <a:ea typeface="宋体" charset="-122"/>
              </a:rPr>
              <a:t>(3)</a:t>
            </a:r>
            <a:r>
              <a:rPr lang="zh-CN" altLang="en-US" sz="2400" b="1">
                <a:solidFill>
                  <a:srgbClr val="FFC000"/>
                </a:solidFill>
                <a:latin typeface="+mn-lt"/>
                <a:ea typeface="宋体" charset="-122"/>
              </a:rPr>
              <a:t>式</a:t>
            </a:r>
            <a:r>
              <a:rPr lang="zh-CN" altLang="zh-CN" sz="2400" b="1">
                <a:solidFill>
                  <a:srgbClr val="FFC000"/>
                </a:solidFill>
                <a:latin typeface="+mn-lt"/>
                <a:ea typeface="宋体" charset="-122"/>
              </a:rPr>
              <a:t>用语言表达：</a:t>
            </a:r>
            <a:r>
              <a:rPr lang="zh-CN" altLang="zh-CN" sz="2400" b="1">
                <a:solidFill>
                  <a:srgbClr val="FF0000"/>
                </a:solidFill>
                <a:latin typeface="+mn-lt"/>
                <a:ea typeface="宋体" charset="-122"/>
              </a:rPr>
              <a:t>力</a:t>
            </a:r>
            <a:r>
              <a:rPr lang="zh-CN" altLang="zh-CN" sz="2400" b="1" dirty="0">
                <a:solidFill>
                  <a:srgbClr val="FF0000"/>
                </a:solidFill>
                <a:latin typeface="+mn-lt"/>
                <a:ea typeface="宋体" charset="-122"/>
              </a:rPr>
              <a:t>对质点的作用过程的结果＝质点运动状态的</a:t>
            </a:r>
            <a:r>
              <a:rPr lang="zh-CN" altLang="zh-CN" sz="2400" b="1">
                <a:solidFill>
                  <a:srgbClr val="FF0000"/>
                </a:solidFill>
                <a:latin typeface="+mn-lt"/>
                <a:ea typeface="宋体" charset="-122"/>
              </a:rPr>
              <a:t>变化。</a:t>
            </a:r>
            <a:r>
              <a:rPr lang="zh-CN" altLang="zh-CN" sz="2400" b="1">
                <a:solidFill>
                  <a:srgbClr val="FFC000"/>
                </a:solidFill>
                <a:latin typeface="+mn-lt"/>
                <a:ea typeface="宋体" charset="-122"/>
              </a:rPr>
              <a:t>反过来</a:t>
            </a:r>
            <a:r>
              <a:rPr lang="zh-CN" altLang="zh-CN" sz="2400" b="1" dirty="0">
                <a:solidFill>
                  <a:srgbClr val="FFC000"/>
                </a:solidFill>
                <a:latin typeface="+mn-lt"/>
                <a:ea typeface="宋体" charset="-122"/>
              </a:rPr>
              <a:t>看，要使质点由一种运动状态变到另一种运动状态，可以有无穷多种过程来实现。</a:t>
            </a:r>
          </a:p>
        </p:txBody>
      </p:sp>
      <p:sp>
        <p:nvSpPr>
          <p:cNvPr id="6147" name="Text Box 26">
            <a:extLst>
              <a:ext uri="{FF2B5EF4-FFF2-40B4-BE49-F238E27FC236}">
                <a16:creationId xmlns:a16="http://schemas.microsoft.com/office/drawing/2014/main" id="{02C0DECA-7646-060C-29EC-AB0781B20421}"/>
              </a:ext>
            </a:extLst>
          </p:cNvPr>
          <p:cNvSpPr txBox="1">
            <a:spLocks noChangeArrowheads="1"/>
          </p:cNvSpPr>
          <p:nvPr/>
        </p:nvSpPr>
        <p:spPr bwMode="auto">
          <a:xfrm>
            <a:off x="639763" y="603250"/>
            <a:ext cx="17319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ea typeface="楷体_GB2312" panose="02010609030101010101" pitchFamily="49" charset="-122"/>
              </a:rPr>
              <a:t>物理意义：</a:t>
            </a:r>
            <a:endParaRPr lang="zh-CN" altLang="en-US" sz="2400">
              <a:solidFill>
                <a:schemeClr val="bg1"/>
              </a:solidFill>
              <a:latin typeface="Times New Roman" panose="02020603050405020304" pitchFamily="18" charset="0"/>
              <a:ea typeface="楷体_GB2312" panose="02010609030101010101" pitchFamily="49" charset="-122"/>
            </a:endParaRPr>
          </a:p>
        </p:txBody>
      </p:sp>
      <p:sp>
        <p:nvSpPr>
          <p:cNvPr id="6148" name="Text Box 27">
            <a:extLst>
              <a:ext uri="{FF2B5EF4-FFF2-40B4-BE49-F238E27FC236}">
                <a16:creationId xmlns:a16="http://schemas.microsoft.com/office/drawing/2014/main" id="{CB350C92-CCFB-C981-5CE1-EF3D01B6A69D}"/>
              </a:ext>
            </a:extLst>
          </p:cNvPr>
          <p:cNvSpPr txBox="1">
            <a:spLocks noChangeArrowheads="1"/>
          </p:cNvSpPr>
          <p:nvPr/>
        </p:nvSpPr>
        <p:spPr bwMode="auto">
          <a:xfrm>
            <a:off x="2544763" y="565150"/>
            <a:ext cx="6343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楷体_GB2312" panose="02010609030101010101" pitchFamily="49" charset="-122"/>
                <a:ea typeface="楷体_GB2312" panose="02010609030101010101" pitchFamily="49" charset="-122"/>
              </a:rPr>
              <a:t>质点动量的变化依赖于</a:t>
            </a:r>
            <a:r>
              <a:rPr lang="zh-CN" altLang="en-US" sz="2400" b="1">
                <a:solidFill>
                  <a:srgbClr val="00FFFF"/>
                </a:solidFill>
                <a:latin typeface="楷体_GB2312" panose="02010609030101010101" pitchFamily="49" charset="-122"/>
                <a:ea typeface="楷体_GB2312" panose="02010609030101010101" pitchFamily="49" charset="-122"/>
              </a:rPr>
              <a:t>作用力</a:t>
            </a:r>
            <a:r>
              <a:rPr lang="zh-CN" altLang="en-US" sz="2400" b="1">
                <a:solidFill>
                  <a:schemeClr val="bg1"/>
                </a:solidFill>
                <a:latin typeface="楷体_GB2312" panose="02010609030101010101" pitchFamily="49" charset="-122"/>
                <a:ea typeface="楷体_GB2312" panose="02010609030101010101" pitchFamily="49" charset="-122"/>
              </a:rPr>
              <a:t>的</a:t>
            </a:r>
            <a:r>
              <a:rPr lang="zh-CN" altLang="en-US" sz="2400" b="1">
                <a:solidFill>
                  <a:srgbClr val="00FFFF"/>
                </a:solidFill>
                <a:latin typeface="楷体_GB2312" panose="02010609030101010101" pitchFamily="49" charset="-122"/>
                <a:ea typeface="楷体_GB2312" panose="02010609030101010101" pitchFamily="49" charset="-122"/>
              </a:rPr>
              <a:t>时间</a:t>
            </a:r>
            <a:r>
              <a:rPr lang="zh-CN" altLang="en-US" sz="2400" b="1">
                <a:solidFill>
                  <a:schemeClr val="bg1"/>
                </a:solidFill>
                <a:latin typeface="楷体_GB2312" panose="02010609030101010101" pitchFamily="49" charset="-122"/>
                <a:ea typeface="楷体_GB2312" panose="02010609030101010101" pitchFamily="49" charset="-122"/>
              </a:rPr>
              <a:t>累积过程</a:t>
            </a:r>
          </a:p>
        </p:txBody>
      </p:sp>
      <p:sp>
        <p:nvSpPr>
          <p:cNvPr id="6149" name="Text Box 28">
            <a:extLst>
              <a:ext uri="{FF2B5EF4-FFF2-40B4-BE49-F238E27FC236}">
                <a16:creationId xmlns:a16="http://schemas.microsoft.com/office/drawing/2014/main" id="{4E62658D-C220-CD47-D8A5-951588FC86E7}"/>
              </a:ext>
            </a:extLst>
          </p:cNvPr>
          <p:cNvSpPr txBox="1">
            <a:spLocks noChangeArrowheads="1"/>
          </p:cNvSpPr>
          <p:nvPr/>
        </p:nvSpPr>
        <p:spPr bwMode="auto">
          <a:xfrm>
            <a:off x="1058863" y="1212850"/>
            <a:ext cx="3263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893763" indent="-89376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66FFFF"/>
                </a:solidFill>
                <a:latin typeface="楷体_GB2312" panose="02010609030101010101" pitchFamily="49" charset="-122"/>
                <a:ea typeface="楷体_GB2312" panose="02010609030101010101" pitchFamily="49" charset="-122"/>
              </a:rPr>
              <a:t>合力对质点作用的冲量</a:t>
            </a:r>
            <a:endParaRPr lang="zh-CN" altLang="en-US" sz="2400">
              <a:solidFill>
                <a:srgbClr val="66FFFF"/>
              </a:solidFill>
              <a:latin typeface="楷体_GB2312" panose="02010609030101010101" pitchFamily="49" charset="-122"/>
              <a:ea typeface="楷体_GB2312" panose="02010609030101010101" pitchFamily="49" charset="-122"/>
            </a:endParaRPr>
          </a:p>
        </p:txBody>
      </p:sp>
      <p:sp>
        <p:nvSpPr>
          <p:cNvPr id="6150" name="Rectangle 29">
            <a:extLst>
              <a:ext uri="{FF2B5EF4-FFF2-40B4-BE49-F238E27FC236}">
                <a16:creationId xmlns:a16="http://schemas.microsoft.com/office/drawing/2014/main" id="{59F5E988-1523-E037-6616-A167950BC47D}"/>
              </a:ext>
            </a:extLst>
          </p:cNvPr>
          <p:cNvSpPr>
            <a:spLocks noChangeArrowheads="1"/>
          </p:cNvSpPr>
          <p:nvPr/>
        </p:nvSpPr>
        <p:spPr bwMode="auto">
          <a:xfrm>
            <a:off x="5197475" y="1189038"/>
            <a:ext cx="295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66FFFF"/>
                </a:solidFill>
                <a:latin typeface="楷体_GB2312" panose="02010609030101010101" pitchFamily="49" charset="-122"/>
                <a:ea typeface="楷体_GB2312" panose="02010609030101010101" pitchFamily="49" charset="-122"/>
              </a:rPr>
              <a:t>质点动量矢量的变化</a:t>
            </a:r>
          </a:p>
        </p:txBody>
      </p:sp>
      <p:sp>
        <p:nvSpPr>
          <p:cNvPr id="6151" name="Rectangle 30">
            <a:extLst>
              <a:ext uri="{FF2B5EF4-FFF2-40B4-BE49-F238E27FC236}">
                <a16:creationId xmlns:a16="http://schemas.microsoft.com/office/drawing/2014/main" id="{BF5A083B-5EFE-5497-666A-F42C1AB07398}"/>
              </a:ext>
            </a:extLst>
          </p:cNvPr>
          <p:cNvSpPr>
            <a:spLocks noChangeArrowheads="1"/>
          </p:cNvSpPr>
          <p:nvPr/>
        </p:nvSpPr>
        <p:spPr bwMode="auto">
          <a:xfrm>
            <a:off x="681038" y="1865313"/>
            <a:ext cx="2398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楷体_GB2312" panose="02010609030101010101" pitchFamily="49" charset="-122"/>
                <a:ea typeface="楷体_GB2312" panose="02010609030101010101" pitchFamily="49" charset="-122"/>
              </a:rPr>
              <a:t>矢量性：</a:t>
            </a:r>
          </a:p>
        </p:txBody>
      </p:sp>
      <p:sp>
        <p:nvSpPr>
          <p:cNvPr id="6152" name="Rectangle 31">
            <a:extLst>
              <a:ext uri="{FF2B5EF4-FFF2-40B4-BE49-F238E27FC236}">
                <a16:creationId xmlns:a16="http://schemas.microsoft.com/office/drawing/2014/main" id="{EBE44177-D4CF-379C-41BD-D0DEA4DD8429}"/>
              </a:ext>
            </a:extLst>
          </p:cNvPr>
          <p:cNvSpPr>
            <a:spLocks noChangeArrowheads="1"/>
          </p:cNvSpPr>
          <p:nvPr/>
        </p:nvSpPr>
        <p:spPr bwMode="auto">
          <a:xfrm>
            <a:off x="2206625" y="1851025"/>
            <a:ext cx="4803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楷体_GB2312" panose="02010609030101010101" pitchFamily="49" charset="-122"/>
                <a:ea typeface="楷体_GB2312" panose="02010609030101010101" pitchFamily="49" charset="-122"/>
              </a:rPr>
              <a:t>冲量的方向与动量的增量方向相同</a:t>
            </a:r>
          </a:p>
        </p:txBody>
      </p:sp>
      <p:sp>
        <p:nvSpPr>
          <p:cNvPr id="6153" name="AutoShape 32">
            <a:extLst>
              <a:ext uri="{FF2B5EF4-FFF2-40B4-BE49-F238E27FC236}">
                <a16:creationId xmlns:a16="http://schemas.microsoft.com/office/drawing/2014/main" id="{960BA92E-FB18-D975-4F2D-F85193F11B1D}"/>
              </a:ext>
            </a:extLst>
          </p:cNvPr>
          <p:cNvSpPr>
            <a:spLocks noChangeArrowheads="1"/>
          </p:cNvSpPr>
          <p:nvPr/>
        </p:nvSpPr>
        <p:spPr bwMode="auto">
          <a:xfrm>
            <a:off x="4427538" y="1344613"/>
            <a:ext cx="676275" cy="228600"/>
          </a:xfrm>
          <a:prstGeom prst="rightArrow">
            <a:avLst>
              <a:gd name="adj1" fmla="val 50000"/>
              <a:gd name="adj2" fmla="val 7395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4" name="Text Box 33">
            <a:extLst>
              <a:ext uri="{FF2B5EF4-FFF2-40B4-BE49-F238E27FC236}">
                <a16:creationId xmlns:a16="http://schemas.microsoft.com/office/drawing/2014/main" id="{78B78777-208D-3B99-2B20-7F7C1A562B4B}"/>
              </a:ext>
            </a:extLst>
          </p:cNvPr>
          <p:cNvSpPr txBox="1">
            <a:spLocks noChangeArrowheads="1"/>
          </p:cNvSpPr>
          <p:nvPr/>
        </p:nvSpPr>
        <p:spPr bwMode="auto">
          <a:xfrm>
            <a:off x="179388" y="107950"/>
            <a:ext cx="1439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讨论</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2FF0A9F5-3F6B-2337-62E8-D39214FE65CA}"/>
              </a:ext>
            </a:extLst>
          </p:cNvPr>
          <p:cNvSpPr txBox="1">
            <a:spLocks noChangeArrowheads="1"/>
          </p:cNvSpPr>
          <p:nvPr/>
        </p:nvSpPr>
        <p:spPr bwMode="auto">
          <a:xfrm>
            <a:off x="107950" y="69850"/>
            <a:ext cx="4392613"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zh-CN" sz="2400" b="1">
                <a:solidFill>
                  <a:srgbClr val="FFC000"/>
                </a:solidFill>
              </a:rPr>
              <a:t>在许多实际问题中，往往不知道</a:t>
            </a:r>
            <a:r>
              <a:rPr lang="en-US" altLang="zh-CN" sz="2400" b="1">
                <a:solidFill>
                  <a:srgbClr val="FFC000"/>
                </a:solidFill>
              </a:rPr>
              <a:t>F</a:t>
            </a:r>
            <a:r>
              <a:rPr lang="zh-CN" altLang="zh-CN" sz="2400" b="1">
                <a:solidFill>
                  <a:srgbClr val="FFC000"/>
                </a:solidFill>
              </a:rPr>
              <a:t>（</a:t>
            </a:r>
            <a:r>
              <a:rPr lang="en-US" altLang="zh-CN" sz="2400" b="1">
                <a:solidFill>
                  <a:srgbClr val="FFC000"/>
                </a:solidFill>
              </a:rPr>
              <a:t>t</a:t>
            </a:r>
            <a:r>
              <a:rPr lang="zh-CN" altLang="zh-CN" sz="2400" b="1">
                <a:solidFill>
                  <a:srgbClr val="FFC000"/>
                </a:solidFill>
              </a:rPr>
              <a:t>）的函数形式，或者</a:t>
            </a:r>
            <a:r>
              <a:rPr lang="en-US" altLang="zh-CN" sz="2400" b="1">
                <a:solidFill>
                  <a:srgbClr val="FFC000"/>
                </a:solidFill>
              </a:rPr>
              <a:t>F</a:t>
            </a:r>
            <a:r>
              <a:rPr lang="zh-CN" altLang="zh-CN" sz="2400" b="1">
                <a:solidFill>
                  <a:srgbClr val="FFC000"/>
                </a:solidFill>
              </a:rPr>
              <a:t>（</a:t>
            </a:r>
            <a:r>
              <a:rPr lang="en-US" altLang="zh-CN" sz="2400" b="1">
                <a:solidFill>
                  <a:srgbClr val="FFC000"/>
                </a:solidFill>
              </a:rPr>
              <a:t>t</a:t>
            </a:r>
            <a:r>
              <a:rPr lang="zh-CN" altLang="zh-CN" sz="2400" b="1">
                <a:solidFill>
                  <a:srgbClr val="FFC000"/>
                </a:solidFill>
              </a:rPr>
              <a:t>）根本不能用解析式表达出来，这时常用力对时间的平均值（平均力）来表示冲量。</a:t>
            </a:r>
            <a:endParaRPr lang="zh-CN" altLang="en-US" sz="2400" b="1">
              <a:solidFill>
                <a:srgbClr val="FFC000"/>
              </a:solidFill>
            </a:endParaRPr>
          </a:p>
          <a:p>
            <a:pPr algn="just"/>
            <a:r>
              <a:rPr lang="zh-CN" altLang="en-US" sz="2400" b="1">
                <a:solidFill>
                  <a:schemeClr val="bg1"/>
                </a:solidFill>
                <a:latin typeface="Times New Roman" panose="02020603050405020304" pitchFamily="18" charset="0"/>
              </a:rPr>
              <a:t>在力的整个作用时间内，平均力的冲量等于变力的冲量</a:t>
            </a:r>
            <a:endParaRPr lang="zh-CN" altLang="en-US" sz="2400">
              <a:solidFill>
                <a:schemeClr val="bg1"/>
              </a:solidFill>
              <a:latin typeface="Times New Roman" panose="02020603050405020304" pitchFamily="18" charset="0"/>
            </a:endParaRPr>
          </a:p>
        </p:txBody>
      </p:sp>
      <p:graphicFrame>
        <p:nvGraphicFramePr>
          <p:cNvPr id="3" name="Object 4">
            <a:extLst>
              <a:ext uri="{FF2B5EF4-FFF2-40B4-BE49-F238E27FC236}">
                <a16:creationId xmlns:a16="http://schemas.microsoft.com/office/drawing/2014/main" id="{6D70BFE2-AC03-425B-9798-145D6417C285}"/>
              </a:ext>
            </a:extLst>
          </p:cNvPr>
          <p:cNvGraphicFramePr>
            <a:graphicFrameLocks/>
          </p:cNvGraphicFramePr>
          <p:nvPr/>
        </p:nvGraphicFramePr>
        <p:xfrm>
          <a:off x="1835150" y="2914650"/>
          <a:ext cx="3314700" cy="787400"/>
        </p:xfrm>
        <a:graphic>
          <a:graphicData uri="http://schemas.openxmlformats.org/presentationml/2006/ole">
            <mc:AlternateContent xmlns:mc="http://schemas.openxmlformats.org/markup-compatibility/2006">
              <mc:Choice xmlns:v="urn:schemas-microsoft-com:vml" Requires="v">
                <p:oleObj name="公式" r:id="rId2" imgW="3171669" imgH="657108" progId="Equation.3">
                  <p:embed/>
                </p:oleObj>
              </mc:Choice>
              <mc:Fallback>
                <p:oleObj name="公式" r:id="rId2" imgW="3171669" imgH="657108"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2914650"/>
                        <a:ext cx="3314700" cy="7874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AutoShape 5">
            <a:extLst>
              <a:ext uri="{FF2B5EF4-FFF2-40B4-BE49-F238E27FC236}">
                <a16:creationId xmlns:a16="http://schemas.microsoft.com/office/drawing/2014/main" id="{E2CC620E-51D6-F968-D0E0-793EB1A09946}"/>
              </a:ext>
            </a:extLst>
          </p:cNvPr>
          <p:cNvSpPr>
            <a:spLocks noChangeArrowheads="1"/>
          </p:cNvSpPr>
          <p:nvPr/>
        </p:nvSpPr>
        <p:spPr bwMode="auto">
          <a:xfrm>
            <a:off x="3835400" y="2998788"/>
            <a:ext cx="246063" cy="635000"/>
          </a:xfrm>
          <a:prstGeom prst="wedgeRoundRectCallout">
            <a:avLst>
              <a:gd name="adj1" fmla="val 797741"/>
              <a:gd name="adj2" fmla="val -200500"/>
              <a:gd name="adj3" fmla="val 16667"/>
            </a:avLst>
          </a:prstGeom>
          <a:noFill/>
          <a:ln w="9525">
            <a:solidFill>
              <a:srgbClr val="00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400">
              <a:latin typeface="Times New Roman" panose="02020603050405020304" pitchFamily="18" charset="0"/>
            </a:endParaRPr>
          </a:p>
        </p:txBody>
      </p:sp>
      <p:sp>
        <p:nvSpPr>
          <p:cNvPr id="5" name="Text Box 6">
            <a:extLst>
              <a:ext uri="{FF2B5EF4-FFF2-40B4-BE49-F238E27FC236}">
                <a16:creationId xmlns:a16="http://schemas.microsoft.com/office/drawing/2014/main" id="{E076CD5A-6A64-0EEF-BA92-6914615BEE75}"/>
              </a:ext>
            </a:extLst>
          </p:cNvPr>
          <p:cNvSpPr txBox="1">
            <a:spLocks noChangeArrowheads="1"/>
          </p:cNvSpPr>
          <p:nvPr/>
        </p:nvSpPr>
        <p:spPr bwMode="auto">
          <a:xfrm rot="-1491924">
            <a:off x="4086225" y="2166938"/>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00FFFF"/>
                </a:solidFill>
                <a:latin typeface="Times New Roman" panose="02020603050405020304" pitchFamily="18" charset="0"/>
              </a:rPr>
              <a:t>平均力</a:t>
            </a:r>
          </a:p>
        </p:txBody>
      </p:sp>
      <p:graphicFrame>
        <p:nvGraphicFramePr>
          <p:cNvPr id="6" name="Object 7">
            <a:extLst>
              <a:ext uri="{FF2B5EF4-FFF2-40B4-BE49-F238E27FC236}">
                <a16:creationId xmlns:a16="http://schemas.microsoft.com/office/drawing/2014/main" id="{46FFF908-54DB-554F-03B1-FADCF4E40813}"/>
              </a:ext>
            </a:extLst>
          </p:cNvPr>
          <p:cNvGraphicFramePr>
            <a:graphicFrameLocks noChangeAspect="1"/>
          </p:cNvGraphicFramePr>
          <p:nvPr/>
        </p:nvGraphicFramePr>
        <p:xfrm>
          <a:off x="5907088" y="1082675"/>
          <a:ext cx="309562" cy="373063"/>
        </p:xfrm>
        <a:graphic>
          <a:graphicData uri="http://schemas.openxmlformats.org/presentationml/2006/ole">
            <mc:AlternateContent xmlns:mc="http://schemas.openxmlformats.org/markup-compatibility/2006">
              <mc:Choice xmlns:v="urn:schemas-microsoft-com:vml" Requires="v">
                <p:oleObj name="Equation" r:id="rId4" imgW="104603" imgH="104619" progId="Equation.3">
                  <p:embed/>
                </p:oleObj>
              </mc:Choice>
              <mc:Fallback>
                <p:oleObj name="Equation" r:id="rId4" imgW="104603" imgH="104619"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7088" y="1082675"/>
                        <a:ext cx="309562" cy="37306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8">
            <a:extLst>
              <a:ext uri="{FF2B5EF4-FFF2-40B4-BE49-F238E27FC236}">
                <a16:creationId xmlns:a16="http://schemas.microsoft.com/office/drawing/2014/main" id="{F8E5E823-1D7E-61FA-9A87-6A5784E7EED5}"/>
              </a:ext>
            </a:extLst>
          </p:cNvPr>
          <p:cNvGraphicFramePr>
            <a:graphicFrameLocks noChangeAspect="1"/>
          </p:cNvGraphicFramePr>
          <p:nvPr/>
        </p:nvGraphicFramePr>
        <p:xfrm>
          <a:off x="5902325" y="1577975"/>
          <a:ext cx="309563" cy="455613"/>
        </p:xfrm>
        <a:graphic>
          <a:graphicData uri="http://schemas.openxmlformats.org/presentationml/2006/ole">
            <mc:AlternateContent xmlns:mc="http://schemas.openxmlformats.org/markup-compatibility/2006">
              <mc:Choice xmlns:v="urn:schemas-microsoft-com:vml" Requires="v">
                <p:oleObj name="Equation" r:id="rId6" imgW="104603" imgH="152556" progId="Equation.3">
                  <p:embed/>
                </p:oleObj>
              </mc:Choice>
              <mc:Fallback>
                <p:oleObj name="Equation" r:id="rId6" imgW="104603" imgH="152556"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02325" y="1577975"/>
                        <a:ext cx="309563" cy="4556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9">
            <a:extLst>
              <a:ext uri="{FF2B5EF4-FFF2-40B4-BE49-F238E27FC236}">
                <a16:creationId xmlns:a16="http://schemas.microsoft.com/office/drawing/2014/main" id="{8813BF69-2067-2710-34E1-F78660CB4FA4}"/>
              </a:ext>
            </a:extLst>
          </p:cNvPr>
          <p:cNvGrpSpPr>
            <a:grpSpLocks/>
          </p:cNvGrpSpPr>
          <p:nvPr/>
        </p:nvGrpSpPr>
        <p:grpSpPr bwMode="auto">
          <a:xfrm>
            <a:off x="5984875" y="239713"/>
            <a:ext cx="3127375" cy="3336925"/>
            <a:chOff x="3405" y="1851"/>
            <a:chExt cx="1970" cy="2102"/>
          </a:xfrm>
        </p:grpSpPr>
        <p:graphicFrame>
          <p:nvGraphicFramePr>
            <p:cNvPr id="7185" name="Object 10">
              <a:extLst>
                <a:ext uri="{FF2B5EF4-FFF2-40B4-BE49-F238E27FC236}">
                  <a16:creationId xmlns:a16="http://schemas.microsoft.com/office/drawing/2014/main" id="{590A1CCF-B78B-A890-FF1B-57652B964E43}"/>
                </a:ext>
              </a:extLst>
            </p:cNvPr>
            <p:cNvGraphicFramePr>
              <a:graphicFrameLocks noChangeAspect="1"/>
            </p:cNvGraphicFramePr>
            <p:nvPr/>
          </p:nvGraphicFramePr>
          <p:xfrm>
            <a:off x="4197" y="3651"/>
            <a:ext cx="230" cy="240"/>
          </p:xfrm>
          <a:graphic>
            <a:graphicData uri="http://schemas.openxmlformats.org/presentationml/2006/ole">
              <mc:AlternateContent xmlns:mc="http://schemas.openxmlformats.org/markup-compatibility/2006">
                <mc:Choice xmlns:v="urn:schemas-microsoft-com:vml" Requires="v">
                  <p:oleObj name="Equation" r:id="rId8" imgW="152531" imgH="114417" progId="Equation.3">
                    <p:embed/>
                  </p:oleObj>
                </mc:Choice>
                <mc:Fallback>
                  <p:oleObj name="Equation" r:id="rId8" imgW="152531" imgH="114417"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7" y="3651"/>
                          <a:ext cx="230" cy="24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6" name="Line 11">
              <a:extLst>
                <a:ext uri="{FF2B5EF4-FFF2-40B4-BE49-F238E27FC236}">
                  <a16:creationId xmlns:a16="http://schemas.microsoft.com/office/drawing/2014/main" id="{D9E85806-0554-4D67-5B90-11D0F903965A}"/>
                </a:ext>
              </a:extLst>
            </p:cNvPr>
            <p:cNvSpPr>
              <a:spLocks noChangeShapeType="1"/>
            </p:cNvSpPr>
            <p:nvPr/>
          </p:nvSpPr>
          <p:spPr bwMode="auto">
            <a:xfrm flipV="1">
              <a:off x="3608" y="1951"/>
              <a:ext cx="0" cy="1680"/>
            </a:xfrm>
            <a:prstGeom prst="line">
              <a:avLst/>
            </a:prstGeom>
            <a:noFill/>
            <a:ln w="28575">
              <a:solidFill>
                <a:srgbClr val="FFFF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7" name="Line 12">
              <a:extLst>
                <a:ext uri="{FF2B5EF4-FFF2-40B4-BE49-F238E27FC236}">
                  <a16:creationId xmlns:a16="http://schemas.microsoft.com/office/drawing/2014/main" id="{BB8C844F-9DFC-3461-F739-E4EB27A4901B}"/>
                </a:ext>
              </a:extLst>
            </p:cNvPr>
            <p:cNvSpPr>
              <a:spLocks noChangeShapeType="1"/>
            </p:cNvSpPr>
            <p:nvPr/>
          </p:nvSpPr>
          <p:spPr bwMode="auto">
            <a:xfrm>
              <a:off x="3597" y="3618"/>
              <a:ext cx="1728" cy="0"/>
            </a:xfrm>
            <a:prstGeom prst="line">
              <a:avLst/>
            </a:prstGeom>
            <a:noFill/>
            <a:ln w="28575">
              <a:solidFill>
                <a:srgbClr val="FFFF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188" name="Object 13">
              <a:extLst>
                <a:ext uri="{FF2B5EF4-FFF2-40B4-BE49-F238E27FC236}">
                  <a16:creationId xmlns:a16="http://schemas.microsoft.com/office/drawing/2014/main" id="{A775B0C6-0876-C472-B905-C85995540E4F}"/>
                </a:ext>
              </a:extLst>
            </p:cNvPr>
            <p:cNvGraphicFramePr>
              <a:graphicFrameLocks noChangeAspect="1"/>
            </p:cNvGraphicFramePr>
            <p:nvPr/>
          </p:nvGraphicFramePr>
          <p:xfrm>
            <a:off x="3645" y="1851"/>
            <a:ext cx="195" cy="235"/>
          </p:xfrm>
          <a:graphic>
            <a:graphicData uri="http://schemas.openxmlformats.org/presentationml/2006/ole">
              <mc:AlternateContent xmlns:mc="http://schemas.openxmlformats.org/markup-compatibility/2006">
                <mc:Choice xmlns:v="urn:schemas-microsoft-com:vml" Requires="v">
                  <p:oleObj name="Equation" r:id="rId10" imgW="104603" imgH="104619" progId="Equation.3">
                    <p:embed/>
                  </p:oleObj>
                </mc:Choice>
                <mc:Fallback>
                  <p:oleObj name="Equation" r:id="rId10" imgW="104603" imgH="104619"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45" y="1851"/>
                          <a:ext cx="195" cy="23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9" name="Object 14">
              <a:extLst>
                <a:ext uri="{FF2B5EF4-FFF2-40B4-BE49-F238E27FC236}">
                  <a16:creationId xmlns:a16="http://schemas.microsoft.com/office/drawing/2014/main" id="{CB7F9BAD-6B04-0DC9-6C4E-EA61ACFA7EDA}"/>
                </a:ext>
              </a:extLst>
            </p:cNvPr>
            <p:cNvGraphicFramePr>
              <a:graphicFrameLocks noChangeAspect="1"/>
            </p:cNvGraphicFramePr>
            <p:nvPr/>
          </p:nvGraphicFramePr>
          <p:xfrm>
            <a:off x="3405" y="3675"/>
            <a:ext cx="195" cy="248"/>
          </p:xfrm>
          <a:graphic>
            <a:graphicData uri="http://schemas.openxmlformats.org/presentationml/2006/ole">
              <mc:AlternateContent xmlns:mc="http://schemas.openxmlformats.org/markup-compatibility/2006">
                <mc:Choice xmlns:v="urn:schemas-microsoft-com:vml" Requires="v">
                  <p:oleObj name="Equation" r:id="rId12" imgW="104603" imgH="114417" progId="Equation.3">
                    <p:embed/>
                  </p:oleObj>
                </mc:Choice>
                <mc:Fallback>
                  <p:oleObj name="Equation" r:id="rId12" imgW="104603" imgH="114417"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05" y="3675"/>
                          <a:ext cx="195" cy="24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90" name="Object 15">
              <a:extLst>
                <a:ext uri="{FF2B5EF4-FFF2-40B4-BE49-F238E27FC236}">
                  <a16:creationId xmlns:a16="http://schemas.microsoft.com/office/drawing/2014/main" id="{2C550DBE-E0F8-3F2A-8B67-1CCA70EC89A9}"/>
                </a:ext>
              </a:extLst>
            </p:cNvPr>
            <p:cNvGraphicFramePr>
              <a:graphicFrameLocks noChangeAspect="1"/>
            </p:cNvGraphicFramePr>
            <p:nvPr/>
          </p:nvGraphicFramePr>
          <p:xfrm>
            <a:off x="3933" y="3627"/>
            <a:ext cx="130" cy="326"/>
          </p:xfrm>
          <a:graphic>
            <a:graphicData uri="http://schemas.openxmlformats.org/presentationml/2006/ole">
              <mc:AlternateContent xmlns:mc="http://schemas.openxmlformats.org/markup-compatibility/2006">
                <mc:Choice xmlns:v="urn:schemas-microsoft-com:vml" Requires="v">
                  <p:oleObj name="Equation" r:id="rId14" imgW="28687" imgH="190344" progId="Equation.3">
                    <p:embed/>
                  </p:oleObj>
                </mc:Choice>
                <mc:Fallback>
                  <p:oleObj name="Equation" r:id="rId14" imgW="28687" imgH="190344"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33" y="3627"/>
                          <a:ext cx="130" cy="32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91" name="Object 16">
              <a:extLst>
                <a:ext uri="{FF2B5EF4-FFF2-40B4-BE49-F238E27FC236}">
                  <a16:creationId xmlns:a16="http://schemas.microsoft.com/office/drawing/2014/main" id="{093CA359-C8C5-D8C5-EDFD-2171660E1D21}"/>
                </a:ext>
              </a:extLst>
            </p:cNvPr>
            <p:cNvGraphicFramePr>
              <a:graphicFrameLocks noChangeAspect="1"/>
            </p:cNvGraphicFramePr>
            <p:nvPr/>
          </p:nvGraphicFramePr>
          <p:xfrm>
            <a:off x="4605" y="3627"/>
            <a:ext cx="152" cy="326"/>
          </p:xfrm>
          <a:graphic>
            <a:graphicData uri="http://schemas.openxmlformats.org/presentationml/2006/ole">
              <mc:AlternateContent xmlns:mc="http://schemas.openxmlformats.org/markup-compatibility/2006">
                <mc:Choice xmlns:v="urn:schemas-microsoft-com:vml" Requires="v">
                  <p:oleObj name="Equation" r:id="rId16" imgW="47579" imgH="190344" progId="Equation.3">
                    <p:embed/>
                  </p:oleObj>
                </mc:Choice>
                <mc:Fallback>
                  <p:oleObj name="Equation" r:id="rId16" imgW="47579" imgH="190344" progId="Equation.3">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05" y="3627"/>
                          <a:ext cx="152" cy="32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92" name="Object 17">
              <a:extLst>
                <a:ext uri="{FF2B5EF4-FFF2-40B4-BE49-F238E27FC236}">
                  <a16:creationId xmlns:a16="http://schemas.microsoft.com/office/drawing/2014/main" id="{8329465A-A93E-DF63-F152-591C96AD111C}"/>
                </a:ext>
              </a:extLst>
            </p:cNvPr>
            <p:cNvGraphicFramePr>
              <a:graphicFrameLocks noChangeAspect="1"/>
            </p:cNvGraphicFramePr>
            <p:nvPr/>
          </p:nvGraphicFramePr>
          <p:xfrm>
            <a:off x="5277" y="3645"/>
            <a:ext cx="98" cy="222"/>
          </p:xfrm>
          <a:graphic>
            <a:graphicData uri="http://schemas.openxmlformats.org/presentationml/2006/ole">
              <mc:AlternateContent xmlns:mc="http://schemas.openxmlformats.org/markup-compatibility/2006">
                <mc:Choice xmlns:v="urn:schemas-microsoft-com:vml" Requires="v">
                  <p:oleObj name="Equation" r:id="rId18" imgW="0" imgH="85725" progId="Equation.3">
                    <p:embed/>
                  </p:oleObj>
                </mc:Choice>
                <mc:Fallback>
                  <p:oleObj name="Equation" r:id="rId18" imgW="0" imgH="85725" progId="Equation.3">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77" y="3645"/>
                          <a:ext cx="98" cy="22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93" name="Freeform 18">
              <a:extLst>
                <a:ext uri="{FF2B5EF4-FFF2-40B4-BE49-F238E27FC236}">
                  <a16:creationId xmlns:a16="http://schemas.microsoft.com/office/drawing/2014/main" id="{8F6743E9-1D6B-907F-88A0-D8C8F10D14EC}"/>
                </a:ext>
              </a:extLst>
            </p:cNvPr>
            <p:cNvSpPr>
              <a:spLocks/>
            </p:cNvSpPr>
            <p:nvPr/>
          </p:nvSpPr>
          <p:spPr bwMode="auto">
            <a:xfrm>
              <a:off x="4009" y="2139"/>
              <a:ext cx="645" cy="1474"/>
            </a:xfrm>
            <a:custGeom>
              <a:avLst/>
              <a:gdLst>
                <a:gd name="T0" fmla="*/ 0 w 645"/>
                <a:gd name="T1" fmla="*/ 1474 h 1474"/>
                <a:gd name="T2" fmla="*/ 299 w 645"/>
                <a:gd name="T3" fmla="*/ 0 h 1474"/>
                <a:gd name="T4" fmla="*/ 645 w 645"/>
                <a:gd name="T5" fmla="*/ 1474 h 1474"/>
                <a:gd name="T6" fmla="*/ 0 60000 65536"/>
                <a:gd name="T7" fmla="*/ 0 60000 65536"/>
                <a:gd name="T8" fmla="*/ 0 60000 65536"/>
              </a:gdLst>
              <a:ahLst/>
              <a:cxnLst>
                <a:cxn ang="T6">
                  <a:pos x="T0" y="T1"/>
                </a:cxn>
                <a:cxn ang="T7">
                  <a:pos x="T2" y="T3"/>
                </a:cxn>
                <a:cxn ang="T8">
                  <a:pos x="T4" y="T5"/>
                </a:cxn>
              </a:cxnLst>
              <a:rect l="0" t="0" r="r" b="b"/>
              <a:pathLst>
                <a:path w="645" h="1474">
                  <a:moveTo>
                    <a:pt x="0" y="1474"/>
                  </a:moveTo>
                  <a:cubicBezTo>
                    <a:pt x="96" y="737"/>
                    <a:pt x="192" y="0"/>
                    <a:pt x="299" y="0"/>
                  </a:cubicBezTo>
                  <a:cubicBezTo>
                    <a:pt x="406" y="0"/>
                    <a:pt x="525" y="737"/>
                    <a:pt x="645" y="1474"/>
                  </a:cubicBezTo>
                </a:path>
              </a:pathLst>
            </a:custGeom>
            <a:solidFill>
              <a:srgbClr val="FFCC99"/>
            </a:solidFill>
            <a:ln w="28575" cap="flat" cmpd="sng">
              <a:solidFill>
                <a:srgbClr val="FF33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grpSp>
      <p:grpSp>
        <p:nvGrpSpPr>
          <p:cNvPr id="18" name="Group 19">
            <a:extLst>
              <a:ext uri="{FF2B5EF4-FFF2-40B4-BE49-F238E27FC236}">
                <a16:creationId xmlns:a16="http://schemas.microsoft.com/office/drawing/2014/main" id="{61AB93D3-6692-2F05-4FDE-83FCDF1AA218}"/>
              </a:ext>
            </a:extLst>
          </p:cNvPr>
          <p:cNvGrpSpPr>
            <a:grpSpLocks/>
          </p:cNvGrpSpPr>
          <p:nvPr/>
        </p:nvGrpSpPr>
        <p:grpSpPr bwMode="auto">
          <a:xfrm>
            <a:off x="6303963" y="1238250"/>
            <a:ext cx="977900" cy="1820863"/>
            <a:chOff x="3619" y="2469"/>
            <a:chExt cx="557" cy="912"/>
          </a:xfrm>
        </p:grpSpPr>
        <p:sp>
          <p:nvSpPr>
            <p:cNvPr id="7183" name="Line 20">
              <a:extLst>
                <a:ext uri="{FF2B5EF4-FFF2-40B4-BE49-F238E27FC236}">
                  <a16:creationId xmlns:a16="http://schemas.microsoft.com/office/drawing/2014/main" id="{6EB8182E-1F92-08F5-F95E-BD10D8796578}"/>
                </a:ext>
              </a:extLst>
            </p:cNvPr>
            <p:cNvSpPr>
              <a:spLocks noChangeShapeType="1"/>
            </p:cNvSpPr>
            <p:nvPr/>
          </p:nvSpPr>
          <p:spPr bwMode="auto">
            <a:xfrm>
              <a:off x="3619" y="2469"/>
              <a:ext cx="557" cy="0"/>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4" name="Line 21">
              <a:extLst>
                <a:ext uri="{FF2B5EF4-FFF2-40B4-BE49-F238E27FC236}">
                  <a16:creationId xmlns:a16="http://schemas.microsoft.com/office/drawing/2014/main" id="{4511C788-C7E0-5EA8-6D54-38E6DCB4B1BC}"/>
                </a:ext>
              </a:extLst>
            </p:cNvPr>
            <p:cNvSpPr>
              <a:spLocks noChangeShapeType="1"/>
            </p:cNvSpPr>
            <p:nvPr/>
          </p:nvSpPr>
          <p:spPr bwMode="auto">
            <a:xfrm>
              <a:off x="4147" y="2469"/>
              <a:ext cx="0" cy="912"/>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 name="Group 24">
            <a:extLst>
              <a:ext uri="{FF2B5EF4-FFF2-40B4-BE49-F238E27FC236}">
                <a16:creationId xmlns:a16="http://schemas.microsoft.com/office/drawing/2014/main" id="{1239682F-705B-13BA-BAF8-CE34B58543BD}"/>
              </a:ext>
            </a:extLst>
          </p:cNvPr>
          <p:cNvGrpSpPr>
            <a:grpSpLocks/>
          </p:cNvGrpSpPr>
          <p:nvPr/>
        </p:nvGrpSpPr>
        <p:grpSpPr bwMode="auto">
          <a:xfrm>
            <a:off x="6308725" y="1724025"/>
            <a:ext cx="1660525" cy="1308100"/>
            <a:chOff x="3609" y="2786"/>
            <a:chExt cx="1046" cy="824"/>
          </a:xfrm>
        </p:grpSpPr>
        <p:sp>
          <p:nvSpPr>
            <p:cNvPr id="7181" name="Rectangle 25">
              <a:extLst>
                <a:ext uri="{FF2B5EF4-FFF2-40B4-BE49-F238E27FC236}">
                  <a16:creationId xmlns:a16="http://schemas.microsoft.com/office/drawing/2014/main" id="{1AF36E31-1C18-D66A-5A2A-FAF0BE69D75D}"/>
                </a:ext>
              </a:extLst>
            </p:cNvPr>
            <p:cNvSpPr>
              <a:spLocks noChangeArrowheads="1"/>
            </p:cNvSpPr>
            <p:nvPr/>
          </p:nvSpPr>
          <p:spPr bwMode="auto">
            <a:xfrm>
              <a:off x="3983" y="2786"/>
              <a:ext cx="671" cy="824"/>
            </a:xfrm>
            <a:prstGeom prst="rect">
              <a:avLst/>
            </a:prstGeom>
            <a:noFill/>
            <a:ln w="38100" cap="rnd" algn="ctr">
              <a:solidFill>
                <a:schemeClr val="bg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7182" name="Line 26">
              <a:extLst>
                <a:ext uri="{FF2B5EF4-FFF2-40B4-BE49-F238E27FC236}">
                  <a16:creationId xmlns:a16="http://schemas.microsoft.com/office/drawing/2014/main" id="{38AEBB08-431E-D73C-C8AD-916CC8C35A5E}"/>
                </a:ext>
              </a:extLst>
            </p:cNvPr>
            <p:cNvSpPr>
              <a:spLocks noChangeShapeType="1"/>
            </p:cNvSpPr>
            <p:nvPr/>
          </p:nvSpPr>
          <p:spPr bwMode="auto">
            <a:xfrm>
              <a:off x="3609" y="2786"/>
              <a:ext cx="1046" cy="0"/>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grpSp>
      <p:pic>
        <p:nvPicPr>
          <p:cNvPr id="17410" name="Picture 2">
            <a:extLst>
              <a:ext uri="{FF2B5EF4-FFF2-40B4-BE49-F238E27FC236}">
                <a16:creationId xmlns:a16="http://schemas.microsoft.com/office/drawing/2014/main" id="{B4D150B6-6AE2-4991-E435-7B00DF45556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03538" y="4143375"/>
            <a:ext cx="1833562" cy="173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5" name="矩形 24">
            <a:extLst>
              <a:ext uri="{FF2B5EF4-FFF2-40B4-BE49-F238E27FC236}">
                <a16:creationId xmlns:a16="http://schemas.microsoft.com/office/drawing/2014/main" id="{7B8D2EB1-1D72-AC23-8A40-B4BFA258FAA9}"/>
              </a:ext>
            </a:extLst>
          </p:cNvPr>
          <p:cNvSpPr>
            <a:spLocks noChangeArrowheads="1"/>
          </p:cNvSpPr>
          <p:nvPr/>
        </p:nvSpPr>
        <p:spPr bwMode="auto">
          <a:xfrm>
            <a:off x="5792788" y="4408488"/>
            <a:ext cx="269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rgbClr val="FFC000"/>
                </a:solidFill>
              </a:rPr>
              <a:t>这实质是利用了数学分析中的中值定理。</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3"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up)">
                                      <p:cBhvr>
                                        <p:cTn id="26" dur="500"/>
                                        <p:tgtEl>
                                          <p:spTgt spid="1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p:cTn id="31" dur="500" fill="hold"/>
                                        <p:tgtEl>
                                          <p:spTgt spid="21"/>
                                        </p:tgtEl>
                                        <p:attrNameLst>
                                          <p:attrName>ppt_w</p:attrName>
                                        </p:attrNameLst>
                                      </p:cBhvr>
                                      <p:tavLst>
                                        <p:tav tm="0">
                                          <p:val>
                                            <p:fltVal val="0"/>
                                          </p:val>
                                        </p:tav>
                                        <p:tav tm="100000">
                                          <p:val>
                                            <p:strVal val="#ppt_w"/>
                                          </p:val>
                                        </p:tav>
                                      </p:tavLst>
                                    </p:anim>
                                    <p:anim calcmode="lin" valueType="num">
                                      <p:cBhvr>
                                        <p:cTn id="32" dur="5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17410"/>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autoUpdateAnimBg="0"/>
      <p:bldP spid="5" grpId="0" autoUpdateAnimBg="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282" name="Object 2">
            <a:extLst>
              <a:ext uri="{FF2B5EF4-FFF2-40B4-BE49-F238E27FC236}">
                <a16:creationId xmlns:a16="http://schemas.microsoft.com/office/drawing/2014/main" id="{939E5A3F-99F4-CBE0-53AC-27E91B2EDD69}"/>
              </a:ext>
            </a:extLst>
          </p:cNvPr>
          <p:cNvGraphicFramePr>
            <a:graphicFrameLocks noChangeAspect="1"/>
          </p:cNvGraphicFramePr>
          <p:nvPr/>
        </p:nvGraphicFramePr>
        <p:xfrm>
          <a:off x="6615113" y="1660525"/>
          <a:ext cx="195262" cy="190500"/>
        </p:xfrm>
        <a:graphic>
          <a:graphicData uri="http://schemas.openxmlformats.org/presentationml/2006/ole">
            <mc:AlternateContent xmlns:mc="http://schemas.openxmlformats.org/markup-compatibility/2006">
              <mc:Choice xmlns:v="urn:schemas-microsoft-com:vml" Requires="v">
                <p:oleObj name="公式" r:id="rId2" imgW="66820" imgH="66831" progId="Equation.3">
                  <p:embed/>
                </p:oleObj>
              </mc:Choice>
              <mc:Fallback>
                <p:oleObj name="公式" r:id="rId2" imgW="66820" imgH="66831"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5113" y="1660525"/>
                        <a:ext cx="195262" cy="1905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83" name="Object 3">
            <a:extLst>
              <a:ext uri="{FF2B5EF4-FFF2-40B4-BE49-F238E27FC236}">
                <a16:creationId xmlns:a16="http://schemas.microsoft.com/office/drawing/2014/main" id="{0D91E128-F208-9813-1B23-0352FEB4B9B5}"/>
              </a:ext>
            </a:extLst>
          </p:cNvPr>
          <p:cNvGraphicFramePr>
            <a:graphicFrameLocks noChangeAspect="1"/>
          </p:cNvGraphicFramePr>
          <p:nvPr/>
        </p:nvGraphicFramePr>
        <p:xfrm>
          <a:off x="7483475" y="1000125"/>
          <a:ext cx="195263" cy="190500"/>
        </p:xfrm>
        <a:graphic>
          <a:graphicData uri="http://schemas.openxmlformats.org/presentationml/2006/ole">
            <mc:AlternateContent xmlns:mc="http://schemas.openxmlformats.org/markup-compatibility/2006">
              <mc:Choice xmlns:v="urn:schemas-microsoft-com:vml" Requires="v">
                <p:oleObj name="公式" r:id="rId4" imgW="66820" imgH="66831" progId="Equation.3">
                  <p:embed/>
                </p:oleObj>
              </mc:Choice>
              <mc:Fallback>
                <p:oleObj name="公式" r:id="rId4" imgW="66820" imgH="66831"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3475" y="1000125"/>
                        <a:ext cx="195263" cy="1905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84" name="Text Box 4">
            <a:extLst>
              <a:ext uri="{FF2B5EF4-FFF2-40B4-BE49-F238E27FC236}">
                <a16:creationId xmlns:a16="http://schemas.microsoft.com/office/drawing/2014/main" id="{C3BAC3AB-B89E-B6E9-35D3-15158875F64C}"/>
              </a:ext>
            </a:extLst>
          </p:cNvPr>
          <p:cNvSpPr txBox="1">
            <a:spLocks noChangeArrowheads="1"/>
          </p:cNvSpPr>
          <p:nvPr/>
        </p:nvSpPr>
        <p:spPr bwMode="auto">
          <a:xfrm>
            <a:off x="719138" y="628650"/>
            <a:ext cx="3348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rPr>
              <a:t>对</a:t>
            </a:r>
            <a:r>
              <a:rPr lang="en-US" altLang="zh-CN" sz="2400" b="1">
                <a:solidFill>
                  <a:schemeClr val="bg1"/>
                </a:solidFill>
                <a:latin typeface="Times New Roman" panose="02020603050405020304" pitchFamily="18" charset="0"/>
              </a:rPr>
              <a:t>(3)</a:t>
            </a:r>
            <a:r>
              <a:rPr lang="zh-CN" altLang="en-US" sz="2400" b="1">
                <a:solidFill>
                  <a:schemeClr val="bg1"/>
                </a:solidFill>
                <a:latin typeface="Times New Roman" panose="02020603050405020304" pitchFamily="18" charset="0"/>
              </a:rPr>
              <a:t>式</a:t>
            </a:r>
            <a:endParaRPr lang="zh-CN" altLang="en-US" sz="2400">
              <a:solidFill>
                <a:schemeClr val="bg1"/>
              </a:solidFill>
              <a:latin typeface="Times New Roman" panose="02020603050405020304" pitchFamily="18" charset="0"/>
            </a:endParaRPr>
          </a:p>
        </p:txBody>
      </p:sp>
      <p:graphicFrame>
        <p:nvGraphicFramePr>
          <p:cNvPr id="97285" name="Object 5">
            <a:extLst>
              <a:ext uri="{FF2B5EF4-FFF2-40B4-BE49-F238E27FC236}">
                <a16:creationId xmlns:a16="http://schemas.microsoft.com/office/drawing/2014/main" id="{2D248AFA-0FE9-6759-50BE-5F902990F6C1}"/>
              </a:ext>
            </a:extLst>
          </p:cNvPr>
          <p:cNvGraphicFramePr>
            <a:graphicFrameLocks/>
          </p:cNvGraphicFramePr>
          <p:nvPr/>
        </p:nvGraphicFramePr>
        <p:xfrm>
          <a:off x="838200" y="1408113"/>
          <a:ext cx="2906713" cy="763587"/>
        </p:xfrm>
        <a:graphic>
          <a:graphicData uri="http://schemas.openxmlformats.org/presentationml/2006/ole">
            <mc:AlternateContent xmlns:mc="http://schemas.openxmlformats.org/markup-compatibility/2006">
              <mc:Choice xmlns:v="urn:schemas-microsoft-com:vml" Requires="v">
                <p:oleObj name="公式" r:id="rId6" imgW="2790691" imgH="657108" progId="Equation.3">
                  <p:embed/>
                </p:oleObj>
              </mc:Choice>
              <mc:Fallback>
                <p:oleObj name="公式" r:id="rId6" imgW="2790691" imgH="657108"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1408113"/>
                        <a:ext cx="2906713" cy="7635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86" name="Line 6">
            <a:extLst>
              <a:ext uri="{FF2B5EF4-FFF2-40B4-BE49-F238E27FC236}">
                <a16:creationId xmlns:a16="http://schemas.microsoft.com/office/drawing/2014/main" id="{A4A31A8A-640A-EF7E-BA11-37224E730691}"/>
              </a:ext>
            </a:extLst>
          </p:cNvPr>
          <p:cNvSpPr>
            <a:spLocks noChangeShapeType="1"/>
          </p:cNvSpPr>
          <p:nvPr/>
        </p:nvSpPr>
        <p:spPr bwMode="auto">
          <a:xfrm>
            <a:off x="6437313" y="2379663"/>
            <a:ext cx="1844675"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7" name="Line 7">
            <a:extLst>
              <a:ext uri="{FF2B5EF4-FFF2-40B4-BE49-F238E27FC236}">
                <a16:creationId xmlns:a16="http://schemas.microsoft.com/office/drawing/2014/main" id="{0A028D3E-3FAA-2CCE-FC5A-D3D9687A5D09}"/>
              </a:ext>
            </a:extLst>
          </p:cNvPr>
          <p:cNvSpPr>
            <a:spLocks noChangeShapeType="1"/>
          </p:cNvSpPr>
          <p:nvPr/>
        </p:nvSpPr>
        <p:spPr bwMode="auto">
          <a:xfrm flipV="1">
            <a:off x="6437313" y="627063"/>
            <a:ext cx="0" cy="175260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8" name="Line 8">
            <a:extLst>
              <a:ext uri="{FF2B5EF4-FFF2-40B4-BE49-F238E27FC236}">
                <a16:creationId xmlns:a16="http://schemas.microsoft.com/office/drawing/2014/main" id="{68B5559D-FBD9-FD25-8CD8-38C9F42DC455}"/>
              </a:ext>
            </a:extLst>
          </p:cNvPr>
          <p:cNvSpPr>
            <a:spLocks noChangeShapeType="1"/>
          </p:cNvSpPr>
          <p:nvPr/>
        </p:nvSpPr>
        <p:spPr bwMode="auto">
          <a:xfrm flipH="1">
            <a:off x="5891213" y="2379663"/>
            <a:ext cx="546100" cy="38100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9" name="Freeform 9">
            <a:extLst>
              <a:ext uri="{FF2B5EF4-FFF2-40B4-BE49-F238E27FC236}">
                <a16:creationId xmlns:a16="http://schemas.microsoft.com/office/drawing/2014/main" id="{CB71978F-DFEB-FA9C-54B7-851522E2D72B}"/>
              </a:ext>
            </a:extLst>
          </p:cNvPr>
          <p:cNvSpPr>
            <a:spLocks/>
          </p:cNvSpPr>
          <p:nvPr/>
        </p:nvSpPr>
        <p:spPr bwMode="auto">
          <a:xfrm>
            <a:off x="6570663" y="1033463"/>
            <a:ext cx="1630362" cy="2108200"/>
          </a:xfrm>
          <a:custGeom>
            <a:avLst/>
            <a:gdLst>
              <a:gd name="T0" fmla="*/ 2147483646 w 976"/>
              <a:gd name="T1" fmla="*/ 2147483646 h 1328"/>
              <a:gd name="T2" fmla="*/ 2147483646 w 976"/>
              <a:gd name="T3" fmla="*/ 2147483646 h 1328"/>
              <a:gd name="T4" fmla="*/ 2147483646 w 976"/>
              <a:gd name="T5" fmla="*/ 2147483646 h 1328"/>
              <a:gd name="T6" fmla="*/ 2147483646 w 976"/>
              <a:gd name="T7" fmla="*/ 2147483646 h 13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76" h="1328">
                <a:moveTo>
                  <a:pt x="112" y="1328"/>
                </a:moveTo>
                <a:cubicBezTo>
                  <a:pt x="56" y="1024"/>
                  <a:pt x="0" y="720"/>
                  <a:pt x="64" y="512"/>
                </a:cubicBezTo>
                <a:cubicBezTo>
                  <a:pt x="128" y="304"/>
                  <a:pt x="344" y="160"/>
                  <a:pt x="496" y="80"/>
                </a:cubicBezTo>
                <a:cubicBezTo>
                  <a:pt x="648" y="0"/>
                  <a:pt x="896" y="40"/>
                  <a:pt x="976" y="32"/>
                </a:cubicBezTo>
              </a:path>
            </a:pathLst>
          </a:custGeom>
          <a:noFill/>
          <a:ln w="38100" cmpd="sng">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0" name="Line 10">
            <a:extLst>
              <a:ext uri="{FF2B5EF4-FFF2-40B4-BE49-F238E27FC236}">
                <a16:creationId xmlns:a16="http://schemas.microsoft.com/office/drawing/2014/main" id="{9237A535-3053-26E6-8597-2CBAFB61857A}"/>
              </a:ext>
            </a:extLst>
          </p:cNvPr>
          <p:cNvSpPr>
            <a:spLocks noChangeShapeType="1"/>
          </p:cNvSpPr>
          <p:nvPr/>
        </p:nvSpPr>
        <p:spPr bwMode="auto">
          <a:xfrm flipV="1">
            <a:off x="7578725" y="869950"/>
            <a:ext cx="882650" cy="228600"/>
          </a:xfrm>
          <a:prstGeom prst="line">
            <a:avLst/>
          </a:prstGeom>
          <a:noFill/>
          <a:ln w="38100">
            <a:solidFill>
              <a:srgbClr val="FF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1" name="Text Box 11">
            <a:extLst>
              <a:ext uri="{FF2B5EF4-FFF2-40B4-BE49-F238E27FC236}">
                <a16:creationId xmlns:a16="http://schemas.microsoft.com/office/drawing/2014/main" id="{6198D09D-2D3A-A2CC-8C9E-B762DE2E9852}"/>
              </a:ext>
            </a:extLst>
          </p:cNvPr>
          <p:cNvSpPr txBox="1">
            <a:spLocks noChangeArrowheads="1"/>
          </p:cNvSpPr>
          <p:nvPr/>
        </p:nvSpPr>
        <p:spPr bwMode="auto">
          <a:xfrm>
            <a:off x="5997575" y="2571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i="1">
                <a:solidFill>
                  <a:schemeClr val="bg1"/>
                </a:solidFill>
                <a:latin typeface="Times New Roman" panose="02020603050405020304" pitchFamily="18" charset="0"/>
              </a:rPr>
              <a:t>x</a:t>
            </a:r>
            <a:endParaRPr lang="en-US" altLang="zh-CN" sz="2400">
              <a:solidFill>
                <a:schemeClr val="bg1"/>
              </a:solidFill>
              <a:latin typeface="Times New Roman" panose="02020603050405020304" pitchFamily="18" charset="0"/>
            </a:endParaRPr>
          </a:p>
        </p:txBody>
      </p:sp>
      <p:sp>
        <p:nvSpPr>
          <p:cNvPr id="97292" name="Rectangle 12">
            <a:extLst>
              <a:ext uri="{FF2B5EF4-FFF2-40B4-BE49-F238E27FC236}">
                <a16:creationId xmlns:a16="http://schemas.microsoft.com/office/drawing/2014/main" id="{A9D7C8C7-99E5-2E3B-BA2F-FEA293201F77}"/>
              </a:ext>
            </a:extLst>
          </p:cNvPr>
          <p:cNvSpPr>
            <a:spLocks noChangeArrowheads="1"/>
          </p:cNvSpPr>
          <p:nvPr/>
        </p:nvSpPr>
        <p:spPr bwMode="auto">
          <a:xfrm>
            <a:off x="8058150" y="2352675"/>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i="1">
                <a:solidFill>
                  <a:schemeClr val="bg1"/>
                </a:solidFill>
                <a:latin typeface="Times New Roman" panose="02020603050405020304" pitchFamily="18" charset="0"/>
              </a:rPr>
              <a:t>y</a:t>
            </a:r>
            <a:endParaRPr lang="en-US" altLang="zh-CN" sz="2400" i="1">
              <a:solidFill>
                <a:schemeClr val="bg1"/>
              </a:solidFill>
              <a:latin typeface="Times New Roman" panose="02020603050405020304" pitchFamily="18" charset="0"/>
            </a:endParaRPr>
          </a:p>
        </p:txBody>
      </p:sp>
      <p:sp>
        <p:nvSpPr>
          <p:cNvPr id="97293" name="Rectangle 13">
            <a:extLst>
              <a:ext uri="{FF2B5EF4-FFF2-40B4-BE49-F238E27FC236}">
                <a16:creationId xmlns:a16="http://schemas.microsoft.com/office/drawing/2014/main" id="{D3D1BE71-AE23-3004-171C-D3317A712E68}"/>
              </a:ext>
            </a:extLst>
          </p:cNvPr>
          <p:cNvSpPr>
            <a:spLocks noChangeArrowheads="1"/>
          </p:cNvSpPr>
          <p:nvPr/>
        </p:nvSpPr>
        <p:spPr bwMode="auto">
          <a:xfrm>
            <a:off x="6072188" y="425450"/>
            <a:ext cx="303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i="1">
                <a:solidFill>
                  <a:schemeClr val="bg1"/>
                </a:solidFill>
                <a:latin typeface="Times New Roman" panose="02020603050405020304" pitchFamily="18" charset="0"/>
              </a:rPr>
              <a:t>z</a:t>
            </a:r>
            <a:endParaRPr lang="en-US" altLang="zh-CN" sz="2400" i="1">
              <a:solidFill>
                <a:schemeClr val="bg1"/>
              </a:solidFill>
              <a:latin typeface="Times New Roman" panose="02020603050405020304" pitchFamily="18" charset="0"/>
            </a:endParaRPr>
          </a:p>
        </p:txBody>
      </p:sp>
      <p:sp>
        <p:nvSpPr>
          <p:cNvPr id="97294" name="Rectangle 14">
            <a:extLst>
              <a:ext uri="{FF2B5EF4-FFF2-40B4-BE49-F238E27FC236}">
                <a16:creationId xmlns:a16="http://schemas.microsoft.com/office/drawing/2014/main" id="{6EE58E09-BE1E-8CC6-1C33-9A11FBCF38DE}"/>
              </a:ext>
            </a:extLst>
          </p:cNvPr>
          <p:cNvSpPr>
            <a:spLocks noChangeArrowheads="1"/>
          </p:cNvSpPr>
          <p:nvPr/>
        </p:nvSpPr>
        <p:spPr bwMode="auto">
          <a:xfrm>
            <a:off x="6283325" y="23368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i="1">
                <a:solidFill>
                  <a:schemeClr val="bg1"/>
                </a:solidFill>
                <a:latin typeface="Times New Roman" panose="02020603050405020304" pitchFamily="18" charset="0"/>
              </a:rPr>
              <a:t>O</a:t>
            </a:r>
          </a:p>
        </p:txBody>
      </p:sp>
      <p:sp>
        <p:nvSpPr>
          <p:cNvPr id="97295" name="Line 15">
            <a:extLst>
              <a:ext uri="{FF2B5EF4-FFF2-40B4-BE49-F238E27FC236}">
                <a16:creationId xmlns:a16="http://schemas.microsoft.com/office/drawing/2014/main" id="{0E817EF3-6F3E-D65A-B164-9E565682A6D6}"/>
              </a:ext>
            </a:extLst>
          </p:cNvPr>
          <p:cNvSpPr>
            <a:spLocks noChangeShapeType="1"/>
          </p:cNvSpPr>
          <p:nvPr/>
        </p:nvSpPr>
        <p:spPr bwMode="auto">
          <a:xfrm flipV="1">
            <a:off x="6711950" y="917575"/>
            <a:ext cx="560388" cy="838200"/>
          </a:xfrm>
          <a:prstGeom prst="line">
            <a:avLst/>
          </a:prstGeom>
          <a:noFill/>
          <a:ln w="38100">
            <a:solidFill>
              <a:srgbClr val="FF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6" name="Line 16">
            <a:extLst>
              <a:ext uri="{FF2B5EF4-FFF2-40B4-BE49-F238E27FC236}">
                <a16:creationId xmlns:a16="http://schemas.microsoft.com/office/drawing/2014/main" id="{8B71A2B6-0487-F070-B65E-380EE0A2BBE5}"/>
              </a:ext>
            </a:extLst>
          </p:cNvPr>
          <p:cNvSpPr>
            <a:spLocks noChangeShapeType="1"/>
          </p:cNvSpPr>
          <p:nvPr/>
        </p:nvSpPr>
        <p:spPr bwMode="auto">
          <a:xfrm>
            <a:off x="6705600" y="1765300"/>
            <a:ext cx="914400" cy="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7" name="Line 17">
            <a:extLst>
              <a:ext uri="{FF2B5EF4-FFF2-40B4-BE49-F238E27FC236}">
                <a16:creationId xmlns:a16="http://schemas.microsoft.com/office/drawing/2014/main" id="{F3D70B8F-1944-7B83-E6A0-CC20989FF337}"/>
              </a:ext>
            </a:extLst>
          </p:cNvPr>
          <p:cNvSpPr>
            <a:spLocks noChangeShapeType="1"/>
          </p:cNvSpPr>
          <p:nvPr/>
        </p:nvSpPr>
        <p:spPr bwMode="auto">
          <a:xfrm>
            <a:off x="7573963" y="1098550"/>
            <a:ext cx="685800" cy="3810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8" name="Text Box 18">
            <a:extLst>
              <a:ext uri="{FF2B5EF4-FFF2-40B4-BE49-F238E27FC236}">
                <a16:creationId xmlns:a16="http://schemas.microsoft.com/office/drawing/2014/main" id="{1AF8D1E8-27BF-694E-49B0-ABF8EFC2B177}"/>
              </a:ext>
            </a:extLst>
          </p:cNvPr>
          <p:cNvSpPr txBox="1">
            <a:spLocks noChangeArrowheads="1"/>
          </p:cNvSpPr>
          <p:nvPr/>
        </p:nvSpPr>
        <p:spPr bwMode="auto">
          <a:xfrm>
            <a:off x="155575" y="2379663"/>
            <a:ext cx="4883150" cy="102552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sz="2400" b="1">
                <a:solidFill>
                  <a:schemeClr val="bg1"/>
                </a:solidFill>
                <a:latin typeface="Times New Roman" panose="02020603050405020304" pitchFamily="18" charset="0"/>
              </a:rPr>
              <a:t>质点动量的增量等于合力对质点作用的冲量</a:t>
            </a:r>
            <a:r>
              <a:rPr lang="zh-CN" altLang="en-US" sz="2400" b="1">
                <a:solidFill>
                  <a:srgbClr val="FFFFCC"/>
                </a:solidFill>
                <a:latin typeface="Times New Roman" panose="02020603050405020304" pitchFamily="18" charset="0"/>
              </a:rPr>
              <a:t> </a:t>
            </a:r>
            <a:r>
              <a:rPr lang="en-US" altLang="zh-CN" sz="2400" b="1">
                <a:solidFill>
                  <a:srgbClr val="66FFFF"/>
                </a:solidFill>
                <a:latin typeface="Times New Roman" panose="02020603050405020304" pitchFamily="18" charset="0"/>
              </a:rPr>
              <a:t>—— </a:t>
            </a:r>
            <a:r>
              <a:rPr lang="zh-CN" altLang="en-US" sz="2400" b="1">
                <a:solidFill>
                  <a:srgbClr val="66FFFF"/>
                </a:solidFill>
                <a:latin typeface="Times New Roman" panose="02020603050405020304" pitchFamily="18" charset="0"/>
              </a:rPr>
              <a:t>质点动量定理</a:t>
            </a:r>
            <a:r>
              <a:rPr lang="zh-CN" altLang="en-US" sz="2400" b="1">
                <a:solidFill>
                  <a:srgbClr val="FFFF00"/>
                </a:solidFill>
                <a:latin typeface="Times New Roman" panose="02020603050405020304" pitchFamily="18" charset="0"/>
              </a:rPr>
              <a:t>    </a:t>
            </a:r>
            <a:endParaRPr lang="zh-CN" altLang="en-US" sz="2400">
              <a:solidFill>
                <a:srgbClr val="FFFF00"/>
              </a:solidFill>
              <a:latin typeface="Times New Roman" panose="02020603050405020304" pitchFamily="18" charset="0"/>
            </a:endParaRPr>
          </a:p>
        </p:txBody>
      </p:sp>
      <p:sp>
        <p:nvSpPr>
          <p:cNvPr id="97299" name="Line 19">
            <a:extLst>
              <a:ext uri="{FF2B5EF4-FFF2-40B4-BE49-F238E27FC236}">
                <a16:creationId xmlns:a16="http://schemas.microsoft.com/office/drawing/2014/main" id="{43291936-1056-29F0-C0CA-413565F0FE0B}"/>
              </a:ext>
            </a:extLst>
          </p:cNvPr>
          <p:cNvSpPr>
            <a:spLocks noChangeShapeType="1"/>
          </p:cNvSpPr>
          <p:nvPr/>
        </p:nvSpPr>
        <p:spPr bwMode="auto">
          <a:xfrm flipV="1">
            <a:off x="6127750" y="3660775"/>
            <a:ext cx="560388" cy="838200"/>
          </a:xfrm>
          <a:prstGeom prst="line">
            <a:avLst/>
          </a:prstGeom>
          <a:noFill/>
          <a:ln w="41275">
            <a:solidFill>
              <a:srgbClr val="FF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0" name="Line 20">
            <a:extLst>
              <a:ext uri="{FF2B5EF4-FFF2-40B4-BE49-F238E27FC236}">
                <a16:creationId xmlns:a16="http://schemas.microsoft.com/office/drawing/2014/main" id="{BB1BCECB-8887-C2CC-5E1F-CD3F069D86FE}"/>
              </a:ext>
            </a:extLst>
          </p:cNvPr>
          <p:cNvSpPr>
            <a:spLocks noChangeShapeType="1"/>
          </p:cNvSpPr>
          <p:nvPr/>
        </p:nvSpPr>
        <p:spPr bwMode="auto">
          <a:xfrm flipV="1">
            <a:off x="6156325" y="4327525"/>
            <a:ext cx="920750" cy="180975"/>
          </a:xfrm>
          <a:prstGeom prst="line">
            <a:avLst/>
          </a:prstGeom>
          <a:noFill/>
          <a:ln w="41275">
            <a:solidFill>
              <a:srgbClr val="FF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1" name="Line 21">
            <a:extLst>
              <a:ext uri="{FF2B5EF4-FFF2-40B4-BE49-F238E27FC236}">
                <a16:creationId xmlns:a16="http://schemas.microsoft.com/office/drawing/2014/main" id="{4DF40400-B1E8-95D4-3B6C-2BF6B39DBF27}"/>
              </a:ext>
            </a:extLst>
          </p:cNvPr>
          <p:cNvSpPr>
            <a:spLocks noChangeShapeType="1"/>
          </p:cNvSpPr>
          <p:nvPr/>
        </p:nvSpPr>
        <p:spPr bwMode="auto">
          <a:xfrm>
            <a:off x="6699250" y="3646488"/>
            <a:ext cx="381000" cy="68580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7302" name="Object 22">
            <a:extLst>
              <a:ext uri="{FF2B5EF4-FFF2-40B4-BE49-F238E27FC236}">
                <a16:creationId xmlns:a16="http://schemas.microsoft.com/office/drawing/2014/main" id="{B4D74E0B-499E-7E31-C3BC-B816A81A429A}"/>
              </a:ext>
            </a:extLst>
          </p:cNvPr>
          <p:cNvGraphicFramePr>
            <a:graphicFrameLocks noChangeAspect="1"/>
          </p:cNvGraphicFramePr>
          <p:nvPr/>
        </p:nvGraphicFramePr>
        <p:xfrm>
          <a:off x="6764338" y="430213"/>
          <a:ext cx="596900" cy="419100"/>
        </p:xfrm>
        <a:graphic>
          <a:graphicData uri="http://schemas.openxmlformats.org/presentationml/2006/ole">
            <mc:AlternateContent xmlns:mc="http://schemas.openxmlformats.org/markup-compatibility/2006">
              <mc:Choice xmlns:v="urn:schemas-microsoft-com:vml" Requires="v">
                <p:oleObj name="公式" r:id="rId8" imgW="457244" imgH="295314" progId="Equation.3">
                  <p:embed/>
                </p:oleObj>
              </mc:Choice>
              <mc:Fallback>
                <p:oleObj name="公式" r:id="rId8" imgW="457244" imgH="295314" progId="Equation.3">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64338" y="430213"/>
                        <a:ext cx="596900" cy="4191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03" name="Object 23">
            <a:extLst>
              <a:ext uri="{FF2B5EF4-FFF2-40B4-BE49-F238E27FC236}">
                <a16:creationId xmlns:a16="http://schemas.microsoft.com/office/drawing/2014/main" id="{E6548B70-AA21-214C-77A7-3E787587D358}"/>
              </a:ext>
            </a:extLst>
          </p:cNvPr>
          <p:cNvGraphicFramePr>
            <a:graphicFrameLocks noChangeAspect="1"/>
          </p:cNvGraphicFramePr>
          <p:nvPr/>
        </p:nvGraphicFramePr>
        <p:xfrm>
          <a:off x="8185150" y="368300"/>
          <a:ext cx="635000" cy="415925"/>
        </p:xfrm>
        <a:graphic>
          <a:graphicData uri="http://schemas.openxmlformats.org/presentationml/2006/ole">
            <mc:AlternateContent xmlns:mc="http://schemas.openxmlformats.org/markup-compatibility/2006">
              <mc:Choice xmlns:v="urn:schemas-microsoft-com:vml" Requires="v">
                <p:oleObj name="公式" r:id="rId10" imgW="495377" imgH="295314" progId="Equation.3">
                  <p:embed/>
                </p:oleObj>
              </mc:Choice>
              <mc:Fallback>
                <p:oleObj name="公式" r:id="rId10" imgW="495377" imgH="295314" progId="Equation.3">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85150" y="368300"/>
                        <a:ext cx="635000" cy="4159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04" name="Object 24">
            <a:extLst>
              <a:ext uri="{FF2B5EF4-FFF2-40B4-BE49-F238E27FC236}">
                <a16:creationId xmlns:a16="http://schemas.microsoft.com/office/drawing/2014/main" id="{B8F18BCC-1ABB-66CF-4032-2E968A455E52}"/>
              </a:ext>
            </a:extLst>
          </p:cNvPr>
          <p:cNvGraphicFramePr>
            <a:graphicFrameLocks noChangeAspect="1"/>
          </p:cNvGraphicFramePr>
          <p:nvPr/>
        </p:nvGraphicFramePr>
        <p:xfrm>
          <a:off x="6392863" y="3235325"/>
          <a:ext cx="595312" cy="419100"/>
        </p:xfrm>
        <a:graphic>
          <a:graphicData uri="http://schemas.openxmlformats.org/presentationml/2006/ole">
            <mc:AlternateContent xmlns:mc="http://schemas.openxmlformats.org/markup-compatibility/2006">
              <mc:Choice xmlns:v="urn:schemas-microsoft-com:vml" Requires="v">
                <p:oleObj name="公式" r:id="rId12" imgW="457244" imgH="295314" progId="Equation.3">
                  <p:embed/>
                </p:oleObj>
              </mc:Choice>
              <mc:Fallback>
                <p:oleObj name="公式" r:id="rId12" imgW="457244" imgH="295314"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92863" y="3235325"/>
                        <a:ext cx="595312" cy="4191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05" name="Object 25">
            <a:extLst>
              <a:ext uri="{FF2B5EF4-FFF2-40B4-BE49-F238E27FC236}">
                <a16:creationId xmlns:a16="http://schemas.microsoft.com/office/drawing/2014/main" id="{28E6F127-3D28-5C4F-0C5E-09263E20601E}"/>
              </a:ext>
            </a:extLst>
          </p:cNvPr>
          <p:cNvGraphicFramePr>
            <a:graphicFrameLocks noChangeAspect="1"/>
          </p:cNvGraphicFramePr>
          <p:nvPr/>
        </p:nvGraphicFramePr>
        <p:xfrm>
          <a:off x="7110413" y="4160838"/>
          <a:ext cx="644525" cy="420687"/>
        </p:xfrm>
        <a:graphic>
          <a:graphicData uri="http://schemas.openxmlformats.org/presentationml/2006/ole">
            <mc:AlternateContent xmlns:mc="http://schemas.openxmlformats.org/markup-compatibility/2006">
              <mc:Choice xmlns:v="urn:schemas-microsoft-com:vml" Requires="v">
                <p:oleObj name="公式" r:id="rId14" imgW="495377" imgH="295314" progId="Equation.3">
                  <p:embed/>
                </p:oleObj>
              </mc:Choice>
              <mc:Fallback>
                <p:oleObj name="公式" r:id="rId14" imgW="495377" imgH="295314" progId="Equation.3">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10413" y="4160838"/>
                        <a:ext cx="644525" cy="4206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06" name="Text Box 26">
            <a:extLst>
              <a:ext uri="{FF2B5EF4-FFF2-40B4-BE49-F238E27FC236}">
                <a16:creationId xmlns:a16="http://schemas.microsoft.com/office/drawing/2014/main" id="{71A13D34-10C4-31A8-A947-057AD1152D74}"/>
              </a:ext>
            </a:extLst>
          </p:cNvPr>
          <p:cNvSpPr txBox="1">
            <a:spLocks noChangeArrowheads="1"/>
          </p:cNvSpPr>
          <p:nvPr/>
        </p:nvSpPr>
        <p:spPr bwMode="auto">
          <a:xfrm>
            <a:off x="692150" y="4691063"/>
            <a:ext cx="2155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1"/>
                </a:solidFill>
                <a:latin typeface="Times New Roman" panose="02020603050405020304" pitchFamily="18" charset="0"/>
                <a:ea typeface="楷体_GB2312" panose="02010609030101010101" pitchFamily="49" charset="-122"/>
              </a:rPr>
              <a:t>(1)</a:t>
            </a:r>
            <a:r>
              <a:rPr lang="en-US" altLang="zh-CN" sz="2400">
                <a:solidFill>
                  <a:schemeClr val="bg1"/>
                </a:solidFill>
                <a:latin typeface="Times New Roman" panose="02020603050405020304" pitchFamily="18" charset="0"/>
                <a:ea typeface="楷体_GB2312" panose="02010609030101010101" pitchFamily="49" charset="-122"/>
              </a:rPr>
              <a:t> </a:t>
            </a:r>
            <a:r>
              <a:rPr lang="zh-CN" altLang="en-US" sz="2400" b="1">
                <a:solidFill>
                  <a:schemeClr val="bg1"/>
                </a:solidFill>
                <a:latin typeface="Times New Roman" panose="02020603050405020304" pitchFamily="18" charset="0"/>
                <a:ea typeface="楷体_GB2312" panose="02010609030101010101" pitchFamily="49" charset="-122"/>
              </a:rPr>
              <a:t>物理意义：</a:t>
            </a:r>
            <a:endParaRPr lang="zh-CN" altLang="en-US" sz="2400">
              <a:solidFill>
                <a:schemeClr val="bg1"/>
              </a:solidFill>
              <a:latin typeface="Times New Roman" panose="02020603050405020304" pitchFamily="18" charset="0"/>
              <a:ea typeface="楷体_GB2312" panose="02010609030101010101" pitchFamily="49" charset="-122"/>
            </a:endParaRPr>
          </a:p>
        </p:txBody>
      </p:sp>
      <p:sp>
        <p:nvSpPr>
          <p:cNvPr id="97307" name="Text Box 27">
            <a:extLst>
              <a:ext uri="{FF2B5EF4-FFF2-40B4-BE49-F238E27FC236}">
                <a16:creationId xmlns:a16="http://schemas.microsoft.com/office/drawing/2014/main" id="{33DC034A-3269-F339-A240-F9D08961551C}"/>
              </a:ext>
            </a:extLst>
          </p:cNvPr>
          <p:cNvSpPr txBox="1">
            <a:spLocks noChangeArrowheads="1"/>
          </p:cNvSpPr>
          <p:nvPr/>
        </p:nvSpPr>
        <p:spPr bwMode="auto">
          <a:xfrm>
            <a:off x="2597150" y="4652963"/>
            <a:ext cx="6343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楷体_GB2312" panose="02010609030101010101" pitchFamily="49" charset="-122"/>
                <a:ea typeface="楷体_GB2312" panose="02010609030101010101" pitchFamily="49" charset="-122"/>
              </a:rPr>
              <a:t>质点动量的变化依赖于</a:t>
            </a:r>
            <a:r>
              <a:rPr lang="zh-CN" altLang="en-US" sz="2400" b="1">
                <a:solidFill>
                  <a:srgbClr val="00FFFF"/>
                </a:solidFill>
                <a:latin typeface="楷体_GB2312" panose="02010609030101010101" pitchFamily="49" charset="-122"/>
                <a:ea typeface="楷体_GB2312" panose="02010609030101010101" pitchFamily="49" charset="-122"/>
              </a:rPr>
              <a:t>作用力</a:t>
            </a:r>
            <a:r>
              <a:rPr lang="zh-CN" altLang="en-US" sz="2400" b="1">
                <a:solidFill>
                  <a:schemeClr val="bg1"/>
                </a:solidFill>
                <a:latin typeface="楷体_GB2312" panose="02010609030101010101" pitchFamily="49" charset="-122"/>
                <a:ea typeface="楷体_GB2312" panose="02010609030101010101" pitchFamily="49" charset="-122"/>
              </a:rPr>
              <a:t>的</a:t>
            </a:r>
            <a:r>
              <a:rPr lang="zh-CN" altLang="en-US" sz="2400" b="1">
                <a:solidFill>
                  <a:srgbClr val="00FFFF"/>
                </a:solidFill>
                <a:latin typeface="楷体_GB2312" panose="02010609030101010101" pitchFamily="49" charset="-122"/>
                <a:ea typeface="楷体_GB2312" panose="02010609030101010101" pitchFamily="49" charset="-122"/>
              </a:rPr>
              <a:t>时间</a:t>
            </a:r>
            <a:r>
              <a:rPr lang="zh-CN" altLang="en-US" sz="2400" b="1">
                <a:solidFill>
                  <a:schemeClr val="bg1"/>
                </a:solidFill>
                <a:latin typeface="楷体_GB2312" panose="02010609030101010101" pitchFamily="49" charset="-122"/>
                <a:ea typeface="楷体_GB2312" panose="02010609030101010101" pitchFamily="49" charset="-122"/>
              </a:rPr>
              <a:t>累积过程</a:t>
            </a:r>
          </a:p>
        </p:txBody>
      </p:sp>
      <p:sp>
        <p:nvSpPr>
          <p:cNvPr id="97308" name="Text Box 28">
            <a:extLst>
              <a:ext uri="{FF2B5EF4-FFF2-40B4-BE49-F238E27FC236}">
                <a16:creationId xmlns:a16="http://schemas.microsoft.com/office/drawing/2014/main" id="{3AAB18F8-677E-D5CB-5114-86E01C4E9B58}"/>
              </a:ext>
            </a:extLst>
          </p:cNvPr>
          <p:cNvSpPr txBox="1">
            <a:spLocks noChangeArrowheads="1"/>
          </p:cNvSpPr>
          <p:nvPr/>
        </p:nvSpPr>
        <p:spPr bwMode="auto">
          <a:xfrm>
            <a:off x="1111250" y="5300663"/>
            <a:ext cx="3263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893763" indent="-89376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66FFFF"/>
                </a:solidFill>
                <a:latin typeface="楷体_GB2312" panose="02010609030101010101" pitchFamily="49" charset="-122"/>
                <a:ea typeface="楷体_GB2312" panose="02010609030101010101" pitchFamily="49" charset="-122"/>
              </a:rPr>
              <a:t>合力对质点作用的冲量</a:t>
            </a:r>
            <a:endParaRPr lang="zh-CN" altLang="en-US" sz="2400">
              <a:solidFill>
                <a:srgbClr val="66FFFF"/>
              </a:solidFill>
              <a:latin typeface="楷体_GB2312" panose="02010609030101010101" pitchFamily="49" charset="-122"/>
              <a:ea typeface="楷体_GB2312" panose="02010609030101010101" pitchFamily="49" charset="-122"/>
            </a:endParaRPr>
          </a:p>
        </p:txBody>
      </p:sp>
      <p:sp>
        <p:nvSpPr>
          <p:cNvPr id="97309" name="Rectangle 29">
            <a:extLst>
              <a:ext uri="{FF2B5EF4-FFF2-40B4-BE49-F238E27FC236}">
                <a16:creationId xmlns:a16="http://schemas.microsoft.com/office/drawing/2014/main" id="{4962B235-2669-9C0C-B9A6-4CE89E695657}"/>
              </a:ext>
            </a:extLst>
          </p:cNvPr>
          <p:cNvSpPr>
            <a:spLocks noChangeArrowheads="1"/>
          </p:cNvSpPr>
          <p:nvPr/>
        </p:nvSpPr>
        <p:spPr bwMode="auto">
          <a:xfrm>
            <a:off x="5249863" y="5276850"/>
            <a:ext cx="295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66FFFF"/>
                </a:solidFill>
                <a:latin typeface="楷体_GB2312" panose="02010609030101010101" pitchFamily="49" charset="-122"/>
                <a:ea typeface="楷体_GB2312" panose="02010609030101010101" pitchFamily="49" charset="-122"/>
              </a:rPr>
              <a:t>质点动量矢量的变化</a:t>
            </a:r>
          </a:p>
        </p:txBody>
      </p:sp>
      <p:sp>
        <p:nvSpPr>
          <p:cNvPr id="97310" name="Rectangle 30">
            <a:extLst>
              <a:ext uri="{FF2B5EF4-FFF2-40B4-BE49-F238E27FC236}">
                <a16:creationId xmlns:a16="http://schemas.microsoft.com/office/drawing/2014/main" id="{D15709DC-2062-811C-F5F3-914DAB72EB08}"/>
              </a:ext>
            </a:extLst>
          </p:cNvPr>
          <p:cNvSpPr>
            <a:spLocks noChangeArrowheads="1"/>
          </p:cNvSpPr>
          <p:nvPr/>
        </p:nvSpPr>
        <p:spPr bwMode="auto">
          <a:xfrm>
            <a:off x="733425" y="5953125"/>
            <a:ext cx="2398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1"/>
                </a:solidFill>
                <a:latin typeface="Times New Roman" panose="02020603050405020304" pitchFamily="18" charset="0"/>
                <a:ea typeface="楷体_GB2312" panose="02010609030101010101" pitchFamily="49" charset="-122"/>
              </a:rPr>
              <a:t>(2)</a:t>
            </a:r>
            <a:r>
              <a:rPr lang="en-US" altLang="zh-CN" sz="2400">
                <a:solidFill>
                  <a:schemeClr val="bg1"/>
                </a:solidFill>
                <a:latin typeface="Times New Roman" panose="02020603050405020304" pitchFamily="18" charset="0"/>
                <a:ea typeface="楷体_GB2312" panose="02010609030101010101" pitchFamily="49" charset="-122"/>
              </a:rPr>
              <a:t> </a:t>
            </a:r>
            <a:r>
              <a:rPr lang="zh-CN" altLang="en-US" sz="2400" b="1">
                <a:solidFill>
                  <a:schemeClr val="bg1"/>
                </a:solidFill>
                <a:latin typeface="楷体_GB2312" panose="02010609030101010101" pitchFamily="49" charset="-122"/>
                <a:ea typeface="楷体_GB2312" panose="02010609030101010101" pitchFamily="49" charset="-122"/>
              </a:rPr>
              <a:t>矢量性：</a:t>
            </a:r>
          </a:p>
        </p:txBody>
      </p:sp>
      <p:sp>
        <p:nvSpPr>
          <p:cNvPr id="97311" name="Rectangle 31">
            <a:extLst>
              <a:ext uri="{FF2B5EF4-FFF2-40B4-BE49-F238E27FC236}">
                <a16:creationId xmlns:a16="http://schemas.microsoft.com/office/drawing/2014/main" id="{A4F0C71C-4C1D-E627-58CA-6D465D20B2DD}"/>
              </a:ext>
            </a:extLst>
          </p:cNvPr>
          <p:cNvSpPr>
            <a:spLocks noChangeArrowheads="1"/>
          </p:cNvSpPr>
          <p:nvPr/>
        </p:nvSpPr>
        <p:spPr bwMode="auto">
          <a:xfrm>
            <a:off x="2405063" y="5938838"/>
            <a:ext cx="4803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楷体_GB2312" panose="02010609030101010101" pitchFamily="49" charset="-122"/>
                <a:ea typeface="楷体_GB2312" panose="02010609030101010101" pitchFamily="49" charset="-122"/>
              </a:rPr>
              <a:t>冲量的方向与动量的增量方向相同</a:t>
            </a:r>
          </a:p>
        </p:txBody>
      </p:sp>
      <p:sp>
        <p:nvSpPr>
          <p:cNvPr id="97312" name="AutoShape 32">
            <a:extLst>
              <a:ext uri="{FF2B5EF4-FFF2-40B4-BE49-F238E27FC236}">
                <a16:creationId xmlns:a16="http://schemas.microsoft.com/office/drawing/2014/main" id="{785210CB-970A-CA12-6F51-1A9FF6FBDDFF}"/>
              </a:ext>
            </a:extLst>
          </p:cNvPr>
          <p:cNvSpPr>
            <a:spLocks noChangeArrowheads="1"/>
          </p:cNvSpPr>
          <p:nvPr/>
        </p:nvSpPr>
        <p:spPr bwMode="auto">
          <a:xfrm>
            <a:off x="4479925" y="5432425"/>
            <a:ext cx="676275" cy="228600"/>
          </a:xfrm>
          <a:prstGeom prst="rightArrow">
            <a:avLst>
              <a:gd name="adj1" fmla="val 50000"/>
              <a:gd name="adj2" fmla="val 7395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7313" name="Text Box 33">
            <a:extLst>
              <a:ext uri="{FF2B5EF4-FFF2-40B4-BE49-F238E27FC236}">
                <a16:creationId xmlns:a16="http://schemas.microsoft.com/office/drawing/2014/main" id="{95C35851-B12F-35BA-E1F6-03063E3BEF01}"/>
              </a:ext>
            </a:extLst>
          </p:cNvPr>
          <p:cNvSpPr txBox="1">
            <a:spLocks noChangeArrowheads="1"/>
          </p:cNvSpPr>
          <p:nvPr/>
        </p:nvSpPr>
        <p:spPr bwMode="auto">
          <a:xfrm>
            <a:off x="403225" y="4081463"/>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讨论</a:t>
            </a:r>
          </a:p>
        </p:txBody>
      </p:sp>
      <p:graphicFrame>
        <p:nvGraphicFramePr>
          <p:cNvPr id="97314" name="Object 34">
            <a:extLst>
              <a:ext uri="{FF2B5EF4-FFF2-40B4-BE49-F238E27FC236}">
                <a16:creationId xmlns:a16="http://schemas.microsoft.com/office/drawing/2014/main" id="{900F0359-98AB-9009-B89A-D6DEBC4F7407}"/>
              </a:ext>
            </a:extLst>
          </p:cNvPr>
          <p:cNvGraphicFramePr>
            <a:graphicFrameLocks noChangeAspect="1"/>
          </p:cNvGraphicFramePr>
          <p:nvPr/>
        </p:nvGraphicFramePr>
        <p:xfrm>
          <a:off x="7685088" y="1617663"/>
          <a:ext cx="311150" cy="368300"/>
        </p:xfrm>
        <a:graphic>
          <a:graphicData uri="http://schemas.openxmlformats.org/presentationml/2006/ole">
            <mc:AlternateContent xmlns:mc="http://schemas.openxmlformats.org/markup-compatibility/2006">
              <mc:Choice xmlns:v="urn:schemas-microsoft-com:vml" Requires="v">
                <p:oleObj name="公式" r:id="rId16" imgW="190664" imgH="238281" progId="Equation.3">
                  <p:embed/>
                </p:oleObj>
              </mc:Choice>
              <mc:Fallback>
                <p:oleObj name="公式" r:id="rId16" imgW="190664" imgH="238281" progId="Equation.3">
                  <p:embed/>
                  <p:pic>
                    <p:nvPicPr>
                      <p:cNvPr id="0" name="Object 3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85088" y="1617663"/>
                        <a:ext cx="311150" cy="3683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5" name="Object 35">
            <a:extLst>
              <a:ext uri="{FF2B5EF4-FFF2-40B4-BE49-F238E27FC236}">
                <a16:creationId xmlns:a16="http://schemas.microsoft.com/office/drawing/2014/main" id="{FF89C059-13C7-5F48-6BEF-FA7E72AFB8E7}"/>
              </a:ext>
            </a:extLst>
          </p:cNvPr>
          <p:cNvGraphicFramePr>
            <a:graphicFrameLocks noChangeAspect="1"/>
          </p:cNvGraphicFramePr>
          <p:nvPr/>
        </p:nvGraphicFramePr>
        <p:xfrm>
          <a:off x="8313738" y="1301750"/>
          <a:ext cx="376237" cy="368300"/>
        </p:xfrm>
        <a:graphic>
          <a:graphicData uri="http://schemas.openxmlformats.org/presentationml/2006/ole">
            <mc:AlternateContent xmlns:mc="http://schemas.openxmlformats.org/markup-compatibility/2006">
              <mc:Choice xmlns:v="urn:schemas-microsoft-com:vml" Requires="v">
                <p:oleObj name="公式" r:id="rId18" imgW="238243" imgH="238281" progId="Equation.3">
                  <p:embed/>
                </p:oleObj>
              </mc:Choice>
              <mc:Fallback>
                <p:oleObj name="公式" r:id="rId18" imgW="238243" imgH="238281" progId="Equation.3">
                  <p:embed/>
                  <p:pic>
                    <p:nvPicPr>
                      <p:cNvPr id="0" name="Object 3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13738" y="1301750"/>
                        <a:ext cx="376237" cy="3683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7" name="Object 37">
            <a:extLst>
              <a:ext uri="{FF2B5EF4-FFF2-40B4-BE49-F238E27FC236}">
                <a16:creationId xmlns:a16="http://schemas.microsoft.com/office/drawing/2014/main" id="{2944755D-A869-F2E6-85BE-E7DD9CD1D24A}"/>
              </a:ext>
            </a:extLst>
          </p:cNvPr>
          <p:cNvGraphicFramePr>
            <a:graphicFrameLocks noChangeAspect="1"/>
          </p:cNvGraphicFramePr>
          <p:nvPr/>
        </p:nvGraphicFramePr>
        <p:xfrm>
          <a:off x="6996113" y="3609975"/>
          <a:ext cx="236537" cy="369888"/>
        </p:xfrm>
        <a:graphic>
          <a:graphicData uri="http://schemas.openxmlformats.org/presentationml/2006/ole">
            <mc:AlternateContent xmlns:mc="http://schemas.openxmlformats.org/markup-compatibility/2006">
              <mc:Choice xmlns:v="urn:schemas-microsoft-com:vml" Requires="v">
                <p:oleObj name="公式" r:id="rId20" imgW="104603" imgH="238281" progId="Equation.3">
                  <p:embed/>
                </p:oleObj>
              </mc:Choice>
              <mc:Fallback>
                <p:oleObj name="公式" r:id="rId20" imgW="104603" imgH="238281" progId="Equation.3">
                  <p:embed/>
                  <p:pic>
                    <p:nvPicPr>
                      <p:cNvPr id="0" name="Object 3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96113" y="3609975"/>
                        <a:ext cx="236537" cy="3698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18" name="AutoShape 38">
            <a:extLst>
              <a:ext uri="{FF2B5EF4-FFF2-40B4-BE49-F238E27FC236}">
                <a16:creationId xmlns:a16="http://schemas.microsoft.com/office/drawing/2014/main" id="{7F5CFBE8-AB23-F881-4482-8CAB2F2D049A}"/>
              </a:ext>
            </a:extLst>
          </p:cNvPr>
          <p:cNvSpPr>
            <a:spLocks noChangeArrowheads="1"/>
          </p:cNvSpPr>
          <p:nvPr/>
        </p:nvSpPr>
        <p:spPr bwMode="auto">
          <a:xfrm>
            <a:off x="352425" y="4005263"/>
            <a:ext cx="360363" cy="576262"/>
          </a:xfrm>
          <a:prstGeom prst="star4">
            <a:avLst>
              <a:gd name="adj" fmla="val 2400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9" name="Text Box 17">
            <a:extLst>
              <a:ext uri="{FF2B5EF4-FFF2-40B4-BE49-F238E27FC236}">
                <a16:creationId xmlns:a16="http://schemas.microsoft.com/office/drawing/2014/main" id="{B5301191-8B78-B0B5-9D59-2FFE034B8946}"/>
              </a:ext>
            </a:extLst>
          </p:cNvPr>
          <p:cNvSpPr txBox="1">
            <a:spLocks noChangeArrowheads="1"/>
          </p:cNvSpPr>
          <p:nvPr/>
        </p:nvSpPr>
        <p:spPr bwMode="auto">
          <a:xfrm>
            <a:off x="44450" y="1588"/>
            <a:ext cx="3598863"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solidFill>
                  <a:srgbClr val="FFFF00"/>
                </a:solidFill>
                <a:latin typeface="宋体" panose="02010600030101010101" pitchFamily="2" charset="-122"/>
              </a:rPr>
              <a:t>二</a:t>
            </a:r>
            <a:r>
              <a:rPr kumimoji="1" lang="en-US" altLang="zh-CN" sz="2800" b="1">
                <a:solidFill>
                  <a:srgbClr val="FFFF00"/>
                </a:solidFill>
                <a:latin typeface="Times New Roman" panose="02020603050405020304" pitchFamily="18" charset="0"/>
                <a:ea typeface="黑体" panose="02010609060101010101" pitchFamily="49" charset="-122"/>
              </a:rPr>
              <a:t>. </a:t>
            </a:r>
            <a:r>
              <a:rPr lang="zh-CN" altLang="en-US" sz="2800" b="1">
                <a:solidFill>
                  <a:srgbClr val="FFFF00"/>
                </a:solidFill>
                <a:latin typeface="Times New Roman" panose="02020603050405020304" pitchFamily="18" charset="0"/>
              </a:rPr>
              <a:t>质点动量定理</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294"/>
                                        </p:tgtEl>
                                        <p:attrNameLst>
                                          <p:attrName>style.visibility</p:attrName>
                                        </p:attrNameLst>
                                      </p:cBhvr>
                                      <p:to>
                                        <p:strVal val="visible"/>
                                      </p:to>
                                    </p:set>
                                    <p:animEffect transition="in" filter="wipe(left)">
                                      <p:cBhvr>
                                        <p:cTn id="12" dur="500"/>
                                        <p:tgtEl>
                                          <p:spTgt spid="97294"/>
                                        </p:tgtEl>
                                      </p:cBhvr>
                                    </p:animEffect>
                                  </p:childTnLst>
                                </p:cTn>
                              </p:par>
                              <p:par>
                                <p:cTn id="13" presetID="22" presetClass="entr" presetSubtype="2" fill="hold" nodeType="withEffect">
                                  <p:stCondLst>
                                    <p:cond delay="0"/>
                                  </p:stCondLst>
                                  <p:childTnLst>
                                    <p:set>
                                      <p:cBhvr>
                                        <p:cTn id="14" dur="1" fill="hold">
                                          <p:stCondLst>
                                            <p:cond delay="0"/>
                                          </p:stCondLst>
                                        </p:cTn>
                                        <p:tgtEl>
                                          <p:spTgt spid="97288"/>
                                        </p:tgtEl>
                                        <p:attrNameLst>
                                          <p:attrName>style.visibility</p:attrName>
                                        </p:attrNameLst>
                                      </p:cBhvr>
                                      <p:to>
                                        <p:strVal val="visible"/>
                                      </p:to>
                                    </p:set>
                                    <p:animEffect transition="in" filter="wipe(right)">
                                      <p:cBhvr>
                                        <p:cTn id="15" dur="500"/>
                                        <p:tgtEl>
                                          <p:spTgt spid="9728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7291"/>
                                        </p:tgtEl>
                                        <p:attrNameLst>
                                          <p:attrName>style.visibility</p:attrName>
                                        </p:attrNameLst>
                                      </p:cBhvr>
                                      <p:to>
                                        <p:strVal val="visible"/>
                                      </p:to>
                                    </p:set>
                                    <p:animEffect transition="in" filter="wipe(left)">
                                      <p:cBhvr>
                                        <p:cTn id="18" dur="500"/>
                                        <p:tgtEl>
                                          <p:spTgt spid="97291"/>
                                        </p:tgtEl>
                                      </p:cBhvr>
                                    </p:animEffect>
                                  </p:childTnLst>
                                </p:cTn>
                              </p:par>
                              <p:par>
                                <p:cTn id="19" presetID="22" presetClass="entr" presetSubtype="8" fill="hold" nodeType="withEffect">
                                  <p:stCondLst>
                                    <p:cond delay="0"/>
                                  </p:stCondLst>
                                  <p:childTnLst>
                                    <p:set>
                                      <p:cBhvr>
                                        <p:cTn id="20" dur="1" fill="hold">
                                          <p:stCondLst>
                                            <p:cond delay="0"/>
                                          </p:stCondLst>
                                        </p:cTn>
                                        <p:tgtEl>
                                          <p:spTgt spid="97286"/>
                                        </p:tgtEl>
                                        <p:attrNameLst>
                                          <p:attrName>style.visibility</p:attrName>
                                        </p:attrNameLst>
                                      </p:cBhvr>
                                      <p:to>
                                        <p:strVal val="visible"/>
                                      </p:to>
                                    </p:set>
                                    <p:animEffect transition="in" filter="wipe(left)">
                                      <p:cBhvr>
                                        <p:cTn id="21" dur="500"/>
                                        <p:tgtEl>
                                          <p:spTgt spid="9728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97292"/>
                                        </p:tgtEl>
                                        <p:attrNameLst>
                                          <p:attrName>style.visibility</p:attrName>
                                        </p:attrNameLst>
                                      </p:cBhvr>
                                      <p:to>
                                        <p:strVal val="visible"/>
                                      </p:to>
                                    </p:set>
                                    <p:animEffect transition="in" filter="wipe(left)">
                                      <p:cBhvr>
                                        <p:cTn id="24" dur="500"/>
                                        <p:tgtEl>
                                          <p:spTgt spid="97292"/>
                                        </p:tgtEl>
                                      </p:cBhvr>
                                    </p:animEffect>
                                  </p:childTnLst>
                                </p:cTn>
                              </p:par>
                              <p:par>
                                <p:cTn id="25" presetID="22" presetClass="entr" presetSubtype="4" fill="hold" nodeType="withEffect">
                                  <p:stCondLst>
                                    <p:cond delay="0"/>
                                  </p:stCondLst>
                                  <p:childTnLst>
                                    <p:set>
                                      <p:cBhvr>
                                        <p:cTn id="26" dur="1" fill="hold">
                                          <p:stCondLst>
                                            <p:cond delay="0"/>
                                          </p:stCondLst>
                                        </p:cTn>
                                        <p:tgtEl>
                                          <p:spTgt spid="97287"/>
                                        </p:tgtEl>
                                        <p:attrNameLst>
                                          <p:attrName>style.visibility</p:attrName>
                                        </p:attrNameLst>
                                      </p:cBhvr>
                                      <p:to>
                                        <p:strVal val="visible"/>
                                      </p:to>
                                    </p:set>
                                    <p:animEffect transition="in" filter="wipe(down)">
                                      <p:cBhvr>
                                        <p:cTn id="27" dur="500"/>
                                        <p:tgtEl>
                                          <p:spTgt spid="97287"/>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7293"/>
                                        </p:tgtEl>
                                        <p:attrNameLst>
                                          <p:attrName>style.visibility</p:attrName>
                                        </p:attrNameLst>
                                      </p:cBhvr>
                                      <p:to>
                                        <p:strVal val="visible"/>
                                      </p:to>
                                    </p:set>
                                    <p:animEffect transition="in" filter="wipe(left)">
                                      <p:cBhvr>
                                        <p:cTn id="30" dur="500"/>
                                        <p:tgtEl>
                                          <p:spTgt spid="9729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7289"/>
                                        </p:tgtEl>
                                        <p:attrNameLst>
                                          <p:attrName>style.visibility</p:attrName>
                                        </p:attrNameLst>
                                      </p:cBhvr>
                                      <p:to>
                                        <p:strVal val="visible"/>
                                      </p:to>
                                    </p:set>
                                    <p:animEffect transition="in" filter="wipe(left)">
                                      <p:cBhvr>
                                        <p:cTn id="35" dur="500"/>
                                        <p:tgtEl>
                                          <p:spTgt spid="9728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7282"/>
                                        </p:tgtEl>
                                        <p:attrNameLst>
                                          <p:attrName>style.visibility</p:attrName>
                                        </p:attrNameLst>
                                      </p:cBhvr>
                                      <p:to>
                                        <p:strVal val="visible"/>
                                      </p:to>
                                    </p:set>
                                    <p:animEffect transition="in" filter="wipe(left)">
                                      <p:cBhvr>
                                        <p:cTn id="40" dur="500"/>
                                        <p:tgtEl>
                                          <p:spTgt spid="9728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7295"/>
                                        </p:tgtEl>
                                        <p:attrNameLst>
                                          <p:attrName>style.visibility</p:attrName>
                                        </p:attrNameLst>
                                      </p:cBhvr>
                                      <p:to>
                                        <p:strVal val="visible"/>
                                      </p:to>
                                    </p:set>
                                    <p:animEffect transition="in" filter="wipe(left)">
                                      <p:cBhvr>
                                        <p:cTn id="45" dur="500"/>
                                        <p:tgtEl>
                                          <p:spTgt spid="9729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97302"/>
                                        </p:tgtEl>
                                        <p:attrNameLst>
                                          <p:attrName>style.visibility</p:attrName>
                                        </p:attrNameLst>
                                      </p:cBhvr>
                                      <p:to>
                                        <p:strVal val="visible"/>
                                      </p:to>
                                    </p:set>
                                    <p:animEffect transition="in" filter="wipe(left)">
                                      <p:cBhvr>
                                        <p:cTn id="50" dur="500"/>
                                        <p:tgtEl>
                                          <p:spTgt spid="9730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7296"/>
                                        </p:tgtEl>
                                        <p:attrNameLst>
                                          <p:attrName>style.visibility</p:attrName>
                                        </p:attrNameLst>
                                      </p:cBhvr>
                                      <p:to>
                                        <p:strVal val="visible"/>
                                      </p:to>
                                    </p:set>
                                    <p:animEffect transition="in" filter="wipe(left)">
                                      <p:cBhvr>
                                        <p:cTn id="55" dur="500"/>
                                        <p:tgtEl>
                                          <p:spTgt spid="97296"/>
                                        </p:tgtEl>
                                      </p:cBhvr>
                                    </p:animEffect>
                                  </p:childTnLst>
                                </p:cTn>
                              </p:par>
                            </p:childTnLst>
                          </p:cTn>
                        </p:par>
                        <p:par>
                          <p:cTn id="56" fill="hold" nodeType="afterGroup">
                            <p:stCondLst>
                              <p:cond delay="500"/>
                            </p:stCondLst>
                            <p:childTnLst>
                              <p:par>
                                <p:cTn id="57" presetID="22" presetClass="entr" presetSubtype="8" fill="hold" nodeType="afterEffect">
                                  <p:stCondLst>
                                    <p:cond delay="0"/>
                                  </p:stCondLst>
                                  <p:childTnLst>
                                    <p:set>
                                      <p:cBhvr>
                                        <p:cTn id="58" dur="1" fill="hold">
                                          <p:stCondLst>
                                            <p:cond delay="0"/>
                                          </p:stCondLst>
                                        </p:cTn>
                                        <p:tgtEl>
                                          <p:spTgt spid="97314"/>
                                        </p:tgtEl>
                                        <p:attrNameLst>
                                          <p:attrName>style.visibility</p:attrName>
                                        </p:attrNameLst>
                                      </p:cBhvr>
                                      <p:to>
                                        <p:strVal val="visible"/>
                                      </p:to>
                                    </p:set>
                                    <p:animEffect transition="in" filter="wipe(left)">
                                      <p:cBhvr>
                                        <p:cTn id="59" dur="500"/>
                                        <p:tgtEl>
                                          <p:spTgt spid="9731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97283"/>
                                        </p:tgtEl>
                                        <p:attrNameLst>
                                          <p:attrName>style.visibility</p:attrName>
                                        </p:attrNameLst>
                                      </p:cBhvr>
                                      <p:to>
                                        <p:strVal val="visible"/>
                                      </p:to>
                                    </p:set>
                                    <p:animEffect transition="in" filter="wipe(left)">
                                      <p:cBhvr>
                                        <p:cTn id="64" dur="500"/>
                                        <p:tgtEl>
                                          <p:spTgt spid="9728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97290"/>
                                        </p:tgtEl>
                                        <p:attrNameLst>
                                          <p:attrName>style.visibility</p:attrName>
                                        </p:attrNameLst>
                                      </p:cBhvr>
                                      <p:to>
                                        <p:strVal val="visible"/>
                                      </p:to>
                                    </p:set>
                                    <p:animEffect transition="in" filter="wipe(left)">
                                      <p:cBhvr>
                                        <p:cTn id="69" dur="500"/>
                                        <p:tgtEl>
                                          <p:spTgt spid="9729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97303"/>
                                        </p:tgtEl>
                                        <p:attrNameLst>
                                          <p:attrName>style.visibility</p:attrName>
                                        </p:attrNameLst>
                                      </p:cBhvr>
                                      <p:to>
                                        <p:strVal val="visible"/>
                                      </p:to>
                                    </p:set>
                                    <p:animEffect transition="in" filter="wipe(left)">
                                      <p:cBhvr>
                                        <p:cTn id="74" dur="500"/>
                                        <p:tgtEl>
                                          <p:spTgt spid="97303"/>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97297"/>
                                        </p:tgtEl>
                                        <p:attrNameLst>
                                          <p:attrName>style.visibility</p:attrName>
                                        </p:attrNameLst>
                                      </p:cBhvr>
                                      <p:to>
                                        <p:strVal val="visible"/>
                                      </p:to>
                                    </p:set>
                                    <p:animEffect transition="in" filter="wipe(left)">
                                      <p:cBhvr>
                                        <p:cTn id="79" dur="500"/>
                                        <p:tgtEl>
                                          <p:spTgt spid="97297"/>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97315"/>
                                        </p:tgtEl>
                                        <p:attrNameLst>
                                          <p:attrName>style.visibility</p:attrName>
                                        </p:attrNameLst>
                                      </p:cBhvr>
                                      <p:to>
                                        <p:strVal val="visible"/>
                                      </p:to>
                                    </p:set>
                                    <p:animEffect transition="in" filter="wipe(left)">
                                      <p:cBhvr>
                                        <p:cTn id="83" dur="500"/>
                                        <p:tgtEl>
                                          <p:spTgt spid="9731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97284"/>
                                        </p:tgtEl>
                                        <p:attrNameLst>
                                          <p:attrName>style.visibility</p:attrName>
                                        </p:attrNameLst>
                                      </p:cBhvr>
                                      <p:to>
                                        <p:strVal val="visible"/>
                                      </p:to>
                                    </p:set>
                                    <p:animEffect transition="in" filter="wipe(left)">
                                      <p:cBhvr>
                                        <p:cTn id="88" dur="500"/>
                                        <p:tgtEl>
                                          <p:spTgt spid="9728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97285"/>
                                        </p:tgtEl>
                                        <p:attrNameLst>
                                          <p:attrName>style.visibility</p:attrName>
                                        </p:attrNameLst>
                                      </p:cBhvr>
                                      <p:to>
                                        <p:strVal val="visible"/>
                                      </p:to>
                                    </p:set>
                                    <p:animEffect transition="in" filter="wipe(left)">
                                      <p:cBhvr>
                                        <p:cTn id="93" dur="500"/>
                                        <p:tgtEl>
                                          <p:spTgt spid="9728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97299"/>
                                        </p:tgtEl>
                                        <p:attrNameLst>
                                          <p:attrName>style.visibility</p:attrName>
                                        </p:attrNameLst>
                                      </p:cBhvr>
                                      <p:to>
                                        <p:strVal val="visible"/>
                                      </p:to>
                                    </p:set>
                                    <p:animEffect transition="in" filter="wipe(left)">
                                      <p:cBhvr>
                                        <p:cTn id="98" dur="500"/>
                                        <p:tgtEl>
                                          <p:spTgt spid="9729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97304"/>
                                        </p:tgtEl>
                                        <p:attrNameLst>
                                          <p:attrName>style.visibility</p:attrName>
                                        </p:attrNameLst>
                                      </p:cBhvr>
                                      <p:to>
                                        <p:strVal val="visible"/>
                                      </p:to>
                                    </p:set>
                                    <p:animEffect transition="in" filter="wipe(left)">
                                      <p:cBhvr>
                                        <p:cTn id="103" dur="500"/>
                                        <p:tgtEl>
                                          <p:spTgt spid="97304"/>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97300"/>
                                        </p:tgtEl>
                                        <p:attrNameLst>
                                          <p:attrName>style.visibility</p:attrName>
                                        </p:attrNameLst>
                                      </p:cBhvr>
                                      <p:to>
                                        <p:strVal val="visible"/>
                                      </p:to>
                                    </p:set>
                                    <p:animEffect transition="in" filter="wipe(left)">
                                      <p:cBhvr>
                                        <p:cTn id="108" dur="500"/>
                                        <p:tgtEl>
                                          <p:spTgt spid="97300"/>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97305"/>
                                        </p:tgtEl>
                                        <p:attrNameLst>
                                          <p:attrName>style.visibility</p:attrName>
                                        </p:attrNameLst>
                                      </p:cBhvr>
                                      <p:to>
                                        <p:strVal val="visible"/>
                                      </p:to>
                                    </p:set>
                                    <p:animEffect transition="in" filter="wipe(left)">
                                      <p:cBhvr>
                                        <p:cTn id="113" dur="500"/>
                                        <p:tgtEl>
                                          <p:spTgt spid="97305"/>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97301"/>
                                        </p:tgtEl>
                                        <p:attrNameLst>
                                          <p:attrName>style.visibility</p:attrName>
                                        </p:attrNameLst>
                                      </p:cBhvr>
                                      <p:to>
                                        <p:strVal val="visible"/>
                                      </p:to>
                                    </p:set>
                                    <p:animEffect transition="in" filter="wipe(left)">
                                      <p:cBhvr>
                                        <p:cTn id="118" dur="500"/>
                                        <p:tgtEl>
                                          <p:spTgt spid="97301"/>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97317"/>
                                        </p:tgtEl>
                                        <p:attrNameLst>
                                          <p:attrName>style.visibility</p:attrName>
                                        </p:attrNameLst>
                                      </p:cBhvr>
                                      <p:to>
                                        <p:strVal val="visible"/>
                                      </p:to>
                                    </p:set>
                                    <p:animEffect transition="in" filter="wipe(left)">
                                      <p:cBhvr>
                                        <p:cTn id="123" dur="500"/>
                                        <p:tgtEl>
                                          <p:spTgt spid="97317"/>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97298"/>
                                        </p:tgtEl>
                                        <p:attrNameLst>
                                          <p:attrName>style.visibility</p:attrName>
                                        </p:attrNameLst>
                                      </p:cBhvr>
                                      <p:to>
                                        <p:strVal val="visible"/>
                                      </p:to>
                                    </p:set>
                                    <p:animEffect transition="in" filter="wipe(left)">
                                      <p:cBhvr>
                                        <p:cTn id="128" dur="500"/>
                                        <p:tgtEl>
                                          <p:spTgt spid="97298"/>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50" presetClass="entr" presetSubtype="0" decel="100000" fill="hold" grpId="0" nodeType="clickEffect">
                                  <p:stCondLst>
                                    <p:cond delay="0"/>
                                  </p:stCondLst>
                                  <p:childTnLst>
                                    <p:set>
                                      <p:cBhvr>
                                        <p:cTn id="132" dur="1" fill="hold">
                                          <p:stCondLst>
                                            <p:cond delay="0"/>
                                          </p:stCondLst>
                                        </p:cTn>
                                        <p:tgtEl>
                                          <p:spTgt spid="97318"/>
                                        </p:tgtEl>
                                        <p:attrNameLst>
                                          <p:attrName>style.visibility</p:attrName>
                                        </p:attrNameLst>
                                      </p:cBhvr>
                                      <p:to>
                                        <p:strVal val="visible"/>
                                      </p:to>
                                    </p:set>
                                    <p:anim calcmode="lin" valueType="num">
                                      <p:cBhvr>
                                        <p:cTn id="133" dur="1000" fill="hold"/>
                                        <p:tgtEl>
                                          <p:spTgt spid="97318"/>
                                        </p:tgtEl>
                                        <p:attrNameLst>
                                          <p:attrName>ppt_w</p:attrName>
                                        </p:attrNameLst>
                                      </p:cBhvr>
                                      <p:tavLst>
                                        <p:tav tm="0">
                                          <p:val>
                                            <p:strVal val="#ppt_w+.3"/>
                                          </p:val>
                                        </p:tav>
                                        <p:tav tm="100000">
                                          <p:val>
                                            <p:strVal val="#ppt_w"/>
                                          </p:val>
                                        </p:tav>
                                      </p:tavLst>
                                    </p:anim>
                                    <p:anim calcmode="lin" valueType="num">
                                      <p:cBhvr>
                                        <p:cTn id="134" dur="1000" fill="hold"/>
                                        <p:tgtEl>
                                          <p:spTgt spid="97318"/>
                                        </p:tgtEl>
                                        <p:attrNameLst>
                                          <p:attrName>ppt_h</p:attrName>
                                        </p:attrNameLst>
                                      </p:cBhvr>
                                      <p:tavLst>
                                        <p:tav tm="0">
                                          <p:val>
                                            <p:strVal val="#ppt_h"/>
                                          </p:val>
                                        </p:tav>
                                        <p:tav tm="100000">
                                          <p:val>
                                            <p:strVal val="#ppt_h"/>
                                          </p:val>
                                        </p:tav>
                                      </p:tavLst>
                                    </p:anim>
                                    <p:animEffect transition="in" filter="fade">
                                      <p:cBhvr>
                                        <p:cTn id="135" dur="1000"/>
                                        <p:tgtEl>
                                          <p:spTgt spid="97318"/>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97313"/>
                                        </p:tgtEl>
                                        <p:attrNameLst>
                                          <p:attrName>style.visibility</p:attrName>
                                        </p:attrNameLst>
                                      </p:cBhvr>
                                      <p:to>
                                        <p:strVal val="visible"/>
                                      </p:to>
                                    </p:set>
                                    <p:animEffect transition="in" filter="wipe(left)">
                                      <p:cBhvr>
                                        <p:cTn id="140" dur="500"/>
                                        <p:tgtEl>
                                          <p:spTgt spid="97313"/>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97306"/>
                                        </p:tgtEl>
                                        <p:attrNameLst>
                                          <p:attrName>style.visibility</p:attrName>
                                        </p:attrNameLst>
                                      </p:cBhvr>
                                      <p:to>
                                        <p:strVal val="visible"/>
                                      </p:to>
                                    </p:set>
                                    <p:animEffect transition="in" filter="wipe(left)">
                                      <p:cBhvr>
                                        <p:cTn id="145" dur="500"/>
                                        <p:tgtEl>
                                          <p:spTgt spid="97306"/>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grpId="0" nodeType="clickEffect">
                                  <p:stCondLst>
                                    <p:cond delay="0"/>
                                  </p:stCondLst>
                                  <p:childTnLst>
                                    <p:set>
                                      <p:cBhvr>
                                        <p:cTn id="149" dur="1" fill="hold">
                                          <p:stCondLst>
                                            <p:cond delay="0"/>
                                          </p:stCondLst>
                                        </p:cTn>
                                        <p:tgtEl>
                                          <p:spTgt spid="97307"/>
                                        </p:tgtEl>
                                        <p:attrNameLst>
                                          <p:attrName>style.visibility</p:attrName>
                                        </p:attrNameLst>
                                      </p:cBhvr>
                                      <p:to>
                                        <p:strVal val="visible"/>
                                      </p:to>
                                    </p:set>
                                    <p:animEffect transition="in" filter="wipe(left)">
                                      <p:cBhvr>
                                        <p:cTn id="150" dur="500"/>
                                        <p:tgtEl>
                                          <p:spTgt spid="97307"/>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grpId="0" nodeType="clickEffect">
                                  <p:stCondLst>
                                    <p:cond delay="0"/>
                                  </p:stCondLst>
                                  <p:childTnLst>
                                    <p:set>
                                      <p:cBhvr>
                                        <p:cTn id="154" dur="1" fill="hold">
                                          <p:stCondLst>
                                            <p:cond delay="0"/>
                                          </p:stCondLst>
                                        </p:cTn>
                                        <p:tgtEl>
                                          <p:spTgt spid="97308"/>
                                        </p:tgtEl>
                                        <p:attrNameLst>
                                          <p:attrName>style.visibility</p:attrName>
                                        </p:attrNameLst>
                                      </p:cBhvr>
                                      <p:to>
                                        <p:strVal val="visible"/>
                                      </p:to>
                                    </p:set>
                                    <p:animEffect transition="in" filter="wipe(left)">
                                      <p:cBhvr>
                                        <p:cTn id="155" dur="500"/>
                                        <p:tgtEl>
                                          <p:spTgt spid="97308"/>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grpId="0" nodeType="clickEffect">
                                  <p:stCondLst>
                                    <p:cond delay="0"/>
                                  </p:stCondLst>
                                  <p:childTnLst>
                                    <p:set>
                                      <p:cBhvr>
                                        <p:cTn id="159" dur="1" fill="hold">
                                          <p:stCondLst>
                                            <p:cond delay="0"/>
                                          </p:stCondLst>
                                        </p:cTn>
                                        <p:tgtEl>
                                          <p:spTgt spid="97312"/>
                                        </p:tgtEl>
                                        <p:attrNameLst>
                                          <p:attrName>style.visibility</p:attrName>
                                        </p:attrNameLst>
                                      </p:cBhvr>
                                      <p:to>
                                        <p:strVal val="visible"/>
                                      </p:to>
                                    </p:set>
                                    <p:animEffect transition="in" filter="wipe(left)">
                                      <p:cBhvr>
                                        <p:cTn id="160" dur="500"/>
                                        <p:tgtEl>
                                          <p:spTgt spid="97312"/>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grpId="0" nodeType="clickEffect">
                                  <p:stCondLst>
                                    <p:cond delay="0"/>
                                  </p:stCondLst>
                                  <p:childTnLst>
                                    <p:set>
                                      <p:cBhvr>
                                        <p:cTn id="164" dur="1" fill="hold">
                                          <p:stCondLst>
                                            <p:cond delay="0"/>
                                          </p:stCondLst>
                                        </p:cTn>
                                        <p:tgtEl>
                                          <p:spTgt spid="97309"/>
                                        </p:tgtEl>
                                        <p:attrNameLst>
                                          <p:attrName>style.visibility</p:attrName>
                                        </p:attrNameLst>
                                      </p:cBhvr>
                                      <p:to>
                                        <p:strVal val="visible"/>
                                      </p:to>
                                    </p:set>
                                    <p:animEffect transition="in" filter="wipe(left)">
                                      <p:cBhvr>
                                        <p:cTn id="165" dur="500"/>
                                        <p:tgtEl>
                                          <p:spTgt spid="97309"/>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97310"/>
                                        </p:tgtEl>
                                        <p:attrNameLst>
                                          <p:attrName>style.visibility</p:attrName>
                                        </p:attrNameLst>
                                      </p:cBhvr>
                                      <p:to>
                                        <p:strVal val="visible"/>
                                      </p:to>
                                    </p:set>
                                    <p:animEffect transition="in" filter="wipe(left)">
                                      <p:cBhvr>
                                        <p:cTn id="170" dur="500"/>
                                        <p:tgtEl>
                                          <p:spTgt spid="97310"/>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97311"/>
                                        </p:tgtEl>
                                        <p:attrNameLst>
                                          <p:attrName>style.visibility</p:attrName>
                                        </p:attrNameLst>
                                      </p:cBhvr>
                                      <p:to>
                                        <p:strVal val="visible"/>
                                      </p:to>
                                    </p:set>
                                    <p:animEffect transition="in" filter="wipe(left)">
                                      <p:cBhvr>
                                        <p:cTn id="175" dur="500"/>
                                        <p:tgtEl>
                                          <p:spTgt spid="97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4" grpId="0" autoUpdateAnimBg="0"/>
      <p:bldP spid="97291" grpId="0" autoUpdateAnimBg="0"/>
      <p:bldP spid="97292" grpId="0" autoUpdateAnimBg="0"/>
      <p:bldP spid="97293" grpId="0" autoUpdateAnimBg="0"/>
      <p:bldP spid="97294" grpId="0"/>
      <p:bldP spid="97298" grpId="0" animBg="1" autoUpdateAnimBg="0"/>
      <p:bldP spid="97306" grpId="0" autoUpdateAnimBg="0"/>
      <p:bldP spid="97307" grpId="0" autoUpdateAnimBg="0"/>
      <p:bldP spid="97308" grpId="0" autoUpdateAnimBg="0"/>
      <p:bldP spid="97309" grpId="0" autoUpdateAnimBg="0"/>
      <p:bldP spid="97310" grpId="0" autoUpdateAnimBg="0"/>
      <p:bldP spid="97311" grpId="0" autoUpdateAnimBg="0"/>
      <p:bldP spid="97312" grpId="0" animBg="1"/>
      <p:bldP spid="97313" grpId="0"/>
      <p:bldP spid="97318" grpId="0" animBg="1"/>
      <p:bldP spid="3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a:extLst>
              <a:ext uri="{FF2B5EF4-FFF2-40B4-BE49-F238E27FC236}">
                <a16:creationId xmlns:a16="http://schemas.microsoft.com/office/drawing/2014/main" id="{525B9501-51D6-7238-76C3-B82DF7622921}"/>
              </a:ext>
            </a:extLst>
          </p:cNvPr>
          <p:cNvGraphicFramePr>
            <a:graphicFrameLocks/>
          </p:cNvGraphicFramePr>
          <p:nvPr/>
        </p:nvGraphicFramePr>
        <p:xfrm>
          <a:off x="981075" y="981075"/>
          <a:ext cx="3289300" cy="2371725"/>
        </p:xfrm>
        <a:graphic>
          <a:graphicData uri="http://schemas.openxmlformats.org/presentationml/2006/ole">
            <mc:AlternateContent xmlns:mc="http://schemas.openxmlformats.org/markup-compatibility/2006">
              <mc:Choice xmlns:v="urn:schemas-microsoft-com:vml" Requires="v">
                <p:oleObj name="公式" r:id="rId2" imgW="3171669" imgH="2238297" progId="Equation.3">
                  <p:embed/>
                </p:oleObj>
              </mc:Choice>
              <mc:Fallback>
                <p:oleObj name="公式" r:id="rId2" imgW="3171669" imgH="2238297"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075" y="981075"/>
                        <a:ext cx="3289300" cy="23717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19" name="Text Box 22">
            <a:extLst>
              <a:ext uri="{FF2B5EF4-FFF2-40B4-BE49-F238E27FC236}">
                <a16:creationId xmlns:a16="http://schemas.microsoft.com/office/drawing/2014/main" id="{CA59A76D-F1E2-AA7D-875E-67BB1AE30CCE}"/>
              </a:ext>
            </a:extLst>
          </p:cNvPr>
          <p:cNvSpPr txBox="1">
            <a:spLocks noChangeArrowheads="1"/>
          </p:cNvSpPr>
          <p:nvPr/>
        </p:nvSpPr>
        <p:spPr bwMode="auto">
          <a:xfrm>
            <a:off x="5307013" y="1420813"/>
            <a:ext cx="2725737" cy="1279525"/>
          </a:xfrm>
          <a:prstGeom prst="rect">
            <a:avLst/>
          </a:prstGeom>
          <a:noFill/>
          <a:ln w="19050" algn="ctr">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chemeClr val="bg1"/>
                </a:solidFill>
                <a:latin typeface="Times New Roman" panose="02020603050405020304" pitchFamily="18" charset="0"/>
                <a:ea typeface="楷体_GB2312" panose="02010609030101010101" pitchFamily="49" charset="-122"/>
              </a:rPr>
              <a:t>冲量的任何分量等于在它自己方向上的动量分量的增量</a:t>
            </a:r>
          </a:p>
        </p:txBody>
      </p:sp>
      <p:sp>
        <p:nvSpPr>
          <p:cNvPr id="9220" name="Text Box 23">
            <a:extLst>
              <a:ext uri="{FF2B5EF4-FFF2-40B4-BE49-F238E27FC236}">
                <a16:creationId xmlns:a16="http://schemas.microsoft.com/office/drawing/2014/main" id="{9B00451E-8DFC-675A-0BBC-D9B74EEB877E}"/>
              </a:ext>
            </a:extLst>
          </p:cNvPr>
          <p:cNvSpPr txBox="1">
            <a:spLocks noChangeArrowheads="1"/>
          </p:cNvSpPr>
          <p:nvPr/>
        </p:nvSpPr>
        <p:spPr bwMode="auto">
          <a:xfrm>
            <a:off x="765175" y="388938"/>
            <a:ext cx="30226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chemeClr val="bg1"/>
                </a:solidFill>
                <a:latin typeface="Times New Roman" panose="02020603050405020304" pitchFamily="18" charset="0"/>
              </a:rPr>
              <a:t>动量定理的分量形式</a:t>
            </a:r>
          </a:p>
        </p:txBody>
      </p:sp>
      <p:sp>
        <p:nvSpPr>
          <p:cNvPr id="9221" name="AutoShape 27">
            <a:extLst>
              <a:ext uri="{FF2B5EF4-FFF2-40B4-BE49-F238E27FC236}">
                <a16:creationId xmlns:a16="http://schemas.microsoft.com/office/drawing/2014/main" id="{FFE5AD86-A818-BEB9-A294-33ED81A68A73}"/>
              </a:ext>
            </a:extLst>
          </p:cNvPr>
          <p:cNvSpPr>
            <a:spLocks/>
          </p:cNvSpPr>
          <p:nvPr/>
        </p:nvSpPr>
        <p:spPr bwMode="auto">
          <a:xfrm>
            <a:off x="4427538" y="1268413"/>
            <a:ext cx="288925" cy="1944687"/>
          </a:xfrm>
          <a:prstGeom prst="rightBrace">
            <a:avLst>
              <a:gd name="adj1" fmla="val 56090"/>
              <a:gd name="adj2" fmla="val 50000"/>
            </a:avLst>
          </a:prstGeom>
          <a:noFill/>
          <a:ln w="19050">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3">
            <a:extLst>
              <a:ext uri="{FF2B5EF4-FFF2-40B4-BE49-F238E27FC236}">
                <a16:creationId xmlns:a16="http://schemas.microsoft.com/office/drawing/2014/main" id="{5DD2EC16-6A52-4897-D82A-19FED022F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 y="1433513"/>
            <a:ext cx="2209800"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CE2AF1B0-5DCF-42ED-99F9-ACBD3EAF8404}"/>
              </a:ext>
            </a:extLst>
          </p:cNvPr>
          <p:cNvSpPr txBox="1">
            <a:spLocks noChangeArrowheads="1"/>
          </p:cNvSpPr>
          <p:nvPr/>
        </p:nvSpPr>
        <p:spPr bwMode="auto">
          <a:xfrm>
            <a:off x="2343150" y="1512888"/>
            <a:ext cx="6692900" cy="2678112"/>
          </a:xfrm>
          <a:prstGeom prst="rect">
            <a:avLst/>
          </a:prstGeom>
          <a:noFill/>
          <a:ln>
            <a:noFill/>
          </a:ln>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zh-CN" altLang="en-US" sz="2400" b="1">
                <a:solidFill>
                  <a:schemeClr val="bg1"/>
                </a:solidFill>
                <a:latin typeface="+mn-lt"/>
              </a:rPr>
              <a:t>在下落碰撞过程中，任意时刻</a:t>
            </a:r>
            <a:r>
              <a:rPr lang="en-US" altLang="zh-CN" sz="2400" b="1">
                <a:solidFill>
                  <a:schemeClr val="bg1"/>
                </a:solidFill>
                <a:latin typeface="+mn-lt"/>
              </a:rPr>
              <a:t>t</a:t>
            </a:r>
            <a:r>
              <a:rPr lang="zh-CN" altLang="en-US" sz="2400" b="1">
                <a:solidFill>
                  <a:schemeClr val="bg1"/>
                </a:solidFill>
                <a:latin typeface="+mn-lt"/>
              </a:rPr>
              <a:t>，秤盘度数为</a:t>
            </a:r>
            <a:r>
              <a:rPr lang="en-US" altLang="zh-CN" sz="2400" b="1">
                <a:solidFill>
                  <a:schemeClr val="bg1"/>
                </a:solidFill>
                <a:latin typeface="+mn-lt"/>
              </a:rPr>
              <a:t>:   </a:t>
            </a:r>
            <a:r>
              <a:rPr lang="en-US" altLang="zh-CN" sz="2400" b="1" i="1">
                <a:solidFill>
                  <a:schemeClr val="bg1"/>
                </a:solidFill>
                <a:latin typeface="+mn-lt"/>
              </a:rPr>
              <a:t>N</a:t>
            </a:r>
            <a:r>
              <a:rPr lang="en-US" altLang="zh-CN" sz="2400" b="1">
                <a:solidFill>
                  <a:schemeClr val="bg1"/>
                </a:solidFill>
                <a:latin typeface="+mn-lt"/>
              </a:rPr>
              <a:t>=</a:t>
            </a:r>
            <a:r>
              <a:rPr lang="en-US" altLang="zh-CN" sz="2400" b="1" i="1">
                <a:solidFill>
                  <a:schemeClr val="bg1"/>
                </a:solidFill>
                <a:latin typeface="+mn-lt"/>
              </a:rPr>
              <a:t>mg</a:t>
            </a:r>
            <a:r>
              <a:rPr lang="en-US" altLang="zh-CN" sz="2400" b="1">
                <a:solidFill>
                  <a:schemeClr val="bg1"/>
                </a:solidFill>
                <a:latin typeface="+mn-lt"/>
              </a:rPr>
              <a:t>+</a:t>
            </a:r>
            <a:r>
              <a:rPr lang="en-US" altLang="zh-CN" sz="2400" b="1" i="1">
                <a:solidFill>
                  <a:schemeClr val="bg1"/>
                </a:solidFill>
                <a:latin typeface="+mn-lt"/>
              </a:rPr>
              <a:t>F</a:t>
            </a:r>
          </a:p>
          <a:p>
            <a:pPr eaLnBrk="1" hangingPunct="1">
              <a:defRPr/>
            </a:pPr>
            <a:r>
              <a:rPr lang="en-US" altLang="zh-CN" sz="2400" b="1" i="1">
                <a:solidFill>
                  <a:schemeClr val="bg1"/>
                </a:solidFill>
                <a:latin typeface="+mn-lt"/>
              </a:rPr>
              <a:t>mg</a:t>
            </a:r>
            <a:r>
              <a:rPr lang="zh-CN" altLang="en-US" sz="2400" b="1">
                <a:solidFill>
                  <a:schemeClr val="bg1"/>
                </a:solidFill>
                <a:latin typeface="+mn-lt"/>
              </a:rPr>
              <a:t>是</a:t>
            </a:r>
            <a:r>
              <a:rPr lang="en-US" altLang="zh-CN" sz="2400" b="1" i="1">
                <a:solidFill>
                  <a:schemeClr val="bg1"/>
                </a:solidFill>
                <a:latin typeface="+mn-lt"/>
              </a:rPr>
              <a:t>t</a:t>
            </a:r>
            <a:r>
              <a:rPr lang="zh-CN" altLang="en-US" sz="2400" b="1">
                <a:solidFill>
                  <a:schemeClr val="bg1"/>
                </a:solidFill>
                <a:latin typeface="+mn-lt"/>
              </a:rPr>
              <a:t>时刻已经落在秤盘上的链条重量：</a:t>
            </a:r>
            <a:r>
              <a:rPr lang="en-US" altLang="zh-CN" sz="2400" b="1" i="1">
                <a:solidFill>
                  <a:srgbClr val="FFC000"/>
                </a:solidFill>
                <a:latin typeface="+mn-lt"/>
              </a:rPr>
              <a:t>mg</a:t>
            </a:r>
            <a:r>
              <a:rPr lang="en-US" altLang="zh-CN" sz="2400" b="1">
                <a:solidFill>
                  <a:srgbClr val="FFC000"/>
                </a:solidFill>
                <a:latin typeface="+mn-lt"/>
              </a:rPr>
              <a:t>=</a:t>
            </a:r>
            <a:r>
              <a:rPr lang="en-US" altLang="zh-CN" sz="2400" b="1" i="1">
                <a:solidFill>
                  <a:srgbClr val="FFC000"/>
                </a:solidFill>
                <a:latin typeface="+mn-lt"/>
              </a:rPr>
              <a:t>Mgx</a:t>
            </a:r>
            <a:r>
              <a:rPr lang="en-US" altLang="zh-CN" sz="2400" b="1">
                <a:solidFill>
                  <a:srgbClr val="FFC000"/>
                </a:solidFill>
                <a:latin typeface="+mn-lt"/>
              </a:rPr>
              <a:t>/</a:t>
            </a:r>
            <a:r>
              <a:rPr lang="en-US" altLang="zh-CN" sz="2400" b="1" i="1">
                <a:solidFill>
                  <a:srgbClr val="FFC000"/>
                </a:solidFill>
                <a:latin typeface="+mn-lt"/>
              </a:rPr>
              <a:t>L </a:t>
            </a:r>
            <a:r>
              <a:rPr lang="zh-CN" altLang="en-US" sz="2400" b="1">
                <a:solidFill>
                  <a:srgbClr val="FFC000"/>
                </a:solidFill>
                <a:latin typeface="+mn-lt"/>
              </a:rPr>
              <a:t>，</a:t>
            </a:r>
            <a:r>
              <a:rPr lang="en-US" altLang="zh-CN" sz="2400" b="1" i="1">
                <a:solidFill>
                  <a:srgbClr val="FFC000"/>
                </a:solidFill>
                <a:latin typeface="+mn-lt"/>
              </a:rPr>
              <a:t>F</a:t>
            </a:r>
            <a:r>
              <a:rPr lang="zh-CN" altLang="en-US" sz="2400" b="1">
                <a:solidFill>
                  <a:srgbClr val="FFC000"/>
                </a:solidFill>
                <a:latin typeface="+mn-lt"/>
              </a:rPr>
              <a:t>是</a:t>
            </a:r>
            <a:r>
              <a:rPr lang="en-US" altLang="zh-CN" sz="2400" b="1" i="1">
                <a:solidFill>
                  <a:srgbClr val="FFC000"/>
                </a:solidFill>
                <a:latin typeface="+mn-lt"/>
              </a:rPr>
              <a:t>dt</a:t>
            </a:r>
            <a:r>
              <a:rPr lang="zh-CN" altLang="en-US" sz="2400" b="1">
                <a:solidFill>
                  <a:srgbClr val="FFC000"/>
                </a:solidFill>
                <a:latin typeface="+mn-lt"/>
              </a:rPr>
              <a:t>时间内作用于盘的质量为</a:t>
            </a:r>
            <a:r>
              <a:rPr lang="en-US" altLang="zh-CN" sz="2400" b="1" i="1">
                <a:solidFill>
                  <a:srgbClr val="FFC000"/>
                </a:solidFill>
                <a:latin typeface="+mn-lt"/>
              </a:rPr>
              <a:t>dm</a:t>
            </a:r>
            <a:r>
              <a:rPr lang="zh-CN" altLang="en-US" sz="2400" b="1">
                <a:solidFill>
                  <a:srgbClr val="FFC000"/>
                </a:solidFill>
                <a:latin typeface="+mn-lt"/>
              </a:rPr>
              <a:t>的一小段链条对秤盘产生的冲力</a:t>
            </a:r>
            <a:r>
              <a:rPr lang="zh-CN" altLang="en-US" sz="2400" b="1">
                <a:solidFill>
                  <a:schemeClr val="bg1"/>
                </a:solidFill>
                <a:latin typeface="+mn-lt"/>
              </a:rPr>
              <a:t>，碰撞过程中这段链条的速度由</a:t>
            </a:r>
            <a:r>
              <a:rPr lang="en-US" altLang="zh-CN" sz="2400" b="1" i="1">
                <a:solidFill>
                  <a:schemeClr val="bg1"/>
                </a:solidFill>
                <a:latin typeface="+mn-lt"/>
              </a:rPr>
              <a:t>v</a:t>
            </a:r>
            <a:r>
              <a:rPr lang="zh-CN" altLang="en-US" sz="2400" b="1">
                <a:solidFill>
                  <a:schemeClr val="bg1"/>
                </a:solidFill>
                <a:latin typeface="+mn-lt"/>
              </a:rPr>
              <a:t>变为</a:t>
            </a:r>
            <a:r>
              <a:rPr lang="en-US" altLang="zh-CN" sz="2400" b="1">
                <a:solidFill>
                  <a:schemeClr val="bg1"/>
                </a:solidFill>
                <a:latin typeface="+mn-lt"/>
              </a:rPr>
              <a:t>0</a:t>
            </a:r>
            <a:r>
              <a:rPr lang="zh-CN" altLang="en-US" sz="2400" b="1">
                <a:solidFill>
                  <a:schemeClr val="bg1"/>
                </a:solidFill>
                <a:latin typeface="+mn-lt"/>
              </a:rPr>
              <a:t>。</a:t>
            </a:r>
            <a:endParaRPr lang="en-US" altLang="zh-CN" sz="2400" b="1">
              <a:solidFill>
                <a:schemeClr val="bg1"/>
              </a:solidFill>
              <a:latin typeface="+mn-lt"/>
            </a:endParaRPr>
          </a:p>
          <a:p>
            <a:pPr eaLnBrk="1" hangingPunct="1">
              <a:defRPr/>
            </a:pPr>
            <a:r>
              <a:rPr lang="zh-CN" altLang="en-US" sz="2400" b="1">
                <a:solidFill>
                  <a:schemeClr val="bg1"/>
                </a:solidFill>
                <a:latin typeface="+mn-lt"/>
              </a:rPr>
              <a:t>由动量定理：</a:t>
            </a:r>
          </a:p>
        </p:txBody>
      </p:sp>
      <p:pic>
        <p:nvPicPr>
          <p:cNvPr id="9224" name="Picture 8">
            <a:extLst>
              <a:ext uri="{FF2B5EF4-FFF2-40B4-BE49-F238E27FC236}">
                <a16:creationId xmlns:a16="http://schemas.microsoft.com/office/drawing/2014/main" id="{11F180C8-45F7-3597-9670-68F648D47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4619625"/>
            <a:ext cx="3960812" cy="148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a:extLst>
              <a:ext uri="{FF2B5EF4-FFF2-40B4-BE49-F238E27FC236}">
                <a16:creationId xmlns:a16="http://schemas.microsoft.com/office/drawing/2014/main" id="{83DD8D8A-BE88-3F6F-FF51-8FF796F43221}"/>
              </a:ext>
            </a:extLst>
          </p:cNvPr>
          <p:cNvGraphicFramePr>
            <a:graphicFrameLocks noChangeAspect="1"/>
          </p:cNvGraphicFramePr>
          <p:nvPr/>
        </p:nvGraphicFramePr>
        <p:xfrm>
          <a:off x="4781550" y="3806825"/>
          <a:ext cx="2152650" cy="354013"/>
        </p:xfrm>
        <a:graphic>
          <a:graphicData uri="http://schemas.openxmlformats.org/presentationml/2006/ole">
            <mc:AlternateContent xmlns:mc="http://schemas.openxmlformats.org/markup-compatibility/2006">
              <mc:Choice xmlns:v="urn:schemas-microsoft-com:vml" Requires="v">
                <p:oleObj name="Equation" r:id="rId4" imgW="1079032" imgH="177723" progId="Equation.DSMT4">
                  <p:embed/>
                </p:oleObj>
              </mc:Choice>
              <mc:Fallback>
                <p:oleObj name="Equation" r:id="rId4" imgW="1079032" imgH="177723" progId="Equation.DSMT4">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1550" y="3806825"/>
                        <a:ext cx="21526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a:extLst>
              <a:ext uri="{FF2B5EF4-FFF2-40B4-BE49-F238E27FC236}">
                <a16:creationId xmlns:a16="http://schemas.microsoft.com/office/drawing/2014/main" id="{7B5C0D38-5997-4903-498A-D67FFE8071AD}"/>
              </a:ext>
            </a:extLst>
          </p:cNvPr>
          <p:cNvGraphicFramePr>
            <a:graphicFrameLocks noChangeAspect="1"/>
          </p:cNvGraphicFramePr>
          <p:nvPr/>
        </p:nvGraphicFramePr>
        <p:xfrm>
          <a:off x="3419475" y="4154488"/>
          <a:ext cx="3040063" cy="455612"/>
        </p:xfrm>
        <a:graphic>
          <a:graphicData uri="http://schemas.openxmlformats.org/presentationml/2006/ole">
            <mc:AlternateContent xmlns:mc="http://schemas.openxmlformats.org/markup-compatibility/2006">
              <mc:Choice xmlns:v="urn:schemas-microsoft-com:vml" Requires="v">
                <p:oleObj name="Equation" r:id="rId6" imgW="1524000" imgH="228600" progId="Equation.DSMT4">
                  <p:embed/>
                </p:oleObj>
              </mc:Choice>
              <mc:Fallback>
                <p:oleObj name="Equation" r:id="rId6" imgW="1524000" imgH="228600" progId="Equation.DSMT4">
                  <p:embed/>
                  <p:pic>
                    <p:nvPicPr>
                      <p:cNvPr id="0"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9475" y="4154488"/>
                        <a:ext cx="3040063"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a:extLst>
              <a:ext uri="{FF2B5EF4-FFF2-40B4-BE49-F238E27FC236}">
                <a16:creationId xmlns:a16="http://schemas.microsoft.com/office/drawing/2014/main" id="{5DBEB97C-B51A-7E1B-6990-57B7E6E305FF}"/>
              </a:ext>
            </a:extLst>
          </p:cNvPr>
          <p:cNvSpPr txBox="1">
            <a:spLocks noChangeArrowheads="1"/>
          </p:cNvSpPr>
          <p:nvPr/>
        </p:nvSpPr>
        <p:spPr bwMode="auto">
          <a:xfrm>
            <a:off x="2343150" y="6127750"/>
            <a:ext cx="53070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称的读数是落在秤盘上链条质量的</a:t>
            </a:r>
            <a:r>
              <a:rPr lang="en-US" altLang="zh-CN" sz="2400" b="1">
                <a:solidFill>
                  <a:schemeClr val="bg1"/>
                </a:solidFill>
              </a:rPr>
              <a:t>3</a:t>
            </a:r>
            <a:r>
              <a:rPr lang="zh-CN" altLang="en-US" sz="2400" b="1">
                <a:solidFill>
                  <a:schemeClr val="bg1"/>
                </a:solidFill>
              </a:rPr>
              <a:t>倍</a:t>
            </a:r>
          </a:p>
        </p:txBody>
      </p:sp>
      <p:sp>
        <p:nvSpPr>
          <p:cNvPr id="10248" name="矩形 6">
            <a:extLst>
              <a:ext uri="{FF2B5EF4-FFF2-40B4-BE49-F238E27FC236}">
                <a16:creationId xmlns:a16="http://schemas.microsoft.com/office/drawing/2014/main" id="{45B62348-7CEC-E09A-C6A4-166C66969565}"/>
              </a:ext>
            </a:extLst>
          </p:cNvPr>
          <p:cNvSpPr>
            <a:spLocks noChangeArrowheads="1"/>
          </p:cNvSpPr>
          <p:nvPr/>
        </p:nvSpPr>
        <p:spPr bwMode="auto">
          <a:xfrm>
            <a:off x="-6350" y="0"/>
            <a:ext cx="87137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C000"/>
                </a:solidFill>
              </a:rPr>
              <a:t>书中例题</a:t>
            </a:r>
            <a:r>
              <a:rPr lang="en-US" altLang="zh-CN" sz="2400" b="1">
                <a:solidFill>
                  <a:srgbClr val="FFC000"/>
                </a:solidFill>
              </a:rPr>
              <a:t>4.4</a:t>
            </a:r>
            <a:r>
              <a:rPr lang="zh-CN" altLang="en-US" sz="2400" b="1">
                <a:solidFill>
                  <a:srgbClr val="FFC000"/>
                </a:solidFill>
              </a:rPr>
              <a:t>（</a:t>
            </a:r>
            <a:r>
              <a:rPr lang="en-US" altLang="zh-CN" sz="2400" b="1">
                <a:solidFill>
                  <a:srgbClr val="FFC000"/>
                </a:solidFill>
              </a:rPr>
              <a:t>146</a:t>
            </a:r>
            <a:r>
              <a:rPr lang="zh-CN" altLang="en-US" sz="2400" b="1">
                <a:solidFill>
                  <a:srgbClr val="FFC000"/>
                </a:solidFill>
              </a:rPr>
              <a:t>）（重点）</a:t>
            </a:r>
            <a:endParaRPr lang="en-US" altLang="zh-CN" sz="2400" b="1">
              <a:solidFill>
                <a:srgbClr val="FFC000"/>
              </a:solidFill>
            </a:endParaRPr>
          </a:p>
          <a:p>
            <a:pPr eaLnBrk="1" hangingPunct="1"/>
            <a:r>
              <a:rPr lang="zh-CN" altLang="zh-CN" sz="2400" b="1">
                <a:solidFill>
                  <a:schemeClr val="bg1"/>
                </a:solidFill>
              </a:rPr>
              <a:t>已知：质量为</a:t>
            </a:r>
            <a:r>
              <a:rPr lang="en-US" altLang="zh-CN" sz="2400" b="1">
                <a:solidFill>
                  <a:schemeClr val="bg1"/>
                </a:solidFill>
              </a:rPr>
              <a:t>M</a:t>
            </a:r>
            <a:r>
              <a:rPr lang="zh-CN" altLang="zh-CN" sz="2400" b="1">
                <a:solidFill>
                  <a:schemeClr val="bg1"/>
                </a:solidFill>
              </a:rPr>
              <a:t>，长为</a:t>
            </a:r>
            <a:r>
              <a:rPr lang="en-US" altLang="zh-CN" sz="2400" b="1">
                <a:solidFill>
                  <a:schemeClr val="bg1"/>
                </a:solidFill>
              </a:rPr>
              <a:t>L</a:t>
            </a:r>
            <a:r>
              <a:rPr lang="zh-CN" altLang="zh-CN" sz="2400" b="1">
                <a:solidFill>
                  <a:schemeClr val="bg1"/>
                </a:solidFill>
              </a:rPr>
              <a:t>的匀质链条，上端悬挂，下端刚和称盘接触，使链条自由下落。</a:t>
            </a:r>
            <a:r>
              <a:rPr lang="zh-CN" altLang="en-US" sz="2400" b="1">
                <a:solidFill>
                  <a:schemeClr val="bg1"/>
                </a:solidFill>
              </a:rPr>
              <a:t>求：下落长度</a:t>
            </a:r>
            <a:r>
              <a:rPr lang="en-US" altLang="zh-CN" sz="2400" b="1">
                <a:solidFill>
                  <a:schemeClr val="bg1"/>
                </a:solidFill>
              </a:rPr>
              <a:t>x</a:t>
            </a:r>
            <a:r>
              <a:rPr lang="zh-CN" altLang="en-US" sz="2400" b="1">
                <a:solidFill>
                  <a:schemeClr val="bg1"/>
                </a:solidFill>
              </a:rPr>
              <a:t>时，称的读数。</a:t>
            </a:r>
            <a:endParaRPr lang="zh-CN" altLang="zh-CN" sz="2400" b="1">
              <a:solidFill>
                <a:schemeClr val="bg1"/>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922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reeform 2">
            <a:extLst>
              <a:ext uri="{FF2B5EF4-FFF2-40B4-BE49-F238E27FC236}">
                <a16:creationId xmlns:a16="http://schemas.microsoft.com/office/drawing/2014/main" id="{39A20DB7-DE39-4A67-45A5-126CF58DA739}"/>
              </a:ext>
            </a:extLst>
          </p:cNvPr>
          <p:cNvSpPr>
            <a:spLocks/>
          </p:cNvSpPr>
          <p:nvPr/>
        </p:nvSpPr>
        <p:spPr bwMode="auto">
          <a:xfrm>
            <a:off x="6053138" y="3433763"/>
            <a:ext cx="2041525" cy="2157412"/>
          </a:xfrm>
          <a:custGeom>
            <a:avLst/>
            <a:gdLst>
              <a:gd name="T0" fmla="*/ 2147483646 w 1286"/>
              <a:gd name="T1" fmla="*/ 2147483646 h 1359"/>
              <a:gd name="T2" fmla="*/ 2147483646 w 1286"/>
              <a:gd name="T3" fmla="*/ 2147483646 h 1359"/>
              <a:gd name="T4" fmla="*/ 2147483646 w 1286"/>
              <a:gd name="T5" fmla="*/ 2147483646 h 1359"/>
              <a:gd name="T6" fmla="*/ 2147483646 w 1286"/>
              <a:gd name="T7" fmla="*/ 2147483646 h 1359"/>
              <a:gd name="T8" fmla="*/ 2147483646 w 1286"/>
              <a:gd name="T9" fmla="*/ 2147483646 h 1359"/>
              <a:gd name="T10" fmla="*/ 2147483646 w 1286"/>
              <a:gd name="T11" fmla="*/ 2147483646 h 1359"/>
              <a:gd name="T12" fmla="*/ 2147483646 w 1286"/>
              <a:gd name="T13" fmla="*/ 2147483646 h 1359"/>
              <a:gd name="T14" fmla="*/ 2147483646 w 1286"/>
              <a:gd name="T15" fmla="*/ 2147483646 h 1359"/>
              <a:gd name="T16" fmla="*/ 2147483646 w 1286"/>
              <a:gd name="T17" fmla="*/ 2147483646 h 1359"/>
              <a:gd name="T18" fmla="*/ 2147483646 w 1286"/>
              <a:gd name="T19" fmla="*/ 2147483646 h 1359"/>
              <a:gd name="T20" fmla="*/ 2147483646 w 1286"/>
              <a:gd name="T21" fmla="*/ 2147483646 h 1359"/>
              <a:gd name="T22" fmla="*/ 2147483646 w 1286"/>
              <a:gd name="T23" fmla="*/ 2147483646 h 13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86" h="1359">
                <a:moveTo>
                  <a:pt x="91" y="143"/>
                </a:moveTo>
                <a:cubicBezTo>
                  <a:pt x="81" y="165"/>
                  <a:pt x="33" y="188"/>
                  <a:pt x="21" y="273"/>
                </a:cubicBezTo>
                <a:cubicBezTo>
                  <a:pt x="9" y="358"/>
                  <a:pt x="0" y="522"/>
                  <a:pt x="21" y="651"/>
                </a:cubicBezTo>
                <a:cubicBezTo>
                  <a:pt x="42" y="779"/>
                  <a:pt x="62" y="942"/>
                  <a:pt x="150" y="1044"/>
                </a:cubicBezTo>
                <a:cubicBezTo>
                  <a:pt x="238" y="1147"/>
                  <a:pt x="403" y="1224"/>
                  <a:pt x="550" y="1268"/>
                </a:cubicBezTo>
                <a:cubicBezTo>
                  <a:pt x="697" y="1312"/>
                  <a:pt x="912" y="1359"/>
                  <a:pt x="1032" y="1310"/>
                </a:cubicBezTo>
                <a:cubicBezTo>
                  <a:pt x="1152" y="1261"/>
                  <a:pt x="1248" y="1095"/>
                  <a:pt x="1267" y="974"/>
                </a:cubicBezTo>
                <a:cubicBezTo>
                  <a:pt x="1286" y="852"/>
                  <a:pt x="1214" y="703"/>
                  <a:pt x="1149" y="581"/>
                </a:cubicBezTo>
                <a:cubicBezTo>
                  <a:pt x="1084" y="460"/>
                  <a:pt x="967" y="332"/>
                  <a:pt x="879" y="245"/>
                </a:cubicBezTo>
                <a:cubicBezTo>
                  <a:pt x="791" y="158"/>
                  <a:pt x="704" y="102"/>
                  <a:pt x="620" y="63"/>
                </a:cubicBezTo>
                <a:cubicBezTo>
                  <a:pt x="536" y="24"/>
                  <a:pt x="461" y="0"/>
                  <a:pt x="373" y="13"/>
                </a:cubicBezTo>
                <a:cubicBezTo>
                  <a:pt x="285" y="26"/>
                  <a:pt x="150" y="116"/>
                  <a:pt x="91" y="143"/>
                </a:cubicBezTo>
              </a:path>
            </a:pathLst>
          </a:custGeom>
          <a:noFill/>
          <a:ln w="38100" cap="flat" cmpd="sng">
            <a:solidFill>
              <a:schemeClr val="bg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p>
            <a:endParaRPr lang="zh-CN" altLang="en-US"/>
          </a:p>
        </p:txBody>
      </p:sp>
      <p:sp>
        <p:nvSpPr>
          <p:cNvPr id="101379" name="Text Box 3">
            <a:extLst>
              <a:ext uri="{FF2B5EF4-FFF2-40B4-BE49-F238E27FC236}">
                <a16:creationId xmlns:a16="http://schemas.microsoft.com/office/drawing/2014/main" id="{537D00A3-8442-4211-BA0B-04C7B8558D7D}"/>
              </a:ext>
            </a:extLst>
          </p:cNvPr>
          <p:cNvSpPr txBox="1">
            <a:spLocks noChangeArrowheads="1"/>
          </p:cNvSpPr>
          <p:nvPr/>
        </p:nvSpPr>
        <p:spPr bwMode="auto">
          <a:xfrm>
            <a:off x="2452688" y="404813"/>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3200" b="1">
                <a:solidFill>
                  <a:srgbClr val="66FF33"/>
                </a:solidFill>
                <a:latin typeface="Times New Roman" panose="02020603050405020304" pitchFamily="18" charset="0"/>
                <a:ea typeface="黑体" panose="02010609060101010101" pitchFamily="49" charset="-122"/>
              </a:rPr>
              <a:t>4.2   </a:t>
            </a:r>
            <a:r>
              <a:rPr lang="zh-CN" altLang="en-US" sz="3200" b="1">
                <a:solidFill>
                  <a:srgbClr val="66FF33"/>
                </a:solidFill>
                <a:latin typeface="Times New Roman" panose="02020603050405020304" pitchFamily="18" charset="0"/>
                <a:ea typeface="黑体" panose="02010609060101010101" pitchFamily="49" charset="-122"/>
              </a:rPr>
              <a:t>质点系动量定理</a:t>
            </a:r>
          </a:p>
        </p:txBody>
      </p:sp>
      <p:sp>
        <p:nvSpPr>
          <p:cNvPr id="101380" name="Text Box 4">
            <a:extLst>
              <a:ext uri="{FF2B5EF4-FFF2-40B4-BE49-F238E27FC236}">
                <a16:creationId xmlns:a16="http://schemas.microsoft.com/office/drawing/2014/main" id="{407CECA5-D7E0-6EA1-BAD2-50FB306505B4}"/>
              </a:ext>
            </a:extLst>
          </p:cNvPr>
          <p:cNvSpPr txBox="1">
            <a:spLocks noChangeArrowheads="1"/>
          </p:cNvSpPr>
          <p:nvPr/>
        </p:nvSpPr>
        <p:spPr bwMode="auto">
          <a:xfrm>
            <a:off x="750888" y="12192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i="1">
                <a:solidFill>
                  <a:srgbClr val="66FFFF"/>
                </a:solidFill>
                <a:latin typeface="Times New Roman" panose="02020603050405020304" pitchFamily="18" charset="0"/>
              </a:rPr>
              <a:t>P</a:t>
            </a:r>
            <a:r>
              <a:rPr lang="en-US" altLang="zh-CN" sz="2400" b="1" i="1">
                <a:solidFill>
                  <a:schemeClr val="bg1"/>
                </a:solidFill>
                <a:latin typeface="Times New Roman" panose="02020603050405020304" pitchFamily="18" charset="0"/>
              </a:rPr>
              <a:t> </a:t>
            </a:r>
            <a:r>
              <a:rPr lang="zh-CN" altLang="en-US" sz="2400" b="1">
                <a:solidFill>
                  <a:schemeClr val="bg1"/>
                </a:solidFill>
                <a:latin typeface="Times New Roman" panose="02020603050405020304" pitchFamily="18" charset="0"/>
              </a:rPr>
              <a:t>表示质点系在时刻</a:t>
            </a:r>
            <a:r>
              <a:rPr lang="zh-CN" altLang="en-US" sz="2400" b="1">
                <a:solidFill>
                  <a:srgbClr val="66FFFF"/>
                </a:solidFill>
                <a:latin typeface="Times New Roman" panose="02020603050405020304" pitchFamily="18" charset="0"/>
              </a:rPr>
              <a:t> </a:t>
            </a:r>
            <a:r>
              <a:rPr lang="en-US" altLang="zh-CN" sz="2400" b="1" i="1">
                <a:solidFill>
                  <a:srgbClr val="66FFFF"/>
                </a:solidFill>
                <a:latin typeface="Times New Roman" panose="02020603050405020304" pitchFamily="18" charset="0"/>
              </a:rPr>
              <a:t>t</a:t>
            </a:r>
            <a:r>
              <a:rPr lang="en-US" altLang="zh-CN" sz="2400" b="1" i="1">
                <a:solidFill>
                  <a:schemeClr val="bg1"/>
                </a:solidFill>
                <a:latin typeface="Times New Roman" panose="02020603050405020304" pitchFamily="18" charset="0"/>
              </a:rPr>
              <a:t> </a:t>
            </a:r>
            <a:r>
              <a:rPr lang="zh-CN" altLang="en-US" sz="2400" b="1">
                <a:solidFill>
                  <a:schemeClr val="bg1"/>
                </a:solidFill>
                <a:latin typeface="Times New Roman" panose="02020603050405020304" pitchFamily="18" charset="0"/>
              </a:rPr>
              <a:t>的动量</a:t>
            </a:r>
          </a:p>
        </p:txBody>
      </p:sp>
      <p:graphicFrame>
        <p:nvGraphicFramePr>
          <p:cNvPr id="101381" name="Object 5">
            <a:extLst>
              <a:ext uri="{FF2B5EF4-FFF2-40B4-BE49-F238E27FC236}">
                <a16:creationId xmlns:a16="http://schemas.microsoft.com/office/drawing/2014/main" id="{B5558DEE-D0B7-6923-A577-C7600465EE78}"/>
              </a:ext>
            </a:extLst>
          </p:cNvPr>
          <p:cNvGraphicFramePr>
            <a:graphicFrameLocks/>
          </p:cNvGraphicFramePr>
          <p:nvPr/>
        </p:nvGraphicFramePr>
        <p:xfrm>
          <a:off x="5791200" y="1250950"/>
          <a:ext cx="1647825" cy="723900"/>
        </p:xfrm>
        <a:graphic>
          <a:graphicData uri="http://schemas.openxmlformats.org/presentationml/2006/ole">
            <mc:AlternateContent xmlns:mc="http://schemas.openxmlformats.org/markup-compatibility/2006">
              <mc:Choice xmlns:v="urn:schemas-microsoft-com:vml" Requires="v">
                <p:oleObj name="公式" r:id="rId2" imgW="1523913" imgH="600075" progId="Equation.3">
                  <p:embed/>
                </p:oleObj>
              </mc:Choice>
              <mc:Fallback>
                <p:oleObj name="公式" r:id="rId2" imgW="1523913" imgH="600075" progId="Equation.3">
                  <p:embed/>
                  <p:pic>
                    <p:nvPicPr>
                      <p:cNvPr id="0"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250950"/>
                        <a:ext cx="1647825" cy="7239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82" name="Object 6">
            <a:extLst>
              <a:ext uri="{FF2B5EF4-FFF2-40B4-BE49-F238E27FC236}">
                <a16:creationId xmlns:a16="http://schemas.microsoft.com/office/drawing/2014/main" id="{1B9A5D77-A2E9-0FE1-1731-98B7DF7BF6AB}"/>
              </a:ext>
            </a:extLst>
          </p:cNvPr>
          <p:cNvGraphicFramePr>
            <a:graphicFrameLocks/>
          </p:cNvGraphicFramePr>
          <p:nvPr/>
        </p:nvGraphicFramePr>
        <p:xfrm>
          <a:off x="890588" y="2046288"/>
          <a:ext cx="3022600" cy="468312"/>
        </p:xfrm>
        <a:graphic>
          <a:graphicData uri="http://schemas.openxmlformats.org/presentationml/2006/ole">
            <mc:AlternateContent xmlns:mc="http://schemas.openxmlformats.org/markup-compatibility/2006">
              <mc:Choice xmlns:v="urn:schemas-microsoft-com:vml" Requires="v">
                <p:oleObj name="公式" r:id="rId4" imgW="2895644" imgH="342900" progId="Equation.3">
                  <p:embed/>
                </p:oleObj>
              </mc:Choice>
              <mc:Fallback>
                <p:oleObj name="公式" r:id="rId4" imgW="2895644" imgH="34290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588" y="2046288"/>
                        <a:ext cx="3022600" cy="4683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83" name="Object 7">
            <a:extLst>
              <a:ext uri="{FF2B5EF4-FFF2-40B4-BE49-F238E27FC236}">
                <a16:creationId xmlns:a16="http://schemas.microsoft.com/office/drawing/2014/main" id="{0A80C3E8-FB36-BDFA-C9AF-540C2A9D43E9}"/>
              </a:ext>
            </a:extLst>
          </p:cNvPr>
          <p:cNvGraphicFramePr>
            <a:graphicFrameLocks/>
          </p:cNvGraphicFramePr>
          <p:nvPr/>
        </p:nvGraphicFramePr>
        <p:xfrm>
          <a:off x="838200" y="2982913"/>
          <a:ext cx="3136900" cy="468312"/>
        </p:xfrm>
        <a:graphic>
          <a:graphicData uri="http://schemas.openxmlformats.org/presentationml/2006/ole">
            <mc:AlternateContent xmlns:mc="http://schemas.openxmlformats.org/markup-compatibility/2006">
              <mc:Choice xmlns:v="urn:schemas-microsoft-com:vml" Requires="v">
                <p:oleObj name="公式" r:id="rId6" imgW="3019488" imgH="342900" progId="Equation.3">
                  <p:embed/>
                </p:oleObj>
              </mc:Choice>
              <mc:Fallback>
                <p:oleObj name="公式" r:id="rId6" imgW="3019488" imgH="342900"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2982913"/>
                        <a:ext cx="3136900" cy="4683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84" name="Object 8">
            <a:extLst>
              <a:ext uri="{FF2B5EF4-FFF2-40B4-BE49-F238E27FC236}">
                <a16:creationId xmlns:a16="http://schemas.microsoft.com/office/drawing/2014/main" id="{FCF9F27A-5114-31E7-FD98-4C310285FC7F}"/>
              </a:ext>
            </a:extLst>
          </p:cNvPr>
          <p:cNvGraphicFramePr>
            <a:graphicFrameLocks/>
          </p:cNvGraphicFramePr>
          <p:nvPr/>
        </p:nvGraphicFramePr>
        <p:xfrm>
          <a:off x="831850" y="4035425"/>
          <a:ext cx="4383088" cy="457200"/>
        </p:xfrm>
        <a:graphic>
          <a:graphicData uri="http://schemas.openxmlformats.org/presentationml/2006/ole">
            <mc:AlternateContent xmlns:mc="http://schemas.openxmlformats.org/markup-compatibility/2006">
              <mc:Choice xmlns:v="urn:schemas-microsoft-com:vml" Requires="v">
                <p:oleObj name="公式" r:id="rId8" imgW="4267375" imgH="333453" progId="Equation.3">
                  <p:embed/>
                </p:oleObj>
              </mc:Choice>
              <mc:Fallback>
                <p:oleObj name="公式" r:id="rId8" imgW="4267375" imgH="333453"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1850" y="4035425"/>
                        <a:ext cx="4383088" cy="4572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85" name="Object 9">
            <a:extLst>
              <a:ext uri="{FF2B5EF4-FFF2-40B4-BE49-F238E27FC236}">
                <a16:creationId xmlns:a16="http://schemas.microsoft.com/office/drawing/2014/main" id="{6D11135C-C370-488B-C0C8-521B3C3F7B9A}"/>
              </a:ext>
            </a:extLst>
          </p:cNvPr>
          <p:cNvGraphicFramePr>
            <a:graphicFrameLocks/>
          </p:cNvGraphicFramePr>
          <p:nvPr/>
        </p:nvGraphicFramePr>
        <p:xfrm>
          <a:off x="874713" y="5372100"/>
          <a:ext cx="2828925" cy="720725"/>
        </p:xfrm>
        <a:graphic>
          <a:graphicData uri="http://schemas.openxmlformats.org/presentationml/2006/ole">
            <mc:AlternateContent xmlns:mc="http://schemas.openxmlformats.org/markup-compatibility/2006">
              <mc:Choice xmlns:v="urn:schemas-microsoft-com:vml" Requires="v">
                <p:oleObj name="公式" r:id="rId10" imgW="2695534" imgH="600075" progId="Equation.3">
                  <p:embed/>
                </p:oleObj>
              </mc:Choice>
              <mc:Fallback>
                <p:oleObj name="公式" r:id="rId10" imgW="2695534" imgH="600075" progId="Equation.3">
                  <p:embed/>
                  <p:pic>
                    <p:nvPicPr>
                      <p:cNvPr id="0" name="Object 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4713" y="5372100"/>
                        <a:ext cx="2828925" cy="72072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1386" name="AutoShape 10">
            <a:extLst>
              <a:ext uri="{FF2B5EF4-FFF2-40B4-BE49-F238E27FC236}">
                <a16:creationId xmlns:a16="http://schemas.microsoft.com/office/drawing/2014/main" id="{62B4FDDF-15A5-8D5C-A32C-708149FA84D6}"/>
              </a:ext>
            </a:extLst>
          </p:cNvPr>
          <p:cNvSpPr>
            <a:spLocks noChangeArrowheads="1"/>
          </p:cNvSpPr>
          <p:nvPr/>
        </p:nvSpPr>
        <p:spPr bwMode="auto">
          <a:xfrm>
            <a:off x="4876800" y="1328738"/>
            <a:ext cx="677863" cy="271462"/>
          </a:xfrm>
          <a:prstGeom prst="rightArrow">
            <a:avLst>
              <a:gd name="adj1" fmla="val 50000"/>
              <a:gd name="adj2" fmla="val 62427"/>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1387" name="AutoShape 11">
            <a:extLst>
              <a:ext uri="{FF2B5EF4-FFF2-40B4-BE49-F238E27FC236}">
                <a16:creationId xmlns:a16="http://schemas.microsoft.com/office/drawing/2014/main" id="{A4FAD9BF-1715-04A4-60E6-7D36375CC947}"/>
              </a:ext>
            </a:extLst>
          </p:cNvPr>
          <p:cNvSpPr>
            <a:spLocks/>
          </p:cNvSpPr>
          <p:nvPr/>
        </p:nvSpPr>
        <p:spPr bwMode="auto">
          <a:xfrm>
            <a:off x="3948113" y="2259013"/>
            <a:ext cx="263525" cy="1050925"/>
          </a:xfrm>
          <a:prstGeom prst="rightBrace">
            <a:avLst>
              <a:gd name="adj1" fmla="val 33233"/>
              <a:gd name="adj2" fmla="val 50000"/>
            </a:avLst>
          </a:prstGeom>
          <a:noFill/>
          <a:ln w="28575">
            <a:solidFill>
              <a:srgbClr val="FF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1388" name="Line 12">
            <a:extLst>
              <a:ext uri="{FF2B5EF4-FFF2-40B4-BE49-F238E27FC236}">
                <a16:creationId xmlns:a16="http://schemas.microsoft.com/office/drawing/2014/main" id="{C84057F7-EF87-43B4-93B4-5D24876CE0D4}"/>
              </a:ext>
            </a:extLst>
          </p:cNvPr>
          <p:cNvSpPr>
            <a:spLocks noChangeShapeType="1"/>
          </p:cNvSpPr>
          <p:nvPr/>
        </p:nvSpPr>
        <p:spPr bwMode="auto">
          <a:xfrm flipH="1" flipV="1">
            <a:off x="5867400" y="3578225"/>
            <a:ext cx="766763" cy="509588"/>
          </a:xfrm>
          <a:prstGeom prst="line">
            <a:avLst/>
          </a:prstGeom>
          <a:noFill/>
          <a:ln w="38100">
            <a:solidFill>
              <a:srgbClr val="CCE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89" name="Line 13">
            <a:extLst>
              <a:ext uri="{FF2B5EF4-FFF2-40B4-BE49-F238E27FC236}">
                <a16:creationId xmlns:a16="http://schemas.microsoft.com/office/drawing/2014/main" id="{DC92F29A-C69D-C589-800D-150C00973A05}"/>
              </a:ext>
            </a:extLst>
          </p:cNvPr>
          <p:cNvSpPr>
            <a:spLocks noChangeShapeType="1"/>
          </p:cNvSpPr>
          <p:nvPr/>
        </p:nvSpPr>
        <p:spPr bwMode="auto">
          <a:xfrm flipV="1">
            <a:off x="6710363" y="3397250"/>
            <a:ext cx="914400" cy="685800"/>
          </a:xfrm>
          <a:prstGeom prst="line">
            <a:avLst/>
          </a:prstGeom>
          <a:noFill/>
          <a:ln w="381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90" name="Line 14">
            <a:extLst>
              <a:ext uri="{FF2B5EF4-FFF2-40B4-BE49-F238E27FC236}">
                <a16:creationId xmlns:a16="http://schemas.microsoft.com/office/drawing/2014/main" id="{B2ED4263-D934-5D7B-85C9-50991614DF6C}"/>
              </a:ext>
            </a:extLst>
          </p:cNvPr>
          <p:cNvSpPr>
            <a:spLocks noChangeShapeType="1"/>
          </p:cNvSpPr>
          <p:nvPr/>
        </p:nvSpPr>
        <p:spPr bwMode="auto">
          <a:xfrm>
            <a:off x="7624763" y="4692650"/>
            <a:ext cx="838200" cy="0"/>
          </a:xfrm>
          <a:prstGeom prst="line">
            <a:avLst/>
          </a:prstGeom>
          <a:noFill/>
          <a:ln w="381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1391" name="Object 15">
            <a:extLst>
              <a:ext uri="{FF2B5EF4-FFF2-40B4-BE49-F238E27FC236}">
                <a16:creationId xmlns:a16="http://schemas.microsoft.com/office/drawing/2014/main" id="{ED80B007-D2B9-DB37-A692-D0ECD34D0EA6}"/>
              </a:ext>
            </a:extLst>
          </p:cNvPr>
          <p:cNvGraphicFramePr>
            <a:graphicFrameLocks noChangeAspect="1"/>
          </p:cNvGraphicFramePr>
          <p:nvPr/>
        </p:nvGraphicFramePr>
        <p:xfrm>
          <a:off x="6915150" y="3963988"/>
          <a:ext cx="452438" cy="422275"/>
        </p:xfrm>
        <a:graphic>
          <a:graphicData uri="http://schemas.openxmlformats.org/presentationml/2006/ole">
            <mc:AlternateContent xmlns:mc="http://schemas.openxmlformats.org/markup-compatibility/2006">
              <mc:Choice xmlns:v="urn:schemas-microsoft-com:vml" Requires="v">
                <p:oleObj name="Equation" r:id="rId12" imgW="228447" imgH="295314" progId="Equation.3">
                  <p:embed/>
                </p:oleObj>
              </mc:Choice>
              <mc:Fallback>
                <p:oleObj name="Equation" r:id="rId12" imgW="228447" imgH="295314" progId="Equation.3">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15150" y="3963988"/>
                        <a:ext cx="452438"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2" name="Object 16">
            <a:extLst>
              <a:ext uri="{FF2B5EF4-FFF2-40B4-BE49-F238E27FC236}">
                <a16:creationId xmlns:a16="http://schemas.microsoft.com/office/drawing/2014/main" id="{5F75ABE9-F805-C325-CEC0-EBF64579FF8B}"/>
              </a:ext>
            </a:extLst>
          </p:cNvPr>
          <p:cNvGraphicFramePr>
            <a:graphicFrameLocks noChangeAspect="1"/>
          </p:cNvGraphicFramePr>
          <p:nvPr/>
        </p:nvGraphicFramePr>
        <p:xfrm>
          <a:off x="6900863" y="4591050"/>
          <a:ext cx="473075" cy="419100"/>
        </p:xfrm>
        <a:graphic>
          <a:graphicData uri="http://schemas.openxmlformats.org/presentationml/2006/ole">
            <mc:AlternateContent xmlns:mc="http://schemas.openxmlformats.org/markup-compatibility/2006">
              <mc:Choice xmlns:v="urn:schemas-microsoft-com:vml" Requires="v">
                <p:oleObj name="Equation" r:id="rId14" imgW="266580" imgH="295314" progId="Equation.3">
                  <p:embed/>
                </p:oleObj>
              </mc:Choice>
              <mc:Fallback>
                <p:oleObj name="Equation" r:id="rId14" imgW="266580" imgH="295314"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00863" y="4591050"/>
                        <a:ext cx="47307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3" name="Object 17">
            <a:extLst>
              <a:ext uri="{FF2B5EF4-FFF2-40B4-BE49-F238E27FC236}">
                <a16:creationId xmlns:a16="http://schemas.microsoft.com/office/drawing/2014/main" id="{469D3221-8DEE-C864-9CDD-20ACB608E7DE}"/>
              </a:ext>
            </a:extLst>
          </p:cNvPr>
          <p:cNvGraphicFramePr>
            <a:graphicFrameLocks noChangeAspect="1"/>
          </p:cNvGraphicFramePr>
          <p:nvPr/>
        </p:nvGraphicFramePr>
        <p:xfrm>
          <a:off x="5534025" y="3028950"/>
          <a:ext cx="436563" cy="471488"/>
        </p:xfrm>
        <a:graphic>
          <a:graphicData uri="http://schemas.openxmlformats.org/presentationml/2006/ole">
            <mc:AlternateContent xmlns:mc="http://schemas.openxmlformats.org/markup-compatibility/2006">
              <mc:Choice xmlns:v="urn:schemas-microsoft-com:vml" Requires="v">
                <p:oleObj name="Equation" r:id="rId16" imgW="295267" imgH="342900" progId="Equation.3">
                  <p:embed/>
                </p:oleObj>
              </mc:Choice>
              <mc:Fallback>
                <p:oleObj name="Equation" r:id="rId16" imgW="295267" imgH="342900" progId="Equation.3">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34025" y="3028950"/>
                        <a:ext cx="436563"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4" name="Object 18">
            <a:extLst>
              <a:ext uri="{FF2B5EF4-FFF2-40B4-BE49-F238E27FC236}">
                <a16:creationId xmlns:a16="http://schemas.microsoft.com/office/drawing/2014/main" id="{B7F89197-4CF9-92FF-8BF9-2856A4B8FEA0}"/>
              </a:ext>
            </a:extLst>
          </p:cNvPr>
          <p:cNvGraphicFramePr>
            <a:graphicFrameLocks noChangeAspect="1"/>
          </p:cNvGraphicFramePr>
          <p:nvPr/>
        </p:nvGraphicFramePr>
        <p:xfrm>
          <a:off x="8004175" y="5365750"/>
          <a:ext cx="430213" cy="468313"/>
        </p:xfrm>
        <a:graphic>
          <a:graphicData uri="http://schemas.openxmlformats.org/presentationml/2006/ole">
            <mc:AlternateContent xmlns:mc="http://schemas.openxmlformats.org/markup-compatibility/2006">
              <mc:Choice xmlns:v="urn:schemas-microsoft-com:vml" Requires="v">
                <p:oleObj name="Equation" r:id="rId18" imgW="295267" imgH="342900" progId="Equation.3">
                  <p:embed/>
                </p:oleObj>
              </mc:Choice>
              <mc:Fallback>
                <p:oleObj name="Equation" r:id="rId18" imgW="295267" imgH="342900" progId="Equation.3">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04175" y="5365750"/>
                        <a:ext cx="430213"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5" name="Object 19">
            <a:extLst>
              <a:ext uri="{FF2B5EF4-FFF2-40B4-BE49-F238E27FC236}">
                <a16:creationId xmlns:a16="http://schemas.microsoft.com/office/drawing/2014/main" id="{785336C2-751B-F2EE-38AB-6EB3AD3F74FC}"/>
              </a:ext>
            </a:extLst>
          </p:cNvPr>
          <p:cNvGraphicFramePr>
            <a:graphicFrameLocks noChangeAspect="1"/>
          </p:cNvGraphicFramePr>
          <p:nvPr/>
        </p:nvGraphicFramePr>
        <p:xfrm>
          <a:off x="7561263" y="3214688"/>
          <a:ext cx="307975" cy="449262"/>
        </p:xfrm>
        <a:graphic>
          <a:graphicData uri="http://schemas.openxmlformats.org/presentationml/2006/ole">
            <mc:AlternateContent xmlns:mc="http://schemas.openxmlformats.org/markup-compatibility/2006">
              <mc:Choice xmlns:v="urn:schemas-microsoft-com:vml" Requires="v">
                <p:oleObj name="Equation" r:id="rId20" imgW="190664" imgH="333453" progId="Equation.3">
                  <p:embed/>
                </p:oleObj>
              </mc:Choice>
              <mc:Fallback>
                <p:oleObj name="Equation" r:id="rId20" imgW="190664" imgH="333453" progId="Equation.3">
                  <p:embed/>
                  <p:pic>
                    <p:nvPicPr>
                      <p:cNvPr id="0"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561263" y="3214688"/>
                        <a:ext cx="307975"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6" name="Object 20">
            <a:extLst>
              <a:ext uri="{FF2B5EF4-FFF2-40B4-BE49-F238E27FC236}">
                <a16:creationId xmlns:a16="http://schemas.microsoft.com/office/drawing/2014/main" id="{05D7A742-528E-37B6-DF6F-37BB51D62B68}"/>
              </a:ext>
            </a:extLst>
          </p:cNvPr>
          <p:cNvGraphicFramePr>
            <a:graphicFrameLocks noChangeAspect="1"/>
          </p:cNvGraphicFramePr>
          <p:nvPr/>
        </p:nvGraphicFramePr>
        <p:xfrm>
          <a:off x="8305800" y="3994150"/>
          <a:ext cx="369888" cy="460375"/>
        </p:xfrm>
        <a:graphic>
          <a:graphicData uri="http://schemas.openxmlformats.org/presentationml/2006/ole">
            <mc:AlternateContent xmlns:mc="http://schemas.openxmlformats.org/markup-compatibility/2006">
              <mc:Choice xmlns:v="urn:schemas-microsoft-com:vml" Requires="v">
                <p:oleObj name="Equation" r:id="rId22" imgW="228447" imgH="333453" progId="Equation.3">
                  <p:embed/>
                </p:oleObj>
              </mc:Choice>
              <mc:Fallback>
                <p:oleObj name="Equation" r:id="rId22" imgW="228447" imgH="333453" progId="Equation.3">
                  <p:embed/>
                  <p:pic>
                    <p:nvPicPr>
                      <p:cNvPr id="0" name="Object 2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305800" y="3994150"/>
                        <a:ext cx="369888"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97" name="Object 21">
            <a:extLst>
              <a:ext uri="{FF2B5EF4-FFF2-40B4-BE49-F238E27FC236}">
                <a16:creationId xmlns:a16="http://schemas.microsoft.com/office/drawing/2014/main" id="{13782D6B-1AB7-6F49-A563-A4611E6071BA}"/>
              </a:ext>
            </a:extLst>
          </p:cNvPr>
          <p:cNvGraphicFramePr>
            <a:graphicFrameLocks/>
          </p:cNvGraphicFramePr>
          <p:nvPr/>
        </p:nvGraphicFramePr>
        <p:xfrm>
          <a:off x="4400550" y="2436813"/>
          <a:ext cx="1727200" cy="469900"/>
        </p:xfrm>
        <a:graphic>
          <a:graphicData uri="http://schemas.openxmlformats.org/presentationml/2006/ole">
            <mc:AlternateContent xmlns:mc="http://schemas.openxmlformats.org/markup-compatibility/2006">
              <mc:Choice xmlns:v="urn:schemas-microsoft-com:vml" Requires="v">
                <p:oleObj name="Equation" r:id="rId24" imgW="1600178" imgH="342900" progId="Equation.3">
                  <p:embed/>
                </p:oleObj>
              </mc:Choice>
              <mc:Fallback>
                <p:oleObj name="Equation" r:id="rId24" imgW="1600178" imgH="342900" progId="Equation.3">
                  <p:embed/>
                  <p:pic>
                    <p:nvPicPr>
                      <p:cNvPr id="0" name="Object 21"/>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400550" y="2436813"/>
                        <a:ext cx="17272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98" name="Text Box 22">
            <a:extLst>
              <a:ext uri="{FF2B5EF4-FFF2-40B4-BE49-F238E27FC236}">
                <a16:creationId xmlns:a16="http://schemas.microsoft.com/office/drawing/2014/main" id="{B9DB80DB-5F7D-9E44-3F6F-577F0718BE85}"/>
              </a:ext>
            </a:extLst>
          </p:cNvPr>
          <p:cNvSpPr txBox="1">
            <a:spLocks noChangeArrowheads="1"/>
          </p:cNvSpPr>
          <p:nvPr/>
        </p:nvSpPr>
        <p:spPr bwMode="auto">
          <a:xfrm>
            <a:off x="3708400" y="5518150"/>
            <a:ext cx="2484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a:solidFill>
                  <a:schemeClr val="bg1"/>
                </a:solidFill>
                <a:latin typeface="Times New Roman" panose="02020603050405020304" pitchFamily="18" charset="0"/>
                <a:ea typeface="楷体_GB2312" panose="02010609030101010101" pitchFamily="49" charset="-122"/>
              </a:rPr>
              <a:t>（质点系动量定理）</a:t>
            </a:r>
            <a:endParaRPr lang="zh-CN" altLang="en-US" sz="2000">
              <a:solidFill>
                <a:schemeClr val="bg1"/>
              </a:solidFill>
              <a:latin typeface="Times New Roman" panose="02020603050405020304" pitchFamily="18" charset="0"/>
              <a:ea typeface="楷体_GB2312" panose="02010609030101010101" pitchFamily="49" charset="-122"/>
            </a:endParaRPr>
          </a:p>
        </p:txBody>
      </p:sp>
      <p:sp>
        <p:nvSpPr>
          <p:cNvPr id="101399" name="Text Box 23">
            <a:extLst>
              <a:ext uri="{FF2B5EF4-FFF2-40B4-BE49-F238E27FC236}">
                <a16:creationId xmlns:a16="http://schemas.microsoft.com/office/drawing/2014/main" id="{CCF07E48-4652-FF8B-637C-7B59320E647C}"/>
              </a:ext>
            </a:extLst>
          </p:cNvPr>
          <p:cNvSpPr txBox="1">
            <a:spLocks noChangeArrowheads="1"/>
          </p:cNvSpPr>
          <p:nvPr/>
        </p:nvSpPr>
        <p:spPr bwMode="auto">
          <a:xfrm>
            <a:off x="6453188" y="2406650"/>
            <a:ext cx="207168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chemeClr val="bg1"/>
                </a:solidFill>
                <a:latin typeface="Times New Roman" panose="02020603050405020304" pitchFamily="18" charset="0"/>
              </a:rPr>
              <a:t>一对内力</a:t>
            </a:r>
          </a:p>
        </p:txBody>
      </p:sp>
      <p:sp>
        <p:nvSpPr>
          <p:cNvPr id="101400" name="Oval 24">
            <a:extLst>
              <a:ext uri="{FF2B5EF4-FFF2-40B4-BE49-F238E27FC236}">
                <a16:creationId xmlns:a16="http://schemas.microsoft.com/office/drawing/2014/main" id="{7E86745C-978B-2D6E-BF71-2CE2CCD3C78D}"/>
              </a:ext>
            </a:extLst>
          </p:cNvPr>
          <p:cNvSpPr>
            <a:spLocks noChangeArrowheads="1"/>
          </p:cNvSpPr>
          <p:nvPr/>
        </p:nvSpPr>
        <p:spPr bwMode="auto">
          <a:xfrm>
            <a:off x="6557963" y="4006850"/>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1401" name="Line 25">
            <a:extLst>
              <a:ext uri="{FF2B5EF4-FFF2-40B4-BE49-F238E27FC236}">
                <a16:creationId xmlns:a16="http://schemas.microsoft.com/office/drawing/2014/main" id="{4DF19B55-A146-10DF-11FE-7475722F5486}"/>
              </a:ext>
            </a:extLst>
          </p:cNvPr>
          <p:cNvSpPr>
            <a:spLocks noChangeShapeType="1"/>
          </p:cNvSpPr>
          <p:nvPr/>
        </p:nvSpPr>
        <p:spPr bwMode="auto">
          <a:xfrm flipH="1" flipV="1">
            <a:off x="7607300" y="4740275"/>
            <a:ext cx="781050" cy="560388"/>
          </a:xfrm>
          <a:prstGeom prst="line">
            <a:avLst/>
          </a:prstGeom>
          <a:noFill/>
          <a:ln w="38100">
            <a:solidFill>
              <a:srgbClr val="CCEC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402" name="Oval 26">
            <a:extLst>
              <a:ext uri="{FF2B5EF4-FFF2-40B4-BE49-F238E27FC236}">
                <a16:creationId xmlns:a16="http://schemas.microsoft.com/office/drawing/2014/main" id="{A02B949F-AC93-25A8-EA49-777526A5A43D}"/>
              </a:ext>
            </a:extLst>
          </p:cNvPr>
          <p:cNvSpPr>
            <a:spLocks noChangeArrowheads="1"/>
          </p:cNvSpPr>
          <p:nvPr/>
        </p:nvSpPr>
        <p:spPr bwMode="auto">
          <a:xfrm>
            <a:off x="7472363" y="4616450"/>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379"/>
                                        </p:tgtEl>
                                        <p:attrNameLst>
                                          <p:attrName>style.visibility</p:attrName>
                                        </p:attrNameLst>
                                      </p:cBhvr>
                                      <p:to>
                                        <p:strVal val="visible"/>
                                      </p:to>
                                    </p:set>
                                    <p:animEffect transition="in" filter="wipe(left)">
                                      <p:cBhvr>
                                        <p:cTn id="7" dur="500"/>
                                        <p:tgtEl>
                                          <p:spTgt spid="1013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1380"/>
                                        </p:tgtEl>
                                        <p:attrNameLst>
                                          <p:attrName>style.visibility</p:attrName>
                                        </p:attrNameLst>
                                      </p:cBhvr>
                                      <p:to>
                                        <p:strVal val="visible"/>
                                      </p:to>
                                    </p:set>
                                    <p:animEffect transition="in" filter="wipe(left)">
                                      <p:cBhvr>
                                        <p:cTn id="12" dur="500"/>
                                        <p:tgtEl>
                                          <p:spTgt spid="1013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1386"/>
                                        </p:tgtEl>
                                        <p:attrNameLst>
                                          <p:attrName>style.visibility</p:attrName>
                                        </p:attrNameLst>
                                      </p:cBhvr>
                                      <p:to>
                                        <p:strVal val="visible"/>
                                      </p:to>
                                    </p:set>
                                    <p:animEffect transition="in" filter="wipe(left)">
                                      <p:cBhvr>
                                        <p:cTn id="17" dur="500"/>
                                        <p:tgtEl>
                                          <p:spTgt spid="1013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1381"/>
                                        </p:tgtEl>
                                        <p:attrNameLst>
                                          <p:attrName>style.visibility</p:attrName>
                                        </p:attrNameLst>
                                      </p:cBhvr>
                                      <p:to>
                                        <p:strVal val="visible"/>
                                      </p:to>
                                    </p:set>
                                    <p:animEffect transition="in" filter="wipe(left)">
                                      <p:cBhvr>
                                        <p:cTn id="22" dur="500"/>
                                        <p:tgtEl>
                                          <p:spTgt spid="1013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1400"/>
                                        </p:tgtEl>
                                        <p:attrNameLst>
                                          <p:attrName>style.visibility</p:attrName>
                                        </p:attrNameLst>
                                      </p:cBhvr>
                                      <p:to>
                                        <p:strVal val="visible"/>
                                      </p:to>
                                    </p:set>
                                    <p:animEffect transition="in" filter="wipe(left)">
                                      <p:cBhvr>
                                        <p:cTn id="27" dur="500"/>
                                        <p:tgtEl>
                                          <p:spTgt spid="1014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1391"/>
                                        </p:tgtEl>
                                        <p:attrNameLst>
                                          <p:attrName>style.visibility</p:attrName>
                                        </p:attrNameLst>
                                      </p:cBhvr>
                                      <p:to>
                                        <p:strVal val="visible"/>
                                      </p:to>
                                    </p:set>
                                    <p:animEffect transition="in" filter="wipe(left)">
                                      <p:cBhvr>
                                        <p:cTn id="32" dur="500"/>
                                        <p:tgtEl>
                                          <p:spTgt spid="1013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1402"/>
                                        </p:tgtEl>
                                        <p:attrNameLst>
                                          <p:attrName>style.visibility</p:attrName>
                                        </p:attrNameLst>
                                      </p:cBhvr>
                                      <p:to>
                                        <p:strVal val="visible"/>
                                      </p:to>
                                    </p:set>
                                    <p:animEffect transition="in" filter="wipe(left)">
                                      <p:cBhvr>
                                        <p:cTn id="37" dur="500"/>
                                        <p:tgtEl>
                                          <p:spTgt spid="1014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01392"/>
                                        </p:tgtEl>
                                        <p:attrNameLst>
                                          <p:attrName>style.visibility</p:attrName>
                                        </p:attrNameLst>
                                      </p:cBhvr>
                                      <p:to>
                                        <p:strVal val="visible"/>
                                      </p:to>
                                    </p:set>
                                    <p:animEffect transition="in" filter="wipe(left)">
                                      <p:cBhvr>
                                        <p:cTn id="42" dur="500"/>
                                        <p:tgtEl>
                                          <p:spTgt spid="10139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101378"/>
                                        </p:tgtEl>
                                        <p:attrNameLst>
                                          <p:attrName>style.visibility</p:attrName>
                                        </p:attrNameLst>
                                      </p:cBhvr>
                                      <p:to>
                                        <p:strVal val="visible"/>
                                      </p:to>
                                    </p:set>
                                    <p:anim calcmode="lin" valueType="num">
                                      <p:cBhvr>
                                        <p:cTn id="47" dur="500" fill="hold"/>
                                        <p:tgtEl>
                                          <p:spTgt spid="101378"/>
                                        </p:tgtEl>
                                        <p:attrNameLst>
                                          <p:attrName>ppt_w</p:attrName>
                                        </p:attrNameLst>
                                      </p:cBhvr>
                                      <p:tavLst>
                                        <p:tav tm="0">
                                          <p:val>
                                            <p:fltVal val="0"/>
                                          </p:val>
                                        </p:tav>
                                        <p:tav tm="100000">
                                          <p:val>
                                            <p:strVal val="#ppt_w"/>
                                          </p:val>
                                        </p:tav>
                                      </p:tavLst>
                                    </p:anim>
                                    <p:anim calcmode="lin" valueType="num">
                                      <p:cBhvr>
                                        <p:cTn id="48" dur="500" fill="hold"/>
                                        <p:tgtEl>
                                          <p:spTgt spid="101378"/>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01389"/>
                                        </p:tgtEl>
                                        <p:attrNameLst>
                                          <p:attrName>style.visibility</p:attrName>
                                        </p:attrNameLst>
                                      </p:cBhvr>
                                      <p:to>
                                        <p:strVal val="visible"/>
                                      </p:to>
                                    </p:set>
                                    <p:animEffect transition="in" filter="wipe(left)">
                                      <p:cBhvr>
                                        <p:cTn id="53" dur="500"/>
                                        <p:tgtEl>
                                          <p:spTgt spid="10138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01395"/>
                                        </p:tgtEl>
                                        <p:attrNameLst>
                                          <p:attrName>style.visibility</p:attrName>
                                        </p:attrNameLst>
                                      </p:cBhvr>
                                      <p:to>
                                        <p:strVal val="visible"/>
                                      </p:to>
                                    </p:set>
                                    <p:animEffect transition="in" filter="wipe(left)">
                                      <p:cBhvr>
                                        <p:cTn id="58" dur="500"/>
                                        <p:tgtEl>
                                          <p:spTgt spid="10139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2" fill="hold" nodeType="clickEffect">
                                  <p:stCondLst>
                                    <p:cond delay="0"/>
                                  </p:stCondLst>
                                  <p:childTnLst>
                                    <p:set>
                                      <p:cBhvr>
                                        <p:cTn id="62" dur="1" fill="hold">
                                          <p:stCondLst>
                                            <p:cond delay="0"/>
                                          </p:stCondLst>
                                        </p:cTn>
                                        <p:tgtEl>
                                          <p:spTgt spid="101388"/>
                                        </p:tgtEl>
                                        <p:attrNameLst>
                                          <p:attrName>style.visibility</p:attrName>
                                        </p:attrNameLst>
                                      </p:cBhvr>
                                      <p:to>
                                        <p:strVal val="visible"/>
                                      </p:to>
                                    </p:set>
                                    <p:animEffect transition="in" filter="wipe(right)">
                                      <p:cBhvr>
                                        <p:cTn id="63" dur="500"/>
                                        <p:tgtEl>
                                          <p:spTgt spid="10138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01393"/>
                                        </p:tgtEl>
                                        <p:attrNameLst>
                                          <p:attrName>style.visibility</p:attrName>
                                        </p:attrNameLst>
                                      </p:cBhvr>
                                      <p:to>
                                        <p:strVal val="visible"/>
                                      </p:to>
                                    </p:set>
                                    <p:animEffect transition="in" filter="wipe(left)">
                                      <p:cBhvr>
                                        <p:cTn id="68" dur="500"/>
                                        <p:tgtEl>
                                          <p:spTgt spid="10139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01390"/>
                                        </p:tgtEl>
                                        <p:attrNameLst>
                                          <p:attrName>style.visibility</p:attrName>
                                        </p:attrNameLst>
                                      </p:cBhvr>
                                      <p:to>
                                        <p:strVal val="visible"/>
                                      </p:to>
                                    </p:set>
                                    <p:animEffect transition="in" filter="wipe(left)">
                                      <p:cBhvr>
                                        <p:cTn id="73" dur="500"/>
                                        <p:tgtEl>
                                          <p:spTgt spid="10139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01396"/>
                                        </p:tgtEl>
                                        <p:attrNameLst>
                                          <p:attrName>style.visibility</p:attrName>
                                        </p:attrNameLst>
                                      </p:cBhvr>
                                      <p:to>
                                        <p:strVal val="visible"/>
                                      </p:to>
                                    </p:set>
                                    <p:animEffect transition="in" filter="wipe(left)">
                                      <p:cBhvr>
                                        <p:cTn id="78" dur="500"/>
                                        <p:tgtEl>
                                          <p:spTgt spid="10139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101401"/>
                                        </p:tgtEl>
                                        <p:attrNameLst>
                                          <p:attrName>style.visibility</p:attrName>
                                        </p:attrNameLst>
                                      </p:cBhvr>
                                      <p:to>
                                        <p:strVal val="visible"/>
                                      </p:to>
                                    </p:set>
                                    <p:animEffect transition="in" filter="wipe(left)">
                                      <p:cBhvr>
                                        <p:cTn id="83" dur="500"/>
                                        <p:tgtEl>
                                          <p:spTgt spid="101401"/>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101394"/>
                                        </p:tgtEl>
                                        <p:attrNameLst>
                                          <p:attrName>style.visibility</p:attrName>
                                        </p:attrNameLst>
                                      </p:cBhvr>
                                      <p:to>
                                        <p:strVal val="visible"/>
                                      </p:to>
                                    </p:set>
                                    <p:animEffect transition="in" filter="wipe(left)">
                                      <p:cBhvr>
                                        <p:cTn id="88" dur="500"/>
                                        <p:tgtEl>
                                          <p:spTgt spid="10139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01382"/>
                                        </p:tgtEl>
                                        <p:attrNameLst>
                                          <p:attrName>style.visibility</p:attrName>
                                        </p:attrNameLst>
                                      </p:cBhvr>
                                      <p:to>
                                        <p:strVal val="visible"/>
                                      </p:to>
                                    </p:set>
                                    <p:animEffect transition="in" filter="wipe(left)">
                                      <p:cBhvr>
                                        <p:cTn id="93" dur="500"/>
                                        <p:tgtEl>
                                          <p:spTgt spid="101382"/>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01383"/>
                                        </p:tgtEl>
                                        <p:attrNameLst>
                                          <p:attrName>style.visibility</p:attrName>
                                        </p:attrNameLst>
                                      </p:cBhvr>
                                      <p:to>
                                        <p:strVal val="visible"/>
                                      </p:to>
                                    </p:set>
                                    <p:animEffect transition="in" filter="wipe(left)">
                                      <p:cBhvr>
                                        <p:cTn id="98" dur="500"/>
                                        <p:tgtEl>
                                          <p:spTgt spid="10138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01387"/>
                                        </p:tgtEl>
                                        <p:attrNameLst>
                                          <p:attrName>style.visibility</p:attrName>
                                        </p:attrNameLst>
                                      </p:cBhvr>
                                      <p:to>
                                        <p:strVal val="visible"/>
                                      </p:to>
                                    </p:set>
                                    <p:animEffect transition="in" filter="wipe(left)">
                                      <p:cBhvr>
                                        <p:cTn id="103" dur="500"/>
                                        <p:tgtEl>
                                          <p:spTgt spid="101387"/>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101397"/>
                                        </p:tgtEl>
                                        <p:attrNameLst>
                                          <p:attrName>style.visibility</p:attrName>
                                        </p:attrNameLst>
                                      </p:cBhvr>
                                      <p:to>
                                        <p:strVal val="visible"/>
                                      </p:to>
                                    </p:set>
                                    <p:animEffect transition="in" filter="wipe(left)">
                                      <p:cBhvr>
                                        <p:cTn id="108" dur="500"/>
                                        <p:tgtEl>
                                          <p:spTgt spid="101397"/>
                                        </p:tgtEl>
                                      </p:cBhvr>
                                    </p:animEffect>
                                  </p:childTnLst>
                                </p:cTn>
                              </p:par>
                            </p:childTnLst>
                          </p:cTn>
                        </p:par>
                        <p:par>
                          <p:cTn id="109" fill="hold" nodeType="afterGroup">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101399"/>
                                        </p:tgtEl>
                                        <p:attrNameLst>
                                          <p:attrName>style.visibility</p:attrName>
                                        </p:attrNameLst>
                                      </p:cBhvr>
                                      <p:to>
                                        <p:strVal val="visible"/>
                                      </p:to>
                                    </p:set>
                                    <p:animEffect transition="in" filter="wipe(left)">
                                      <p:cBhvr>
                                        <p:cTn id="112" dur="500"/>
                                        <p:tgtEl>
                                          <p:spTgt spid="101399"/>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01384"/>
                                        </p:tgtEl>
                                        <p:attrNameLst>
                                          <p:attrName>style.visibility</p:attrName>
                                        </p:attrNameLst>
                                      </p:cBhvr>
                                      <p:to>
                                        <p:strVal val="visible"/>
                                      </p:to>
                                    </p:set>
                                    <p:animEffect transition="in" filter="wipe(left)">
                                      <p:cBhvr>
                                        <p:cTn id="117" dur="500"/>
                                        <p:tgtEl>
                                          <p:spTgt spid="10138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101385"/>
                                        </p:tgtEl>
                                        <p:attrNameLst>
                                          <p:attrName>style.visibility</p:attrName>
                                        </p:attrNameLst>
                                      </p:cBhvr>
                                      <p:to>
                                        <p:strVal val="visible"/>
                                      </p:to>
                                    </p:set>
                                    <p:animEffect transition="in" filter="wipe(left)">
                                      <p:cBhvr>
                                        <p:cTn id="122" dur="500"/>
                                        <p:tgtEl>
                                          <p:spTgt spid="101385"/>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01398"/>
                                        </p:tgtEl>
                                        <p:attrNameLst>
                                          <p:attrName>style.visibility</p:attrName>
                                        </p:attrNameLst>
                                      </p:cBhvr>
                                      <p:to>
                                        <p:strVal val="visible"/>
                                      </p:to>
                                    </p:set>
                                    <p:animEffect transition="in" filter="wipe(left)">
                                      <p:cBhvr>
                                        <p:cTn id="127" dur="500"/>
                                        <p:tgtEl>
                                          <p:spTgt spid="101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p:bldP spid="101380" grpId="0" autoUpdateAnimBg="0"/>
      <p:bldP spid="101386" grpId="0" animBg="1"/>
      <p:bldP spid="101387" grpId="0" animBg="1"/>
      <p:bldP spid="101398" grpId="0" autoUpdateAnimBg="0"/>
      <p:bldP spid="101399" grpId="0"/>
      <p:bldP spid="101400" grpId="0" animBg="1"/>
      <p:bldP spid="10140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2" name="Object 2">
            <a:extLst>
              <a:ext uri="{FF2B5EF4-FFF2-40B4-BE49-F238E27FC236}">
                <a16:creationId xmlns:a16="http://schemas.microsoft.com/office/drawing/2014/main" id="{F5912936-3D2E-5484-1063-667A484C21CA}"/>
              </a:ext>
            </a:extLst>
          </p:cNvPr>
          <p:cNvGraphicFramePr>
            <a:graphicFrameLocks/>
          </p:cNvGraphicFramePr>
          <p:nvPr/>
        </p:nvGraphicFramePr>
        <p:xfrm>
          <a:off x="3519488" y="836613"/>
          <a:ext cx="2708275" cy="1943100"/>
        </p:xfrm>
        <a:graphic>
          <a:graphicData uri="http://schemas.openxmlformats.org/presentationml/2006/ole">
            <mc:AlternateContent xmlns:mc="http://schemas.openxmlformats.org/markup-compatibility/2006">
              <mc:Choice xmlns:v="urn:schemas-microsoft-com:vml" Requires="v">
                <p:oleObj name="公式" r:id="rId2" imgW="2895644" imgH="2028708" progId="Equation.3">
                  <p:embed/>
                </p:oleObj>
              </mc:Choice>
              <mc:Fallback>
                <p:oleObj name="公式" r:id="rId2" imgW="2895644" imgH="2028708"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488" y="836613"/>
                        <a:ext cx="2708275"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03" name="Text Box 3">
            <a:extLst>
              <a:ext uri="{FF2B5EF4-FFF2-40B4-BE49-F238E27FC236}">
                <a16:creationId xmlns:a16="http://schemas.microsoft.com/office/drawing/2014/main" id="{048F3360-56E9-949B-4FE9-E3115D7C9C9A}"/>
              </a:ext>
            </a:extLst>
          </p:cNvPr>
          <p:cNvSpPr txBox="1">
            <a:spLocks noChangeArrowheads="1"/>
          </p:cNvSpPr>
          <p:nvPr/>
        </p:nvSpPr>
        <p:spPr bwMode="auto">
          <a:xfrm>
            <a:off x="741363" y="404813"/>
            <a:ext cx="2025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rPr>
              <a:t>直角坐标系：</a:t>
            </a:r>
            <a:endParaRPr lang="zh-CN" altLang="en-US" sz="2400">
              <a:solidFill>
                <a:schemeClr val="bg1"/>
              </a:solidFill>
              <a:latin typeface="Times New Roman" panose="02020603050405020304" pitchFamily="18" charset="0"/>
            </a:endParaRPr>
          </a:p>
        </p:txBody>
      </p:sp>
      <p:sp>
        <p:nvSpPr>
          <p:cNvPr id="102404" name="Text Box 4">
            <a:extLst>
              <a:ext uri="{FF2B5EF4-FFF2-40B4-BE49-F238E27FC236}">
                <a16:creationId xmlns:a16="http://schemas.microsoft.com/office/drawing/2014/main" id="{49514444-A504-AB87-DC0B-1C69B457CC4A}"/>
              </a:ext>
            </a:extLst>
          </p:cNvPr>
          <p:cNvSpPr txBox="1">
            <a:spLocks noChangeArrowheads="1"/>
          </p:cNvSpPr>
          <p:nvPr/>
        </p:nvSpPr>
        <p:spPr bwMode="auto">
          <a:xfrm>
            <a:off x="735013" y="30099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rPr>
              <a:t>在有限时间内：</a:t>
            </a:r>
            <a:endParaRPr lang="zh-CN" altLang="en-US" sz="2400">
              <a:solidFill>
                <a:schemeClr val="bg1"/>
              </a:solidFill>
              <a:latin typeface="Times New Roman" panose="02020603050405020304" pitchFamily="18" charset="0"/>
            </a:endParaRPr>
          </a:p>
        </p:txBody>
      </p:sp>
      <p:sp>
        <p:nvSpPr>
          <p:cNvPr id="102405" name="Text Box 5">
            <a:extLst>
              <a:ext uri="{FF2B5EF4-FFF2-40B4-BE49-F238E27FC236}">
                <a16:creationId xmlns:a16="http://schemas.microsoft.com/office/drawing/2014/main" id="{FC2A3944-E5DA-4770-B187-E9F6538E190B}"/>
              </a:ext>
            </a:extLst>
          </p:cNvPr>
          <p:cNvSpPr txBox="1">
            <a:spLocks noChangeArrowheads="1"/>
          </p:cNvSpPr>
          <p:nvPr/>
        </p:nvSpPr>
        <p:spPr bwMode="auto">
          <a:xfrm>
            <a:off x="736600" y="5300663"/>
            <a:ext cx="8515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1"/>
                </a:solidFill>
                <a:latin typeface="Times New Roman" panose="02020603050405020304" pitchFamily="18" charset="0"/>
                <a:ea typeface="楷体_GB2312" panose="02010609030101010101" pitchFamily="49" charset="-122"/>
              </a:rPr>
              <a:t>(1) </a:t>
            </a:r>
            <a:r>
              <a:rPr lang="zh-CN" altLang="en-US" sz="2400" b="1">
                <a:solidFill>
                  <a:schemeClr val="bg1"/>
                </a:solidFill>
                <a:latin typeface="Times New Roman" panose="02020603050405020304" pitchFamily="18" charset="0"/>
                <a:ea typeface="楷体_GB2312" panose="02010609030101010101" pitchFamily="49" charset="-122"/>
              </a:rPr>
              <a:t>只有外力可改变系统的总动量</a:t>
            </a:r>
            <a:r>
              <a:rPr lang="en-US" altLang="zh-CN" sz="2400" b="1">
                <a:solidFill>
                  <a:schemeClr val="bg1"/>
                </a:solidFill>
                <a:latin typeface="Times New Roman" panose="02020603050405020304" pitchFamily="18" charset="0"/>
                <a:ea typeface="楷体_GB2312" panose="02010609030101010101" pitchFamily="49" charset="-122"/>
              </a:rPr>
              <a:t>,</a:t>
            </a:r>
            <a:r>
              <a:rPr lang="zh-CN" altLang="zh-CN" sz="2400" b="1">
                <a:solidFill>
                  <a:schemeClr val="bg1"/>
                </a:solidFill>
              </a:rPr>
              <a:t>内力不改变系统的动量</a:t>
            </a:r>
            <a:endParaRPr lang="zh-CN" altLang="en-US" sz="2400" b="1">
              <a:solidFill>
                <a:schemeClr val="bg1"/>
              </a:solidFill>
              <a:latin typeface="Times New Roman" panose="02020603050405020304" pitchFamily="18" charset="0"/>
              <a:ea typeface="楷体_GB2312" panose="02010609030101010101" pitchFamily="49" charset="-122"/>
            </a:endParaRPr>
          </a:p>
        </p:txBody>
      </p:sp>
      <p:sp>
        <p:nvSpPr>
          <p:cNvPr id="102406" name="Text Box 6">
            <a:extLst>
              <a:ext uri="{FF2B5EF4-FFF2-40B4-BE49-F238E27FC236}">
                <a16:creationId xmlns:a16="http://schemas.microsoft.com/office/drawing/2014/main" id="{04F83FFA-1728-B9D0-2DEC-F338794A4833}"/>
              </a:ext>
            </a:extLst>
          </p:cNvPr>
          <p:cNvSpPr txBox="1">
            <a:spLocks noChangeArrowheads="1"/>
          </p:cNvSpPr>
          <p:nvPr/>
        </p:nvSpPr>
        <p:spPr bwMode="auto">
          <a:xfrm>
            <a:off x="719138" y="5873750"/>
            <a:ext cx="819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1"/>
                </a:solidFill>
                <a:latin typeface="Times New Roman" panose="02020603050405020304" pitchFamily="18" charset="0"/>
                <a:ea typeface="楷体_GB2312" panose="02010609030101010101" pitchFamily="49" charset="-122"/>
              </a:rPr>
              <a:t>(2) </a:t>
            </a:r>
            <a:r>
              <a:rPr lang="zh-CN" altLang="en-US" sz="2400" b="1">
                <a:solidFill>
                  <a:schemeClr val="bg1"/>
                </a:solidFill>
                <a:latin typeface="Times New Roman" panose="02020603050405020304" pitchFamily="18" charset="0"/>
                <a:ea typeface="楷体_GB2312" panose="02010609030101010101" pitchFamily="49" charset="-122"/>
              </a:rPr>
              <a:t>内力可改变系统内单个质点的动量 </a:t>
            </a:r>
            <a:r>
              <a:rPr lang="en-US" altLang="zh-CN" sz="2400" b="1">
                <a:solidFill>
                  <a:schemeClr val="bg1"/>
                </a:solidFill>
                <a:latin typeface="Times New Roman" panose="02020603050405020304" pitchFamily="18" charset="0"/>
                <a:ea typeface="楷体_GB2312" panose="02010609030101010101" pitchFamily="49" charset="-122"/>
              </a:rPr>
              <a:t>—— </a:t>
            </a:r>
            <a:r>
              <a:rPr lang="zh-CN" altLang="en-US" sz="2400" b="1">
                <a:solidFill>
                  <a:schemeClr val="bg1"/>
                </a:solidFill>
                <a:latin typeface="Times New Roman" panose="02020603050405020304" pitchFamily="18" charset="0"/>
                <a:ea typeface="楷体_GB2312" panose="02010609030101010101" pitchFamily="49" charset="-122"/>
              </a:rPr>
              <a:t>内部作用复杂</a:t>
            </a:r>
            <a:endParaRPr lang="zh-CN" altLang="en-US" sz="2400">
              <a:solidFill>
                <a:schemeClr val="bg1"/>
              </a:solidFill>
              <a:latin typeface="Times New Roman" panose="02020603050405020304" pitchFamily="18" charset="0"/>
              <a:ea typeface="楷体_GB2312" panose="02010609030101010101" pitchFamily="49" charset="-122"/>
            </a:endParaRPr>
          </a:p>
        </p:txBody>
      </p:sp>
      <p:graphicFrame>
        <p:nvGraphicFramePr>
          <p:cNvPr id="102407" name="Object 7">
            <a:extLst>
              <a:ext uri="{FF2B5EF4-FFF2-40B4-BE49-F238E27FC236}">
                <a16:creationId xmlns:a16="http://schemas.microsoft.com/office/drawing/2014/main" id="{6C9D32B8-7A37-8350-8C2D-0BF11A5E1407}"/>
              </a:ext>
            </a:extLst>
          </p:cNvPr>
          <p:cNvGraphicFramePr>
            <a:graphicFrameLocks/>
          </p:cNvGraphicFramePr>
          <p:nvPr/>
        </p:nvGraphicFramePr>
        <p:xfrm>
          <a:off x="3059113" y="2895600"/>
          <a:ext cx="3884612" cy="800100"/>
        </p:xfrm>
        <a:graphic>
          <a:graphicData uri="http://schemas.openxmlformats.org/presentationml/2006/ole">
            <mc:AlternateContent xmlns:mc="http://schemas.openxmlformats.org/markup-compatibility/2006">
              <mc:Choice xmlns:v="urn:schemas-microsoft-com:vml" Requires="v">
                <p:oleObj name="公式" r:id="rId4" imgW="4191109" imgH="762078" progId="Equation.3">
                  <p:embed/>
                </p:oleObj>
              </mc:Choice>
              <mc:Fallback>
                <p:oleObj name="公式" r:id="rId4" imgW="4191109" imgH="762078"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2895600"/>
                        <a:ext cx="3884612" cy="8001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08" name="Text Box 8">
            <a:extLst>
              <a:ext uri="{FF2B5EF4-FFF2-40B4-BE49-F238E27FC236}">
                <a16:creationId xmlns:a16="http://schemas.microsoft.com/office/drawing/2014/main" id="{F2EA17BF-4B6E-D3E4-20DA-0309368101A7}"/>
              </a:ext>
            </a:extLst>
          </p:cNvPr>
          <p:cNvSpPr txBox="1">
            <a:spLocks noChangeArrowheads="1"/>
          </p:cNvSpPr>
          <p:nvPr/>
        </p:nvSpPr>
        <p:spPr bwMode="auto">
          <a:xfrm>
            <a:off x="711200" y="479901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说明</a:t>
            </a:r>
          </a:p>
        </p:txBody>
      </p:sp>
      <p:sp>
        <p:nvSpPr>
          <p:cNvPr id="102409" name="Text Box 9">
            <a:extLst>
              <a:ext uri="{FF2B5EF4-FFF2-40B4-BE49-F238E27FC236}">
                <a16:creationId xmlns:a16="http://schemas.microsoft.com/office/drawing/2014/main" id="{5045A263-23DF-C502-AB54-9E8C8AF9771D}"/>
              </a:ext>
            </a:extLst>
          </p:cNvPr>
          <p:cNvSpPr txBox="1">
            <a:spLocks noChangeArrowheads="1"/>
          </p:cNvSpPr>
          <p:nvPr/>
        </p:nvSpPr>
        <p:spPr bwMode="auto">
          <a:xfrm>
            <a:off x="712788" y="3754438"/>
            <a:ext cx="8008937" cy="1090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5000"/>
              </a:lnSpc>
            </a:pPr>
            <a:r>
              <a:rPr lang="zh-CN" altLang="en-US" sz="2400" b="1">
                <a:solidFill>
                  <a:schemeClr val="bg1"/>
                </a:solidFill>
                <a:latin typeface="Times New Roman" panose="02020603050405020304" pitchFamily="18" charset="0"/>
              </a:rPr>
              <a:t>某段时间内，质点系动量的增量，等于作用在质点系上所有</a:t>
            </a:r>
            <a:r>
              <a:rPr lang="zh-CN" altLang="en-US" sz="2400" b="1">
                <a:solidFill>
                  <a:srgbClr val="FF0000"/>
                </a:solidFill>
                <a:latin typeface="Times New Roman" panose="02020603050405020304" pitchFamily="18" charset="0"/>
              </a:rPr>
              <a:t>外力</a:t>
            </a:r>
            <a:r>
              <a:rPr lang="zh-CN" altLang="en-US" sz="2400" b="1">
                <a:solidFill>
                  <a:schemeClr val="bg1"/>
                </a:solidFill>
                <a:latin typeface="Times New Roman" panose="02020603050405020304" pitchFamily="18" charset="0"/>
              </a:rPr>
              <a:t>在同一时间内的</a:t>
            </a:r>
            <a:r>
              <a:rPr lang="zh-CN" altLang="en-US" sz="2400" b="1">
                <a:solidFill>
                  <a:srgbClr val="FF0000"/>
                </a:solidFill>
                <a:latin typeface="Times New Roman" panose="02020603050405020304" pitchFamily="18" charset="0"/>
              </a:rPr>
              <a:t>冲量的矢量和 </a:t>
            </a:r>
            <a:r>
              <a:rPr lang="en-US" altLang="zh-CN" sz="2400" b="1">
                <a:solidFill>
                  <a:schemeClr val="bg1"/>
                </a:solidFill>
                <a:latin typeface="Times New Roman" panose="02020603050405020304" pitchFamily="18" charset="0"/>
              </a:rPr>
              <a:t>——</a:t>
            </a:r>
            <a:r>
              <a:rPr lang="zh-CN" altLang="en-US" sz="2400" b="1">
                <a:solidFill>
                  <a:srgbClr val="66FFFF"/>
                </a:solidFill>
                <a:latin typeface="Times New Roman" panose="02020603050405020304" pitchFamily="18" charset="0"/>
              </a:rPr>
              <a:t>质点系动量定理</a:t>
            </a:r>
          </a:p>
        </p:txBody>
      </p:sp>
      <p:sp>
        <p:nvSpPr>
          <p:cNvPr id="102410" name="AutoShape 10">
            <a:extLst>
              <a:ext uri="{FF2B5EF4-FFF2-40B4-BE49-F238E27FC236}">
                <a16:creationId xmlns:a16="http://schemas.microsoft.com/office/drawing/2014/main" id="{9527A7F7-4EB1-4AD3-93E6-A1EF90C80C50}"/>
              </a:ext>
            </a:extLst>
          </p:cNvPr>
          <p:cNvSpPr>
            <a:spLocks noChangeArrowheads="1"/>
          </p:cNvSpPr>
          <p:nvPr/>
        </p:nvSpPr>
        <p:spPr bwMode="auto">
          <a:xfrm>
            <a:off x="376238" y="47402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2411" name="AutoShape 11">
            <a:extLst>
              <a:ext uri="{FF2B5EF4-FFF2-40B4-BE49-F238E27FC236}">
                <a16:creationId xmlns:a16="http://schemas.microsoft.com/office/drawing/2014/main" id="{354B0DBD-8753-924F-C53B-22315993A0B1}"/>
              </a:ext>
            </a:extLst>
          </p:cNvPr>
          <p:cNvSpPr>
            <a:spLocks/>
          </p:cNvSpPr>
          <p:nvPr/>
        </p:nvSpPr>
        <p:spPr bwMode="auto">
          <a:xfrm>
            <a:off x="3132138" y="1050925"/>
            <a:ext cx="215900" cy="1349375"/>
          </a:xfrm>
          <a:prstGeom prst="leftBrace">
            <a:avLst>
              <a:gd name="adj1" fmla="val 52083"/>
              <a:gd name="adj2" fmla="val 50000"/>
            </a:avLst>
          </a:prstGeom>
          <a:noFill/>
          <a:ln w="19050">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03"/>
                                        </p:tgtEl>
                                        <p:attrNameLst>
                                          <p:attrName>style.visibility</p:attrName>
                                        </p:attrNameLst>
                                      </p:cBhvr>
                                      <p:to>
                                        <p:strVal val="visible"/>
                                      </p:to>
                                    </p:set>
                                    <p:animEffect transition="in" filter="wipe(left)">
                                      <p:cBhvr>
                                        <p:cTn id="7" dur="500"/>
                                        <p:tgtEl>
                                          <p:spTgt spid="1024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11"/>
                                        </p:tgtEl>
                                        <p:attrNameLst>
                                          <p:attrName>style.visibility</p:attrName>
                                        </p:attrNameLst>
                                      </p:cBhvr>
                                      <p:to>
                                        <p:strVal val="visible"/>
                                      </p:to>
                                    </p:set>
                                    <p:animEffect transition="in" filter="wipe(left)">
                                      <p:cBhvr>
                                        <p:cTn id="12" dur="500"/>
                                        <p:tgtEl>
                                          <p:spTgt spid="1024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402"/>
                                        </p:tgtEl>
                                        <p:attrNameLst>
                                          <p:attrName>style.visibility</p:attrName>
                                        </p:attrNameLst>
                                      </p:cBhvr>
                                      <p:to>
                                        <p:strVal val="visible"/>
                                      </p:to>
                                    </p:set>
                                    <p:animEffect transition="in" filter="wipe(left)">
                                      <p:cBhvr>
                                        <p:cTn id="17" dur="500"/>
                                        <p:tgtEl>
                                          <p:spTgt spid="1024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04"/>
                                        </p:tgtEl>
                                        <p:attrNameLst>
                                          <p:attrName>style.visibility</p:attrName>
                                        </p:attrNameLst>
                                      </p:cBhvr>
                                      <p:to>
                                        <p:strVal val="visible"/>
                                      </p:to>
                                    </p:set>
                                    <p:animEffect transition="in" filter="wipe(left)">
                                      <p:cBhvr>
                                        <p:cTn id="22" dur="500"/>
                                        <p:tgtEl>
                                          <p:spTgt spid="1024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2407"/>
                                        </p:tgtEl>
                                        <p:attrNameLst>
                                          <p:attrName>style.visibility</p:attrName>
                                        </p:attrNameLst>
                                      </p:cBhvr>
                                      <p:to>
                                        <p:strVal val="visible"/>
                                      </p:to>
                                    </p:set>
                                    <p:animEffect transition="in" filter="wipe(left)">
                                      <p:cBhvr>
                                        <p:cTn id="27" dur="500"/>
                                        <p:tgtEl>
                                          <p:spTgt spid="10240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2409"/>
                                        </p:tgtEl>
                                        <p:attrNameLst>
                                          <p:attrName>style.visibility</p:attrName>
                                        </p:attrNameLst>
                                      </p:cBhvr>
                                      <p:to>
                                        <p:strVal val="visible"/>
                                      </p:to>
                                    </p:set>
                                    <p:animEffect transition="in" filter="wipe(left)">
                                      <p:cBhvr>
                                        <p:cTn id="32" dur="500"/>
                                        <p:tgtEl>
                                          <p:spTgt spid="1024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0" presetClass="entr" presetSubtype="0" decel="100000" fill="hold" grpId="0" nodeType="clickEffect">
                                  <p:stCondLst>
                                    <p:cond delay="0"/>
                                  </p:stCondLst>
                                  <p:childTnLst>
                                    <p:set>
                                      <p:cBhvr>
                                        <p:cTn id="36" dur="1" fill="hold">
                                          <p:stCondLst>
                                            <p:cond delay="0"/>
                                          </p:stCondLst>
                                        </p:cTn>
                                        <p:tgtEl>
                                          <p:spTgt spid="102410"/>
                                        </p:tgtEl>
                                        <p:attrNameLst>
                                          <p:attrName>style.visibility</p:attrName>
                                        </p:attrNameLst>
                                      </p:cBhvr>
                                      <p:to>
                                        <p:strVal val="visible"/>
                                      </p:to>
                                    </p:set>
                                    <p:anim calcmode="lin" valueType="num">
                                      <p:cBhvr>
                                        <p:cTn id="37" dur="1000" fill="hold"/>
                                        <p:tgtEl>
                                          <p:spTgt spid="102410"/>
                                        </p:tgtEl>
                                        <p:attrNameLst>
                                          <p:attrName>ppt_w</p:attrName>
                                        </p:attrNameLst>
                                      </p:cBhvr>
                                      <p:tavLst>
                                        <p:tav tm="0">
                                          <p:val>
                                            <p:strVal val="#ppt_w+.3"/>
                                          </p:val>
                                        </p:tav>
                                        <p:tav tm="100000">
                                          <p:val>
                                            <p:strVal val="#ppt_w"/>
                                          </p:val>
                                        </p:tav>
                                      </p:tavLst>
                                    </p:anim>
                                    <p:anim calcmode="lin" valueType="num">
                                      <p:cBhvr>
                                        <p:cTn id="38" dur="1000" fill="hold"/>
                                        <p:tgtEl>
                                          <p:spTgt spid="102410"/>
                                        </p:tgtEl>
                                        <p:attrNameLst>
                                          <p:attrName>ppt_h</p:attrName>
                                        </p:attrNameLst>
                                      </p:cBhvr>
                                      <p:tavLst>
                                        <p:tav tm="0">
                                          <p:val>
                                            <p:strVal val="#ppt_h"/>
                                          </p:val>
                                        </p:tav>
                                        <p:tav tm="100000">
                                          <p:val>
                                            <p:strVal val="#ppt_h"/>
                                          </p:val>
                                        </p:tav>
                                      </p:tavLst>
                                    </p:anim>
                                    <p:animEffect transition="in" filter="fade">
                                      <p:cBhvr>
                                        <p:cTn id="39" dur="1000"/>
                                        <p:tgtEl>
                                          <p:spTgt spid="10241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2408"/>
                                        </p:tgtEl>
                                        <p:attrNameLst>
                                          <p:attrName>style.visibility</p:attrName>
                                        </p:attrNameLst>
                                      </p:cBhvr>
                                      <p:to>
                                        <p:strVal val="visible"/>
                                      </p:to>
                                    </p:set>
                                    <p:animEffect transition="in" filter="wipe(left)">
                                      <p:cBhvr>
                                        <p:cTn id="44" dur="500"/>
                                        <p:tgtEl>
                                          <p:spTgt spid="10240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02405"/>
                                        </p:tgtEl>
                                        <p:attrNameLst>
                                          <p:attrName>style.visibility</p:attrName>
                                        </p:attrNameLst>
                                      </p:cBhvr>
                                      <p:to>
                                        <p:strVal val="visible"/>
                                      </p:to>
                                    </p:set>
                                    <p:animEffect transition="in" filter="wipe(left)">
                                      <p:cBhvr>
                                        <p:cTn id="49" dur="500"/>
                                        <p:tgtEl>
                                          <p:spTgt spid="10240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02406"/>
                                        </p:tgtEl>
                                        <p:attrNameLst>
                                          <p:attrName>style.visibility</p:attrName>
                                        </p:attrNameLst>
                                      </p:cBhvr>
                                      <p:to>
                                        <p:strVal val="visible"/>
                                      </p:to>
                                    </p:set>
                                    <p:animEffect transition="in" filter="wipe(left)">
                                      <p:cBhvr>
                                        <p:cTn id="54" dur="500"/>
                                        <p:tgtEl>
                                          <p:spTgt spid="102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autoUpdateAnimBg="0"/>
      <p:bldP spid="102404" grpId="0" autoUpdateAnimBg="0"/>
      <p:bldP spid="102405" grpId="0" autoUpdateAnimBg="0"/>
      <p:bldP spid="102406" grpId="0" autoUpdateAnimBg="0"/>
      <p:bldP spid="102408" grpId="0"/>
      <p:bldP spid="102409" grpId="0"/>
      <p:bldP spid="102410" grpId="0" animBg="1"/>
      <p:bldP spid="1024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a:extLst>
              <a:ext uri="{FF2B5EF4-FFF2-40B4-BE49-F238E27FC236}">
                <a16:creationId xmlns:a16="http://schemas.microsoft.com/office/drawing/2014/main" id="{D0CF0EE8-5BF8-D8DC-C003-058F8F3E8943}"/>
              </a:ext>
            </a:extLst>
          </p:cNvPr>
          <p:cNvSpPr txBox="1">
            <a:spLocks noChangeArrowheads="1"/>
          </p:cNvSpPr>
          <p:nvPr/>
        </p:nvSpPr>
        <p:spPr bwMode="auto">
          <a:xfrm>
            <a:off x="750888" y="247650"/>
            <a:ext cx="8004175"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sz="2400" b="1">
                <a:solidFill>
                  <a:schemeClr val="bg1"/>
                </a:solidFill>
                <a:latin typeface="Times New Roman" panose="02020603050405020304" pitchFamily="18" charset="0"/>
              </a:rPr>
              <a:t>一粒子弹水平地穿过并排静止放置在光滑水平面上的木块</a:t>
            </a:r>
            <a:r>
              <a:rPr lang="en-US" altLang="zh-CN" sz="2400" b="1">
                <a:solidFill>
                  <a:schemeClr val="bg1"/>
                </a:solidFill>
                <a:latin typeface="Times New Roman" panose="02020603050405020304" pitchFamily="18" charset="0"/>
              </a:rPr>
              <a:t>,</a:t>
            </a:r>
            <a:r>
              <a:rPr lang="zh-CN" altLang="en-US" sz="2400" b="1">
                <a:solidFill>
                  <a:schemeClr val="bg1"/>
                </a:solidFill>
                <a:latin typeface="Times New Roman" panose="02020603050405020304" pitchFamily="18" charset="0"/>
              </a:rPr>
              <a:t>已知两木块的质量分别为 </a:t>
            </a:r>
            <a:r>
              <a:rPr lang="en-US" altLang="zh-CN" sz="2400" b="1" i="1">
                <a:solidFill>
                  <a:srgbClr val="66FFFF"/>
                </a:solidFill>
                <a:latin typeface="Times New Roman" panose="02020603050405020304" pitchFamily="18" charset="0"/>
              </a:rPr>
              <a:t>m</a:t>
            </a:r>
            <a:r>
              <a:rPr lang="en-US" altLang="zh-CN" sz="2400" b="1" baseline="-25000">
                <a:solidFill>
                  <a:srgbClr val="66FFFF"/>
                </a:solidFill>
                <a:latin typeface="Times New Roman" panose="02020603050405020304" pitchFamily="18" charset="0"/>
              </a:rPr>
              <a:t>1</a:t>
            </a:r>
            <a:r>
              <a:rPr lang="en-US" altLang="zh-CN" sz="2400" b="1">
                <a:solidFill>
                  <a:schemeClr val="bg1"/>
                </a:solidFill>
                <a:latin typeface="Times New Roman" panose="02020603050405020304" pitchFamily="18" charset="0"/>
              </a:rPr>
              <a:t>, </a:t>
            </a:r>
            <a:r>
              <a:rPr lang="en-US" altLang="zh-CN" sz="2400" b="1" i="1">
                <a:solidFill>
                  <a:srgbClr val="66FFFF"/>
                </a:solidFill>
                <a:latin typeface="Times New Roman" panose="02020603050405020304" pitchFamily="18" charset="0"/>
              </a:rPr>
              <a:t>m</a:t>
            </a:r>
            <a:r>
              <a:rPr lang="en-US" altLang="zh-CN" sz="2400" b="1" baseline="-25000">
                <a:solidFill>
                  <a:srgbClr val="66FFFF"/>
                </a:solidFill>
                <a:latin typeface="Times New Roman" panose="02020603050405020304" pitchFamily="18" charset="0"/>
              </a:rPr>
              <a:t>2</a:t>
            </a:r>
            <a:r>
              <a:rPr lang="en-US" altLang="zh-CN" sz="2400" b="1">
                <a:solidFill>
                  <a:schemeClr val="bg1"/>
                </a:solidFill>
                <a:latin typeface="Times New Roman" panose="02020603050405020304" pitchFamily="18" charset="0"/>
              </a:rPr>
              <a:t> </a:t>
            </a:r>
            <a:r>
              <a:rPr lang="zh-CN" altLang="en-US" sz="2400" b="1">
                <a:solidFill>
                  <a:schemeClr val="bg1"/>
                </a:solidFill>
                <a:latin typeface="Times New Roman" panose="02020603050405020304" pitchFamily="18" charset="0"/>
              </a:rPr>
              <a:t>，子弹穿过两木块的时间各为</a:t>
            </a:r>
            <a:r>
              <a:rPr lang="zh-CN" altLang="en-US" sz="2400" b="1">
                <a:solidFill>
                  <a:srgbClr val="66FFFF"/>
                </a:solidFill>
                <a:latin typeface="Times New Roman" panose="02020603050405020304" pitchFamily="18" charset="0"/>
                <a:sym typeface="Symbol" panose="05050102010706020507" pitchFamily="18" charset="2"/>
              </a:rPr>
              <a:t></a:t>
            </a:r>
            <a:r>
              <a:rPr lang="zh-CN" altLang="en-US" sz="2400" b="1" i="1">
                <a:solidFill>
                  <a:srgbClr val="66FFFF"/>
                </a:solidFill>
                <a:latin typeface="Times New Roman" panose="02020603050405020304" pitchFamily="18" charset="0"/>
              </a:rPr>
              <a:t> </a:t>
            </a:r>
            <a:r>
              <a:rPr lang="en-US" altLang="zh-CN" sz="2400" b="1" i="1">
                <a:solidFill>
                  <a:srgbClr val="66FFFF"/>
                </a:solidFill>
                <a:latin typeface="Times New Roman" panose="02020603050405020304" pitchFamily="18" charset="0"/>
              </a:rPr>
              <a:t>t</a:t>
            </a:r>
            <a:r>
              <a:rPr lang="en-US" altLang="zh-CN" sz="2400" b="1" baseline="-25000">
                <a:solidFill>
                  <a:srgbClr val="66FFFF"/>
                </a:solidFill>
                <a:latin typeface="Times New Roman" panose="02020603050405020304" pitchFamily="18" charset="0"/>
              </a:rPr>
              <a:t>1</a:t>
            </a:r>
            <a:r>
              <a:rPr lang="en-US" altLang="zh-CN" sz="2400" b="1">
                <a:solidFill>
                  <a:schemeClr val="bg1"/>
                </a:solidFill>
                <a:latin typeface="Times New Roman" panose="02020603050405020304" pitchFamily="18" charset="0"/>
              </a:rPr>
              <a:t>, </a:t>
            </a:r>
            <a:r>
              <a:rPr lang="en-US" altLang="zh-CN" sz="2400" b="1">
                <a:solidFill>
                  <a:srgbClr val="66FFFF"/>
                </a:solidFill>
                <a:latin typeface="Times New Roman" panose="02020603050405020304" pitchFamily="18" charset="0"/>
                <a:sym typeface="Symbol" panose="05050102010706020507" pitchFamily="18" charset="2"/>
              </a:rPr>
              <a:t></a:t>
            </a:r>
            <a:r>
              <a:rPr lang="en-US" altLang="zh-CN" sz="2400" b="1" i="1">
                <a:solidFill>
                  <a:srgbClr val="66FFFF"/>
                </a:solidFill>
                <a:latin typeface="Times New Roman" panose="02020603050405020304" pitchFamily="18" charset="0"/>
              </a:rPr>
              <a:t> t</a:t>
            </a:r>
            <a:r>
              <a:rPr lang="en-US" altLang="zh-CN" sz="2400" b="1" baseline="-25000">
                <a:solidFill>
                  <a:srgbClr val="66FFFF"/>
                </a:solidFill>
                <a:latin typeface="Times New Roman" panose="02020603050405020304" pitchFamily="18" charset="0"/>
              </a:rPr>
              <a:t>2</a:t>
            </a:r>
            <a:r>
              <a:rPr lang="en-US" altLang="zh-CN" sz="2400" b="1" i="1" baseline="-25000">
                <a:solidFill>
                  <a:schemeClr val="bg1"/>
                </a:solidFill>
                <a:latin typeface="Times New Roman" panose="02020603050405020304" pitchFamily="18" charset="0"/>
              </a:rPr>
              <a:t>  </a:t>
            </a:r>
            <a:r>
              <a:rPr lang="en-US" altLang="zh-CN" sz="2400" b="1" baseline="-25000">
                <a:solidFill>
                  <a:schemeClr val="bg1"/>
                </a:solidFill>
                <a:latin typeface="Times New Roman" panose="02020603050405020304" pitchFamily="18" charset="0"/>
              </a:rPr>
              <a:t> </a:t>
            </a:r>
            <a:r>
              <a:rPr lang="zh-CN" altLang="en-US" sz="2400" b="1" baseline="-25000">
                <a:solidFill>
                  <a:schemeClr val="bg1"/>
                </a:solidFill>
                <a:latin typeface="Times New Roman" panose="02020603050405020304" pitchFamily="18" charset="0"/>
              </a:rPr>
              <a:t>，</a:t>
            </a:r>
            <a:r>
              <a:rPr lang="zh-CN" altLang="en-US" sz="2400" b="1">
                <a:solidFill>
                  <a:schemeClr val="bg1"/>
                </a:solidFill>
                <a:latin typeface="Times New Roman" panose="02020603050405020304" pitchFamily="18" charset="0"/>
              </a:rPr>
              <a:t>设子弹在木块中所受的阻力为恒力</a:t>
            </a:r>
            <a:r>
              <a:rPr lang="en-US" altLang="zh-CN" sz="2400" b="1" i="1">
                <a:solidFill>
                  <a:srgbClr val="66FFFF"/>
                </a:solidFill>
                <a:latin typeface="Times New Roman" panose="02020603050405020304" pitchFamily="18" charset="0"/>
              </a:rPr>
              <a:t>F</a:t>
            </a:r>
            <a:endParaRPr lang="en-US" altLang="zh-CN" sz="2400" b="1">
              <a:solidFill>
                <a:schemeClr val="bg1"/>
              </a:solidFill>
              <a:latin typeface="Times New Roman" panose="02020603050405020304" pitchFamily="18" charset="0"/>
            </a:endParaRPr>
          </a:p>
        </p:txBody>
      </p:sp>
      <p:graphicFrame>
        <p:nvGraphicFramePr>
          <p:cNvPr id="103427" name="Object 3">
            <a:extLst>
              <a:ext uri="{FF2B5EF4-FFF2-40B4-BE49-F238E27FC236}">
                <a16:creationId xmlns:a16="http://schemas.microsoft.com/office/drawing/2014/main" id="{C9951C1B-ACE1-05F2-CEBB-47D5E9FC64ED}"/>
              </a:ext>
            </a:extLst>
          </p:cNvPr>
          <p:cNvGraphicFramePr>
            <a:graphicFrameLocks/>
          </p:cNvGraphicFramePr>
          <p:nvPr/>
        </p:nvGraphicFramePr>
        <p:xfrm>
          <a:off x="1146175" y="3641725"/>
          <a:ext cx="2879725" cy="376238"/>
        </p:xfrm>
        <a:graphic>
          <a:graphicData uri="http://schemas.openxmlformats.org/presentationml/2006/ole">
            <mc:AlternateContent xmlns:mc="http://schemas.openxmlformats.org/markup-compatibility/2006">
              <mc:Choice xmlns:v="urn:schemas-microsoft-com:vml" Requires="v">
                <p:oleObj name="Equation" r:id="rId2" imgW="3076512" imgH="295314" progId="Equation.3">
                  <p:embed/>
                </p:oleObj>
              </mc:Choice>
              <mc:Fallback>
                <p:oleObj name="Equation" r:id="rId2" imgW="3076512" imgH="295314"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175" y="3641725"/>
                        <a:ext cx="2879725"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28" name="Object 4">
            <a:extLst>
              <a:ext uri="{FF2B5EF4-FFF2-40B4-BE49-F238E27FC236}">
                <a16:creationId xmlns:a16="http://schemas.microsoft.com/office/drawing/2014/main" id="{5CAB9F6A-C6A7-81CA-EC5C-393281E2DBD6}"/>
              </a:ext>
            </a:extLst>
          </p:cNvPr>
          <p:cNvGraphicFramePr>
            <a:graphicFrameLocks/>
          </p:cNvGraphicFramePr>
          <p:nvPr/>
        </p:nvGraphicFramePr>
        <p:xfrm>
          <a:off x="1128713" y="5010150"/>
          <a:ext cx="2455862" cy="376238"/>
        </p:xfrm>
        <a:graphic>
          <a:graphicData uri="http://schemas.openxmlformats.org/presentationml/2006/ole">
            <mc:AlternateContent xmlns:mc="http://schemas.openxmlformats.org/markup-compatibility/2006">
              <mc:Choice xmlns:v="urn:schemas-microsoft-com:vml" Requires="v">
                <p:oleObj name="Equation" r:id="rId4" imgW="2600377" imgH="295314" progId="Equation.3">
                  <p:embed/>
                </p:oleObj>
              </mc:Choice>
              <mc:Fallback>
                <p:oleObj name="Equation" r:id="rId4" imgW="2600377" imgH="295314"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8713" y="5010150"/>
                        <a:ext cx="24558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29" name="Object 5">
            <a:extLst>
              <a:ext uri="{FF2B5EF4-FFF2-40B4-BE49-F238E27FC236}">
                <a16:creationId xmlns:a16="http://schemas.microsoft.com/office/drawing/2014/main" id="{06CB6070-BF70-FACD-A1FB-FFC91DEDC3AE}"/>
              </a:ext>
            </a:extLst>
          </p:cNvPr>
          <p:cNvGraphicFramePr>
            <a:graphicFrameLocks/>
          </p:cNvGraphicFramePr>
          <p:nvPr/>
        </p:nvGraphicFramePr>
        <p:xfrm>
          <a:off x="2316163" y="5630863"/>
          <a:ext cx="1600200" cy="822325"/>
        </p:xfrm>
        <a:graphic>
          <a:graphicData uri="http://schemas.openxmlformats.org/presentationml/2006/ole">
            <mc:AlternateContent xmlns:mc="http://schemas.openxmlformats.org/markup-compatibility/2006">
              <mc:Choice xmlns:v="urn:schemas-microsoft-com:vml" Requires="v">
                <p:oleObj name="Equation" r:id="rId6" imgW="1647757" imgH="790419" progId="Equation.3">
                  <p:embed/>
                </p:oleObj>
              </mc:Choice>
              <mc:Fallback>
                <p:oleObj name="Equation" r:id="rId6" imgW="1647757" imgH="790419"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6163" y="5630863"/>
                        <a:ext cx="1600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aphicFrame>
        <p:nvGraphicFramePr>
          <p:cNvPr id="103430" name="Object 6">
            <a:extLst>
              <a:ext uri="{FF2B5EF4-FFF2-40B4-BE49-F238E27FC236}">
                <a16:creationId xmlns:a16="http://schemas.microsoft.com/office/drawing/2014/main" id="{9FAF3BFA-FCB0-5D67-8260-D08C98C3CDFC}"/>
              </a:ext>
            </a:extLst>
          </p:cNvPr>
          <p:cNvGraphicFramePr>
            <a:graphicFrameLocks/>
          </p:cNvGraphicFramePr>
          <p:nvPr/>
        </p:nvGraphicFramePr>
        <p:xfrm>
          <a:off x="5040313" y="5630863"/>
          <a:ext cx="2582862" cy="822325"/>
        </p:xfrm>
        <a:graphic>
          <a:graphicData uri="http://schemas.openxmlformats.org/presentationml/2006/ole">
            <mc:AlternateContent xmlns:mc="http://schemas.openxmlformats.org/markup-compatibility/2006">
              <mc:Choice xmlns:v="urn:schemas-microsoft-com:vml" Requires="v">
                <p:oleObj name="Equation" r:id="rId8" imgW="2743113" imgH="790419" progId="Equation.3">
                  <p:embed/>
                </p:oleObj>
              </mc:Choice>
              <mc:Fallback>
                <p:oleObj name="Equation" r:id="rId8" imgW="2743113" imgH="790419" progId="Equation.3">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40313" y="5630863"/>
                        <a:ext cx="25828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pSp>
        <p:nvGrpSpPr>
          <p:cNvPr id="103431" name="Group 7">
            <a:extLst>
              <a:ext uri="{FF2B5EF4-FFF2-40B4-BE49-F238E27FC236}">
                <a16:creationId xmlns:a16="http://schemas.microsoft.com/office/drawing/2014/main" id="{D501FB85-11A9-4F90-ABB9-C9E7E03B5C69}"/>
              </a:ext>
            </a:extLst>
          </p:cNvPr>
          <p:cNvGrpSpPr>
            <a:grpSpLocks/>
          </p:cNvGrpSpPr>
          <p:nvPr/>
        </p:nvGrpSpPr>
        <p:grpSpPr bwMode="auto">
          <a:xfrm>
            <a:off x="5626100" y="2432050"/>
            <a:ext cx="2889250" cy="1609725"/>
            <a:chOff x="3940" y="1488"/>
            <a:chExt cx="1820" cy="1290"/>
          </a:xfrm>
        </p:grpSpPr>
        <p:sp>
          <p:nvSpPr>
            <p:cNvPr id="13326" name="Rectangle 8">
              <a:extLst>
                <a:ext uri="{FF2B5EF4-FFF2-40B4-BE49-F238E27FC236}">
                  <a16:creationId xmlns:a16="http://schemas.microsoft.com/office/drawing/2014/main" id="{429982BF-86ED-ED23-6E7E-6BE1F2A7321B}"/>
                </a:ext>
              </a:extLst>
            </p:cNvPr>
            <p:cNvSpPr>
              <a:spLocks noChangeArrowheads="1"/>
            </p:cNvSpPr>
            <p:nvPr/>
          </p:nvSpPr>
          <p:spPr bwMode="auto">
            <a:xfrm>
              <a:off x="3940" y="2669"/>
              <a:ext cx="1784" cy="16"/>
            </a:xfrm>
            <a:prstGeom prst="rect">
              <a:avLst/>
            </a:prstGeom>
            <a:solidFill>
              <a:schemeClr val="accent2"/>
            </a:solidFill>
            <a:ln w="9525">
              <a:solidFill>
                <a:srgbClr val="CCCC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3327" name="Freeform 9">
              <a:extLst>
                <a:ext uri="{FF2B5EF4-FFF2-40B4-BE49-F238E27FC236}">
                  <a16:creationId xmlns:a16="http://schemas.microsoft.com/office/drawing/2014/main" id="{284E2FF7-D560-38B4-6177-A36961EFD96C}"/>
                </a:ext>
              </a:extLst>
            </p:cNvPr>
            <p:cNvSpPr>
              <a:spLocks/>
            </p:cNvSpPr>
            <p:nvPr/>
          </p:nvSpPr>
          <p:spPr bwMode="auto">
            <a:xfrm>
              <a:off x="4168" y="2674"/>
              <a:ext cx="98" cy="104"/>
            </a:xfrm>
            <a:custGeom>
              <a:avLst/>
              <a:gdLst>
                <a:gd name="T0" fmla="*/ 98 w 98"/>
                <a:gd name="T1" fmla="*/ 93 h 104"/>
                <a:gd name="T2" fmla="*/ 10 w 98"/>
                <a:gd name="T3" fmla="*/ 0 h 104"/>
                <a:gd name="T4" fmla="*/ 0 w 98"/>
                <a:gd name="T5" fmla="*/ 11 h 104"/>
                <a:gd name="T6" fmla="*/ 83 w 98"/>
                <a:gd name="T7" fmla="*/ 104 h 104"/>
                <a:gd name="T8" fmla="*/ 98 w 98"/>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104">
                  <a:moveTo>
                    <a:pt x="98" y="93"/>
                  </a:moveTo>
                  <a:lnTo>
                    <a:pt x="10" y="0"/>
                  </a:lnTo>
                  <a:lnTo>
                    <a:pt x="0" y="11"/>
                  </a:lnTo>
                  <a:lnTo>
                    <a:pt x="83"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13328" name="Freeform 10">
              <a:extLst>
                <a:ext uri="{FF2B5EF4-FFF2-40B4-BE49-F238E27FC236}">
                  <a16:creationId xmlns:a16="http://schemas.microsoft.com/office/drawing/2014/main" id="{F891842C-7718-D1E3-3EC9-87409DB4F5A9}"/>
                </a:ext>
              </a:extLst>
            </p:cNvPr>
            <p:cNvSpPr>
              <a:spLocks/>
            </p:cNvSpPr>
            <p:nvPr/>
          </p:nvSpPr>
          <p:spPr bwMode="auto">
            <a:xfrm>
              <a:off x="4256" y="2674"/>
              <a:ext cx="99" cy="104"/>
            </a:xfrm>
            <a:custGeom>
              <a:avLst/>
              <a:gdLst>
                <a:gd name="T0" fmla="*/ 99 w 99"/>
                <a:gd name="T1" fmla="*/ 93 h 104"/>
                <a:gd name="T2" fmla="*/ 16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6"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29" name="Freeform 11">
              <a:extLst>
                <a:ext uri="{FF2B5EF4-FFF2-40B4-BE49-F238E27FC236}">
                  <a16:creationId xmlns:a16="http://schemas.microsoft.com/office/drawing/2014/main" id="{76F7FB57-6229-5B3A-69F0-A0029F200F2A}"/>
                </a:ext>
              </a:extLst>
            </p:cNvPr>
            <p:cNvSpPr>
              <a:spLocks/>
            </p:cNvSpPr>
            <p:nvPr/>
          </p:nvSpPr>
          <p:spPr bwMode="auto">
            <a:xfrm>
              <a:off x="4349" y="2674"/>
              <a:ext cx="99" cy="104"/>
            </a:xfrm>
            <a:custGeom>
              <a:avLst/>
              <a:gdLst>
                <a:gd name="T0" fmla="*/ 99 w 99"/>
                <a:gd name="T1" fmla="*/ 93 h 104"/>
                <a:gd name="T2" fmla="*/ 11 w 99"/>
                <a:gd name="T3" fmla="*/ 0 h 104"/>
                <a:gd name="T4" fmla="*/ 0 w 99"/>
                <a:gd name="T5" fmla="*/ 11 h 104"/>
                <a:gd name="T6" fmla="*/ 83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1" y="0"/>
                  </a:lnTo>
                  <a:lnTo>
                    <a:pt x="0" y="11"/>
                  </a:lnTo>
                  <a:lnTo>
                    <a:pt x="83"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30" name="Freeform 12">
              <a:extLst>
                <a:ext uri="{FF2B5EF4-FFF2-40B4-BE49-F238E27FC236}">
                  <a16:creationId xmlns:a16="http://schemas.microsoft.com/office/drawing/2014/main" id="{EB1C1117-9947-A948-B142-13AE93BE2497}"/>
                </a:ext>
              </a:extLst>
            </p:cNvPr>
            <p:cNvSpPr>
              <a:spLocks/>
            </p:cNvSpPr>
            <p:nvPr/>
          </p:nvSpPr>
          <p:spPr bwMode="auto">
            <a:xfrm>
              <a:off x="4531" y="2674"/>
              <a:ext cx="98" cy="104"/>
            </a:xfrm>
            <a:custGeom>
              <a:avLst/>
              <a:gdLst>
                <a:gd name="T0" fmla="*/ 98 w 98"/>
                <a:gd name="T1" fmla="*/ 93 h 104"/>
                <a:gd name="T2" fmla="*/ 10 w 98"/>
                <a:gd name="T3" fmla="*/ 0 h 104"/>
                <a:gd name="T4" fmla="*/ 0 w 98"/>
                <a:gd name="T5" fmla="*/ 11 h 104"/>
                <a:gd name="T6" fmla="*/ 83 w 98"/>
                <a:gd name="T7" fmla="*/ 104 h 104"/>
                <a:gd name="T8" fmla="*/ 98 w 98"/>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104">
                  <a:moveTo>
                    <a:pt x="98" y="93"/>
                  </a:moveTo>
                  <a:lnTo>
                    <a:pt x="10" y="0"/>
                  </a:lnTo>
                  <a:lnTo>
                    <a:pt x="0" y="11"/>
                  </a:lnTo>
                  <a:lnTo>
                    <a:pt x="83"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13331" name="Freeform 13">
              <a:extLst>
                <a:ext uri="{FF2B5EF4-FFF2-40B4-BE49-F238E27FC236}">
                  <a16:creationId xmlns:a16="http://schemas.microsoft.com/office/drawing/2014/main" id="{749F90EE-FDB9-AE67-B6C5-57BCFDC5CFAE}"/>
                </a:ext>
              </a:extLst>
            </p:cNvPr>
            <p:cNvSpPr>
              <a:spLocks/>
            </p:cNvSpPr>
            <p:nvPr/>
          </p:nvSpPr>
          <p:spPr bwMode="auto">
            <a:xfrm>
              <a:off x="4619" y="2674"/>
              <a:ext cx="99" cy="104"/>
            </a:xfrm>
            <a:custGeom>
              <a:avLst/>
              <a:gdLst>
                <a:gd name="T0" fmla="*/ 99 w 99"/>
                <a:gd name="T1" fmla="*/ 93 h 104"/>
                <a:gd name="T2" fmla="*/ 16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6"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32" name="Freeform 14">
              <a:extLst>
                <a:ext uri="{FF2B5EF4-FFF2-40B4-BE49-F238E27FC236}">
                  <a16:creationId xmlns:a16="http://schemas.microsoft.com/office/drawing/2014/main" id="{1CC8A83A-03EA-CAFC-873A-19BBC55F9591}"/>
                </a:ext>
              </a:extLst>
            </p:cNvPr>
            <p:cNvSpPr>
              <a:spLocks/>
            </p:cNvSpPr>
            <p:nvPr/>
          </p:nvSpPr>
          <p:spPr bwMode="auto">
            <a:xfrm>
              <a:off x="4437" y="2674"/>
              <a:ext cx="99" cy="104"/>
            </a:xfrm>
            <a:custGeom>
              <a:avLst/>
              <a:gdLst>
                <a:gd name="T0" fmla="*/ 99 w 99"/>
                <a:gd name="T1" fmla="*/ 93 h 104"/>
                <a:gd name="T2" fmla="*/ 16 w 99"/>
                <a:gd name="T3" fmla="*/ 0 h 104"/>
                <a:gd name="T4" fmla="*/ 0 w 99"/>
                <a:gd name="T5" fmla="*/ 11 h 104"/>
                <a:gd name="T6" fmla="*/ 89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6" y="0"/>
                  </a:lnTo>
                  <a:lnTo>
                    <a:pt x="0" y="11"/>
                  </a:lnTo>
                  <a:lnTo>
                    <a:pt x="89"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33" name="Freeform 15">
              <a:extLst>
                <a:ext uri="{FF2B5EF4-FFF2-40B4-BE49-F238E27FC236}">
                  <a16:creationId xmlns:a16="http://schemas.microsoft.com/office/drawing/2014/main" id="{73448D47-C0EA-000A-8F33-1CF51A8B7F92}"/>
                </a:ext>
              </a:extLst>
            </p:cNvPr>
            <p:cNvSpPr>
              <a:spLocks/>
            </p:cNvSpPr>
            <p:nvPr/>
          </p:nvSpPr>
          <p:spPr bwMode="auto">
            <a:xfrm>
              <a:off x="4577" y="2674"/>
              <a:ext cx="94" cy="104"/>
            </a:xfrm>
            <a:custGeom>
              <a:avLst/>
              <a:gdLst>
                <a:gd name="T0" fmla="*/ 94 w 94"/>
                <a:gd name="T1" fmla="*/ 93 h 104"/>
                <a:gd name="T2" fmla="*/ 11 w 94"/>
                <a:gd name="T3" fmla="*/ 0 h 104"/>
                <a:gd name="T4" fmla="*/ 0 w 94"/>
                <a:gd name="T5" fmla="*/ 11 h 104"/>
                <a:gd name="T6" fmla="*/ 83 w 94"/>
                <a:gd name="T7" fmla="*/ 104 h 104"/>
                <a:gd name="T8" fmla="*/ 94 w 94"/>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104">
                  <a:moveTo>
                    <a:pt x="94" y="93"/>
                  </a:moveTo>
                  <a:lnTo>
                    <a:pt x="11" y="0"/>
                  </a:lnTo>
                  <a:lnTo>
                    <a:pt x="0" y="11"/>
                  </a:lnTo>
                  <a:lnTo>
                    <a:pt x="83" y="104"/>
                  </a:lnTo>
                  <a:lnTo>
                    <a:pt x="94" y="93"/>
                  </a:lnTo>
                  <a:close/>
                </a:path>
              </a:pathLst>
            </a:custGeom>
            <a:solidFill>
              <a:schemeClr val="accent2"/>
            </a:solidFill>
            <a:ln w="9525">
              <a:solidFill>
                <a:srgbClr val="CCCC00"/>
              </a:solidFill>
              <a:round/>
              <a:headEnd/>
              <a:tailEnd/>
            </a:ln>
          </p:spPr>
          <p:txBody>
            <a:bodyPr/>
            <a:lstStyle/>
            <a:p>
              <a:endParaRPr lang="zh-CN" altLang="en-US"/>
            </a:p>
          </p:txBody>
        </p:sp>
        <p:sp>
          <p:nvSpPr>
            <p:cNvPr id="13334" name="Freeform 16">
              <a:extLst>
                <a:ext uri="{FF2B5EF4-FFF2-40B4-BE49-F238E27FC236}">
                  <a16:creationId xmlns:a16="http://schemas.microsoft.com/office/drawing/2014/main" id="{57EBBE3F-EB92-63D7-A995-705CBBC7C9EF}"/>
                </a:ext>
              </a:extLst>
            </p:cNvPr>
            <p:cNvSpPr>
              <a:spLocks/>
            </p:cNvSpPr>
            <p:nvPr/>
          </p:nvSpPr>
          <p:spPr bwMode="auto">
            <a:xfrm>
              <a:off x="4666" y="2674"/>
              <a:ext cx="98" cy="104"/>
            </a:xfrm>
            <a:custGeom>
              <a:avLst/>
              <a:gdLst>
                <a:gd name="T0" fmla="*/ 98 w 98"/>
                <a:gd name="T1" fmla="*/ 93 h 104"/>
                <a:gd name="T2" fmla="*/ 10 w 98"/>
                <a:gd name="T3" fmla="*/ 0 h 104"/>
                <a:gd name="T4" fmla="*/ 0 w 98"/>
                <a:gd name="T5" fmla="*/ 11 h 104"/>
                <a:gd name="T6" fmla="*/ 88 w 98"/>
                <a:gd name="T7" fmla="*/ 104 h 104"/>
                <a:gd name="T8" fmla="*/ 98 w 98"/>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104">
                  <a:moveTo>
                    <a:pt x="98" y="93"/>
                  </a:moveTo>
                  <a:lnTo>
                    <a:pt x="10" y="0"/>
                  </a:lnTo>
                  <a:lnTo>
                    <a:pt x="0" y="11"/>
                  </a:lnTo>
                  <a:lnTo>
                    <a:pt x="88"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13335" name="Freeform 17">
              <a:extLst>
                <a:ext uri="{FF2B5EF4-FFF2-40B4-BE49-F238E27FC236}">
                  <a16:creationId xmlns:a16="http://schemas.microsoft.com/office/drawing/2014/main" id="{F8A5859B-8562-3C79-A4A4-10617C624BE3}"/>
                </a:ext>
              </a:extLst>
            </p:cNvPr>
            <p:cNvSpPr>
              <a:spLocks/>
            </p:cNvSpPr>
            <p:nvPr/>
          </p:nvSpPr>
          <p:spPr bwMode="auto">
            <a:xfrm>
              <a:off x="4712" y="2674"/>
              <a:ext cx="99" cy="104"/>
            </a:xfrm>
            <a:custGeom>
              <a:avLst/>
              <a:gdLst>
                <a:gd name="T0" fmla="*/ 99 w 99"/>
                <a:gd name="T1" fmla="*/ 93 h 104"/>
                <a:gd name="T2" fmla="*/ 11 w 99"/>
                <a:gd name="T3" fmla="*/ 0 h 104"/>
                <a:gd name="T4" fmla="*/ 0 w 99"/>
                <a:gd name="T5" fmla="*/ 11 h 104"/>
                <a:gd name="T6" fmla="*/ 83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1" y="0"/>
                  </a:lnTo>
                  <a:lnTo>
                    <a:pt x="0" y="11"/>
                  </a:lnTo>
                  <a:lnTo>
                    <a:pt x="83"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36" name="Freeform 18">
              <a:extLst>
                <a:ext uri="{FF2B5EF4-FFF2-40B4-BE49-F238E27FC236}">
                  <a16:creationId xmlns:a16="http://schemas.microsoft.com/office/drawing/2014/main" id="{192DC2EF-7053-055D-CC08-F79AD053F76C}"/>
                </a:ext>
              </a:extLst>
            </p:cNvPr>
            <p:cNvSpPr>
              <a:spLocks/>
            </p:cNvSpPr>
            <p:nvPr/>
          </p:nvSpPr>
          <p:spPr bwMode="auto">
            <a:xfrm>
              <a:off x="4759" y="2674"/>
              <a:ext cx="93" cy="104"/>
            </a:xfrm>
            <a:custGeom>
              <a:avLst/>
              <a:gdLst>
                <a:gd name="T0" fmla="*/ 93 w 93"/>
                <a:gd name="T1" fmla="*/ 93 h 104"/>
                <a:gd name="T2" fmla="*/ 10 w 93"/>
                <a:gd name="T3" fmla="*/ 0 h 104"/>
                <a:gd name="T4" fmla="*/ 0 w 93"/>
                <a:gd name="T5" fmla="*/ 11 h 104"/>
                <a:gd name="T6" fmla="*/ 83 w 93"/>
                <a:gd name="T7" fmla="*/ 104 h 104"/>
                <a:gd name="T8" fmla="*/ 93 w 93"/>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 h="104">
                  <a:moveTo>
                    <a:pt x="93" y="93"/>
                  </a:moveTo>
                  <a:lnTo>
                    <a:pt x="10" y="0"/>
                  </a:lnTo>
                  <a:lnTo>
                    <a:pt x="0" y="11"/>
                  </a:lnTo>
                  <a:lnTo>
                    <a:pt x="83" y="104"/>
                  </a:lnTo>
                  <a:lnTo>
                    <a:pt x="93" y="93"/>
                  </a:lnTo>
                  <a:close/>
                </a:path>
              </a:pathLst>
            </a:custGeom>
            <a:solidFill>
              <a:schemeClr val="accent2"/>
            </a:solidFill>
            <a:ln w="9525">
              <a:solidFill>
                <a:srgbClr val="CCCC00"/>
              </a:solidFill>
              <a:round/>
              <a:headEnd/>
              <a:tailEnd/>
            </a:ln>
          </p:spPr>
          <p:txBody>
            <a:bodyPr/>
            <a:lstStyle/>
            <a:p>
              <a:endParaRPr lang="zh-CN" altLang="en-US"/>
            </a:p>
          </p:txBody>
        </p:sp>
        <p:sp>
          <p:nvSpPr>
            <p:cNvPr id="13337" name="Freeform 19">
              <a:extLst>
                <a:ext uri="{FF2B5EF4-FFF2-40B4-BE49-F238E27FC236}">
                  <a16:creationId xmlns:a16="http://schemas.microsoft.com/office/drawing/2014/main" id="{94F517A8-2604-D4B5-3F9F-B1E671508A11}"/>
                </a:ext>
              </a:extLst>
            </p:cNvPr>
            <p:cNvSpPr>
              <a:spLocks/>
            </p:cNvSpPr>
            <p:nvPr/>
          </p:nvSpPr>
          <p:spPr bwMode="auto">
            <a:xfrm>
              <a:off x="4215" y="2674"/>
              <a:ext cx="93" cy="104"/>
            </a:xfrm>
            <a:custGeom>
              <a:avLst/>
              <a:gdLst>
                <a:gd name="T0" fmla="*/ 93 w 93"/>
                <a:gd name="T1" fmla="*/ 93 h 104"/>
                <a:gd name="T2" fmla="*/ 10 w 93"/>
                <a:gd name="T3" fmla="*/ 0 h 104"/>
                <a:gd name="T4" fmla="*/ 0 w 93"/>
                <a:gd name="T5" fmla="*/ 11 h 104"/>
                <a:gd name="T6" fmla="*/ 82 w 93"/>
                <a:gd name="T7" fmla="*/ 104 h 104"/>
                <a:gd name="T8" fmla="*/ 93 w 93"/>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 h="104">
                  <a:moveTo>
                    <a:pt x="93" y="93"/>
                  </a:moveTo>
                  <a:lnTo>
                    <a:pt x="10" y="0"/>
                  </a:lnTo>
                  <a:lnTo>
                    <a:pt x="0" y="11"/>
                  </a:lnTo>
                  <a:lnTo>
                    <a:pt x="82" y="104"/>
                  </a:lnTo>
                  <a:lnTo>
                    <a:pt x="93" y="93"/>
                  </a:lnTo>
                  <a:close/>
                </a:path>
              </a:pathLst>
            </a:custGeom>
            <a:solidFill>
              <a:schemeClr val="accent2"/>
            </a:solidFill>
            <a:ln w="9525">
              <a:solidFill>
                <a:srgbClr val="CCCC00"/>
              </a:solidFill>
              <a:round/>
              <a:headEnd/>
              <a:tailEnd/>
            </a:ln>
          </p:spPr>
          <p:txBody>
            <a:bodyPr/>
            <a:lstStyle/>
            <a:p>
              <a:endParaRPr lang="zh-CN" altLang="en-US"/>
            </a:p>
          </p:txBody>
        </p:sp>
        <p:sp>
          <p:nvSpPr>
            <p:cNvPr id="13338" name="Freeform 20">
              <a:extLst>
                <a:ext uri="{FF2B5EF4-FFF2-40B4-BE49-F238E27FC236}">
                  <a16:creationId xmlns:a16="http://schemas.microsoft.com/office/drawing/2014/main" id="{6371D069-6CFB-8DF7-BD49-1391D633AE99}"/>
                </a:ext>
              </a:extLst>
            </p:cNvPr>
            <p:cNvSpPr>
              <a:spLocks/>
            </p:cNvSpPr>
            <p:nvPr/>
          </p:nvSpPr>
          <p:spPr bwMode="auto">
            <a:xfrm>
              <a:off x="4303" y="2674"/>
              <a:ext cx="98" cy="104"/>
            </a:xfrm>
            <a:custGeom>
              <a:avLst/>
              <a:gdLst>
                <a:gd name="T0" fmla="*/ 98 w 98"/>
                <a:gd name="T1" fmla="*/ 93 h 104"/>
                <a:gd name="T2" fmla="*/ 10 w 98"/>
                <a:gd name="T3" fmla="*/ 0 h 104"/>
                <a:gd name="T4" fmla="*/ 0 w 98"/>
                <a:gd name="T5" fmla="*/ 11 h 104"/>
                <a:gd name="T6" fmla="*/ 88 w 98"/>
                <a:gd name="T7" fmla="*/ 104 h 104"/>
                <a:gd name="T8" fmla="*/ 98 w 98"/>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104">
                  <a:moveTo>
                    <a:pt x="98" y="93"/>
                  </a:moveTo>
                  <a:lnTo>
                    <a:pt x="10" y="0"/>
                  </a:lnTo>
                  <a:lnTo>
                    <a:pt x="0" y="11"/>
                  </a:lnTo>
                  <a:lnTo>
                    <a:pt x="88"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13339" name="Freeform 21">
              <a:extLst>
                <a:ext uri="{FF2B5EF4-FFF2-40B4-BE49-F238E27FC236}">
                  <a16:creationId xmlns:a16="http://schemas.microsoft.com/office/drawing/2014/main" id="{23DF3102-A494-F79D-3286-5C7CF176EBE8}"/>
                </a:ext>
              </a:extLst>
            </p:cNvPr>
            <p:cNvSpPr>
              <a:spLocks/>
            </p:cNvSpPr>
            <p:nvPr/>
          </p:nvSpPr>
          <p:spPr bwMode="auto">
            <a:xfrm>
              <a:off x="4484" y="2674"/>
              <a:ext cx="99" cy="104"/>
            </a:xfrm>
            <a:custGeom>
              <a:avLst/>
              <a:gdLst>
                <a:gd name="T0" fmla="*/ 99 w 99"/>
                <a:gd name="T1" fmla="*/ 93 h 104"/>
                <a:gd name="T2" fmla="*/ 11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1"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40" name="Freeform 22">
              <a:extLst>
                <a:ext uri="{FF2B5EF4-FFF2-40B4-BE49-F238E27FC236}">
                  <a16:creationId xmlns:a16="http://schemas.microsoft.com/office/drawing/2014/main" id="{A8E8077B-3D4C-0400-1B89-72683FBFF8D4}"/>
                </a:ext>
              </a:extLst>
            </p:cNvPr>
            <p:cNvSpPr>
              <a:spLocks/>
            </p:cNvSpPr>
            <p:nvPr/>
          </p:nvSpPr>
          <p:spPr bwMode="auto">
            <a:xfrm>
              <a:off x="4396" y="2674"/>
              <a:ext cx="93" cy="104"/>
            </a:xfrm>
            <a:custGeom>
              <a:avLst/>
              <a:gdLst>
                <a:gd name="T0" fmla="*/ 93 w 93"/>
                <a:gd name="T1" fmla="*/ 93 h 104"/>
                <a:gd name="T2" fmla="*/ 10 w 93"/>
                <a:gd name="T3" fmla="*/ 0 h 104"/>
                <a:gd name="T4" fmla="*/ 0 w 93"/>
                <a:gd name="T5" fmla="*/ 11 h 104"/>
                <a:gd name="T6" fmla="*/ 83 w 93"/>
                <a:gd name="T7" fmla="*/ 104 h 104"/>
                <a:gd name="T8" fmla="*/ 93 w 93"/>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 h="104">
                  <a:moveTo>
                    <a:pt x="93" y="93"/>
                  </a:moveTo>
                  <a:lnTo>
                    <a:pt x="10" y="0"/>
                  </a:lnTo>
                  <a:lnTo>
                    <a:pt x="0" y="11"/>
                  </a:lnTo>
                  <a:lnTo>
                    <a:pt x="83" y="104"/>
                  </a:lnTo>
                  <a:lnTo>
                    <a:pt x="93" y="93"/>
                  </a:lnTo>
                  <a:close/>
                </a:path>
              </a:pathLst>
            </a:custGeom>
            <a:solidFill>
              <a:schemeClr val="accent2"/>
            </a:solidFill>
            <a:ln w="9525">
              <a:solidFill>
                <a:srgbClr val="CCCC00"/>
              </a:solidFill>
              <a:round/>
              <a:headEnd/>
              <a:tailEnd/>
            </a:ln>
          </p:spPr>
          <p:txBody>
            <a:bodyPr/>
            <a:lstStyle/>
            <a:p>
              <a:endParaRPr lang="zh-CN" altLang="en-US"/>
            </a:p>
          </p:txBody>
        </p:sp>
        <p:sp>
          <p:nvSpPr>
            <p:cNvPr id="13341" name="Freeform 23">
              <a:extLst>
                <a:ext uri="{FF2B5EF4-FFF2-40B4-BE49-F238E27FC236}">
                  <a16:creationId xmlns:a16="http://schemas.microsoft.com/office/drawing/2014/main" id="{04BF2BE4-C147-F26A-1ADF-67CDABF8D522}"/>
                </a:ext>
              </a:extLst>
            </p:cNvPr>
            <p:cNvSpPr>
              <a:spLocks/>
            </p:cNvSpPr>
            <p:nvPr/>
          </p:nvSpPr>
          <p:spPr bwMode="auto">
            <a:xfrm>
              <a:off x="3940" y="2674"/>
              <a:ext cx="98" cy="104"/>
            </a:xfrm>
            <a:custGeom>
              <a:avLst/>
              <a:gdLst>
                <a:gd name="T0" fmla="*/ 98 w 98"/>
                <a:gd name="T1" fmla="*/ 93 h 104"/>
                <a:gd name="T2" fmla="*/ 15 w 98"/>
                <a:gd name="T3" fmla="*/ 0 h 104"/>
                <a:gd name="T4" fmla="*/ 0 w 98"/>
                <a:gd name="T5" fmla="*/ 11 h 104"/>
                <a:gd name="T6" fmla="*/ 88 w 98"/>
                <a:gd name="T7" fmla="*/ 104 h 104"/>
                <a:gd name="T8" fmla="*/ 98 w 98"/>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104">
                  <a:moveTo>
                    <a:pt x="98" y="93"/>
                  </a:moveTo>
                  <a:lnTo>
                    <a:pt x="15" y="0"/>
                  </a:lnTo>
                  <a:lnTo>
                    <a:pt x="0" y="11"/>
                  </a:lnTo>
                  <a:lnTo>
                    <a:pt x="88" y="104"/>
                  </a:lnTo>
                  <a:lnTo>
                    <a:pt x="98" y="93"/>
                  </a:lnTo>
                  <a:close/>
                </a:path>
              </a:pathLst>
            </a:custGeom>
            <a:solidFill>
              <a:schemeClr val="accent2"/>
            </a:solidFill>
            <a:ln w="9525">
              <a:solidFill>
                <a:srgbClr val="CCCC00"/>
              </a:solidFill>
              <a:round/>
              <a:headEnd/>
              <a:tailEnd/>
            </a:ln>
          </p:spPr>
          <p:txBody>
            <a:bodyPr/>
            <a:lstStyle/>
            <a:p>
              <a:endParaRPr lang="zh-CN" altLang="en-US"/>
            </a:p>
          </p:txBody>
        </p:sp>
        <p:sp>
          <p:nvSpPr>
            <p:cNvPr id="13342" name="Freeform 24">
              <a:extLst>
                <a:ext uri="{FF2B5EF4-FFF2-40B4-BE49-F238E27FC236}">
                  <a16:creationId xmlns:a16="http://schemas.microsoft.com/office/drawing/2014/main" id="{BB87672B-A386-C71D-3BF7-53DC757400EB}"/>
                </a:ext>
              </a:extLst>
            </p:cNvPr>
            <p:cNvSpPr>
              <a:spLocks/>
            </p:cNvSpPr>
            <p:nvPr/>
          </p:nvSpPr>
          <p:spPr bwMode="auto">
            <a:xfrm>
              <a:off x="3986" y="2674"/>
              <a:ext cx="99" cy="104"/>
            </a:xfrm>
            <a:custGeom>
              <a:avLst/>
              <a:gdLst>
                <a:gd name="T0" fmla="*/ 99 w 99"/>
                <a:gd name="T1" fmla="*/ 93 h 104"/>
                <a:gd name="T2" fmla="*/ 11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1"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43" name="Freeform 25">
              <a:extLst>
                <a:ext uri="{FF2B5EF4-FFF2-40B4-BE49-F238E27FC236}">
                  <a16:creationId xmlns:a16="http://schemas.microsoft.com/office/drawing/2014/main" id="{2DE369C8-1527-1ADF-00DA-536E7FE04141}"/>
                </a:ext>
              </a:extLst>
            </p:cNvPr>
            <p:cNvSpPr>
              <a:spLocks/>
            </p:cNvSpPr>
            <p:nvPr/>
          </p:nvSpPr>
          <p:spPr bwMode="auto">
            <a:xfrm>
              <a:off x="4033" y="2674"/>
              <a:ext cx="99" cy="104"/>
            </a:xfrm>
            <a:custGeom>
              <a:avLst/>
              <a:gdLst>
                <a:gd name="T0" fmla="*/ 99 w 99"/>
                <a:gd name="T1" fmla="*/ 93 h 104"/>
                <a:gd name="T2" fmla="*/ 10 w 99"/>
                <a:gd name="T3" fmla="*/ 0 h 104"/>
                <a:gd name="T4" fmla="*/ 0 w 99"/>
                <a:gd name="T5" fmla="*/ 11 h 104"/>
                <a:gd name="T6" fmla="*/ 83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0" y="0"/>
                  </a:lnTo>
                  <a:lnTo>
                    <a:pt x="0" y="11"/>
                  </a:lnTo>
                  <a:lnTo>
                    <a:pt x="83"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44" name="Freeform 26">
              <a:extLst>
                <a:ext uri="{FF2B5EF4-FFF2-40B4-BE49-F238E27FC236}">
                  <a16:creationId xmlns:a16="http://schemas.microsoft.com/office/drawing/2014/main" id="{59C2EC6F-0D01-C4DE-87E2-6DAE2E312BE6}"/>
                </a:ext>
              </a:extLst>
            </p:cNvPr>
            <p:cNvSpPr>
              <a:spLocks/>
            </p:cNvSpPr>
            <p:nvPr/>
          </p:nvSpPr>
          <p:spPr bwMode="auto">
            <a:xfrm>
              <a:off x="4080" y="2674"/>
              <a:ext cx="93" cy="104"/>
            </a:xfrm>
            <a:custGeom>
              <a:avLst/>
              <a:gdLst>
                <a:gd name="T0" fmla="*/ 93 w 93"/>
                <a:gd name="T1" fmla="*/ 93 h 104"/>
                <a:gd name="T2" fmla="*/ 10 w 93"/>
                <a:gd name="T3" fmla="*/ 0 h 104"/>
                <a:gd name="T4" fmla="*/ 0 w 93"/>
                <a:gd name="T5" fmla="*/ 11 h 104"/>
                <a:gd name="T6" fmla="*/ 83 w 93"/>
                <a:gd name="T7" fmla="*/ 104 h 104"/>
                <a:gd name="T8" fmla="*/ 93 w 93"/>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 h="104">
                  <a:moveTo>
                    <a:pt x="93" y="93"/>
                  </a:moveTo>
                  <a:lnTo>
                    <a:pt x="10" y="0"/>
                  </a:lnTo>
                  <a:lnTo>
                    <a:pt x="0" y="11"/>
                  </a:lnTo>
                  <a:lnTo>
                    <a:pt x="83" y="104"/>
                  </a:lnTo>
                  <a:lnTo>
                    <a:pt x="93" y="93"/>
                  </a:lnTo>
                  <a:close/>
                </a:path>
              </a:pathLst>
            </a:custGeom>
            <a:solidFill>
              <a:schemeClr val="accent2"/>
            </a:solidFill>
            <a:ln w="9525">
              <a:solidFill>
                <a:srgbClr val="CCCC00"/>
              </a:solidFill>
              <a:round/>
              <a:headEnd/>
              <a:tailEnd/>
            </a:ln>
          </p:spPr>
          <p:txBody>
            <a:bodyPr/>
            <a:lstStyle/>
            <a:p>
              <a:endParaRPr lang="zh-CN" altLang="en-US"/>
            </a:p>
          </p:txBody>
        </p:sp>
        <p:sp>
          <p:nvSpPr>
            <p:cNvPr id="13345" name="Freeform 27">
              <a:extLst>
                <a:ext uri="{FF2B5EF4-FFF2-40B4-BE49-F238E27FC236}">
                  <a16:creationId xmlns:a16="http://schemas.microsoft.com/office/drawing/2014/main" id="{204DFA51-2EE1-83E6-BBDB-5591AC2C716A}"/>
                </a:ext>
              </a:extLst>
            </p:cNvPr>
            <p:cNvSpPr>
              <a:spLocks/>
            </p:cNvSpPr>
            <p:nvPr/>
          </p:nvSpPr>
          <p:spPr bwMode="auto">
            <a:xfrm>
              <a:off x="4121" y="2674"/>
              <a:ext cx="99" cy="104"/>
            </a:xfrm>
            <a:custGeom>
              <a:avLst/>
              <a:gdLst>
                <a:gd name="T0" fmla="*/ 99 w 99"/>
                <a:gd name="T1" fmla="*/ 93 h 104"/>
                <a:gd name="T2" fmla="*/ 11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1"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46" name="Freeform 28">
              <a:extLst>
                <a:ext uri="{FF2B5EF4-FFF2-40B4-BE49-F238E27FC236}">
                  <a16:creationId xmlns:a16="http://schemas.microsoft.com/office/drawing/2014/main" id="{BA139557-4610-F77E-FAA9-470160558364}"/>
                </a:ext>
              </a:extLst>
            </p:cNvPr>
            <p:cNvSpPr>
              <a:spLocks/>
            </p:cNvSpPr>
            <p:nvPr/>
          </p:nvSpPr>
          <p:spPr bwMode="auto">
            <a:xfrm>
              <a:off x="5661" y="2674"/>
              <a:ext cx="99" cy="104"/>
            </a:xfrm>
            <a:custGeom>
              <a:avLst/>
              <a:gdLst>
                <a:gd name="T0" fmla="*/ 99 w 99"/>
                <a:gd name="T1" fmla="*/ 93 h 104"/>
                <a:gd name="T2" fmla="*/ 16 w 99"/>
                <a:gd name="T3" fmla="*/ 0 h 104"/>
                <a:gd name="T4" fmla="*/ 0 w 99"/>
                <a:gd name="T5" fmla="*/ 11 h 104"/>
                <a:gd name="T6" fmla="*/ 88 w 99"/>
                <a:gd name="T7" fmla="*/ 104 h 104"/>
                <a:gd name="T8" fmla="*/ 99 w 99"/>
                <a:gd name="T9" fmla="*/ 93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4">
                  <a:moveTo>
                    <a:pt x="99" y="93"/>
                  </a:moveTo>
                  <a:lnTo>
                    <a:pt x="16" y="0"/>
                  </a:lnTo>
                  <a:lnTo>
                    <a:pt x="0" y="11"/>
                  </a:lnTo>
                  <a:lnTo>
                    <a:pt x="88" y="104"/>
                  </a:lnTo>
                  <a:lnTo>
                    <a:pt x="99" y="93"/>
                  </a:lnTo>
                  <a:close/>
                </a:path>
              </a:pathLst>
            </a:custGeom>
            <a:solidFill>
              <a:schemeClr val="accent2"/>
            </a:solidFill>
            <a:ln w="9525">
              <a:solidFill>
                <a:srgbClr val="CCCC00"/>
              </a:solidFill>
              <a:round/>
              <a:headEnd/>
              <a:tailEnd/>
            </a:ln>
          </p:spPr>
          <p:txBody>
            <a:bodyPr/>
            <a:lstStyle/>
            <a:p>
              <a:endParaRPr lang="zh-CN" altLang="en-US"/>
            </a:p>
          </p:txBody>
        </p:sp>
        <p:sp>
          <p:nvSpPr>
            <p:cNvPr id="13347" name="Freeform 29">
              <a:extLst>
                <a:ext uri="{FF2B5EF4-FFF2-40B4-BE49-F238E27FC236}">
                  <a16:creationId xmlns:a16="http://schemas.microsoft.com/office/drawing/2014/main" id="{8031E156-2F93-C50C-DD82-E00BCD9AA8E2}"/>
                </a:ext>
              </a:extLst>
            </p:cNvPr>
            <p:cNvSpPr>
              <a:spLocks/>
            </p:cNvSpPr>
            <p:nvPr/>
          </p:nvSpPr>
          <p:spPr bwMode="auto">
            <a:xfrm>
              <a:off x="4805" y="1968"/>
              <a:ext cx="280" cy="83"/>
            </a:xfrm>
            <a:custGeom>
              <a:avLst/>
              <a:gdLst>
                <a:gd name="T0" fmla="*/ 151 w 280"/>
                <a:gd name="T1" fmla="*/ 0 h 83"/>
                <a:gd name="T2" fmla="*/ 0 w 280"/>
                <a:gd name="T3" fmla="*/ 0 h 83"/>
                <a:gd name="T4" fmla="*/ 0 w 280"/>
                <a:gd name="T5" fmla="*/ 83 h 83"/>
                <a:gd name="T6" fmla="*/ 151 w 280"/>
                <a:gd name="T7" fmla="*/ 83 h 83"/>
                <a:gd name="T8" fmla="*/ 203 w 280"/>
                <a:gd name="T9" fmla="*/ 77 h 83"/>
                <a:gd name="T10" fmla="*/ 244 w 280"/>
                <a:gd name="T11" fmla="*/ 72 h 83"/>
                <a:gd name="T12" fmla="*/ 270 w 280"/>
                <a:gd name="T13" fmla="*/ 57 h 83"/>
                <a:gd name="T14" fmla="*/ 280 w 280"/>
                <a:gd name="T15" fmla="*/ 51 h 83"/>
                <a:gd name="T16" fmla="*/ 280 w 280"/>
                <a:gd name="T17" fmla="*/ 41 h 83"/>
                <a:gd name="T18" fmla="*/ 280 w 280"/>
                <a:gd name="T19" fmla="*/ 36 h 83"/>
                <a:gd name="T20" fmla="*/ 270 w 280"/>
                <a:gd name="T21" fmla="*/ 26 h 83"/>
                <a:gd name="T22" fmla="*/ 244 w 280"/>
                <a:gd name="T23" fmla="*/ 15 h 83"/>
                <a:gd name="T24" fmla="*/ 203 w 280"/>
                <a:gd name="T25" fmla="*/ 5 h 83"/>
                <a:gd name="T26" fmla="*/ 151 w 280"/>
                <a:gd name="T27" fmla="*/ 0 h 83"/>
                <a:gd name="T28" fmla="*/ 151 w 280"/>
                <a:gd name="T29" fmla="*/ 0 h 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80" h="83">
                  <a:moveTo>
                    <a:pt x="151" y="0"/>
                  </a:moveTo>
                  <a:lnTo>
                    <a:pt x="0" y="0"/>
                  </a:lnTo>
                  <a:lnTo>
                    <a:pt x="0" y="83"/>
                  </a:lnTo>
                  <a:lnTo>
                    <a:pt x="151" y="83"/>
                  </a:lnTo>
                  <a:lnTo>
                    <a:pt x="203" y="77"/>
                  </a:lnTo>
                  <a:lnTo>
                    <a:pt x="244" y="72"/>
                  </a:lnTo>
                  <a:lnTo>
                    <a:pt x="270" y="57"/>
                  </a:lnTo>
                  <a:lnTo>
                    <a:pt x="280" y="51"/>
                  </a:lnTo>
                  <a:lnTo>
                    <a:pt x="280" y="41"/>
                  </a:lnTo>
                  <a:lnTo>
                    <a:pt x="280" y="36"/>
                  </a:lnTo>
                  <a:lnTo>
                    <a:pt x="270" y="26"/>
                  </a:lnTo>
                  <a:lnTo>
                    <a:pt x="244" y="15"/>
                  </a:lnTo>
                  <a:lnTo>
                    <a:pt x="203" y="5"/>
                  </a:lnTo>
                  <a:lnTo>
                    <a:pt x="151"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8" name="Freeform 30">
              <a:extLst>
                <a:ext uri="{FF2B5EF4-FFF2-40B4-BE49-F238E27FC236}">
                  <a16:creationId xmlns:a16="http://schemas.microsoft.com/office/drawing/2014/main" id="{1C8B67F5-0186-14BD-D7CD-2AAA977BA75C}"/>
                </a:ext>
              </a:extLst>
            </p:cNvPr>
            <p:cNvSpPr>
              <a:spLocks/>
            </p:cNvSpPr>
            <p:nvPr/>
          </p:nvSpPr>
          <p:spPr bwMode="auto">
            <a:xfrm>
              <a:off x="4054" y="1996"/>
              <a:ext cx="1" cy="10"/>
            </a:xfrm>
            <a:custGeom>
              <a:avLst/>
              <a:gdLst>
                <a:gd name="T0" fmla="*/ 0 w 1"/>
                <a:gd name="T1" fmla="*/ 10 h 10"/>
                <a:gd name="T2" fmla="*/ 0 w 1"/>
                <a:gd name="T3" fmla="*/ 10 h 10"/>
                <a:gd name="T4" fmla="*/ 0 w 1"/>
                <a:gd name="T5" fmla="*/ 0 h 10"/>
                <a:gd name="T6" fmla="*/ 0 w 1"/>
                <a:gd name="T7" fmla="*/ 10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10">
                  <a:moveTo>
                    <a:pt x="0" y="10"/>
                  </a:moveTo>
                  <a:lnTo>
                    <a:pt x="0" y="10"/>
                  </a:lnTo>
                  <a:lnTo>
                    <a:pt x="0" y="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9" name="Freeform 31">
              <a:extLst>
                <a:ext uri="{FF2B5EF4-FFF2-40B4-BE49-F238E27FC236}">
                  <a16:creationId xmlns:a16="http://schemas.microsoft.com/office/drawing/2014/main" id="{45005EA8-F157-A414-488E-0E798554F46A}"/>
                </a:ext>
              </a:extLst>
            </p:cNvPr>
            <p:cNvSpPr>
              <a:spLocks/>
            </p:cNvSpPr>
            <p:nvPr/>
          </p:nvSpPr>
          <p:spPr bwMode="auto">
            <a:xfrm>
              <a:off x="4047" y="1498"/>
              <a:ext cx="291" cy="1181"/>
            </a:xfrm>
            <a:custGeom>
              <a:avLst/>
              <a:gdLst>
                <a:gd name="T0" fmla="*/ 0 w 291"/>
                <a:gd name="T1" fmla="*/ 1181 h 1181"/>
                <a:gd name="T2" fmla="*/ 0 w 291"/>
                <a:gd name="T3" fmla="*/ 0 h 1181"/>
                <a:gd name="T4" fmla="*/ 291 w 291"/>
                <a:gd name="T5" fmla="*/ 0 h 1181"/>
                <a:gd name="T6" fmla="*/ 291 w 291"/>
                <a:gd name="T7" fmla="*/ 1181 h 1181"/>
                <a:gd name="T8" fmla="*/ 0 w 291"/>
                <a:gd name="T9" fmla="*/ 1181 h 1181"/>
                <a:gd name="T10" fmla="*/ 0 w 291"/>
                <a:gd name="T11" fmla="*/ 1181 h 11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1" h="1181">
                  <a:moveTo>
                    <a:pt x="0" y="1181"/>
                  </a:moveTo>
                  <a:lnTo>
                    <a:pt x="0" y="0"/>
                  </a:lnTo>
                  <a:lnTo>
                    <a:pt x="291" y="0"/>
                  </a:lnTo>
                  <a:lnTo>
                    <a:pt x="291" y="1181"/>
                  </a:lnTo>
                  <a:lnTo>
                    <a:pt x="0" y="1181"/>
                  </a:lnTo>
                  <a:close/>
                </a:path>
              </a:pathLst>
            </a:custGeom>
            <a:solidFill>
              <a:schemeClr val="accent1"/>
            </a:solidFill>
            <a:ln w="9525">
              <a:solidFill>
                <a:schemeClr val="accent1"/>
              </a:solidFill>
              <a:round/>
              <a:headEnd/>
              <a:tailEnd/>
            </a:ln>
          </p:spPr>
          <p:txBody>
            <a:bodyPr/>
            <a:lstStyle/>
            <a:p>
              <a:endParaRPr lang="zh-CN" altLang="en-US"/>
            </a:p>
          </p:txBody>
        </p:sp>
        <p:sp>
          <p:nvSpPr>
            <p:cNvPr id="13350" name="Rectangle 32">
              <a:extLst>
                <a:ext uri="{FF2B5EF4-FFF2-40B4-BE49-F238E27FC236}">
                  <a16:creationId xmlns:a16="http://schemas.microsoft.com/office/drawing/2014/main" id="{762FFBB4-5D00-7021-8B0B-B225EDB5512C}"/>
                </a:ext>
              </a:extLst>
            </p:cNvPr>
            <p:cNvSpPr>
              <a:spLocks noChangeArrowheads="1"/>
            </p:cNvSpPr>
            <p:nvPr/>
          </p:nvSpPr>
          <p:spPr bwMode="auto">
            <a:xfrm>
              <a:off x="4037" y="1498"/>
              <a:ext cx="16" cy="118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3351" name="Freeform 33">
              <a:extLst>
                <a:ext uri="{FF2B5EF4-FFF2-40B4-BE49-F238E27FC236}">
                  <a16:creationId xmlns:a16="http://schemas.microsoft.com/office/drawing/2014/main" id="{1BB4E237-EFC6-35DF-CF7F-12EA9E3AB64E}"/>
                </a:ext>
              </a:extLst>
            </p:cNvPr>
            <p:cNvSpPr>
              <a:spLocks noEditPoints="1"/>
            </p:cNvSpPr>
            <p:nvPr/>
          </p:nvSpPr>
          <p:spPr bwMode="auto">
            <a:xfrm>
              <a:off x="4037" y="1488"/>
              <a:ext cx="301" cy="16"/>
            </a:xfrm>
            <a:custGeom>
              <a:avLst/>
              <a:gdLst>
                <a:gd name="T0" fmla="*/ 10 w 301"/>
                <a:gd name="T1" fmla="*/ 16 h 16"/>
                <a:gd name="T2" fmla="*/ 301 w 301"/>
                <a:gd name="T3" fmla="*/ 16 h 16"/>
                <a:gd name="T4" fmla="*/ 301 w 301"/>
                <a:gd name="T5" fmla="*/ 0 h 16"/>
                <a:gd name="T6" fmla="*/ 10 w 301"/>
                <a:gd name="T7" fmla="*/ 0 h 16"/>
                <a:gd name="T8" fmla="*/ 10 w 301"/>
                <a:gd name="T9" fmla="*/ 16 h 16"/>
                <a:gd name="T10" fmla="*/ 10 w 301"/>
                <a:gd name="T11" fmla="*/ 0 h 16"/>
                <a:gd name="T12" fmla="*/ 0 w 301"/>
                <a:gd name="T13" fmla="*/ 0 h 16"/>
                <a:gd name="T14" fmla="*/ 0 w 301"/>
                <a:gd name="T15" fmla="*/ 10 h 16"/>
                <a:gd name="T16" fmla="*/ 10 w 301"/>
                <a:gd name="T17" fmla="*/ 10 h 16"/>
                <a:gd name="T18" fmla="*/ 10 w 301"/>
                <a:gd name="T19" fmla="*/ 0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1" h="16">
                  <a:moveTo>
                    <a:pt x="10" y="16"/>
                  </a:moveTo>
                  <a:lnTo>
                    <a:pt x="301" y="16"/>
                  </a:lnTo>
                  <a:lnTo>
                    <a:pt x="301" y="0"/>
                  </a:lnTo>
                  <a:lnTo>
                    <a:pt x="10" y="0"/>
                  </a:lnTo>
                  <a:lnTo>
                    <a:pt x="10" y="16"/>
                  </a:lnTo>
                  <a:close/>
                  <a:moveTo>
                    <a:pt x="10" y="0"/>
                  </a:moveTo>
                  <a:lnTo>
                    <a:pt x="0" y="0"/>
                  </a:lnTo>
                  <a:lnTo>
                    <a:pt x="0" y="10"/>
                  </a:lnTo>
                  <a:lnTo>
                    <a:pt x="10" y="1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52" name="Freeform 34">
              <a:extLst>
                <a:ext uri="{FF2B5EF4-FFF2-40B4-BE49-F238E27FC236}">
                  <a16:creationId xmlns:a16="http://schemas.microsoft.com/office/drawing/2014/main" id="{50E75EE8-2DF8-1D3E-1A46-AD4FAD80E743}"/>
                </a:ext>
              </a:extLst>
            </p:cNvPr>
            <p:cNvSpPr>
              <a:spLocks noEditPoints="1"/>
            </p:cNvSpPr>
            <p:nvPr/>
          </p:nvSpPr>
          <p:spPr bwMode="auto">
            <a:xfrm>
              <a:off x="4327" y="1488"/>
              <a:ext cx="16" cy="1191"/>
            </a:xfrm>
            <a:custGeom>
              <a:avLst/>
              <a:gdLst>
                <a:gd name="T0" fmla="*/ 0 w 16"/>
                <a:gd name="T1" fmla="*/ 10 h 1191"/>
                <a:gd name="T2" fmla="*/ 0 w 16"/>
                <a:gd name="T3" fmla="*/ 1191 h 1191"/>
                <a:gd name="T4" fmla="*/ 16 w 16"/>
                <a:gd name="T5" fmla="*/ 1191 h 1191"/>
                <a:gd name="T6" fmla="*/ 16 w 16"/>
                <a:gd name="T7" fmla="*/ 10 h 1191"/>
                <a:gd name="T8" fmla="*/ 0 w 16"/>
                <a:gd name="T9" fmla="*/ 10 h 1191"/>
                <a:gd name="T10" fmla="*/ 16 w 16"/>
                <a:gd name="T11" fmla="*/ 10 h 1191"/>
                <a:gd name="T12" fmla="*/ 16 w 16"/>
                <a:gd name="T13" fmla="*/ 0 h 1191"/>
                <a:gd name="T14" fmla="*/ 11 w 16"/>
                <a:gd name="T15" fmla="*/ 0 h 1191"/>
                <a:gd name="T16" fmla="*/ 11 w 16"/>
                <a:gd name="T17" fmla="*/ 10 h 1191"/>
                <a:gd name="T18" fmla="*/ 16 w 16"/>
                <a:gd name="T19" fmla="*/ 10 h 119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1191">
                  <a:moveTo>
                    <a:pt x="0" y="10"/>
                  </a:moveTo>
                  <a:lnTo>
                    <a:pt x="0" y="1191"/>
                  </a:lnTo>
                  <a:lnTo>
                    <a:pt x="16" y="1191"/>
                  </a:lnTo>
                  <a:lnTo>
                    <a:pt x="16" y="10"/>
                  </a:lnTo>
                  <a:lnTo>
                    <a:pt x="0" y="10"/>
                  </a:lnTo>
                  <a:close/>
                  <a:moveTo>
                    <a:pt x="16" y="10"/>
                  </a:moveTo>
                  <a:lnTo>
                    <a:pt x="16" y="0"/>
                  </a:lnTo>
                  <a:lnTo>
                    <a:pt x="11" y="0"/>
                  </a:lnTo>
                  <a:lnTo>
                    <a:pt x="11" y="10"/>
                  </a:lnTo>
                  <a:lnTo>
                    <a:pt x="1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53" name="Freeform 35">
              <a:extLst>
                <a:ext uri="{FF2B5EF4-FFF2-40B4-BE49-F238E27FC236}">
                  <a16:creationId xmlns:a16="http://schemas.microsoft.com/office/drawing/2014/main" id="{3E89DB07-A26C-187C-816F-7CB070199CD2}"/>
                </a:ext>
              </a:extLst>
            </p:cNvPr>
            <p:cNvSpPr>
              <a:spLocks/>
            </p:cNvSpPr>
            <p:nvPr/>
          </p:nvSpPr>
          <p:spPr bwMode="auto">
            <a:xfrm>
              <a:off x="4338" y="1498"/>
              <a:ext cx="285" cy="1181"/>
            </a:xfrm>
            <a:custGeom>
              <a:avLst/>
              <a:gdLst>
                <a:gd name="T0" fmla="*/ 0 w 285"/>
                <a:gd name="T1" fmla="*/ 1181 h 1181"/>
                <a:gd name="T2" fmla="*/ 0 w 285"/>
                <a:gd name="T3" fmla="*/ 0 h 1181"/>
                <a:gd name="T4" fmla="*/ 285 w 285"/>
                <a:gd name="T5" fmla="*/ 0 h 1181"/>
                <a:gd name="T6" fmla="*/ 285 w 285"/>
                <a:gd name="T7" fmla="*/ 1181 h 1181"/>
                <a:gd name="T8" fmla="*/ 0 w 285"/>
                <a:gd name="T9" fmla="*/ 1181 h 1181"/>
                <a:gd name="T10" fmla="*/ 0 w 285"/>
                <a:gd name="T11" fmla="*/ 1181 h 11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1181">
                  <a:moveTo>
                    <a:pt x="0" y="1181"/>
                  </a:moveTo>
                  <a:lnTo>
                    <a:pt x="0" y="0"/>
                  </a:lnTo>
                  <a:lnTo>
                    <a:pt x="285" y="0"/>
                  </a:lnTo>
                  <a:lnTo>
                    <a:pt x="285" y="1181"/>
                  </a:lnTo>
                  <a:lnTo>
                    <a:pt x="0" y="1181"/>
                  </a:lnTo>
                  <a:close/>
                </a:path>
              </a:pathLst>
            </a:custGeom>
            <a:solidFill>
              <a:srgbClr val="99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54" name="Rectangle 36">
              <a:extLst>
                <a:ext uri="{FF2B5EF4-FFF2-40B4-BE49-F238E27FC236}">
                  <a16:creationId xmlns:a16="http://schemas.microsoft.com/office/drawing/2014/main" id="{485523EA-2F67-4C99-62B2-37E7103C94CA}"/>
                </a:ext>
              </a:extLst>
            </p:cNvPr>
            <p:cNvSpPr>
              <a:spLocks noChangeArrowheads="1"/>
            </p:cNvSpPr>
            <p:nvPr/>
          </p:nvSpPr>
          <p:spPr bwMode="auto">
            <a:xfrm>
              <a:off x="4327" y="1498"/>
              <a:ext cx="16" cy="118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3355" name="Freeform 37">
              <a:extLst>
                <a:ext uri="{FF2B5EF4-FFF2-40B4-BE49-F238E27FC236}">
                  <a16:creationId xmlns:a16="http://schemas.microsoft.com/office/drawing/2014/main" id="{AC2693D5-8C23-DED2-3D66-215A3FD04FC4}"/>
                </a:ext>
              </a:extLst>
            </p:cNvPr>
            <p:cNvSpPr>
              <a:spLocks noEditPoints="1"/>
            </p:cNvSpPr>
            <p:nvPr/>
          </p:nvSpPr>
          <p:spPr bwMode="auto">
            <a:xfrm>
              <a:off x="4327" y="1488"/>
              <a:ext cx="296" cy="16"/>
            </a:xfrm>
            <a:custGeom>
              <a:avLst/>
              <a:gdLst>
                <a:gd name="T0" fmla="*/ 11 w 296"/>
                <a:gd name="T1" fmla="*/ 16 h 16"/>
                <a:gd name="T2" fmla="*/ 296 w 296"/>
                <a:gd name="T3" fmla="*/ 16 h 16"/>
                <a:gd name="T4" fmla="*/ 296 w 296"/>
                <a:gd name="T5" fmla="*/ 0 h 16"/>
                <a:gd name="T6" fmla="*/ 11 w 296"/>
                <a:gd name="T7" fmla="*/ 0 h 16"/>
                <a:gd name="T8" fmla="*/ 11 w 296"/>
                <a:gd name="T9" fmla="*/ 16 h 16"/>
                <a:gd name="T10" fmla="*/ 11 w 296"/>
                <a:gd name="T11" fmla="*/ 0 h 16"/>
                <a:gd name="T12" fmla="*/ 0 w 296"/>
                <a:gd name="T13" fmla="*/ 0 h 16"/>
                <a:gd name="T14" fmla="*/ 0 w 296"/>
                <a:gd name="T15" fmla="*/ 10 h 16"/>
                <a:gd name="T16" fmla="*/ 11 w 296"/>
                <a:gd name="T17" fmla="*/ 10 h 16"/>
                <a:gd name="T18" fmla="*/ 11 w 296"/>
                <a:gd name="T19" fmla="*/ 0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6" h="16">
                  <a:moveTo>
                    <a:pt x="11" y="16"/>
                  </a:moveTo>
                  <a:lnTo>
                    <a:pt x="296" y="16"/>
                  </a:lnTo>
                  <a:lnTo>
                    <a:pt x="296" y="0"/>
                  </a:lnTo>
                  <a:lnTo>
                    <a:pt x="11" y="0"/>
                  </a:lnTo>
                  <a:lnTo>
                    <a:pt x="11" y="16"/>
                  </a:lnTo>
                  <a:close/>
                  <a:moveTo>
                    <a:pt x="11" y="0"/>
                  </a:moveTo>
                  <a:lnTo>
                    <a:pt x="0" y="0"/>
                  </a:lnTo>
                  <a:lnTo>
                    <a:pt x="0" y="10"/>
                  </a:lnTo>
                  <a:lnTo>
                    <a:pt x="11" y="10"/>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56" name="Freeform 38">
              <a:extLst>
                <a:ext uri="{FF2B5EF4-FFF2-40B4-BE49-F238E27FC236}">
                  <a16:creationId xmlns:a16="http://schemas.microsoft.com/office/drawing/2014/main" id="{14306901-C900-5844-9BC3-3840B86A973C}"/>
                </a:ext>
              </a:extLst>
            </p:cNvPr>
            <p:cNvSpPr>
              <a:spLocks noEditPoints="1"/>
            </p:cNvSpPr>
            <p:nvPr/>
          </p:nvSpPr>
          <p:spPr bwMode="auto">
            <a:xfrm>
              <a:off x="4618" y="1488"/>
              <a:ext cx="15" cy="1191"/>
            </a:xfrm>
            <a:custGeom>
              <a:avLst/>
              <a:gdLst>
                <a:gd name="T0" fmla="*/ 0 w 15"/>
                <a:gd name="T1" fmla="*/ 10 h 1191"/>
                <a:gd name="T2" fmla="*/ 0 w 15"/>
                <a:gd name="T3" fmla="*/ 1191 h 1191"/>
                <a:gd name="T4" fmla="*/ 15 w 15"/>
                <a:gd name="T5" fmla="*/ 1191 h 1191"/>
                <a:gd name="T6" fmla="*/ 15 w 15"/>
                <a:gd name="T7" fmla="*/ 10 h 1191"/>
                <a:gd name="T8" fmla="*/ 0 w 15"/>
                <a:gd name="T9" fmla="*/ 10 h 1191"/>
                <a:gd name="T10" fmla="*/ 15 w 15"/>
                <a:gd name="T11" fmla="*/ 10 h 1191"/>
                <a:gd name="T12" fmla="*/ 15 w 15"/>
                <a:gd name="T13" fmla="*/ 0 h 1191"/>
                <a:gd name="T14" fmla="*/ 5 w 15"/>
                <a:gd name="T15" fmla="*/ 0 h 1191"/>
                <a:gd name="T16" fmla="*/ 5 w 15"/>
                <a:gd name="T17" fmla="*/ 10 h 1191"/>
                <a:gd name="T18" fmla="*/ 15 w 15"/>
                <a:gd name="T19" fmla="*/ 10 h 119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 h="1191">
                  <a:moveTo>
                    <a:pt x="0" y="10"/>
                  </a:moveTo>
                  <a:lnTo>
                    <a:pt x="0" y="1191"/>
                  </a:lnTo>
                  <a:lnTo>
                    <a:pt x="15" y="1191"/>
                  </a:lnTo>
                  <a:lnTo>
                    <a:pt x="15" y="10"/>
                  </a:lnTo>
                  <a:lnTo>
                    <a:pt x="0" y="10"/>
                  </a:lnTo>
                  <a:close/>
                  <a:moveTo>
                    <a:pt x="15" y="10"/>
                  </a:moveTo>
                  <a:lnTo>
                    <a:pt x="15" y="0"/>
                  </a:lnTo>
                  <a:lnTo>
                    <a:pt x="5" y="0"/>
                  </a:lnTo>
                  <a:lnTo>
                    <a:pt x="5" y="10"/>
                  </a:lnTo>
                  <a:lnTo>
                    <a:pt x="15"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57" name="Freeform 39">
              <a:extLst>
                <a:ext uri="{FF2B5EF4-FFF2-40B4-BE49-F238E27FC236}">
                  <a16:creationId xmlns:a16="http://schemas.microsoft.com/office/drawing/2014/main" id="{066FFDC8-5668-B8E5-6F28-ED4A24A8AAB2}"/>
                </a:ext>
              </a:extLst>
            </p:cNvPr>
            <p:cNvSpPr>
              <a:spLocks/>
            </p:cNvSpPr>
            <p:nvPr/>
          </p:nvSpPr>
          <p:spPr bwMode="auto">
            <a:xfrm>
              <a:off x="4089" y="1674"/>
              <a:ext cx="161" cy="109"/>
            </a:xfrm>
            <a:custGeom>
              <a:avLst/>
              <a:gdLst>
                <a:gd name="T0" fmla="*/ 15 w 161"/>
                <a:gd name="T1" fmla="*/ 109 h 109"/>
                <a:gd name="T2" fmla="*/ 26 w 161"/>
                <a:gd name="T3" fmla="*/ 68 h 109"/>
                <a:gd name="T4" fmla="*/ 31 w 161"/>
                <a:gd name="T5" fmla="*/ 42 h 109"/>
                <a:gd name="T6" fmla="*/ 52 w 161"/>
                <a:gd name="T7" fmla="*/ 16 h 109"/>
                <a:gd name="T8" fmla="*/ 62 w 161"/>
                <a:gd name="T9" fmla="*/ 11 h 109"/>
                <a:gd name="T10" fmla="*/ 67 w 161"/>
                <a:gd name="T11" fmla="*/ 16 h 109"/>
                <a:gd name="T12" fmla="*/ 72 w 161"/>
                <a:gd name="T13" fmla="*/ 21 h 109"/>
                <a:gd name="T14" fmla="*/ 72 w 161"/>
                <a:gd name="T15" fmla="*/ 32 h 109"/>
                <a:gd name="T16" fmla="*/ 72 w 161"/>
                <a:gd name="T17" fmla="*/ 109 h 109"/>
                <a:gd name="T18" fmla="*/ 78 w 161"/>
                <a:gd name="T19" fmla="*/ 83 h 109"/>
                <a:gd name="T20" fmla="*/ 83 w 161"/>
                <a:gd name="T21" fmla="*/ 63 h 109"/>
                <a:gd name="T22" fmla="*/ 93 w 161"/>
                <a:gd name="T23" fmla="*/ 37 h 109"/>
                <a:gd name="T24" fmla="*/ 104 w 161"/>
                <a:gd name="T25" fmla="*/ 21 h 109"/>
                <a:gd name="T26" fmla="*/ 114 w 161"/>
                <a:gd name="T27" fmla="*/ 16 h 109"/>
                <a:gd name="T28" fmla="*/ 124 w 161"/>
                <a:gd name="T29" fmla="*/ 16 h 109"/>
                <a:gd name="T30" fmla="*/ 130 w 161"/>
                <a:gd name="T31" fmla="*/ 21 h 109"/>
                <a:gd name="T32" fmla="*/ 130 w 161"/>
                <a:gd name="T33" fmla="*/ 26 h 109"/>
                <a:gd name="T34" fmla="*/ 119 w 161"/>
                <a:gd name="T35" fmla="*/ 83 h 109"/>
                <a:gd name="T36" fmla="*/ 119 w 161"/>
                <a:gd name="T37" fmla="*/ 94 h 109"/>
                <a:gd name="T38" fmla="*/ 119 w 161"/>
                <a:gd name="T39" fmla="*/ 104 h 109"/>
                <a:gd name="T40" fmla="*/ 135 w 161"/>
                <a:gd name="T41" fmla="*/ 109 h 109"/>
                <a:gd name="T42" fmla="*/ 150 w 161"/>
                <a:gd name="T43" fmla="*/ 104 h 109"/>
                <a:gd name="T44" fmla="*/ 161 w 161"/>
                <a:gd name="T45" fmla="*/ 89 h 109"/>
                <a:gd name="T46" fmla="*/ 150 w 161"/>
                <a:gd name="T47" fmla="*/ 89 h 109"/>
                <a:gd name="T48" fmla="*/ 145 w 161"/>
                <a:gd name="T49" fmla="*/ 99 h 109"/>
                <a:gd name="T50" fmla="*/ 135 w 161"/>
                <a:gd name="T51" fmla="*/ 99 h 109"/>
                <a:gd name="T52" fmla="*/ 135 w 161"/>
                <a:gd name="T53" fmla="*/ 94 h 109"/>
                <a:gd name="T54" fmla="*/ 135 w 161"/>
                <a:gd name="T55" fmla="*/ 89 h 109"/>
                <a:gd name="T56" fmla="*/ 145 w 161"/>
                <a:gd name="T57" fmla="*/ 32 h 109"/>
                <a:gd name="T58" fmla="*/ 145 w 161"/>
                <a:gd name="T59" fmla="*/ 21 h 109"/>
                <a:gd name="T60" fmla="*/ 140 w 161"/>
                <a:gd name="T61" fmla="*/ 6 h 109"/>
                <a:gd name="T62" fmla="*/ 124 w 161"/>
                <a:gd name="T63" fmla="*/ 0 h 109"/>
                <a:gd name="T64" fmla="*/ 104 w 161"/>
                <a:gd name="T65" fmla="*/ 6 h 109"/>
                <a:gd name="T66" fmla="*/ 93 w 161"/>
                <a:gd name="T67" fmla="*/ 21 h 109"/>
                <a:gd name="T68" fmla="*/ 88 w 161"/>
                <a:gd name="T69" fmla="*/ 21 h 109"/>
                <a:gd name="T70" fmla="*/ 88 w 161"/>
                <a:gd name="T71" fmla="*/ 16 h 109"/>
                <a:gd name="T72" fmla="*/ 78 w 161"/>
                <a:gd name="T73" fmla="*/ 0 h 109"/>
                <a:gd name="T74" fmla="*/ 62 w 161"/>
                <a:gd name="T75" fmla="*/ 0 h 109"/>
                <a:gd name="T76" fmla="*/ 47 w 161"/>
                <a:gd name="T77" fmla="*/ 6 h 109"/>
                <a:gd name="T78" fmla="*/ 36 w 161"/>
                <a:gd name="T79" fmla="*/ 21 h 109"/>
                <a:gd name="T80" fmla="*/ 36 w 161"/>
                <a:gd name="T81" fmla="*/ 0 h 109"/>
                <a:gd name="T82" fmla="*/ 26 w 161"/>
                <a:gd name="T83" fmla="*/ 6 h 109"/>
                <a:gd name="T84" fmla="*/ 10 w 161"/>
                <a:gd name="T85" fmla="*/ 11 h 109"/>
                <a:gd name="T86" fmla="*/ 0 w 161"/>
                <a:gd name="T87" fmla="*/ 16 h 109"/>
                <a:gd name="T88" fmla="*/ 0 w 161"/>
                <a:gd name="T89" fmla="*/ 109 h 10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61" h="109">
                  <a:moveTo>
                    <a:pt x="0" y="109"/>
                  </a:moveTo>
                  <a:lnTo>
                    <a:pt x="15" y="109"/>
                  </a:lnTo>
                  <a:lnTo>
                    <a:pt x="21" y="78"/>
                  </a:lnTo>
                  <a:lnTo>
                    <a:pt x="26" y="68"/>
                  </a:lnTo>
                  <a:lnTo>
                    <a:pt x="26" y="52"/>
                  </a:lnTo>
                  <a:lnTo>
                    <a:pt x="31" y="42"/>
                  </a:lnTo>
                  <a:lnTo>
                    <a:pt x="36" y="32"/>
                  </a:lnTo>
                  <a:lnTo>
                    <a:pt x="52" y="16"/>
                  </a:lnTo>
                  <a:lnTo>
                    <a:pt x="57" y="16"/>
                  </a:lnTo>
                  <a:lnTo>
                    <a:pt x="62" y="11"/>
                  </a:lnTo>
                  <a:lnTo>
                    <a:pt x="67" y="16"/>
                  </a:lnTo>
                  <a:lnTo>
                    <a:pt x="72" y="21"/>
                  </a:lnTo>
                  <a:lnTo>
                    <a:pt x="72" y="26"/>
                  </a:lnTo>
                  <a:lnTo>
                    <a:pt x="72" y="32"/>
                  </a:lnTo>
                  <a:lnTo>
                    <a:pt x="57" y="109"/>
                  </a:lnTo>
                  <a:lnTo>
                    <a:pt x="72" y="109"/>
                  </a:lnTo>
                  <a:lnTo>
                    <a:pt x="78" y="89"/>
                  </a:lnTo>
                  <a:lnTo>
                    <a:pt x="78" y="83"/>
                  </a:lnTo>
                  <a:lnTo>
                    <a:pt x="83" y="63"/>
                  </a:lnTo>
                  <a:lnTo>
                    <a:pt x="88" y="47"/>
                  </a:lnTo>
                  <a:lnTo>
                    <a:pt x="93" y="37"/>
                  </a:lnTo>
                  <a:lnTo>
                    <a:pt x="98" y="26"/>
                  </a:lnTo>
                  <a:lnTo>
                    <a:pt x="104" y="21"/>
                  </a:lnTo>
                  <a:lnTo>
                    <a:pt x="109" y="16"/>
                  </a:lnTo>
                  <a:lnTo>
                    <a:pt x="114" y="16"/>
                  </a:lnTo>
                  <a:lnTo>
                    <a:pt x="119" y="11"/>
                  </a:lnTo>
                  <a:lnTo>
                    <a:pt x="124" y="16"/>
                  </a:lnTo>
                  <a:lnTo>
                    <a:pt x="130" y="21"/>
                  </a:lnTo>
                  <a:lnTo>
                    <a:pt x="130" y="26"/>
                  </a:lnTo>
                  <a:lnTo>
                    <a:pt x="130" y="32"/>
                  </a:lnTo>
                  <a:lnTo>
                    <a:pt x="119" y="83"/>
                  </a:lnTo>
                  <a:lnTo>
                    <a:pt x="119" y="89"/>
                  </a:lnTo>
                  <a:lnTo>
                    <a:pt x="119" y="94"/>
                  </a:lnTo>
                  <a:lnTo>
                    <a:pt x="119" y="99"/>
                  </a:lnTo>
                  <a:lnTo>
                    <a:pt x="119" y="104"/>
                  </a:lnTo>
                  <a:lnTo>
                    <a:pt x="130" y="109"/>
                  </a:lnTo>
                  <a:lnTo>
                    <a:pt x="135" y="109"/>
                  </a:lnTo>
                  <a:lnTo>
                    <a:pt x="145" y="109"/>
                  </a:lnTo>
                  <a:lnTo>
                    <a:pt x="150" y="104"/>
                  </a:lnTo>
                  <a:lnTo>
                    <a:pt x="155" y="99"/>
                  </a:lnTo>
                  <a:lnTo>
                    <a:pt x="161" y="89"/>
                  </a:lnTo>
                  <a:lnTo>
                    <a:pt x="155" y="83"/>
                  </a:lnTo>
                  <a:lnTo>
                    <a:pt x="150" y="89"/>
                  </a:lnTo>
                  <a:lnTo>
                    <a:pt x="145" y="94"/>
                  </a:lnTo>
                  <a:lnTo>
                    <a:pt x="145" y="99"/>
                  </a:lnTo>
                  <a:lnTo>
                    <a:pt x="140" y="99"/>
                  </a:lnTo>
                  <a:lnTo>
                    <a:pt x="135" y="99"/>
                  </a:lnTo>
                  <a:lnTo>
                    <a:pt x="135" y="94"/>
                  </a:lnTo>
                  <a:lnTo>
                    <a:pt x="135" y="89"/>
                  </a:lnTo>
                  <a:lnTo>
                    <a:pt x="135" y="83"/>
                  </a:lnTo>
                  <a:lnTo>
                    <a:pt x="145" y="32"/>
                  </a:lnTo>
                  <a:lnTo>
                    <a:pt x="145" y="26"/>
                  </a:lnTo>
                  <a:lnTo>
                    <a:pt x="145" y="21"/>
                  </a:lnTo>
                  <a:lnTo>
                    <a:pt x="145" y="16"/>
                  </a:lnTo>
                  <a:lnTo>
                    <a:pt x="140" y="6"/>
                  </a:lnTo>
                  <a:lnTo>
                    <a:pt x="135" y="0"/>
                  </a:lnTo>
                  <a:lnTo>
                    <a:pt x="124" y="0"/>
                  </a:lnTo>
                  <a:lnTo>
                    <a:pt x="109" y="0"/>
                  </a:lnTo>
                  <a:lnTo>
                    <a:pt x="104" y="6"/>
                  </a:lnTo>
                  <a:lnTo>
                    <a:pt x="98" y="11"/>
                  </a:lnTo>
                  <a:lnTo>
                    <a:pt x="93" y="21"/>
                  </a:lnTo>
                  <a:lnTo>
                    <a:pt x="88" y="26"/>
                  </a:lnTo>
                  <a:lnTo>
                    <a:pt x="88" y="21"/>
                  </a:lnTo>
                  <a:lnTo>
                    <a:pt x="88" y="16"/>
                  </a:lnTo>
                  <a:lnTo>
                    <a:pt x="83" y="6"/>
                  </a:lnTo>
                  <a:lnTo>
                    <a:pt x="78" y="0"/>
                  </a:lnTo>
                  <a:lnTo>
                    <a:pt x="67" y="0"/>
                  </a:lnTo>
                  <a:lnTo>
                    <a:pt x="62" y="0"/>
                  </a:lnTo>
                  <a:lnTo>
                    <a:pt x="52" y="6"/>
                  </a:lnTo>
                  <a:lnTo>
                    <a:pt x="47" y="6"/>
                  </a:lnTo>
                  <a:lnTo>
                    <a:pt x="41" y="11"/>
                  </a:lnTo>
                  <a:lnTo>
                    <a:pt x="36" y="21"/>
                  </a:lnTo>
                  <a:lnTo>
                    <a:pt x="31" y="26"/>
                  </a:lnTo>
                  <a:lnTo>
                    <a:pt x="36" y="0"/>
                  </a:lnTo>
                  <a:lnTo>
                    <a:pt x="31" y="0"/>
                  </a:lnTo>
                  <a:lnTo>
                    <a:pt x="26" y="6"/>
                  </a:lnTo>
                  <a:lnTo>
                    <a:pt x="15" y="6"/>
                  </a:lnTo>
                  <a:lnTo>
                    <a:pt x="10" y="11"/>
                  </a:lnTo>
                  <a:lnTo>
                    <a:pt x="0" y="11"/>
                  </a:lnTo>
                  <a:lnTo>
                    <a:pt x="0" y="16"/>
                  </a:lnTo>
                  <a:lnTo>
                    <a:pt x="15" y="16"/>
                  </a:lnTo>
                  <a:lnTo>
                    <a:pt x="0"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58" name="Freeform 40">
              <a:extLst>
                <a:ext uri="{FF2B5EF4-FFF2-40B4-BE49-F238E27FC236}">
                  <a16:creationId xmlns:a16="http://schemas.microsoft.com/office/drawing/2014/main" id="{3FCBFCA3-210B-B12D-18AB-653E5DBE42A8}"/>
                </a:ext>
              </a:extLst>
            </p:cNvPr>
            <p:cNvSpPr>
              <a:spLocks/>
            </p:cNvSpPr>
            <p:nvPr/>
          </p:nvSpPr>
          <p:spPr bwMode="auto">
            <a:xfrm>
              <a:off x="4265" y="1716"/>
              <a:ext cx="42" cy="93"/>
            </a:xfrm>
            <a:custGeom>
              <a:avLst/>
              <a:gdLst>
                <a:gd name="T0" fmla="*/ 0 w 42"/>
                <a:gd name="T1" fmla="*/ 5 h 93"/>
                <a:gd name="T2" fmla="*/ 0 w 42"/>
                <a:gd name="T3" fmla="*/ 10 h 93"/>
                <a:gd name="T4" fmla="*/ 16 w 42"/>
                <a:gd name="T5" fmla="*/ 10 h 93"/>
                <a:gd name="T6" fmla="*/ 16 w 42"/>
                <a:gd name="T7" fmla="*/ 78 h 93"/>
                <a:gd name="T8" fmla="*/ 16 w 42"/>
                <a:gd name="T9" fmla="*/ 83 h 93"/>
                <a:gd name="T10" fmla="*/ 16 w 42"/>
                <a:gd name="T11" fmla="*/ 83 h 93"/>
                <a:gd name="T12" fmla="*/ 16 w 42"/>
                <a:gd name="T13" fmla="*/ 88 h 93"/>
                <a:gd name="T14" fmla="*/ 11 w 42"/>
                <a:gd name="T15" fmla="*/ 88 h 93"/>
                <a:gd name="T16" fmla="*/ 11 w 42"/>
                <a:gd name="T17" fmla="*/ 88 h 93"/>
                <a:gd name="T18" fmla="*/ 5 w 42"/>
                <a:gd name="T19" fmla="*/ 88 h 93"/>
                <a:gd name="T20" fmla="*/ 0 w 42"/>
                <a:gd name="T21" fmla="*/ 88 h 93"/>
                <a:gd name="T22" fmla="*/ 0 w 42"/>
                <a:gd name="T23" fmla="*/ 93 h 93"/>
                <a:gd name="T24" fmla="*/ 42 w 42"/>
                <a:gd name="T25" fmla="*/ 93 h 93"/>
                <a:gd name="T26" fmla="*/ 42 w 42"/>
                <a:gd name="T27" fmla="*/ 88 h 93"/>
                <a:gd name="T28" fmla="*/ 36 w 42"/>
                <a:gd name="T29" fmla="*/ 88 h 93"/>
                <a:gd name="T30" fmla="*/ 31 w 42"/>
                <a:gd name="T31" fmla="*/ 88 h 93"/>
                <a:gd name="T32" fmla="*/ 31 w 42"/>
                <a:gd name="T33" fmla="*/ 88 h 93"/>
                <a:gd name="T34" fmla="*/ 26 w 42"/>
                <a:gd name="T35" fmla="*/ 88 h 93"/>
                <a:gd name="T36" fmla="*/ 26 w 42"/>
                <a:gd name="T37" fmla="*/ 83 h 93"/>
                <a:gd name="T38" fmla="*/ 26 w 42"/>
                <a:gd name="T39" fmla="*/ 83 h 93"/>
                <a:gd name="T40" fmla="*/ 26 w 42"/>
                <a:gd name="T41" fmla="*/ 78 h 93"/>
                <a:gd name="T42" fmla="*/ 26 w 42"/>
                <a:gd name="T43" fmla="*/ 0 h 93"/>
                <a:gd name="T44" fmla="*/ 21 w 42"/>
                <a:gd name="T45" fmla="*/ 0 h 93"/>
                <a:gd name="T46" fmla="*/ 11 w 42"/>
                <a:gd name="T47" fmla="*/ 5 h 93"/>
                <a:gd name="T48" fmla="*/ 0 w 42"/>
                <a:gd name="T49" fmla="*/ 5 h 93"/>
                <a:gd name="T50" fmla="*/ 0 w 42"/>
                <a:gd name="T51" fmla="*/ 5 h 9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42" h="93">
                  <a:moveTo>
                    <a:pt x="0" y="5"/>
                  </a:moveTo>
                  <a:lnTo>
                    <a:pt x="0" y="10"/>
                  </a:lnTo>
                  <a:lnTo>
                    <a:pt x="16" y="10"/>
                  </a:lnTo>
                  <a:lnTo>
                    <a:pt x="16" y="78"/>
                  </a:lnTo>
                  <a:lnTo>
                    <a:pt x="16" y="83"/>
                  </a:lnTo>
                  <a:lnTo>
                    <a:pt x="16" y="88"/>
                  </a:lnTo>
                  <a:lnTo>
                    <a:pt x="11" y="88"/>
                  </a:lnTo>
                  <a:lnTo>
                    <a:pt x="5" y="88"/>
                  </a:lnTo>
                  <a:lnTo>
                    <a:pt x="0" y="88"/>
                  </a:lnTo>
                  <a:lnTo>
                    <a:pt x="0" y="93"/>
                  </a:lnTo>
                  <a:lnTo>
                    <a:pt x="42" y="93"/>
                  </a:lnTo>
                  <a:lnTo>
                    <a:pt x="42" y="88"/>
                  </a:lnTo>
                  <a:lnTo>
                    <a:pt x="36" y="88"/>
                  </a:lnTo>
                  <a:lnTo>
                    <a:pt x="31" y="88"/>
                  </a:lnTo>
                  <a:lnTo>
                    <a:pt x="26" y="88"/>
                  </a:lnTo>
                  <a:lnTo>
                    <a:pt x="26" y="83"/>
                  </a:lnTo>
                  <a:lnTo>
                    <a:pt x="26" y="78"/>
                  </a:lnTo>
                  <a:lnTo>
                    <a:pt x="26" y="0"/>
                  </a:lnTo>
                  <a:lnTo>
                    <a:pt x="21" y="0"/>
                  </a:lnTo>
                  <a:lnTo>
                    <a:pt x="11" y="5"/>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59" name="Freeform 41">
              <a:extLst>
                <a:ext uri="{FF2B5EF4-FFF2-40B4-BE49-F238E27FC236}">
                  <a16:creationId xmlns:a16="http://schemas.microsoft.com/office/drawing/2014/main" id="{D003A81C-0DC6-1381-182C-40E704B85C10}"/>
                </a:ext>
              </a:extLst>
            </p:cNvPr>
            <p:cNvSpPr>
              <a:spLocks/>
            </p:cNvSpPr>
            <p:nvPr/>
          </p:nvSpPr>
          <p:spPr bwMode="auto">
            <a:xfrm>
              <a:off x="4379" y="1674"/>
              <a:ext cx="166" cy="109"/>
            </a:xfrm>
            <a:custGeom>
              <a:avLst/>
              <a:gdLst>
                <a:gd name="T0" fmla="*/ 21 w 166"/>
                <a:gd name="T1" fmla="*/ 109 h 109"/>
                <a:gd name="T2" fmla="*/ 26 w 166"/>
                <a:gd name="T3" fmla="*/ 68 h 109"/>
                <a:gd name="T4" fmla="*/ 37 w 166"/>
                <a:gd name="T5" fmla="*/ 42 h 109"/>
                <a:gd name="T6" fmla="*/ 47 w 166"/>
                <a:gd name="T7" fmla="*/ 26 h 109"/>
                <a:gd name="T8" fmla="*/ 62 w 166"/>
                <a:gd name="T9" fmla="*/ 16 h 109"/>
                <a:gd name="T10" fmla="*/ 73 w 166"/>
                <a:gd name="T11" fmla="*/ 16 h 109"/>
                <a:gd name="T12" fmla="*/ 78 w 166"/>
                <a:gd name="T13" fmla="*/ 21 h 109"/>
                <a:gd name="T14" fmla="*/ 78 w 166"/>
                <a:gd name="T15" fmla="*/ 26 h 109"/>
                <a:gd name="T16" fmla="*/ 57 w 166"/>
                <a:gd name="T17" fmla="*/ 109 h 109"/>
                <a:gd name="T18" fmla="*/ 78 w 166"/>
                <a:gd name="T19" fmla="*/ 89 h 109"/>
                <a:gd name="T20" fmla="*/ 83 w 166"/>
                <a:gd name="T21" fmla="*/ 83 h 109"/>
                <a:gd name="T22" fmla="*/ 88 w 166"/>
                <a:gd name="T23" fmla="*/ 47 h 109"/>
                <a:gd name="T24" fmla="*/ 99 w 166"/>
                <a:gd name="T25" fmla="*/ 26 h 109"/>
                <a:gd name="T26" fmla="*/ 114 w 166"/>
                <a:gd name="T27" fmla="*/ 16 h 109"/>
                <a:gd name="T28" fmla="*/ 125 w 166"/>
                <a:gd name="T29" fmla="*/ 11 h 109"/>
                <a:gd name="T30" fmla="*/ 130 w 166"/>
                <a:gd name="T31" fmla="*/ 16 h 109"/>
                <a:gd name="T32" fmla="*/ 135 w 166"/>
                <a:gd name="T33" fmla="*/ 21 h 109"/>
                <a:gd name="T34" fmla="*/ 130 w 166"/>
                <a:gd name="T35" fmla="*/ 32 h 109"/>
                <a:gd name="T36" fmla="*/ 120 w 166"/>
                <a:gd name="T37" fmla="*/ 89 h 109"/>
                <a:gd name="T38" fmla="*/ 125 w 166"/>
                <a:gd name="T39" fmla="*/ 99 h 109"/>
                <a:gd name="T40" fmla="*/ 135 w 166"/>
                <a:gd name="T41" fmla="*/ 109 h 109"/>
                <a:gd name="T42" fmla="*/ 145 w 166"/>
                <a:gd name="T43" fmla="*/ 109 h 109"/>
                <a:gd name="T44" fmla="*/ 161 w 166"/>
                <a:gd name="T45" fmla="*/ 99 h 109"/>
                <a:gd name="T46" fmla="*/ 161 w 166"/>
                <a:gd name="T47" fmla="*/ 83 h 109"/>
                <a:gd name="T48" fmla="*/ 151 w 166"/>
                <a:gd name="T49" fmla="*/ 94 h 109"/>
                <a:gd name="T50" fmla="*/ 140 w 166"/>
                <a:gd name="T51" fmla="*/ 99 h 109"/>
                <a:gd name="T52" fmla="*/ 135 w 166"/>
                <a:gd name="T53" fmla="*/ 94 h 109"/>
                <a:gd name="T54" fmla="*/ 135 w 166"/>
                <a:gd name="T55" fmla="*/ 89 h 109"/>
                <a:gd name="T56" fmla="*/ 151 w 166"/>
                <a:gd name="T57" fmla="*/ 32 h 109"/>
                <a:gd name="T58" fmla="*/ 151 w 166"/>
                <a:gd name="T59" fmla="*/ 21 h 109"/>
                <a:gd name="T60" fmla="*/ 145 w 166"/>
                <a:gd name="T61" fmla="*/ 6 h 109"/>
                <a:gd name="T62" fmla="*/ 130 w 166"/>
                <a:gd name="T63" fmla="*/ 0 h 109"/>
                <a:gd name="T64" fmla="*/ 109 w 166"/>
                <a:gd name="T65" fmla="*/ 6 h 109"/>
                <a:gd name="T66" fmla="*/ 99 w 166"/>
                <a:gd name="T67" fmla="*/ 21 h 109"/>
                <a:gd name="T68" fmla="*/ 94 w 166"/>
                <a:gd name="T69" fmla="*/ 21 h 109"/>
                <a:gd name="T70" fmla="*/ 94 w 166"/>
                <a:gd name="T71" fmla="*/ 16 h 109"/>
                <a:gd name="T72" fmla="*/ 83 w 166"/>
                <a:gd name="T73" fmla="*/ 0 h 109"/>
                <a:gd name="T74" fmla="*/ 68 w 166"/>
                <a:gd name="T75" fmla="*/ 0 h 109"/>
                <a:gd name="T76" fmla="*/ 52 w 166"/>
                <a:gd name="T77" fmla="*/ 6 h 109"/>
                <a:gd name="T78" fmla="*/ 42 w 166"/>
                <a:gd name="T79" fmla="*/ 21 h 109"/>
                <a:gd name="T80" fmla="*/ 42 w 166"/>
                <a:gd name="T81" fmla="*/ 0 h 109"/>
                <a:gd name="T82" fmla="*/ 26 w 166"/>
                <a:gd name="T83" fmla="*/ 6 h 109"/>
                <a:gd name="T84" fmla="*/ 16 w 166"/>
                <a:gd name="T85" fmla="*/ 11 h 109"/>
                <a:gd name="T86" fmla="*/ 0 w 166"/>
                <a:gd name="T87" fmla="*/ 16 h 109"/>
                <a:gd name="T88" fmla="*/ 0 w 166"/>
                <a:gd name="T89" fmla="*/ 109 h 10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66" h="109">
                  <a:moveTo>
                    <a:pt x="0" y="109"/>
                  </a:moveTo>
                  <a:lnTo>
                    <a:pt x="21" y="109"/>
                  </a:lnTo>
                  <a:lnTo>
                    <a:pt x="26" y="78"/>
                  </a:lnTo>
                  <a:lnTo>
                    <a:pt x="26" y="68"/>
                  </a:lnTo>
                  <a:lnTo>
                    <a:pt x="31" y="52"/>
                  </a:lnTo>
                  <a:lnTo>
                    <a:pt x="37" y="42"/>
                  </a:lnTo>
                  <a:lnTo>
                    <a:pt x="42" y="32"/>
                  </a:lnTo>
                  <a:lnTo>
                    <a:pt x="47" y="26"/>
                  </a:lnTo>
                  <a:lnTo>
                    <a:pt x="52" y="16"/>
                  </a:lnTo>
                  <a:lnTo>
                    <a:pt x="62" y="16"/>
                  </a:lnTo>
                  <a:lnTo>
                    <a:pt x="68" y="11"/>
                  </a:lnTo>
                  <a:lnTo>
                    <a:pt x="73" y="16"/>
                  </a:lnTo>
                  <a:lnTo>
                    <a:pt x="78" y="21"/>
                  </a:lnTo>
                  <a:lnTo>
                    <a:pt x="78" y="26"/>
                  </a:lnTo>
                  <a:lnTo>
                    <a:pt x="73" y="32"/>
                  </a:lnTo>
                  <a:lnTo>
                    <a:pt x="57" y="109"/>
                  </a:lnTo>
                  <a:lnTo>
                    <a:pt x="78" y="109"/>
                  </a:lnTo>
                  <a:lnTo>
                    <a:pt x="78" y="89"/>
                  </a:lnTo>
                  <a:lnTo>
                    <a:pt x="83" y="83"/>
                  </a:lnTo>
                  <a:lnTo>
                    <a:pt x="88" y="63"/>
                  </a:lnTo>
                  <a:lnTo>
                    <a:pt x="88" y="47"/>
                  </a:lnTo>
                  <a:lnTo>
                    <a:pt x="94" y="37"/>
                  </a:lnTo>
                  <a:lnTo>
                    <a:pt x="99" y="26"/>
                  </a:lnTo>
                  <a:lnTo>
                    <a:pt x="109" y="21"/>
                  </a:lnTo>
                  <a:lnTo>
                    <a:pt x="114" y="16"/>
                  </a:lnTo>
                  <a:lnTo>
                    <a:pt x="120" y="16"/>
                  </a:lnTo>
                  <a:lnTo>
                    <a:pt x="125" y="11"/>
                  </a:lnTo>
                  <a:lnTo>
                    <a:pt x="130" y="16"/>
                  </a:lnTo>
                  <a:lnTo>
                    <a:pt x="135" y="21"/>
                  </a:lnTo>
                  <a:lnTo>
                    <a:pt x="135" y="26"/>
                  </a:lnTo>
                  <a:lnTo>
                    <a:pt x="130" y="32"/>
                  </a:lnTo>
                  <a:lnTo>
                    <a:pt x="125" y="83"/>
                  </a:lnTo>
                  <a:lnTo>
                    <a:pt x="120" y="89"/>
                  </a:lnTo>
                  <a:lnTo>
                    <a:pt x="120" y="94"/>
                  </a:lnTo>
                  <a:lnTo>
                    <a:pt x="125" y="99"/>
                  </a:lnTo>
                  <a:lnTo>
                    <a:pt x="125" y="104"/>
                  </a:lnTo>
                  <a:lnTo>
                    <a:pt x="135" y="109"/>
                  </a:lnTo>
                  <a:lnTo>
                    <a:pt x="140" y="109"/>
                  </a:lnTo>
                  <a:lnTo>
                    <a:pt x="145" y="109"/>
                  </a:lnTo>
                  <a:lnTo>
                    <a:pt x="151" y="104"/>
                  </a:lnTo>
                  <a:lnTo>
                    <a:pt x="161" y="99"/>
                  </a:lnTo>
                  <a:lnTo>
                    <a:pt x="166" y="89"/>
                  </a:lnTo>
                  <a:lnTo>
                    <a:pt x="161" y="83"/>
                  </a:lnTo>
                  <a:lnTo>
                    <a:pt x="156" y="89"/>
                  </a:lnTo>
                  <a:lnTo>
                    <a:pt x="151" y="94"/>
                  </a:lnTo>
                  <a:lnTo>
                    <a:pt x="145" y="99"/>
                  </a:lnTo>
                  <a:lnTo>
                    <a:pt x="140" y="99"/>
                  </a:lnTo>
                  <a:lnTo>
                    <a:pt x="135" y="94"/>
                  </a:lnTo>
                  <a:lnTo>
                    <a:pt x="135" y="89"/>
                  </a:lnTo>
                  <a:lnTo>
                    <a:pt x="140" y="83"/>
                  </a:lnTo>
                  <a:lnTo>
                    <a:pt x="151" y="32"/>
                  </a:lnTo>
                  <a:lnTo>
                    <a:pt x="151" y="26"/>
                  </a:lnTo>
                  <a:lnTo>
                    <a:pt x="151" y="21"/>
                  </a:lnTo>
                  <a:lnTo>
                    <a:pt x="151" y="16"/>
                  </a:lnTo>
                  <a:lnTo>
                    <a:pt x="145" y="6"/>
                  </a:lnTo>
                  <a:lnTo>
                    <a:pt x="140" y="0"/>
                  </a:lnTo>
                  <a:lnTo>
                    <a:pt x="130" y="0"/>
                  </a:lnTo>
                  <a:lnTo>
                    <a:pt x="114" y="0"/>
                  </a:lnTo>
                  <a:lnTo>
                    <a:pt x="109" y="6"/>
                  </a:lnTo>
                  <a:lnTo>
                    <a:pt x="104" y="11"/>
                  </a:lnTo>
                  <a:lnTo>
                    <a:pt x="99" y="21"/>
                  </a:lnTo>
                  <a:lnTo>
                    <a:pt x="94" y="26"/>
                  </a:lnTo>
                  <a:lnTo>
                    <a:pt x="94" y="21"/>
                  </a:lnTo>
                  <a:lnTo>
                    <a:pt x="94" y="16"/>
                  </a:lnTo>
                  <a:lnTo>
                    <a:pt x="88" y="6"/>
                  </a:lnTo>
                  <a:lnTo>
                    <a:pt x="83" y="0"/>
                  </a:lnTo>
                  <a:lnTo>
                    <a:pt x="73" y="0"/>
                  </a:lnTo>
                  <a:lnTo>
                    <a:pt x="68" y="0"/>
                  </a:lnTo>
                  <a:lnTo>
                    <a:pt x="57" y="6"/>
                  </a:lnTo>
                  <a:lnTo>
                    <a:pt x="52" y="6"/>
                  </a:lnTo>
                  <a:lnTo>
                    <a:pt x="47" y="11"/>
                  </a:lnTo>
                  <a:lnTo>
                    <a:pt x="42" y="21"/>
                  </a:lnTo>
                  <a:lnTo>
                    <a:pt x="37" y="26"/>
                  </a:lnTo>
                  <a:lnTo>
                    <a:pt x="42" y="0"/>
                  </a:lnTo>
                  <a:lnTo>
                    <a:pt x="31" y="0"/>
                  </a:lnTo>
                  <a:lnTo>
                    <a:pt x="26" y="6"/>
                  </a:lnTo>
                  <a:lnTo>
                    <a:pt x="21" y="6"/>
                  </a:lnTo>
                  <a:lnTo>
                    <a:pt x="16" y="11"/>
                  </a:lnTo>
                  <a:lnTo>
                    <a:pt x="5" y="11"/>
                  </a:lnTo>
                  <a:lnTo>
                    <a:pt x="0" y="16"/>
                  </a:lnTo>
                  <a:lnTo>
                    <a:pt x="21" y="16"/>
                  </a:lnTo>
                  <a:lnTo>
                    <a:pt x="0"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60" name="Freeform 42">
              <a:extLst>
                <a:ext uri="{FF2B5EF4-FFF2-40B4-BE49-F238E27FC236}">
                  <a16:creationId xmlns:a16="http://schemas.microsoft.com/office/drawing/2014/main" id="{6813D414-311B-ACFE-58DE-A63DEC929B7E}"/>
                </a:ext>
              </a:extLst>
            </p:cNvPr>
            <p:cNvSpPr>
              <a:spLocks/>
            </p:cNvSpPr>
            <p:nvPr/>
          </p:nvSpPr>
          <p:spPr bwMode="auto">
            <a:xfrm>
              <a:off x="4545" y="1716"/>
              <a:ext cx="47" cy="93"/>
            </a:xfrm>
            <a:custGeom>
              <a:avLst/>
              <a:gdLst>
                <a:gd name="T0" fmla="*/ 36 w 47"/>
                <a:gd name="T1" fmla="*/ 36 h 93"/>
                <a:gd name="T2" fmla="*/ 21 w 47"/>
                <a:gd name="T3" fmla="*/ 52 h 93"/>
                <a:gd name="T4" fmla="*/ 16 w 47"/>
                <a:gd name="T5" fmla="*/ 62 h 93"/>
                <a:gd name="T6" fmla="*/ 5 w 47"/>
                <a:gd name="T7" fmla="*/ 72 h 93"/>
                <a:gd name="T8" fmla="*/ 5 w 47"/>
                <a:gd name="T9" fmla="*/ 78 h 93"/>
                <a:gd name="T10" fmla="*/ 0 w 47"/>
                <a:gd name="T11" fmla="*/ 83 h 93"/>
                <a:gd name="T12" fmla="*/ 0 w 47"/>
                <a:gd name="T13" fmla="*/ 93 h 93"/>
                <a:gd name="T14" fmla="*/ 47 w 47"/>
                <a:gd name="T15" fmla="*/ 93 h 93"/>
                <a:gd name="T16" fmla="*/ 47 w 47"/>
                <a:gd name="T17" fmla="*/ 67 h 93"/>
                <a:gd name="T18" fmla="*/ 47 w 47"/>
                <a:gd name="T19" fmla="*/ 67 h 93"/>
                <a:gd name="T20" fmla="*/ 47 w 47"/>
                <a:gd name="T21" fmla="*/ 72 h 93"/>
                <a:gd name="T22" fmla="*/ 42 w 47"/>
                <a:gd name="T23" fmla="*/ 78 h 93"/>
                <a:gd name="T24" fmla="*/ 36 w 47"/>
                <a:gd name="T25" fmla="*/ 83 h 93"/>
                <a:gd name="T26" fmla="*/ 31 w 47"/>
                <a:gd name="T27" fmla="*/ 83 h 93"/>
                <a:gd name="T28" fmla="*/ 5 w 47"/>
                <a:gd name="T29" fmla="*/ 83 h 93"/>
                <a:gd name="T30" fmla="*/ 11 w 47"/>
                <a:gd name="T31" fmla="*/ 78 h 93"/>
                <a:gd name="T32" fmla="*/ 16 w 47"/>
                <a:gd name="T33" fmla="*/ 72 h 93"/>
                <a:gd name="T34" fmla="*/ 26 w 47"/>
                <a:gd name="T35" fmla="*/ 62 h 93"/>
                <a:gd name="T36" fmla="*/ 36 w 47"/>
                <a:gd name="T37" fmla="*/ 47 h 93"/>
                <a:gd name="T38" fmla="*/ 42 w 47"/>
                <a:gd name="T39" fmla="*/ 41 h 93"/>
                <a:gd name="T40" fmla="*/ 47 w 47"/>
                <a:gd name="T41" fmla="*/ 31 h 93"/>
                <a:gd name="T42" fmla="*/ 47 w 47"/>
                <a:gd name="T43" fmla="*/ 26 h 93"/>
                <a:gd name="T44" fmla="*/ 47 w 47"/>
                <a:gd name="T45" fmla="*/ 21 h 93"/>
                <a:gd name="T46" fmla="*/ 47 w 47"/>
                <a:gd name="T47" fmla="*/ 15 h 93"/>
                <a:gd name="T48" fmla="*/ 42 w 47"/>
                <a:gd name="T49" fmla="*/ 5 h 93"/>
                <a:gd name="T50" fmla="*/ 36 w 47"/>
                <a:gd name="T51" fmla="*/ 0 h 93"/>
                <a:gd name="T52" fmla="*/ 26 w 47"/>
                <a:gd name="T53" fmla="*/ 0 h 93"/>
                <a:gd name="T54" fmla="*/ 21 w 47"/>
                <a:gd name="T55" fmla="*/ 0 h 93"/>
                <a:gd name="T56" fmla="*/ 11 w 47"/>
                <a:gd name="T57" fmla="*/ 5 h 93"/>
                <a:gd name="T58" fmla="*/ 5 w 47"/>
                <a:gd name="T59" fmla="*/ 10 h 93"/>
                <a:gd name="T60" fmla="*/ 0 w 47"/>
                <a:gd name="T61" fmla="*/ 21 h 93"/>
                <a:gd name="T62" fmla="*/ 0 w 47"/>
                <a:gd name="T63" fmla="*/ 26 h 93"/>
                <a:gd name="T64" fmla="*/ 5 w 47"/>
                <a:gd name="T65" fmla="*/ 26 h 93"/>
                <a:gd name="T66" fmla="*/ 5 w 47"/>
                <a:gd name="T67" fmla="*/ 31 h 93"/>
                <a:gd name="T68" fmla="*/ 5 w 47"/>
                <a:gd name="T69" fmla="*/ 31 h 93"/>
                <a:gd name="T70" fmla="*/ 11 w 47"/>
                <a:gd name="T71" fmla="*/ 31 h 93"/>
                <a:gd name="T72" fmla="*/ 11 w 47"/>
                <a:gd name="T73" fmla="*/ 26 h 93"/>
                <a:gd name="T74" fmla="*/ 11 w 47"/>
                <a:gd name="T75" fmla="*/ 26 h 93"/>
                <a:gd name="T76" fmla="*/ 11 w 47"/>
                <a:gd name="T77" fmla="*/ 21 h 93"/>
                <a:gd name="T78" fmla="*/ 11 w 47"/>
                <a:gd name="T79" fmla="*/ 21 h 93"/>
                <a:gd name="T80" fmla="*/ 11 w 47"/>
                <a:gd name="T81" fmla="*/ 15 h 93"/>
                <a:gd name="T82" fmla="*/ 11 w 47"/>
                <a:gd name="T83" fmla="*/ 15 h 93"/>
                <a:gd name="T84" fmla="*/ 11 w 47"/>
                <a:gd name="T85" fmla="*/ 10 h 93"/>
                <a:gd name="T86" fmla="*/ 11 w 47"/>
                <a:gd name="T87" fmla="*/ 5 h 93"/>
                <a:gd name="T88" fmla="*/ 16 w 47"/>
                <a:gd name="T89" fmla="*/ 0 h 93"/>
                <a:gd name="T90" fmla="*/ 21 w 47"/>
                <a:gd name="T91" fmla="*/ 0 h 93"/>
                <a:gd name="T92" fmla="*/ 31 w 47"/>
                <a:gd name="T93" fmla="*/ 5 h 93"/>
                <a:gd name="T94" fmla="*/ 36 w 47"/>
                <a:gd name="T95" fmla="*/ 5 h 93"/>
                <a:gd name="T96" fmla="*/ 36 w 47"/>
                <a:gd name="T97" fmla="*/ 21 h 93"/>
                <a:gd name="T98" fmla="*/ 36 w 47"/>
                <a:gd name="T99" fmla="*/ 36 h 93"/>
                <a:gd name="T100" fmla="*/ 36 w 47"/>
                <a:gd name="T101" fmla="*/ 36 h 9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7" h="93">
                  <a:moveTo>
                    <a:pt x="36" y="36"/>
                  </a:moveTo>
                  <a:lnTo>
                    <a:pt x="21" y="52"/>
                  </a:lnTo>
                  <a:lnTo>
                    <a:pt x="16" y="62"/>
                  </a:lnTo>
                  <a:lnTo>
                    <a:pt x="5" y="72"/>
                  </a:lnTo>
                  <a:lnTo>
                    <a:pt x="5" y="78"/>
                  </a:lnTo>
                  <a:lnTo>
                    <a:pt x="0" y="83"/>
                  </a:lnTo>
                  <a:lnTo>
                    <a:pt x="0" y="93"/>
                  </a:lnTo>
                  <a:lnTo>
                    <a:pt x="47" y="93"/>
                  </a:lnTo>
                  <a:lnTo>
                    <a:pt x="47" y="67"/>
                  </a:lnTo>
                  <a:lnTo>
                    <a:pt x="47" y="72"/>
                  </a:lnTo>
                  <a:lnTo>
                    <a:pt x="42" y="78"/>
                  </a:lnTo>
                  <a:lnTo>
                    <a:pt x="36" y="83"/>
                  </a:lnTo>
                  <a:lnTo>
                    <a:pt x="31" y="83"/>
                  </a:lnTo>
                  <a:lnTo>
                    <a:pt x="5" y="83"/>
                  </a:lnTo>
                  <a:lnTo>
                    <a:pt x="11" y="78"/>
                  </a:lnTo>
                  <a:lnTo>
                    <a:pt x="16" y="72"/>
                  </a:lnTo>
                  <a:lnTo>
                    <a:pt x="26" y="62"/>
                  </a:lnTo>
                  <a:lnTo>
                    <a:pt x="36" y="47"/>
                  </a:lnTo>
                  <a:lnTo>
                    <a:pt x="42" y="41"/>
                  </a:lnTo>
                  <a:lnTo>
                    <a:pt x="47" y="31"/>
                  </a:lnTo>
                  <a:lnTo>
                    <a:pt x="47" y="26"/>
                  </a:lnTo>
                  <a:lnTo>
                    <a:pt x="47" y="21"/>
                  </a:lnTo>
                  <a:lnTo>
                    <a:pt x="47" y="15"/>
                  </a:lnTo>
                  <a:lnTo>
                    <a:pt x="42" y="5"/>
                  </a:lnTo>
                  <a:lnTo>
                    <a:pt x="36" y="0"/>
                  </a:lnTo>
                  <a:lnTo>
                    <a:pt x="26" y="0"/>
                  </a:lnTo>
                  <a:lnTo>
                    <a:pt x="21" y="0"/>
                  </a:lnTo>
                  <a:lnTo>
                    <a:pt x="11" y="5"/>
                  </a:lnTo>
                  <a:lnTo>
                    <a:pt x="5" y="10"/>
                  </a:lnTo>
                  <a:lnTo>
                    <a:pt x="0" y="21"/>
                  </a:lnTo>
                  <a:lnTo>
                    <a:pt x="0" y="26"/>
                  </a:lnTo>
                  <a:lnTo>
                    <a:pt x="5" y="26"/>
                  </a:lnTo>
                  <a:lnTo>
                    <a:pt x="5" y="31"/>
                  </a:lnTo>
                  <a:lnTo>
                    <a:pt x="11" y="31"/>
                  </a:lnTo>
                  <a:lnTo>
                    <a:pt x="11" y="26"/>
                  </a:lnTo>
                  <a:lnTo>
                    <a:pt x="11" y="21"/>
                  </a:lnTo>
                  <a:lnTo>
                    <a:pt x="11" y="15"/>
                  </a:lnTo>
                  <a:lnTo>
                    <a:pt x="11" y="10"/>
                  </a:lnTo>
                  <a:lnTo>
                    <a:pt x="11" y="5"/>
                  </a:lnTo>
                  <a:lnTo>
                    <a:pt x="16" y="0"/>
                  </a:lnTo>
                  <a:lnTo>
                    <a:pt x="21" y="0"/>
                  </a:lnTo>
                  <a:lnTo>
                    <a:pt x="31" y="5"/>
                  </a:lnTo>
                  <a:lnTo>
                    <a:pt x="36" y="5"/>
                  </a:lnTo>
                  <a:lnTo>
                    <a:pt x="36" y="21"/>
                  </a:lnTo>
                  <a:lnTo>
                    <a:pt x="36"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61" name="Rectangle 43">
              <a:extLst>
                <a:ext uri="{FF2B5EF4-FFF2-40B4-BE49-F238E27FC236}">
                  <a16:creationId xmlns:a16="http://schemas.microsoft.com/office/drawing/2014/main" id="{3D38A156-62FE-1213-FE41-6E68E15D1121}"/>
                </a:ext>
              </a:extLst>
            </p:cNvPr>
            <p:cNvSpPr>
              <a:spLocks noChangeArrowheads="1"/>
            </p:cNvSpPr>
            <p:nvPr/>
          </p:nvSpPr>
          <p:spPr bwMode="auto">
            <a:xfrm>
              <a:off x="4039" y="1968"/>
              <a:ext cx="576" cy="96"/>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3362" name="Line 44">
              <a:extLst>
                <a:ext uri="{FF2B5EF4-FFF2-40B4-BE49-F238E27FC236}">
                  <a16:creationId xmlns:a16="http://schemas.microsoft.com/office/drawing/2014/main" id="{B4AFDC18-ABD7-64BF-41BF-BD799F0EFB0D}"/>
                </a:ext>
              </a:extLst>
            </p:cNvPr>
            <p:cNvSpPr>
              <a:spLocks noChangeShapeType="1"/>
            </p:cNvSpPr>
            <p:nvPr/>
          </p:nvSpPr>
          <p:spPr bwMode="auto">
            <a:xfrm>
              <a:off x="5189" y="2016"/>
              <a:ext cx="336" cy="0"/>
            </a:xfrm>
            <a:prstGeom prst="line">
              <a:avLst/>
            </a:prstGeom>
            <a:noFill/>
            <a:ln w="38100">
              <a:solidFill>
                <a:srgbClr val="FFFF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03469" name="Text Box 45">
            <a:extLst>
              <a:ext uri="{FF2B5EF4-FFF2-40B4-BE49-F238E27FC236}">
                <a16:creationId xmlns:a16="http://schemas.microsoft.com/office/drawing/2014/main" id="{50EC4E1B-40BB-A45B-180C-84D972CA7A34}"/>
              </a:ext>
            </a:extLst>
          </p:cNvPr>
          <p:cNvSpPr txBox="1">
            <a:spLocks noChangeArrowheads="1"/>
          </p:cNvSpPr>
          <p:nvPr/>
        </p:nvSpPr>
        <p:spPr bwMode="auto">
          <a:xfrm>
            <a:off x="754063" y="2366963"/>
            <a:ext cx="47244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sz="2400" b="1">
                <a:solidFill>
                  <a:schemeClr val="bg1"/>
                </a:solidFill>
                <a:latin typeface="宋体" panose="02010600030101010101" pitchFamily="2" charset="-122"/>
              </a:rPr>
              <a:t>子弹穿过第一木块时，两木块速度相同，均为</a:t>
            </a:r>
            <a:r>
              <a:rPr lang="en-US" altLang="zh-CN" sz="2400" i="1">
                <a:solidFill>
                  <a:srgbClr val="66FFFF"/>
                </a:solidFill>
                <a:latin typeface="Bookman Old Style" panose="02050604050505020204" pitchFamily="18" charset="0"/>
              </a:rPr>
              <a:t>v</a:t>
            </a:r>
            <a:r>
              <a:rPr lang="en-US" altLang="zh-CN" sz="2400" b="1" baseline="-25000">
                <a:solidFill>
                  <a:srgbClr val="66FFFF"/>
                </a:solidFill>
                <a:latin typeface="Bookman Old Style" panose="02050604050505020204" pitchFamily="18" charset="0"/>
              </a:rPr>
              <a:t>1</a:t>
            </a:r>
            <a:r>
              <a:rPr lang="en-US" altLang="zh-CN" sz="2400" b="1">
                <a:solidFill>
                  <a:srgbClr val="66FFFF"/>
                </a:solidFill>
                <a:latin typeface="宋体" panose="02010600030101010101" pitchFamily="2" charset="-122"/>
              </a:rPr>
              <a:t> </a:t>
            </a:r>
          </a:p>
        </p:txBody>
      </p:sp>
      <p:sp>
        <p:nvSpPr>
          <p:cNvPr id="103470" name="Text Box 46">
            <a:extLst>
              <a:ext uri="{FF2B5EF4-FFF2-40B4-BE49-F238E27FC236}">
                <a16:creationId xmlns:a16="http://schemas.microsoft.com/office/drawing/2014/main" id="{D4118715-23F0-A22D-7EE4-EBB46D47755E}"/>
              </a:ext>
            </a:extLst>
          </p:cNvPr>
          <p:cNvSpPr txBox="1">
            <a:spLocks noChangeArrowheads="1"/>
          </p:cNvSpPr>
          <p:nvPr/>
        </p:nvSpPr>
        <p:spPr bwMode="auto">
          <a:xfrm>
            <a:off x="549275" y="4041775"/>
            <a:ext cx="6705600" cy="830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rPr>
              <a:t>子弹穿过第二木块后，第二木块速度变为</a:t>
            </a:r>
            <a:r>
              <a:rPr lang="en-US" altLang="zh-CN" sz="2400" i="1">
                <a:solidFill>
                  <a:srgbClr val="66FFFF"/>
                </a:solidFill>
                <a:latin typeface="Bookman Old Style" panose="02050604050505020204" pitchFamily="18" charset="0"/>
              </a:rPr>
              <a:t>v</a:t>
            </a:r>
            <a:r>
              <a:rPr lang="en-US" altLang="zh-CN" sz="2400" b="1" baseline="-25000">
                <a:solidFill>
                  <a:srgbClr val="66FFFF"/>
                </a:solidFill>
                <a:latin typeface="Times New Roman" panose="02020603050405020304" pitchFamily="18" charset="0"/>
              </a:rPr>
              <a:t>2</a:t>
            </a:r>
          </a:p>
          <a:p>
            <a:r>
              <a:rPr lang="en-US" altLang="zh-CN" sz="2400" b="1">
                <a:solidFill>
                  <a:srgbClr val="FFC000"/>
                </a:solidFill>
                <a:latin typeface="Times New Roman" panose="02020603050405020304" pitchFamily="18" charset="0"/>
              </a:rPr>
              <a:t>(</a:t>
            </a:r>
            <a:r>
              <a:rPr lang="zh-CN" altLang="en-US" sz="2400" b="1">
                <a:solidFill>
                  <a:srgbClr val="FFC000"/>
                </a:solidFill>
                <a:latin typeface="Times New Roman" panose="02020603050405020304" pitchFamily="18" charset="0"/>
              </a:rPr>
              <a:t>此处实质是研究的质点系发生变化</a:t>
            </a:r>
            <a:r>
              <a:rPr lang="en-US" altLang="zh-CN" sz="2400" b="1">
                <a:solidFill>
                  <a:srgbClr val="FFC000"/>
                </a:solidFill>
                <a:latin typeface="Times New Roman" panose="02020603050405020304" pitchFamily="18" charset="0"/>
              </a:rPr>
              <a:t>)</a:t>
            </a:r>
          </a:p>
        </p:txBody>
      </p:sp>
      <p:sp>
        <p:nvSpPr>
          <p:cNvPr id="103471" name="Text Box 47">
            <a:extLst>
              <a:ext uri="{FF2B5EF4-FFF2-40B4-BE49-F238E27FC236}">
                <a16:creationId xmlns:a16="http://schemas.microsoft.com/office/drawing/2014/main" id="{BEBBE2D2-57FC-258C-C7F5-CC50C77010D2}"/>
              </a:ext>
            </a:extLst>
          </p:cNvPr>
          <p:cNvSpPr txBox="1">
            <a:spLocks noChangeArrowheads="1"/>
          </p:cNvSpPr>
          <p:nvPr/>
        </p:nvSpPr>
        <p:spPr bwMode="auto">
          <a:xfrm>
            <a:off x="261938" y="276225"/>
            <a:ext cx="8223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rgbClr val="FFFF00"/>
                </a:solidFill>
                <a:latin typeface="Times New Roman" panose="02020603050405020304" pitchFamily="18" charset="0"/>
              </a:rPr>
              <a:t>例</a:t>
            </a:r>
          </a:p>
        </p:txBody>
      </p:sp>
      <p:sp>
        <p:nvSpPr>
          <p:cNvPr id="103472" name="Text Box 48">
            <a:extLst>
              <a:ext uri="{FF2B5EF4-FFF2-40B4-BE49-F238E27FC236}">
                <a16:creationId xmlns:a16="http://schemas.microsoft.com/office/drawing/2014/main" id="{F1DBB2FC-E6DE-647E-8D75-A8E01F1638C3}"/>
              </a:ext>
            </a:extLst>
          </p:cNvPr>
          <p:cNvSpPr txBox="1">
            <a:spLocks noChangeArrowheads="1"/>
          </p:cNvSpPr>
          <p:nvPr/>
        </p:nvSpPr>
        <p:spPr bwMode="auto">
          <a:xfrm>
            <a:off x="279400" y="2405063"/>
            <a:ext cx="8223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rgbClr val="FFFF00"/>
                </a:solidFill>
                <a:latin typeface="Times New Roman" panose="02020603050405020304" pitchFamily="18" charset="0"/>
              </a:rPr>
              <a:t>解</a:t>
            </a:r>
          </a:p>
        </p:txBody>
      </p:sp>
      <p:sp>
        <p:nvSpPr>
          <p:cNvPr id="103473" name="Text Box 49">
            <a:extLst>
              <a:ext uri="{FF2B5EF4-FFF2-40B4-BE49-F238E27FC236}">
                <a16:creationId xmlns:a16="http://schemas.microsoft.com/office/drawing/2014/main" id="{B65057DE-4AB8-EEF6-F78C-6BFFEFC9C80A}"/>
              </a:ext>
            </a:extLst>
          </p:cNvPr>
          <p:cNvSpPr txBox="1">
            <a:spLocks noChangeArrowheads="1"/>
          </p:cNvSpPr>
          <p:nvPr/>
        </p:nvSpPr>
        <p:spPr bwMode="auto">
          <a:xfrm>
            <a:off x="279400" y="1812925"/>
            <a:ext cx="6858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rgbClr val="FFFF00"/>
                </a:solidFill>
                <a:latin typeface="Times New Roman" panose="02020603050405020304" pitchFamily="18" charset="0"/>
              </a:rPr>
              <a:t>求 </a:t>
            </a:r>
            <a:r>
              <a:rPr lang="zh-CN" altLang="en-US" sz="2400" b="1">
                <a:solidFill>
                  <a:schemeClr val="bg1"/>
                </a:solidFill>
                <a:latin typeface="Times New Roman" panose="02020603050405020304" pitchFamily="18" charset="0"/>
              </a:rPr>
              <a:t> 子弹穿过后， 两木块各以多大速度运动</a:t>
            </a:r>
          </a:p>
        </p:txBody>
      </p:sp>
      <p:sp>
        <p:nvSpPr>
          <p:cNvPr id="103474" name="Text Box 50">
            <a:extLst>
              <a:ext uri="{FF2B5EF4-FFF2-40B4-BE49-F238E27FC236}">
                <a16:creationId xmlns:a16="http://schemas.microsoft.com/office/drawing/2014/main" id="{E48B293B-AFF0-6F9B-5677-8AFDD69E3F22}"/>
              </a:ext>
            </a:extLst>
          </p:cNvPr>
          <p:cNvSpPr txBox="1">
            <a:spLocks noChangeArrowheads="1"/>
          </p:cNvSpPr>
          <p:nvPr/>
        </p:nvSpPr>
        <p:spPr bwMode="auto">
          <a:xfrm>
            <a:off x="735013" y="5707063"/>
            <a:ext cx="11080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chemeClr val="bg1"/>
                </a:solidFill>
                <a:latin typeface="Times New Roman" panose="02020603050405020304" pitchFamily="18" charset="0"/>
              </a:rPr>
              <a:t>解得</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71"/>
                                        </p:tgtEl>
                                        <p:attrNameLst>
                                          <p:attrName>style.visibility</p:attrName>
                                        </p:attrNameLst>
                                      </p:cBhvr>
                                      <p:to>
                                        <p:strVal val="visible"/>
                                      </p:to>
                                    </p:set>
                                    <p:animEffect transition="in" filter="wipe(left)">
                                      <p:cBhvr>
                                        <p:cTn id="7" dur="500"/>
                                        <p:tgtEl>
                                          <p:spTgt spid="1034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426"/>
                                        </p:tgtEl>
                                        <p:attrNameLst>
                                          <p:attrName>style.visibility</p:attrName>
                                        </p:attrNameLst>
                                      </p:cBhvr>
                                      <p:to>
                                        <p:strVal val="visible"/>
                                      </p:to>
                                    </p:set>
                                    <p:animEffect transition="in" filter="wipe(left)">
                                      <p:cBhvr>
                                        <p:cTn id="12" dur="500"/>
                                        <p:tgtEl>
                                          <p:spTgt spid="1034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3473"/>
                                        </p:tgtEl>
                                        <p:attrNameLst>
                                          <p:attrName>style.visibility</p:attrName>
                                        </p:attrNameLst>
                                      </p:cBhvr>
                                      <p:to>
                                        <p:strVal val="visible"/>
                                      </p:to>
                                    </p:set>
                                    <p:animEffect transition="in" filter="wipe(left)">
                                      <p:cBhvr>
                                        <p:cTn id="17" dur="500"/>
                                        <p:tgtEl>
                                          <p:spTgt spid="1034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3431"/>
                                        </p:tgtEl>
                                        <p:attrNameLst>
                                          <p:attrName>style.visibility</p:attrName>
                                        </p:attrNameLst>
                                      </p:cBhvr>
                                      <p:to>
                                        <p:strVal val="visible"/>
                                      </p:to>
                                    </p:set>
                                    <p:animEffect transition="in" filter="wipe(left)">
                                      <p:cBhvr>
                                        <p:cTn id="22" dur="500"/>
                                        <p:tgtEl>
                                          <p:spTgt spid="1034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3472"/>
                                        </p:tgtEl>
                                        <p:attrNameLst>
                                          <p:attrName>style.visibility</p:attrName>
                                        </p:attrNameLst>
                                      </p:cBhvr>
                                      <p:to>
                                        <p:strVal val="visible"/>
                                      </p:to>
                                    </p:set>
                                    <p:animEffect transition="in" filter="wipe(left)">
                                      <p:cBhvr>
                                        <p:cTn id="27" dur="500"/>
                                        <p:tgtEl>
                                          <p:spTgt spid="1034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03469"/>
                                        </p:tgtEl>
                                        <p:attrNameLst>
                                          <p:attrName>style.visibility</p:attrName>
                                        </p:attrNameLst>
                                      </p:cBhvr>
                                      <p:to>
                                        <p:strVal val="visible"/>
                                      </p:to>
                                    </p:set>
                                    <p:animEffect transition="in" filter="wipe(left)">
                                      <p:cBhvr>
                                        <p:cTn id="32" dur="500"/>
                                        <p:tgtEl>
                                          <p:spTgt spid="1034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3427"/>
                                        </p:tgtEl>
                                        <p:attrNameLst>
                                          <p:attrName>style.visibility</p:attrName>
                                        </p:attrNameLst>
                                      </p:cBhvr>
                                      <p:to>
                                        <p:strVal val="visible"/>
                                      </p:to>
                                    </p:set>
                                    <p:animEffect transition="in" filter="wipe(left)">
                                      <p:cBhvr>
                                        <p:cTn id="37" dur="500"/>
                                        <p:tgtEl>
                                          <p:spTgt spid="10342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03470"/>
                                        </p:tgtEl>
                                        <p:attrNameLst>
                                          <p:attrName>style.visibility</p:attrName>
                                        </p:attrNameLst>
                                      </p:cBhvr>
                                      <p:to>
                                        <p:strVal val="visible"/>
                                      </p:to>
                                    </p:set>
                                    <p:animEffect transition="in" filter="wipe(left)">
                                      <p:cBhvr>
                                        <p:cTn id="42" dur="300"/>
                                        <p:tgtEl>
                                          <p:spTgt spid="10347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03428"/>
                                        </p:tgtEl>
                                        <p:attrNameLst>
                                          <p:attrName>style.visibility</p:attrName>
                                        </p:attrNameLst>
                                      </p:cBhvr>
                                      <p:to>
                                        <p:strVal val="visible"/>
                                      </p:to>
                                    </p:set>
                                    <p:animEffect transition="in" filter="wipe(left)">
                                      <p:cBhvr>
                                        <p:cTn id="47" dur="500"/>
                                        <p:tgtEl>
                                          <p:spTgt spid="10342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3474"/>
                                        </p:tgtEl>
                                        <p:attrNameLst>
                                          <p:attrName>style.visibility</p:attrName>
                                        </p:attrNameLst>
                                      </p:cBhvr>
                                      <p:to>
                                        <p:strVal val="visible"/>
                                      </p:to>
                                    </p:set>
                                    <p:animEffect transition="in" filter="wipe(left)">
                                      <p:cBhvr>
                                        <p:cTn id="52" dur="500"/>
                                        <p:tgtEl>
                                          <p:spTgt spid="10347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03429"/>
                                        </p:tgtEl>
                                        <p:attrNameLst>
                                          <p:attrName>style.visibility</p:attrName>
                                        </p:attrNameLst>
                                      </p:cBhvr>
                                      <p:to>
                                        <p:strVal val="visible"/>
                                      </p:to>
                                    </p:set>
                                    <p:animEffect transition="in" filter="wipe(left)">
                                      <p:cBhvr>
                                        <p:cTn id="57" dur="500"/>
                                        <p:tgtEl>
                                          <p:spTgt spid="10342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03430"/>
                                        </p:tgtEl>
                                        <p:attrNameLst>
                                          <p:attrName>style.visibility</p:attrName>
                                        </p:attrNameLst>
                                      </p:cBhvr>
                                      <p:to>
                                        <p:strVal val="visible"/>
                                      </p:to>
                                    </p:set>
                                    <p:animEffect transition="in" filter="wipe(left)">
                                      <p:cBhvr>
                                        <p:cTn id="62" dur="500"/>
                                        <p:tgtEl>
                                          <p:spTgt spid="103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autoUpdateAnimBg="0"/>
      <p:bldP spid="103469" grpId="0" autoUpdateAnimBg="0"/>
      <p:bldP spid="103470" grpId="0" autoUpdateAnimBg="0"/>
      <p:bldP spid="103471" grpId="0"/>
      <p:bldP spid="103472" grpId="0"/>
      <p:bldP spid="103473" grpId="0"/>
      <p:bldP spid="10347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B062D16-146E-9FEE-3A9A-DCE85F0801FE}"/>
              </a:ext>
            </a:extLst>
          </p:cNvPr>
          <p:cNvSpPr>
            <a:spLocks noChangeArrowheads="1"/>
          </p:cNvSpPr>
          <p:nvPr/>
        </p:nvSpPr>
        <p:spPr bwMode="auto">
          <a:xfrm>
            <a:off x="1763713" y="384175"/>
            <a:ext cx="57356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3200" b="1">
                <a:solidFill>
                  <a:srgbClr val="66FF33"/>
                </a:solidFill>
                <a:latin typeface="Times New Roman" panose="02020603050405020304" pitchFamily="18" charset="0"/>
                <a:ea typeface="黑体" panose="02010609060101010101" pitchFamily="49" charset="-122"/>
              </a:rPr>
              <a:t>4.3</a:t>
            </a:r>
            <a:r>
              <a:rPr kumimoji="1" lang="en-US" altLang="zh-CN" sz="3200" b="1">
                <a:solidFill>
                  <a:srgbClr val="66FF33"/>
                </a:solidFill>
                <a:latin typeface="黑体" panose="02010609060101010101" pitchFamily="49" charset="-122"/>
                <a:ea typeface="黑体" panose="02010609060101010101" pitchFamily="49" charset="-122"/>
              </a:rPr>
              <a:t> </a:t>
            </a:r>
            <a:r>
              <a:rPr lang="zh-CN" altLang="en-US" sz="3200" b="1">
                <a:solidFill>
                  <a:srgbClr val="66FF33"/>
                </a:solidFill>
                <a:latin typeface="黑体" panose="02010609060101010101" pitchFamily="49" charset="-122"/>
                <a:ea typeface="黑体" panose="02010609060101010101" pitchFamily="49" charset="-122"/>
              </a:rPr>
              <a:t>质点系动量守恒定律</a:t>
            </a:r>
          </a:p>
        </p:txBody>
      </p:sp>
      <p:sp>
        <p:nvSpPr>
          <p:cNvPr id="14339" name="Text Box 3">
            <a:extLst>
              <a:ext uri="{FF2B5EF4-FFF2-40B4-BE49-F238E27FC236}">
                <a16:creationId xmlns:a16="http://schemas.microsoft.com/office/drawing/2014/main" id="{D68FE397-84E0-4FEA-9E30-4930AFEBA413}"/>
              </a:ext>
            </a:extLst>
          </p:cNvPr>
          <p:cNvSpPr txBox="1">
            <a:spLocks noChangeArrowheads="1"/>
          </p:cNvSpPr>
          <p:nvPr/>
        </p:nvSpPr>
        <p:spPr bwMode="auto">
          <a:xfrm>
            <a:off x="715963" y="1219200"/>
            <a:ext cx="485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rPr>
              <a:t>当</a:t>
            </a:r>
            <a:endParaRPr lang="zh-CN" altLang="en-US" sz="2400">
              <a:solidFill>
                <a:schemeClr val="bg1"/>
              </a:solidFill>
              <a:latin typeface="Times New Roman" panose="02020603050405020304" pitchFamily="18" charset="0"/>
            </a:endParaRPr>
          </a:p>
        </p:txBody>
      </p:sp>
      <p:graphicFrame>
        <p:nvGraphicFramePr>
          <p:cNvPr id="14340" name="Object 4">
            <a:extLst>
              <a:ext uri="{FF2B5EF4-FFF2-40B4-BE49-F238E27FC236}">
                <a16:creationId xmlns:a16="http://schemas.microsoft.com/office/drawing/2014/main" id="{AC540152-8F9A-D9DE-6C67-7054C5133316}"/>
              </a:ext>
            </a:extLst>
          </p:cNvPr>
          <p:cNvGraphicFramePr>
            <a:graphicFrameLocks/>
          </p:cNvGraphicFramePr>
          <p:nvPr/>
        </p:nvGraphicFramePr>
        <p:xfrm>
          <a:off x="1698625" y="1268413"/>
          <a:ext cx="1154113" cy="650875"/>
        </p:xfrm>
        <a:graphic>
          <a:graphicData uri="http://schemas.openxmlformats.org/presentationml/2006/ole">
            <mc:AlternateContent xmlns:mc="http://schemas.openxmlformats.org/markup-compatibility/2006">
              <mc:Choice xmlns:v="urn:schemas-microsoft-com:vml" Requires="v">
                <p:oleObj name="Equation" r:id="rId2" imgW="1152380" imgH="600075" progId="Equation.3">
                  <p:embed/>
                </p:oleObj>
              </mc:Choice>
              <mc:Fallback>
                <p:oleObj name="Equation" r:id="rId2" imgW="1152380" imgH="600075"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25" y="1268413"/>
                        <a:ext cx="1154113"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1" name="AutoShape 5">
            <a:extLst>
              <a:ext uri="{FF2B5EF4-FFF2-40B4-BE49-F238E27FC236}">
                <a16:creationId xmlns:a16="http://schemas.microsoft.com/office/drawing/2014/main" id="{AE41C24D-6DF3-A5CA-D6FE-FA66147CF045}"/>
              </a:ext>
            </a:extLst>
          </p:cNvPr>
          <p:cNvSpPr>
            <a:spLocks noChangeArrowheads="1"/>
          </p:cNvSpPr>
          <p:nvPr/>
        </p:nvSpPr>
        <p:spPr bwMode="auto">
          <a:xfrm>
            <a:off x="3454400" y="1357313"/>
            <a:ext cx="685800" cy="271462"/>
          </a:xfrm>
          <a:prstGeom prst="rightArrow">
            <a:avLst>
              <a:gd name="adj1" fmla="val 50000"/>
              <a:gd name="adj2" fmla="val 63158"/>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4342" name="Object 6">
            <a:extLst>
              <a:ext uri="{FF2B5EF4-FFF2-40B4-BE49-F238E27FC236}">
                <a16:creationId xmlns:a16="http://schemas.microsoft.com/office/drawing/2014/main" id="{E0BB350D-45B7-AE17-CE5C-9E2955511D4C}"/>
              </a:ext>
            </a:extLst>
          </p:cNvPr>
          <p:cNvGraphicFramePr>
            <a:graphicFrameLocks/>
          </p:cNvGraphicFramePr>
          <p:nvPr/>
        </p:nvGraphicFramePr>
        <p:xfrm>
          <a:off x="4787900" y="1287463"/>
          <a:ext cx="1771650" cy="457200"/>
        </p:xfrm>
        <a:graphic>
          <a:graphicData uri="http://schemas.openxmlformats.org/presentationml/2006/ole">
            <mc:AlternateContent xmlns:mc="http://schemas.openxmlformats.org/markup-compatibility/2006">
              <mc:Choice xmlns:v="urn:schemas-microsoft-com:vml" Requires="v">
                <p:oleObj name="公式" r:id="rId4" imgW="1838421" imgH="381039" progId="Equation.3">
                  <p:embed/>
                </p:oleObj>
              </mc:Choice>
              <mc:Fallback>
                <p:oleObj name="公式" r:id="rId4" imgW="1838421" imgH="381039"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1287463"/>
                        <a:ext cx="17716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3" name="Object 7">
            <a:extLst>
              <a:ext uri="{FF2B5EF4-FFF2-40B4-BE49-F238E27FC236}">
                <a16:creationId xmlns:a16="http://schemas.microsoft.com/office/drawing/2014/main" id="{DEFD9C29-9F2B-0B5F-5C42-918D41123631}"/>
              </a:ext>
            </a:extLst>
          </p:cNvPr>
          <p:cNvGraphicFramePr>
            <a:graphicFrameLocks/>
          </p:cNvGraphicFramePr>
          <p:nvPr/>
        </p:nvGraphicFramePr>
        <p:xfrm>
          <a:off x="4140200" y="2557463"/>
          <a:ext cx="2387600" cy="457200"/>
        </p:xfrm>
        <a:graphic>
          <a:graphicData uri="http://schemas.openxmlformats.org/presentationml/2006/ole">
            <mc:AlternateContent xmlns:mc="http://schemas.openxmlformats.org/markup-compatibility/2006">
              <mc:Choice xmlns:v="urn:schemas-microsoft-com:vml" Requires="v">
                <p:oleObj name="公式" r:id="rId6" imgW="2524111" imgH="381039" progId="Equation.3">
                  <p:embed/>
                </p:oleObj>
              </mc:Choice>
              <mc:Fallback>
                <p:oleObj name="公式" r:id="rId6" imgW="2524111" imgH="381039"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0200" y="2557463"/>
                        <a:ext cx="2387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4" name="Text Box 8">
            <a:extLst>
              <a:ext uri="{FF2B5EF4-FFF2-40B4-BE49-F238E27FC236}">
                <a16:creationId xmlns:a16="http://schemas.microsoft.com/office/drawing/2014/main" id="{42919685-E292-87BC-DAC2-7CC872BA0917}"/>
              </a:ext>
            </a:extLst>
          </p:cNvPr>
          <p:cNvSpPr txBox="1">
            <a:spLocks noChangeArrowheads="1"/>
          </p:cNvSpPr>
          <p:nvPr/>
        </p:nvSpPr>
        <p:spPr bwMode="auto">
          <a:xfrm>
            <a:off x="723900" y="3235325"/>
            <a:ext cx="2949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rPr>
              <a:t>动量守恒的分量表述</a:t>
            </a:r>
            <a:endParaRPr lang="zh-CN" altLang="en-US" sz="2400">
              <a:solidFill>
                <a:schemeClr val="bg1"/>
              </a:solidFill>
              <a:latin typeface="Times New Roman" panose="02020603050405020304" pitchFamily="18" charset="0"/>
            </a:endParaRPr>
          </a:p>
        </p:txBody>
      </p:sp>
      <p:graphicFrame>
        <p:nvGraphicFramePr>
          <p:cNvPr id="14345" name="Object 10">
            <a:extLst>
              <a:ext uri="{FF2B5EF4-FFF2-40B4-BE49-F238E27FC236}">
                <a16:creationId xmlns:a16="http://schemas.microsoft.com/office/drawing/2014/main" id="{62D49685-9220-5FD9-A7D8-3A559FD098FF}"/>
              </a:ext>
            </a:extLst>
          </p:cNvPr>
          <p:cNvGraphicFramePr>
            <a:graphicFrameLocks/>
          </p:cNvGraphicFramePr>
          <p:nvPr/>
        </p:nvGraphicFramePr>
        <p:xfrm>
          <a:off x="2771775" y="3933825"/>
          <a:ext cx="4044950" cy="1576388"/>
        </p:xfrm>
        <a:graphic>
          <a:graphicData uri="http://schemas.openxmlformats.org/presentationml/2006/ole">
            <mc:AlternateContent xmlns:mc="http://schemas.openxmlformats.org/markup-compatibility/2006">
              <mc:Choice xmlns:v="urn:schemas-microsoft-com:vml" Requires="v">
                <p:oleObj name="公式" r:id="rId8" imgW="4371978" imgH="1628775" progId="Equation.3">
                  <p:embed/>
                </p:oleObj>
              </mc:Choice>
              <mc:Fallback>
                <p:oleObj name="公式" r:id="rId8" imgW="4371978" imgH="1628775" progId="Equation.3">
                  <p:embed/>
                  <p:pic>
                    <p:nvPicPr>
                      <p:cNvPr id="0" name="Object 1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775" y="3933825"/>
                        <a:ext cx="4044950" cy="157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6" name="Text Box 11">
            <a:extLst>
              <a:ext uri="{FF2B5EF4-FFF2-40B4-BE49-F238E27FC236}">
                <a16:creationId xmlns:a16="http://schemas.microsoft.com/office/drawing/2014/main" id="{16C75349-3DA4-EF43-6D71-61FA15D27907}"/>
              </a:ext>
            </a:extLst>
          </p:cNvPr>
          <p:cNvSpPr txBox="1">
            <a:spLocks noChangeArrowheads="1"/>
          </p:cNvSpPr>
          <p:nvPr/>
        </p:nvSpPr>
        <p:spPr bwMode="auto">
          <a:xfrm>
            <a:off x="735013" y="2041525"/>
            <a:ext cx="36417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bIns="82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2400" b="1">
                <a:solidFill>
                  <a:schemeClr val="bg1"/>
                </a:solidFill>
                <a:latin typeface="Times New Roman" panose="02020603050405020304" pitchFamily="18" charset="0"/>
              </a:rPr>
              <a:t>质点系动量守恒定律</a:t>
            </a:r>
          </a:p>
        </p:txBody>
      </p:sp>
    </p:spTree>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9">
            <a:extLst>
              <a:ext uri="{FF2B5EF4-FFF2-40B4-BE49-F238E27FC236}">
                <a16:creationId xmlns:a16="http://schemas.microsoft.com/office/drawing/2014/main" id="{CB590163-EB45-4BF9-A463-780A843F3C83}"/>
              </a:ext>
            </a:extLst>
          </p:cNvPr>
          <p:cNvSpPr txBox="1">
            <a:spLocks noChangeArrowheads="1"/>
          </p:cNvSpPr>
          <p:nvPr/>
        </p:nvSpPr>
        <p:spPr bwMode="auto">
          <a:xfrm>
            <a:off x="246063" y="981075"/>
            <a:ext cx="8496300" cy="1570038"/>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chemeClr val="bg1"/>
                </a:solidFill>
                <a:latin typeface="+mn-ea"/>
                <a:ea typeface="+mn-ea"/>
              </a:rPr>
              <a:t>(1)</a:t>
            </a:r>
            <a:r>
              <a:rPr lang="zh-CN" altLang="en-US" sz="2400" b="1">
                <a:solidFill>
                  <a:schemeClr val="bg1"/>
                </a:solidFill>
                <a:latin typeface="+mn-ea"/>
                <a:ea typeface="+mn-ea"/>
              </a:rPr>
              <a:t>尽管这里</a:t>
            </a:r>
            <a:r>
              <a:rPr lang="zh-CN" altLang="zh-CN" sz="2400" b="1">
                <a:solidFill>
                  <a:schemeClr val="bg1"/>
                </a:solidFill>
                <a:latin typeface="+mn-ea"/>
                <a:ea typeface="+mn-ea"/>
              </a:rPr>
              <a:t>动量的概念是由牛顿第二定律引入的，牛顿第二定律只在一定条件下适用，</a:t>
            </a:r>
            <a:r>
              <a:rPr lang="zh-CN" altLang="en-US" sz="2400" b="1">
                <a:solidFill>
                  <a:schemeClr val="bg1"/>
                </a:solidFill>
                <a:latin typeface="+mn-ea"/>
                <a:ea typeface="+mn-ea"/>
              </a:rPr>
              <a:t>动量守恒定律事实上独立于牛顿定律，</a:t>
            </a:r>
            <a:r>
              <a:rPr lang="zh-CN" altLang="zh-CN" sz="2400" b="1">
                <a:solidFill>
                  <a:schemeClr val="bg1"/>
                </a:solidFill>
                <a:latin typeface="+mn-ea"/>
                <a:ea typeface="+mn-ea"/>
              </a:rPr>
              <a:t>而动量和动量守恒定律则不限于这个范围。</a:t>
            </a:r>
          </a:p>
          <a:p>
            <a:pPr>
              <a:defRPr/>
            </a:pPr>
            <a:endParaRPr lang="zh-CN" altLang="en-US" sz="2400">
              <a:solidFill>
                <a:schemeClr val="bg1"/>
              </a:solidFill>
              <a:latin typeface="+mn-ea"/>
              <a:ea typeface="+mn-ea"/>
            </a:endParaRPr>
          </a:p>
        </p:txBody>
      </p:sp>
      <p:sp>
        <p:nvSpPr>
          <p:cNvPr id="5" name="Text Box 12">
            <a:extLst>
              <a:ext uri="{FF2B5EF4-FFF2-40B4-BE49-F238E27FC236}">
                <a16:creationId xmlns:a16="http://schemas.microsoft.com/office/drawing/2014/main" id="{E12E3C06-ED41-4545-BDCC-FF5ED21E2BD6}"/>
              </a:ext>
            </a:extLst>
          </p:cNvPr>
          <p:cNvSpPr txBox="1">
            <a:spLocks noChangeArrowheads="1"/>
          </p:cNvSpPr>
          <p:nvPr/>
        </p:nvSpPr>
        <p:spPr bwMode="auto">
          <a:xfrm>
            <a:off x="157163" y="115888"/>
            <a:ext cx="1606550" cy="457200"/>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zh-CN" altLang="en-US" sz="2400" b="1">
                <a:solidFill>
                  <a:srgbClr val="FFFF00"/>
                </a:solidFill>
                <a:latin typeface="+mn-ea"/>
                <a:ea typeface="+mn-ea"/>
              </a:rPr>
              <a:t>说明</a:t>
            </a:r>
          </a:p>
        </p:txBody>
      </p:sp>
      <p:sp>
        <p:nvSpPr>
          <p:cNvPr id="6" name="Text Box 13">
            <a:extLst>
              <a:ext uri="{FF2B5EF4-FFF2-40B4-BE49-F238E27FC236}">
                <a16:creationId xmlns:a16="http://schemas.microsoft.com/office/drawing/2014/main" id="{FCFBE89A-3756-45C9-9D4C-B2CA87E116CF}"/>
              </a:ext>
            </a:extLst>
          </p:cNvPr>
          <p:cNvSpPr txBox="1">
            <a:spLocks noChangeArrowheads="1"/>
          </p:cNvSpPr>
          <p:nvPr/>
        </p:nvSpPr>
        <p:spPr bwMode="auto">
          <a:xfrm>
            <a:off x="280988" y="2420938"/>
            <a:ext cx="8453437" cy="1200150"/>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dirty="0">
                <a:solidFill>
                  <a:schemeClr val="bg1"/>
                </a:solidFill>
                <a:latin typeface="+mn-ea"/>
                <a:ea typeface="+mn-ea"/>
              </a:rPr>
              <a:t>(2) </a:t>
            </a:r>
            <a:r>
              <a:rPr lang="zh-CN" altLang="en-US" sz="2400" b="1" dirty="0">
                <a:solidFill>
                  <a:schemeClr val="bg1"/>
                </a:solidFill>
                <a:latin typeface="+mn-ea"/>
                <a:ea typeface="+mn-ea"/>
              </a:rPr>
              <a:t>动量守恒定律也适用于高速和微观领域，它与</a:t>
            </a:r>
            <a:r>
              <a:rPr lang="zh-CN" altLang="en-US" sz="2400" b="1" dirty="0">
                <a:solidFill>
                  <a:srgbClr val="FFC000"/>
                </a:solidFill>
                <a:latin typeface="+mn-ea"/>
                <a:ea typeface="+mn-ea"/>
              </a:rPr>
              <a:t>空间平移不变性</a:t>
            </a:r>
            <a:r>
              <a:rPr lang="zh-CN" altLang="en-US" sz="2400" b="1" dirty="0">
                <a:solidFill>
                  <a:schemeClr val="bg1"/>
                </a:solidFill>
                <a:latin typeface="+mn-ea"/>
                <a:ea typeface="+mn-ea"/>
              </a:rPr>
              <a:t>相联系，与能量守恒定律（</a:t>
            </a:r>
            <a:r>
              <a:rPr lang="zh-CN" altLang="en-US" sz="2400" b="1" dirty="0">
                <a:solidFill>
                  <a:srgbClr val="FFC000"/>
                </a:solidFill>
                <a:latin typeface="+mn-ea"/>
                <a:ea typeface="+mn-ea"/>
              </a:rPr>
              <a:t>时间平移不变性</a:t>
            </a:r>
            <a:r>
              <a:rPr lang="zh-CN" altLang="en-US" sz="2400" b="1" dirty="0">
                <a:solidFill>
                  <a:schemeClr val="bg1"/>
                </a:solidFill>
                <a:latin typeface="+mn-ea"/>
                <a:ea typeface="+mn-ea"/>
              </a:rPr>
              <a:t>相联系）一样是物理学中最普适的定律！</a:t>
            </a:r>
          </a:p>
        </p:txBody>
      </p:sp>
      <p:sp>
        <p:nvSpPr>
          <p:cNvPr id="7" name="AutoShape 14">
            <a:extLst>
              <a:ext uri="{FF2B5EF4-FFF2-40B4-BE49-F238E27FC236}">
                <a16:creationId xmlns:a16="http://schemas.microsoft.com/office/drawing/2014/main" id="{5C20AEAA-840D-49DD-A04B-EB08F28F5F85}"/>
              </a:ext>
            </a:extLst>
          </p:cNvPr>
          <p:cNvSpPr>
            <a:spLocks noChangeArrowheads="1"/>
          </p:cNvSpPr>
          <p:nvPr/>
        </p:nvSpPr>
        <p:spPr bwMode="auto">
          <a:xfrm>
            <a:off x="204788" y="4286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latin typeface="+mn-ea"/>
              <a:ea typeface="+mn-ea"/>
            </a:endParaRPr>
          </a:p>
        </p:txBody>
      </p:sp>
      <p:sp>
        <p:nvSpPr>
          <p:cNvPr id="8" name="Text Box 13">
            <a:extLst>
              <a:ext uri="{FF2B5EF4-FFF2-40B4-BE49-F238E27FC236}">
                <a16:creationId xmlns:a16="http://schemas.microsoft.com/office/drawing/2014/main" id="{B4EBF3D9-76EB-48A7-B7DA-B6B8A7CDD9C1}"/>
              </a:ext>
            </a:extLst>
          </p:cNvPr>
          <p:cNvSpPr txBox="1">
            <a:spLocks noChangeArrowheads="1"/>
          </p:cNvSpPr>
          <p:nvPr/>
        </p:nvSpPr>
        <p:spPr bwMode="auto">
          <a:xfrm>
            <a:off x="287338" y="3789363"/>
            <a:ext cx="8597900" cy="1938337"/>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dirty="0">
                <a:solidFill>
                  <a:schemeClr val="bg1"/>
                </a:solidFill>
                <a:latin typeface="+mn-ea"/>
                <a:ea typeface="+mn-ea"/>
              </a:rPr>
              <a:t>(3) </a:t>
            </a:r>
            <a:r>
              <a:rPr lang="zh-CN" altLang="en-US" sz="2400" b="1" dirty="0">
                <a:solidFill>
                  <a:schemeClr val="bg1"/>
                </a:solidFill>
                <a:latin typeface="+mn-ea"/>
                <a:ea typeface="+mn-ea"/>
              </a:rPr>
              <a:t>动量是质点机械运动的一种度量，动量和动能都是描述物体机械运动的物理量，但是它们的描述角度不同。</a:t>
            </a:r>
            <a:endParaRPr lang="en-US" altLang="zh-CN" sz="2400" b="1" dirty="0">
              <a:solidFill>
                <a:schemeClr val="bg1"/>
              </a:solidFill>
              <a:latin typeface="+mn-ea"/>
              <a:ea typeface="+mn-ea"/>
            </a:endParaRPr>
          </a:p>
          <a:p>
            <a:pPr>
              <a:defRPr/>
            </a:pPr>
            <a:endParaRPr lang="en-US" altLang="zh-CN" sz="2400" b="1" dirty="0">
              <a:solidFill>
                <a:schemeClr val="bg1"/>
              </a:solidFill>
              <a:latin typeface="+mn-ea"/>
              <a:ea typeface="+mn-ea"/>
            </a:endParaRPr>
          </a:p>
          <a:p>
            <a:pPr>
              <a:defRPr/>
            </a:pPr>
            <a:r>
              <a:rPr lang="zh-CN" altLang="en-US" sz="2400" b="1" dirty="0">
                <a:solidFill>
                  <a:schemeClr val="bg1"/>
                </a:solidFill>
                <a:latin typeface="+mn-ea"/>
                <a:ea typeface="+mn-ea"/>
              </a:rPr>
              <a:t>动量的变化是和力在</a:t>
            </a:r>
            <a:r>
              <a:rPr lang="zh-CN" altLang="en-US" sz="2400" b="1" dirty="0">
                <a:solidFill>
                  <a:srgbClr val="FF0000"/>
                </a:solidFill>
                <a:latin typeface="+mn-ea"/>
                <a:ea typeface="+mn-ea"/>
              </a:rPr>
              <a:t>时间</a:t>
            </a:r>
            <a:r>
              <a:rPr lang="zh-CN" altLang="en-US" sz="2400" b="1" dirty="0">
                <a:solidFill>
                  <a:schemeClr val="bg1"/>
                </a:solidFill>
                <a:latin typeface="+mn-ea"/>
                <a:ea typeface="+mn-ea"/>
              </a:rPr>
              <a:t>上的积累作用相关的，动量是矢量。</a:t>
            </a:r>
            <a:endParaRPr lang="en-US" altLang="zh-CN" sz="2400" b="1" dirty="0">
              <a:solidFill>
                <a:schemeClr val="bg1"/>
              </a:solidFill>
              <a:latin typeface="+mn-ea"/>
              <a:ea typeface="+mn-ea"/>
            </a:endParaRPr>
          </a:p>
          <a:p>
            <a:pPr>
              <a:defRPr/>
            </a:pPr>
            <a:r>
              <a:rPr lang="zh-CN" altLang="en-US" sz="2400" b="1" dirty="0">
                <a:solidFill>
                  <a:schemeClr val="bg1"/>
                </a:solidFill>
                <a:latin typeface="+mn-ea"/>
                <a:ea typeface="+mn-ea"/>
              </a:rPr>
              <a:t>动能的变化是和力在</a:t>
            </a:r>
            <a:r>
              <a:rPr lang="zh-CN" altLang="en-US" sz="2400" b="1" dirty="0">
                <a:solidFill>
                  <a:srgbClr val="FF0000"/>
                </a:solidFill>
                <a:latin typeface="+mn-ea"/>
                <a:ea typeface="+mn-ea"/>
              </a:rPr>
              <a:t>空间</a:t>
            </a:r>
            <a:r>
              <a:rPr lang="zh-CN" altLang="en-US" sz="2400" b="1" dirty="0">
                <a:solidFill>
                  <a:schemeClr val="bg1"/>
                </a:solidFill>
                <a:latin typeface="+mn-ea"/>
                <a:ea typeface="+mn-ea"/>
              </a:rPr>
              <a:t>上的积累作用相关的，动能是标量。</a:t>
            </a:r>
            <a:endParaRPr lang="en-US" altLang="zh-CN" sz="2400" b="1" dirty="0">
              <a:solidFill>
                <a:schemeClr val="bg1"/>
              </a:solidFill>
              <a:latin typeface="+mn-ea"/>
              <a:ea typeface="+mn-ea"/>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057551F-6E01-4DA9-B06C-3D029D477B50}"/>
              </a:ext>
            </a:extLst>
          </p:cNvPr>
          <p:cNvSpPr>
            <a:spLocks noGrp="1"/>
          </p:cNvSpPr>
          <p:nvPr>
            <p:ph idx="1"/>
          </p:nvPr>
        </p:nvSpPr>
        <p:spPr>
          <a:xfrm>
            <a:off x="395288" y="115888"/>
            <a:ext cx="8424862" cy="6048375"/>
          </a:xfrm>
        </p:spPr>
        <p:txBody>
          <a:bodyPr/>
          <a:lstStyle/>
          <a:p>
            <a:pPr marL="0" indent="0">
              <a:spcAft>
                <a:spcPts val="1200"/>
              </a:spcAft>
              <a:buFontTx/>
              <a:buNone/>
              <a:defRPr/>
            </a:pPr>
            <a:r>
              <a:rPr lang="zh-CN" altLang="en-US" b="1" dirty="0">
                <a:solidFill>
                  <a:srgbClr val="FFC000"/>
                </a:solidFill>
              </a:rPr>
              <a:t>运用动量守恒定律解题时注意的问题</a:t>
            </a:r>
            <a:endParaRPr lang="en-US" altLang="zh-CN" b="1" dirty="0">
              <a:solidFill>
                <a:srgbClr val="FFC000"/>
              </a:solidFill>
            </a:endParaRPr>
          </a:p>
          <a:p>
            <a:pPr>
              <a:spcBef>
                <a:spcPts val="0"/>
              </a:spcBef>
              <a:spcAft>
                <a:spcPts val="1200"/>
              </a:spcAft>
              <a:defRPr/>
            </a:pPr>
            <a:r>
              <a:rPr lang="zh-CN" altLang="en-US" sz="2400" b="1" dirty="0">
                <a:solidFill>
                  <a:schemeClr val="bg1"/>
                </a:solidFill>
              </a:rPr>
              <a:t>涉及两个或多个物体间相互作用并产生相对运动时，往往运用动量守恒定律求解；</a:t>
            </a:r>
            <a:endParaRPr lang="en-US" altLang="zh-CN" sz="2400" b="1" dirty="0">
              <a:solidFill>
                <a:schemeClr val="bg1"/>
              </a:solidFill>
            </a:endParaRPr>
          </a:p>
          <a:p>
            <a:pPr>
              <a:spcBef>
                <a:spcPts val="0"/>
              </a:spcBef>
              <a:spcAft>
                <a:spcPts val="1200"/>
              </a:spcAft>
              <a:defRPr/>
            </a:pPr>
            <a:r>
              <a:rPr lang="zh-CN" altLang="en-US" sz="2400" b="1" dirty="0">
                <a:solidFill>
                  <a:srgbClr val="FFC000"/>
                </a:solidFill>
              </a:rPr>
              <a:t>形成系统的观点：</a:t>
            </a:r>
            <a:r>
              <a:rPr lang="zh-CN" altLang="en-US" sz="2400" b="1" dirty="0">
                <a:solidFill>
                  <a:schemeClr val="bg1"/>
                </a:solidFill>
              </a:rPr>
              <a:t>正确的选取研究对象，把涉及的质点系看作一个整体的系统；</a:t>
            </a:r>
            <a:endParaRPr lang="en-US" altLang="zh-CN" sz="2400" b="1" dirty="0">
              <a:solidFill>
                <a:schemeClr val="bg1"/>
              </a:solidFill>
            </a:endParaRPr>
          </a:p>
          <a:p>
            <a:pPr>
              <a:spcBef>
                <a:spcPts val="0"/>
              </a:spcBef>
              <a:spcAft>
                <a:spcPts val="1200"/>
              </a:spcAft>
              <a:defRPr/>
            </a:pPr>
            <a:r>
              <a:rPr lang="zh-CN" altLang="en-US" sz="2400" b="1" dirty="0">
                <a:solidFill>
                  <a:srgbClr val="FFC000"/>
                </a:solidFill>
              </a:rPr>
              <a:t>做好受力分析：</a:t>
            </a:r>
            <a:r>
              <a:rPr lang="zh-CN" altLang="en-US" sz="2400" b="1" dirty="0">
                <a:solidFill>
                  <a:schemeClr val="bg1"/>
                </a:solidFill>
              </a:rPr>
              <a:t>以系统为对象分析其合外力是否为</a:t>
            </a:r>
            <a:r>
              <a:rPr lang="en-US" altLang="zh-CN" sz="2400" b="1" dirty="0">
                <a:solidFill>
                  <a:schemeClr val="bg1"/>
                </a:solidFill>
              </a:rPr>
              <a:t>0</a:t>
            </a:r>
            <a:r>
              <a:rPr lang="zh-CN" altLang="en-US" sz="2400" b="1" dirty="0">
                <a:solidFill>
                  <a:schemeClr val="bg1"/>
                </a:solidFill>
              </a:rPr>
              <a:t>，或者某一方向上合外力为</a:t>
            </a:r>
            <a:r>
              <a:rPr lang="en-US" altLang="zh-CN" sz="2400" b="1" dirty="0">
                <a:solidFill>
                  <a:schemeClr val="bg1"/>
                </a:solidFill>
              </a:rPr>
              <a:t>0</a:t>
            </a:r>
            <a:r>
              <a:rPr lang="zh-CN" altLang="en-US" sz="2400" b="1" dirty="0">
                <a:solidFill>
                  <a:schemeClr val="bg1"/>
                </a:solidFill>
              </a:rPr>
              <a:t>，否则需要采用动量定理或其他方法求解；</a:t>
            </a:r>
            <a:endParaRPr lang="en-US" altLang="zh-CN" sz="2400" b="1" dirty="0">
              <a:solidFill>
                <a:schemeClr val="bg1"/>
              </a:solidFill>
            </a:endParaRPr>
          </a:p>
          <a:p>
            <a:pPr>
              <a:spcBef>
                <a:spcPts val="0"/>
              </a:spcBef>
              <a:spcAft>
                <a:spcPts val="1200"/>
              </a:spcAft>
              <a:defRPr/>
            </a:pPr>
            <a:r>
              <a:rPr lang="zh-CN" altLang="en-US" sz="2400" b="1" dirty="0">
                <a:solidFill>
                  <a:srgbClr val="FFC000"/>
                </a:solidFill>
              </a:rPr>
              <a:t>采用统一的惯性参考系：</a:t>
            </a:r>
            <a:r>
              <a:rPr lang="zh-CN" altLang="en-US" sz="2400" b="1" dirty="0">
                <a:solidFill>
                  <a:schemeClr val="bg1"/>
                </a:solidFill>
              </a:rPr>
              <a:t>写出初末状态系统的总动量时，系统中各个质点要采用伽利略变换到同一个惯性参考系中求出各个质点初末状态的动量。伽利略变换时分清相对运动、牵连运动和绝对运动。</a:t>
            </a:r>
            <a:endParaRPr lang="en-US" altLang="zh-CN" sz="2400" b="1" dirty="0">
              <a:solidFill>
                <a:schemeClr val="bg1"/>
              </a:solidFill>
            </a:endParaRPr>
          </a:p>
          <a:p>
            <a:pPr>
              <a:spcBef>
                <a:spcPts val="0"/>
              </a:spcBef>
              <a:spcAft>
                <a:spcPts val="1200"/>
              </a:spcAft>
              <a:defRPr/>
            </a:pPr>
            <a:r>
              <a:rPr lang="zh-CN" altLang="en-US" sz="2400" b="1" dirty="0">
                <a:solidFill>
                  <a:srgbClr val="FFC000"/>
                </a:solidFill>
              </a:rPr>
              <a:t>分析好运动过程</a:t>
            </a:r>
            <a:r>
              <a:rPr lang="zh-CN" altLang="en-US" sz="2400" b="1" dirty="0">
                <a:solidFill>
                  <a:schemeClr val="bg1"/>
                </a:solidFill>
              </a:rPr>
              <a:t>：正确判断每个过程中的研究对象、受力和守恒量，采用对应的物理定律求解。</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3" name="Rectangle 19">
            <a:extLst>
              <a:ext uri="{FF2B5EF4-FFF2-40B4-BE49-F238E27FC236}">
                <a16:creationId xmlns:a16="http://schemas.microsoft.com/office/drawing/2014/main" id="{2D819E95-5DCD-C9EB-AED5-270183FDE04C}"/>
              </a:ext>
            </a:extLst>
          </p:cNvPr>
          <p:cNvSpPr>
            <a:spLocks noChangeArrowheads="1"/>
          </p:cNvSpPr>
          <p:nvPr/>
        </p:nvSpPr>
        <p:spPr bwMode="auto">
          <a:xfrm>
            <a:off x="1588" y="896938"/>
            <a:ext cx="5184775" cy="209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556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2000" b="1">
              <a:solidFill>
                <a:schemeClr val="bg1"/>
              </a:solidFill>
              <a:latin typeface="Times New Roman" panose="02020603050405020304" pitchFamily="18" charset="0"/>
              <a:cs typeface="Times New Roman" panose="02020603050405020304" pitchFamily="18" charset="0"/>
            </a:endParaRPr>
          </a:p>
          <a:p>
            <a:r>
              <a:rPr lang="zh-CN" altLang="zh-CN" sz="2400" b="1">
                <a:solidFill>
                  <a:schemeClr val="bg1"/>
                </a:solidFill>
                <a:latin typeface="Times New Roman" panose="02020603050405020304" pitchFamily="18" charset="0"/>
                <a:cs typeface="Times New Roman" panose="02020603050405020304" pitchFamily="18" charset="0"/>
              </a:rPr>
              <a:t>求：人和船相对岸各移动的距离。</a:t>
            </a:r>
            <a:endParaRPr lang="en-US" altLang="zh-CN" sz="2400" b="1">
              <a:solidFill>
                <a:schemeClr val="bg1"/>
              </a:solidFill>
              <a:latin typeface="Times New Roman" panose="02020603050405020304" pitchFamily="18" charset="0"/>
              <a:cs typeface="Times New Roman" panose="02020603050405020304" pitchFamily="18" charset="0"/>
            </a:endParaRPr>
          </a:p>
          <a:p>
            <a:endParaRPr lang="zh-CN" altLang="zh-CN" sz="1000" b="1">
              <a:solidFill>
                <a:schemeClr val="bg1"/>
              </a:solidFill>
            </a:endParaRPr>
          </a:p>
          <a:p>
            <a:r>
              <a:rPr lang="zh-CN" altLang="zh-CN" sz="2400" b="1">
                <a:solidFill>
                  <a:schemeClr val="bg1"/>
                </a:solidFill>
                <a:latin typeface="Times New Roman" panose="02020603050405020304" pitchFamily="18" charset="0"/>
                <a:cs typeface="Times New Roman" panose="02020603050405020304" pitchFamily="18" charset="0"/>
              </a:rPr>
              <a:t>解：人与船组成系统。</a:t>
            </a:r>
            <a:endParaRPr lang="zh-CN" altLang="zh-CN" sz="1000" b="1">
              <a:solidFill>
                <a:schemeClr val="bg1"/>
              </a:solidFill>
            </a:endParaRPr>
          </a:p>
          <a:p>
            <a:r>
              <a:rPr lang="en-US" altLang="zh-CN" sz="2400" b="1" i="1">
                <a:solidFill>
                  <a:schemeClr val="bg1"/>
                </a:solidFill>
                <a:latin typeface="Times New Roman" panose="02020603050405020304" pitchFamily="18" charset="0"/>
                <a:cs typeface="Times New Roman" panose="02020603050405020304" pitchFamily="18" charset="0"/>
              </a:rPr>
              <a:t>MV</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mv</a:t>
            </a:r>
            <a:endParaRPr lang="en-US" altLang="zh-CN" sz="1000" b="1" i="1">
              <a:solidFill>
                <a:schemeClr val="bg1"/>
              </a:solidFill>
            </a:endParaRPr>
          </a:p>
          <a:p>
            <a:endParaRPr lang="en-US" altLang="zh-CN" sz="2800" b="1">
              <a:solidFill>
                <a:schemeClr val="bg1"/>
              </a:solidFill>
            </a:endParaRPr>
          </a:p>
        </p:txBody>
      </p:sp>
      <p:pic>
        <p:nvPicPr>
          <p:cNvPr id="17411" name="Picture 2">
            <a:extLst>
              <a:ext uri="{FF2B5EF4-FFF2-40B4-BE49-F238E27FC236}">
                <a16:creationId xmlns:a16="http://schemas.microsoft.com/office/drawing/2014/main" id="{4DE4BA07-C3BB-0C42-6D86-353B12C31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2750" y="1231900"/>
            <a:ext cx="348615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2" name="Rectangle 16">
            <a:extLst>
              <a:ext uri="{FF2B5EF4-FFF2-40B4-BE49-F238E27FC236}">
                <a16:creationId xmlns:a16="http://schemas.microsoft.com/office/drawing/2014/main" id="{26E4DECC-6763-A1E6-7E1D-CD632D954266}"/>
              </a:ext>
            </a:extLst>
          </p:cNvPr>
          <p:cNvSpPr>
            <a:spLocks noChangeArrowheads="1"/>
          </p:cNvSpPr>
          <p:nvPr/>
        </p:nvSpPr>
        <p:spPr bwMode="auto">
          <a:xfrm>
            <a:off x="50800" y="-85725"/>
            <a:ext cx="8697913" cy="169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rgbClr val="FFC000"/>
                </a:solidFill>
                <a:latin typeface="Times New Roman" panose="02020603050405020304" pitchFamily="18" charset="0"/>
                <a:cs typeface="Times New Roman" panose="02020603050405020304" pitchFamily="18" charset="0"/>
              </a:rPr>
              <a:t>书中例题</a:t>
            </a:r>
            <a:r>
              <a:rPr lang="en-US" altLang="zh-CN" sz="2400" b="1">
                <a:solidFill>
                  <a:srgbClr val="FFC000"/>
                </a:solidFill>
                <a:latin typeface="Times New Roman" panose="02020603050405020304" pitchFamily="18" charset="0"/>
                <a:cs typeface="Times New Roman" panose="02020603050405020304" pitchFamily="18" charset="0"/>
              </a:rPr>
              <a:t>4.7 (p154)</a:t>
            </a:r>
            <a:endParaRPr lang="en-US" altLang="zh-CN" sz="1000" b="1">
              <a:solidFill>
                <a:srgbClr val="FFC000"/>
              </a:solidFill>
            </a:endParaRPr>
          </a:p>
          <a:p>
            <a:r>
              <a:rPr lang="zh-CN" altLang="en-US" sz="2400" b="1">
                <a:solidFill>
                  <a:schemeClr val="bg1"/>
                </a:solidFill>
                <a:latin typeface="Times New Roman" panose="02020603050405020304" pitchFamily="18" charset="0"/>
                <a:cs typeface="Times New Roman" panose="02020603050405020304" pitchFamily="18" charset="0"/>
              </a:rPr>
              <a:t>已知：长</a:t>
            </a:r>
            <a:r>
              <a:rPr lang="en-US" altLang="zh-CN" sz="2400" b="1" i="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4m</a:t>
            </a:r>
            <a:r>
              <a:rPr lang="zh-CN" altLang="en-US" sz="2400" b="1">
                <a:solidFill>
                  <a:schemeClr val="bg1"/>
                </a:solidFill>
                <a:latin typeface="Times New Roman" panose="02020603050405020304" pitchFamily="18" charset="0"/>
                <a:cs typeface="Times New Roman" panose="02020603050405020304" pitchFamily="18" charset="0"/>
              </a:rPr>
              <a:t>，质量</a:t>
            </a:r>
            <a:r>
              <a:rPr lang="en-US" altLang="zh-CN" sz="2400" b="1" i="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150kg</a:t>
            </a:r>
            <a:r>
              <a:rPr lang="zh-CN" altLang="en-US" sz="2400" b="1">
                <a:solidFill>
                  <a:schemeClr val="bg1"/>
                </a:solidFill>
                <a:latin typeface="Times New Roman" panose="02020603050405020304" pitchFamily="18" charset="0"/>
                <a:cs typeface="Times New Roman" panose="02020603050405020304" pitchFamily="18" charset="0"/>
              </a:rPr>
              <a:t>的船静止在湖面上，人的质量</a:t>
            </a:r>
            <a:r>
              <a:rPr lang="en-US" altLang="zh-CN" sz="2400" b="1" i="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50kg</a:t>
            </a:r>
            <a:r>
              <a:rPr lang="zh-CN" altLang="en-US" sz="2400" b="1">
                <a:solidFill>
                  <a:schemeClr val="bg1"/>
                </a:solidFill>
                <a:latin typeface="Times New Roman" panose="02020603050405020304" pitchFamily="18" charset="0"/>
                <a:cs typeface="Times New Roman" panose="02020603050405020304" pitchFamily="18" charset="0"/>
              </a:rPr>
              <a:t>，人从船头走到船尾。不计水的阻力。</a:t>
            </a:r>
            <a:endParaRPr lang="zh-CN" altLang="en-US" sz="1000" b="1">
              <a:solidFill>
                <a:schemeClr val="bg1"/>
              </a:solidFill>
            </a:endParaRPr>
          </a:p>
          <a:p>
            <a:endParaRPr lang="zh-CN" altLang="en-US" sz="3200" b="1">
              <a:solidFill>
                <a:schemeClr val="bg1"/>
              </a:solidFill>
            </a:endParaRPr>
          </a:p>
        </p:txBody>
      </p:sp>
      <p:pic>
        <p:nvPicPr>
          <p:cNvPr id="16389" name="Picture 6">
            <a:extLst>
              <a:ext uri="{FF2B5EF4-FFF2-40B4-BE49-F238E27FC236}">
                <a16:creationId xmlns:a16="http://schemas.microsoft.com/office/drawing/2014/main" id="{7DAA0C8F-8DDA-6FC5-96AA-824381B6B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213" y="2155825"/>
            <a:ext cx="2157412" cy="635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6390" name="Picture 5">
            <a:extLst>
              <a:ext uri="{FF2B5EF4-FFF2-40B4-BE49-F238E27FC236}">
                <a16:creationId xmlns:a16="http://schemas.microsoft.com/office/drawing/2014/main" id="{8DAEF65B-BB72-DE66-0527-12A2BA6252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7188" y="3357563"/>
            <a:ext cx="1425575" cy="749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6391" name="Picture 4">
            <a:extLst>
              <a:ext uri="{FF2B5EF4-FFF2-40B4-BE49-F238E27FC236}">
                <a16:creationId xmlns:a16="http://schemas.microsoft.com/office/drawing/2014/main" id="{4966F259-9D64-10EB-10EC-7E2839DAFE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4938" y="3338513"/>
            <a:ext cx="1374775" cy="787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6392" name="Picture 3">
            <a:extLst>
              <a:ext uri="{FF2B5EF4-FFF2-40B4-BE49-F238E27FC236}">
                <a16:creationId xmlns:a16="http://schemas.microsoft.com/office/drawing/2014/main" id="{2EFFC942-776F-14C3-6B25-4246F9A117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5145088"/>
            <a:ext cx="3724275" cy="681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394" name="Rectangle 20">
            <a:extLst>
              <a:ext uri="{FF2B5EF4-FFF2-40B4-BE49-F238E27FC236}">
                <a16:creationId xmlns:a16="http://schemas.microsoft.com/office/drawing/2014/main" id="{52EE2246-8AAD-8CEA-FF24-7FA37BEE3BD7}"/>
              </a:ext>
            </a:extLst>
          </p:cNvPr>
          <p:cNvSpPr>
            <a:spLocks noChangeArrowheads="1"/>
          </p:cNvSpPr>
          <p:nvPr/>
        </p:nvSpPr>
        <p:spPr bwMode="auto">
          <a:xfrm>
            <a:off x="334963" y="2860675"/>
            <a:ext cx="6648450"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556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i="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和</a:t>
            </a:r>
            <a:r>
              <a:rPr lang="en-US" altLang="zh-CN" sz="2400" b="1" i="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分别表示船和人相对岸移动的距离	</a:t>
            </a:r>
            <a:endParaRPr lang="zh-CN" altLang="en-US" sz="1000" b="1">
              <a:solidFill>
                <a:schemeClr val="bg1"/>
              </a:solidFill>
            </a:endParaRPr>
          </a:p>
          <a:p>
            <a:endParaRPr lang="zh-CN" altLang="en-US"/>
          </a:p>
        </p:txBody>
      </p:sp>
      <p:sp>
        <p:nvSpPr>
          <p:cNvPr id="16395" name="Rectangle 22">
            <a:extLst>
              <a:ext uri="{FF2B5EF4-FFF2-40B4-BE49-F238E27FC236}">
                <a16:creationId xmlns:a16="http://schemas.microsoft.com/office/drawing/2014/main" id="{8ED7BBCA-86D3-A26D-83BB-5FA622EBC580}"/>
              </a:ext>
            </a:extLst>
          </p:cNvPr>
          <p:cNvSpPr>
            <a:spLocks noChangeArrowheads="1"/>
          </p:cNvSpPr>
          <p:nvPr/>
        </p:nvSpPr>
        <p:spPr bwMode="auto">
          <a:xfrm>
            <a:off x="331788" y="3913188"/>
            <a:ext cx="499745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556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bg1"/>
                </a:solidFill>
                <a:latin typeface="Times New Roman" panose="02020603050405020304" pitchFamily="18" charset="0"/>
                <a:cs typeface="Times New Roman" panose="02020603050405020304" pitchFamily="18" charset="0"/>
              </a:rPr>
              <a:t>    </a:t>
            </a:r>
            <a:endParaRPr lang="en-US" altLang="zh-CN" sz="700" b="1">
              <a:solidFill>
                <a:schemeClr val="bg1"/>
              </a:solidFill>
            </a:endParaRPr>
          </a:p>
          <a:p>
            <a:r>
              <a:rPr lang="zh-CN" altLang="en-US" sz="2400" b="1">
                <a:solidFill>
                  <a:schemeClr val="bg1"/>
                </a:solidFill>
                <a:latin typeface="Times New Roman" panose="02020603050405020304" pitchFamily="18" charset="0"/>
                <a:cs typeface="Times New Roman" panose="02020603050405020304" pitchFamily="18" charset="0"/>
              </a:rPr>
              <a:t>得：</a:t>
            </a:r>
            <a:r>
              <a:rPr lang="en-US" altLang="zh-CN" sz="2400" b="1" i="1">
                <a:solidFill>
                  <a:schemeClr val="bg1"/>
                </a:solidFill>
                <a:latin typeface="Times New Roman" panose="02020603050405020304" pitchFamily="18" charset="0"/>
                <a:cs typeface="Times New Roman" panose="02020603050405020304" pitchFamily="18" charset="0"/>
              </a:rPr>
              <a:t>MS</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sm</a:t>
            </a:r>
            <a:endParaRPr lang="en-US" altLang="zh-CN" sz="1000" b="1" i="1">
              <a:solidFill>
                <a:schemeClr val="bg1"/>
              </a:solidFill>
            </a:endParaRPr>
          </a:p>
          <a:p>
            <a:r>
              <a:rPr lang="en-US" altLang="zh-CN" sz="2400" b="1">
                <a:solidFill>
                  <a:schemeClr val="bg1"/>
                </a:solidFill>
                <a:latin typeface="Times New Roman" panose="02020603050405020304" pitchFamily="18" charset="0"/>
                <a:cs typeface="Times New Roman" panose="02020603050405020304" pitchFamily="18" charset="0"/>
              </a:rPr>
              <a:t>∵  </a:t>
            </a:r>
            <a:r>
              <a:rPr lang="en-US" altLang="zh-CN" sz="2400" b="1" i="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L</a:t>
            </a:r>
            <a:r>
              <a:rPr lang="en-US" altLang="zh-CN" sz="2400" b="1">
                <a:solidFill>
                  <a:schemeClr val="bg1"/>
                </a:solidFill>
                <a:latin typeface="Times New Roman" panose="02020603050405020304" pitchFamily="18" charset="0"/>
                <a:cs typeface="Times New Roman" panose="02020603050405020304" pitchFamily="18" charset="0"/>
              </a:rPr>
              <a:t>  </a:t>
            </a:r>
            <a:r>
              <a:rPr lang="zh-CN" altLang="en-US" sz="2400" b="1">
                <a:solidFill>
                  <a:schemeClr val="bg1"/>
                </a:solidFill>
                <a:latin typeface="Times New Roman" panose="02020603050405020304" pitchFamily="18" charset="0"/>
                <a:cs typeface="Times New Roman" panose="02020603050405020304" pitchFamily="18" charset="0"/>
              </a:rPr>
              <a:t>将 </a:t>
            </a:r>
            <a:r>
              <a:rPr lang="en-US" altLang="zh-CN" sz="2400" b="1" i="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s</a:t>
            </a:r>
            <a:r>
              <a:rPr lang="en-US" altLang="zh-CN" sz="2400" b="1">
                <a:solidFill>
                  <a:schemeClr val="bg1"/>
                </a:solidFill>
                <a:latin typeface="Times New Roman" panose="02020603050405020304" pitchFamily="18" charset="0"/>
                <a:cs typeface="Times New Roman" panose="02020603050405020304" pitchFamily="18" charset="0"/>
              </a:rPr>
              <a:t>  </a:t>
            </a:r>
            <a:r>
              <a:rPr lang="zh-CN" altLang="en-US" sz="2400" b="1">
                <a:solidFill>
                  <a:schemeClr val="bg1"/>
                </a:solidFill>
                <a:latin typeface="Times New Roman" panose="02020603050405020304" pitchFamily="18" charset="0"/>
                <a:cs typeface="Times New Roman" panose="02020603050405020304" pitchFamily="18" charset="0"/>
              </a:rPr>
              <a:t>代入  得</a:t>
            </a:r>
            <a:endParaRPr lang="zh-CN" altLang="en-US" sz="1000" b="1">
              <a:solidFill>
                <a:schemeClr val="bg1"/>
              </a:solidFill>
            </a:endParaRPr>
          </a:p>
          <a:p>
            <a:endParaRPr lang="zh-CN" altLang="en-US" sz="3200" b="1">
              <a:solidFill>
                <a:schemeClr val="bg1"/>
              </a:solidFill>
            </a:endParaRPr>
          </a:p>
        </p:txBody>
      </p:sp>
      <p:sp>
        <p:nvSpPr>
          <p:cNvPr id="16396" name="Rectangle 23">
            <a:extLst>
              <a:ext uri="{FF2B5EF4-FFF2-40B4-BE49-F238E27FC236}">
                <a16:creationId xmlns:a16="http://schemas.microsoft.com/office/drawing/2014/main" id="{D67B48DF-339F-519F-5D0C-0EA98E83185B}"/>
              </a:ext>
            </a:extLst>
          </p:cNvPr>
          <p:cNvSpPr>
            <a:spLocks noChangeArrowheads="1"/>
          </p:cNvSpPr>
          <p:nvPr/>
        </p:nvSpPr>
        <p:spPr bwMode="auto">
          <a:xfrm>
            <a:off x="2424113" y="6007100"/>
            <a:ext cx="39243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556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i="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4</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1</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3</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a:t>
            </a:r>
            <a:endParaRPr lang="zh-CN" altLang="en-US" sz="3200" b="1">
              <a:solidFill>
                <a:schemeClr val="bg1"/>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9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9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638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6394">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9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6395">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395">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639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4">
            <a:extLst>
              <a:ext uri="{FF2B5EF4-FFF2-40B4-BE49-F238E27FC236}">
                <a16:creationId xmlns:a16="http://schemas.microsoft.com/office/drawing/2014/main" id="{7A3B0967-EE4D-FFC5-EE3D-0B529E5B3857}"/>
              </a:ext>
            </a:extLst>
          </p:cNvPr>
          <p:cNvGrpSpPr>
            <a:grpSpLocks/>
          </p:cNvGrpSpPr>
          <p:nvPr/>
        </p:nvGrpSpPr>
        <p:grpSpPr bwMode="auto">
          <a:xfrm>
            <a:off x="5978525" y="1411288"/>
            <a:ext cx="3321050" cy="1970087"/>
            <a:chOff x="4995" y="1980"/>
            <a:chExt cx="4335" cy="2310"/>
          </a:xfrm>
        </p:grpSpPr>
        <p:grpSp>
          <p:nvGrpSpPr>
            <p:cNvPr id="18443" name="Group 8">
              <a:extLst>
                <a:ext uri="{FF2B5EF4-FFF2-40B4-BE49-F238E27FC236}">
                  <a16:creationId xmlns:a16="http://schemas.microsoft.com/office/drawing/2014/main" id="{2FA9EBE8-1AC3-3299-21ED-7E4BBAE5660A}"/>
                </a:ext>
              </a:extLst>
            </p:cNvPr>
            <p:cNvGrpSpPr>
              <a:grpSpLocks/>
            </p:cNvGrpSpPr>
            <p:nvPr/>
          </p:nvGrpSpPr>
          <p:grpSpPr bwMode="auto">
            <a:xfrm>
              <a:off x="4995" y="1980"/>
              <a:ext cx="4335" cy="2310"/>
              <a:chOff x="4950" y="2415"/>
              <a:chExt cx="4335" cy="2310"/>
            </a:xfrm>
          </p:grpSpPr>
          <p:sp>
            <p:nvSpPr>
              <p:cNvPr id="18447" name="Line 21">
                <a:extLst>
                  <a:ext uri="{FF2B5EF4-FFF2-40B4-BE49-F238E27FC236}">
                    <a16:creationId xmlns:a16="http://schemas.microsoft.com/office/drawing/2014/main" id="{ADB8F31C-6A0B-CC4F-B6DD-A6DD424FFFB2}"/>
                  </a:ext>
                </a:extLst>
              </p:cNvPr>
              <p:cNvSpPr>
                <a:spLocks noChangeShapeType="1"/>
              </p:cNvSpPr>
              <p:nvPr/>
            </p:nvSpPr>
            <p:spPr bwMode="auto">
              <a:xfrm>
                <a:off x="5616" y="2466"/>
                <a:ext cx="2793" cy="15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8" name="Line 20">
                <a:extLst>
                  <a:ext uri="{FF2B5EF4-FFF2-40B4-BE49-F238E27FC236}">
                    <a16:creationId xmlns:a16="http://schemas.microsoft.com/office/drawing/2014/main" id="{77E87063-A8A1-8614-AC5F-5732E07553D5}"/>
                  </a:ext>
                </a:extLst>
              </p:cNvPr>
              <p:cNvSpPr>
                <a:spLocks noChangeShapeType="1"/>
              </p:cNvSpPr>
              <p:nvPr/>
            </p:nvSpPr>
            <p:spPr bwMode="auto">
              <a:xfrm flipH="1">
                <a:off x="5616" y="4485"/>
                <a:ext cx="27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9" name="Line 19">
                <a:extLst>
                  <a:ext uri="{FF2B5EF4-FFF2-40B4-BE49-F238E27FC236}">
                    <a16:creationId xmlns:a16="http://schemas.microsoft.com/office/drawing/2014/main" id="{C015B3B5-6F54-0243-AF32-0506D4450C94}"/>
                  </a:ext>
                </a:extLst>
              </p:cNvPr>
              <p:cNvSpPr>
                <a:spLocks noChangeShapeType="1"/>
              </p:cNvSpPr>
              <p:nvPr/>
            </p:nvSpPr>
            <p:spPr bwMode="auto">
              <a:xfrm>
                <a:off x="6813" y="2580"/>
                <a:ext cx="570" cy="3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0" name="Line 18">
                <a:extLst>
                  <a:ext uri="{FF2B5EF4-FFF2-40B4-BE49-F238E27FC236}">
                    <a16:creationId xmlns:a16="http://schemas.microsoft.com/office/drawing/2014/main" id="{1E526AA3-EDF9-9DC0-1C18-20DDCC657612}"/>
                  </a:ext>
                </a:extLst>
              </p:cNvPr>
              <p:cNvSpPr>
                <a:spLocks noChangeShapeType="1"/>
              </p:cNvSpPr>
              <p:nvPr/>
            </p:nvSpPr>
            <p:spPr bwMode="auto">
              <a:xfrm flipH="1">
                <a:off x="6585" y="2580"/>
                <a:ext cx="228" cy="3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1" name="Line 17">
                <a:extLst>
                  <a:ext uri="{FF2B5EF4-FFF2-40B4-BE49-F238E27FC236}">
                    <a16:creationId xmlns:a16="http://schemas.microsoft.com/office/drawing/2014/main" id="{997D524D-E8E6-D772-22B4-194BD8A58F67}"/>
                  </a:ext>
                </a:extLst>
              </p:cNvPr>
              <p:cNvSpPr>
                <a:spLocks noChangeShapeType="1"/>
              </p:cNvSpPr>
              <p:nvPr/>
            </p:nvSpPr>
            <p:spPr bwMode="auto">
              <a:xfrm flipH="1">
                <a:off x="7155" y="2922"/>
                <a:ext cx="228" cy="3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2" name="Line 16">
                <a:extLst>
                  <a:ext uri="{FF2B5EF4-FFF2-40B4-BE49-F238E27FC236}">
                    <a16:creationId xmlns:a16="http://schemas.microsoft.com/office/drawing/2014/main" id="{5D97B8C3-2880-EE64-BE00-B8F66538869D}"/>
                  </a:ext>
                </a:extLst>
              </p:cNvPr>
              <p:cNvSpPr>
                <a:spLocks noChangeShapeType="1"/>
              </p:cNvSpPr>
              <p:nvPr/>
            </p:nvSpPr>
            <p:spPr bwMode="auto">
              <a:xfrm>
                <a:off x="7116" y="2994"/>
                <a:ext cx="807" cy="4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3" name="Line 15">
                <a:extLst>
                  <a:ext uri="{FF2B5EF4-FFF2-40B4-BE49-F238E27FC236}">
                    <a16:creationId xmlns:a16="http://schemas.microsoft.com/office/drawing/2014/main" id="{DBA14B3F-6D57-3EE3-3BFD-65AE79E70C87}"/>
                  </a:ext>
                </a:extLst>
              </p:cNvPr>
              <p:cNvSpPr>
                <a:spLocks noChangeShapeType="1"/>
              </p:cNvSpPr>
              <p:nvPr/>
            </p:nvSpPr>
            <p:spPr bwMode="auto">
              <a:xfrm flipH="1">
                <a:off x="5388" y="3435"/>
                <a:ext cx="85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4" name="Line 14">
                <a:extLst>
                  <a:ext uri="{FF2B5EF4-FFF2-40B4-BE49-F238E27FC236}">
                    <a16:creationId xmlns:a16="http://schemas.microsoft.com/office/drawing/2014/main" id="{7F23A1F7-6051-45F4-1404-A011A7229562}"/>
                  </a:ext>
                </a:extLst>
              </p:cNvPr>
              <p:cNvSpPr>
                <a:spLocks noChangeShapeType="1"/>
              </p:cNvSpPr>
              <p:nvPr/>
            </p:nvSpPr>
            <p:spPr bwMode="auto">
              <a:xfrm>
                <a:off x="5580" y="2475"/>
                <a:ext cx="0" cy="20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5" name="Line 13">
                <a:extLst>
                  <a:ext uri="{FF2B5EF4-FFF2-40B4-BE49-F238E27FC236}">
                    <a16:creationId xmlns:a16="http://schemas.microsoft.com/office/drawing/2014/main" id="{A9B4778A-5244-A951-62C9-E7F0E80AF02A}"/>
                  </a:ext>
                </a:extLst>
              </p:cNvPr>
              <p:cNvSpPr>
                <a:spLocks noChangeShapeType="1"/>
              </p:cNvSpPr>
              <p:nvPr/>
            </p:nvSpPr>
            <p:spPr bwMode="auto">
              <a:xfrm>
                <a:off x="8400" y="4020"/>
                <a:ext cx="0" cy="4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6" name="Text Box 12">
                <a:extLst>
                  <a:ext uri="{FF2B5EF4-FFF2-40B4-BE49-F238E27FC236}">
                    <a16:creationId xmlns:a16="http://schemas.microsoft.com/office/drawing/2014/main" id="{0BCA0DE0-953D-6FE9-4877-E894A445019C}"/>
                  </a:ext>
                </a:extLst>
              </p:cNvPr>
              <p:cNvSpPr txBox="1">
                <a:spLocks noChangeArrowheads="1"/>
              </p:cNvSpPr>
              <p:nvPr/>
            </p:nvSpPr>
            <p:spPr bwMode="auto">
              <a:xfrm>
                <a:off x="8595" y="3840"/>
                <a:ext cx="690" cy="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i="1">
                    <a:solidFill>
                      <a:schemeClr val="bg1"/>
                    </a:solidFill>
                    <a:latin typeface="Times New Roman" panose="02020603050405020304" pitchFamily="18" charset="0"/>
                    <a:cs typeface="Times New Roman" panose="02020603050405020304" pitchFamily="18" charset="0"/>
                  </a:rPr>
                  <a:t>h</a:t>
                </a:r>
                <a:endParaRPr lang="en-US" altLang="zh-CN" sz="2800" i="1">
                  <a:solidFill>
                    <a:schemeClr val="bg1"/>
                  </a:solidFill>
                </a:endParaRPr>
              </a:p>
            </p:txBody>
          </p:sp>
          <p:sp>
            <p:nvSpPr>
              <p:cNvPr id="18457" name="Text Box 11">
                <a:extLst>
                  <a:ext uri="{FF2B5EF4-FFF2-40B4-BE49-F238E27FC236}">
                    <a16:creationId xmlns:a16="http://schemas.microsoft.com/office/drawing/2014/main" id="{C9E2EED2-E911-1812-383F-249FF868888E}"/>
                  </a:ext>
                </a:extLst>
              </p:cNvPr>
              <p:cNvSpPr txBox="1">
                <a:spLocks noChangeArrowheads="1"/>
              </p:cNvSpPr>
              <p:nvPr/>
            </p:nvSpPr>
            <p:spPr bwMode="auto">
              <a:xfrm>
                <a:off x="4980" y="2415"/>
                <a:ext cx="690" cy="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i="1">
                    <a:solidFill>
                      <a:schemeClr val="bg1"/>
                    </a:solidFill>
                    <a:latin typeface="Times New Roman" panose="02020603050405020304" pitchFamily="18" charset="0"/>
                    <a:cs typeface="Times New Roman" panose="02020603050405020304" pitchFamily="18" charset="0"/>
                  </a:rPr>
                  <a:t>H</a:t>
                </a:r>
                <a:endParaRPr lang="en-US" altLang="zh-CN" sz="2800" i="1">
                  <a:solidFill>
                    <a:schemeClr val="bg1"/>
                  </a:solidFill>
                </a:endParaRPr>
              </a:p>
            </p:txBody>
          </p:sp>
          <p:sp>
            <p:nvSpPr>
              <p:cNvPr id="18458" name="Text Box 10">
                <a:extLst>
                  <a:ext uri="{FF2B5EF4-FFF2-40B4-BE49-F238E27FC236}">
                    <a16:creationId xmlns:a16="http://schemas.microsoft.com/office/drawing/2014/main" id="{9E5BF7B9-6A5C-940E-D554-F1F35D97E150}"/>
                  </a:ext>
                </a:extLst>
              </p:cNvPr>
              <p:cNvSpPr txBox="1">
                <a:spLocks noChangeArrowheads="1"/>
              </p:cNvSpPr>
              <p:nvPr/>
            </p:nvSpPr>
            <p:spPr bwMode="auto">
              <a:xfrm>
                <a:off x="7890" y="3045"/>
                <a:ext cx="690" cy="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i="1">
                    <a:solidFill>
                      <a:schemeClr val="bg1"/>
                    </a:solidFill>
                    <a:latin typeface="Times New Roman" panose="02020603050405020304" pitchFamily="18" charset="0"/>
                    <a:cs typeface="Times New Roman" panose="02020603050405020304" pitchFamily="18" charset="0"/>
                  </a:rPr>
                  <a:t>v</a:t>
                </a:r>
                <a:r>
                  <a:rPr lang="en-US" altLang="zh-CN" sz="2000" i="1" baseline="-30000">
                    <a:solidFill>
                      <a:schemeClr val="bg1"/>
                    </a:solidFill>
                    <a:latin typeface="Times New Roman" panose="02020603050405020304" pitchFamily="18" charset="0"/>
                    <a:cs typeface="Times New Roman" panose="02020603050405020304" pitchFamily="18" charset="0"/>
                  </a:rPr>
                  <a:t>r</a:t>
                </a:r>
                <a:endParaRPr lang="en-US" altLang="zh-CN" sz="2800" i="1">
                  <a:solidFill>
                    <a:schemeClr val="bg1"/>
                  </a:solidFill>
                </a:endParaRPr>
              </a:p>
            </p:txBody>
          </p:sp>
          <p:sp>
            <p:nvSpPr>
              <p:cNvPr id="18459" name="Text Box 9">
                <a:extLst>
                  <a:ext uri="{FF2B5EF4-FFF2-40B4-BE49-F238E27FC236}">
                    <a16:creationId xmlns:a16="http://schemas.microsoft.com/office/drawing/2014/main" id="{B36A6BDA-5B5A-132D-05EC-0700534898D4}"/>
                  </a:ext>
                </a:extLst>
              </p:cNvPr>
              <p:cNvSpPr txBox="1">
                <a:spLocks noChangeArrowheads="1"/>
              </p:cNvSpPr>
              <p:nvPr/>
            </p:nvSpPr>
            <p:spPr bwMode="auto">
              <a:xfrm>
                <a:off x="4950" y="3060"/>
                <a:ext cx="690" cy="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i="1">
                    <a:solidFill>
                      <a:schemeClr val="bg1"/>
                    </a:solidFill>
                    <a:latin typeface="Times New Roman" panose="02020603050405020304" pitchFamily="18" charset="0"/>
                    <a:cs typeface="Times New Roman" panose="02020603050405020304" pitchFamily="18" charset="0"/>
                  </a:rPr>
                  <a:t>V</a:t>
                </a:r>
                <a:endParaRPr lang="en-US" altLang="zh-CN" sz="2800" i="1">
                  <a:solidFill>
                    <a:schemeClr val="bg1"/>
                  </a:solidFill>
                </a:endParaRPr>
              </a:p>
            </p:txBody>
          </p:sp>
        </p:grpSp>
        <p:sp>
          <p:nvSpPr>
            <p:cNvPr id="18444" name="Line 7">
              <a:extLst>
                <a:ext uri="{FF2B5EF4-FFF2-40B4-BE49-F238E27FC236}">
                  <a16:creationId xmlns:a16="http://schemas.microsoft.com/office/drawing/2014/main" id="{7C33DB89-84AE-A5C3-7A73-501E738A13D8}"/>
                </a:ext>
              </a:extLst>
            </p:cNvPr>
            <p:cNvSpPr>
              <a:spLocks noChangeShapeType="1"/>
            </p:cNvSpPr>
            <p:nvPr/>
          </p:nvSpPr>
          <p:spPr bwMode="auto">
            <a:xfrm>
              <a:off x="7620" y="3570"/>
              <a:ext cx="84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5" name="Text Box 6">
              <a:extLst>
                <a:ext uri="{FF2B5EF4-FFF2-40B4-BE49-F238E27FC236}">
                  <a16:creationId xmlns:a16="http://schemas.microsoft.com/office/drawing/2014/main" id="{B24F4A83-2F44-0482-2282-A99139132CCC}"/>
                </a:ext>
              </a:extLst>
            </p:cNvPr>
            <p:cNvSpPr txBox="1">
              <a:spLocks noChangeArrowheads="1"/>
            </p:cNvSpPr>
            <p:nvPr/>
          </p:nvSpPr>
          <p:spPr bwMode="auto">
            <a:xfrm>
              <a:off x="7452" y="3063"/>
              <a:ext cx="615" cy="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000" i="1">
                  <a:solidFill>
                    <a:schemeClr val="bg1"/>
                  </a:solidFill>
                  <a:latin typeface="宋体" panose="02010600030101010101" pitchFamily="2" charset="-122"/>
                  <a:cs typeface="Times New Roman" panose="02020603050405020304" pitchFamily="18" charset="0"/>
                </a:rPr>
                <a:t>θ</a:t>
              </a:r>
              <a:endParaRPr lang="zh-CN" altLang="zh-CN" sz="2800" i="1">
                <a:solidFill>
                  <a:schemeClr val="bg1"/>
                </a:solidFill>
              </a:endParaRPr>
            </a:p>
          </p:txBody>
        </p:sp>
        <p:sp>
          <p:nvSpPr>
            <p:cNvPr id="18446" name="Freeform 5">
              <a:extLst>
                <a:ext uri="{FF2B5EF4-FFF2-40B4-BE49-F238E27FC236}">
                  <a16:creationId xmlns:a16="http://schemas.microsoft.com/office/drawing/2014/main" id="{9E7733B8-0822-762A-2177-9383217DE73A}"/>
                </a:ext>
              </a:extLst>
            </p:cNvPr>
            <p:cNvSpPr>
              <a:spLocks/>
            </p:cNvSpPr>
            <p:nvPr/>
          </p:nvSpPr>
          <p:spPr bwMode="auto">
            <a:xfrm>
              <a:off x="7988" y="3360"/>
              <a:ext cx="67" cy="210"/>
            </a:xfrm>
            <a:custGeom>
              <a:avLst/>
              <a:gdLst>
                <a:gd name="T0" fmla="*/ 67 w 67"/>
                <a:gd name="T1" fmla="*/ 0 h 210"/>
                <a:gd name="T2" fmla="*/ 7 w 67"/>
                <a:gd name="T3" fmla="*/ 105 h 210"/>
                <a:gd name="T4" fmla="*/ 22 w 67"/>
                <a:gd name="T5" fmla="*/ 210 h 210"/>
                <a:gd name="T6" fmla="*/ 0 60000 65536"/>
                <a:gd name="T7" fmla="*/ 0 60000 65536"/>
                <a:gd name="T8" fmla="*/ 0 60000 65536"/>
              </a:gdLst>
              <a:ahLst/>
              <a:cxnLst>
                <a:cxn ang="T6">
                  <a:pos x="T0" y="T1"/>
                </a:cxn>
                <a:cxn ang="T7">
                  <a:pos x="T2" y="T3"/>
                </a:cxn>
                <a:cxn ang="T8">
                  <a:pos x="T4" y="T5"/>
                </a:cxn>
              </a:cxnLst>
              <a:rect l="0" t="0" r="r" b="b"/>
              <a:pathLst>
                <a:path w="67" h="210">
                  <a:moveTo>
                    <a:pt x="67" y="0"/>
                  </a:moveTo>
                  <a:cubicBezTo>
                    <a:pt x="40" y="35"/>
                    <a:pt x="14" y="70"/>
                    <a:pt x="7" y="105"/>
                  </a:cubicBezTo>
                  <a:cubicBezTo>
                    <a:pt x="0" y="140"/>
                    <a:pt x="11" y="175"/>
                    <a:pt x="22" y="21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8435" name="Rectangle 22">
            <a:extLst>
              <a:ext uri="{FF2B5EF4-FFF2-40B4-BE49-F238E27FC236}">
                <a16:creationId xmlns:a16="http://schemas.microsoft.com/office/drawing/2014/main" id="{C70C3BB9-CE7F-2DEF-802D-12B78A752270}"/>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3" name="Rectangle 28">
            <a:extLst>
              <a:ext uri="{FF2B5EF4-FFF2-40B4-BE49-F238E27FC236}">
                <a16:creationId xmlns:a16="http://schemas.microsoft.com/office/drawing/2014/main" id="{92377C59-70F2-40A0-AD8F-4CB5A42D845F}"/>
              </a:ext>
            </a:extLst>
          </p:cNvPr>
          <p:cNvSpPr>
            <a:spLocks noChangeArrowheads="1"/>
          </p:cNvSpPr>
          <p:nvPr/>
        </p:nvSpPr>
        <p:spPr bwMode="auto">
          <a:xfrm>
            <a:off x="42863" y="-266700"/>
            <a:ext cx="6367462" cy="3384550"/>
          </a:xfrm>
          <a:prstGeom prst="rect">
            <a:avLst/>
          </a:prstGeom>
          <a:noFill/>
          <a:ln>
            <a:noFill/>
          </a:ln>
          <a:effectLst/>
        </p:spPr>
        <p:txBody>
          <a:bodyPr anchor="ctr">
            <a:spAutoFit/>
          </a:bodyPr>
          <a:lstStyle/>
          <a:p>
            <a:pPr indent="355600">
              <a:defRPr/>
            </a:pPr>
            <a:endParaRPr lang="zh-CN" altLang="zh-CN" sz="1400" b="1" dirty="0">
              <a:latin typeface="Times New Roman" pitchFamily="18" charset="0"/>
              <a:cs typeface="Times New Roman" pitchFamily="18" charset="0"/>
            </a:endParaRPr>
          </a:p>
          <a:p>
            <a:pPr indent="355600">
              <a:defRPr/>
            </a:pPr>
            <a:r>
              <a:rPr lang="zh-CN" sz="2400" b="1" dirty="0">
                <a:solidFill>
                  <a:schemeClr val="bg1"/>
                </a:solidFill>
                <a:latin typeface="Times New Roman" pitchFamily="18" charset="0"/>
                <a:cs typeface="Times New Roman" pitchFamily="18" charset="0"/>
              </a:rPr>
              <a:t>书中例题</a:t>
            </a:r>
            <a:r>
              <a:rPr lang="en-US" altLang="zh-CN" sz="2400" b="1" dirty="0">
                <a:solidFill>
                  <a:schemeClr val="bg1"/>
                </a:solidFill>
                <a:latin typeface="Times New Roman" pitchFamily="18" charset="0"/>
                <a:cs typeface="Times New Roman" pitchFamily="18" charset="0"/>
              </a:rPr>
              <a:t>4.8 (p155) </a:t>
            </a:r>
          </a:p>
          <a:p>
            <a:pPr indent="355600">
              <a:defRPr/>
            </a:pPr>
            <a:r>
              <a:rPr lang="zh-CN" altLang="en-US" sz="2400" b="1" dirty="0">
                <a:solidFill>
                  <a:schemeClr val="bg1"/>
                </a:solidFill>
                <a:latin typeface="Times New Roman" pitchFamily="18" charset="0"/>
                <a:cs typeface="Times New Roman" pitchFamily="18" charset="0"/>
              </a:rPr>
              <a:t>求木块</a:t>
            </a:r>
            <a:r>
              <a:rPr lang="en-US" altLang="zh-CN" sz="2400" b="1" i="1" dirty="0">
                <a:solidFill>
                  <a:schemeClr val="bg1"/>
                </a:solidFill>
                <a:latin typeface="Times New Roman" pitchFamily="18" charset="0"/>
                <a:cs typeface="Times New Roman" pitchFamily="18" charset="0"/>
              </a:rPr>
              <a:t>m</a:t>
            </a:r>
            <a:r>
              <a:rPr lang="zh-CN" altLang="en-US" sz="2400" b="1" dirty="0">
                <a:solidFill>
                  <a:schemeClr val="bg1"/>
                </a:solidFill>
                <a:latin typeface="Times New Roman" pitchFamily="18" charset="0"/>
                <a:cs typeface="Times New Roman" pitchFamily="18" charset="0"/>
              </a:rPr>
              <a:t>相对于斜劈</a:t>
            </a:r>
            <a:r>
              <a:rPr lang="en-US" altLang="zh-CN" sz="2400" b="1" dirty="0">
                <a:solidFill>
                  <a:schemeClr val="bg1"/>
                </a:solidFill>
                <a:latin typeface="Times New Roman" pitchFamily="18" charset="0"/>
                <a:cs typeface="Times New Roman" pitchFamily="18" charset="0"/>
              </a:rPr>
              <a:t>M</a:t>
            </a:r>
            <a:r>
              <a:rPr lang="zh-CN" altLang="en-US" sz="2400" b="1" dirty="0">
                <a:solidFill>
                  <a:schemeClr val="bg1"/>
                </a:solidFill>
                <a:latin typeface="Times New Roman" pitchFamily="18" charset="0"/>
                <a:cs typeface="Times New Roman" pitchFamily="18" charset="0"/>
              </a:rPr>
              <a:t>的速度</a:t>
            </a:r>
            <a:endParaRPr lang="en-US" altLang="zh-CN" sz="1000" b="1" dirty="0">
              <a:solidFill>
                <a:schemeClr val="bg1"/>
              </a:solidFill>
            </a:endParaRPr>
          </a:p>
          <a:p>
            <a:pPr indent="355600">
              <a:defRPr/>
            </a:pPr>
            <a:r>
              <a:rPr lang="zh-CN" altLang="en-US" sz="2400" b="1" dirty="0">
                <a:solidFill>
                  <a:schemeClr val="bg1"/>
                </a:solidFill>
                <a:latin typeface="Times New Roman" pitchFamily="18" charset="0"/>
                <a:cs typeface="Times New Roman" pitchFamily="18" charset="0"/>
              </a:rPr>
              <a:t>解：在水平方向外力为</a:t>
            </a:r>
            <a:r>
              <a:rPr lang="en-US" altLang="zh-CN" sz="2400" b="1" dirty="0">
                <a:solidFill>
                  <a:schemeClr val="bg1"/>
                </a:solidFill>
                <a:latin typeface="Times New Roman" pitchFamily="18" charset="0"/>
                <a:cs typeface="Times New Roman" pitchFamily="18" charset="0"/>
              </a:rPr>
              <a:t>0</a:t>
            </a:r>
            <a:r>
              <a:rPr lang="zh-CN" altLang="en-US" sz="2400" b="1" dirty="0">
                <a:solidFill>
                  <a:schemeClr val="bg1"/>
                </a:solidFill>
                <a:latin typeface="Times New Roman" pitchFamily="18" charset="0"/>
                <a:cs typeface="Times New Roman" pitchFamily="18" charset="0"/>
              </a:rPr>
              <a:t>，水平方向的动量守恒。</a:t>
            </a:r>
            <a:endParaRPr lang="zh-CN" altLang="en-US" sz="1000" b="1" dirty="0">
              <a:solidFill>
                <a:schemeClr val="bg1"/>
              </a:solidFill>
            </a:endParaRPr>
          </a:p>
          <a:p>
            <a:pPr indent="444500" algn="just" eaLnBrk="1" hangingPunct="1">
              <a:spcAft>
                <a:spcPts val="0"/>
              </a:spcAft>
              <a:defRPr/>
            </a:pPr>
            <a:r>
              <a:rPr lang="en-US" altLang="zh-CN" sz="2400" b="1" i="1" kern="100" dirty="0">
                <a:solidFill>
                  <a:schemeClr val="bg1"/>
                </a:solidFill>
                <a:latin typeface="Times New Roman"/>
                <a:ea typeface="宋体"/>
              </a:rPr>
              <a:t>                        </a:t>
            </a:r>
            <a:r>
              <a:rPr lang="en-US" altLang="zh-CN" sz="2400" b="1" i="1" kern="100" dirty="0" err="1">
                <a:solidFill>
                  <a:schemeClr val="bg1"/>
                </a:solidFill>
                <a:latin typeface="Times New Roman"/>
                <a:ea typeface="宋体"/>
              </a:rPr>
              <a:t>mv</a:t>
            </a:r>
            <a:r>
              <a:rPr lang="en-US" altLang="zh-CN" sz="2400" b="1" i="1" kern="100" baseline="-25000" dirty="0" err="1">
                <a:solidFill>
                  <a:schemeClr val="bg1"/>
                </a:solidFill>
                <a:latin typeface="Times New Roman"/>
                <a:ea typeface="宋体"/>
              </a:rPr>
              <a:t>x</a:t>
            </a:r>
            <a:r>
              <a:rPr lang="zh-CN" altLang="zh-CN" sz="2400" b="1" kern="100" dirty="0">
                <a:solidFill>
                  <a:schemeClr val="bg1"/>
                </a:solidFill>
                <a:latin typeface="Times New Roman"/>
                <a:ea typeface="宋体"/>
              </a:rPr>
              <a:t>－</a:t>
            </a:r>
            <a:r>
              <a:rPr lang="en-US" altLang="zh-CN" sz="2400" b="1" i="1" kern="100" dirty="0">
                <a:solidFill>
                  <a:schemeClr val="bg1"/>
                </a:solidFill>
                <a:latin typeface="Times New Roman"/>
                <a:ea typeface="宋体"/>
              </a:rPr>
              <a:t>MV</a:t>
            </a:r>
            <a:r>
              <a:rPr lang="zh-CN" altLang="zh-CN" sz="2400" b="1" kern="100" dirty="0">
                <a:solidFill>
                  <a:schemeClr val="bg1"/>
                </a:solidFill>
                <a:latin typeface="Times New Roman"/>
                <a:ea typeface="宋体"/>
              </a:rPr>
              <a:t>＝</a:t>
            </a:r>
            <a:r>
              <a:rPr lang="en-US" altLang="zh-CN" sz="2400" b="1" kern="100" dirty="0">
                <a:solidFill>
                  <a:schemeClr val="bg1"/>
                </a:solidFill>
                <a:latin typeface="Times New Roman"/>
                <a:ea typeface="宋体"/>
              </a:rPr>
              <a:t>0</a:t>
            </a:r>
            <a:endParaRPr lang="zh-CN" altLang="zh-CN" sz="2400" b="1" kern="100" dirty="0">
              <a:solidFill>
                <a:schemeClr val="bg1"/>
              </a:solidFill>
              <a:latin typeface="Times New Roman"/>
              <a:ea typeface="宋体"/>
            </a:endParaRPr>
          </a:p>
          <a:p>
            <a:pPr indent="355600">
              <a:defRPr/>
            </a:pPr>
            <a:r>
              <a:rPr lang="zh-CN" altLang="en-US" sz="2400" b="1" dirty="0">
                <a:solidFill>
                  <a:schemeClr val="bg1"/>
                </a:solidFill>
                <a:latin typeface="Times New Roman" pitchFamily="18" charset="0"/>
                <a:cs typeface="Times New Roman" pitchFamily="18" charset="0"/>
              </a:rPr>
              <a:t>系统没有耗散力，机械能守恒。</a:t>
            </a:r>
            <a:endParaRPr lang="en-US" altLang="zh-CN" sz="2400" b="1" dirty="0">
              <a:solidFill>
                <a:schemeClr val="bg1"/>
              </a:solidFill>
              <a:latin typeface="Times New Roman" pitchFamily="18" charset="0"/>
              <a:cs typeface="Times New Roman" pitchFamily="18" charset="0"/>
            </a:endParaRPr>
          </a:p>
          <a:p>
            <a:pPr indent="355600">
              <a:defRPr/>
            </a:pPr>
            <a:r>
              <a:rPr lang="zh-CN" altLang="en-US" sz="2400" b="1" dirty="0">
                <a:solidFill>
                  <a:schemeClr val="bg1"/>
                </a:solidFill>
                <a:latin typeface="Times New Roman" pitchFamily="18" charset="0"/>
                <a:cs typeface="Times New Roman" pitchFamily="18" charset="0"/>
              </a:rPr>
              <a:t>选水平面为重力势能</a:t>
            </a:r>
            <a:r>
              <a:rPr lang="en-US" altLang="zh-CN" sz="2400" b="1" dirty="0">
                <a:solidFill>
                  <a:schemeClr val="bg1"/>
                </a:solidFill>
                <a:latin typeface="Times New Roman" pitchFamily="18" charset="0"/>
                <a:cs typeface="Times New Roman" pitchFamily="18" charset="0"/>
              </a:rPr>
              <a:t>0</a:t>
            </a:r>
            <a:r>
              <a:rPr lang="zh-CN" altLang="en-US" sz="2400" b="1" dirty="0">
                <a:solidFill>
                  <a:schemeClr val="bg1"/>
                </a:solidFill>
                <a:latin typeface="Times New Roman" pitchFamily="18" charset="0"/>
                <a:cs typeface="Times New Roman" pitchFamily="18" charset="0"/>
              </a:rPr>
              <a:t>点：</a:t>
            </a:r>
            <a:endParaRPr lang="zh-CN" altLang="en-US" sz="1000" b="1" dirty="0">
              <a:solidFill>
                <a:schemeClr val="bg1"/>
              </a:solidFill>
            </a:endParaRPr>
          </a:p>
          <a:p>
            <a:pPr indent="355600">
              <a:defRPr/>
            </a:pPr>
            <a:endParaRPr lang="zh-CN" altLang="en-US" sz="3200" b="1" dirty="0">
              <a:solidFill>
                <a:schemeClr val="bg1"/>
              </a:solidFill>
            </a:endParaRPr>
          </a:p>
        </p:txBody>
      </p:sp>
      <p:sp>
        <p:nvSpPr>
          <p:cNvPr id="18437" name="Rectangle 30">
            <a:extLst>
              <a:ext uri="{FF2B5EF4-FFF2-40B4-BE49-F238E27FC236}">
                <a16:creationId xmlns:a16="http://schemas.microsoft.com/office/drawing/2014/main" id="{FAC308A0-BEBB-D334-1707-E44B175448D1}"/>
              </a:ext>
            </a:extLst>
          </p:cNvPr>
          <p:cNvSpPr>
            <a:spLocks noChangeArrowheads="1"/>
          </p:cNvSpPr>
          <p:nvPr/>
        </p:nvSpPr>
        <p:spPr bwMode="auto">
          <a:xfrm>
            <a:off x="0" y="20351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 name="矩形 2">
            <a:extLst>
              <a:ext uri="{FF2B5EF4-FFF2-40B4-BE49-F238E27FC236}">
                <a16:creationId xmlns:a16="http://schemas.microsoft.com/office/drawing/2014/main" id="{4B02A61F-A685-4732-BB95-ECA499567AE8}"/>
              </a:ext>
            </a:extLst>
          </p:cNvPr>
          <p:cNvSpPr/>
          <p:nvPr/>
        </p:nvSpPr>
        <p:spPr>
          <a:xfrm>
            <a:off x="1974850" y="3359150"/>
            <a:ext cx="4572000" cy="830263"/>
          </a:xfrm>
          <a:prstGeom prst="rect">
            <a:avLst/>
          </a:prstGeom>
        </p:spPr>
        <p:txBody>
          <a:bodyPr>
            <a:spAutoFit/>
          </a:bodyPr>
          <a:lstStyle/>
          <a:p>
            <a:pPr eaLnBrk="1" hangingPunct="1">
              <a:defRPr/>
            </a:pPr>
            <a:r>
              <a:rPr lang="zh-CN" altLang="zh-CN" sz="2400" b="1" dirty="0">
                <a:solidFill>
                  <a:schemeClr val="bg1"/>
                </a:solidFill>
                <a:latin typeface="+mn-lt"/>
              </a:rPr>
              <a:t>其中</a:t>
            </a:r>
            <a:r>
              <a:rPr lang="en-US" altLang="zh-CN" sz="2400" b="1" i="1" dirty="0" err="1">
                <a:solidFill>
                  <a:schemeClr val="bg1"/>
                </a:solidFill>
                <a:latin typeface="+mn-lt"/>
              </a:rPr>
              <a:t>v</a:t>
            </a:r>
            <a:r>
              <a:rPr lang="en-US" altLang="zh-CN" sz="2400" b="1" i="1" baseline="-25000" dirty="0" err="1">
                <a:solidFill>
                  <a:schemeClr val="bg1"/>
                </a:solidFill>
                <a:latin typeface="+mn-lt"/>
              </a:rPr>
              <a:t>x</a:t>
            </a:r>
            <a:r>
              <a:rPr lang="zh-CN" altLang="zh-CN" sz="2400" b="1" dirty="0">
                <a:solidFill>
                  <a:schemeClr val="bg1"/>
                </a:solidFill>
                <a:latin typeface="+mn-lt"/>
              </a:rPr>
              <a:t>＝</a:t>
            </a:r>
            <a:r>
              <a:rPr lang="en-US" altLang="zh-CN" sz="2400" b="1" i="1" dirty="0" err="1">
                <a:solidFill>
                  <a:schemeClr val="bg1"/>
                </a:solidFill>
                <a:latin typeface="+mn-lt"/>
              </a:rPr>
              <a:t>v</a:t>
            </a:r>
            <a:r>
              <a:rPr lang="en-US" altLang="zh-CN" sz="2400" b="1" i="1" baseline="-25000" dirty="0" err="1">
                <a:solidFill>
                  <a:schemeClr val="bg1"/>
                </a:solidFill>
                <a:latin typeface="+mn-lt"/>
              </a:rPr>
              <a:t>r</a:t>
            </a:r>
            <a:r>
              <a:rPr lang="en-US" altLang="zh-CN" sz="2400" b="1" dirty="0" err="1">
                <a:solidFill>
                  <a:schemeClr val="bg1"/>
                </a:solidFill>
                <a:latin typeface="+mn-lt"/>
              </a:rPr>
              <a:t>cos</a:t>
            </a:r>
            <a:r>
              <a:rPr lang="en-US" altLang="zh-CN" sz="2400" b="1" i="1" dirty="0" err="1">
                <a:solidFill>
                  <a:schemeClr val="bg1"/>
                </a:solidFill>
                <a:latin typeface="+mn-lt"/>
              </a:rPr>
              <a:t>θ</a:t>
            </a:r>
            <a:r>
              <a:rPr lang="zh-CN" altLang="zh-CN" sz="2400" b="1" dirty="0">
                <a:solidFill>
                  <a:schemeClr val="bg1"/>
                </a:solidFill>
                <a:latin typeface="+mn-lt"/>
              </a:rPr>
              <a:t>－</a:t>
            </a:r>
            <a:r>
              <a:rPr lang="en-US" altLang="zh-CN" sz="2400" b="1" i="1" dirty="0">
                <a:solidFill>
                  <a:schemeClr val="bg1"/>
                </a:solidFill>
                <a:latin typeface="+mn-lt"/>
              </a:rPr>
              <a:t>V</a:t>
            </a:r>
            <a:r>
              <a:rPr lang="en-US" altLang="zh-CN" sz="2400" b="1" dirty="0">
                <a:solidFill>
                  <a:schemeClr val="bg1"/>
                </a:solidFill>
                <a:latin typeface="+mn-lt"/>
              </a:rPr>
              <a:t>  </a:t>
            </a:r>
          </a:p>
          <a:p>
            <a:pPr eaLnBrk="1" hangingPunct="1">
              <a:defRPr/>
            </a:pPr>
            <a:r>
              <a:rPr lang="en-US" altLang="zh-CN" sz="2400" b="1" i="1" dirty="0">
                <a:solidFill>
                  <a:schemeClr val="bg1"/>
                </a:solidFill>
                <a:latin typeface="+mn-lt"/>
              </a:rPr>
              <a:t>        </a:t>
            </a:r>
            <a:r>
              <a:rPr lang="en-US" altLang="zh-CN" sz="2400" b="1" i="1" dirty="0" err="1">
                <a:solidFill>
                  <a:schemeClr val="bg1"/>
                </a:solidFill>
                <a:latin typeface="+mn-lt"/>
              </a:rPr>
              <a:t>v</a:t>
            </a:r>
            <a:r>
              <a:rPr lang="en-US" altLang="zh-CN" sz="2400" b="1" i="1" baseline="-25000" dirty="0" err="1">
                <a:solidFill>
                  <a:schemeClr val="bg1"/>
                </a:solidFill>
                <a:latin typeface="+mn-lt"/>
              </a:rPr>
              <a:t>y</a:t>
            </a:r>
            <a:r>
              <a:rPr lang="zh-CN" altLang="zh-CN" sz="2400" b="1" dirty="0">
                <a:solidFill>
                  <a:schemeClr val="bg1"/>
                </a:solidFill>
                <a:latin typeface="+mn-lt"/>
              </a:rPr>
              <a:t>＝－</a:t>
            </a:r>
            <a:r>
              <a:rPr lang="en-US" altLang="zh-CN" sz="2400" b="1" i="1" dirty="0" err="1">
                <a:solidFill>
                  <a:schemeClr val="bg1"/>
                </a:solidFill>
                <a:latin typeface="+mn-lt"/>
              </a:rPr>
              <a:t>v</a:t>
            </a:r>
            <a:r>
              <a:rPr lang="en-US" altLang="zh-CN" sz="2400" b="1" i="1" baseline="-25000" dirty="0" err="1">
                <a:solidFill>
                  <a:schemeClr val="bg1"/>
                </a:solidFill>
                <a:latin typeface="+mn-lt"/>
              </a:rPr>
              <a:t>r</a:t>
            </a:r>
            <a:r>
              <a:rPr lang="en-US" altLang="zh-CN" sz="2400" b="1" dirty="0" err="1">
                <a:solidFill>
                  <a:schemeClr val="bg1"/>
                </a:solidFill>
                <a:latin typeface="+mn-lt"/>
              </a:rPr>
              <a:t>sin</a:t>
            </a:r>
            <a:r>
              <a:rPr lang="en-US" altLang="zh-CN" sz="2400" b="1" i="1" dirty="0" err="1">
                <a:solidFill>
                  <a:schemeClr val="bg1"/>
                </a:solidFill>
                <a:latin typeface="+mn-lt"/>
              </a:rPr>
              <a:t>θ</a:t>
            </a:r>
            <a:endParaRPr lang="zh-CN" altLang="zh-CN" sz="2400" b="1" i="1" dirty="0">
              <a:solidFill>
                <a:schemeClr val="bg1"/>
              </a:solidFill>
              <a:latin typeface="+mn-lt"/>
            </a:endParaRPr>
          </a:p>
        </p:txBody>
      </p:sp>
      <p:sp>
        <p:nvSpPr>
          <p:cNvPr id="4" name="矩形 3">
            <a:extLst>
              <a:ext uri="{FF2B5EF4-FFF2-40B4-BE49-F238E27FC236}">
                <a16:creationId xmlns:a16="http://schemas.microsoft.com/office/drawing/2014/main" id="{DC9962F7-85A5-CFB5-A6A0-4C4D0FD01321}"/>
              </a:ext>
            </a:extLst>
          </p:cNvPr>
          <p:cNvSpPr>
            <a:spLocks noChangeArrowheads="1"/>
          </p:cNvSpPr>
          <p:nvPr/>
        </p:nvSpPr>
        <p:spPr bwMode="auto">
          <a:xfrm>
            <a:off x="468313" y="4365625"/>
            <a:ext cx="1111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可得：</a:t>
            </a:r>
          </a:p>
        </p:txBody>
      </p:sp>
      <p:pic>
        <p:nvPicPr>
          <p:cNvPr id="17434" name="Picture 26">
            <a:extLst>
              <a:ext uri="{FF2B5EF4-FFF2-40B4-BE49-F238E27FC236}">
                <a16:creationId xmlns:a16="http://schemas.microsoft.com/office/drawing/2014/main" id="{614B903C-1CB4-34A8-DE8E-2325D3DB9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525" y="4448175"/>
            <a:ext cx="3097213" cy="777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 name="Picture 27">
            <a:extLst>
              <a:ext uri="{FF2B5EF4-FFF2-40B4-BE49-F238E27FC236}">
                <a16:creationId xmlns:a16="http://schemas.microsoft.com/office/drawing/2014/main" id="{518EF91F-1011-868F-FF7A-CFB6AF6FC3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525" y="5300663"/>
            <a:ext cx="2803525" cy="792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6" name="对象 5">
            <a:extLst>
              <a:ext uri="{FF2B5EF4-FFF2-40B4-BE49-F238E27FC236}">
                <a16:creationId xmlns:a16="http://schemas.microsoft.com/office/drawing/2014/main" id="{8613C604-0BC4-225D-FB98-79599452CA23}"/>
              </a:ext>
            </a:extLst>
          </p:cNvPr>
          <p:cNvGraphicFramePr>
            <a:graphicFrameLocks noChangeAspect="1"/>
          </p:cNvGraphicFramePr>
          <p:nvPr/>
        </p:nvGraphicFramePr>
        <p:xfrm>
          <a:off x="1350963" y="2535238"/>
          <a:ext cx="4422775" cy="782637"/>
        </p:xfrm>
        <a:graphic>
          <a:graphicData uri="http://schemas.openxmlformats.org/presentationml/2006/ole">
            <mc:AlternateContent xmlns:mc="http://schemas.openxmlformats.org/markup-compatibility/2006">
              <mc:Choice xmlns:v="urn:schemas-microsoft-com:vml" Requires="v">
                <p:oleObj name="Equation" r:id="rId4" imgW="2222500" imgH="393700" progId="Equation.DSMT4">
                  <p:embed/>
                </p:oleObj>
              </mc:Choice>
              <mc:Fallback>
                <p:oleObj name="Equation" r:id="rId4" imgW="2222500" imgH="3937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0963" y="2535238"/>
                        <a:ext cx="4422775"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3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1">
            <a:extLst>
              <a:ext uri="{FF2B5EF4-FFF2-40B4-BE49-F238E27FC236}">
                <a16:creationId xmlns:a16="http://schemas.microsoft.com/office/drawing/2014/main" id="{22A93EA3-5888-4ACA-BD2F-F9D1CE226FFC}"/>
              </a:ext>
            </a:extLst>
          </p:cNvPr>
          <p:cNvSpPr>
            <a:spLocks noChangeArrowheads="1"/>
          </p:cNvSpPr>
          <p:nvPr/>
        </p:nvSpPr>
        <p:spPr bwMode="auto">
          <a:xfrm>
            <a:off x="481013" y="692150"/>
            <a:ext cx="7775575" cy="3324225"/>
          </a:xfrm>
          <a:prstGeom prst="rect">
            <a:avLst/>
          </a:prstGeom>
          <a:noFill/>
          <a:ln>
            <a:noFill/>
          </a:ln>
        </p:spPr>
        <p:txBody>
          <a:bodyPr>
            <a:spAutoFit/>
          </a:bodyPr>
          <a:lstStyle/>
          <a:p>
            <a:pPr eaLnBrk="1" hangingPunct="1">
              <a:lnSpc>
                <a:spcPct val="125000"/>
              </a:lnSpc>
              <a:defRPr/>
            </a:pPr>
            <a:r>
              <a:rPr lang="zh-CN" altLang="en-US" sz="2400" b="1">
                <a:solidFill>
                  <a:schemeClr val="bg1"/>
                </a:solidFill>
                <a:latin typeface="+mn-lt"/>
              </a:rPr>
              <a:t>碰撞过程中，系统</a:t>
            </a:r>
            <a:r>
              <a:rPr lang="zh-CN" altLang="zh-CN" sz="2400" b="1">
                <a:solidFill>
                  <a:schemeClr val="bg1"/>
                </a:solidFill>
                <a:latin typeface="+mn-lt"/>
              </a:rPr>
              <a:t>动量总是守恒的</a:t>
            </a:r>
            <a:r>
              <a:rPr lang="zh-CN" altLang="en-US" sz="2400" b="1">
                <a:solidFill>
                  <a:schemeClr val="bg1"/>
                </a:solidFill>
                <a:latin typeface="+mn-lt"/>
              </a:rPr>
              <a:t>，可以分为三类：</a:t>
            </a:r>
            <a:endParaRPr lang="zh-CN" altLang="zh-CN" sz="2400" b="1">
              <a:solidFill>
                <a:schemeClr val="bg1"/>
              </a:solidFill>
              <a:latin typeface="+mn-lt"/>
            </a:endParaRPr>
          </a:p>
          <a:p>
            <a:pPr eaLnBrk="1" hangingPunct="1">
              <a:lnSpc>
                <a:spcPct val="125000"/>
              </a:lnSpc>
              <a:defRPr/>
            </a:pPr>
            <a:r>
              <a:rPr lang="zh-CN" altLang="zh-CN" sz="2400" b="1">
                <a:solidFill>
                  <a:schemeClr val="bg1"/>
                </a:solidFill>
                <a:latin typeface="+mn-lt"/>
              </a:rPr>
              <a:t>（</a:t>
            </a:r>
            <a:r>
              <a:rPr lang="en-US" altLang="zh-CN" sz="2400" b="1">
                <a:solidFill>
                  <a:schemeClr val="bg1"/>
                </a:solidFill>
                <a:latin typeface="+mn-lt"/>
              </a:rPr>
              <a:t>1</a:t>
            </a:r>
            <a:r>
              <a:rPr lang="zh-CN" altLang="zh-CN" sz="2400" b="1">
                <a:solidFill>
                  <a:schemeClr val="bg1"/>
                </a:solidFill>
                <a:latin typeface="+mn-lt"/>
              </a:rPr>
              <a:t>）</a:t>
            </a:r>
            <a:r>
              <a:rPr lang="zh-CN" altLang="zh-CN" sz="2400" b="1">
                <a:solidFill>
                  <a:srgbClr val="FFC000"/>
                </a:solidFill>
                <a:latin typeface="+mn-lt"/>
              </a:rPr>
              <a:t>完全弹性碰撞：动量守恒，动能守恒</a:t>
            </a:r>
            <a:r>
              <a:rPr lang="zh-CN" altLang="zh-CN" sz="2400" b="1">
                <a:solidFill>
                  <a:schemeClr val="bg1"/>
                </a:solidFill>
                <a:latin typeface="+mn-lt"/>
              </a:rPr>
              <a:t>。</a:t>
            </a:r>
          </a:p>
          <a:p>
            <a:pPr eaLnBrk="1" hangingPunct="1">
              <a:lnSpc>
                <a:spcPct val="125000"/>
              </a:lnSpc>
              <a:defRPr/>
            </a:pPr>
            <a:r>
              <a:rPr lang="zh-CN" altLang="zh-CN" sz="2400" b="1">
                <a:solidFill>
                  <a:schemeClr val="bg1"/>
                </a:solidFill>
                <a:latin typeface="+mn-lt"/>
              </a:rPr>
              <a:t>质量</a:t>
            </a:r>
            <a:r>
              <a:rPr lang="en-US" altLang="zh-CN" sz="2400" b="1">
                <a:solidFill>
                  <a:schemeClr val="bg1"/>
                </a:solidFill>
                <a:latin typeface="+mn-lt"/>
              </a:rPr>
              <a:t>			 </a:t>
            </a:r>
            <a:r>
              <a:rPr lang="zh-CN" altLang="zh-CN" sz="2400" b="1">
                <a:solidFill>
                  <a:schemeClr val="bg1"/>
                </a:solidFill>
                <a:latin typeface="+mn-lt"/>
              </a:rPr>
              <a:t>碰前</a:t>
            </a:r>
            <a:r>
              <a:rPr lang="en-US" altLang="zh-CN" sz="2400" b="1">
                <a:solidFill>
                  <a:schemeClr val="bg1"/>
                </a:solidFill>
                <a:latin typeface="+mn-lt"/>
              </a:rPr>
              <a:t>	   	           </a:t>
            </a:r>
            <a:r>
              <a:rPr lang="zh-CN" altLang="zh-CN" sz="2400" b="1">
                <a:solidFill>
                  <a:schemeClr val="bg1"/>
                </a:solidFill>
                <a:latin typeface="+mn-lt"/>
              </a:rPr>
              <a:t>碰后</a:t>
            </a:r>
          </a:p>
          <a:p>
            <a:pPr eaLnBrk="1" hangingPunct="1">
              <a:lnSpc>
                <a:spcPct val="125000"/>
              </a:lnSpc>
              <a:defRPr/>
            </a:pPr>
            <a:r>
              <a:rPr lang="en-US" altLang="zh-CN" sz="2400" b="1" i="1">
                <a:solidFill>
                  <a:schemeClr val="bg1"/>
                </a:solidFill>
                <a:latin typeface="+mn-lt"/>
              </a:rPr>
              <a:t>m</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2</a:t>
            </a:r>
            <a:r>
              <a:rPr lang="en-US" altLang="zh-CN" sz="2400" b="1">
                <a:solidFill>
                  <a:schemeClr val="bg1"/>
                </a:solidFill>
                <a:latin typeface="+mn-lt"/>
              </a:rPr>
              <a:t>		</a:t>
            </a:r>
            <a:r>
              <a:rPr lang="en-US" altLang="zh-CN" sz="2400" b="1" i="1">
                <a:solidFill>
                  <a:schemeClr val="bg1"/>
                </a:solidFill>
                <a:latin typeface="+mn-lt"/>
              </a:rPr>
              <a:t>v</a:t>
            </a:r>
            <a:r>
              <a:rPr lang="en-US" altLang="zh-CN" sz="2400" b="1" baseline="-25000">
                <a:solidFill>
                  <a:schemeClr val="bg1"/>
                </a:solidFill>
                <a:latin typeface="+mn-lt"/>
              </a:rPr>
              <a:t>10</a:t>
            </a:r>
            <a:r>
              <a:rPr lang="zh-CN" altLang="zh-CN" sz="2400" b="1">
                <a:solidFill>
                  <a:schemeClr val="bg1"/>
                </a:solidFill>
                <a:latin typeface="+mn-lt"/>
              </a:rPr>
              <a:t>，</a:t>
            </a:r>
            <a:r>
              <a:rPr lang="en-US" altLang="zh-CN" sz="2400" b="1" i="1">
                <a:solidFill>
                  <a:schemeClr val="bg1"/>
                </a:solidFill>
                <a:latin typeface="+mn-lt"/>
              </a:rPr>
              <a:t>v</a:t>
            </a:r>
            <a:r>
              <a:rPr lang="en-US" altLang="zh-CN" sz="2400" b="1" baseline="-25000">
                <a:solidFill>
                  <a:schemeClr val="bg1"/>
                </a:solidFill>
                <a:latin typeface="+mn-lt"/>
              </a:rPr>
              <a:t>20</a:t>
            </a:r>
            <a:r>
              <a:rPr lang="en-US" altLang="zh-CN" sz="2400" b="1">
                <a:solidFill>
                  <a:schemeClr val="bg1"/>
                </a:solidFill>
                <a:latin typeface="+mn-lt"/>
              </a:rPr>
              <a:t>		</a:t>
            </a:r>
            <a:r>
              <a:rPr lang="en-US" altLang="zh-CN" sz="2400" b="1" i="1">
                <a:solidFill>
                  <a:schemeClr val="bg1"/>
                </a:solidFill>
                <a:latin typeface="+mn-lt"/>
              </a:rPr>
              <a:t>v</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v</a:t>
            </a:r>
            <a:r>
              <a:rPr lang="en-US" altLang="zh-CN" sz="2400" b="1" baseline="-25000">
                <a:solidFill>
                  <a:schemeClr val="bg1"/>
                </a:solidFill>
                <a:latin typeface="+mn-lt"/>
              </a:rPr>
              <a:t>2</a:t>
            </a:r>
            <a:endParaRPr lang="zh-CN" altLang="zh-CN" sz="2400" b="1">
              <a:solidFill>
                <a:schemeClr val="bg1"/>
              </a:solidFill>
              <a:latin typeface="+mn-lt"/>
            </a:endParaRPr>
          </a:p>
          <a:p>
            <a:pPr eaLnBrk="1" hangingPunct="1">
              <a:lnSpc>
                <a:spcPct val="125000"/>
              </a:lnSpc>
              <a:defRPr/>
            </a:pPr>
            <a:r>
              <a:rPr lang="zh-CN" altLang="zh-CN" sz="2400" b="1">
                <a:solidFill>
                  <a:schemeClr val="bg1"/>
                </a:solidFill>
                <a:latin typeface="+mn-lt"/>
              </a:rPr>
              <a:t>动量守恒：</a:t>
            </a:r>
            <a:r>
              <a:rPr lang="en-US" altLang="zh-CN" sz="2400" b="1">
                <a:solidFill>
                  <a:schemeClr val="bg1"/>
                </a:solidFill>
                <a:latin typeface="+mn-lt"/>
              </a:rPr>
              <a:t>      </a:t>
            </a:r>
            <a:r>
              <a:rPr lang="en-US" altLang="zh-CN" sz="2400" b="1" i="1">
                <a:solidFill>
                  <a:schemeClr val="bg1"/>
                </a:solidFill>
                <a:latin typeface="+mn-lt"/>
              </a:rPr>
              <a:t>m</a:t>
            </a:r>
            <a:r>
              <a:rPr lang="en-US" altLang="zh-CN" sz="2400" b="1" baseline="-25000">
                <a:solidFill>
                  <a:schemeClr val="bg1"/>
                </a:solidFill>
                <a:latin typeface="+mn-lt"/>
              </a:rPr>
              <a:t>1</a:t>
            </a:r>
            <a:r>
              <a:rPr lang="en-US" altLang="zh-CN" sz="2400" b="1" i="1">
                <a:solidFill>
                  <a:schemeClr val="bg1"/>
                </a:solidFill>
                <a:latin typeface="+mn-lt"/>
              </a:rPr>
              <a:t>v</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2</a:t>
            </a:r>
            <a:r>
              <a:rPr lang="en-US" altLang="zh-CN" sz="2400" b="1" i="1">
                <a:solidFill>
                  <a:schemeClr val="bg1"/>
                </a:solidFill>
                <a:latin typeface="+mn-lt"/>
              </a:rPr>
              <a:t>v</a:t>
            </a:r>
            <a:r>
              <a:rPr lang="en-US" altLang="zh-CN" sz="2400" b="1" baseline="-25000">
                <a:solidFill>
                  <a:schemeClr val="bg1"/>
                </a:solidFill>
                <a:latin typeface="+mn-lt"/>
              </a:rPr>
              <a:t>2</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1</a:t>
            </a:r>
            <a:r>
              <a:rPr lang="en-US" altLang="zh-CN" sz="2400" b="1" i="1">
                <a:solidFill>
                  <a:schemeClr val="bg1"/>
                </a:solidFill>
                <a:latin typeface="+mn-lt"/>
              </a:rPr>
              <a:t>v</a:t>
            </a:r>
            <a:r>
              <a:rPr lang="en-US" altLang="zh-CN" sz="2400" b="1" baseline="-25000">
                <a:solidFill>
                  <a:schemeClr val="bg1"/>
                </a:solidFill>
                <a:latin typeface="+mn-lt"/>
              </a:rPr>
              <a:t>10</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2</a:t>
            </a:r>
            <a:r>
              <a:rPr lang="en-US" altLang="zh-CN" sz="2400" b="1" i="1">
                <a:solidFill>
                  <a:schemeClr val="bg1"/>
                </a:solidFill>
                <a:latin typeface="+mn-lt"/>
              </a:rPr>
              <a:t>v</a:t>
            </a:r>
            <a:r>
              <a:rPr lang="en-US" altLang="zh-CN" sz="2400" b="1" baseline="-25000">
                <a:solidFill>
                  <a:schemeClr val="bg1"/>
                </a:solidFill>
                <a:latin typeface="+mn-lt"/>
              </a:rPr>
              <a:t>20</a:t>
            </a:r>
            <a:endParaRPr lang="zh-CN" altLang="zh-CN" sz="2400" b="1">
              <a:solidFill>
                <a:schemeClr val="bg1"/>
              </a:solidFill>
              <a:latin typeface="+mn-lt"/>
            </a:endParaRPr>
          </a:p>
          <a:p>
            <a:pPr eaLnBrk="1" hangingPunct="1">
              <a:lnSpc>
                <a:spcPct val="125000"/>
              </a:lnSpc>
              <a:defRPr/>
            </a:pPr>
            <a:r>
              <a:rPr lang="zh-CN" altLang="zh-CN" sz="2400" b="1">
                <a:solidFill>
                  <a:schemeClr val="bg1"/>
                </a:solidFill>
                <a:latin typeface="+mn-lt"/>
              </a:rPr>
              <a:t>动能守恒：   </a:t>
            </a:r>
            <a:r>
              <a:rPr lang="en-US" altLang="zh-CN" sz="2400" b="1" i="1">
                <a:solidFill>
                  <a:schemeClr val="bg1"/>
                </a:solidFill>
                <a:latin typeface="+mn-lt"/>
              </a:rPr>
              <a:t>m</a:t>
            </a:r>
            <a:r>
              <a:rPr lang="en-US" altLang="zh-CN" sz="2400" b="1" baseline="-25000">
                <a:solidFill>
                  <a:schemeClr val="bg1"/>
                </a:solidFill>
                <a:latin typeface="+mn-lt"/>
              </a:rPr>
              <a:t>1</a:t>
            </a:r>
            <a:r>
              <a:rPr lang="en-US" altLang="zh-CN" sz="2400" b="1" i="1">
                <a:solidFill>
                  <a:schemeClr val="bg1"/>
                </a:solidFill>
                <a:latin typeface="+mn-lt"/>
              </a:rPr>
              <a:t>v</a:t>
            </a:r>
            <a:r>
              <a:rPr lang="en-US" altLang="zh-CN" sz="2400" b="1" baseline="-25000">
                <a:solidFill>
                  <a:schemeClr val="bg1"/>
                </a:solidFill>
                <a:latin typeface="+mn-lt"/>
              </a:rPr>
              <a:t>1</a:t>
            </a:r>
            <a:r>
              <a:rPr lang="en-US" altLang="zh-CN" sz="2400" b="1" baseline="30000">
                <a:solidFill>
                  <a:schemeClr val="bg1"/>
                </a:solidFill>
                <a:latin typeface="+mn-lt"/>
              </a:rPr>
              <a:t>2</a:t>
            </a:r>
            <a:r>
              <a:rPr lang="en-US" altLang="zh-CN" sz="2400" b="1">
                <a:solidFill>
                  <a:schemeClr val="bg1"/>
                </a:solidFill>
                <a:latin typeface="+mn-lt"/>
              </a:rPr>
              <a:t>/2+ </a:t>
            </a:r>
            <a:r>
              <a:rPr lang="en-US" altLang="zh-CN" sz="2400" b="1" i="1">
                <a:solidFill>
                  <a:schemeClr val="bg1"/>
                </a:solidFill>
                <a:latin typeface="+mn-lt"/>
              </a:rPr>
              <a:t>m</a:t>
            </a:r>
            <a:r>
              <a:rPr lang="en-US" altLang="zh-CN" sz="2400" b="1" baseline="-25000">
                <a:solidFill>
                  <a:schemeClr val="bg1"/>
                </a:solidFill>
                <a:latin typeface="+mn-lt"/>
              </a:rPr>
              <a:t>2</a:t>
            </a:r>
            <a:r>
              <a:rPr lang="en-US" altLang="zh-CN" sz="2400" b="1" i="1">
                <a:solidFill>
                  <a:schemeClr val="bg1"/>
                </a:solidFill>
                <a:latin typeface="+mn-lt"/>
              </a:rPr>
              <a:t>v</a:t>
            </a:r>
            <a:r>
              <a:rPr lang="en-US" altLang="zh-CN" sz="2400" b="1" baseline="-25000">
                <a:solidFill>
                  <a:schemeClr val="bg1"/>
                </a:solidFill>
                <a:latin typeface="+mn-lt"/>
              </a:rPr>
              <a:t>2</a:t>
            </a:r>
            <a:r>
              <a:rPr lang="en-US" altLang="zh-CN" sz="2400" b="1" baseline="30000">
                <a:solidFill>
                  <a:schemeClr val="bg1"/>
                </a:solidFill>
                <a:latin typeface="+mn-lt"/>
              </a:rPr>
              <a:t>2</a:t>
            </a:r>
            <a:r>
              <a:rPr lang="en-US" altLang="zh-CN" sz="2400" b="1">
                <a:solidFill>
                  <a:schemeClr val="bg1"/>
                </a:solidFill>
                <a:latin typeface="+mn-lt"/>
              </a:rPr>
              <a:t>/2= </a:t>
            </a:r>
            <a:r>
              <a:rPr lang="en-US" altLang="zh-CN" sz="2400" b="1" i="1">
                <a:solidFill>
                  <a:schemeClr val="bg1"/>
                </a:solidFill>
                <a:latin typeface="+mn-lt"/>
              </a:rPr>
              <a:t>m</a:t>
            </a:r>
            <a:r>
              <a:rPr lang="en-US" altLang="zh-CN" sz="2400" b="1" baseline="-25000">
                <a:solidFill>
                  <a:schemeClr val="bg1"/>
                </a:solidFill>
                <a:latin typeface="+mn-lt"/>
              </a:rPr>
              <a:t>1</a:t>
            </a:r>
            <a:r>
              <a:rPr lang="en-US" altLang="zh-CN" sz="2400" b="1" i="1">
                <a:solidFill>
                  <a:schemeClr val="bg1"/>
                </a:solidFill>
                <a:latin typeface="+mn-lt"/>
              </a:rPr>
              <a:t>v</a:t>
            </a:r>
            <a:r>
              <a:rPr lang="en-US" altLang="zh-CN" sz="2400" b="1" baseline="-25000">
                <a:solidFill>
                  <a:schemeClr val="bg1"/>
                </a:solidFill>
                <a:latin typeface="+mn-lt"/>
              </a:rPr>
              <a:t>10</a:t>
            </a:r>
            <a:r>
              <a:rPr lang="en-US" altLang="zh-CN" sz="2400" b="1" baseline="30000">
                <a:solidFill>
                  <a:schemeClr val="bg1"/>
                </a:solidFill>
                <a:latin typeface="+mn-lt"/>
              </a:rPr>
              <a:t>2</a:t>
            </a:r>
            <a:r>
              <a:rPr lang="en-US" altLang="zh-CN" sz="2400" b="1">
                <a:solidFill>
                  <a:schemeClr val="bg1"/>
                </a:solidFill>
                <a:latin typeface="+mn-lt"/>
              </a:rPr>
              <a:t>/2+ </a:t>
            </a:r>
            <a:r>
              <a:rPr lang="en-US" altLang="zh-CN" sz="2400" b="1" i="1">
                <a:solidFill>
                  <a:schemeClr val="bg1"/>
                </a:solidFill>
                <a:latin typeface="+mn-lt"/>
              </a:rPr>
              <a:t>m</a:t>
            </a:r>
            <a:r>
              <a:rPr lang="en-US" altLang="zh-CN" sz="2400" b="1" baseline="-25000">
                <a:solidFill>
                  <a:schemeClr val="bg1"/>
                </a:solidFill>
                <a:latin typeface="+mn-lt"/>
              </a:rPr>
              <a:t>2</a:t>
            </a:r>
            <a:r>
              <a:rPr lang="en-US" altLang="zh-CN" sz="2400" b="1" i="1">
                <a:solidFill>
                  <a:schemeClr val="bg1"/>
                </a:solidFill>
                <a:latin typeface="+mn-lt"/>
              </a:rPr>
              <a:t>v</a:t>
            </a:r>
            <a:r>
              <a:rPr lang="en-US" altLang="zh-CN" sz="2400" b="1" baseline="-25000">
                <a:solidFill>
                  <a:schemeClr val="bg1"/>
                </a:solidFill>
                <a:latin typeface="+mn-lt"/>
              </a:rPr>
              <a:t>20</a:t>
            </a:r>
            <a:r>
              <a:rPr lang="en-US" altLang="zh-CN" sz="2400" b="1" baseline="30000">
                <a:solidFill>
                  <a:schemeClr val="bg1"/>
                </a:solidFill>
                <a:latin typeface="+mn-lt"/>
              </a:rPr>
              <a:t>2</a:t>
            </a:r>
            <a:r>
              <a:rPr lang="en-US" altLang="zh-CN" sz="2400" b="1">
                <a:solidFill>
                  <a:schemeClr val="bg1"/>
                </a:solidFill>
                <a:latin typeface="+mn-lt"/>
              </a:rPr>
              <a:t>/2</a:t>
            </a:r>
            <a:endParaRPr lang="zh-CN" altLang="zh-CN" sz="2400" b="1">
              <a:solidFill>
                <a:schemeClr val="bg1"/>
              </a:solidFill>
              <a:latin typeface="+mn-lt"/>
            </a:endParaRPr>
          </a:p>
          <a:p>
            <a:pPr eaLnBrk="1" hangingPunct="1">
              <a:lnSpc>
                <a:spcPct val="125000"/>
              </a:lnSpc>
              <a:defRPr/>
            </a:pPr>
            <a:r>
              <a:rPr lang="zh-CN" altLang="zh-CN" sz="2400" b="1">
                <a:solidFill>
                  <a:schemeClr val="bg1"/>
                </a:solidFill>
                <a:latin typeface="+mn-lt"/>
              </a:rPr>
              <a:t>两个未知数，两个方程，解得：</a:t>
            </a:r>
          </a:p>
        </p:txBody>
      </p:sp>
      <p:pic>
        <p:nvPicPr>
          <p:cNvPr id="19459" name="Picture 2">
            <a:extLst>
              <a:ext uri="{FF2B5EF4-FFF2-40B4-BE49-F238E27FC236}">
                <a16:creationId xmlns:a16="http://schemas.microsoft.com/office/drawing/2014/main" id="{9B8798CD-2166-DEB5-95B1-11B523B589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4365625"/>
            <a:ext cx="3314700" cy="180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9460" name="矩形 1">
            <a:extLst>
              <a:ext uri="{FF2B5EF4-FFF2-40B4-BE49-F238E27FC236}">
                <a16:creationId xmlns:a16="http://schemas.microsoft.com/office/drawing/2014/main" id="{75A55211-4BCF-4B7C-8B85-7EBD0941D0AD}"/>
              </a:ext>
            </a:extLst>
          </p:cNvPr>
          <p:cNvSpPr>
            <a:spLocks noChangeArrowheads="1"/>
          </p:cNvSpPr>
          <p:nvPr/>
        </p:nvSpPr>
        <p:spPr bwMode="auto">
          <a:xfrm>
            <a:off x="179388" y="115888"/>
            <a:ext cx="1627187" cy="523875"/>
          </a:xfrm>
          <a:prstGeom prst="rect">
            <a:avLst/>
          </a:prstGeom>
          <a:noFill/>
          <a:ln>
            <a:noFill/>
          </a:ln>
        </p:spPr>
        <p:txBody>
          <a:bodyPr wrap="none">
            <a:spAutoFit/>
          </a:bodyPr>
          <a:lstStyle/>
          <a:p>
            <a:pPr eaLnBrk="1" hangingPunct="1">
              <a:defRPr/>
            </a:pPr>
            <a:r>
              <a:rPr lang="zh-CN" altLang="zh-CN" sz="2800" b="1">
                <a:solidFill>
                  <a:srgbClr val="FFC000"/>
                </a:solidFill>
                <a:latin typeface="+mn-lt"/>
              </a:rPr>
              <a:t>碰撞问题</a:t>
            </a:r>
            <a:endParaRPr lang="zh-CN" altLang="en-US" sz="2800">
              <a:solidFill>
                <a:srgbClr val="FFC000"/>
              </a:solidFill>
              <a:latin typeface="+mn-l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8">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945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5">
            <a:extLst>
              <a:ext uri="{FF2B5EF4-FFF2-40B4-BE49-F238E27FC236}">
                <a16:creationId xmlns:a16="http://schemas.microsoft.com/office/drawing/2014/main" id="{987EE523-ABF4-4A7B-94DA-711C2219D4B0}"/>
              </a:ext>
            </a:extLst>
          </p:cNvPr>
          <p:cNvSpPr>
            <a:spLocks noChangeArrowheads="1"/>
          </p:cNvSpPr>
          <p:nvPr/>
        </p:nvSpPr>
        <p:spPr bwMode="auto">
          <a:xfrm>
            <a:off x="760413" y="4954588"/>
            <a:ext cx="4516437" cy="1570037"/>
          </a:xfrm>
          <a:prstGeom prst="rect">
            <a:avLst/>
          </a:prstGeom>
          <a:noFill/>
          <a:ln>
            <a:noFill/>
          </a:ln>
          <a:effectLst/>
        </p:spPr>
        <p:txBody>
          <a:bodyPr wrap="none" anchor="ctr">
            <a:spAutoFit/>
          </a:bodyPr>
          <a:lstStyle/>
          <a:p>
            <a:pPr>
              <a:defRPr/>
            </a:pPr>
            <a:r>
              <a:rPr lang="zh-CN" altLang="zh-CN" sz="2400" b="1">
                <a:solidFill>
                  <a:schemeClr val="bg1"/>
                </a:solidFill>
                <a:latin typeface="+mn-lt"/>
                <a:cs typeface="Times New Roman" pitchFamily="18" charset="0"/>
              </a:rPr>
              <a:t>回复系数：</a:t>
            </a:r>
            <a:r>
              <a:rPr lang="zh-CN" altLang="en-US" sz="2400" b="1">
                <a:solidFill>
                  <a:schemeClr val="bg1"/>
                </a:solidFill>
                <a:latin typeface="+mn-lt"/>
                <a:cs typeface="Times New Roman" pitchFamily="18" charset="0"/>
              </a:rPr>
              <a:t> </a:t>
            </a:r>
            <a:endParaRPr lang="en-US" altLang="zh-CN" sz="2400" b="1">
              <a:solidFill>
                <a:schemeClr val="bg1"/>
              </a:solidFill>
              <a:latin typeface="+mn-lt"/>
              <a:cs typeface="Times New Roman" pitchFamily="18" charset="0"/>
            </a:endParaRPr>
          </a:p>
          <a:p>
            <a:pPr>
              <a:defRPr/>
            </a:pPr>
            <a:endParaRPr lang="en-US" altLang="zh-CN" sz="2400" b="1">
              <a:solidFill>
                <a:schemeClr val="bg1"/>
              </a:solidFill>
              <a:latin typeface="+mn-lt"/>
              <a:cs typeface="Times New Roman" pitchFamily="18" charset="0"/>
            </a:endParaRPr>
          </a:p>
          <a:p>
            <a:pPr>
              <a:defRPr/>
            </a:pPr>
            <a:r>
              <a:rPr lang="zh-CN" altLang="en-US" sz="2400" b="1">
                <a:solidFill>
                  <a:schemeClr val="bg1"/>
                </a:solidFill>
                <a:latin typeface="+mn-lt"/>
                <a:cs typeface="Times New Roman" pitchFamily="18" charset="0"/>
              </a:rPr>
              <a:t>     </a:t>
            </a:r>
            <a:endParaRPr lang="zh-CN" altLang="en-US" sz="1000" b="1">
              <a:solidFill>
                <a:schemeClr val="bg1"/>
              </a:solidFill>
              <a:latin typeface="+mn-lt"/>
            </a:endParaRPr>
          </a:p>
          <a:p>
            <a:pPr>
              <a:defRPr/>
            </a:pPr>
            <a:r>
              <a:rPr lang="zh-CN" altLang="en-US" sz="2400" b="1">
                <a:solidFill>
                  <a:schemeClr val="bg1"/>
                </a:solidFill>
                <a:latin typeface="+mn-lt"/>
                <a:cs typeface="Times New Roman" pitchFamily="18" charset="0"/>
              </a:rPr>
              <a:t>两个未知数，两个方程，有解。</a:t>
            </a:r>
            <a:endParaRPr lang="zh-CN" altLang="en-US" sz="3200" b="1">
              <a:solidFill>
                <a:schemeClr val="bg1"/>
              </a:solidFill>
              <a:latin typeface="+mn-lt"/>
            </a:endParaRPr>
          </a:p>
        </p:txBody>
      </p:sp>
      <p:sp>
        <p:nvSpPr>
          <p:cNvPr id="20482" name="矩形 1">
            <a:extLst>
              <a:ext uri="{FF2B5EF4-FFF2-40B4-BE49-F238E27FC236}">
                <a16:creationId xmlns:a16="http://schemas.microsoft.com/office/drawing/2014/main" id="{E1CF70DD-2A7C-4029-9F07-DB9E21929EE7}"/>
              </a:ext>
            </a:extLst>
          </p:cNvPr>
          <p:cNvSpPr>
            <a:spLocks noChangeArrowheads="1"/>
          </p:cNvSpPr>
          <p:nvPr/>
        </p:nvSpPr>
        <p:spPr bwMode="auto">
          <a:xfrm>
            <a:off x="250825" y="115888"/>
            <a:ext cx="8424863" cy="1938337"/>
          </a:xfrm>
          <a:prstGeom prst="rect">
            <a:avLst/>
          </a:prstGeom>
          <a:noFill/>
          <a:ln>
            <a:noFill/>
          </a:ln>
        </p:spPr>
        <p:txBody>
          <a:bodyPr>
            <a:spAutoFit/>
          </a:bodyPr>
          <a:lstStyle/>
          <a:p>
            <a:pPr eaLnBrk="1" hangingPunct="1">
              <a:lnSpc>
                <a:spcPct val="125000"/>
              </a:lnSpc>
              <a:defRPr/>
            </a:pPr>
            <a:r>
              <a:rPr lang="zh-CN" altLang="zh-CN" sz="2400" b="1">
                <a:solidFill>
                  <a:schemeClr val="bg1"/>
                </a:solidFill>
                <a:latin typeface="+mn-lt"/>
              </a:rPr>
              <a:t>（</a:t>
            </a:r>
            <a:r>
              <a:rPr lang="en-US" altLang="zh-CN" sz="2400" b="1">
                <a:solidFill>
                  <a:schemeClr val="bg1"/>
                </a:solidFill>
                <a:latin typeface="+mn-lt"/>
              </a:rPr>
              <a:t>2</a:t>
            </a:r>
            <a:r>
              <a:rPr lang="zh-CN" altLang="zh-CN" sz="2400" b="1">
                <a:solidFill>
                  <a:schemeClr val="bg1"/>
                </a:solidFill>
                <a:latin typeface="+mn-lt"/>
              </a:rPr>
              <a:t>）完全非弹性碰撞：动量守恒，动能不守恒。</a:t>
            </a:r>
          </a:p>
          <a:p>
            <a:pPr eaLnBrk="1" hangingPunct="1">
              <a:lnSpc>
                <a:spcPct val="125000"/>
              </a:lnSpc>
              <a:defRPr/>
            </a:pPr>
            <a:r>
              <a:rPr lang="zh-CN" altLang="zh-CN" sz="2400" b="1">
                <a:solidFill>
                  <a:schemeClr val="bg1"/>
                </a:solidFill>
                <a:latin typeface="+mn-lt"/>
              </a:rPr>
              <a:t>质量</a:t>
            </a:r>
            <a:r>
              <a:rPr lang="en-US" altLang="zh-CN" sz="2400" b="1">
                <a:solidFill>
                  <a:schemeClr val="bg1"/>
                </a:solidFill>
                <a:latin typeface="+mn-lt"/>
              </a:rPr>
              <a:t>			 </a:t>
            </a:r>
            <a:r>
              <a:rPr lang="zh-CN" altLang="zh-CN" sz="2400" b="1">
                <a:solidFill>
                  <a:schemeClr val="bg1"/>
                </a:solidFill>
                <a:latin typeface="+mn-lt"/>
              </a:rPr>
              <a:t>碰前</a:t>
            </a:r>
            <a:r>
              <a:rPr lang="en-US" altLang="zh-CN" sz="2400" b="1">
                <a:solidFill>
                  <a:schemeClr val="bg1"/>
                </a:solidFill>
                <a:latin typeface="+mn-lt"/>
              </a:rPr>
              <a:t>	   	              </a:t>
            </a:r>
            <a:r>
              <a:rPr lang="zh-CN" altLang="zh-CN" sz="2400" b="1">
                <a:solidFill>
                  <a:schemeClr val="bg1"/>
                </a:solidFill>
                <a:latin typeface="+mn-lt"/>
              </a:rPr>
              <a:t>碰后</a:t>
            </a:r>
          </a:p>
          <a:p>
            <a:pPr eaLnBrk="1" hangingPunct="1">
              <a:lnSpc>
                <a:spcPct val="125000"/>
              </a:lnSpc>
              <a:defRPr/>
            </a:pPr>
            <a:r>
              <a:rPr lang="en-US" altLang="zh-CN" sz="2400" b="1" i="1">
                <a:solidFill>
                  <a:schemeClr val="bg1"/>
                </a:solidFill>
                <a:latin typeface="+mn-lt"/>
              </a:rPr>
              <a:t>m</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2</a:t>
            </a:r>
            <a:r>
              <a:rPr lang="en-US" altLang="zh-CN" sz="2400" b="1">
                <a:solidFill>
                  <a:schemeClr val="bg1"/>
                </a:solidFill>
                <a:latin typeface="+mn-lt"/>
              </a:rPr>
              <a:t>		</a:t>
            </a:r>
            <a:r>
              <a:rPr lang="en-US" altLang="zh-CN" sz="2400" b="1" i="1">
                <a:solidFill>
                  <a:schemeClr val="bg1"/>
                </a:solidFill>
                <a:latin typeface="+mn-lt"/>
              </a:rPr>
              <a:t>v</a:t>
            </a:r>
            <a:r>
              <a:rPr lang="en-US" altLang="zh-CN" sz="2400" b="1" baseline="-25000">
                <a:solidFill>
                  <a:schemeClr val="bg1"/>
                </a:solidFill>
                <a:latin typeface="+mn-lt"/>
              </a:rPr>
              <a:t>10</a:t>
            </a:r>
            <a:r>
              <a:rPr lang="zh-CN" altLang="zh-CN" sz="2400" b="1">
                <a:solidFill>
                  <a:schemeClr val="bg1"/>
                </a:solidFill>
                <a:latin typeface="+mn-lt"/>
              </a:rPr>
              <a:t>，</a:t>
            </a:r>
            <a:r>
              <a:rPr lang="en-US" altLang="zh-CN" sz="2400" b="1" i="1">
                <a:solidFill>
                  <a:schemeClr val="bg1"/>
                </a:solidFill>
                <a:latin typeface="+mn-lt"/>
              </a:rPr>
              <a:t>v</a:t>
            </a:r>
            <a:r>
              <a:rPr lang="en-US" altLang="zh-CN" sz="2400" b="1" baseline="-25000">
                <a:solidFill>
                  <a:schemeClr val="bg1"/>
                </a:solidFill>
                <a:latin typeface="+mn-lt"/>
              </a:rPr>
              <a:t>20</a:t>
            </a:r>
            <a:r>
              <a:rPr lang="en-US" altLang="zh-CN" sz="2400" b="1">
                <a:solidFill>
                  <a:schemeClr val="bg1"/>
                </a:solidFill>
                <a:latin typeface="+mn-lt"/>
              </a:rPr>
              <a:t>	 	</a:t>
            </a:r>
            <a:r>
              <a:rPr lang="en-US" altLang="zh-CN" sz="2400" b="1" i="1">
                <a:solidFill>
                  <a:schemeClr val="bg1"/>
                </a:solidFill>
                <a:latin typeface="+mn-lt"/>
              </a:rPr>
              <a:t>v </a:t>
            </a:r>
            <a:r>
              <a:rPr lang="zh-CN" altLang="zh-CN" sz="2400" b="1">
                <a:solidFill>
                  <a:schemeClr val="bg1"/>
                </a:solidFill>
                <a:latin typeface="+mn-lt"/>
              </a:rPr>
              <a:t>（共同速度）</a:t>
            </a:r>
          </a:p>
          <a:p>
            <a:pPr eaLnBrk="1" hangingPunct="1">
              <a:lnSpc>
                <a:spcPct val="125000"/>
              </a:lnSpc>
              <a:defRPr/>
            </a:pPr>
            <a:r>
              <a:rPr lang="zh-CN" altLang="zh-CN" sz="2400" b="1">
                <a:solidFill>
                  <a:schemeClr val="bg1"/>
                </a:solidFill>
                <a:latin typeface="+mn-lt"/>
              </a:rPr>
              <a:t>动量守恒：</a:t>
            </a:r>
            <a:r>
              <a:rPr lang="en-US" altLang="zh-CN" sz="2400" b="1">
                <a:solidFill>
                  <a:schemeClr val="bg1"/>
                </a:solidFill>
                <a:latin typeface="+mn-lt"/>
              </a:rPr>
              <a:t>      (</a:t>
            </a:r>
            <a:r>
              <a:rPr lang="en-US" altLang="zh-CN" sz="2400" b="1" i="1">
                <a:solidFill>
                  <a:schemeClr val="bg1"/>
                </a:solidFill>
                <a:latin typeface="+mn-lt"/>
              </a:rPr>
              <a:t>m</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2</a:t>
            </a:r>
            <a:r>
              <a:rPr lang="en-US" altLang="zh-CN" sz="2400" b="1">
                <a:solidFill>
                  <a:schemeClr val="bg1"/>
                </a:solidFill>
                <a:latin typeface="+mn-lt"/>
              </a:rPr>
              <a:t>)v</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1</a:t>
            </a:r>
            <a:r>
              <a:rPr lang="en-US" altLang="zh-CN" sz="2400" b="1" i="1">
                <a:solidFill>
                  <a:schemeClr val="bg1"/>
                </a:solidFill>
                <a:latin typeface="+mn-lt"/>
              </a:rPr>
              <a:t>v</a:t>
            </a:r>
            <a:r>
              <a:rPr lang="en-US" altLang="zh-CN" sz="2400" b="1" baseline="-25000">
                <a:solidFill>
                  <a:schemeClr val="bg1"/>
                </a:solidFill>
                <a:latin typeface="+mn-lt"/>
              </a:rPr>
              <a:t>10</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2</a:t>
            </a:r>
            <a:r>
              <a:rPr lang="en-US" altLang="zh-CN" sz="2400" b="1" i="1">
                <a:solidFill>
                  <a:schemeClr val="bg1"/>
                </a:solidFill>
                <a:latin typeface="+mn-lt"/>
              </a:rPr>
              <a:t>v</a:t>
            </a:r>
            <a:r>
              <a:rPr lang="en-US" altLang="zh-CN" sz="2400" b="1" baseline="-25000">
                <a:solidFill>
                  <a:schemeClr val="bg1"/>
                </a:solidFill>
                <a:latin typeface="+mn-lt"/>
              </a:rPr>
              <a:t>20</a:t>
            </a:r>
            <a:endParaRPr lang="zh-CN" altLang="zh-CN" sz="2400" b="1">
              <a:solidFill>
                <a:schemeClr val="bg1"/>
              </a:solidFill>
              <a:latin typeface="+mn-lt"/>
            </a:endParaRPr>
          </a:p>
        </p:txBody>
      </p:sp>
      <p:pic>
        <p:nvPicPr>
          <p:cNvPr id="20483" name="Picture 2">
            <a:extLst>
              <a:ext uri="{FF2B5EF4-FFF2-40B4-BE49-F238E27FC236}">
                <a16:creationId xmlns:a16="http://schemas.microsoft.com/office/drawing/2014/main" id="{F75231F5-9D51-E20E-4EE5-B19F4ADF28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475" y="2116138"/>
            <a:ext cx="2089150" cy="847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0484" name="矩形 2">
            <a:extLst>
              <a:ext uri="{FF2B5EF4-FFF2-40B4-BE49-F238E27FC236}">
                <a16:creationId xmlns:a16="http://schemas.microsoft.com/office/drawing/2014/main" id="{E93BDCF2-1155-4F94-A368-3999567FB153}"/>
              </a:ext>
            </a:extLst>
          </p:cNvPr>
          <p:cNvSpPr>
            <a:spLocks noChangeArrowheads="1"/>
          </p:cNvSpPr>
          <p:nvPr/>
        </p:nvSpPr>
        <p:spPr bwMode="auto">
          <a:xfrm>
            <a:off x="323850" y="2997200"/>
            <a:ext cx="7110413" cy="1938338"/>
          </a:xfrm>
          <a:prstGeom prst="rect">
            <a:avLst/>
          </a:prstGeom>
          <a:noFill/>
          <a:ln>
            <a:noFill/>
          </a:ln>
        </p:spPr>
        <p:txBody>
          <a:bodyPr>
            <a:spAutoFit/>
          </a:bodyPr>
          <a:lstStyle/>
          <a:p>
            <a:pPr eaLnBrk="1" hangingPunct="1">
              <a:lnSpc>
                <a:spcPct val="125000"/>
              </a:lnSpc>
              <a:defRPr/>
            </a:pPr>
            <a:r>
              <a:rPr lang="zh-CN" altLang="zh-CN" sz="2400" b="1" dirty="0">
                <a:solidFill>
                  <a:schemeClr val="bg1"/>
                </a:solidFill>
                <a:latin typeface="+mn-lt"/>
              </a:rPr>
              <a:t>（</a:t>
            </a:r>
            <a:r>
              <a:rPr lang="en-US" altLang="zh-CN" sz="2400" b="1" dirty="0">
                <a:solidFill>
                  <a:schemeClr val="bg1"/>
                </a:solidFill>
                <a:latin typeface="+mn-lt"/>
              </a:rPr>
              <a:t>3</a:t>
            </a:r>
            <a:r>
              <a:rPr lang="zh-CN" altLang="zh-CN" sz="2400" b="1" dirty="0">
                <a:solidFill>
                  <a:schemeClr val="bg1"/>
                </a:solidFill>
                <a:latin typeface="+mn-lt"/>
              </a:rPr>
              <a:t>）非完全弹性碰撞：动量守恒，动能不守恒。</a:t>
            </a:r>
          </a:p>
          <a:p>
            <a:pPr eaLnBrk="1" hangingPunct="1">
              <a:lnSpc>
                <a:spcPct val="125000"/>
              </a:lnSpc>
              <a:defRPr/>
            </a:pPr>
            <a:r>
              <a:rPr lang="zh-CN" altLang="zh-CN" sz="2400" b="1" dirty="0">
                <a:solidFill>
                  <a:schemeClr val="bg1"/>
                </a:solidFill>
                <a:latin typeface="+mn-lt"/>
              </a:rPr>
              <a:t>质量</a:t>
            </a:r>
            <a:r>
              <a:rPr lang="en-US" altLang="zh-CN" sz="2400" b="1" dirty="0">
                <a:solidFill>
                  <a:schemeClr val="bg1"/>
                </a:solidFill>
                <a:latin typeface="+mn-lt"/>
              </a:rPr>
              <a:t>			 </a:t>
            </a:r>
            <a:r>
              <a:rPr lang="zh-CN" altLang="zh-CN" sz="2400" b="1" dirty="0">
                <a:solidFill>
                  <a:schemeClr val="bg1"/>
                </a:solidFill>
                <a:latin typeface="+mn-lt"/>
              </a:rPr>
              <a:t>碰前</a:t>
            </a:r>
            <a:r>
              <a:rPr lang="en-US" altLang="zh-CN" sz="2400" b="1" dirty="0">
                <a:solidFill>
                  <a:schemeClr val="bg1"/>
                </a:solidFill>
                <a:latin typeface="+mn-lt"/>
              </a:rPr>
              <a:t>	   	</a:t>
            </a:r>
            <a:r>
              <a:rPr lang="zh-CN" altLang="zh-CN" sz="2400" b="1" dirty="0">
                <a:solidFill>
                  <a:schemeClr val="bg1"/>
                </a:solidFill>
                <a:latin typeface="+mn-lt"/>
              </a:rPr>
              <a:t>碰后</a:t>
            </a:r>
          </a:p>
          <a:p>
            <a:pPr eaLnBrk="1" hangingPunct="1">
              <a:lnSpc>
                <a:spcPct val="125000"/>
              </a:lnSpc>
              <a:defRPr/>
            </a:pPr>
            <a:r>
              <a:rPr lang="en-US" altLang="zh-CN" sz="2400" b="1" i="1" dirty="0">
                <a:solidFill>
                  <a:schemeClr val="bg1"/>
                </a:solidFill>
                <a:latin typeface="+mn-lt"/>
              </a:rPr>
              <a:t>m</a:t>
            </a:r>
            <a:r>
              <a:rPr lang="en-US" altLang="zh-CN" sz="2400" b="1" baseline="-25000" dirty="0">
                <a:solidFill>
                  <a:schemeClr val="bg1"/>
                </a:solidFill>
                <a:latin typeface="+mn-lt"/>
              </a:rPr>
              <a:t>1</a:t>
            </a:r>
            <a:r>
              <a:rPr lang="zh-CN" altLang="zh-CN" sz="2400" b="1" dirty="0">
                <a:solidFill>
                  <a:schemeClr val="bg1"/>
                </a:solidFill>
                <a:latin typeface="+mn-lt"/>
              </a:rPr>
              <a:t>，</a:t>
            </a:r>
            <a:r>
              <a:rPr lang="en-US" altLang="zh-CN" sz="2400" b="1" i="1" dirty="0">
                <a:solidFill>
                  <a:schemeClr val="bg1"/>
                </a:solidFill>
                <a:latin typeface="+mn-lt"/>
              </a:rPr>
              <a:t>m</a:t>
            </a:r>
            <a:r>
              <a:rPr lang="en-US" altLang="zh-CN" sz="2400" b="1" baseline="-25000" dirty="0">
                <a:solidFill>
                  <a:schemeClr val="bg1"/>
                </a:solidFill>
                <a:latin typeface="+mn-lt"/>
              </a:rPr>
              <a:t>2</a:t>
            </a:r>
            <a:r>
              <a:rPr lang="en-US" altLang="zh-CN" sz="2400" b="1" dirty="0">
                <a:solidFill>
                  <a:schemeClr val="bg1"/>
                </a:solidFill>
                <a:latin typeface="+mn-lt"/>
              </a:rPr>
              <a:t>		</a:t>
            </a:r>
            <a:r>
              <a:rPr lang="en-US" altLang="zh-CN" sz="2400" b="1" i="1" dirty="0">
                <a:solidFill>
                  <a:schemeClr val="bg1"/>
                </a:solidFill>
                <a:latin typeface="+mn-lt"/>
              </a:rPr>
              <a:t>v</a:t>
            </a:r>
            <a:r>
              <a:rPr lang="en-US" altLang="zh-CN" sz="2400" b="1" baseline="-25000" dirty="0">
                <a:solidFill>
                  <a:schemeClr val="bg1"/>
                </a:solidFill>
                <a:latin typeface="+mn-lt"/>
              </a:rPr>
              <a:t>10</a:t>
            </a:r>
            <a:r>
              <a:rPr lang="zh-CN" altLang="zh-CN" sz="2400" b="1" dirty="0">
                <a:solidFill>
                  <a:schemeClr val="bg1"/>
                </a:solidFill>
                <a:latin typeface="+mn-lt"/>
              </a:rPr>
              <a:t>，</a:t>
            </a:r>
            <a:r>
              <a:rPr lang="en-US" altLang="zh-CN" sz="2400" b="1" i="1" dirty="0">
                <a:solidFill>
                  <a:schemeClr val="bg1"/>
                </a:solidFill>
                <a:latin typeface="+mn-lt"/>
              </a:rPr>
              <a:t>v</a:t>
            </a:r>
            <a:r>
              <a:rPr lang="en-US" altLang="zh-CN" sz="2400" b="1" baseline="-25000" dirty="0">
                <a:solidFill>
                  <a:schemeClr val="bg1"/>
                </a:solidFill>
                <a:latin typeface="+mn-lt"/>
              </a:rPr>
              <a:t>20</a:t>
            </a:r>
            <a:r>
              <a:rPr lang="en-US" altLang="zh-CN" sz="2400" b="1" dirty="0">
                <a:solidFill>
                  <a:schemeClr val="bg1"/>
                </a:solidFill>
                <a:latin typeface="+mn-lt"/>
              </a:rPr>
              <a:t>	 	</a:t>
            </a:r>
            <a:r>
              <a:rPr lang="en-US" altLang="zh-CN" sz="2400" b="1" i="1" dirty="0">
                <a:solidFill>
                  <a:schemeClr val="bg1"/>
                </a:solidFill>
                <a:latin typeface="+mn-lt"/>
              </a:rPr>
              <a:t>v</a:t>
            </a:r>
            <a:r>
              <a:rPr lang="en-US" altLang="zh-CN" sz="2400" b="1" baseline="-25000" dirty="0">
                <a:solidFill>
                  <a:schemeClr val="bg1"/>
                </a:solidFill>
                <a:latin typeface="+mn-lt"/>
              </a:rPr>
              <a:t>1</a:t>
            </a:r>
            <a:r>
              <a:rPr lang="zh-CN" altLang="zh-CN" sz="2400" b="1" dirty="0">
                <a:solidFill>
                  <a:schemeClr val="bg1"/>
                </a:solidFill>
                <a:latin typeface="+mn-lt"/>
              </a:rPr>
              <a:t>，</a:t>
            </a:r>
            <a:r>
              <a:rPr lang="en-US" altLang="zh-CN" sz="2400" b="1" i="1" dirty="0">
                <a:solidFill>
                  <a:schemeClr val="bg1"/>
                </a:solidFill>
                <a:latin typeface="+mn-lt"/>
              </a:rPr>
              <a:t>v</a:t>
            </a:r>
            <a:r>
              <a:rPr lang="en-US" altLang="zh-CN" sz="2400" b="1" baseline="-25000" dirty="0">
                <a:solidFill>
                  <a:schemeClr val="bg1"/>
                </a:solidFill>
                <a:latin typeface="+mn-lt"/>
              </a:rPr>
              <a:t>2</a:t>
            </a:r>
            <a:endParaRPr lang="zh-CN" altLang="zh-CN" sz="2400" b="1" dirty="0">
              <a:solidFill>
                <a:schemeClr val="bg1"/>
              </a:solidFill>
              <a:latin typeface="+mn-lt"/>
            </a:endParaRPr>
          </a:p>
          <a:p>
            <a:pPr eaLnBrk="1" hangingPunct="1">
              <a:lnSpc>
                <a:spcPct val="125000"/>
              </a:lnSpc>
              <a:defRPr/>
            </a:pPr>
            <a:r>
              <a:rPr lang="zh-CN" altLang="zh-CN" sz="2400" b="1" dirty="0">
                <a:solidFill>
                  <a:schemeClr val="bg1"/>
                </a:solidFill>
                <a:latin typeface="+mn-lt"/>
              </a:rPr>
              <a:t>动量守恒：</a:t>
            </a:r>
            <a:r>
              <a:rPr lang="en-US" altLang="zh-CN" sz="2400" b="1" dirty="0">
                <a:solidFill>
                  <a:schemeClr val="bg1"/>
                </a:solidFill>
                <a:latin typeface="+mn-lt"/>
              </a:rPr>
              <a:t>      </a:t>
            </a:r>
            <a:r>
              <a:rPr lang="en-US" altLang="zh-CN" sz="2400" b="1" i="1" dirty="0">
                <a:solidFill>
                  <a:schemeClr val="bg1"/>
                </a:solidFill>
                <a:latin typeface="+mn-lt"/>
              </a:rPr>
              <a:t>m</a:t>
            </a:r>
            <a:r>
              <a:rPr lang="en-US" altLang="zh-CN" sz="2400" b="1" baseline="-25000" dirty="0">
                <a:solidFill>
                  <a:schemeClr val="bg1"/>
                </a:solidFill>
                <a:latin typeface="+mn-lt"/>
              </a:rPr>
              <a:t>1</a:t>
            </a:r>
            <a:r>
              <a:rPr lang="en-US" altLang="zh-CN" sz="2400" b="1" i="1" dirty="0">
                <a:solidFill>
                  <a:schemeClr val="bg1"/>
                </a:solidFill>
                <a:latin typeface="+mn-lt"/>
              </a:rPr>
              <a:t>v</a:t>
            </a:r>
            <a:r>
              <a:rPr lang="en-US" altLang="zh-CN" sz="2400" b="1" baseline="-25000" dirty="0">
                <a:solidFill>
                  <a:schemeClr val="bg1"/>
                </a:solidFill>
                <a:latin typeface="+mn-lt"/>
              </a:rPr>
              <a:t>1</a:t>
            </a:r>
            <a:r>
              <a:rPr lang="zh-CN" altLang="zh-CN" sz="2400" b="1" dirty="0">
                <a:solidFill>
                  <a:schemeClr val="bg1"/>
                </a:solidFill>
                <a:latin typeface="+mn-lt"/>
              </a:rPr>
              <a:t>＋</a:t>
            </a:r>
            <a:r>
              <a:rPr lang="en-US" altLang="zh-CN" sz="2400" b="1" i="1" dirty="0">
                <a:solidFill>
                  <a:schemeClr val="bg1"/>
                </a:solidFill>
                <a:latin typeface="+mn-lt"/>
              </a:rPr>
              <a:t>m</a:t>
            </a:r>
            <a:r>
              <a:rPr lang="en-US" altLang="zh-CN" sz="2400" b="1" baseline="-25000" dirty="0">
                <a:solidFill>
                  <a:schemeClr val="bg1"/>
                </a:solidFill>
                <a:latin typeface="+mn-lt"/>
              </a:rPr>
              <a:t>2</a:t>
            </a:r>
            <a:r>
              <a:rPr lang="en-US" altLang="zh-CN" sz="2400" b="1" i="1" dirty="0">
                <a:solidFill>
                  <a:schemeClr val="bg1"/>
                </a:solidFill>
                <a:latin typeface="+mn-lt"/>
              </a:rPr>
              <a:t>v</a:t>
            </a:r>
            <a:r>
              <a:rPr lang="en-US" altLang="zh-CN" sz="2400" b="1" baseline="-25000" dirty="0">
                <a:solidFill>
                  <a:schemeClr val="bg1"/>
                </a:solidFill>
                <a:latin typeface="+mn-lt"/>
              </a:rPr>
              <a:t>2</a:t>
            </a:r>
            <a:r>
              <a:rPr lang="zh-CN" altLang="zh-CN" sz="2400" b="1" dirty="0">
                <a:solidFill>
                  <a:schemeClr val="bg1"/>
                </a:solidFill>
                <a:latin typeface="+mn-lt"/>
              </a:rPr>
              <a:t>＝</a:t>
            </a:r>
            <a:r>
              <a:rPr lang="en-US" altLang="zh-CN" sz="2400" b="1" i="1" dirty="0">
                <a:solidFill>
                  <a:schemeClr val="bg1"/>
                </a:solidFill>
                <a:latin typeface="+mn-lt"/>
              </a:rPr>
              <a:t>m</a:t>
            </a:r>
            <a:r>
              <a:rPr lang="en-US" altLang="zh-CN" sz="2400" b="1" baseline="-25000" dirty="0">
                <a:solidFill>
                  <a:schemeClr val="bg1"/>
                </a:solidFill>
                <a:latin typeface="+mn-lt"/>
              </a:rPr>
              <a:t>1</a:t>
            </a:r>
            <a:r>
              <a:rPr lang="en-US" altLang="zh-CN" sz="2400" b="1" i="1" dirty="0">
                <a:solidFill>
                  <a:schemeClr val="bg1"/>
                </a:solidFill>
                <a:latin typeface="+mn-lt"/>
              </a:rPr>
              <a:t>v</a:t>
            </a:r>
            <a:r>
              <a:rPr lang="en-US" altLang="zh-CN" sz="2400" b="1" baseline="-25000" dirty="0">
                <a:solidFill>
                  <a:schemeClr val="bg1"/>
                </a:solidFill>
                <a:latin typeface="+mn-lt"/>
              </a:rPr>
              <a:t>10</a:t>
            </a:r>
            <a:r>
              <a:rPr lang="zh-CN" altLang="zh-CN" sz="2400" b="1" dirty="0">
                <a:solidFill>
                  <a:schemeClr val="bg1"/>
                </a:solidFill>
                <a:latin typeface="+mn-lt"/>
              </a:rPr>
              <a:t>＋</a:t>
            </a:r>
            <a:r>
              <a:rPr lang="en-US" altLang="zh-CN" sz="2400" b="1" i="1" dirty="0">
                <a:solidFill>
                  <a:schemeClr val="bg1"/>
                </a:solidFill>
                <a:latin typeface="+mn-lt"/>
              </a:rPr>
              <a:t>m</a:t>
            </a:r>
            <a:r>
              <a:rPr lang="en-US" altLang="zh-CN" sz="2400" b="1" baseline="-25000" dirty="0">
                <a:solidFill>
                  <a:schemeClr val="bg1"/>
                </a:solidFill>
                <a:latin typeface="+mn-lt"/>
              </a:rPr>
              <a:t>2</a:t>
            </a:r>
            <a:r>
              <a:rPr lang="en-US" altLang="zh-CN" sz="2400" b="1" i="1" dirty="0">
                <a:solidFill>
                  <a:schemeClr val="bg1"/>
                </a:solidFill>
                <a:latin typeface="+mn-lt"/>
              </a:rPr>
              <a:t>v</a:t>
            </a:r>
            <a:r>
              <a:rPr lang="en-US" altLang="zh-CN" sz="2400" b="1" baseline="-25000" dirty="0">
                <a:solidFill>
                  <a:schemeClr val="bg1"/>
                </a:solidFill>
                <a:latin typeface="+mn-lt"/>
              </a:rPr>
              <a:t>20</a:t>
            </a:r>
            <a:endParaRPr lang="zh-CN" altLang="zh-CN" sz="2400" b="1" dirty="0">
              <a:solidFill>
                <a:schemeClr val="bg1"/>
              </a:solidFill>
              <a:latin typeface="+mn-lt"/>
            </a:endParaRPr>
          </a:p>
        </p:txBody>
      </p:sp>
      <p:pic>
        <p:nvPicPr>
          <p:cNvPr id="20485" name="Picture 3">
            <a:extLst>
              <a:ext uri="{FF2B5EF4-FFF2-40B4-BE49-F238E27FC236}">
                <a16:creationId xmlns:a16="http://schemas.microsoft.com/office/drawing/2014/main" id="{EF459C08-92FC-C69C-6303-F45F2579B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2650" y="5013325"/>
            <a:ext cx="1516063" cy="8715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p:bldP spid="20482" grpId="0"/>
      <p:bldP spid="2048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9" name="Picture 7">
            <a:extLst>
              <a:ext uri="{FF2B5EF4-FFF2-40B4-BE49-F238E27FC236}">
                <a16:creationId xmlns:a16="http://schemas.microsoft.com/office/drawing/2014/main" id="{5363CCB5-962E-0496-9D12-80AC0FFA67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26988"/>
            <a:ext cx="9144000" cy="156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60" name="Picture 8">
            <a:extLst>
              <a:ext uri="{FF2B5EF4-FFF2-40B4-BE49-F238E27FC236}">
                <a16:creationId xmlns:a16="http://schemas.microsoft.com/office/drawing/2014/main" id="{055C0D7F-67EB-FF95-1F55-ADDCB28707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1628775"/>
            <a:ext cx="9096375" cy="154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8" name="Picture 4">
            <a:extLst>
              <a:ext uri="{FF2B5EF4-FFF2-40B4-BE49-F238E27FC236}">
                <a16:creationId xmlns:a16="http://schemas.microsoft.com/office/drawing/2014/main" id="{D82EA2C4-442A-E9CF-3E83-D5D48428D5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5663" y="2024063"/>
            <a:ext cx="3208337" cy="207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a:extLst>
              <a:ext uri="{FF2B5EF4-FFF2-40B4-BE49-F238E27FC236}">
                <a16:creationId xmlns:a16="http://schemas.microsoft.com/office/drawing/2014/main" id="{7B7CA9B5-094C-0102-CF0E-23A7453507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25" y="3182938"/>
            <a:ext cx="6684963" cy="1360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5">
            <a:extLst>
              <a:ext uri="{FF2B5EF4-FFF2-40B4-BE49-F238E27FC236}">
                <a16:creationId xmlns:a16="http://schemas.microsoft.com/office/drawing/2014/main" id="{1B2FACD0-DF47-94DC-82F6-8A1F9124CE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25" y="4551363"/>
            <a:ext cx="8234363" cy="227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55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56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文本框 1">
            <a:extLst>
              <a:ext uri="{FF2B5EF4-FFF2-40B4-BE49-F238E27FC236}">
                <a16:creationId xmlns:a16="http://schemas.microsoft.com/office/drawing/2014/main" id="{F0155C21-C5BB-9F0D-4955-366F52AC59C3}"/>
              </a:ext>
            </a:extLst>
          </p:cNvPr>
          <p:cNvSpPr txBox="1">
            <a:spLocks noChangeArrowheads="1"/>
          </p:cNvSpPr>
          <p:nvPr/>
        </p:nvSpPr>
        <p:spPr bwMode="auto">
          <a:xfrm>
            <a:off x="122238" y="155575"/>
            <a:ext cx="63166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FFC000"/>
                </a:solidFill>
              </a:rPr>
              <a:t>用动量定理和动量守恒处理变质量问题</a:t>
            </a:r>
          </a:p>
        </p:txBody>
      </p:sp>
      <p:pic>
        <p:nvPicPr>
          <p:cNvPr id="22531" name="Picture 2">
            <a:extLst>
              <a:ext uri="{FF2B5EF4-FFF2-40B4-BE49-F238E27FC236}">
                <a16:creationId xmlns:a16="http://schemas.microsoft.com/office/drawing/2014/main" id="{32C51849-679C-1CF1-DDAB-4B739368BC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3" y="1125538"/>
            <a:ext cx="9072562" cy="519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DCCB855D-FA1F-418C-8AFF-1C77F57CA50C}"/>
              </a:ext>
            </a:extLst>
          </p:cNvPr>
          <p:cNvSpPr/>
          <p:nvPr/>
        </p:nvSpPr>
        <p:spPr>
          <a:xfrm>
            <a:off x="3419475" y="5668963"/>
            <a:ext cx="2522538" cy="647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矩形 6">
            <a:extLst>
              <a:ext uri="{FF2B5EF4-FFF2-40B4-BE49-F238E27FC236}">
                <a16:creationId xmlns:a16="http://schemas.microsoft.com/office/drawing/2014/main" id="{1B2D603D-E087-4F0E-8D69-B518777420FC}"/>
              </a:ext>
            </a:extLst>
          </p:cNvPr>
          <p:cNvSpPr/>
          <p:nvPr/>
        </p:nvSpPr>
        <p:spPr>
          <a:xfrm>
            <a:off x="395288" y="3284538"/>
            <a:ext cx="1152525" cy="6492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1">
            <a:extLst>
              <a:ext uri="{FF2B5EF4-FFF2-40B4-BE49-F238E27FC236}">
                <a16:creationId xmlns:a16="http://schemas.microsoft.com/office/drawing/2014/main" id="{73239251-F838-4878-808B-1B6DE2730BB8}"/>
              </a:ext>
            </a:extLst>
          </p:cNvPr>
          <p:cNvSpPr>
            <a:spLocks noChangeArrowheads="1"/>
          </p:cNvSpPr>
          <p:nvPr/>
        </p:nvSpPr>
        <p:spPr bwMode="auto">
          <a:xfrm>
            <a:off x="-12700" y="739775"/>
            <a:ext cx="9144000" cy="1200150"/>
          </a:xfrm>
          <a:prstGeom prst="rect">
            <a:avLst/>
          </a:prstGeom>
          <a:noFill/>
          <a:ln>
            <a:noFill/>
          </a:ln>
        </p:spPr>
        <p:txBody>
          <a:bodyPr>
            <a:spAutoFit/>
          </a:bodyPr>
          <a:lstStyle/>
          <a:p>
            <a:pPr eaLnBrk="1" hangingPunct="1">
              <a:defRPr/>
            </a:pPr>
            <a:r>
              <a:rPr lang="zh-CN" altLang="zh-CN" sz="2400" b="1" dirty="0">
                <a:solidFill>
                  <a:schemeClr val="bg1"/>
                </a:solidFill>
                <a:latin typeface="+mn-lt"/>
              </a:rPr>
              <a:t>火箭飞行问题</a:t>
            </a:r>
            <a:r>
              <a:rPr lang="zh-CN" altLang="en-US" sz="2400" b="1" dirty="0">
                <a:solidFill>
                  <a:schemeClr val="bg1"/>
                </a:solidFill>
                <a:latin typeface="+mn-lt"/>
              </a:rPr>
              <a:t>：</a:t>
            </a:r>
            <a:r>
              <a:rPr lang="zh-CN" altLang="zh-CN" sz="2400" b="1" dirty="0">
                <a:solidFill>
                  <a:schemeClr val="bg1"/>
                </a:solidFill>
                <a:latin typeface="+mn-lt"/>
              </a:rPr>
              <a:t>开始时火箭质量为</a:t>
            </a:r>
            <a:r>
              <a:rPr lang="en-US" altLang="zh-CN" sz="2400" b="1" i="1" dirty="0">
                <a:solidFill>
                  <a:schemeClr val="bg1"/>
                </a:solidFill>
                <a:latin typeface="+mn-lt"/>
              </a:rPr>
              <a:t>M</a:t>
            </a:r>
            <a:r>
              <a:rPr lang="en-US" altLang="zh-CN" sz="2400" b="1" baseline="-25000" dirty="0">
                <a:solidFill>
                  <a:schemeClr val="bg1"/>
                </a:solidFill>
                <a:latin typeface="+mn-lt"/>
              </a:rPr>
              <a:t>0</a:t>
            </a:r>
            <a:r>
              <a:rPr lang="zh-CN" altLang="zh-CN" sz="2400" b="1" dirty="0">
                <a:solidFill>
                  <a:schemeClr val="bg1"/>
                </a:solidFill>
                <a:latin typeface="+mn-lt"/>
              </a:rPr>
              <a:t>，火箭壳体的质量为</a:t>
            </a:r>
            <a:r>
              <a:rPr lang="en-US" altLang="zh-CN" sz="2400" b="1" i="1" dirty="0">
                <a:solidFill>
                  <a:schemeClr val="bg1"/>
                </a:solidFill>
                <a:latin typeface="+mn-lt"/>
              </a:rPr>
              <a:t>M</a:t>
            </a:r>
            <a:r>
              <a:rPr lang="zh-CN" altLang="zh-CN" sz="2400" b="1" dirty="0">
                <a:solidFill>
                  <a:schemeClr val="bg1"/>
                </a:solidFill>
                <a:latin typeface="+mn-lt"/>
              </a:rPr>
              <a:t>，燃料相对火箭喷出的速度为</a:t>
            </a:r>
            <a:r>
              <a:rPr lang="en-US" altLang="zh-CN" sz="2400" b="1" i="1" dirty="0">
                <a:solidFill>
                  <a:schemeClr val="bg1"/>
                </a:solidFill>
                <a:latin typeface="+mn-lt"/>
              </a:rPr>
              <a:t>u</a:t>
            </a:r>
            <a:r>
              <a:rPr lang="zh-CN" altLang="zh-CN" sz="2400" b="1" dirty="0">
                <a:solidFill>
                  <a:schemeClr val="bg1"/>
                </a:solidFill>
                <a:latin typeface="+mn-lt"/>
              </a:rPr>
              <a:t>，开始时，火箭静止，不计重力和其它力。</a:t>
            </a:r>
          </a:p>
          <a:p>
            <a:pPr eaLnBrk="1" hangingPunct="1">
              <a:defRPr/>
            </a:pPr>
            <a:r>
              <a:rPr lang="zh-CN" altLang="zh-CN" sz="2400" b="1" dirty="0">
                <a:solidFill>
                  <a:schemeClr val="bg1"/>
                </a:solidFill>
                <a:latin typeface="+mn-lt"/>
              </a:rPr>
              <a:t>求：燃料烧尽后，火箭的速度。</a:t>
            </a:r>
          </a:p>
        </p:txBody>
      </p:sp>
      <p:sp>
        <p:nvSpPr>
          <p:cNvPr id="32771" name="矩形 2">
            <a:extLst>
              <a:ext uri="{FF2B5EF4-FFF2-40B4-BE49-F238E27FC236}">
                <a16:creationId xmlns:a16="http://schemas.microsoft.com/office/drawing/2014/main" id="{2E7339E5-AB51-4D5A-B6B4-41023CD74D9E}"/>
              </a:ext>
            </a:extLst>
          </p:cNvPr>
          <p:cNvSpPr>
            <a:spLocks noChangeArrowheads="1"/>
          </p:cNvSpPr>
          <p:nvPr/>
        </p:nvSpPr>
        <p:spPr bwMode="auto">
          <a:xfrm>
            <a:off x="315913" y="3560763"/>
            <a:ext cx="8713787" cy="2936875"/>
          </a:xfrm>
          <a:prstGeom prst="rect">
            <a:avLst/>
          </a:prstGeom>
          <a:noFill/>
          <a:ln>
            <a:noFill/>
          </a:ln>
        </p:spPr>
        <p:txBody>
          <a:bodyPr>
            <a:spAutoFit/>
          </a:bodyPr>
          <a:lstStyle/>
          <a:p>
            <a:pPr eaLnBrk="1" hangingPunct="1">
              <a:lnSpc>
                <a:spcPct val="110000"/>
              </a:lnSpc>
              <a:defRPr/>
            </a:pPr>
            <a:r>
              <a:rPr lang="zh-CN" altLang="zh-CN" sz="2400" b="1" dirty="0">
                <a:solidFill>
                  <a:schemeClr val="bg1"/>
                </a:solidFill>
                <a:latin typeface="+mn-lt"/>
              </a:rPr>
              <a:t>解：火箭喷出燃气，产生动力，速度增加，质量减小。</a:t>
            </a:r>
          </a:p>
          <a:p>
            <a:pPr eaLnBrk="1" hangingPunct="1">
              <a:lnSpc>
                <a:spcPct val="110000"/>
              </a:lnSpc>
              <a:defRPr/>
            </a:pPr>
            <a:r>
              <a:rPr lang="zh-CN" altLang="zh-CN" sz="2400" b="1" dirty="0">
                <a:solidFill>
                  <a:srgbClr val="FFC000"/>
                </a:solidFill>
                <a:latin typeface="+mn-lt"/>
              </a:rPr>
              <a:t>火箭在</a:t>
            </a:r>
            <a:r>
              <a:rPr lang="en-US" altLang="zh-CN" sz="2400" b="1" i="1" dirty="0">
                <a:solidFill>
                  <a:srgbClr val="FFC000"/>
                </a:solidFill>
                <a:latin typeface="+mn-lt"/>
              </a:rPr>
              <a:t>dt</a:t>
            </a:r>
            <a:r>
              <a:rPr lang="zh-CN" altLang="zh-CN" sz="2400" b="1" dirty="0">
                <a:solidFill>
                  <a:srgbClr val="FFC000"/>
                </a:solidFill>
                <a:latin typeface="+mn-lt"/>
              </a:rPr>
              <a:t>时间内，喷出质量</a:t>
            </a:r>
            <a:r>
              <a:rPr lang="en-US" altLang="zh-CN" sz="2400" b="1" i="1" dirty="0">
                <a:solidFill>
                  <a:srgbClr val="FFC000"/>
                </a:solidFill>
                <a:latin typeface="+mn-lt"/>
              </a:rPr>
              <a:t>dm</a:t>
            </a:r>
            <a:r>
              <a:rPr lang="zh-CN" altLang="zh-CN" sz="2400" b="1" dirty="0">
                <a:solidFill>
                  <a:srgbClr val="FFC000"/>
                </a:solidFill>
                <a:latin typeface="+mn-lt"/>
              </a:rPr>
              <a:t>的燃料，</a:t>
            </a:r>
            <a:r>
              <a:rPr lang="en-US" altLang="zh-CN" sz="2400" b="1" i="1" dirty="0">
                <a:solidFill>
                  <a:srgbClr val="FFC000"/>
                </a:solidFill>
                <a:latin typeface="+mn-lt"/>
              </a:rPr>
              <a:t>dm</a:t>
            </a:r>
            <a:r>
              <a:rPr lang="zh-CN" altLang="zh-CN" sz="2400" b="1" dirty="0">
                <a:solidFill>
                  <a:srgbClr val="FFC000"/>
                </a:solidFill>
                <a:latin typeface="+mn-lt"/>
              </a:rPr>
              <a:t>相对火箭喷出的速度为</a:t>
            </a:r>
            <a:r>
              <a:rPr lang="en-US" altLang="zh-CN" sz="2400" b="1" i="1" dirty="0">
                <a:solidFill>
                  <a:srgbClr val="FFC000"/>
                </a:solidFill>
                <a:latin typeface="+mn-lt"/>
              </a:rPr>
              <a:t>u</a:t>
            </a:r>
            <a:r>
              <a:rPr lang="zh-CN" altLang="zh-CN" sz="2400" b="1" dirty="0">
                <a:solidFill>
                  <a:srgbClr val="FFC000"/>
                </a:solidFill>
                <a:latin typeface="+mn-lt"/>
              </a:rPr>
              <a:t>。</a:t>
            </a:r>
          </a:p>
          <a:p>
            <a:pPr eaLnBrk="1" hangingPunct="1">
              <a:lnSpc>
                <a:spcPct val="110000"/>
              </a:lnSpc>
              <a:defRPr/>
            </a:pPr>
            <a:r>
              <a:rPr lang="en-US" altLang="zh-CN" sz="2400" b="1" dirty="0">
                <a:solidFill>
                  <a:schemeClr val="bg1"/>
                </a:solidFill>
                <a:latin typeface="+mn-lt"/>
              </a:rPr>
              <a:t>                     </a:t>
            </a:r>
            <a:r>
              <a:rPr lang="zh-CN" altLang="zh-CN" sz="2400" b="1" dirty="0">
                <a:solidFill>
                  <a:schemeClr val="bg1"/>
                </a:solidFill>
                <a:latin typeface="+mn-lt"/>
              </a:rPr>
              <a:t>火箭</a:t>
            </a:r>
            <a:r>
              <a:rPr lang="en-US" altLang="zh-CN" sz="2400" b="1" dirty="0">
                <a:solidFill>
                  <a:schemeClr val="bg1"/>
                </a:solidFill>
                <a:latin typeface="+mn-lt"/>
              </a:rPr>
              <a:t>              </a:t>
            </a:r>
            <a:r>
              <a:rPr lang="zh-CN" altLang="zh-CN" sz="2400" b="1" dirty="0">
                <a:solidFill>
                  <a:schemeClr val="bg1"/>
                </a:solidFill>
                <a:latin typeface="+mn-lt"/>
              </a:rPr>
              <a:t>燃料</a:t>
            </a:r>
          </a:p>
          <a:p>
            <a:pPr eaLnBrk="1" hangingPunct="1">
              <a:lnSpc>
                <a:spcPct val="110000"/>
              </a:lnSpc>
              <a:defRPr/>
            </a:pPr>
            <a:r>
              <a:rPr lang="en-US" altLang="zh-CN" sz="2400" b="1" dirty="0">
                <a:solidFill>
                  <a:schemeClr val="bg1"/>
                </a:solidFill>
                <a:latin typeface="+mn-lt"/>
              </a:rPr>
              <a:t>              </a:t>
            </a:r>
            <a:r>
              <a:rPr lang="zh-CN" altLang="zh-CN" sz="2400" b="1" dirty="0">
                <a:solidFill>
                  <a:schemeClr val="bg1"/>
                </a:solidFill>
                <a:latin typeface="+mn-lt"/>
              </a:rPr>
              <a:t>质量</a:t>
            </a:r>
            <a:r>
              <a:rPr lang="en-US" altLang="zh-CN" sz="2400" b="1" dirty="0">
                <a:solidFill>
                  <a:schemeClr val="bg1"/>
                </a:solidFill>
                <a:latin typeface="+mn-lt"/>
              </a:rPr>
              <a:t>	   </a:t>
            </a:r>
            <a:r>
              <a:rPr lang="zh-CN" altLang="zh-CN" sz="2400" b="1" dirty="0">
                <a:solidFill>
                  <a:schemeClr val="bg1"/>
                </a:solidFill>
                <a:latin typeface="+mn-lt"/>
              </a:rPr>
              <a:t>速度</a:t>
            </a:r>
            <a:r>
              <a:rPr lang="en-US" altLang="zh-CN" sz="2400" b="1" dirty="0">
                <a:solidFill>
                  <a:schemeClr val="bg1"/>
                </a:solidFill>
                <a:latin typeface="+mn-lt"/>
              </a:rPr>
              <a:t>     </a:t>
            </a:r>
            <a:r>
              <a:rPr lang="zh-CN" altLang="zh-CN" sz="2400" b="1" dirty="0">
                <a:solidFill>
                  <a:schemeClr val="bg1"/>
                </a:solidFill>
                <a:latin typeface="+mn-lt"/>
              </a:rPr>
              <a:t>质量</a:t>
            </a:r>
            <a:r>
              <a:rPr lang="en-US" altLang="zh-CN" sz="2400" b="1" dirty="0">
                <a:solidFill>
                  <a:schemeClr val="bg1"/>
                </a:solidFill>
                <a:latin typeface="+mn-lt"/>
              </a:rPr>
              <a:t>   </a:t>
            </a:r>
            <a:r>
              <a:rPr lang="zh-CN" altLang="zh-CN" sz="2400" b="1" dirty="0">
                <a:solidFill>
                  <a:schemeClr val="bg1"/>
                </a:solidFill>
                <a:latin typeface="+mn-lt"/>
              </a:rPr>
              <a:t>速度</a:t>
            </a:r>
            <a:r>
              <a:rPr lang="en-US" altLang="zh-CN" sz="2400" b="1" dirty="0">
                <a:solidFill>
                  <a:schemeClr val="bg1"/>
                </a:solidFill>
                <a:latin typeface="+mn-lt"/>
              </a:rPr>
              <a:t>	  </a:t>
            </a:r>
            <a:r>
              <a:rPr lang="zh-CN" altLang="zh-CN" sz="2400" b="1" dirty="0">
                <a:solidFill>
                  <a:schemeClr val="bg1"/>
                </a:solidFill>
                <a:latin typeface="+mn-lt"/>
              </a:rPr>
              <a:t>系统动量</a:t>
            </a:r>
          </a:p>
          <a:p>
            <a:pPr eaLnBrk="1" hangingPunct="1">
              <a:lnSpc>
                <a:spcPct val="110000"/>
              </a:lnSpc>
              <a:defRPr/>
            </a:pPr>
            <a:r>
              <a:rPr lang="en-US" altLang="zh-CN" sz="2400" b="1" i="1" dirty="0">
                <a:solidFill>
                  <a:srgbClr val="FFC000"/>
                </a:solidFill>
                <a:latin typeface="+mn-lt"/>
              </a:rPr>
              <a:t>t</a:t>
            </a:r>
            <a:r>
              <a:rPr lang="zh-CN" altLang="zh-CN" sz="2400" b="1" dirty="0">
                <a:solidFill>
                  <a:srgbClr val="FFC000"/>
                </a:solidFill>
                <a:latin typeface="+mn-lt"/>
              </a:rPr>
              <a:t>：</a:t>
            </a:r>
            <a:r>
              <a:rPr lang="en-US" altLang="zh-CN" sz="2400" b="1" i="1" dirty="0">
                <a:solidFill>
                  <a:srgbClr val="FFC000"/>
                </a:solidFill>
                <a:latin typeface="+mn-lt"/>
              </a:rPr>
              <a:t>	</a:t>
            </a:r>
            <a:r>
              <a:rPr lang="en-US" altLang="zh-CN" sz="2400" b="1" i="1" dirty="0">
                <a:solidFill>
                  <a:schemeClr val="bg1"/>
                </a:solidFill>
                <a:latin typeface="+mn-lt"/>
              </a:rPr>
              <a:t>   m           v           dm       v          </a:t>
            </a:r>
            <a:r>
              <a:rPr lang="en-US" altLang="zh-CN" sz="2400" b="1" dirty="0">
                <a:solidFill>
                  <a:schemeClr val="bg1"/>
                </a:solidFill>
                <a:latin typeface="+mn-lt"/>
              </a:rPr>
              <a:t> (</a:t>
            </a:r>
            <a:r>
              <a:rPr lang="en-US" altLang="zh-CN" sz="2400" b="1" i="1" dirty="0" err="1">
                <a:solidFill>
                  <a:schemeClr val="bg1"/>
                </a:solidFill>
                <a:latin typeface="+mn-lt"/>
              </a:rPr>
              <a:t>m+dm</a:t>
            </a:r>
            <a:r>
              <a:rPr lang="en-US" altLang="zh-CN" sz="2400" b="1" dirty="0">
                <a:solidFill>
                  <a:schemeClr val="bg1"/>
                </a:solidFill>
                <a:latin typeface="+mn-lt"/>
              </a:rPr>
              <a:t>)</a:t>
            </a:r>
            <a:r>
              <a:rPr lang="en-US" altLang="zh-CN" sz="2400" b="1" i="1" dirty="0">
                <a:solidFill>
                  <a:schemeClr val="bg1"/>
                </a:solidFill>
                <a:latin typeface="+mn-lt"/>
              </a:rPr>
              <a:t>v</a:t>
            </a:r>
            <a:endParaRPr lang="zh-CN" altLang="zh-CN" sz="2400" b="1" i="1" dirty="0">
              <a:solidFill>
                <a:schemeClr val="bg1"/>
              </a:solidFill>
              <a:latin typeface="+mn-lt"/>
            </a:endParaRPr>
          </a:p>
          <a:p>
            <a:pPr eaLnBrk="1" hangingPunct="1">
              <a:lnSpc>
                <a:spcPct val="110000"/>
              </a:lnSpc>
              <a:defRPr/>
            </a:pPr>
            <a:r>
              <a:rPr lang="en-US" altLang="zh-CN" sz="2400" b="1" i="1" dirty="0" err="1">
                <a:solidFill>
                  <a:srgbClr val="FFC000"/>
                </a:solidFill>
                <a:latin typeface="+mn-lt"/>
              </a:rPr>
              <a:t>t</a:t>
            </a:r>
            <a:r>
              <a:rPr lang="en-US" altLang="zh-CN" sz="2400" b="1" dirty="0" err="1">
                <a:solidFill>
                  <a:srgbClr val="FFC000"/>
                </a:solidFill>
                <a:latin typeface="+mn-lt"/>
              </a:rPr>
              <a:t>+</a:t>
            </a:r>
            <a:r>
              <a:rPr lang="en-US" altLang="zh-CN" sz="2400" b="1" i="1" dirty="0" err="1">
                <a:solidFill>
                  <a:srgbClr val="FFC000"/>
                </a:solidFill>
                <a:latin typeface="+mn-lt"/>
              </a:rPr>
              <a:t>dt</a:t>
            </a:r>
            <a:r>
              <a:rPr lang="zh-CN" altLang="zh-CN" sz="2400" b="1" dirty="0">
                <a:solidFill>
                  <a:srgbClr val="FFC000"/>
                </a:solidFill>
                <a:latin typeface="+mn-lt"/>
              </a:rPr>
              <a:t>：</a:t>
            </a:r>
            <a:r>
              <a:rPr lang="en-US" altLang="zh-CN" sz="2400" b="1" dirty="0">
                <a:solidFill>
                  <a:srgbClr val="FFC000"/>
                </a:solidFill>
                <a:latin typeface="+mn-lt"/>
              </a:rPr>
              <a:t>     </a:t>
            </a:r>
            <a:r>
              <a:rPr lang="en-US" altLang="zh-CN" sz="2400" b="1" i="1" dirty="0">
                <a:solidFill>
                  <a:schemeClr val="bg1"/>
                </a:solidFill>
                <a:latin typeface="+mn-lt"/>
              </a:rPr>
              <a:t>m</a:t>
            </a:r>
            <a:r>
              <a:rPr lang="en-US" altLang="zh-CN" sz="2400" b="1" dirty="0">
                <a:solidFill>
                  <a:schemeClr val="bg1"/>
                </a:solidFill>
                <a:latin typeface="+mn-lt"/>
              </a:rPr>
              <a:t>         </a:t>
            </a:r>
            <a:r>
              <a:rPr lang="en-US" altLang="zh-CN" sz="2400" b="1" i="1" dirty="0" err="1">
                <a:solidFill>
                  <a:schemeClr val="bg1"/>
                </a:solidFill>
                <a:latin typeface="+mn-lt"/>
              </a:rPr>
              <a:t>v</a:t>
            </a:r>
            <a:r>
              <a:rPr lang="en-US" altLang="zh-CN" sz="2400" b="1" dirty="0" err="1">
                <a:solidFill>
                  <a:schemeClr val="bg1"/>
                </a:solidFill>
                <a:latin typeface="+mn-lt"/>
              </a:rPr>
              <a:t>+</a:t>
            </a:r>
            <a:r>
              <a:rPr lang="en-US" altLang="zh-CN" sz="2400" b="1" i="1" dirty="0" err="1">
                <a:solidFill>
                  <a:schemeClr val="bg1"/>
                </a:solidFill>
                <a:latin typeface="+mn-lt"/>
              </a:rPr>
              <a:t>dv</a:t>
            </a:r>
            <a:r>
              <a:rPr lang="en-US" altLang="zh-CN" sz="2400" b="1" dirty="0">
                <a:solidFill>
                  <a:schemeClr val="bg1"/>
                </a:solidFill>
                <a:latin typeface="+mn-lt"/>
              </a:rPr>
              <a:t>      </a:t>
            </a:r>
            <a:r>
              <a:rPr lang="en-US" altLang="zh-CN" sz="2400" b="1" i="1" dirty="0">
                <a:solidFill>
                  <a:schemeClr val="bg1"/>
                </a:solidFill>
                <a:latin typeface="+mn-lt"/>
              </a:rPr>
              <a:t>dm</a:t>
            </a:r>
            <a:r>
              <a:rPr lang="en-US" altLang="zh-CN" sz="2400" b="1" dirty="0">
                <a:solidFill>
                  <a:schemeClr val="bg1"/>
                </a:solidFill>
                <a:latin typeface="+mn-lt"/>
              </a:rPr>
              <a:t>      </a:t>
            </a:r>
            <a:r>
              <a:rPr lang="en-US" altLang="zh-CN" sz="2400" b="1" i="1" dirty="0" err="1">
                <a:solidFill>
                  <a:schemeClr val="bg1"/>
                </a:solidFill>
                <a:latin typeface="+mn-lt"/>
              </a:rPr>
              <a:t>v</a:t>
            </a:r>
            <a:r>
              <a:rPr lang="en-US" altLang="zh-CN" sz="2400" b="1" dirty="0" err="1">
                <a:solidFill>
                  <a:schemeClr val="bg1"/>
                </a:solidFill>
                <a:latin typeface="+mn-lt"/>
              </a:rPr>
              <a:t>+</a:t>
            </a:r>
            <a:r>
              <a:rPr lang="en-US" altLang="zh-CN" sz="2400" b="1" i="1" dirty="0" err="1">
                <a:solidFill>
                  <a:schemeClr val="bg1"/>
                </a:solidFill>
                <a:latin typeface="+mn-lt"/>
              </a:rPr>
              <a:t>u</a:t>
            </a:r>
            <a:r>
              <a:rPr lang="en-US" altLang="zh-CN" sz="2400" b="1" dirty="0">
                <a:solidFill>
                  <a:schemeClr val="bg1"/>
                </a:solidFill>
                <a:latin typeface="+mn-lt"/>
              </a:rPr>
              <a:t>      </a:t>
            </a:r>
            <a:r>
              <a:rPr lang="en-US" altLang="zh-CN" sz="2400" b="1" i="1" dirty="0">
                <a:solidFill>
                  <a:schemeClr val="bg1"/>
                </a:solidFill>
                <a:latin typeface="+mn-lt"/>
              </a:rPr>
              <a:t>dm</a:t>
            </a:r>
            <a:r>
              <a:rPr lang="en-US" altLang="zh-CN" sz="2400" b="1" dirty="0">
                <a:solidFill>
                  <a:schemeClr val="bg1"/>
                </a:solidFill>
                <a:latin typeface="+mn-lt"/>
              </a:rPr>
              <a:t>(</a:t>
            </a:r>
            <a:r>
              <a:rPr lang="en-US" altLang="zh-CN" sz="2400" b="1" i="1" dirty="0" err="1">
                <a:solidFill>
                  <a:schemeClr val="bg1"/>
                </a:solidFill>
                <a:latin typeface="+mn-lt"/>
              </a:rPr>
              <a:t>v</a:t>
            </a:r>
            <a:r>
              <a:rPr lang="en-US" altLang="zh-CN" sz="2400" b="1" dirty="0" err="1">
                <a:solidFill>
                  <a:schemeClr val="bg1"/>
                </a:solidFill>
                <a:latin typeface="+mn-lt"/>
              </a:rPr>
              <a:t>+</a:t>
            </a:r>
            <a:r>
              <a:rPr lang="en-US" altLang="zh-CN" sz="2400" b="1" i="1" dirty="0" err="1">
                <a:solidFill>
                  <a:schemeClr val="bg1"/>
                </a:solidFill>
                <a:latin typeface="+mn-lt"/>
              </a:rPr>
              <a:t>u</a:t>
            </a:r>
            <a:r>
              <a:rPr lang="en-US" altLang="zh-CN" sz="2400" b="1" dirty="0">
                <a:solidFill>
                  <a:schemeClr val="bg1"/>
                </a:solidFill>
                <a:latin typeface="+mn-lt"/>
              </a:rPr>
              <a:t>)+</a:t>
            </a:r>
            <a:r>
              <a:rPr lang="en-US" altLang="zh-CN" sz="2400" b="1" i="1" dirty="0">
                <a:solidFill>
                  <a:schemeClr val="bg1"/>
                </a:solidFill>
                <a:latin typeface="+mn-lt"/>
              </a:rPr>
              <a:t>m</a:t>
            </a:r>
            <a:r>
              <a:rPr lang="en-US" altLang="zh-CN" sz="2400" b="1" dirty="0">
                <a:solidFill>
                  <a:schemeClr val="bg1"/>
                </a:solidFill>
                <a:latin typeface="+mn-lt"/>
              </a:rPr>
              <a:t>(</a:t>
            </a:r>
            <a:r>
              <a:rPr lang="en-US" altLang="zh-CN" sz="2400" b="1" i="1" dirty="0" err="1">
                <a:solidFill>
                  <a:schemeClr val="bg1"/>
                </a:solidFill>
                <a:latin typeface="+mn-lt"/>
              </a:rPr>
              <a:t>v</a:t>
            </a:r>
            <a:r>
              <a:rPr lang="en-US" altLang="zh-CN" sz="2400" b="1" dirty="0" err="1">
                <a:solidFill>
                  <a:schemeClr val="bg1"/>
                </a:solidFill>
                <a:latin typeface="+mn-lt"/>
              </a:rPr>
              <a:t>+</a:t>
            </a:r>
            <a:r>
              <a:rPr lang="en-US" altLang="zh-CN" sz="2400" b="1" i="1" dirty="0" err="1">
                <a:solidFill>
                  <a:schemeClr val="bg1"/>
                </a:solidFill>
                <a:latin typeface="+mn-lt"/>
              </a:rPr>
              <a:t>dv</a:t>
            </a:r>
            <a:r>
              <a:rPr lang="en-US" altLang="zh-CN" sz="2400" b="1" dirty="0">
                <a:solidFill>
                  <a:schemeClr val="bg1"/>
                </a:solidFill>
                <a:latin typeface="+mn-lt"/>
              </a:rPr>
              <a:t>)</a:t>
            </a:r>
            <a:endParaRPr lang="zh-CN" altLang="zh-CN" sz="2400" b="1" dirty="0">
              <a:solidFill>
                <a:schemeClr val="bg1"/>
              </a:solidFill>
              <a:latin typeface="+mn-lt"/>
            </a:endParaRPr>
          </a:p>
        </p:txBody>
      </p:sp>
      <p:sp>
        <p:nvSpPr>
          <p:cNvPr id="32772" name="Rectangle 15">
            <a:extLst>
              <a:ext uri="{FF2B5EF4-FFF2-40B4-BE49-F238E27FC236}">
                <a16:creationId xmlns:a16="http://schemas.microsoft.com/office/drawing/2014/main" id="{BF898E42-53D0-4722-A75C-5A68762DDB84}"/>
              </a:ext>
            </a:extLst>
          </p:cNvPr>
          <p:cNvSpPr>
            <a:spLocks noChangeArrowheads="1"/>
          </p:cNvSpPr>
          <p:nvPr/>
        </p:nvSpPr>
        <p:spPr bwMode="auto">
          <a:xfrm>
            <a:off x="131763" y="404813"/>
            <a:ext cx="184150" cy="368300"/>
          </a:xfrm>
          <a:prstGeom prst="rect">
            <a:avLst/>
          </a:prstGeom>
          <a:noFill/>
          <a:ln>
            <a:noFill/>
          </a:ln>
          <a:effectLst/>
        </p:spPr>
        <p:txBody>
          <a:bodyPr wrap="none" anchor="ctr">
            <a:spAutoFit/>
          </a:bodyPr>
          <a:lstStyle/>
          <a:p>
            <a:pPr eaLnBrk="1" hangingPunct="1">
              <a:defRPr/>
            </a:pPr>
            <a:endParaRPr lang="zh-CN" altLang="en-US">
              <a:latin typeface="+mn-lt"/>
            </a:endParaRPr>
          </a:p>
        </p:txBody>
      </p:sp>
      <p:grpSp>
        <p:nvGrpSpPr>
          <p:cNvPr id="23557" name="Group 3">
            <a:extLst>
              <a:ext uri="{FF2B5EF4-FFF2-40B4-BE49-F238E27FC236}">
                <a16:creationId xmlns:a16="http://schemas.microsoft.com/office/drawing/2014/main" id="{48F9BB93-B801-8A54-B2B8-3994D3F8A054}"/>
              </a:ext>
            </a:extLst>
          </p:cNvPr>
          <p:cNvGrpSpPr>
            <a:grpSpLocks/>
          </p:cNvGrpSpPr>
          <p:nvPr/>
        </p:nvGrpSpPr>
        <p:grpSpPr bwMode="auto">
          <a:xfrm>
            <a:off x="1404938" y="2133600"/>
            <a:ext cx="6551612" cy="1655763"/>
            <a:chOff x="2082" y="4461"/>
            <a:chExt cx="6498" cy="1254"/>
          </a:xfrm>
        </p:grpSpPr>
        <p:sp>
          <p:nvSpPr>
            <p:cNvPr id="32775" name="Freeform 14">
              <a:extLst>
                <a:ext uri="{FF2B5EF4-FFF2-40B4-BE49-F238E27FC236}">
                  <a16:creationId xmlns:a16="http://schemas.microsoft.com/office/drawing/2014/main" id="{A4A8684E-F73B-4EDF-B354-07F64C1EEF32}"/>
                </a:ext>
              </a:extLst>
            </p:cNvPr>
            <p:cNvSpPr>
              <a:spLocks/>
            </p:cNvSpPr>
            <p:nvPr/>
          </p:nvSpPr>
          <p:spPr bwMode="auto">
            <a:xfrm>
              <a:off x="2595" y="4461"/>
              <a:ext cx="2165" cy="570"/>
            </a:xfrm>
            <a:custGeom>
              <a:avLst/>
              <a:gdLst>
                <a:gd name="T0" fmla="*/ 0 w 2166"/>
                <a:gd name="T1" fmla="*/ 0 h 570"/>
                <a:gd name="T2" fmla="*/ 1368 w 2166"/>
                <a:gd name="T3" fmla="*/ 0 h 570"/>
                <a:gd name="T4" fmla="*/ 2166 w 2166"/>
                <a:gd name="T5" fmla="*/ 342 h 570"/>
                <a:gd name="T6" fmla="*/ 1425 w 2166"/>
                <a:gd name="T7" fmla="*/ 570 h 570"/>
                <a:gd name="T8" fmla="*/ 0 w 2166"/>
                <a:gd name="T9" fmla="*/ 570 h 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6" h="570">
                  <a:moveTo>
                    <a:pt x="0" y="0"/>
                  </a:moveTo>
                  <a:lnTo>
                    <a:pt x="1368" y="0"/>
                  </a:lnTo>
                  <a:lnTo>
                    <a:pt x="2166" y="342"/>
                  </a:lnTo>
                  <a:lnTo>
                    <a:pt x="1425" y="570"/>
                  </a:lnTo>
                  <a:lnTo>
                    <a:pt x="0" y="570"/>
                  </a:lnTo>
                </a:path>
              </a:pathLst>
            </a:custGeom>
            <a:noFill/>
            <a:ln w="9525">
              <a:solidFill>
                <a:srgbClr val="000000"/>
              </a:solidFill>
              <a:round/>
              <a:headEnd/>
              <a:tailEnd/>
            </a:ln>
          </p:spPr>
          <p:txBody>
            <a:bodyPr/>
            <a:lstStyle/>
            <a:p>
              <a:pPr eaLnBrk="1" hangingPunct="1">
                <a:defRPr/>
              </a:pPr>
              <a:endParaRPr lang="zh-CN" altLang="en-US" sz="2400" i="1">
                <a:solidFill>
                  <a:schemeClr val="bg1"/>
                </a:solidFill>
                <a:latin typeface="+mn-lt"/>
              </a:endParaRPr>
            </a:p>
          </p:txBody>
        </p:sp>
        <p:sp>
          <p:nvSpPr>
            <p:cNvPr id="32776" name="Rectangle 13">
              <a:extLst>
                <a:ext uri="{FF2B5EF4-FFF2-40B4-BE49-F238E27FC236}">
                  <a16:creationId xmlns:a16="http://schemas.microsoft.com/office/drawing/2014/main" id="{A360668F-9965-4AEB-8C9D-B78FB2AEF55E}"/>
                </a:ext>
              </a:extLst>
            </p:cNvPr>
            <p:cNvSpPr>
              <a:spLocks noChangeArrowheads="1"/>
            </p:cNvSpPr>
            <p:nvPr/>
          </p:nvSpPr>
          <p:spPr bwMode="auto">
            <a:xfrm>
              <a:off x="2652" y="4689"/>
              <a:ext cx="113" cy="171"/>
            </a:xfrm>
            <a:prstGeom prst="rect">
              <a:avLst/>
            </a:prstGeom>
            <a:solidFill>
              <a:srgbClr val="FFFFFF"/>
            </a:solidFill>
            <a:ln w="9525">
              <a:solidFill>
                <a:srgbClr val="000000"/>
              </a:solidFill>
              <a:miter lim="800000"/>
              <a:headEnd/>
              <a:tailEnd/>
            </a:ln>
          </p:spPr>
          <p:txBody>
            <a:bodyPr/>
            <a:lstStyle/>
            <a:p>
              <a:pPr eaLnBrk="1" hangingPunct="1">
                <a:defRPr/>
              </a:pPr>
              <a:endParaRPr lang="zh-CN" altLang="en-US" sz="2400" i="1">
                <a:solidFill>
                  <a:schemeClr val="bg1"/>
                </a:solidFill>
                <a:latin typeface="+mn-lt"/>
              </a:endParaRPr>
            </a:p>
          </p:txBody>
        </p:sp>
        <p:sp>
          <p:nvSpPr>
            <p:cNvPr id="32777" name="Freeform 12">
              <a:extLst>
                <a:ext uri="{FF2B5EF4-FFF2-40B4-BE49-F238E27FC236}">
                  <a16:creationId xmlns:a16="http://schemas.microsoft.com/office/drawing/2014/main" id="{A6DA22D6-84ED-4096-A058-540CC762A175}"/>
                </a:ext>
              </a:extLst>
            </p:cNvPr>
            <p:cNvSpPr>
              <a:spLocks/>
            </p:cNvSpPr>
            <p:nvPr/>
          </p:nvSpPr>
          <p:spPr bwMode="auto">
            <a:xfrm>
              <a:off x="6413" y="4518"/>
              <a:ext cx="2167" cy="571"/>
            </a:xfrm>
            <a:custGeom>
              <a:avLst/>
              <a:gdLst>
                <a:gd name="T0" fmla="*/ 0 w 2166"/>
                <a:gd name="T1" fmla="*/ 0 h 570"/>
                <a:gd name="T2" fmla="*/ 1368 w 2166"/>
                <a:gd name="T3" fmla="*/ 0 h 570"/>
                <a:gd name="T4" fmla="*/ 2166 w 2166"/>
                <a:gd name="T5" fmla="*/ 342 h 570"/>
                <a:gd name="T6" fmla="*/ 1425 w 2166"/>
                <a:gd name="T7" fmla="*/ 570 h 570"/>
                <a:gd name="T8" fmla="*/ 0 w 2166"/>
                <a:gd name="T9" fmla="*/ 570 h 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6" h="570">
                  <a:moveTo>
                    <a:pt x="0" y="0"/>
                  </a:moveTo>
                  <a:lnTo>
                    <a:pt x="1368" y="0"/>
                  </a:lnTo>
                  <a:lnTo>
                    <a:pt x="2166" y="342"/>
                  </a:lnTo>
                  <a:lnTo>
                    <a:pt x="1425" y="570"/>
                  </a:lnTo>
                  <a:lnTo>
                    <a:pt x="0" y="570"/>
                  </a:lnTo>
                </a:path>
              </a:pathLst>
            </a:custGeom>
            <a:noFill/>
            <a:ln w="9525">
              <a:solidFill>
                <a:srgbClr val="000000"/>
              </a:solidFill>
              <a:round/>
              <a:headEnd/>
              <a:tailEnd/>
            </a:ln>
          </p:spPr>
          <p:txBody>
            <a:bodyPr/>
            <a:lstStyle/>
            <a:p>
              <a:pPr eaLnBrk="1" hangingPunct="1">
                <a:defRPr/>
              </a:pPr>
              <a:endParaRPr lang="zh-CN" altLang="en-US" sz="2400" i="1">
                <a:solidFill>
                  <a:schemeClr val="bg1"/>
                </a:solidFill>
                <a:latin typeface="+mn-lt"/>
              </a:endParaRPr>
            </a:p>
          </p:txBody>
        </p:sp>
        <p:sp>
          <p:nvSpPr>
            <p:cNvPr id="32778" name="Rectangle 11">
              <a:extLst>
                <a:ext uri="{FF2B5EF4-FFF2-40B4-BE49-F238E27FC236}">
                  <a16:creationId xmlns:a16="http://schemas.microsoft.com/office/drawing/2014/main" id="{AA7878EB-7009-4B6F-AEF1-203254AF2593}"/>
                </a:ext>
              </a:extLst>
            </p:cNvPr>
            <p:cNvSpPr>
              <a:spLocks noChangeArrowheads="1"/>
            </p:cNvSpPr>
            <p:nvPr/>
          </p:nvSpPr>
          <p:spPr bwMode="auto">
            <a:xfrm>
              <a:off x="5673" y="4746"/>
              <a:ext cx="112" cy="171"/>
            </a:xfrm>
            <a:prstGeom prst="rect">
              <a:avLst/>
            </a:prstGeom>
            <a:solidFill>
              <a:srgbClr val="FFFFFF"/>
            </a:solidFill>
            <a:ln w="9525">
              <a:solidFill>
                <a:srgbClr val="000000"/>
              </a:solidFill>
              <a:miter lim="800000"/>
              <a:headEnd/>
              <a:tailEnd/>
            </a:ln>
          </p:spPr>
          <p:txBody>
            <a:bodyPr/>
            <a:lstStyle/>
            <a:p>
              <a:pPr eaLnBrk="1" hangingPunct="1">
                <a:defRPr/>
              </a:pPr>
              <a:endParaRPr lang="zh-CN" altLang="en-US" sz="2400" i="1">
                <a:solidFill>
                  <a:schemeClr val="bg1"/>
                </a:solidFill>
                <a:latin typeface="+mn-lt"/>
              </a:endParaRPr>
            </a:p>
          </p:txBody>
        </p:sp>
        <p:sp>
          <p:nvSpPr>
            <p:cNvPr id="32779" name="Text Box 10">
              <a:extLst>
                <a:ext uri="{FF2B5EF4-FFF2-40B4-BE49-F238E27FC236}">
                  <a16:creationId xmlns:a16="http://schemas.microsoft.com/office/drawing/2014/main" id="{75C29C5E-43F7-4A71-B36A-A73ED703CE76}"/>
                </a:ext>
              </a:extLst>
            </p:cNvPr>
            <p:cNvSpPr txBox="1">
              <a:spLocks noChangeArrowheads="1"/>
            </p:cNvSpPr>
            <p:nvPr/>
          </p:nvSpPr>
          <p:spPr bwMode="auto">
            <a:xfrm>
              <a:off x="3109" y="4518"/>
              <a:ext cx="740" cy="684"/>
            </a:xfrm>
            <a:prstGeom prst="rect">
              <a:avLst/>
            </a:prstGeom>
            <a:noFill/>
            <a:ln>
              <a:noFill/>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i="1">
                  <a:solidFill>
                    <a:schemeClr val="bg1"/>
                  </a:solidFill>
                  <a:latin typeface="+mn-lt"/>
                  <a:cs typeface="Times New Roman" pitchFamily="18" charset="0"/>
                </a:rPr>
                <a:t>M		</a:t>
              </a:r>
              <a:endParaRPr lang="en-US" altLang="zh-CN" sz="2400" i="1">
                <a:solidFill>
                  <a:schemeClr val="bg1"/>
                </a:solidFill>
                <a:latin typeface="+mn-lt"/>
              </a:endParaRPr>
            </a:p>
          </p:txBody>
        </p:sp>
        <p:sp>
          <p:nvSpPr>
            <p:cNvPr id="32780" name="Text Box 9">
              <a:extLst>
                <a:ext uri="{FF2B5EF4-FFF2-40B4-BE49-F238E27FC236}">
                  <a16:creationId xmlns:a16="http://schemas.microsoft.com/office/drawing/2014/main" id="{45F12546-16CC-465A-98F8-17C36179244D}"/>
                </a:ext>
              </a:extLst>
            </p:cNvPr>
            <p:cNvSpPr txBox="1">
              <a:spLocks noChangeArrowheads="1"/>
            </p:cNvSpPr>
            <p:nvPr/>
          </p:nvSpPr>
          <p:spPr bwMode="auto">
            <a:xfrm>
              <a:off x="6813" y="4575"/>
              <a:ext cx="740" cy="684"/>
            </a:xfrm>
            <a:prstGeom prst="rect">
              <a:avLst/>
            </a:prstGeom>
            <a:noFill/>
            <a:ln>
              <a:noFill/>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i="1">
                  <a:solidFill>
                    <a:schemeClr val="bg1"/>
                  </a:solidFill>
                  <a:latin typeface="+mn-lt"/>
                  <a:cs typeface="Times New Roman" pitchFamily="18" charset="0"/>
                </a:rPr>
                <a:t>m</a:t>
              </a:r>
              <a:endParaRPr lang="en-US" altLang="zh-CN" sz="2400" i="1">
                <a:solidFill>
                  <a:schemeClr val="bg1"/>
                </a:solidFill>
                <a:latin typeface="+mn-lt"/>
              </a:endParaRPr>
            </a:p>
          </p:txBody>
        </p:sp>
        <p:sp>
          <p:nvSpPr>
            <p:cNvPr id="32781" name="Text Box 8">
              <a:extLst>
                <a:ext uri="{FF2B5EF4-FFF2-40B4-BE49-F238E27FC236}">
                  <a16:creationId xmlns:a16="http://schemas.microsoft.com/office/drawing/2014/main" id="{2287D91D-96C1-4E0E-B733-1357BBA6C683}"/>
                </a:ext>
              </a:extLst>
            </p:cNvPr>
            <p:cNvSpPr txBox="1">
              <a:spLocks noChangeArrowheads="1"/>
            </p:cNvSpPr>
            <p:nvPr/>
          </p:nvSpPr>
          <p:spPr bwMode="auto">
            <a:xfrm>
              <a:off x="2082" y="4518"/>
              <a:ext cx="742" cy="684"/>
            </a:xfrm>
            <a:prstGeom prst="rect">
              <a:avLst/>
            </a:prstGeom>
            <a:noFill/>
            <a:ln>
              <a:noFill/>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i="1">
                  <a:solidFill>
                    <a:schemeClr val="bg1"/>
                  </a:solidFill>
                  <a:latin typeface="+mn-lt"/>
                  <a:cs typeface="Times New Roman" pitchFamily="18" charset="0"/>
                </a:rPr>
                <a:t>dm</a:t>
              </a:r>
              <a:endParaRPr lang="en-US" altLang="zh-CN" sz="2400" i="1">
                <a:solidFill>
                  <a:schemeClr val="bg1"/>
                </a:solidFill>
                <a:latin typeface="+mn-lt"/>
              </a:endParaRPr>
            </a:p>
          </p:txBody>
        </p:sp>
        <p:sp>
          <p:nvSpPr>
            <p:cNvPr id="32782" name="Text Box 7">
              <a:extLst>
                <a:ext uri="{FF2B5EF4-FFF2-40B4-BE49-F238E27FC236}">
                  <a16:creationId xmlns:a16="http://schemas.microsoft.com/office/drawing/2014/main" id="{81603390-D8D1-4959-8F50-2403D02036AE}"/>
                </a:ext>
              </a:extLst>
            </p:cNvPr>
            <p:cNvSpPr txBox="1">
              <a:spLocks noChangeArrowheads="1"/>
            </p:cNvSpPr>
            <p:nvPr/>
          </p:nvSpPr>
          <p:spPr bwMode="auto">
            <a:xfrm>
              <a:off x="5716" y="4575"/>
              <a:ext cx="742" cy="684"/>
            </a:xfrm>
            <a:prstGeom prst="rect">
              <a:avLst/>
            </a:prstGeom>
            <a:noFill/>
            <a:ln>
              <a:noFill/>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i="1">
                  <a:solidFill>
                    <a:schemeClr val="bg1"/>
                  </a:solidFill>
                  <a:latin typeface="+mn-lt"/>
                  <a:cs typeface="Times New Roman" pitchFamily="18" charset="0"/>
                </a:rPr>
                <a:t>dm</a:t>
              </a:r>
              <a:endParaRPr lang="en-US" altLang="zh-CN" sz="2400" i="1">
                <a:solidFill>
                  <a:schemeClr val="bg1"/>
                </a:solidFill>
                <a:latin typeface="+mn-lt"/>
              </a:endParaRPr>
            </a:p>
          </p:txBody>
        </p:sp>
        <p:sp>
          <p:nvSpPr>
            <p:cNvPr id="32783" name="Text Box 6">
              <a:extLst>
                <a:ext uri="{FF2B5EF4-FFF2-40B4-BE49-F238E27FC236}">
                  <a16:creationId xmlns:a16="http://schemas.microsoft.com/office/drawing/2014/main" id="{4F5D45F6-8204-4C90-B0D4-89D82A9B2AD2}"/>
                </a:ext>
              </a:extLst>
            </p:cNvPr>
            <p:cNvSpPr txBox="1">
              <a:spLocks noChangeArrowheads="1"/>
            </p:cNvSpPr>
            <p:nvPr/>
          </p:nvSpPr>
          <p:spPr bwMode="auto">
            <a:xfrm>
              <a:off x="3279" y="4974"/>
              <a:ext cx="742" cy="684"/>
            </a:xfrm>
            <a:prstGeom prst="rect">
              <a:avLst/>
            </a:prstGeom>
            <a:noFill/>
            <a:ln>
              <a:noFill/>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i="1">
                  <a:solidFill>
                    <a:schemeClr val="bg1"/>
                  </a:solidFill>
                  <a:latin typeface="+mn-lt"/>
                  <a:cs typeface="Times New Roman" pitchFamily="18" charset="0"/>
                </a:rPr>
                <a:t>v</a:t>
              </a:r>
              <a:endParaRPr lang="en-US" altLang="zh-CN" sz="2400" i="1">
                <a:solidFill>
                  <a:schemeClr val="bg1"/>
                </a:solidFill>
                <a:latin typeface="+mn-lt"/>
              </a:endParaRPr>
            </a:p>
          </p:txBody>
        </p:sp>
        <p:sp>
          <p:nvSpPr>
            <p:cNvPr id="32784" name="Text Box 5">
              <a:extLst>
                <a:ext uri="{FF2B5EF4-FFF2-40B4-BE49-F238E27FC236}">
                  <a16:creationId xmlns:a16="http://schemas.microsoft.com/office/drawing/2014/main" id="{9688AD15-7E80-4DC0-8946-CA783CCFF075}"/>
                </a:ext>
              </a:extLst>
            </p:cNvPr>
            <p:cNvSpPr txBox="1">
              <a:spLocks noChangeArrowheads="1"/>
            </p:cNvSpPr>
            <p:nvPr/>
          </p:nvSpPr>
          <p:spPr bwMode="auto">
            <a:xfrm>
              <a:off x="6698" y="5031"/>
              <a:ext cx="1312" cy="684"/>
            </a:xfrm>
            <a:prstGeom prst="rect">
              <a:avLst/>
            </a:prstGeom>
            <a:noFill/>
            <a:ln>
              <a:noFill/>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i="1">
                  <a:solidFill>
                    <a:schemeClr val="bg1"/>
                  </a:solidFill>
                  <a:latin typeface="+mn-lt"/>
                  <a:cs typeface="Times New Roman" pitchFamily="18" charset="0"/>
                </a:rPr>
                <a:t>v+dv</a:t>
              </a:r>
              <a:endParaRPr lang="en-US" altLang="zh-CN" sz="2400" i="1">
                <a:solidFill>
                  <a:schemeClr val="bg1"/>
                </a:solidFill>
                <a:latin typeface="+mn-lt"/>
              </a:endParaRPr>
            </a:p>
          </p:txBody>
        </p:sp>
        <p:sp>
          <p:nvSpPr>
            <p:cNvPr id="32785" name="Text Box 4">
              <a:extLst>
                <a:ext uri="{FF2B5EF4-FFF2-40B4-BE49-F238E27FC236}">
                  <a16:creationId xmlns:a16="http://schemas.microsoft.com/office/drawing/2014/main" id="{8A9D5E2B-9B1E-496C-90D4-CE203033CC6A}"/>
                </a:ext>
              </a:extLst>
            </p:cNvPr>
            <p:cNvSpPr txBox="1">
              <a:spLocks noChangeArrowheads="1"/>
            </p:cNvSpPr>
            <p:nvPr/>
          </p:nvSpPr>
          <p:spPr bwMode="auto">
            <a:xfrm>
              <a:off x="5716" y="4802"/>
              <a:ext cx="1027" cy="684"/>
            </a:xfrm>
            <a:prstGeom prst="rect">
              <a:avLst/>
            </a:prstGeom>
            <a:noFill/>
            <a:ln>
              <a:noFill/>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i="1">
                  <a:solidFill>
                    <a:schemeClr val="bg1"/>
                  </a:solidFill>
                  <a:latin typeface="+mn-lt"/>
                  <a:cs typeface="Times New Roman" pitchFamily="18" charset="0"/>
                </a:rPr>
                <a:t>v+u</a:t>
              </a:r>
              <a:endParaRPr lang="en-US" altLang="zh-CN" sz="2400" i="1">
                <a:solidFill>
                  <a:schemeClr val="bg1"/>
                </a:solidFill>
                <a:latin typeface="+mn-lt"/>
              </a:endParaRPr>
            </a:p>
          </p:txBody>
        </p:sp>
      </p:grpSp>
      <p:sp>
        <p:nvSpPr>
          <p:cNvPr id="32774" name="Rectangle 23">
            <a:extLst>
              <a:ext uri="{FF2B5EF4-FFF2-40B4-BE49-F238E27FC236}">
                <a16:creationId xmlns:a16="http://schemas.microsoft.com/office/drawing/2014/main" id="{83421393-7B4E-4D4C-8920-21FB2BB15F66}"/>
              </a:ext>
            </a:extLst>
          </p:cNvPr>
          <p:cNvSpPr>
            <a:spLocks noChangeArrowheads="1"/>
          </p:cNvSpPr>
          <p:nvPr/>
        </p:nvSpPr>
        <p:spPr bwMode="auto">
          <a:xfrm>
            <a:off x="131763" y="633413"/>
            <a:ext cx="184150" cy="368300"/>
          </a:xfrm>
          <a:prstGeom prst="rect">
            <a:avLst/>
          </a:prstGeom>
          <a:noFill/>
          <a:ln>
            <a:noFill/>
          </a:ln>
          <a:effectLst/>
        </p:spPr>
        <p:txBody>
          <a:bodyPr wrap="none" anchor="ctr">
            <a:spAutoFit/>
          </a:bodyPr>
          <a:lstStyle/>
          <a:p>
            <a:pPr>
              <a:defRPr/>
            </a:pPr>
            <a:endParaRPr lang="zh-CN" altLang="zh-CN">
              <a:latin typeface="+mn-l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a:extLst>
              <a:ext uri="{FF2B5EF4-FFF2-40B4-BE49-F238E27FC236}">
                <a16:creationId xmlns:a16="http://schemas.microsoft.com/office/drawing/2014/main" id="{1D427965-BCED-D837-DB08-CEB89CD327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250" y="2635250"/>
            <a:ext cx="1511300" cy="782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3795" name="矩形 1">
            <a:extLst>
              <a:ext uri="{FF2B5EF4-FFF2-40B4-BE49-F238E27FC236}">
                <a16:creationId xmlns:a16="http://schemas.microsoft.com/office/drawing/2014/main" id="{231FCFAE-58F2-4246-AFB6-A008570D1BEA}"/>
              </a:ext>
            </a:extLst>
          </p:cNvPr>
          <p:cNvSpPr>
            <a:spLocks noChangeArrowheads="1"/>
          </p:cNvSpPr>
          <p:nvPr/>
        </p:nvSpPr>
        <p:spPr bwMode="auto">
          <a:xfrm>
            <a:off x="1749425" y="3970338"/>
            <a:ext cx="1958975" cy="460375"/>
          </a:xfrm>
          <a:prstGeom prst="rect">
            <a:avLst/>
          </a:prstGeom>
          <a:noFill/>
          <a:ln>
            <a:noFill/>
          </a:ln>
        </p:spPr>
        <p:txBody>
          <a:bodyPr wrap="none">
            <a:spAutoFit/>
          </a:bodyPr>
          <a:lstStyle/>
          <a:p>
            <a:pPr eaLnBrk="1" hangingPunct="1">
              <a:defRPr/>
            </a:pPr>
            <a:r>
              <a:rPr lang="zh-CN" altLang="zh-CN" sz="2400" b="1">
                <a:solidFill>
                  <a:schemeClr val="bg1"/>
                </a:solidFill>
                <a:latin typeface="+mn-lt"/>
              </a:rPr>
              <a:t>积分：</a:t>
            </a:r>
            <a:r>
              <a:rPr lang="en-US" altLang="zh-CN" sz="2400" b="1">
                <a:solidFill>
                  <a:schemeClr val="bg1"/>
                </a:solidFill>
                <a:latin typeface="+mn-lt"/>
              </a:rPr>
              <a:t>           </a:t>
            </a:r>
            <a:endParaRPr lang="zh-CN" altLang="zh-CN" sz="2400" b="1">
              <a:solidFill>
                <a:schemeClr val="bg1"/>
              </a:solidFill>
              <a:latin typeface="+mn-lt"/>
            </a:endParaRPr>
          </a:p>
        </p:txBody>
      </p:sp>
      <p:pic>
        <p:nvPicPr>
          <p:cNvPr id="33796" name="Picture 3">
            <a:extLst>
              <a:ext uri="{FF2B5EF4-FFF2-40B4-BE49-F238E27FC236}">
                <a16:creationId xmlns:a16="http://schemas.microsoft.com/office/drawing/2014/main" id="{58AA4F85-AAC8-04B3-AF14-4A087B26CE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6925" y="3803650"/>
            <a:ext cx="2185988" cy="793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3797" name="Picture 4">
            <a:extLst>
              <a:ext uri="{FF2B5EF4-FFF2-40B4-BE49-F238E27FC236}">
                <a16:creationId xmlns:a16="http://schemas.microsoft.com/office/drawing/2014/main" id="{B3588F04-B99A-3A3C-D0E3-D247EE021C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6038" y="4797425"/>
            <a:ext cx="1433512" cy="7635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3798" name="矩形 2">
            <a:extLst>
              <a:ext uri="{FF2B5EF4-FFF2-40B4-BE49-F238E27FC236}">
                <a16:creationId xmlns:a16="http://schemas.microsoft.com/office/drawing/2014/main" id="{583B824E-47E8-4699-9D43-9D7555FE95BA}"/>
              </a:ext>
            </a:extLst>
          </p:cNvPr>
          <p:cNvSpPr>
            <a:spLocks noChangeArrowheads="1"/>
          </p:cNvSpPr>
          <p:nvPr/>
        </p:nvSpPr>
        <p:spPr bwMode="auto">
          <a:xfrm>
            <a:off x="611188" y="5732463"/>
            <a:ext cx="8105775" cy="830262"/>
          </a:xfrm>
          <a:prstGeom prst="rect">
            <a:avLst/>
          </a:prstGeom>
          <a:noFill/>
          <a:ln>
            <a:noFill/>
          </a:ln>
        </p:spPr>
        <p:txBody>
          <a:bodyPr>
            <a:spAutoFit/>
          </a:bodyPr>
          <a:lstStyle/>
          <a:p>
            <a:pPr eaLnBrk="1" hangingPunct="1">
              <a:defRPr/>
            </a:pPr>
            <a:r>
              <a:rPr lang="zh-CN" altLang="zh-CN" sz="2400" b="1">
                <a:solidFill>
                  <a:schemeClr val="bg1"/>
                </a:solidFill>
                <a:latin typeface="+mn-lt"/>
              </a:rPr>
              <a:t>此式称为齐奥尔科夫斯基公式。</a:t>
            </a:r>
            <a:r>
              <a:rPr lang="zh-CN" altLang="en-US" sz="2400" b="1">
                <a:solidFill>
                  <a:schemeClr val="bg1"/>
                </a:solidFill>
                <a:latin typeface="+mn-lt"/>
              </a:rPr>
              <a:t>火箭的最终速度取决于</a:t>
            </a:r>
            <a:r>
              <a:rPr lang="zh-CN" altLang="en-US" sz="2400" b="1">
                <a:solidFill>
                  <a:srgbClr val="FFC000"/>
                </a:solidFill>
                <a:latin typeface="+mn-lt"/>
              </a:rPr>
              <a:t>喷气速度</a:t>
            </a:r>
            <a:r>
              <a:rPr lang="zh-CN" altLang="en-US" sz="2400" b="1">
                <a:solidFill>
                  <a:schemeClr val="bg1"/>
                </a:solidFill>
                <a:latin typeface="+mn-lt"/>
              </a:rPr>
              <a:t>和</a:t>
            </a:r>
            <a:r>
              <a:rPr lang="zh-CN" altLang="en-US" sz="2400" b="1">
                <a:solidFill>
                  <a:srgbClr val="FFC000"/>
                </a:solidFill>
                <a:latin typeface="+mn-lt"/>
              </a:rPr>
              <a:t>壳体质量与火箭初始总质量之比</a:t>
            </a:r>
            <a:r>
              <a:rPr lang="zh-CN" altLang="en-US" sz="2400" b="1">
                <a:solidFill>
                  <a:schemeClr val="bg1"/>
                </a:solidFill>
                <a:latin typeface="+mn-lt"/>
              </a:rPr>
              <a:t>两个因素。</a:t>
            </a:r>
            <a:endParaRPr lang="en-US" altLang="zh-CN" sz="2400" b="1">
              <a:solidFill>
                <a:schemeClr val="bg1"/>
              </a:solidFill>
              <a:latin typeface="+mn-lt"/>
            </a:endParaRPr>
          </a:p>
        </p:txBody>
      </p:sp>
      <p:sp>
        <p:nvSpPr>
          <p:cNvPr id="33799" name="矩形 3">
            <a:extLst>
              <a:ext uri="{FF2B5EF4-FFF2-40B4-BE49-F238E27FC236}">
                <a16:creationId xmlns:a16="http://schemas.microsoft.com/office/drawing/2014/main" id="{7F12B634-B4E0-44C8-9731-C820A71F88AC}"/>
              </a:ext>
            </a:extLst>
          </p:cNvPr>
          <p:cNvSpPr>
            <a:spLocks noChangeArrowheads="1"/>
          </p:cNvSpPr>
          <p:nvPr/>
        </p:nvSpPr>
        <p:spPr bwMode="auto">
          <a:xfrm>
            <a:off x="869950" y="476250"/>
            <a:ext cx="7847013" cy="2124075"/>
          </a:xfrm>
          <a:prstGeom prst="rect">
            <a:avLst/>
          </a:prstGeom>
          <a:noFill/>
          <a:ln>
            <a:noFill/>
          </a:ln>
        </p:spPr>
        <p:txBody>
          <a:bodyPr>
            <a:spAutoFit/>
          </a:bodyPr>
          <a:lstStyle/>
          <a:p>
            <a:pPr eaLnBrk="1" hangingPunct="1">
              <a:lnSpc>
                <a:spcPct val="110000"/>
              </a:lnSpc>
              <a:defRPr/>
            </a:pPr>
            <a:r>
              <a:rPr lang="zh-CN" altLang="zh-CN" sz="2400" b="1">
                <a:solidFill>
                  <a:schemeClr val="bg1"/>
                </a:solidFill>
                <a:latin typeface="+mn-lt"/>
              </a:rPr>
              <a:t>在不计外力的情况下，</a:t>
            </a:r>
            <a:r>
              <a:rPr lang="zh-CN" altLang="en-US" sz="2400" b="1">
                <a:solidFill>
                  <a:schemeClr val="bg1"/>
                </a:solidFill>
                <a:latin typeface="+mn-lt"/>
              </a:rPr>
              <a:t>这一时刻所喷出燃料</a:t>
            </a:r>
            <a:r>
              <a:rPr lang="en-US" altLang="zh-CN" sz="2400" b="1" i="1">
                <a:solidFill>
                  <a:schemeClr val="bg1"/>
                </a:solidFill>
                <a:latin typeface="+mn-lt"/>
              </a:rPr>
              <a:t>dm</a:t>
            </a:r>
            <a:r>
              <a:rPr lang="zh-CN" altLang="en-US" sz="2400" b="1">
                <a:solidFill>
                  <a:schemeClr val="bg1"/>
                </a:solidFill>
                <a:latin typeface="+mn-lt"/>
              </a:rPr>
              <a:t>与火箭</a:t>
            </a:r>
            <a:r>
              <a:rPr lang="en-US" altLang="zh-CN" sz="2400" b="1" i="1">
                <a:solidFill>
                  <a:schemeClr val="bg1"/>
                </a:solidFill>
                <a:latin typeface="+mn-lt"/>
              </a:rPr>
              <a:t>m</a:t>
            </a:r>
            <a:r>
              <a:rPr lang="zh-CN" altLang="en-US" sz="2400" b="1">
                <a:solidFill>
                  <a:schemeClr val="bg1"/>
                </a:solidFill>
                <a:latin typeface="+mn-lt"/>
              </a:rPr>
              <a:t>所组成的</a:t>
            </a:r>
            <a:r>
              <a:rPr lang="zh-CN" altLang="zh-CN" sz="2400" b="1">
                <a:solidFill>
                  <a:schemeClr val="bg1"/>
                </a:solidFill>
                <a:latin typeface="+mn-lt"/>
              </a:rPr>
              <a:t>系统动量守恒：</a:t>
            </a:r>
          </a:p>
          <a:p>
            <a:pPr algn="ctr" eaLnBrk="1" hangingPunct="1">
              <a:lnSpc>
                <a:spcPct val="110000"/>
              </a:lnSpc>
              <a:defRPr/>
            </a:pPr>
            <a:r>
              <a:rPr lang="en-US" altLang="zh-CN" sz="2400" b="1">
                <a:solidFill>
                  <a:schemeClr val="bg1"/>
                </a:solidFill>
                <a:latin typeface="+mn-lt"/>
              </a:rPr>
              <a:t>(</a:t>
            </a:r>
            <a:r>
              <a:rPr lang="en-US" altLang="zh-CN" sz="2400" b="1" i="1">
                <a:solidFill>
                  <a:schemeClr val="bg1"/>
                </a:solidFill>
                <a:latin typeface="+mn-lt"/>
              </a:rPr>
              <a:t>m</a:t>
            </a:r>
            <a:r>
              <a:rPr lang="en-US" altLang="zh-CN" sz="2400" b="1">
                <a:solidFill>
                  <a:schemeClr val="bg1"/>
                </a:solidFill>
                <a:latin typeface="+mn-lt"/>
              </a:rPr>
              <a:t>+</a:t>
            </a:r>
            <a:r>
              <a:rPr lang="en-US" altLang="zh-CN" sz="2400" b="1" i="1">
                <a:solidFill>
                  <a:schemeClr val="bg1"/>
                </a:solidFill>
                <a:latin typeface="+mn-lt"/>
              </a:rPr>
              <a:t>dm</a:t>
            </a:r>
            <a:r>
              <a:rPr lang="en-US" altLang="zh-CN" sz="2400" b="1">
                <a:solidFill>
                  <a:schemeClr val="bg1"/>
                </a:solidFill>
                <a:latin typeface="+mn-lt"/>
              </a:rPr>
              <a:t>)</a:t>
            </a:r>
            <a:r>
              <a:rPr lang="en-US" altLang="zh-CN" sz="2400" b="1" i="1">
                <a:solidFill>
                  <a:schemeClr val="bg1"/>
                </a:solidFill>
                <a:latin typeface="+mn-lt"/>
              </a:rPr>
              <a:t>v</a:t>
            </a:r>
            <a:r>
              <a:rPr lang="zh-CN" altLang="zh-CN" sz="2400" b="1">
                <a:solidFill>
                  <a:schemeClr val="bg1"/>
                </a:solidFill>
                <a:latin typeface="+mn-lt"/>
              </a:rPr>
              <a:t>＝</a:t>
            </a:r>
            <a:r>
              <a:rPr lang="en-US" altLang="zh-CN" sz="2400" b="1" i="1">
                <a:solidFill>
                  <a:schemeClr val="bg1"/>
                </a:solidFill>
                <a:latin typeface="+mn-lt"/>
              </a:rPr>
              <a:t>dm</a:t>
            </a:r>
            <a:r>
              <a:rPr lang="en-US" altLang="zh-CN" sz="2400" b="1">
                <a:solidFill>
                  <a:schemeClr val="bg1"/>
                </a:solidFill>
                <a:latin typeface="+mn-lt"/>
              </a:rPr>
              <a:t>(</a:t>
            </a:r>
            <a:r>
              <a:rPr lang="en-US" altLang="zh-CN" sz="2400" b="1" i="1">
                <a:solidFill>
                  <a:schemeClr val="bg1"/>
                </a:solidFill>
                <a:latin typeface="+mn-lt"/>
              </a:rPr>
              <a:t>v</a:t>
            </a:r>
            <a:r>
              <a:rPr lang="en-US" altLang="zh-CN" sz="2400" b="1">
                <a:solidFill>
                  <a:schemeClr val="bg1"/>
                </a:solidFill>
                <a:latin typeface="+mn-lt"/>
              </a:rPr>
              <a:t>+</a:t>
            </a:r>
            <a:r>
              <a:rPr lang="en-US" altLang="zh-CN" sz="2400" b="1" i="1">
                <a:solidFill>
                  <a:schemeClr val="bg1"/>
                </a:solidFill>
                <a:latin typeface="+mn-lt"/>
              </a:rPr>
              <a:t>u</a:t>
            </a:r>
            <a:r>
              <a:rPr lang="en-US" altLang="zh-CN" sz="2400" b="1">
                <a:solidFill>
                  <a:schemeClr val="bg1"/>
                </a:solidFill>
                <a:latin typeface="+mn-lt"/>
              </a:rPr>
              <a:t>)+</a:t>
            </a:r>
            <a:r>
              <a:rPr lang="en-US" altLang="zh-CN" sz="2400" b="1" i="1">
                <a:solidFill>
                  <a:schemeClr val="bg1"/>
                </a:solidFill>
                <a:latin typeface="+mn-lt"/>
              </a:rPr>
              <a:t>m</a:t>
            </a:r>
            <a:r>
              <a:rPr lang="en-US" altLang="zh-CN" sz="2400" b="1">
                <a:solidFill>
                  <a:schemeClr val="bg1"/>
                </a:solidFill>
                <a:latin typeface="+mn-lt"/>
              </a:rPr>
              <a:t>(</a:t>
            </a:r>
            <a:r>
              <a:rPr lang="en-US" altLang="zh-CN" sz="2400" b="1" i="1">
                <a:solidFill>
                  <a:schemeClr val="bg1"/>
                </a:solidFill>
                <a:latin typeface="+mn-lt"/>
              </a:rPr>
              <a:t>v</a:t>
            </a:r>
            <a:r>
              <a:rPr lang="en-US" altLang="zh-CN" sz="2400" b="1">
                <a:solidFill>
                  <a:schemeClr val="bg1"/>
                </a:solidFill>
                <a:latin typeface="+mn-lt"/>
              </a:rPr>
              <a:t>+</a:t>
            </a:r>
            <a:r>
              <a:rPr lang="en-US" altLang="zh-CN" sz="2400" b="1" i="1">
                <a:solidFill>
                  <a:schemeClr val="bg1"/>
                </a:solidFill>
                <a:latin typeface="+mn-lt"/>
              </a:rPr>
              <a:t>dv</a:t>
            </a:r>
            <a:r>
              <a:rPr lang="en-US" altLang="zh-CN" sz="2400" b="1">
                <a:solidFill>
                  <a:schemeClr val="bg1"/>
                </a:solidFill>
                <a:latin typeface="+mn-lt"/>
              </a:rPr>
              <a:t>)</a:t>
            </a:r>
            <a:endParaRPr lang="zh-CN" altLang="zh-CN" sz="2400" b="1">
              <a:solidFill>
                <a:schemeClr val="bg1"/>
              </a:solidFill>
              <a:latin typeface="+mn-lt"/>
            </a:endParaRPr>
          </a:p>
          <a:p>
            <a:pPr algn="ctr" eaLnBrk="1" hangingPunct="1">
              <a:lnSpc>
                <a:spcPct val="110000"/>
              </a:lnSpc>
              <a:defRPr/>
            </a:pPr>
            <a:r>
              <a:rPr lang="en-US" altLang="zh-CN" sz="2400" b="1" i="1">
                <a:solidFill>
                  <a:schemeClr val="bg1"/>
                </a:solidFill>
                <a:latin typeface="+mn-lt"/>
              </a:rPr>
              <a:t>mv</a:t>
            </a:r>
            <a:r>
              <a:rPr lang="en-US" altLang="zh-CN" sz="2400" b="1">
                <a:solidFill>
                  <a:schemeClr val="bg1"/>
                </a:solidFill>
                <a:latin typeface="+mn-lt"/>
              </a:rPr>
              <a:t>+</a:t>
            </a:r>
            <a:r>
              <a:rPr lang="en-US" altLang="zh-CN" sz="2400" b="1" i="1">
                <a:solidFill>
                  <a:schemeClr val="bg1"/>
                </a:solidFill>
                <a:latin typeface="+mn-lt"/>
              </a:rPr>
              <a:t>dmv</a:t>
            </a:r>
            <a:r>
              <a:rPr lang="zh-CN" altLang="zh-CN" sz="2400" b="1">
                <a:solidFill>
                  <a:schemeClr val="bg1"/>
                </a:solidFill>
                <a:latin typeface="+mn-lt"/>
              </a:rPr>
              <a:t>＝</a:t>
            </a:r>
            <a:r>
              <a:rPr lang="en-US" altLang="zh-CN" sz="2400" b="1" i="1">
                <a:solidFill>
                  <a:schemeClr val="bg1"/>
                </a:solidFill>
                <a:latin typeface="+mn-lt"/>
              </a:rPr>
              <a:t>dmv</a:t>
            </a:r>
            <a:r>
              <a:rPr lang="en-US" altLang="zh-CN" sz="2400" b="1">
                <a:solidFill>
                  <a:schemeClr val="bg1"/>
                </a:solidFill>
                <a:latin typeface="+mn-lt"/>
              </a:rPr>
              <a:t>+</a:t>
            </a:r>
            <a:r>
              <a:rPr lang="en-US" altLang="zh-CN" sz="2400" b="1" i="1">
                <a:solidFill>
                  <a:schemeClr val="bg1"/>
                </a:solidFill>
                <a:latin typeface="+mn-lt"/>
              </a:rPr>
              <a:t>dmu</a:t>
            </a:r>
            <a:r>
              <a:rPr lang="en-US" altLang="zh-CN" sz="2400" b="1">
                <a:solidFill>
                  <a:schemeClr val="bg1"/>
                </a:solidFill>
                <a:latin typeface="+mn-lt"/>
              </a:rPr>
              <a:t>+</a:t>
            </a:r>
            <a:r>
              <a:rPr lang="en-US" altLang="zh-CN" sz="2400" b="1" i="1">
                <a:solidFill>
                  <a:schemeClr val="bg1"/>
                </a:solidFill>
                <a:latin typeface="+mn-lt"/>
              </a:rPr>
              <a:t>mv</a:t>
            </a:r>
            <a:r>
              <a:rPr lang="en-US" altLang="zh-CN" sz="2400" b="1">
                <a:solidFill>
                  <a:schemeClr val="bg1"/>
                </a:solidFill>
                <a:latin typeface="+mn-lt"/>
              </a:rPr>
              <a:t>+</a:t>
            </a:r>
            <a:r>
              <a:rPr lang="en-US" altLang="zh-CN" sz="2400" b="1" i="1">
                <a:solidFill>
                  <a:schemeClr val="bg1"/>
                </a:solidFill>
                <a:latin typeface="+mn-lt"/>
              </a:rPr>
              <a:t>mdv</a:t>
            </a:r>
            <a:endParaRPr lang="zh-CN" altLang="zh-CN" sz="2400" b="1" i="1">
              <a:solidFill>
                <a:schemeClr val="bg1"/>
              </a:solidFill>
              <a:latin typeface="+mn-lt"/>
            </a:endParaRPr>
          </a:p>
          <a:p>
            <a:pPr algn="ctr" eaLnBrk="1" hangingPunct="1">
              <a:lnSpc>
                <a:spcPct val="110000"/>
              </a:lnSpc>
              <a:defRPr/>
            </a:pPr>
            <a:r>
              <a:rPr lang="en-US" altLang="zh-CN" sz="2400" b="1" i="1">
                <a:solidFill>
                  <a:schemeClr val="bg1"/>
                </a:solidFill>
                <a:latin typeface="+mn-lt"/>
              </a:rPr>
              <a:t>mdv</a:t>
            </a:r>
            <a:r>
              <a:rPr lang="zh-CN" altLang="zh-CN" sz="2400" b="1">
                <a:solidFill>
                  <a:schemeClr val="bg1"/>
                </a:solidFill>
                <a:latin typeface="+mn-lt"/>
              </a:rPr>
              <a:t>＝－</a:t>
            </a:r>
            <a:r>
              <a:rPr lang="en-US" altLang="zh-CN" sz="2400" b="1" i="1">
                <a:solidFill>
                  <a:schemeClr val="bg1"/>
                </a:solidFill>
                <a:latin typeface="+mn-lt"/>
              </a:rPr>
              <a:t>udm</a:t>
            </a:r>
            <a:endParaRPr lang="zh-CN" altLang="zh-CN" sz="2400" b="1" i="1">
              <a:solidFill>
                <a:schemeClr val="bg1"/>
              </a:solidFill>
              <a:latin typeface="+mn-lt"/>
            </a:endParaRPr>
          </a:p>
        </p:txBody>
      </p:sp>
      <p:cxnSp>
        <p:nvCxnSpPr>
          <p:cNvPr id="3" name="直接连接符 2">
            <a:extLst>
              <a:ext uri="{FF2B5EF4-FFF2-40B4-BE49-F238E27FC236}">
                <a16:creationId xmlns:a16="http://schemas.microsoft.com/office/drawing/2014/main" id="{C5FC7751-BBF4-A72D-7888-FF91668EB30D}"/>
              </a:ext>
            </a:extLst>
          </p:cNvPr>
          <p:cNvCxnSpPr/>
          <p:nvPr/>
        </p:nvCxnSpPr>
        <p:spPr>
          <a:xfrm>
            <a:off x="2915816" y="1772816"/>
            <a:ext cx="288032" cy="36004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990A138-6EE3-9258-455B-F9CC9453BA7D}"/>
              </a:ext>
            </a:extLst>
          </p:cNvPr>
          <p:cNvCxnSpPr/>
          <p:nvPr/>
        </p:nvCxnSpPr>
        <p:spPr>
          <a:xfrm>
            <a:off x="5695657" y="1772816"/>
            <a:ext cx="288032" cy="36004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0FB1ED5F-CA16-7165-DE79-4E2412F6C89F}"/>
              </a:ext>
            </a:extLst>
          </p:cNvPr>
          <p:cNvCxnSpPr/>
          <p:nvPr/>
        </p:nvCxnSpPr>
        <p:spPr>
          <a:xfrm>
            <a:off x="3635896" y="1772816"/>
            <a:ext cx="72504" cy="360040"/>
          </a:xfrm>
          <a:prstGeom prst="line">
            <a:avLst/>
          </a:prstGeom>
          <a:ln w="12700"/>
        </p:spPr>
        <p:style>
          <a:lnRef idx="1">
            <a:schemeClr val="accent6"/>
          </a:lnRef>
          <a:fillRef idx="0">
            <a:schemeClr val="accent6"/>
          </a:fillRef>
          <a:effectRef idx="0">
            <a:schemeClr val="accent6"/>
          </a:effectRef>
          <a:fontRef idx="minor">
            <a:schemeClr val="tx1"/>
          </a:fontRef>
        </p:style>
      </p:cxnSp>
      <p:cxnSp>
        <p:nvCxnSpPr>
          <p:cNvPr id="7" name="直接连接符 6">
            <a:extLst>
              <a:ext uri="{FF2B5EF4-FFF2-40B4-BE49-F238E27FC236}">
                <a16:creationId xmlns:a16="http://schemas.microsoft.com/office/drawing/2014/main" id="{D87E14A2-3CA7-E6F6-4F9C-F76C99F55324}"/>
              </a:ext>
            </a:extLst>
          </p:cNvPr>
          <p:cNvCxnSpPr/>
          <p:nvPr/>
        </p:nvCxnSpPr>
        <p:spPr>
          <a:xfrm>
            <a:off x="4429919" y="1772816"/>
            <a:ext cx="72504" cy="360040"/>
          </a:xfrm>
          <a:prstGeom prst="line">
            <a:avLst/>
          </a:prstGeom>
          <a:ln w="12700"/>
        </p:spPr>
        <p:style>
          <a:lnRef idx="1">
            <a:schemeClr val="accent6"/>
          </a:lnRef>
          <a:fillRef idx="0">
            <a:schemeClr val="accent6"/>
          </a:fillRef>
          <a:effectRef idx="0">
            <a:schemeClr val="accent6"/>
          </a:effectRef>
          <a:fontRef idx="minor">
            <a:schemeClr val="tx1"/>
          </a:fontRef>
        </p:style>
      </p:cxn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79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79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379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7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8" grpId="0"/>
      <p:bldP spid="3379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1D2E62-83B7-33ED-B301-FF9DB11AAD39}"/>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58EEB53E-0130-5F4A-33C5-0D12AAFB399F}"/>
              </a:ext>
            </a:extLst>
          </p:cNvPr>
          <p:cNvSpPr>
            <a:spLocks noGrp="1"/>
          </p:cNvSpPr>
          <p:nvPr>
            <p:ph idx="1"/>
          </p:nvPr>
        </p:nvSpPr>
        <p:spPr/>
        <p:txBody>
          <a:bodyPr/>
          <a:lstStyle/>
          <a:p>
            <a:endParaRPr lang="zh-CN" altLang="en-US" dirty="0"/>
          </a:p>
        </p:txBody>
      </p:sp>
      <p:pic>
        <p:nvPicPr>
          <p:cNvPr id="7" name="图片 6">
            <a:extLst>
              <a:ext uri="{FF2B5EF4-FFF2-40B4-BE49-F238E27FC236}">
                <a16:creationId xmlns:a16="http://schemas.microsoft.com/office/drawing/2014/main" id="{C7AB78B9-2BD3-E9DD-FD64-C895106B7124}"/>
              </a:ext>
            </a:extLst>
          </p:cNvPr>
          <p:cNvPicPr>
            <a:picLocks noChangeAspect="1"/>
          </p:cNvPicPr>
          <p:nvPr/>
        </p:nvPicPr>
        <p:blipFill>
          <a:blip r:embed="rId2"/>
          <a:stretch>
            <a:fillRect/>
          </a:stretch>
        </p:blipFill>
        <p:spPr>
          <a:xfrm>
            <a:off x="876903" y="2782992"/>
            <a:ext cx="3594285" cy="4023333"/>
          </a:xfrm>
          <a:prstGeom prst="rect">
            <a:avLst/>
          </a:prstGeom>
        </p:spPr>
      </p:pic>
      <p:pic>
        <p:nvPicPr>
          <p:cNvPr id="9" name="图片 8">
            <a:extLst>
              <a:ext uri="{FF2B5EF4-FFF2-40B4-BE49-F238E27FC236}">
                <a16:creationId xmlns:a16="http://schemas.microsoft.com/office/drawing/2014/main" id="{15AF19BE-0558-71FB-FFAA-53A2D56EC901}"/>
              </a:ext>
            </a:extLst>
          </p:cNvPr>
          <p:cNvPicPr>
            <a:picLocks noChangeAspect="1"/>
          </p:cNvPicPr>
          <p:nvPr/>
        </p:nvPicPr>
        <p:blipFill>
          <a:blip r:embed="rId3"/>
          <a:stretch>
            <a:fillRect/>
          </a:stretch>
        </p:blipFill>
        <p:spPr>
          <a:xfrm>
            <a:off x="4655870" y="731837"/>
            <a:ext cx="3999048" cy="5893333"/>
          </a:xfrm>
          <a:prstGeom prst="rect">
            <a:avLst/>
          </a:prstGeom>
        </p:spPr>
      </p:pic>
      <p:sp>
        <p:nvSpPr>
          <p:cNvPr id="10" name="文本框 1">
            <a:extLst>
              <a:ext uri="{FF2B5EF4-FFF2-40B4-BE49-F238E27FC236}">
                <a16:creationId xmlns:a16="http://schemas.microsoft.com/office/drawing/2014/main" id="{E02E26A1-5C7D-C9EA-6128-04E513EF5D01}"/>
              </a:ext>
            </a:extLst>
          </p:cNvPr>
          <p:cNvSpPr txBox="1">
            <a:spLocks noChangeArrowheads="1"/>
          </p:cNvSpPr>
          <p:nvPr/>
        </p:nvSpPr>
        <p:spPr bwMode="auto">
          <a:xfrm>
            <a:off x="122238" y="155575"/>
            <a:ext cx="36695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FFC000"/>
                </a:solidFill>
              </a:rPr>
              <a:t>火箭问题 </a:t>
            </a:r>
            <a:r>
              <a:rPr lang="en-US" altLang="zh-CN" sz="2800" b="1" dirty="0">
                <a:solidFill>
                  <a:srgbClr val="FFC000"/>
                </a:solidFill>
              </a:rPr>
              <a:t>vs </a:t>
            </a:r>
            <a:r>
              <a:rPr lang="zh-CN" altLang="en-US" sz="2800" b="1" dirty="0">
                <a:solidFill>
                  <a:srgbClr val="FFC000"/>
                </a:solidFill>
              </a:rPr>
              <a:t>漏沙问题</a:t>
            </a:r>
          </a:p>
        </p:txBody>
      </p:sp>
      <p:pic>
        <p:nvPicPr>
          <p:cNvPr id="12" name="图片 11">
            <a:extLst>
              <a:ext uri="{FF2B5EF4-FFF2-40B4-BE49-F238E27FC236}">
                <a16:creationId xmlns:a16="http://schemas.microsoft.com/office/drawing/2014/main" id="{3F82ADFD-BBD8-E6B3-2918-CEFC36625D78}"/>
              </a:ext>
            </a:extLst>
          </p:cNvPr>
          <p:cNvPicPr>
            <a:picLocks noChangeAspect="1"/>
          </p:cNvPicPr>
          <p:nvPr/>
        </p:nvPicPr>
        <p:blipFill>
          <a:blip r:embed="rId4"/>
          <a:stretch>
            <a:fillRect/>
          </a:stretch>
        </p:blipFill>
        <p:spPr>
          <a:xfrm>
            <a:off x="876903" y="675282"/>
            <a:ext cx="2990476" cy="2180952"/>
          </a:xfrm>
          <a:prstGeom prst="rect">
            <a:avLst/>
          </a:prstGeom>
        </p:spPr>
      </p:pic>
    </p:spTree>
    <p:extLst>
      <p:ext uri="{BB962C8B-B14F-4D97-AF65-F5344CB8AC3E}">
        <p14:creationId xmlns:p14="http://schemas.microsoft.com/office/powerpoint/2010/main" val="2966969509"/>
      </p:ext>
    </p:extLst>
  </p:cSld>
  <p:clrMapOvr>
    <a:masterClrMapping/>
  </p:clrMapOvr>
  <p:transition spd="slow">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
            <a:extLst>
              <a:ext uri="{FF2B5EF4-FFF2-40B4-BE49-F238E27FC236}">
                <a16:creationId xmlns:a16="http://schemas.microsoft.com/office/drawing/2014/main" id="{ABEF7512-7B84-477C-90F5-8F0156E3F4BD}"/>
              </a:ext>
            </a:extLst>
          </p:cNvPr>
          <p:cNvSpPr>
            <a:spLocks noChangeArrowheads="1"/>
          </p:cNvSpPr>
          <p:nvPr/>
        </p:nvSpPr>
        <p:spPr bwMode="auto">
          <a:xfrm>
            <a:off x="2268538" y="260350"/>
            <a:ext cx="4508500" cy="584200"/>
          </a:xfrm>
          <a:prstGeom prst="rect">
            <a:avLst/>
          </a:prstGeom>
          <a:noFill/>
          <a:ln>
            <a:noFill/>
          </a:ln>
        </p:spPr>
        <p:txBody>
          <a:bodyPr wrap="none">
            <a:spAutoFit/>
          </a:bodyPr>
          <a:lstStyle/>
          <a:p>
            <a:pPr eaLnBrk="1" hangingPunct="1">
              <a:defRPr/>
            </a:pPr>
            <a:r>
              <a:rPr lang="en-US" altLang="zh-CN" sz="3200" b="1">
                <a:solidFill>
                  <a:srgbClr val="66FF33"/>
                </a:solidFill>
                <a:latin typeface="+mn-lt"/>
                <a:ea typeface="黑体" pitchFamily="49" charset="-122"/>
              </a:rPr>
              <a:t>4.4 </a:t>
            </a:r>
            <a:r>
              <a:rPr lang="zh-CN" altLang="zh-CN" sz="3200" b="1">
                <a:solidFill>
                  <a:srgbClr val="66FF33"/>
                </a:solidFill>
                <a:latin typeface="+mn-lt"/>
                <a:ea typeface="黑体" pitchFamily="49" charset="-122"/>
              </a:rPr>
              <a:t>质心与质心运动定理</a:t>
            </a:r>
          </a:p>
        </p:txBody>
      </p:sp>
      <p:pic>
        <p:nvPicPr>
          <p:cNvPr id="25603" name="Picture 2">
            <a:extLst>
              <a:ext uri="{FF2B5EF4-FFF2-40B4-BE49-F238E27FC236}">
                <a16:creationId xmlns:a16="http://schemas.microsoft.com/office/drawing/2014/main" id="{09FA7AEE-787B-2FB6-4AAE-BC5B15D55D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688" y="908050"/>
            <a:ext cx="2482850"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4" name="矩形 4">
            <a:extLst>
              <a:ext uri="{FF2B5EF4-FFF2-40B4-BE49-F238E27FC236}">
                <a16:creationId xmlns:a16="http://schemas.microsoft.com/office/drawing/2014/main" id="{611E3B09-AEAF-8DED-E0E6-E10A86FB2A1B}"/>
              </a:ext>
            </a:extLst>
          </p:cNvPr>
          <p:cNvSpPr>
            <a:spLocks noChangeArrowheads="1"/>
          </p:cNvSpPr>
          <p:nvPr/>
        </p:nvSpPr>
        <p:spPr bwMode="auto">
          <a:xfrm>
            <a:off x="155575" y="847725"/>
            <a:ext cx="63611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bg1"/>
                </a:solidFill>
              </a:rPr>
              <a:t>右图中，质点系内质点的运到情况各不相同，加速度也各不相同 。</a:t>
            </a:r>
          </a:p>
        </p:txBody>
      </p:sp>
      <p:sp>
        <p:nvSpPr>
          <p:cNvPr id="25605" name="矩形 5">
            <a:extLst>
              <a:ext uri="{FF2B5EF4-FFF2-40B4-BE49-F238E27FC236}">
                <a16:creationId xmlns:a16="http://schemas.microsoft.com/office/drawing/2014/main" id="{DB821E21-08B2-2178-DF08-47E67125F3FE}"/>
              </a:ext>
            </a:extLst>
          </p:cNvPr>
          <p:cNvSpPr>
            <a:spLocks noChangeArrowheads="1"/>
          </p:cNvSpPr>
          <p:nvPr/>
        </p:nvSpPr>
        <p:spPr bwMode="auto">
          <a:xfrm>
            <a:off x="112713" y="1631950"/>
            <a:ext cx="6361112"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bg1"/>
                </a:solidFill>
              </a:rPr>
              <a:t>质点系存在一个特殊点 ，尽管物体在上抛运动的同时还在旋转，物体（可以看成质点系）上各点的运动比较复杂，但物体上的某一点（中间的小孔处）的运动就简单得象一个质点的上抛一样，沿着抛物线的轨迹运动。于是我们可以定义该特殊点为</a:t>
            </a:r>
            <a:r>
              <a:rPr lang="zh-CN" altLang="en-US" sz="2400" b="1" dirty="0">
                <a:solidFill>
                  <a:srgbClr val="FFC000"/>
                </a:solidFill>
              </a:rPr>
              <a:t>质心</a:t>
            </a:r>
            <a:r>
              <a:rPr lang="zh-CN" altLang="en-US" sz="2400" b="1" dirty="0">
                <a:solidFill>
                  <a:schemeClr val="bg1"/>
                </a:solidFill>
              </a:rPr>
              <a:t>，并认为</a:t>
            </a:r>
            <a:r>
              <a:rPr lang="zh-CN" altLang="en-US" sz="2400" b="1" dirty="0">
                <a:solidFill>
                  <a:srgbClr val="FFC000"/>
                </a:solidFill>
              </a:rPr>
              <a:t>体系的总质量都集中在质心处</a:t>
            </a:r>
            <a:r>
              <a:rPr lang="zh-CN" altLang="en-US" sz="2400" b="1" dirty="0">
                <a:solidFill>
                  <a:schemeClr val="bg1"/>
                </a:solidFill>
              </a:rPr>
              <a:t>。</a:t>
            </a:r>
          </a:p>
        </p:txBody>
      </p:sp>
      <p:pic>
        <p:nvPicPr>
          <p:cNvPr id="25606" name="Picture 6">
            <a:extLst>
              <a:ext uri="{FF2B5EF4-FFF2-40B4-BE49-F238E27FC236}">
                <a16:creationId xmlns:a16="http://schemas.microsoft.com/office/drawing/2014/main" id="{AA5FBA2E-1E35-04BA-7E3C-259371A05A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4365625"/>
            <a:ext cx="8394700" cy="243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8">
            <a:extLst>
              <a:ext uri="{FF2B5EF4-FFF2-40B4-BE49-F238E27FC236}">
                <a16:creationId xmlns:a16="http://schemas.microsoft.com/office/drawing/2014/main" id="{2A252171-1B29-47A1-8819-B838399ECA4C}"/>
              </a:ext>
            </a:extLst>
          </p:cNvPr>
          <p:cNvSpPr txBox="1">
            <a:spLocks noChangeArrowheads="1"/>
          </p:cNvSpPr>
          <p:nvPr/>
        </p:nvSpPr>
        <p:spPr bwMode="auto">
          <a:xfrm>
            <a:off x="250825" y="188913"/>
            <a:ext cx="2119313" cy="461962"/>
          </a:xfrm>
          <a:prstGeom prst="rect">
            <a:avLst/>
          </a:prstGeom>
          <a:noFill/>
          <a:ln>
            <a:noFill/>
          </a:ln>
          <a:effectLst/>
        </p:spPr>
        <p:txBody>
          <a:bodyPr wrap="none">
            <a:spAutoFit/>
          </a:bodyPr>
          <a:lstStyle/>
          <a:p>
            <a:pPr eaLnBrk="1" hangingPunct="1">
              <a:defRPr/>
            </a:pPr>
            <a:r>
              <a:rPr lang="zh-CN" altLang="en-US" sz="2400" b="1">
                <a:solidFill>
                  <a:schemeClr val="bg1"/>
                </a:solidFill>
                <a:latin typeface="+mn-lt"/>
              </a:rPr>
              <a:t>质心的定义： </a:t>
            </a:r>
          </a:p>
        </p:txBody>
      </p:sp>
      <p:graphicFrame>
        <p:nvGraphicFramePr>
          <p:cNvPr id="14" name="Object 9">
            <a:extLst>
              <a:ext uri="{FF2B5EF4-FFF2-40B4-BE49-F238E27FC236}">
                <a16:creationId xmlns:a16="http://schemas.microsoft.com/office/drawing/2014/main" id="{D2A8E57E-8622-2CEE-133E-5353683AF329}"/>
              </a:ext>
            </a:extLst>
          </p:cNvPr>
          <p:cNvGraphicFramePr>
            <a:graphicFrameLocks noChangeAspect="1"/>
          </p:cNvGraphicFramePr>
          <p:nvPr/>
        </p:nvGraphicFramePr>
        <p:xfrm>
          <a:off x="755650" y="765175"/>
          <a:ext cx="4392613" cy="2281238"/>
        </p:xfrm>
        <a:graphic>
          <a:graphicData uri="http://schemas.openxmlformats.org/presentationml/2006/ole">
            <mc:AlternateContent xmlns:mc="http://schemas.openxmlformats.org/markup-compatibility/2006">
              <mc:Choice xmlns:v="urn:schemas-microsoft-com:vml" Requires="v">
                <p:oleObj name="Equation" r:id="rId2" imgW="2438400" imgH="1270000" progId="Equation.DSMT4">
                  <p:embed/>
                </p:oleObj>
              </mc:Choice>
              <mc:Fallback>
                <p:oleObj name="Equation" r:id="rId2" imgW="2438400" imgH="1270000" progId="Equation.DSMT4">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765175"/>
                        <a:ext cx="4392613" cy="228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11">
            <a:extLst>
              <a:ext uri="{FF2B5EF4-FFF2-40B4-BE49-F238E27FC236}">
                <a16:creationId xmlns:a16="http://schemas.microsoft.com/office/drawing/2014/main" id="{49BA7BFB-CC03-4FB9-9A3D-B2218ECFD009}"/>
              </a:ext>
            </a:extLst>
          </p:cNvPr>
          <p:cNvSpPr txBox="1">
            <a:spLocks noChangeArrowheads="1"/>
          </p:cNvSpPr>
          <p:nvPr/>
        </p:nvSpPr>
        <p:spPr bwMode="auto">
          <a:xfrm>
            <a:off x="539750" y="3068638"/>
            <a:ext cx="8380413" cy="461962"/>
          </a:xfrm>
          <a:prstGeom prst="rect">
            <a:avLst/>
          </a:prstGeom>
          <a:noFill/>
          <a:ln>
            <a:noFill/>
          </a:ln>
          <a:effectLst/>
        </p:spPr>
        <p:txBody>
          <a:bodyPr>
            <a:spAutoFit/>
          </a:bodyPr>
          <a:lstStyle/>
          <a:p>
            <a:pPr eaLnBrk="1" hangingPunct="1">
              <a:defRPr/>
            </a:pPr>
            <a:r>
              <a:rPr lang="zh-CN" altLang="en-US" sz="2400" b="1">
                <a:solidFill>
                  <a:schemeClr val="bg1"/>
                </a:solidFill>
                <a:latin typeface="+mn-lt"/>
              </a:rPr>
              <a:t>其中 </a:t>
            </a:r>
            <a:r>
              <a:rPr lang="en-US" altLang="zh-CN" sz="2400" b="1" i="1">
                <a:solidFill>
                  <a:schemeClr val="bg1"/>
                </a:solidFill>
                <a:latin typeface="+mn-lt"/>
              </a:rPr>
              <a:t>m</a:t>
            </a:r>
            <a:r>
              <a:rPr lang="en-US" altLang="zh-CN" sz="2400" b="1" baseline="-25000">
                <a:solidFill>
                  <a:schemeClr val="bg1"/>
                </a:solidFill>
                <a:latin typeface="+mn-lt"/>
              </a:rPr>
              <a:t>C</a:t>
            </a:r>
            <a:r>
              <a:rPr lang="en-US" altLang="zh-CN" sz="2400" b="1">
                <a:solidFill>
                  <a:schemeClr val="bg1"/>
                </a:solidFill>
                <a:latin typeface="+mn-lt"/>
              </a:rPr>
              <a:t>, r</a:t>
            </a:r>
            <a:r>
              <a:rPr lang="en-US" altLang="zh-CN" sz="2400" b="1" baseline="-25000">
                <a:solidFill>
                  <a:schemeClr val="bg1"/>
                </a:solidFill>
                <a:latin typeface="+mn-lt"/>
              </a:rPr>
              <a:t>C</a:t>
            </a:r>
            <a:r>
              <a:rPr lang="zh-CN" altLang="en-US" sz="2400" b="1">
                <a:solidFill>
                  <a:schemeClr val="bg1"/>
                </a:solidFill>
                <a:latin typeface="+mn-lt"/>
              </a:rPr>
              <a:t>分别称为</a:t>
            </a:r>
            <a:r>
              <a:rPr lang="zh-CN" altLang="en-US" sz="2400" b="1">
                <a:solidFill>
                  <a:srgbClr val="FFC000"/>
                </a:solidFill>
                <a:latin typeface="+mn-lt"/>
              </a:rPr>
              <a:t>质心的质量</a:t>
            </a:r>
            <a:r>
              <a:rPr lang="zh-CN" altLang="en-US" sz="2400" b="1">
                <a:solidFill>
                  <a:schemeClr val="bg1"/>
                </a:solidFill>
                <a:latin typeface="+mn-lt"/>
              </a:rPr>
              <a:t>和</a:t>
            </a:r>
            <a:r>
              <a:rPr lang="zh-CN" altLang="en-US" sz="2400" b="1">
                <a:solidFill>
                  <a:srgbClr val="FFC000"/>
                </a:solidFill>
                <a:latin typeface="+mn-lt"/>
              </a:rPr>
              <a:t>质心的坐标</a:t>
            </a:r>
            <a:r>
              <a:rPr lang="zh-CN" altLang="en-US" sz="2400" b="1">
                <a:solidFill>
                  <a:schemeClr val="bg1"/>
                </a:solidFill>
                <a:latin typeface="+mn-lt"/>
              </a:rPr>
              <a:t>。</a:t>
            </a:r>
            <a:endParaRPr lang="en-US" altLang="zh-CN" sz="2400" b="1">
              <a:solidFill>
                <a:schemeClr val="bg1"/>
              </a:solidFill>
              <a:latin typeface="+mn-lt"/>
            </a:endParaRPr>
          </a:p>
        </p:txBody>
      </p:sp>
      <p:graphicFrame>
        <p:nvGraphicFramePr>
          <p:cNvPr id="16" name="Object 12">
            <a:extLst>
              <a:ext uri="{FF2B5EF4-FFF2-40B4-BE49-F238E27FC236}">
                <a16:creationId xmlns:a16="http://schemas.microsoft.com/office/drawing/2014/main" id="{82A1E9F4-99F7-41F9-611B-18E480BE6325}"/>
              </a:ext>
            </a:extLst>
          </p:cNvPr>
          <p:cNvGraphicFramePr>
            <a:graphicFrameLocks noChangeAspect="1"/>
          </p:cNvGraphicFramePr>
          <p:nvPr/>
        </p:nvGraphicFramePr>
        <p:xfrm>
          <a:off x="3028950" y="4059238"/>
          <a:ext cx="3148013" cy="781050"/>
        </p:xfrm>
        <a:graphic>
          <a:graphicData uri="http://schemas.openxmlformats.org/presentationml/2006/ole">
            <mc:AlternateContent xmlns:mc="http://schemas.openxmlformats.org/markup-compatibility/2006">
              <mc:Choice xmlns:v="urn:schemas-microsoft-com:vml" Requires="v">
                <p:oleObj name="Equation" r:id="rId4" imgW="1676400" imgH="419100" progId="Equation.DSMT4">
                  <p:embed/>
                </p:oleObj>
              </mc:Choice>
              <mc:Fallback>
                <p:oleObj name="Equation" r:id="rId4" imgW="1676400" imgH="419100"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8950" y="4059238"/>
                        <a:ext cx="314801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4">
            <a:extLst>
              <a:ext uri="{FF2B5EF4-FFF2-40B4-BE49-F238E27FC236}">
                <a16:creationId xmlns:a16="http://schemas.microsoft.com/office/drawing/2014/main" id="{FBC9B116-C071-1298-C6E6-369FB13D2025}"/>
              </a:ext>
            </a:extLst>
          </p:cNvPr>
          <p:cNvGraphicFramePr>
            <a:graphicFrameLocks noChangeAspect="1"/>
          </p:cNvGraphicFramePr>
          <p:nvPr/>
        </p:nvGraphicFramePr>
        <p:xfrm>
          <a:off x="3059113" y="4941888"/>
          <a:ext cx="2963862" cy="681037"/>
        </p:xfrm>
        <a:graphic>
          <a:graphicData uri="http://schemas.openxmlformats.org/presentationml/2006/ole">
            <mc:AlternateContent xmlns:mc="http://schemas.openxmlformats.org/markup-compatibility/2006">
              <mc:Choice xmlns:v="urn:schemas-microsoft-com:vml" Requires="v">
                <p:oleObj name="Equation" r:id="rId6" imgW="1536033" imgH="355446" progId="Equation.DSMT4">
                  <p:embed/>
                </p:oleObj>
              </mc:Choice>
              <mc:Fallback>
                <p:oleObj name="Equation" r:id="rId6" imgW="1536033" imgH="355446"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9113" y="4941888"/>
                        <a:ext cx="2963862"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 Box 16">
            <a:extLst>
              <a:ext uri="{FF2B5EF4-FFF2-40B4-BE49-F238E27FC236}">
                <a16:creationId xmlns:a16="http://schemas.microsoft.com/office/drawing/2014/main" id="{13F3EB3F-ABA7-46E1-B703-B82AD171D6CA}"/>
              </a:ext>
            </a:extLst>
          </p:cNvPr>
          <p:cNvSpPr txBox="1">
            <a:spLocks noChangeArrowheads="1"/>
          </p:cNvSpPr>
          <p:nvPr/>
        </p:nvSpPr>
        <p:spPr bwMode="auto">
          <a:xfrm>
            <a:off x="574675" y="5661025"/>
            <a:ext cx="8056563" cy="831850"/>
          </a:xfrm>
          <a:prstGeom prst="rect">
            <a:avLst/>
          </a:prstGeom>
          <a:noFill/>
          <a:ln>
            <a:noFill/>
          </a:ln>
          <a:effectLst/>
        </p:spPr>
        <p:txBody>
          <a:bodyPr>
            <a:spAutoFit/>
          </a:bodyPr>
          <a:lstStyle/>
          <a:p>
            <a:pPr eaLnBrk="1" hangingPunct="1">
              <a:defRPr/>
            </a:pPr>
            <a:r>
              <a:rPr lang="zh-CN" altLang="en-US" sz="2400" b="1">
                <a:solidFill>
                  <a:schemeClr val="bg1"/>
                </a:solidFill>
                <a:latin typeface="+mn-lt"/>
              </a:rPr>
              <a:t>上式分别称为</a:t>
            </a:r>
            <a:r>
              <a:rPr lang="zh-CN" altLang="en-US" sz="2400" b="1">
                <a:solidFill>
                  <a:srgbClr val="FFC000"/>
                </a:solidFill>
                <a:latin typeface="+mn-lt"/>
              </a:rPr>
              <a:t>质心运动定理</a:t>
            </a:r>
            <a:r>
              <a:rPr lang="zh-CN" altLang="en-US" sz="2400" b="1">
                <a:solidFill>
                  <a:schemeClr val="bg1"/>
                </a:solidFill>
                <a:latin typeface="+mn-lt"/>
              </a:rPr>
              <a:t>和</a:t>
            </a:r>
            <a:r>
              <a:rPr lang="zh-CN" altLang="en-US" sz="2400" b="1">
                <a:solidFill>
                  <a:srgbClr val="FFC000"/>
                </a:solidFill>
                <a:latin typeface="+mn-lt"/>
              </a:rPr>
              <a:t>质心动量定理</a:t>
            </a:r>
            <a:r>
              <a:rPr lang="zh-CN" altLang="en-US" sz="2400" b="1">
                <a:solidFill>
                  <a:schemeClr val="bg1"/>
                </a:solidFill>
                <a:latin typeface="+mn-lt"/>
              </a:rPr>
              <a:t>，其中</a:t>
            </a:r>
            <a:r>
              <a:rPr lang="en-US" altLang="zh-CN" sz="2400" b="1" i="1">
                <a:solidFill>
                  <a:schemeClr val="bg1"/>
                </a:solidFill>
                <a:latin typeface="+mn-lt"/>
              </a:rPr>
              <a:t>v</a:t>
            </a:r>
            <a:r>
              <a:rPr lang="en-US" altLang="zh-CN" sz="2400" b="1" baseline="-25000">
                <a:solidFill>
                  <a:schemeClr val="bg1"/>
                </a:solidFill>
                <a:latin typeface="+mn-lt"/>
              </a:rPr>
              <a:t>C</a:t>
            </a:r>
            <a:r>
              <a:rPr lang="en-US" altLang="zh-CN" sz="2400" b="1">
                <a:solidFill>
                  <a:schemeClr val="bg1"/>
                </a:solidFill>
                <a:latin typeface="+mn-lt"/>
              </a:rPr>
              <a:t>, </a:t>
            </a:r>
            <a:r>
              <a:rPr lang="en-US" altLang="zh-CN" sz="2400" b="1" i="1">
                <a:solidFill>
                  <a:schemeClr val="bg1"/>
                </a:solidFill>
                <a:latin typeface="+mn-lt"/>
              </a:rPr>
              <a:t>a</a:t>
            </a:r>
            <a:r>
              <a:rPr lang="en-US" altLang="zh-CN" sz="2400" b="1" baseline="-25000">
                <a:solidFill>
                  <a:schemeClr val="bg1"/>
                </a:solidFill>
                <a:latin typeface="+mn-lt"/>
              </a:rPr>
              <a:t>C</a:t>
            </a:r>
            <a:r>
              <a:rPr lang="zh-CN" altLang="en-US" sz="2400" b="1">
                <a:solidFill>
                  <a:schemeClr val="bg1"/>
                </a:solidFill>
                <a:latin typeface="+mn-lt"/>
              </a:rPr>
              <a:t>分别称为</a:t>
            </a:r>
            <a:r>
              <a:rPr lang="zh-CN" altLang="en-US" sz="2400" b="1">
                <a:solidFill>
                  <a:srgbClr val="FFC000"/>
                </a:solidFill>
                <a:latin typeface="+mn-lt"/>
              </a:rPr>
              <a:t>质心的速度</a:t>
            </a:r>
            <a:r>
              <a:rPr lang="zh-CN" altLang="en-US" sz="2400" b="1">
                <a:solidFill>
                  <a:schemeClr val="bg1"/>
                </a:solidFill>
                <a:latin typeface="+mn-lt"/>
              </a:rPr>
              <a:t>和</a:t>
            </a:r>
            <a:r>
              <a:rPr lang="zh-CN" altLang="en-US" sz="2400" b="1">
                <a:solidFill>
                  <a:srgbClr val="FFC000"/>
                </a:solidFill>
                <a:latin typeface="+mn-lt"/>
              </a:rPr>
              <a:t>质心的加速度</a:t>
            </a:r>
            <a:r>
              <a:rPr lang="zh-CN" altLang="en-US" sz="2400" b="1">
                <a:solidFill>
                  <a:schemeClr val="bg1"/>
                </a:solidFill>
                <a:latin typeface="+mn-lt"/>
              </a:rPr>
              <a:t>。 </a:t>
            </a:r>
          </a:p>
        </p:txBody>
      </p:sp>
      <p:graphicFrame>
        <p:nvGraphicFramePr>
          <p:cNvPr id="5" name="对象 4">
            <a:extLst>
              <a:ext uri="{FF2B5EF4-FFF2-40B4-BE49-F238E27FC236}">
                <a16:creationId xmlns:a16="http://schemas.microsoft.com/office/drawing/2014/main" id="{BF83FFED-6BEC-6999-FA9A-4B1356325CC8}"/>
              </a:ext>
            </a:extLst>
          </p:cNvPr>
          <p:cNvGraphicFramePr>
            <a:graphicFrameLocks noChangeAspect="1"/>
          </p:cNvGraphicFramePr>
          <p:nvPr/>
        </p:nvGraphicFramePr>
        <p:xfrm>
          <a:off x="5716588" y="836613"/>
          <a:ext cx="2914650" cy="2078037"/>
        </p:xfrm>
        <a:graphic>
          <a:graphicData uri="http://schemas.openxmlformats.org/presentationml/2006/ole">
            <mc:AlternateContent xmlns:mc="http://schemas.openxmlformats.org/markup-compatibility/2006">
              <mc:Choice xmlns:v="urn:schemas-microsoft-com:vml" Requires="v">
                <p:oleObj name="Equation" r:id="rId8" imgW="1562100" imgH="1117600" progId="Equation.DSMT4">
                  <p:embed/>
                </p:oleObj>
              </mc:Choice>
              <mc:Fallback>
                <p:oleObj name="Equation" r:id="rId8" imgW="1562100" imgH="1117600" progId="Equation.DSMT4">
                  <p:embed/>
                  <p:pic>
                    <p:nvPicPr>
                      <p:cNvPr id="0"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6588" y="836613"/>
                        <a:ext cx="2914650" cy="207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a:extLst>
              <a:ext uri="{FF2B5EF4-FFF2-40B4-BE49-F238E27FC236}">
                <a16:creationId xmlns:a16="http://schemas.microsoft.com/office/drawing/2014/main" id="{40F794F3-2170-BAFD-019A-0750F7509844}"/>
              </a:ext>
            </a:extLst>
          </p:cNvPr>
          <p:cNvSpPr>
            <a:spLocks noChangeArrowheads="1"/>
          </p:cNvSpPr>
          <p:nvPr/>
        </p:nvSpPr>
        <p:spPr bwMode="auto">
          <a:xfrm>
            <a:off x="574675" y="3570288"/>
            <a:ext cx="3673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于是动量定理可以写成： </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0-#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2" presetClass="entr" presetSubtype="8"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0-#ppt_w/2"/>
                                          </p:val>
                                        </p:tav>
                                        <p:tav tm="100000">
                                          <p:val>
                                            <p:strVal val="#ppt_x"/>
                                          </p:val>
                                        </p:tav>
                                      </p:tavLst>
                                    </p:anim>
                                    <p:anim calcmode="lin" valueType="num">
                                      <p:cBhvr additive="base">
                                        <p:cTn id="3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0-#ppt_w/2"/>
                                          </p:val>
                                        </p:tav>
                                        <p:tav tm="100000">
                                          <p:val>
                                            <p:strVal val="#ppt_x"/>
                                          </p:val>
                                        </p:tav>
                                      </p:tavLst>
                                    </p:anim>
                                    <p:anim calcmode="lin" valueType="num">
                                      <p:cBhvr additive="base">
                                        <p:cTn id="4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0-#ppt_w/2"/>
                                          </p:val>
                                        </p:tav>
                                        <p:tav tm="100000">
                                          <p:val>
                                            <p:strVal val="#ppt_x"/>
                                          </p:val>
                                        </p:tav>
                                      </p:tavLst>
                                    </p:anim>
                                    <p:anim calcmode="lin" valueType="num">
                                      <p:cBhvr additive="base">
                                        <p:cTn id="46"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5" grpId="0" autoUpdateAnimBg="0"/>
      <p:bldP spid="18" grpId="0" autoUpdateAnimBg="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矩形 3">
            <a:extLst>
              <a:ext uri="{FF2B5EF4-FFF2-40B4-BE49-F238E27FC236}">
                <a16:creationId xmlns:a16="http://schemas.microsoft.com/office/drawing/2014/main" id="{5164FB93-EF91-11D9-A28B-E2D047CCF1AE}"/>
              </a:ext>
            </a:extLst>
          </p:cNvPr>
          <p:cNvSpPr>
            <a:spLocks noChangeArrowheads="1"/>
          </p:cNvSpPr>
          <p:nvPr/>
        </p:nvSpPr>
        <p:spPr bwMode="auto">
          <a:xfrm>
            <a:off x="250825" y="836613"/>
            <a:ext cx="8569325" cy="566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1200"/>
              </a:spcAft>
              <a:buFont typeface="Arial" panose="020B0604020202020204" pitchFamily="34" charset="0"/>
              <a:buChar char="•"/>
            </a:pPr>
            <a:r>
              <a:rPr lang="zh-CN" altLang="en-US" sz="2400" b="1" dirty="0">
                <a:solidFill>
                  <a:schemeClr val="bg1"/>
                </a:solidFill>
                <a:latin typeface="黑体" panose="02010609060101010101" pitchFamily="49" charset="-122"/>
                <a:ea typeface="黑体" panose="02010609060101010101" pitchFamily="49" charset="-122"/>
              </a:rPr>
              <a:t>质心运动定理实际上是矢量方程。</a:t>
            </a:r>
            <a:endParaRPr lang="en-US" altLang="zh-CN" sz="2400" b="1" dirty="0">
              <a:solidFill>
                <a:schemeClr val="bg1"/>
              </a:solidFill>
              <a:latin typeface="黑体" panose="02010609060101010101" pitchFamily="49" charset="-122"/>
              <a:ea typeface="黑体" panose="02010609060101010101" pitchFamily="49" charset="-122"/>
            </a:endParaRPr>
          </a:p>
          <a:p>
            <a:pPr eaLnBrk="1" hangingPunct="1">
              <a:spcAft>
                <a:spcPts val="1200"/>
              </a:spcAft>
              <a:buFont typeface="Arial" panose="020B0604020202020204" pitchFamily="34" charset="0"/>
              <a:buChar char="•"/>
            </a:pPr>
            <a:r>
              <a:rPr lang="zh-CN" altLang="en-US" sz="2400" b="1" dirty="0">
                <a:solidFill>
                  <a:schemeClr val="bg1"/>
                </a:solidFill>
                <a:latin typeface="黑体" panose="02010609060101010101" pitchFamily="49" charset="-122"/>
                <a:ea typeface="黑体" panose="02010609060101010101" pitchFamily="49" charset="-122"/>
              </a:rPr>
              <a:t>质心的位矢并不是各质点位矢的算术平均值，而是它们的</a:t>
            </a:r>
            <a:r>
              <a:rPr lang="zh-CN" altLang="en-US" sz="2400" b="1" dirty="0">
                <a:solidFill>
                  <a:srgbClr val="FF0000"/>
                </a:solidFill>
                <a:latin typeface="黑体" panose="02010609060101010101" pitchFamily="49" charset="-122"/>
                <a:ea typeface="黑体" panose="02010609060101010101" pitchFamily="49" charset="-122"/>
              </a:rPr>
              <a:t>带权平均值</a:t>
            </a:r>
            <a:r>
              <a:rPr lang="zh-CN" altLang="en-US" sz="2400" b="1" dirty="0">
                <a:solidFill>
                  <a:schemeClr val="bg1"/>
                </a:solidFill>
                <a:latin typeface="黑体" panose="02010609060101010101" pitchFamily="49" charset="-122"/>
                <a:ea typeface="黑体" panose="02010609060101010101" pitchFamily="49" charset="-122"/>
              </a:rPr>
              <a:t>。</a:t>
            </a:r>
            <a:endParaRPr lang="en-US" altLang="zh-CN" sz="2400" b="1" dirty="0">
              <a:solidFill>
                <a:schemeClr val="bg1"/>
              </a:solidFill>
              <a:latin typeface="黑体" panose="02010609060101010101" pitchFamily="49" charset="-122"/>
              <a:ea typeface="黑体" panose="02010609060101010101" pitchFamily="49" charset="-122"/>
            </a:endParaRPr>
          </a:p>
          <a:p>
            <a:pPr eaLnBrk="1" hangingPunct="1">
              <a:spcAft>
                <a:spcPts val="1200"/>
              </a:spcAft>
              <a:buFont typeface="Arial" panose="020B0604020202020204" pitchFamily="34" charset="0"/>
              <a:buChar char="•"/>
            </a:pPr>
            <a:r>
              <a:rPr lang="zh-CN" altLang="en-US" sz="2400" b="1" dirty="0">
                <a:solidFill>
                  <a:schemeClr val="bg1"/>
                </a:solidFill>
                <a:latin typeface="黑体" panose="02010609060101010101" pitchFamily="49" charset="-122"/>
                <a:ea typeface="黑体" panose="02010609060101010101" pitchFamily="49" charset="-122"/>
              </a:rPr>
              <a:t>体系质心的坐标（或位矢）与坐标原点的选取有关，但质心与体系各质点的相对位置则与坐标原点的选取无关。 </a:t>
            </a:r>
            <a:endParaRPr lang="zh-CN" altLang="zh-CN" sz="2400" b="1" dirty="0">
              <a:solidFill>
                <a:schemeClr val="bg1"/>
              </a:solidFill>
              <a:latin typeface="黑体" panose="02010609060101010101" pitchFamily="49" charset="-122"/>
              <a:ea typeface="黑体" panose="02010609060101010101" pitchFamily="49" charset="-122"/>
            </a:endParaRPr>
          </a:p>
          <a:p>
            <a:pPr eaLnBrk="1" hangingPunct="1">
              <a:spcAft>
                <a:spcPts val="1200"/>
              </a:spcAft>
              <a:buFont typeface="Arial" panose="020B0604020202020204" pitchFamily="34" charset="0"/>
              <a:buChar char="•"/>
            </a:pPr>
            <a:r>
              <a:rPr lang="zh-CN" altLang="zh-CN" sz="2400" b="1" dirty="0">
                <a:solidFill>
                  <a:schemeClr val="bg1"/>
                </a:solidFill>
                <a:latin typeface="黑体" panose="02010609060101010101" pitchFamily="49" charset="-122"/>
                <a:ea typeface="黑体" panose="02010609060101010101" pitchFamily="49" charset="-122"/>
              </a:rPr>
              <a:t>质心的运动规律相当于将系统中所有质点的</a:t>
            </a:r>
            <a:r>
              <a:rPr lang="zh-CN" altLang="zh-CN" sz="2400" b="1" dirty="0">
                <a:solidFill>
                  <a:srgbClr val="FF0000"/>
                </a:solidFill>
                <a:latin typeface="黑体" panose="02010609060101010101" pitchFamily="49" charset="-122"/>
                <a:ea typeface="黑体" panose="02010609060101010101" pitchFamily="49" charset="-122"/>
              </a:rPr>
              <a:t>质量都集中在质心</a:t>
            </a:r>
            <a:r>
              <a:rPr lang="zh-CN" altLang="zh-CN" sz="2400" b="1" dirty="0">
                <a:solidFill>
                  <a:schemeClr val="bg1"/>
                </a:solidFill>
                <a:latin typeface="黑体" panose="02010609060101010101" pitchFamily="49" charset="-122"/>
                <a:ea typeface="黑体" panose="02010609060101010101" pitchFamily="49" charset="-122"/>
              </a:rPr>
              <a:t>，所有的外力（无论作用在哪个质点上）也都</a:t>
            </a:r>
            <a:r>
              <a:rPr lang="zh-CN" altLang="en-US" sz="2400" b="1" dirty="0">
                <a:solidFill>
                  <a:schemeClr val="bg1"/>
                </a:solidFill>
                <a:latin typeface="黑体" panose="02010609060101010101" pitchFamily="49" charset="-122"/>
                <a:ea typeface="黑体" panose="02010609060101010101" pitchFamily="49" charset="-122"/>
              </a:rPr>
              <a:t>等效于</a:t>
            </a:r>
            <a:r>
              <a:rPr lang="zh-CN" altLang="zh-CN" sz="2400" b="1" dirty="0">
                <a:solidFill>
                  <a:schemeClr val="bg1"/>
                </a:solidFill>
                <a:latin typeface="黑体" panose="02010609060101010101" pitchFamily="49" charset="-122"/>
                <a:ea typeface="黑体" panose="02010609060101010101" pitchFamily="49" charset="-122"/>
              </a:rPr>
              <a:t>集中在</a:t>
            </a:r>
            <a:r>
              <a:rPr lang="zh-CN" altLang="zh-CN" sz="2400" b="1" dirty="0">
                <a:solidFill>
                  <a:srgbClr val="FF0000"/>
                </a:solidFill>
                <a:latin typeface="黑体" panose="02010609060101010101" pitchFamily="49" charset="-122"/>
                <a:ea typeface="黑体" panose="02010609060101010101" pitchFamily="49" charset="-122"/>
              </a:rPr>
              <a:t>质心上的</a:t>
            </a:r>
            <a:r>
              <a:rPr lang="zh-CN" altLang="en-US" sz="2400" b="1" dirty="0">
                <a:solidFill>
                  <a:srgbClr val="FF0000"/>
                </a:solidFill>
                <a:latin typeface="黑体" panose="02010609060101010101" pitchFamily="49" charset="-122"/>
                <a:ea typeface="黑体" panose="02010609060101010101" pitchFamily="49" charset="-122"/>
              </a:rPr>
              <a:t>质点的</a:t>
            </a:r>
            <a:r>
              <a:rPr lang="zh-CN" altLang="zh-CN" sz="2400" b="1" dirty="0">
                <a:solidFill>
                  <a:srgbClr val="FF0000"/>
                </a:solidFill>
                <a:latin typeface="黑体" panose="02010609060101010101" pitchFamily="49" charset="-122"/>
                <a:ea typeface="黑体" panose="02010609060101010101" pitchFamily="49" charset="-122"/>
              </a:rPr>
              <a:t>运动规律</a:t>
            </a:r>
            <a:r>
              <a:rPr lang="zh-CN" altLang="zh-CN" sz="2400" b="1" dirty="0">
                <a:solidFill>
                  <a:schemeClr val="bg1"/>
                </a:solidFill>
                <a:latin typeface="黑体" panose="02010609060101010101" pitchFamily="49" charset="-122"/>
                <a:ea typeface="黑体" panose="02010609060101010101" pitchFamily="49" charset="-122"/>
              </a:rPr>
              <a:t>。一个系统中，只有质心具有这个特性，其它点没有这个特性。这正是质心的特殊之处。</a:t>
            </a:r>
          </a:p>
          <a:p>
            <a:pPr eaLnBrk="1" hangingPunct="1">
              <a:spcAft>
                <a:spcPts val="1200"/>
              </a:spcAft>
              <a:buFont typeface="Arial" panose="020B0604020202020204" pitchFamily="34" charset="0"/>
              <a:buChar char="•"/>
            </a:pPr>
            <a:r>
              <a:rPr lang="zh-CN" altLang="zh-CN" sz="2400" b="1" dirty="0">
                <a:solidFill>
                  <a:srgbClr val="FF0000"/>
                </a:solidFill>
                <a:latin typeface="黑体" panose="02010609060101010101" pitchFamily="49" charset="-122"/>
                <a:ea typeface="黑体" panose="02010609060101010101" pitchFamily="49" charset="-122"/>
              </a:rPr>
              <a:t>内力</a:t>
            </a:r>
            <a:r>
              <a:rPr lang="zh-CN" altLang="zh-CN" sz="2400" b="1" dirty="0">
                <a:solidFill>
                  <a:schemeClr val="bg1"/>
                </a:solidFill>
                <a:latin typeface="黑体" panose="02010609060101010101" pitchFamily="49" charset="-122"/>
                <a:ea typeface="黑体" panose="02010609060101010101" pitchFamily="49" charset="-122"/>
              </a:rPr>
              <a:t>对质心的运动状态不产生任何影响</a:t>
            </a:r>
            <a:r>
              <a:rPr lang="zh-CN" altLang="en-US" sz="2400" b="1" dirty="0">
                <a:solidFill>
                  <a:schemeClr val="bg1"/>
                </a:solidFill>
                <a:latin typeface="黑体" panose="02010609060101010101" pitchFamily="49" charset="-122"/>
                <a:ea typeface="黑体" panose="02010609060101010101" pitchFamily="49" charset="-122"/>
              </a:rPr>
              <a:t>，内力不产生</a:t>
            </a:r>
            <a:r>
              <a:rPr lang="zh-CN" altLang="en-US" sz="2400" b="1" dirty="0">
                <a:solidFill>
                  <a:srgbClr val="FF0000"/>
                </a:solidFill>
                <a:latin typeface="黑体" panose="02010609060101010101" pitchFamily="49" charset="-122"/>
                <a:ea typeface="黑体" panose="02010609060101010101" pitchFamily="49" charset="-122"/>
              </a:rPr>
              <a:t>质心加速度</a:t>
            </a:r>
            <a:r>
              <a:rPr lang="zh-CN" altLang="en-US" sz="2400" b="1" dirty="0">
                <a:solidFill>
                  <a:schemeClr val="bg1"/>
                </a:solidFill>
                <a:latin typeface="黑体" panose="02010609060101010101" pitchFamily="49" charset="-122"/>
                <a:ea typeface="黑体" panose="02010609060101010101" pitchFamily="49" charset="-122"/>
              </a:rPr>
              <a:t>。若体系动量守恒，则其质心运动状态不变。</a:t>
            </a:r>
            <a:endParaRPr lang="en-US" altLang="zh-CN" sz="2400" b="1" dirty="0">
              <a:solidFill>
                <a:schemeClr val="bg1"/>
              </a:solidFill>
              <a:latin typeface="黑体" panose="02010609060101010101" pitchFamily="49" charset="-122"/>
              <a:ea typeface="黑体" panose="02010609060101010101" pitchFamily="49" charset="-122"/>
            </a:endParaRPr>
          </a:p>
          <a:p>
            <a:pPr eaLnBrk="1" hangingPunct="1">
              <a:spcAft>
                <a:spcPts val="1200"/>
              </a:spcAft>
              <a:buFont typeface="Arial" panose="020B0604020202020204" pitchFamily="34" charset="0"/>
              <a:buChar char="•"/>
            </a:pPr>
            <a:r>
              <a:rPr lang="zh-CN" altLang="en-US" sz="2400" b="1" dirty="0">
                <a:solidFill>
                  <a:schemeClr val="bg1"/>
                </a:solidFill>
                <a:latin typeface="黑体" panose="02010609060101010101" pitchFamily="49" charset="-122"/>
                <a:ea typeface="黑体" panose="02010609060101010101" pitchFamily="49" charset="-122"/>
              </a:rPr>
              <a:t>两个物体发生碰撞，它们的质心位置不变。</a:t>
            </a:r>
            <a:endParaRPr lang="en-US" altLang="zh-CN" sz="2400" b="1" dirty="0">
              <a:solidFill>
                <a:schemeClr val="bg1"/>
              </a:solidFill>
              <a:latin typeface="黑体" panose="02010609060101010101" pitchFamily="49" charset="-122"/>
              <a:ea typeface="黑体" panose="02010609060101010101" pitchFamily="49" charset="-122"/>
            </a:endParaRPr>
          </a:p>
        </p:txBody>
      </p:sp>
      <p:sp>
        <p:nvSpPr>
          <p:cNvPr id="4" name="Rectangle 5">
            <a:extLst>
              <a:ext uri="{FF2B5EF4-FFF2-40B4-BE49-F238E27FC236}">
                <a16:creationId xmlns:a16="http://schemas.microsoft.com/office/drawing/2014/main" id="{91751C2C-70ED-4F0A-8BDA-C1B5FF14DCF1}"/>
              </a:ext>
            </a:extLst>
          </p:cNvPr>
          <p:cNvSpPr>
            <a:spLocks noGrp="1" noChangeArrowheads="1"/>
          </p:cNvSpPr>
          <p:nvPr>
            <p:ph type="title"/>
          </p:nvPr>
        </p:nvSpPr>
        <p:spPr>
          <a:xfrm>
            <a:off x="107950" y="188913"/>
            <a:ext cx="4679950" cy="609600"/>
          </a:xfrm>
        </p:spPr>
        <p:txBody>
          <a:bodyPr/>
          <a:lstStyle/>
          <a:p>
            <a:pPr>
              <a:defRPr/>
            </a:pPr>
            <a:r>
              <a:rPr lang="zh-CN" altLang="en-US" sz="2800" b="1" dirty="0">
                <a:solidFill>
                  <a:srgbClr val="FFC000"/>
                </a:solidFill>
              </a:rPr>
              <a:t>关于质心运动定理的说明： </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F01D501-6CCD-453F-B69B-7C6D0847F6EC}"/>
              </a:ext>
            </a:extLst>
          </p:cNvPr>
          <p:cNvSpPr>
            <a:spLocks noChangeArrowheads="1"/>
          </p:cNvSpPr>
          <p:nvPr/>
        </p:nvSpPr>
        <p:spPr bwMode="auto">
          <a:xfrm>
            <a:off x="611188" y="5124450"/>
            <a:ext cx="7643812" cy="1200150"/>
          </a:xfrm>
          <a:prstGeom prst="rect">
            <a:avLst/>
          </a:prstGeom>
          <a:noFill/>
          <a:ln>
            <a:noFill/>
          </a:ln>
        </p:spPr>
        <p:txBody>
          <a:bodyPr>
            <a:spAutoFit/>
          </a:bodyPr>
          <a:lstStyle/>
          <a:p>
            <a:pPr marL="342900" indent="-342900" eaLnBrk="1" hangingPunct="1">
              <a:buFont typeface="Arial" charset="0"/>
              <a:buChar char="•"/>
              <a:defRPr/>
            </a:pPr>
            <a:r>
              <a:rPr lang="zh-CN" altLang="zh-CN" sz="2400" b="1">
                <a:solidFill>
                  <a:schemeClr val="bg1"/>
                </a:solidFill>
                <a:latin typeface="+mn-lt"/>
              </a:rPr>
              <a:t>由此可直观地看到，质心靠近质量大的质点一侧。</a:t>
            </a:r>
          </a:p>
          <a:p>
            <a:pPr marL="342900" indent="-342900" eaLnBrk="1" hangingPunct="1">
              <a:buFont typeface="Arial" charset="0"/>
              <a:buChar char="•"/>
              <a:defRPr/>
            </a:pPr>
            <a:r>
              <a:rPr lang="zh-CN" altLang="zh-CN" sz="2400" b="1">
                <a:solidFill>
                  <a:schemeClr val="bg1"/>
                </a:solidFill>
                <a:latin typeface="+mn-lt"/>
              </a:rPr>
              <a:t>质心不限于质点组，连续的物体可看成是有无限多的质点组成，这时求和变成了积分。</a:t>
            </a:r>
          </a:p>
        </p:txBody>
      </p:sp>
      <p:pic>
        <p:nvPicPr>
          <p:cNvPr id="28675" name="Picture 7">
            <a:extLst>
              <a:ext uri="{FF2B5EF4-FFF2-40B4-BE49-F238E27FC236}">
                <a16:creationId xmlns:a16="http://schemas.microsoft.com/office/drawing/2014/main" id="{5996495C-F571-2207-F695-7016AAB8B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57150"/>
            <a:ext cx="2674937"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a:extLst>
              <a:ext uri="{FF2B5EF4-FFF2-40B4-BE49-F238E27FC236}">
                <a16:creationId xmlns:a16="http://schemas.microsoft.com/office/drawing/2014/main" id="{132B819D-5136-4B13-A629-FCC7F366AA9A}"/>
              </a:ext>
            </a:extLst>
          </p:cNvPr>
          <p:cNvSpPr/>
          <p:nvPr/>
        </p:nvSpPr>
        <p:spPr>
          <a:xfrm>
            <a:off x="57150" y="182563"/>
            <a:ext cx="5865813" cy="830262"/>
          </a:xfrm>
          <a:prstGeom prst="rect">
            <a:avLst/>
          </a:prstGeom>
        </p:spPr>
        <p:txBody>
          <a:bodyPr>
            <a:spAutoFit/>
          </a:bodyPr>
          <a:lstStyle/>
          <a:p>
            <a:pPr eaLnBrk="1" hangingPunct="1">
              <a:defRPr/>
            </a:pPr>
            <a:r>
              <a:rPr lang="zh-CN" altLang="zh-CN" sz="2400" b="1">
                <a:solidFill>
                  <a:schemeClr val="bg1"/>
                </a:solidFill>
                <a:latin typeface="+mn-lt"/>
              </a:rPr>
              <a:t>例：由</a:t>
            </a:r>
            <a:r>
              <a:rPr lang="en-US" altLang="zh-CN" sz="2400" b="1" i="1">
                <a:solidFill>
                  <a:schemeClr val="bg1"/>
                </a:solidFill>
                <a:latin typeface="+mn-lt"/>
              </a:rPr>
              <a:t>m</a:t>
            </a:r>
            <a:r>
              <a:rPr lang="en-US" altLang="zh-CN" sz="2400" b="1" baseline="-25000">
                <a:solidFill>
                  <a:schemeClr val="bg1"/>
                </a:solidFill>
                <a:latin typeface="+mn-lt"/>
              </a:rPr>
              <a:t>1</a:t>
            </a:r>
            <a:r>
              <a:rPr lang="zh-CN" altLang="zh-CN" sz="2400" b="1">
                <a:solidFill>
                  <a:schemeClr val="bg1"/>
                </a:solidFill>
                <a:latin typeface="+mn-lt"/>
              </a:rPr>
              <a:t>和</a:t>
            </a:r>
            <a:r>
              <a:rPr lang="en-US" altLang="zh-CN" sz="2400" b="1" i="1">
                <a:solidFill>
                  <a:schemeClr val="bg1"/>
                </a:solidFill>
                <a:latin typeface="+mn-lt"/>
              </a:rPr>
              <a:t>m</a:t>
            </a:r>
            <a:r>
              <a:rPr lang="en-US" altLang="zh-CN" sz="2400" b="1" baseline="-25000">
                <a:solidFill>
                  <a:schemeClr val="bg1"/>
                </a:solidFill>
                <a:latin typeface="+mn-lt"/>
              </a:rPr>
              <a:t>2</a:t>
            </a:r>
            <a:r>
              <a:rPr lang="zh-CN" altLang="zh-CN" sz="2400" b="1">
                <a:solidFill>
                  <a:schemeClr val="bg1"/>
                </a:solidFill>
                <a:latin typeface="+mn-lt"/>
              </a:rPr>
              <a:t>组成的质点组（系统），坐标分别为</a:t>
            </a:r>
            <a:r>
              <a:rPr lang="en-US" altLang="zh-CN" sz="2400" b="1" i="1">
                <a:solidFill>
                  <a:schemeClr val="bg1"/>
                </a:solidFill>
                <a:latin typeface="+mn-lt"/>
              </a:rPr>
              <a:t>x</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y</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x</a:t>
            </a:r>
            <a:r>
              <a:rPr lang="en-US" altLang="zh-CN" sz="2400" b="1" baseline="-25000">
                <a:solidFill>
                  <a:schemeClr val="bg1"/>
                </a:solidFill>
                <a:latin typeface="+mn-lt"/>
              </a:rPr>
              <a:t>2</a:t>
            </a:r>
            <a:r>
              <a:rPr lang="zh-CN" altLang="zh-CN" sz="2400" b="1">
                <a:solidFill>
                  <a:schemeClr val="bg1"/>
                </a:solidFill>
                <a:latin typeface="+mn-lt"/>
              </a:rPr>
              <a:t>，</a:t>
            </a:r>
            <a:r>
              <a:rPr lang="en-US" altLang="zh-CN" sz="2400" b="1" i="1">
                <a:solidFill>
                  <a:schemeClr val="bg1"/>
                </a:solidFill>
                <a:latin typeface="+mn-lt"/>
              </a:rPr>
              <a:t>y</a:t>
            </a:r>
            <a:r>
              <a:rPr lang="en-US" altLang="zh-CN" sz="2400" b="1" baseline="-25000">
                <a:solidFill>
                  <a:schemeClr val="bg1"/>
                </a:solidFill>
                <a:latin typeface="+mn-lt"/>
              </a:rPr>
              <a:t>2</a:t>
            </a:r>
            <a:r>
              <a:rPr lang="zh-CN" altLang="zh-CN" sz="2400" b="1">
                <a:solidFill>
                  <a:schemeClr val="bg1"/>
                </a:solidFill>
                <a:latin typeface="+mn-lt"/>
              </a:rPr>
              <a:t>；其质心坐标为：</a:t>
            </a:r>
          </a:p>
        </p:txBody>
      </p:sp>
      <p:pic>
        <p:nvPicPr>
          <p:cNvPr id="28677" name="Picture 7">
            <a:extLst>
              <a:ext uri="{FF2B5EF4-FFF2-40B4-BE49-F238E27FC236}">
                <a16:creationId xmlns:a16="http://schemas.microsoft.com/office/drawing/2014/main" id="{A0B4625E-6FD1-793D-6975-9B26BDF3BB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133475"/>
            <a:ext cx="2027238" cy="1682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80CD97AD-8E86-4DA7-8B18-10231D283EA3}"/>
              </a:ext>
            </a:extLst>
          </p:cNvPr>
          <p:cNvSpPr/>
          <p:nvPr/>
        </p:nvSpPr>
        <p:spPr>
          <a:xfrm>
            <a:off x="900113" y="3068638"/>
            <a:ext cx="7848600" cy="1939925"/>
          </a:xfrm>
          <a:prstGeom prst="rect">
            <a:avLst/>
          </a:prstGeom>
        </p:spPr>
        <p:txBody>
          <a:bodyPr>
            <a:spAutoFit/>
          </a:bodyPr>
          <a:lstStyle/>
          <a:p>
            <a:pPr eaLnBrk="1" hangingPunct="1">
              <a:defRPr/>
            </a:pPr>
            <a:r>
              <a:rPr lang="zh-CN" altLang="zh-CN" sz="2400" b="1">
                <a:solidFill>
                  <a:schemeClr val="bg1"/>
                </a:solidFill>
                <a:latin typeface="+mn-lt"/>
              </a:rPr>
              <a:t>代入具体数值：</a:t>
            </a:r>
          </a:p>
          <a:p>
            <a:pPr eaLnBrk="1" hangingPunct="1">
              <a:defRPr/>
            </a:pPr>
            <a:r>
              <a:rPr lang="en-US" altLang="zh-CN" sz="2400" b="1" i="1">
                <a:solidFill>
                  <a:schemeClr val="bg1"/>
                </a:solidFill>
                <a:latin typeface="+mn-lt"/>
              </a:rPr>
              <a:t>m</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2</a:t>
            </a:r>
            <a:r>
              <a:rPr lang="zh-CN" altLang="zh-CN" sz="2400" b="1">
                <a:solidFill>
                  <a:schemeClr val="bg1"/>
                </a:solidFill>
                <a:latin typeface="+mn-lt"/>
              </a:rPr>
              <a:t>＝</a:t>
            </a:r>
            <a:r>
              <a:rPr lang="en-US" altLang="zh-CN" sz="2400" b="1">
                <a:solidFill>
                  <a:schemeClr val="bg1"/>
                </a:solidFill>
                <a:latin typeface="+mn-lt"/>
              </a:rPr>
              <a:t>9</a:t>
            </a:r>
            <a:r>
              <a:rPr lang="zh-CN" altLang="zh-CN" sz="2400" b="1">
                <a:solidFill>
                  <a:schemeClr val="bg1"/>
                </a:solidFill>
                <a:latin typeface="+mn-lt"/>
              </a:rPr>
              <a:t>；</a:t>
            </a:r>
            <a:r>
              <a:rPr lang="en-US" altLang="zh-CN" sz="2400" b="1" i="1">
                <a:solidFill>
                  <a:schemeClr val="bg1"/>
                </a:solidFill>
                <a:latin typeface="+mn-lt"/>
              </a:rPr>
              <a:t>x</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a:solidFill>
                  <a:schemeClr val="bg1"/>
                </a:solidFill>
                <a:latin typeface="+mn-lt"/>
              </a:rPr>
              <a:t>0</a:t>
            </a:r>
            <a:r>
              <a:rPr lang="zh-CN" altLang="zh-CN" sz="2400" b="1">
                <a:solidFill>
                  <a:schemeClr val="bg1"/>
                </a:solidFill>
                <a:latin typeface="+mn-lt"/>
              </a:rPr>
              <a:t>，</a:t>
            </a:r>
            <a:r>
              <a:rPr lang="en-US" altLang="zh-CN" sz="2400" b="1" i="1">
                <a:solidFill>
                  <a:schemeClr val="bg1"/>
                </a:solidFill>
                <a:latin typeface="+mn-lt"/>
              </a:rPr>
              <a:t>y</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a:solidFill>
                  <a:schemeClr val="bg1"/>
                </a:solidFill>
                <a:latin typeface="+mn-lt"/>
              </a:rPr>
              <a:t>0</a:t>
            </a:r>
            <a:r>
              <a:rPr lang="zh-CN" altLang="zh-CN" sz="2400" b="1">
                <a:solidFill>
                  <a:schemeClr val="bg1"/>
                </a:solidFill>
                <a:latin typeface="+mn-lt"/>
              </a:rPr>
              <a:t>，</a:t>
            </a:r>
            <a:r>
              <a:rPr lang="en-US" altLang="zh-CN" sz="2400" b="1" i="1">
                <a:solidFill>
                  <a:schemeClr val="bg1"/>
                </a:solidFill>
                <a:latin typeface="+mn-lt"/>
              </a:rPr>
              <a:t>x</a:t>
            </a:r>
            <a:r>
              <a:rPr lang="en-US" altLang="zh-CN" sz="2400" b="1" baseline="-25000">
                <a:solidFill>
                  <a:schemeClr val="bg1"/>
                </a:solidFill>
                <a:latin typeface="+mn-lt"/>
              </a:rPr>
              <a:t>2</a:t>
            </a:r>
            <a:r>
              <a:rPr lang="zh-CN" altLang="zh-CN" sz="2400" b="1">
                <a:solidFill>
                  <a:schemeClr val="bg1"/>
                </a:solidFill>
                <a:latin typeface="+mn-lt"/>
              </a:rPr>
              <a:t>＝</a:t>
            </a:r>
            <a:r>
              <a:rPr lang="en-US" altLang="zh-CN" sz="2400" b="1">
                <a:solidFill>
                  <a:schemeClr val="bg1"/>
                </a:solidFill>
                <a:latin typeface="+mn-lt"/>
              </a:rPr>
              <a:t>10</a:t>
            </a:r>
            <a:r>
              <a:rPr lang="zh-CN" altLang="zh-CN" sz="2400" b="1">
                <a:solidFill>
                  <a:schemeClr val="bg1"/>
                </a:solidFill>
                <a:latin typeface="+mn-lt"/>
              </a:rPr>
              <a:t>，</a:t>
            </a:r>
            <a:r>
              <a:rPr lang="en-US" altLang="zh-CN" sz="2400" b="1" i="1">
                <a:solidFill>
                  <a:schemeClr val="bg1"/>
                </a:solidFill>
                <a:latin typeface="+mn-lt"/>
              </a:rPr>
              <a:t>y</a:t>
            </a:r>
            <a:r>
              <a:rPr lang="en-US" altLang="zh-CN" sz="2400" b="1" baseline="-25000">
                <a:solidFill>
                  <a:schemeClr val="bg1"/>
                </a:solidFill>
                <a:latin typeface="+mn-lt"/>
              </a:rPr>
              <a:t>2</a:t>
            </a:r>
            <a:r>
              <a:rPr lang="zh-CN" altLang="zh-CN" sz="2400" b="1">
                <a:solidFill>
                  <a:schemeClr val="bg1"/>
                </a:solidFill>
                <a:latin typeface="+mn-lt"/>
              </a:rPr>
              <a:t>＝</a:t>
            </a:r>
            <a:r>
              <a:rPr lang="en-US" altLang="zh-CN" sz="2400" b="1">
                <a:solidFill>
                  <a:schemeClr val="bg1"/>
                </a:solidFill>
                <a:latin typeface="+mn-lt"/>
              </a:rPr>
              <a:t>0</a:t>
            </a:r>
            <a:endParaRPr lang="zh-CN" altLang="zh-CN" sz="2400" b="1">
              <a:solidFill>
                <a:schemeClr val="bg1"/>
              </a:solidFill>
              <a:latin typeface="+mn-lt"/>
            </a:endParaRPr>
          </a:p>
          <a:p>
            <a:pPr eaLnBrk="1" hangingPunct="1">
              <a:defRPr/>
            </a:pPr>
            <a:r>
              <a:rPr lang="en-US" altLang="zh-CN" sz="2400" b="1" i="1">
                <a:solidFill>
                  <a:schemeClr val="bg1"/>
                </a:solidFill>
                <a:latin typeface="+mn-lt"/>
              </a:rPr>
              <a:t>x</a:t>
            </a:r>
            <a:r>
              <a:rPr lang="en-US" altLang="zh-CN" sz="2400" b="1" baseline="-25000">
                <a:solidFill>
                  <a:schemeClr val="bg1"/>
                </a:solidFill>
                <a:latin typeface="+mn-lt"/>
              </a:rPr>
              <a:t>c</a:t>
            </a:r>
            <a:r>
              <a:rPr lang="zh-CN" altLang="zh-CN" sz="2400" b="1">
                <a:solidFill>
                  <a:schemeClr val="bg1"/>
                </a:solidFill>
                <a:latin typeface="+mn-lt"/>
              </a:rPr>
              <a:t>＝</a:t>
            </a:r>
            <a:r>
              <a:rPr lang="en-US" altLang="zh-CN" sz="2400" b="1">
                <a:solidFill>
                  <a:schemeClr val="bg1"/>
                </a:solidFill>
                <a:latin typeface="+mn-lt"/>
              </a:rPr>
              <a:t>(1</a:t>
            </a:r>
            <a:r>
              <a:rPr lang="zh-CN" altLang="zh-CN" sz="2400" b="1">
                <a:solidFill>
                  <a:schemeClr val="bg1"/>
                </a:solidFill>
                <a:latin typeface="+mn-lt"/>
              </a:rPr>
              <a:t>×</a:t>
            </a:r>
            <a:r>
              <a:rPr lang="en-US" altLang="zh-CN" sz="2400" b="1">
                <a:solidFill>
                  <a:schemeClr val="bg1"/>
                </a:solidFill>
                <a:latin typeface="+mn-lt"/>
              </a:rPr>
              <a:t>0</a:t>
            </a:r>
            <a:r>
              <a:rPr lang="zh-CN" altLang="zh-CN" sz="2400" b="1">
                <a:solidFill>
                  <a:schemeClr val="bg1"/>
                </a:solidFill>
                <a:latin typeface="+mn-lt"/>
              </a:rPr>
              <a:t>＋</a:t>
            </a:r>
            <a:r>
              <a:rPr lang="en-US" altLang="zh-CN" sz="2400" b="1">
                <a:solidFill>
                  <a:schemeClr val="bg1"/>
                </a:solidFill>
                <a:latin typeface="+mn-lt"/>
              </a:rPr>
              <a:t>9</a:t>
            </a:r>
            <a:r>
              <a:rPr lang="zh-CN" altLang="zh-CN" sz="2400" b="1">
                <a:solidFill>
                  <a:schemeClr val="bg1"/>
                </a:solidFill>
                <a:latin typeface="+mn-lt"/>
              </a:rPr>
              <a:t>×</a:t>
            </a:r>
            <a:r>
              <a:rPr lang="en-US" altLang="zh-CN" sz="2400" b="1">
                <a:solidFill>
                  <a:schemeClr val="bg1"/>
                </a:solidFill>
                <a:latin typeface="+mn-lt"/>
              </a:rPr>
              <a:t>10)/(1</a:t>
            </a:r>
            <a:r>
              <a:rPr lang="zh-CN" altLang="zh-CN" sz="2400" b="1">
                <a:solidFill>
                  <a:schemeClr val="bg1"/>
                </a:solidFill>
                <a:latin typeface="+mn-lt"/>
              </a:rPr>
              <a:t>＋</a:t>
            </a:r>
            <a:r>
              <a:rPr lang="en-US" altLang="zh-CN" sz="2400" b="1">
                <a:solidFill>
                  <a:schemeClr val="bg1"/>
                </a:solidFill>
                <a:latin typeface="+mn-lt"/>
              </a:rPr>
              <a:t>9)</a:t>
            </a:r>
            <a:r>
              <a:rPr lang="zh-CN" altLang="zh-CN" sz="2400" b="1">
                <a:solidFill>
                  <a:schemeClr val="bg1"/>
                </a:solidFill>
                <a:latin typeface="+mn-lt"/>
              </a:rPr>
              <a:t>＝</a:t>
            </a:r>
            <a:r>
              <a:rPr lang="en-US" altLang="zh-CN" sz="2400" b="1">
                <a:solidFill>
                  <a:schemeClr val="bg1"/>
                </a:solidFill>
                <a:latin typeface="+mn-lt"/>
              </a:rPr>
              <a:t>9</a:t>
            </a:r>
            <a:endParaRPr lang="zh-CN" altLang="zh-CN" sz="2400" b="1">
              <a:solidFill>
                <a:schemeClr val="bg1"/>
              </a:solidFill>
              <a:latin typeface="+mn-lt"/>
            </a:endParaRPr>
          </a:p>
          <a:p>
            <a:pPr eaLnBrk="1" hangingPunct="1">
              <a:defRPr/>
            </a:pPr>
            <a:r>
              <a:rPr lang="en-US" altLang="zh-CN" sz="2400" b="1" i="1">
                <a:solidFill>
                  <a:schemeClr val="bg1"/>
                </a:solidFill>
                <a:latin typeface="+mn-lt"/>
              </a:rPr>
              <a:t>m</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a:solidFill>
                  <a:schemeClr val="bg1"/>
                </a:solidFill>
                <a:latin typeface="+mn-lt"/>
              </a:rPr>
              <a:t>9</a:t>
            </a:r>
            <a:r>
              <a:rPr lang="zh-CN" altLang="zh-CN" sz="2400" b="1">
                <a:solidFill>
                  <a:schemeClr val="bg1"/>
                </a:solidFill>
                <a:latin typeface="+mn-lt"/>
              </a:rPr>
              <a:t>，</a:t>
            </a:r>
            <a:r>
              <a:rPr lang="en-US" altLang="zh-CN" sz="2400" b="1" i="1">
                <a:solidFill>
                  <a:schemeClr val="bg1"/>
                </a:solidFill>
                <a:latin typeface="+mn-lt"/>
              </a:rPr>
              <a:t>m</a:t>
            </a:r>
            <a:r>
              <a:rPr lang="en-US" altLang="zh-CN" sz="2400" b="1" baseline="-25000">
                <a:solidFill>
                  <a:schemeClr val="bg1"/>
                </a:solidFill>
                <a:latin typeface="+mn-lt"/>
              </a:rPr>
              <a:t>2</a:t>
            </a:r>
            <a:r>
              <a:rPr lang="zh-CN" altLang="zh-CN" sz="2400" b="1">
                <a:solidFill>
                  <a:schemeClr val="bg1"/>
                </a:solidFill>
                <a:latin typeface="+mn-lt"/>
              </a:rPr>
              <a:t>＝</a:t>
            </a:r>
            <a:r>
              <a:rPr lang="en-US" altLang="zh-CN" sz="2400" b="1">
                <a:solidFill>
                  <a:schemeClr val="bg1"/>
                </a:solidFill>
                <a:latin typeface="+mn-lt"/>
              </a:rPr>
              <a:t>1</a:t>
            </a:r>
            <a:r>
              <a:rPr lang="zh-CN" altLang="zh-CN" sz="2400" b="1">
                <a:solidFill>
                  <a:schemeClr val="bg1"/>
                </a:solidFill>
                <a:latin typeface="+mn-lt"/>
              </a:rPr>
              <a:t>；</a:t>
            </a:r>
            <a:r>
              <a:rPr lang="en-US" altLang="zh-CN" sz="2400" b="1" i="1">
                <a:solidFill>
                  <a:schemeClr val="bg1"/>
                </a:solidFill>
                <a:latin typeface="+mn-lt"/>
              </a:rPr>
              <a:t>x</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a:solidFill>
                  <a:schemeClr val="bg1"/>
                </a:solidFill>
                <a:latin typeface="+mn-lt"/>
              </a:rPr>
              <a:t>0</a:t>
            </a:r>
            <a:r>
              <a:rPr lang="zh-CN" altLang="zh-CN" sz="2400" b="1">
                <a:solidFill>
                  <a:schemeClr val="bg1"/>
                </a:solidFill>
                <a:latin typeface="+mn-lt"/>
              </a:rPr>
              <a:t>，</a:t>
            </a:r>
            <a:r>
              <a:rPr lang="en-US" altLang="zh-CN" sz="2400" b="1" i="1">
                <a:solidFill>
                  <a:schemeClr val="bg1"/>
                </a:solidFill>
                <a:latin typeface="+mn-lt"/>
              </a:rPr>
              <a:t>y</a:t>
            </a:r>
            <a:r>
              <a:rPr lang="en-US" altLang="zh-CN" sz="2400" b="1" baseline="-25000">
                <a:solidFill>
                  <a:schemeClr val="bg1"/>
                </a:solidFill>
                <a:latin typeface="+mn-lt"/>
              </a:rPr>
              <a:t>1</a:t>
            </a:r>
            <a:r>
              <a:rPr lang="zh-CN" altLang="zh-CN" sz="2400" b="1">
                <a:solidFill>
                  <a:schemeClr val="bg1"/>
                </a:solidFill>
                <a:latin typeface="+mn-lt"/>
              </a:rPr>
              <a:t>＝</a:t>
            </a:r>
            <a:r>
              <a:rPr lang="en-US" altLang="zh-CN" sz="2400" b="1">
                <a:solidFill>
                  <a:schemeClr val="bg1"/>
                </a:solidFill>
                <a:latin typeface="+mn-lt"/>
              </a:rPr>
              <a:t>0</a:t>
            </a:r>
            <a:r>
              <a:rPr lang="zh-CN" altLang="zh-CN" sz="2400" b="1">
                <a:solidFill>
                  <a:schemeClr val="bg1"/>
                </a:solidFill>
                <a:latin typeface="+mn-lt"/>
              </a:rPr>
              <a:t>，</a:t>
            </a:r>
            <a:r>
              <a:rPr lang="en-US" altLang="zh-CN" sz="2400" b="1" i="1">
                <a:solidFill>
                  <a:schemeClr val="bg1"/>
                </a:solidFill>
                <a:latin typeface="+mn-lt"/>
              </a:rPr>
              <a:t>x</a:t>
            </a:r>
            <a:r>
              <a:rPr lang="en-US" altLang="zh-CN" sz="2400" b="1" baseline="-25000">
                <a:solidFill>
                  <a:schemeClr val="bg1"/>
                </a:solidFill>
                <a:latin typeface="+mn-lt"/>
              </a:rPr>
              <a:t>2</a:t>
            </a:r>
            <a:r>
              <a:rPr lang="zh-CN" altLang="zh-CN" sz="2400" b="1">
                <a:solidFill>
                  <a:schemeClr val="bg1"/>
                </a:solidFill>
                <a:latin typeface="+mn-lt"/>
              </a:rPr>
              <a:t>＝</a:t>
            </a:r>
            <a:r>
              <a:rPr lang="en-US" altLang="zh-CN" sz="2400" b="1">
                <a:solidFill>
                  <a:schemeClr val="bg1"/>
                </a:solidFill>
                <a:latin typeface="+mn-lt"/>
              </a:rPr>
              <a:t>10</a:t>
            </a:r>
            <a:r>
              <a:rPr lang="zh-CN" altLang="zh-CN" sz="2400" b="1">
                <a:solidFill>
                  <a:schemeClr val="bg1"/>
                </a:solidFill>
                <a:latin typeface="+mn-lt"/>
              </a:rPr>
              <a:t>，</a:t>
            </a:r>
            <a:r>
              <a:rPr lang="en-US" altLang="zh-CN" sz="2400" b="1" i="1">
                <a:solidFill>
                  <a:schemeClr val="bg1"/>
                </a:solidFill>
                <a:latin typeface="+mn-lt"/>
              </a:rPr>
              <a:t>y</a:t>
            </a:r>
            <a:r>
              <a:rPr lang="en-US" altLang="zh-CN" sz="2400" b="1" baseline="-25000">
                <a:solidFill>
                  <a:schemeClr val="bg1"/>
                </a:solidFill>
                <a:latin typeface="+mn-lt"/>
              </a:rPr>
              <a:t>2</a:t>
            </a:r>
            <a:r>
              <a:rPr lang="zh-CN" altLang="zh-CN" sz="2400" b="1">
                <a:solidFill>
                  <a:schemeClr val="bg1"/>
                </a:solidFill>
                <a:latin typeface="+mn-lt"/>
              </a:rPr>
              <a:t>＝</a:t>
            </a:r>
            <a:r>
              <a:rPr lang="en-US" altLang="zh-CN" sz="2400" b="1">
                <a:solidFill>
                  <a:schemeClr val="bg1"/>
                </a:solidFill>
                <a:latin typeface="+mn-lt"/>
              </a:rPr>
              <a:t>0</a:t>
            </a:r>
            <a:endParaRPr lang="zh-CN" altLang="zh-CN" sz="2400" b="1">
              <a:solidFill>
                <a:schemeClr val="bg1"/>
              </a:solidFill>
              <a:latin typeface="+mn-lt"/>
            </a:endParaRPr>
          </a:p>
          <a:p>
            <a:pPr eaLnBrk="1" hangingPunct="1">
              <a:defRPr/>
            </a:pPr>
            <a:r>
              <a:rPr lang="en-US" altLang="zh-CN" sz="2400" b="1" i="1">
                <a:solidFill>
                  <a:schemeClr val="bg1"/>
                </a:solidFill>
                <a:latin typeface="+mn-lt"/>
              </a:rPr>
              <a:t>x</a:t>
            </a:r>
            <a:r>
              <a:rPr lang="en-US" altLang="zh-CN" sz="2400" b="1" baseline="-25000">
                <a:solidFill>
                  <a:schemeClr val="bg1"/>
                </a:solidFill>
                <a:latin typeface="+mn-lt"/>
              </a:rPr>
              <a:t>c</a:t>
            </a:r>
            <a:r>
              <a:rPr lang="zh-CN" altLang="zh-CN" sz="2400" b="1">
                <a:solidFill>
                  <a:schemeClr val="bg1"/>
                </a:solidFill>
                <a:latin typeface="+mn-lt"/>
              </a:rPr>
              <a:t>＝</a:t>
            </a:r>
            <a:r>
              <a:rPr lang="en-US" altLang="zh-CN" sz="2400" b="1">
                <a:solidFill>
                  <a:schemeClr val="bg1"/>
                </a:solidFill>
                <a:latin typeface="+mn-lt"/>
              </a:rPr>
              <a:t>(9</a:t>
            </a:r>
            <a:r>
              <a:rPr lang="zh-CN" altLang="zh-CN" sz="2400" b="1">
                <a:solidFill>
                  <a:schemeClr val="bg1"/>
                </a:solidFill>
                <a:latin typeface="+mn-lt"/>
              </a:rPr>
              <a:t>×</a:t>
            </a:r>
            <a:r>
              <a:rPr lang="en-US" altLang="zh-CN" sz="2400" b="1">
                <a:solidFill>
                  <a:schemeClr val="bg1"/>
                </a:solidFill>
                <a:latin typeface="+mn-lt"/>
              </a:rPr>
              <a:t>0</a:t>
            </a:r>
            <a:r>
              <a:rPr lang="zh-CN" altLang="zh-CN" sz="2400" b="1">
                <a:solidFill>
                  <a:schemeClr val="bg1"/>
                </a:solidFill>
                <a:latin typeface="+mn-lt"/>
              </a:rPr>
              <a:t>＋</a:t>
            </a:r>
            <a:r>
              <a:rPr lang="en-US" altLang="zh-CN" sz="2400" b="1">
                <a:solidFill>
                  <a:schemeClr val="bg1"/>
                </a:solidFill>
                <a:latin typeface="+mn-lt"/>
              </a:rPr>
              <a:t>1</a:t>
            </a:r>
            <a:r>
              <a:rPr lang="zh-CN" altLang="zh-CN" sz="2400" b="1">
                <a:solidFill>
                  <a:schemeClr val="bg1"/>
                </a:solidFill>
                <a:latin typeface="+mn-lt"/>
              </a:rPr>
              <a:t>×</a:t>
            </a:r>
            <a:r>
              <a:rPr lang="en-US" altLang="zh-CN" sz="2400" b="1">
                <a:solidFill>
                  <a:schemeClr val="bg1"/>
                </a:solidFill>
                <a:latin typeface="+mn-lt"/>
              </a:rPr>
              <a:t>10)/(1</a:t>
            </a:r>
            <a:r>
              <a:rPr lang="zh-CN" altLang="zh-CN" sz="2400" b="1">
                <a:solidFill>
                  <a:schemeClr val="bg1"/>
                </a:solidFill>
                <a:latin typeface="+mn-lt"/>
              </a:rPr>
              <a:t>＋</a:t>
            </a:r>
            <a:r>
              <a:rPr lang="en-US" altLang="zh-CN" sz="2400" b="1">
                <a:solidFill>
                  <a:schemeClr val="bg1"/>
                </a:solidFill>
                <a:latin typeface="+mn-lt"/>
              </a:rPr>
              <a:t>9)</a:t>
            </a:r>
            <a:r>
              <a:rPr lang="zh-CN" altLang="zh-CN" sz="2400" b="1">
                <a:solidFill>
                  <a:schemeClr val="bg1"/>
                </a:solidFill>
                <a:latin typeface="+mn-lt"/>
              </a:rPr>
              <a:t>＝</a:t>
            </a:r>
            <a:r>
              <a:rPr lang="en-US" altLang="zh-CN" sz="2400" b="1">
                <a:solidFill>
                  <a:schemeClr val="bg1"/>
                </a:solidFill>
                <a:latin typeface="+mn-lt"/>
              </a:rPr>
              <a:t>1</a:t>
            </a:r>
            <a:endParaRPr lang="zh-CN" altLang="zh-CN" sz="2400" b="1">
              <a:solidFill>
                <a:schemeClr val="bg1"/>
              </a:solidFill>
              <a:latin typeface="+mn-l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a:extLst>
              <a:ext uri="{FF2B5EF4-FFF2-40B4-BE49-F238E27FC236}">
                <a16:creationId xmlns:a16="http://schemas.microsoft.com/office/drawing/2014/main" id="{AA1D872C-E1C0-DA37-B8D6-1CFAF602DA43}"/>
              </a:ext>
            </a:extLst>
          </p:cNvPr>
          <p:cNvSpPr>
            <a:spLocks noChangeArrowheads="1"/>
          </p:cNvSpPr>
          <p:nvPr/>
        </p:nvSpPr>
        <p:spPr bwMode="auto">
          <a:xfrm>
            <a:off x="317500" y="3216275"/>
            <a:ext cx="281463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chemeClr val="bg1"/>
                </a:solidFill>
                <a:latin typeface="Times New Roman" panose="02020603050405020304" pitchFamily="18" charset="0"/>
                <a:cs typeface="Times New Roman" panose="02020603050405020304" pitchFamily="18" charset="0"/>
              </a:rPr>
              <a:t>书中例题</a:t>
            </a:r>
            <a:r>
              <a:rPr lang="en-US" altLang="zh-CN" sz="2400" b="1">
                <a:solidFill>
                  <a:schemeClr val="bg1"/>
                </a:solidFill>
                <a:latin typeface="Times New Roman" panose="02020603050405020304" pitchFamily="18" charset="0"/>
                <a:cs typeface="Times New Roman" panose="02020603050405020304" pitchFamily="18" charset="0"/>
              </a:rPr>
              <a:t>4.13(P164)</a:t>
            </a:r>
            <a:endParaRPr lang="en-US" altLang="zh-CN" sz="3200">
              <a:solidFill>
                <a:schemeClr val="bg1"/>
              </a:solidFill>
            </a:endParaRPr>
          </a:p>
        </p:txBody>
      </p:sp>
      <p:grpSp>
        <p:nvGrpSpPr>
          <p:cNvPr id="4" name="Group 11">
            <a:extLst>
              <a:ext uri="{FF2B5EF4-FFF2-40B4-BE49-F238E27FC236}">
                <a16:creationId xmlns:a16="http://schemas.microsoft.com/office/drawing/2014/main" id="{82E93733-3F04-890F-CE83-146DC91A235A}"/>
              </a:ext>
            </a:extLst>
          </p:cNvPr>
          <p:cNvGrpSpPr>
            <a:grpSpLocks/>
          </p:cNvGrpSpPr>
          <p:nvPr/>
        </p:nvGrpSpPr>
        <p:grpSpPr bwMode="auto">
          <a:xfrm>
            <a:off x="6646863" y="3216275"/>
            <a:ext cx="2016125" cy="1243013"/>
            <a:chOff x="6300" y="3378"/>
            <a:chExt cx="2622" cy="1596"/>
          </a:xfrm>
        </p:grpSpPr>
        <p:sp>
          <p:nvSpPr>
            <p:cNvPr id="29710" name="Line 18">
              <a:extLst>
                <a:ext uri="{FF2B5EF4-FFF2-40B4-BE49-F238E27FC236}">
                  <a16:creationId xmlns:a16="http://schemas.microsoft.com/office/drawing/2014/main" id="{6B00F769-3A45-FBDC-B06C-CD3A2ABD123A}"/>
                </a:ext>
              </a:extLst>
            </p:cNvPr>
            <p:cNvSpPr>
              <a:spLocks noChangeShapeType="1"/>
            </p:cNvSpPr>
            <p:nvPr/>
          </p:nvSpPr>
          <p:spPr bwMode="auto">
            <a:xfrm>
              <a:off x="6300" y="4347"/>
              <a:ext cx="2622"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9711" name="Line 17">
              <a:extLst>
                <a:ext uri="{FF2B5EF4-FFF2-40B4-BE49-F238E27FC236}">
                  <a16:creationId xmlns:a16="http://schemas.microsoft.com/office/drawing/2014/main" id="{6DB6B4C9-27B5-2A04-78AD-96EB2B91E020}"/>
                </a:ext>
              </a:extLst>
            </p:cNvPr>
            <p:cNvSpPr>
              <a:spLocks noChangeShapeType="1"/>
            </p:cNvSpPr>
            <p:nvPr/>
          </p:nvSpPr>
          <p:spPr bwMode="auto">
            <a:xfrm>
              <a:off x="6300" y="4347"/>
              <a:ext cx="210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Line 16">
              <a:extLst>
                <a:ext uri="{FF2B5EF4-FFF2-40B4-BE49-F238E27FC236}">
                  <a16:creationId xmlns:a16="http://schemas.microsoft.com/office/drawing/2014/main" id="{B19FC008-F404-FC1C-163E-FC11566616BA}"/>
                </a:ext>
              </a:extLst>
            </p:cNvPr>
            <p:cNvSpPr>
              <a:spLocks noChangeShapeType="1"/>
            </p:cNvSpPr>
            <p:nvPr/>
          </p:nvSpPr>
          <p:spPr bwMode="auto">
            <a:xfrm flipV="1">
              <a:off x="6300" y="3378"/>
              <a:ext cx="0" cy="1368"/>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9713" name="Line 15">
              <a:extLst>
                <a:ext uri="{FF2B5EF4-FFF2-40B4-BE49-F238E27FC236}">
                  <a16:creationId xmlns:a16="http://schemas.microsoft.com/office/drawing/2014/main" id="{A6D683C6-DE83-FD55-5F95-75B8FDAF5496}"/>
                </a:ext>
              </a:extLst>
            </p:cNvPr>
            <p:cNvSpPr>
              <a:spLocks noChangeShapeType="1"/>
            </p:cNvSpPr>
            <p:nvPr/>
          </p:nvSpPr>
          <p:spPr bwMode="auto">
            <a:xfrm>
              <a:off x="7611" y="4233"/>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4" name="Line 14">
              <a:extLst>
                <a:ext uri="{FF2B5EF4-FFF2-40B4-BE49-F238E27FC236}">
                  <a16:creationId xmlns:a16="http://schemas.microsoft.com/office/drawing/2014/main" id="{9F385623-67B6-51A2-604B-0DDDAE6ABF5B}"/>
                </a:ext>
              </a:extLst>
            </p:cNvPr>
            <p:cNvSpPr>
              <a:spLocks noChangeShapeType="1"/>
            </p:cNvSpPr>
            <p:nvPr/>
          </p:nvSpPr>
          <p:spPr bwMode="auto">
            <a:xfrm>
              <a:off x="7725" y="4176"/>
              <a:ext cx="0" cy="3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5" name="Text Box 13">
              <a:extLst>
                <a:ext uri="{FF2B5EF4-FFF2-40B4-BE49-F238E27FC236}">
                  <a16:creationId xmlns:a16="http://schemas.microsoft.com/office/drawing/2014/main" id="{4B1BCAFF-7378-9413-A177-4DB4C6131640}"/>
                </a:ext>
              </a:extLst>
            </p:cNvPr>
            <p:cNvSpPr txBox="1">
              <a:spLocks noChangeArrowheads="1"/>
            </p:cNvSpPr>
            <p:nvPr/>
          </p:nvSpPr>
          <p:spPr bwMode="auto">
            <a:xfrm>
              <a:off x="7383" y="3606"/>
              <a:ext cx="798"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i="1">
                  <a:solidFill>
                    <a:schemeClr val="bg1"/>
                  </a:solidFill>
                  <a:latin typeface="Times New Roman" panose="02020603050405020304" pitchFamily="18" charset="0"/>
                  <a:cs typeface="Times New Roman" panose="02020603050405020304" pitchFamily="18" charset="0"/>
                </a:rPr>
                <a:t>dm</a:t>
              </a:r>
              <a:endParaRPr lang="en-US" altLang="zh-CN" sz="2800" i="1">
                <a:solidFill>
                  <a:schemeClr val="bg1"/>
                </a:solidFill>
              </a:endParaRPr>
            </a:p>
          </p:txBody>
        </p:sp>
        <p:sp>
          <p:nvSpPr>
            <p:cNvPr id="29716" name="Text Box 12">
              <a:extLst>
                <a:ext uri="{FF2B5EF4-FFF2-40B4-BE49-F238E27FC236}">
                  <a16:creationId xmlns:a16="http://schemas.microsoft.com/office/drawing/2014/main" id="{17EE6843-9D0C-A52B-1B00-6E9AB0DC3D4A}"/>
                </a:ext>
              </a:extLst>
            </p:cNvPr>
            <p:cNvSpPr txBox="1">
              <a:spLocks noChangeArrowheads="1"/>
            </p:cNvSpPr>
            <p:nvPr/>
          </p:nvSpPr>
          <p:spPr bwMode="auto">
            <a:xfrm>
              <a:off x="6642" y="4233"/>
              <a:ext cx="798"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i="1">
                  <a:solidFill>
                    <a:schemeClr val="bg1"/>
                  </a:solidFill>
                  <a:latin typeface="Times New Roman" panose="02020603050405020304" pitchFamily="18" charset="0"/>
                  <a:cs typeface="Times New Roman" panose="02020603050405020304" pitchFamily="18" charset="0"/>
                </a:rPr>
                <a:t>x</a:t>
              </a:r>
              <a:endParaRPr lang="en-US" altLang="zh-CN" sz="2800" i="1">
                <a:solidFill>
                  <a:schemeClr val="bg1"/>
                </a:solidFill>
              </a:endParaRPr>
            </a:p>
          </p:txBody>
        </p:sp>
      </p:grpSp>
      <p:sp>
        <p:nvSpPr>
          <p:cNvPr id="12" name="Rectangle 22">
            <a:extLst>
              <a:ext uri="{FF2B5EF4-FFF2-40B4-BE49-F238E27FC236}">
                <a16:creationId xmlns:a16="http://schemas.microsoft.com/office/drawing/2014/main" id="{450F4F31-DE4F-CDCD-31D5-DDC506F7213D}"/>
              </a:ext>
            </a:extLst>
          </p:cNvPr>
          <p:cNvSpPr>
            <a:spLocks noChangeArrowheads="1"/>
          </p:cNvSpPr>
          <p:nvPr/>
        </p:nvSpPr>
        <p:spPr bwMode="auto">
          <a:xfrm>
            <a:off x="233363" y="3779838"/>
            <a:ext cx="50958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latin typeface="Times New Roman" panose="02020603050405020304" pitchFamily="18" charset="0"/>
                <a:cs typeface="Times New Roman" panose="02020603050405020304" pitchFamily="18" charset="0"/>
              </a:rPr>
              <a:t>质量为</a:t>
            </a:r>
            <a:r>
              <a:rPr lang="en-US" altLang="zh-CN" sz="2400" b="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，长为</a:t>
            </a:r>
            <a:r>
              <a:rPr lang="en-US" altLang="zh-CN" sz="2400" b="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的匀质细杆的重心</a:t>
            </a:r>
            <a:r>
              <a:rPr lang="zh-CN" altLang="en-US" sz="2400" b="1">
                <a:solidFill>
                  <a:schemeClr val="bg1"/>
                </a:solidFill>
              </a:rPr>
              <a:t> </a:t>
            </a:r>
          </a:p>
        </p:txBody>
      </p:sp>
      <p:sp>
        <p:nvSpPr>
          <p:cNvPr id="13" name="矩形 12">
            <a:extLst>
              <a:ext uri="{FF2B5EF4-FFF2-40B4-BE49-F238E27FC236}">
                <a16:creationId xmlns:a16="http://schemas.microsoft.com/office/drawing/2014/main" id="{DE0B461A-A032-48DC-9945-CE4B0F9B7DBA}"/>
              </a:ext>
            </a:extLst>
          </p:cNvPr>
          <p:cNvSpPr/>
          <p:nvPr/>
        </p:nvSpPr>
        <p:spPr>
          <a:xfrm>
            <a:off x="495300" y="4441825"/>
            <a:ext cx="8167688" cy="1200150"/>
          </a:xfrm>
          <a:prstGeom prst="rect">
            <a:avLst/>
          </a:prstGeom>
        </p:spPr>
        <p:txBody>
          <a:bodyPr>
            <a:spAutoFit/>
          </a:bodyPr>
          <a:lstStyle/>
          <a:p>
            <a:pPr eaLnBrk="1" hangingPunct="1">
              <a:defRPr/>
            </a:pPr>
            <a:r>
              <a:rPr lang="zh-CN" altLang="zh-CN" sz="2400" b="1">
                <a:solidFill>
                  <a:schemeClr val="bg1"/>
                </a:solidFill>
                <a:latin typeface="+mn-lt"/>
              </a:rPr>
              <a:t>解：在连续的杆上取一体元</a:t>
            </a:r>
            <a:r>
              <a:rPr lang="en-US" altLang="zh-CN" sz="2400" b="1" i="1">
                <a:solidFill>
                  <a:schemeClr val="bg1"/>
                </a:solidFill>
                <a:latin typeface="+mn-lt"/>
              </a:rPr>
              <a:t>dm</a:t>
            </a:r>
            <a:endParaRPr lang="zh-CN" altLang="zh-CN" sz="2400" b="1" i="1">
              <a:solidFill>
                <a:schemeClr val="bg1"/>
              </a:solidFill>
              <a:latin typeface="+mn-lt"/>
            </a:endParaRPr>
          </a:p>
          <a:p>
            <a:pPr eaLnBrk="1" hangingPunct="1">
              <a:defRPr/>
            </a:pPr>
            <a:r>
              <a:rPr lang="en-US" altLang="zh-CN" sz="2400" b="1" i="1">
                <a:solidFill>
                  <a:schemeClr val="bg1"/>
                </a:solidFill>
                <a:latin typeface="+mn-lt"/>
              </a:rPr>
              <a:t>                                               dm</a:t>
            </a:r>
            <a:r>
              <a:rPr lang="zh-CN" altLang="zh-CN" sz="2400" b="1">
                <a:solidFill>
                  <a:schemeClr val="bg1"/>
                </a:solidFill>
                <a:latin typeface="+mn-lt"/>
              </a:rPr>
              <a:t>＝</a:t>
            </a:r>
            <a:r>
              <a:rPr lang="en-US" altLang="zh-CN" sz="2400" b="1" i="1">
                <a:solidFill>
                  <a:schemeClr val="bg1"/>
                </a:solidFill>
                <a:latin typeface="+mn-lt"/>
              </a:rPr>
              <a:t>M</a:t>
            </a:r>
            <a:r>
              <a:rPr lang="en-US" altLang="zh-CN" sz="2400" b="1">
                <a:solidFill>
                  <a:schemeClr val="bg1"/>
                </a:solidFill>
                <a:latin typeface="+mn-lt"/>
              </a:rPr>
              <a:t>/</a:t>
            </a:r>
            <a:r>
              <a:rPr lang="en-US" altLang="zh-CN" sz="2400" b="1" i="1">
                <a:solidFill>
                  <a:schemeClr val="bg1"/>
                </a:solidFill>
                <a:latin typeface="+mn-lt"/>
              </a:rPr>
              <a:t>L dx</a:t>
            </a:r>
            <a:endParaRPr lang="zh-CN" altLang="zh-CN" sz="2400" b="1" i="1">
              <a:solidFill>
                <a:schemeClr val="bg1"/>
              </a:solidFill>
              <a:latin typeface="+mn-lt"/>
            </a:endParaRPr>
          </a:p>
          <a:p>
            <a:pPr eaLnBrk="1" hangingPunct="1">
              <a:defRPr/>
            </a:pPr>
            <a:r>
              <a:rPr lang="en-US" altLang="zh-CN" sz="2400" b="1">
                <a:solidFill>
                  <a:schemeClr val="bg1"/>
                </a:solidFill>
                <a:latin typeface="+mn-lt"/>
              </a:rPr>
              <a:t>       </a:t>
            </a:r>
            <a:r>
              <a:rPr lang="zh-CN" altLang="zh-CN" sz="2400" b="1">
                <a:solidFill>
                  <a:schemeClr val="bg1"/>
                </a:solidFill>
                <a:latin typeface="+mn-lt"/>
              </a:rPr>
              <a:t>根据质心的定义：</a:t>
            </a:r>
            <a:endParaRPr lang="zh-CN" altLang="en-US" sz="2400" b="1">
              <a:solidFill>
                <a:schemeClr val="bg1"/>
              </a:solidFill>
              <a:latin typeface="+mn-lt"/>
            </a:endParaRPr>
          </a:p>
        </p:txBody>
      </p:sp>
      <p:pic>
        <p:nvPicPr>
          <p:cNvPr id="28695" name="Picture 23">
            <a:extLst>
              <a:ext uri="{FF2B5EF4-FFF2-40B4-BE49-F238E27FC236}">
                <a16:creationId xmlns:a16="http://schemas.microsoft.com/office/drawing/2014/main" id="{A0B4B031-C5CB-3E54-8127-F253AF5CB3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1300" y="5661025"/>
            <a:ext cx="4354513" cy="936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3" name="Rectangle 9">
            <a:extLst>
              <a:ext uri="{FF2B5EF4-FFF2-40B4-BE49-F238E27FC236}">
                <a16:creationId xmlns:a16="http://schemas.microsoft.com/office/drawing/2014/main" id="{976A66E3-7483-4C0A-803F-D4D013242E0A}"/>
              </a:ext>
            </a:extLst>
          </p:cNvPr>
          <p:cNvSpPr>
            <a:spLocks noChangeArrowheads="1"/>
          </p:cNvSpPr>
          <p:nvPr/>
        </p:nvSpPr>
        <p:spPr bwMode="auto">
          <a:xfrm>
            <a:off x="523875" y="260350"/>
            <a:ext cx="6191250" cy="2447925"/>
          </a:xfrm>
          <a:prstGeom prst="rect">
            <a:avLst/>
          </a:prstGeom>
          <a:noFill/>
          <a:ln>
            <a:noFill/>
          </a:ln>
          <a:effectLst/>
        </p:spPr>
        <p:txBody>
          <a:bodyPr anchor="ctr">
            <a:spAutoFit/>
          </a:bodyPr>
          <a:lstStyle/>
          <a:p>
            <a:pPr>
              <a:defRPr/>
            </a:pPr>
            <a:r>
              <a:rPr lang="zh-CN" altLang="zh-CN" sz="2400" b="1">
                <a:solidFill>
                  <a:schemeClr val="bg1"/>
                </a:solidFill>
                <a:latin typeface="+mn-ea"/>
                <a:ea typeface="+mn-ea"/>
                <a:cs typeface="Times New Roman" pitchFamily="18" charset="0"/>
              </a:rPr>
              <a:t>质心与重心：</a:t>
            </a:r>
            <a:endParaRPr lang="zh-CN" altLang="zh-CN" sz="1000" b="1">
              <a:solidFill>
                <a:schemeClr val="bg1"/>
              </a:solidFill>
              <a:latin typeface="+mn-ea"/>
              <a:ea typeface="+mn-ea"/>
              <a:cs typeface="Times New Roman" pitchFamily="18" charset="0"/>
            </a:endParaRPr>
          </a:p>
          <a:p>
            <a:pPr>
              <a:defRPr/>
            </a:pPr>
            <a:r>
              <a:rPr lang="zh-CN" altLang="zh-CN" sz="2400" b="1">
                <a:solidFill>
                  <a:schemeClr val="bg1"/>
                </a:solidFill>
                <a:latin typeface="+mn-ea"/>
                <a:ea typeface="+mn-ea"/>
                <a:cs typeface="Times New Roman" pitchFamily="18" charset="0"/>
              </a:rPr>
              <a:t>在地球表面附近的小物体，质心和重心是一致的；在太空中有质心的概念，没有重心的概念；</a:t>
            </a:r>
            <a:r>
              <a:rPr lang="zh-CN" altLang="en-US" sz="2400" b="1">
                <a:solidFill>
                  <a:schemeClr val="bg1"/>
                </a:solidFill>
                <a:latin typeface="+mn-ea"/>
                <a:ea typeface="+mn-ea"/>
                <a:cs typeface="Times New Roman" pitchFamily="18" charset="0"/>
              </a:rPr>
              <a:t>对于一座大山，各处的重力加速度的大小和方向都不能看成常量，这时质心和重心就不重合了</a:t>
            </a:r>
            <a:r>
              <a:rPr lang="en-US" altLang="zh-CN" sz="2400" b="1">
                <a:solidFill>
                  <a:schemeClr val="bg1"/>
                </a:solidFill>
                <a:latin typeface="+mn-ea"/>
                <a:ea typeface="+mn-ea"/>
                <a:cs typeface="Times New Roman" pitchFamily="18" charset="0"/>
              </a:rPr>
              <a:t>.</a:t>
            </a:r>
            <a:r>
              <a:rPr lang="zh-CN" altLang="en-US" sz="2400" b="1">
                <a:solidFill>
                  <a:schemeClr val="bg1"/>
                </a:solidFill>
                <a:latin typeface="+mn-ea"/>
                <a:ea typeface="+mn-ea"/>
                <a:cs typeface="Times New Roman" pitchFamily="18" charset="0"/>
              </a:rPr>
              <a:t> </a:t>
            </a:r>
          </a:p>
          <a:p>
            <a:pPr>
              <a:defRPr/>
            </a:pPr>
            <a:endParaRPr lang="zh-CN" altLang="zh-CN" sz="1000">
              <a:solidFill>
                <a:schemeClr val="bg1"/>
              </a:solidFill>
              <a:latin typeface="黑体" pitchFamily="49" charset="-122"/>
              <a:ea typeface="黑体" pitchFamily="49" charset="-122"/>
              <a:cs typeface="Times New Roman" pitchFamily="18" charset="0"/>
            </a:endParaRPr>
          </a:p>
        </p:txBody>
      </p:sp>
      <p:grpSp>
        <p:nvGrpSpPr>
          <p:cNvPr id="29704" name="Group 3">
            <a:extLst>
              <a:ext uri="{FF2B5EF4-FFF2-40B4-BE49-F238E27FC236}">
                <a16:creationId xmlns:a16="http://schemas.microsoft.com/office/drawing/2014/main" id="{71172CA9-955C-E67E-9C13-29792D11D822}"/>
              </a:ext>
            </a:extLst>
          </p:cNvPr>
          <p:cNvGrpSpPr>
            <a:grpSpLocks/>
          </p:cNvGrpSpPr>
          <p:nvPr/>
        </p:nvGrpSpPr>
        <p:grpSpPr bwMode="auto">
          <a:xfrm>
            <a:off x="6910388" y="347663"/>
            <a:ext cx="1736725" cy="2051050"/>
            <a:chOff x="5958" y="8005"/>
            <a:chExt cx="2736" cy="3230"/>
          </a:xfrm>
        </p:grpSpPr>
        <p:sp>
          <p:nvSpPr>
            <p:cNvPr id="29705" name="Oval 8">
              <a:extLst>
                <a:ext uri="{FF2B5EF4-FFF2-40B4-BE49-F238E27FC236}">
                  <a16:creationId xmlns:a16="http://schemas.microsoft.com/office/drawing/2014/main" id="{1CFD914B-0726-E072-B0AC-6A0FE5AD4933}"/>
                </a:ext>
              </a:extLst>
            </p:cNvPr>
            <p:cNvSpPr>
              <a:spLocks noChangeArrowheads="1"/>
            </p:cNvSpPr>
            <p:nvPr/>
          </p:nvSpPr>
          <p:spPr bwMode="auto">
            <a:xfrm>
              <a:off x="5958" y="8556"/>
              <a:ext cx="2736" cy="2679"/>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6" name="Freeform 7">
              <a:extLst>
                <a:ext uri="{FF2B5EF4-FFF2-40B4-BE49-F238E27FC236}">
                  <a16:creationId xmlns:a16="http://schemas.microsoft.com/office/drawing/2014/main" id="{1423CD9C-CF2B-1054-54B5-306AD87E187D}"/>
                </a:ext>
              </a:extLst>
            </p:cNvPr>
            <p:cNvSpPr>
              <a:spLocks/>
            </p:cNvSpPr>
            <p:nvPr/>
          </p:nvSpPr>
          <p:spPr bwMode="auto">
            <a:xfrm>
              <a:off x="6495" y="8005"/>
              <a:ext cx="1800" cy="932"/>
            </a:xfrm>
            <a:custGeom>
              <a:avLst/>
              <a:gdLst>
                <a:gd name="T0" fmla="*/ 0 w 1800"/>
                <a:gd name="T1" fmla="*/ 812 h 932"/>
                <a:gd name="T2" fmla="*/ 30 w 1800"/>
                <a:gd name="T3" fmla="*/ 692 h 932"/>
                <a:gd name="T4" fmla="*/ 195 w 1800"/>
                <a:gd name="T5" fmla="*/ 527 h 932"/>
                <a:gd name="T6" fmla="*/ 300 w 1800"/>
                <a:gd name="T7" fmla="*/ 437 h 932"/>
                <a:gd name="T8" fmla="*/ 495 w 1800"/>
                <a:gd name="T9" fmla="*/ 242 h 932"/>
                <a:gd name="T10" fmla="*/ 660 w 1800"/>
                <a:gd name="T11" fmla="*/ 122 h 932"/>
                <a:gd name="T12" fmla="*/ 750 w 1800"/>
                <a:gd name="T13" fmla="*/ 62 h 932"/>
                <a:gd name="T14" fmla="*/ 960 w 1800"/>
                <a:gd name="T15" fmla="*/ 2 h 932"/>
                <a:gd name="T16" fmla="*/ 1125 w 1800"/>
                <a:gd name="T17" fmla="*/ 47 h 932"/>
                <a:gd name="T18" fmla="*/ 1140 w 1800"/>
                <a:gd name="T19" fmla="*/ 92 h 932"/>
                <a:gd name="T20" fmla="*/ 1230 w 1800"/>
                <a:gd name="T21" fmla="*/ 122 h 932"/>
                <a:gd name="T22" fmla="*/ 1305 w 1800"/>
                <a:gd name="T23" fmla="*/ 212 h 932"/>
                <a:gd name="T24" fmla="*/ 1335 w 1800"/>
                <a:gd name="T25" fmla="*/ 257 h 932"/>
                <a:gd name="T26" fmla="*/ 1425 w 1800"/>
                <a:gd name="T27" fmla="*/ 287 h 932"/>
                <a:gd name="T28" fmla="*/ 1470 w 1800"/>
                <a:gd name="T29" fmla="*/ 317 h 932"/>
                <a:gd name="T30" fmla="*/ 1575 w 1800"/>
                <a:gd name="T31" fmla="*/ 497 h 932"/>
                <a:gd name="T32" fmla="*/ 1605 w 1800"/>
                <a:gd name="T33" fmla="*/ 587 h 932"/>
                <a:gd name="T34" fmla="*/ 1695 w 1800"/>
                <a:gd name="T35" fmla="*/ 722 h 932"/>
                <a:gd name="T36" fmla="*/ 1755 w 1800"/>
                <a:gd name="T37" fmla="*/ 797 h 932"/>
                <a:gd name="T38" fmla="*/ 1800 w 1800"/>
                <a:gd name="T39" fmla="*/ 932 h 9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800" h="932">
                  <a:moveTo>
                    <a:pt x="0" y="812"/>
                  </a:moveTo>
                  <a:cubicBezTo>
                    <a:pt x="4" y="791"/>
                    <a:pt x="16" y="718"/>
                    <a:pt x="30" y="692"/>
                  </a:cubicBezTo>
                  <a:cubicBezTo>
                    <a:pt x="85" y="594"/>
                    <a:pt x="115" y="596"/>
                    <a:pt x="195" y="527"/>
                  </a:cubicBezTo>
                  <a:cubicBezTo>
                    <a:pt x="341" y="402"/>
                    <a:pt x="125" y="569"/>
                    <a:pt x="300" y="437"/>
                  </a:cubicBezTo>
                  <a:cubicBezTo>
                    <a:pt x="328" y="354"/>
                    <a:pt x="425" y="292"/>
                    <a:pt x="495" y="242"/>
                  </a:cubicBezTo>
                  <a:cubicBezTo>
                    <a:pt x="550" y="202"/>
                    <a:pt x="604" y="161"/>
                    <a:pt x="660" y="122"/>
                  </a:cubicBezTo>
                  <a:cubicBezTo>
                    <a:pt x="690" y="101"/>
                    <a:pt x="715" y="72"/>
                    <a:pt x="750" y="62"/>
                  </a:cubicBezTo>
                  <a:cubicBezTo>
                    <a:pt x="820" y="42"/>
                    <a:pt x="889" y="20"/>
                    <a:pt x="960" y="2"/>
                  </a:cubicBezTo>
                  <a:cubicBezTo>
                    <a:pt x="1007" y="8"/>
                    <a:pt x="1087" y="0"/>
                    <a:pt x="1125" y="47"/>
                  </a:cubicBezTo>
                  <a:cubicBezTo>
                    <a:pt x="1135" y="59"/>
                    <a:pt x="1127" y="83"/>
                    <a:pt x="1140" y="92"/>
                  </a:cubicBezTo>
                  <a:cubicBezTo>
                    <a:pt x="1166" y="110"/>
                    <a:pt x="1230" y="122"/>
                    <a:pt x="1230" y="122"/>
                  </a:cubicBezTo>
                  <a:cubicBezTo>
                    <a:pt x="1304" y="234"/>
                    <a:pt x="1209" y="97"/>
                    <a:pt x="1305" y="212"/>
                  </a:cubicBezTo>
                  <a:cubicBezTo>
                    <a:pt x="1317" y="226"/>
                    <a:pt x="1320" y="247"/>
                    <a:pt x="1335" y="257"/>
                  </a:cubicBezTo>
                  <a:cubicBezTo>
                    <a:pt x="1362" y="274"/>
                    <a:pt x="1399" y="269"/>
                    <a:pt x="1425" y="287"/>
                  </a:cubicBezTo>
                  <a:cubicBezTo>
                    <a:pt x="1440" y="297"/>
                    <a:pt x="1455" y="307"/>
                    <a:pt x="1470" y="317"/>
                  </a:cubicBezTo>
                  <a:cubicBezTo>
                    <a:pt x="1493" y="386"/>
                    <a:pt x="1554" y="435"/>
                    <a:pt x="1575" y="497"/>
                  </a:cubicBezTo>
                  <a:cubicBezTo>
                    <a:pt x="1585" y="527"/>
                    <a:pt x="1587" y="561"/>
                    <a:pt x="1605" y="587"/>
                  </a:cubicBezTo>
                  <a:cubicBezTo>
                    <a:pt x="1635" y="632"/>
                    <a:pt x="1678" y="671"/>
                    <a:pt x="1695" y="722"/>
                  </a:cubicBezTo>
                  <a:cubicBezTo>
                    <a:pt x="1716" y="784"/>
                    <a:pt x="1697" y="758"/>
                    <a:pt x="1755" y="797"/>
                  </a:cubicBezTo>
                  <a:cubicBezTo>
                    <a:pt x="1764" y="842"/>
                    <a:pt x="1766" y="898"/>
                    <a:pt x="1800" y="932"/>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07" name="Line 6">
              <a:extLst>
                <a:ext uri="{FF2B5EF4-FFF2-40B4-BE49-F238E27FC236}">
                  <a16:creationId xmlns:a16="http://schemas.microsoft.com/office/drawing/2014/main" id="{7DA0BC28-977C-A542-EAA8-20951164F14F}"/>
                </a:ext>
              </a:extLst>
            </p:cNvPr>
            <p:cNvSpPr>
              <a:spLocks noChangeShapeType="1"/>
            </p:cNvSpPr>
            <p:nvPr/>
          </p:nvSpPr>
          <p:spPr bwMode="auto">
            <a:xfrm>
              <a:off x="7383" y="8214"/>
              <a:ext cx="0" cy="68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8" name="Line 5">
              <a:extLst>
                <a:ext uri="{FF2B5EF4-FFF2-40B4-BE49-F238E27FC236}">
                  <a16:creationId xmlns:a16="http://schemas.microsoft.com/office/drawing/2014/main" id="{07AD6F53-7A0C-8A2A-7E06-4F629CC4CCF5}"/>
                </a:ext>
              </a:extLst>
            </p:cNvPr>
            <p:cNvSpPr>
              <a:spLocks noChangeShapeType="1"/>
            </p:cNvSpPr>
            <p:nvPr/>
          </p:nvSpPr>
          <p:spPr bwMode="auto">
            <a:xfrm>
              <a:off x="6699" y="8613"/>
              <a:ext cx="171" cy="4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9" name="Line 4">
              <a:extLst>
                <a:ext uri="{FF2B5EF4-FFF2-40B4-BE49-F238E27FC236}">
                  <a16:creationId xmlns:a16="http://schemas.microsoft.com/office/drawing/2014/main" id="{C78DB3A2-D354-FE1D-E735-E5EFAAB909EB}"/>
                </a:ext>
              </a:extLst>
            </p:cNvPr>
            <p:cNvSpPr>
              <a:spLocks noChangeShapeType="1"/>
            </p:cNvSpPr>
            <p:nvPr/>
          </p:nvSpPr>
          <p:spPr bwMode="auto">
            <a:xfrm flipH="1">
              <a:off x="7839" y="8670"/>
              <a:ext cx="228" cy="5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6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2">
            <a:extLst>
              <a:ext uri="{FF2B5EF4-FFF2-40B4-BE49-F238E27FC236}">
                <a16:creationId xmlns:a16="http://schemas.microsoft.com/office/drawing/2014/main" id="{B2DCE987-BB84-4C94-5578-D0908BA6886D}"/>
              </a:ext>
            </a:extLst>
          </p:cNvPr>
          <p:cNvSpPr>
            <a:spLocks noChangeArrowheads="1"/>
          </p:cNvSpPr>
          <p:nvPr/>
        </p:nvSpPr>
        <p:spPr bwMode="auto">
          <a:xfrm>
            <a:off x="179388" y="115888"/>
            <a:ext cx="3076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书中例题</a:t>
            </a:r>
            <a:r>
              <a:rPr lang="en-US" altLang="zh-CN" sz="2400" b="1">
                <a:solidFill>
                  <a:schemeClr val="bg1"/>
                </a:solidFill>
              </a:rPr>
              <a:t>4.14 (P.166)</a:t>
            </a:r>
            <a:endParaRPr lang="zh-CN" altLang="zh-CN" sz="2400" b="1">
              <a:solidFill>
                <a:schemeClr val="bg1"/>
              </a:solidFill>
            </a:endParaRPr>
          </a:p>
        </p:txBody>
      </p:sp>
      <p:sp>
        <p:nvSpPr>
          <p:cNvPr id="4" name="Rectangle 6">
            <a:extLst>
              <a:ext uri="{FF2B5EF4-FFF2-40B4-BE49-F238E27FC236}">
                <a16:creationId xmlns:a16="http://schemas.microsoft.com/office/drawing/2014/main" id="{AD08DB3A-4E96-2F6D-150B-343800B7191C}"/>
              </a:ext>
            </a:extLst>
          </p:cNvPr>
          <p:cNvSpPr>
            <a:spLocks noChangeArrowheads="1"/>
          </p:cNvSpPr>
          <p:nvPr/>
        </p:nvSpPr>
        <p:spPr bwMode="auto">
          <a:xfrm>
            <a:off x="395288" y="2205038"/>
            <a:ext cx="8377237" cy="269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Aft>
                <a:spcPts val="600"/>
              </a:spcAft>
            </a:pPr>
            <a:r>
              <a:rPr lang="zh-CN" altLang="en-US" sz="2400" b="1">
                <a:solidFill>
                  <a:schemeClr val="bg1"/>
                </a:solidFill>
                <a:latin typeface="Times New Roman" panose="02020603050405020304" pitchFamily="18" charset="0"/>
                <a:cs typeface="Times New Roman" panose="02020603050405020304" pitchFamily="18" charset="0"/>
              </a:rPr>
              <a:t>解：人和船组成质点系，在水平方向上外力为</a:t>
            </a:r>
            <a:r>
              <a:rPr lang="en-US" altLang="zh-CN" sz="2400" b="1">
                <a:solidFill>
                  <a:schemeClr val="bg1"/>
                </a:solidFill>
                <a:latin typeface="Times New Roman" panose="02020603050405020304" pitchFamily="18" charset="0"/>
                <a:cs typeface="Times New Roman" panose="02020603050405020304" pitchFamily="18" charset="0"/>
              </a:rPr>
              <a:t>0</a:t>
            </a:r>
            <a:r>
              <a:rPr lang="zh-CN" altLang="en-US" sz="2400" b="1">
                <a:solidFill>
                  <a:schemeClr val="bg1"/>
                </a:solidFill>
                <a:latin typeface="Times New Roman" panose="02020603050405020304" pitchFamily="18" charset="0"/>
                <a:cs typeface="Times New Roman" panose="02020603050405020304" pitchFamily="18" charset="0"/>
              </a:rPr>
              <a:t>。</a:t>
            </a:r>
            <a:endParaRPr lang="zh-CN" altLang="en-US" sz="2400" b="1">
              <a:solidFill>
                <a:schemeClr val="bg1"/>
              </a:solidFill>
            </a:endParaRPr>
          </a:p>
          <a:p>
            <a:pPr>
              <a:spcAft>
                <a:spcPts val="600"/>
              </a:spcAft>
            </a:pPr>
            <a:r>
              <a:rPr lang="zh-CN" altLang="en-US" sz="2400" b="1">
                <a:solidFill>
                  <a:schemeClr val="bg1"/>
                </a:solidFill>
                <a:latin typeface="Times New Roman" panose="02020603050405020304" pitchFamily="18" charset="0"/>
                <a:cs typeface="Times New Roman" panose="02020603050405020304" pitchFamily="18" charset="0"/>
              </a:rPr>
              <a:t>根据质心运动定理，系统质心的加速度</a:t>
            </a:r>
            <a:r>
              <a:rPr lang="en-US" altLang="zh-CN" sz="2400" b="1">
                <a:solidFill>
                  <a:schemeClr val="bg1"/>
                </a:solidFill>
                <a:latin typeface="Times New Roman" panose="02020603050405020304" pitchFamily="18" charset="0"/>
                <a:cs typeface="Times New Roman" panose="02020603050405020304" pitchFamily="18" charset="0"/>
              </a:rPr>
              <a:t>a</a:t>
            </a:r>
            <a:r>
              <a:rPr lang="en-US" altLang="zh-CN" sz="2400" b="1" baseline="-30000">
                <a:solidFill>
                  <a:schemeClr val="bg1"/>
                </a:solidFill>
                <a:latin typeface="Times New Roman" panose="02020603050405020304" pitchFamily="18" charset="0"/>
                <a:cs typeface="Times New Roman" panose="02020603050405020304" pitchFamily="18" charset="0"/>
              </a:rPr>
              <a:t>c</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0</a:t>
            </a:r>
            <a:r>
              <a:rPr lang="zh-CN" altLang="en-US" sz="2400" b="1">
                <a:solidFill>
                  <a:schemeClr val="bg1"/>
                </a:solidFill>
                <a:latin typeface="Times New Roman" panose="02020603050405020304" pitchFamily="18" charset="0"/>
                <a:cs typeface="Times New Roman" panose="02020603050405020304" pitchFamily="18" charset="0"/>
              </a:rPr>
              <a:t>。</a:t>
            </a:r>
            <a:endParaRPr lang="zh-CN" altLang="en-US" sz="2400" b="1">
              <a:solidFill>
                <a:schemeClr val="bg1"/>
              </a:solidFill>
            </a:endParaRPr>
          </a:p>
          <a:p>
            <a:pPr>
              <a:spcAft>
                <a:spcPts val="600"/>
              </a:spcAft>
            </a:pPr>
            <a:r>
              <a:rPr lang="zh-CN" altLang="en-US" sz="2400" b="1">
                <a:solidFill>
                  <a:schemeClr val="bg1"/>
                </a:solidFill>
                <a:latin typeface="Times New Roman" panose="02020603050405020304" pitchFamily="18" charset="0"/>
                <a:cs typeface="Times New Roman" panose="02020603050405020304" pitchFamily="18" charset="0"/>
              </a:rPr>
              <a:t>系统原来处于静止状态，人走动后，质心依然保持不变。</a:t>
            </a:r>
            <a:endParaRPr lang="zh-CN" altLang="en-US" sz="2400" b="1">
              <a:solidFill>
                <a:schemeClr val="bg1"/>
              </a:solidFill>
            </a:endParaRPr>
          </a:p>
          <a:p>
            <a:pPr>
              <a:spcAft>
                <a:spcPts val="600"/>
              </a:spcAft>
            </a:pPr>
            <a:r>
              <a:rPr lang="zh-CN" altLang="en-US" sz="2400" b="1">
                <a:solidFill>
                  <a:schemeClr val="bg1"/>
                </a:solidFill>
                <a:latin typeface="Times New Roman" panose="02020603050405020304" pitchFamily="18" charset="0"/>
                <a:cs typeface="Times New Roman" panose="02020603050405020304" pitchFamily="18" charset="0"/>
              </a:rPr>
              <a:t>                                           走动前		 走动后</a:t>
            </a:r>
            <a:endParaRPr lang="zh-CN" altLang="en-US" sz="2400" b="1">
              <a:solidFill>
                <a:schemeClr val="bg1"/>
              </a:solidFill>
            </a:endParaRPr>
          </a:p>
          <a:p>
            <a:pPr>
              <a:spcAft>
                <a:spcPts val="600"/>
              </a:spcAft>
            </a:pPr>
            <a:r>
              <a:rPr lang="zh-CN" altLang="en-US" sz="2400" b="1">
                <a:solidFill>
                  <a:schemeClr val="bg1"/>
                </a:solidFill>
                <a:latin typeface="Times New Roman" panose="02020603050405020304" pitchFamily="18" charset="0"/>
                <a:cs typeface="Times New Roman" panose="02020603050405020304" pitchFamily="18" charset="0"/>
              </a:rPr>
              <a:t>人相对岸的位置坐标：     </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1</a:t>
            </a:r>
            <a:r>
              <a:rPr lang="en-US" altLang="zh-CN" sz="2400" b="1">
                <a:solidFill>
                  <a:schemeClr val="bg1"/>
                </a:solidFill>
                <a:latin typeface="Times New Roman" panose="02020603050405020304" pitchFamily="18" charset="0"/>
                <a:cs typeface="Times New Roman" panose="02020603050405020304" pitchFamily="18" charset="0"/>
              </a:rPr>
              <a:t> 	</a:t>
            </a:r>
            <a:r>
              <a:rPr lang="zh-CN" altLang="en-US" sz="2400" b="1">
                <a:solidFill>
                  <a:schemeClr val="bg1"/>
                </a:solidFill>
                <a:latin typeface="Times New Roman" panose="02020603050405020304" pitchFamily="18" charset="0"/>
                <a:cs typeface="Times New Roman" panose="02020603050405020304" pitchFamily="18" charset="0"/>
              </a:rPr>
              <a:t> 	     </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1</a:t>
            </a:r>
            <a:r>
              <a:rPr lang="en-US" altLang="zh-CN" sz="2400" b="1">
                <a:solidFill>
                  <a:schemeClr val="bg1"/>
                </a:solidFill>
                <a:cs typeface="Times New Roman" panose="02020603050405020304" pitchFamily="18" charset="0"/>
              </a:rPr>
              <a:t>’</a:t>
            </a:r>
            <a:endParaRPr lang="en-US" altLang="zh-CN" sz="2400" b="1">
              <a:solidFill>
                <a:schemeClr val="bg1"/>
              </a:solidFill>
            </a:endParaRPr>
          </a:p>
          <a:p>
            <a:pPr>
              <a:spcAft>
                <a:spcPts val="600"/>
              </a:spcAft>
            </a:pPr>
            <a:r>
              <a:rPr lang="zh-CN" altLang="en-US" sz="2400" b="1">
                <a:solidFill>
                  <a:schemeClr val="bg1"/>
                </a:solidFill>
                <a:latin typeface="Times New Roman" panose="02020603050405020304" pitchFamily="18" charset="0"/>
                <a:cs typeface="Times New Roman" panose="02020603050405020304" pitchFamily="18" charset="0"/>
              </a:rPr>
              <a:t>船的质心坐标：                 </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2</a:t>
            </a:r>
            <a:r>
              <a:rPr lang="en-US" altLang="zh-CN" sz="2400" b="1">
                <a:solidFill>
                  <a:schemeClr val="bg1"/>
                </a:solidFill>
                <a:latin typeface="Times New Roman" panose="02020603050405020304" pitchFamily="18" charset="0"/>
                <a:cs typeface="Times New Roman" panose="02020603050405020304" pitchFamily="18" charset="0"/>
              </a:rPr>
              <a:t>	 </a:t>
            </a:r>
            <a:r>
              <a:rPr lang="zh-CN" altLang="en-US" sz="2400" b="1">
                <a:solidFill>
                  <a:schemeClr val="bg1"/>
                </a:solidFill>
                <a:latin typeface="Times New Roman" panose="02020603050405020304" pitchFamily="18" charset="0"/>
                <a:cs typeface="Times New Roman" panose="02020603050405020304" pitchFamily="18" charset="0"/>
              </a:rPr>
              <a:t>      	     </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2</a:t>
            </a:r>
            <a:r>
              <a:rPr lang="en-US" altLang="zh-CN" sz="2400" b="1">
                <a:solidFill>
                  <a:schemeClr val="bg1"/>
                </a:solidFill>
                <a:cs typeface="Times New Roman" panose="02020603050405020304" pitchFamily="18" charset="0"/>
              </a:rPr>
              <a:t>’</a:t>
            </a:r>
            <a:endParaRPr lang="en-US" altLang="zh-CN" sz="2400" b="1">
              <a:solidFill>
                <a:schemeClr val="bg1"/>
              </a:solidFill>
            </a:endParaRPr>
          </a:p>
        </p:txBody>
      </p:sp>
      <p:sp>
        <p:nvSpPr>
          <p:cNvPr id="30724" name="矩形 5">
            <a:extLst>
              <a:ext uri="{FF2B5EF4-FFF2-40B4-BE49-F238E27FC236}">
                <a16:creationId xmlns:a16="http://schemas.microsoft.com/office/drawing/2014/main" id="{AA7C0059-9683-5AF9-49CB-AB035807125C}"/>
              </a:ext>
            </a:extLst>
          </p:cNvPr>
          <p:cNvSpPr>
            <a:spLocks noChangeArrowheads="1"/>
          </p:cNvSpPr>
          <p:nvPr/>
        </p:nvSpPr>
        <p:spPr bwMode="auto">
          <a:xfrm>
            <a:off x="187325" y="603250"/>
            <a:ext cx="58340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Aft>
                <a:spcPts val="600"/>
              </a:spcAft>
            </a:pPr>
            <a:r>
              <a:rPr lang="zh-CN" altLang="zh-CN" sz="2400" b="1">
                <a:solidFill>
                  <a:schemeClr val="bg1"/>
                </a:solidFill>
                <a:latin typeface="Times New Roman" panose="02020603050405020304" pitchFamily="18" charset="0"/>
                <a:cs typeface="Times New Roman" panose="02020603050405020304" pitchFamily="18" charset="0"/>
              </a:rPr>
              <a:t>用质心运动定理解</a:t>
            </a:r>
            <a:r>
              <a:rPr lang="en-US" altLang="zh-CN" sz="2400" b="1">
                <a:solidFill>
                  <a:schemeClr val="bg1"/>
                </a:solidFill>
                <a:latin typeface="Times New Roman" panose="02020603050405020304" pitchFamily="18" charset="0"/>
                <a:cs typeface="Times New Roman" panose="02020603050405020304" pitchFamily="18" charset="0"/>
              </a:rPr>
              <a:t>4.7</a:t>
            </a:r>
            <a:r>
              <a:rPr lang="zh-CN" altLang="en-US" sz="2400" b="1">
                <a:solidFill>
                  <a:schemeClr val="bg1"/>
                </a:solidFill>
                <a:latin typeface="Times New Roman" panose="02020603050405020304" pitchFamily="18" charset="0"/>
                <a:cs typeface="Times New Roman" panose="02020603050405020304" pitchFamily="18" charset="0"/>
              </a:rPr>
              <a:t>题。长</a:t>
            </a:r>
            <a:r>
              <a:rPr lang="en-US" altLang="zh-CN" sz="2400" b="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4m</a:t>
            </a:r>
            <a:r>
              <a:rPr lang="zh-CN" altLang="en-US" sz="2400" b="1">
                <a:solidFill>
                  <a:schemeClr val="bg1"/>
                </a:solidFill>
                <a:latin typeface="Times New Roman" panose="02020603050405020304" pitchFamily="18" charset="0"/>
                <a:cs typeface="Times New Roman" panose="02020603050405020304" pitchFamily="18" charset="0"/>
              </a:rPr>
              <a:t>，质量</a:t>
            </a:r>
            <a:r>
              <a:rPr lang="en-US" altLang="zh-CN" sz="2400" b="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150kg</a:t>
            </a:r>
            <a:r>
              <a:rPr lang="zh-CN" altLang="en-US" sz="2400" b="1">
                <a:solidFill>
                  <a:schemeClr val="bg1"/>
                </a:solidFill>
                <a:latin typeface="Times New Roman" panose="02020603050405020304" pitchFamily="18" charset="0"/>
                <a:cs typeface="Times New Roman" panose="02020603050405020304" pitchFamily="18" charset="0"/>
              </a:rPr>
              <a:t>的船静止在湖面上，人的质量</a:t>
            </a:r>
            <a:r>
              <a:rPr lang="en-US" altLang="zh-CN" sz="2400" b="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50kg</a:t>
            </a:r>
            <a:r>
              <a:rPr lang="zh-CN" altLang="en-US" sz="2400" b="1">
                <a:solidFill>
                  <a:schemeClr val="bg1"/>
                </a:solidFill>
                <a:latin typeface="Times New Roman" panose="02020603050405020304" pitchFamily="18" charset="0"/>
                <a:cs typeface="Times New Roman" panose="02020603050405020304" pitchFamily="18" charset="0"/>
              </a:rPr>
              <a:t>，人从船头走到船尾。</a:t>
            </a:r>
            <a:endParaRPr lang="zh-CN" altLang="en-US" sz="2400" b="1">
              <a:solidFill>
                <a:schemeClr val="bg1"/>
              </a:solidFill>
            </a:endParaRPr>
          </a:p>
        </p:txBody>
      </p:sp>
      <p:grpSp>
        <p:nvGrpSpPr>
          <p:cNvPr id="30725" name="Group 7">
            <a:extLst>
              <a:ext uri="{FF2B5EF4-FFF2-40B4-BE49-F238E27FC236}">
                <a16:creationId xmlns:a16="http://schemas.microsoft.com/office/drawing/2014/main" id="{11947EDA-9D8F-7DD6-769B-073BAFEBC454}"/>
              </a:ext>
            </a:extLst>
          </p:cNvPr>
          <p:cNvGrpSpPr>
            <a:grpSpLocks/>
          </p:cNvGrpSpPr>
          <p:nvPr/>
        </p:nvGrpSpPr>
        <p:grpSpPr bwMode="auto">
          <a:xfrm>
            <a:off x="6788150" y="760413"/>
            <a:ext cx="1876425" cy="885825"/>
            <a:chOff x="5925" y="3885"/>
            <a:chExt cx="2955" cy="1395"/>
          </a:xfrm>
        </p:grpSpPr>
        <p:sp>
          <p:nvSpPr>
            <p:cNvPr id="8" name="AutoShape 8">
              <a:extLst>
                <a:ext uri="{FF2B5EF4-FFF2-40B4-BE49-F238E27FC236}">
                  <a16:creationId xmlns:a16="http://schemas.microsoft.com/office/drawing/2014/main" id="{A85CC24C-F66F-4A5E-AE98-BAD7EB96DC46}"/>
                </a:ext>
              </a:extLst>
            </p:cNvPr>
            <p:cNvSpPr>
              <a:spLocks noChangeArrowheads="1"/>
            </p:cNvSpPr>
            <p:nvPr/>
          </p:nvSpPr>
          <p:spPr bwMode="auto">
            <a:xfrm>
              <a:off x="6885" y="4605"/>
              <a:ext cx="1995" cy="18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FF"/>
            </a:solidFill>
            <a:ln w="9525">
              <a:solidFill>
                <a:srgbClr val="000000"/>
              </a:solidFill>
              <a:miter lim="800000"/>
              <a:headEnd/>
              <a:tailEnd/>
            </a:ln>
          </p:spPr>
          <p:txBody>
            <a:bodyPr/>
            <a:lstStyle/>
            <a:p>
              <a:pPr eaLnBrk="1" hangingPunct="1">
                <a:defRPr/>
              </a:pPr>
              <a:endParaRPr lang="zh-CN" altLang="en-US" i="1">
                <a:solidFill>
                  <a:schemeClr val="bg1"/>
                </a:solidFill>
                <a:latin typeface="+mn-lt"/>
              </a:endParaRPr>
            </a:p>
          </p:txBody>
        </p:sp>
        <p:sp>
          <p:nvSpPr>
            <p:cNvPr id="9" name="AutoShape 9">
              <a:extLst>
                <a:ext uri="{FF2B5EF4-FFF2-40B4-BE49-F238E27FC236}">
                  <a16:creationId xmlns:a16="http://schemas.microsoft.com/office/drawing/2014/main" id="{5EB2B72F-9726-424F-9C8C-D8B2BC7C9E71}"/>
                </a:ext>
              </a:extLst>
            </p:cNvPr>
            <p:cNvSpPr>
              <a:spLocks noChangeArrowheads="1"/>
            </p:cNvSpPr>
            <p:nvPr/>
          </p:nvSpPr>
          <p:spPr bwMode="auto">
            <a:xfrm>
              <a:off x="5925" y="5100"/>
              <a:ext cx="1995" cy="18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FF"/>
            </a:solidFill>
            <a:ln w="12700">
              <a:solidFill>
                <a:srgbClr val="000000"/>
              </a:solidFill>
              <a:miter lim="800000"/>
              <a:headEnd/>
              <a:tailEnd/>
            </a:ln>
          </p:spPr>
          <p:txBody>
            <a:bodyPr/>
            <a:lstStyle/>
            <a:p>
              <a:pPr eaLnBrk="1" hangingPunct="1">
                <a:defRPr/>
              </a:pPr>
              <a:endParaRPr lang="zh-CN" altLang="en-US" i="1">
                <a:solidFill>
                  <a:schemeClr val="bg1"/>
                </a:solidFill>
                <a:latin typeface="+mn-lt"/>
              </a:endParaRPr>
            </a:p>
          </p:txBody>
        </p:sp>
        <p:sp>
          <p:nvSpPr>
            <p:cNvPr id="10" name="Line 10">
              <a:extLst>
                <a:ext uri="{FF2B5EF4-FFF2-40B4-BE49-F238E27FC236}">
                  <a16:creationId xmlns:a16="http://schemas.microsoft.com/office/drawing/2014/main" id="{728EA2FE-251E-4C9C-8FAB-59EE7F37B852}"/>
                </a:ext>
              </a:extLst>
            </p:cNvPr>
            <p:cNvSpPr>
              <a:spLocks noChangeShapeType="1"/>
            </p:cNvSpPr>
            <p:nvPr/>
          </p:nvSpPr>
          <p:spPr bwMode="auto">
            <a:xfrm flipV="1">
              <a:off x="6945" y="4155"/>
              <a:ext cx="0" cy="450"/>
            </a:xfrm>
            <a:prstGeom prst="line">
              <a:avLst/>
            </a:prstGeom>
            <a:noFill/>
            <a:ln w="19050">
              <a:solidFill>
                <a:srgbClr val="000000"/>
              </a:solidFill>
              <a:round/>
              <a:headEnd/>
              <a:tailEnd type="triangle" w="med" len="med"/>
            </a:ln>
          </p:spPr>
          <p:txBody>
            <a:bodyPr/>
            <a:lstStyle/>
            <a:p>
              <a:pPr eaLnBrk="1" hangingPunct="1">
                <a:defRPr/>
              </a:pPr>
              <a:endParaRPr lang="zh-CN" altLang="en-US" i="1">
                <a:solidFill>
                  <a:schemeClr val="bg1"/>
                </a:solidFill>
                <a:latin typeface="+mn-lt"/>
              </a:endParaRPr>
            </a:p>
          </p:txBody>
        </p:sp>
        <p:sp>
          <p:nvSpPr>
            <p:cNvPr id="11" name="Line 11">
              <a:extLst>
                <a:ext uri="{FF2B5EF4-FFF2-40B4-BE49-F238E27FC236}">
                  <a16:creationId xmlns:a16="http://schemas.microsoft.com/office/drawing/2014/main" id="{5AC6088F-9394-4BEC-BA95-B0D51BD9DEAC}"/>
                </a:ext>
              </a:extLst>
            </p:cNvPr>
            <p:cNvSpPr>
              <a:spLocks noChangeShapeType="1"/>
            </p:cNvSpPr>
            <p:nvPr/>
          </p:nvSpPr>
          <p:spPr bwMode="auto">
            <a:xfrm flipV="1">
              <a:off x="7830" y="4650"/>
              <a:ext cx="0" cy="450"/>
            </a:xfrm>
            <a:prstGeom prst="line">
              <a:avLst/>
            </a:prstGeom>
            <a:noFill/>
            <a:ln w="19050">
              <a:solidFill>
                <a:srgbClr val="000000"/>
              </a:solidFill>
              <a:round/>
              <a:headEnd/>
              <a:tailEnd type="triangle" w="med" len="med"/>
            </a:ln>
          </p:spPr>
          <p:txBody>
            <a:bodyPr/>
            <a:lstStyle/>
            <a:p>
              <a:pPr eaLnBrk="1" hangingPunct="1">
                <a:defRPr/>
              </a:pPr>
              <a:endParaRPr lang="zh-CN" altLang="en-US" i="1">
                <a:solidFill>
                  <a:schemeClr val="bg1"/>
                </a:solidFill>
                <a:latin typeface="+mn-lt"/>
              </a:endParaRPr>
            </a:p>
          </p:txBody>
        </p:sp>
        <p:sp>
          <p:nvSpPr>
            <p:cNvPr id="12" name="Line 12">
              <a:extLst>
                <a:ext uri="{FF2B5EF4-FFF2-40B4-BE49-F238E27FC236}">
                  <a16:creationId xmlns:a16="http://schemas.microsoft.com/office/drawing/2014/main" id="{D1EF5F17-804C-41FA-9F52-51D29D0E1AA2}"/>
                </a:ext>
              </a:extLst>
            </p:cNvPr>
            <p:cNvSpPr>
              <a:spLocks noChangeShapeType="1"/>
            </p:cNvSpPr>
            <p:nvPr/>
          </p:nvSpPr>
          <p:spPr bwMode="auto">
            <a:xfrm>
              <a:off x="5955" y="4200"/>
              <a:ext cx="0" cy="915"/>
            </a:xfrm>
            <a:prstGeom prst="line">
              <a:avLst/>
            </a:prstGeom>
            <a:noFill/>
            <a:ln w="9525">
              <a:solidFill>
                <a:srgbClr val="000000"/>
              </a:solidFill>
              <a:prstDash val="dash"/>
              <a:round/>
              <a:headEnd/>
              <a:tailEnd/>
            </a:ln>
          </p:spPr>
          <p:txBody>
            <a:bodyPr/>
            <a:lstStyle/>
            <a:p>
              <a:pPr eaLnBrk="1" hangingPunct="1">
                <a:defRPr/>
              </a:pPr>
              <a:endParaRPr lang="zh-CN" altLang="en-US" i="1">
                <a:solidFill>
                  <a:schemeClr val="bg1"/>
                </a:solidFill>
                <a:latin typeface="+mn-lt"/>
              </a:endParaRPr>
            </a:p>
          </p:txBody>
        </p:sp>
        <p:sp>
          <p:nvSpPr>
            <p:cNvPr id="13" name="Line 13">
              <a:extLst>
                <a:ext uri="{FF2B5EF4-FFF2-40B4-BE49-F238E27FC236}">
                  <a16:creationId xmlns:a16="http://schemas.microsoft.com/office/drawing/2014/main" id="{27E66BC8-36B2-477B-BB8B-3B1D18E6C920}"/>
                </a:ext>
              </a:extLst>
            </p:cNvPr>
            <p:cNvSpPr>
              <a:spLocks noChangeShapeType="1"/>
            </p:cNvSpPr>
            <p:nvPr/>
          </p:nvSpPr>
          <p:spPr bwMode="auto">
            <a:xfrm flipV="1">
              <a:off x="7845" y="4140"/>
              <a:ext cx="0" cy="525"/>
            </a:xfrm>
            <a:prstGeom prst="line">
              <a:avLst/>
            </a:prstGeom>
            <a:noFill/>
            <a:ln w="9525">
              <a:solidFill>
                <a:srgbClr val="000000"/>
              </a:solidFill>
              <a:prstDash val="dash"/>
              <a:round/>
              <a:headEnd/>
              <a:tailEnd/>
            </a:ln>
          </p:spPr>
          <p:txBody>
            <a:bodyPr/>
            <a:lstStyle/>
            <a:p>
              <a:pPr eaLnBrk="1" hangingPunct="1">
                <a:defRPr/>
              </a:pPr>
              <a:endParaRPr lang="zh-CN" altLang="en-US" i="1">
                <a:solidFill>
                  <a:schemeClr val="bg1"/>
                </a:solidFill>
                <a:latin typeface="+mn-lt"/>
              </a:endParaRPr>
            </a:p>
          </p:txBody>
        </p:sp>
        <p:sp>
          <p:nvSpPr>
            <p:cNvPr id="14" name="Text Box 14">
              <a:extLst>
                <a:ext uri="{FF2B5EF4-FFF2-40B4-BE49-F238E27FC236}">
                  <a16:creationId xmlns:a16="http://schemas.microsoft.com/office/drawing/2014/main" id="{7734937E-901E-4F96-9907-210D7FD7F87A}"/>
                </a:ext>
              </a:extLst>
            </p:cNvPr>
            <p:cNvSpPr txBox="1">
              <a:spLocks noChangeArrowheads="1"/>
            </p:cNvSpPr>
            <p:nvPr/>
          </p:nvSpPr>
          <p:spPr bwMode="auto">
            <a:xfrm>
              <a:off x="6165" y="3885"/>
              <a:ext cx="675" cy="675"/>
            </a:xfrm>
            <a:prstGeom prst="rect">
              <a:avLst/>
            </a:prstGeom>
            <a:noFill/>
            <a:ln>
              <a:noFill/>
            </a:ln>
          </p:spPr>
          <p:txBody>
            <a:bodyPr/>
            <a:lstStyle/>
            <a:p>
              <a:pPr algn="just" eaLnBrk="1" hangingPunct="1">
                <a:defRPr/>
              </a:pPr>
              <a:r>
                <a:rPr lang="en-US" altLang="zh-CN" i="1">
                  <a:solidFill>
                    <a:schemeClr val="bg1"/>
                  </a:solidFill>
                  <a:latin typeface="+mn-lt"/>
                </a:rPr>
                <a:t>S</a:t>
              </a:r>
              <a:endParaRPr lang="zh-CN" altLang="zh-CN" i="1">
                <a:solidFill>
                  <a:schemeClr val="bg1"/>
                </a:solidFill>
                <a:latin typeface="+mn-lt"/>
              </a:endParaRPr>
            </a:p>
          </p:txBody>
        </p:sp>
        <p:sp>
          <p:nvSpPr>
            <p:cNvPr id="15" name="Text Box 15">
              <a:extLst>
                <a:ext uri="{FF2B5EF4-FFF2-40B4-BE49-F238E27FC236}">
                  <a16:creationId xmlns:a16="http://schemas.microsoft.com/office/drawing/2014/main" id="{2C78CA9E-03C2-41DA-93EA-753E5E0AEE81}"/>
                </a:ext>
              </a:extLst>
            </p:cNvPr>
            <p:cNvSpPr txBox="1">
              <a:spLocks noChangeArrowheads="1"/>
            </p:cNvSpPr>
            <p:nvPr/>
          </p:nvSpPr>
          <p:spPr bwMode="auto">
            <a:xfrm>
              <a:off x="7170" y="3885"/>
              <a:ext cx="675" cy="675"/>
            </a:xfrm>
            <a:prstGeom prst="rect">
              <a:avLst/>
            </a:prstGeom>
            <a:noFill/>
            <a:ln>
              <a:noFill/>
            </a:ln>
          </p:spPr>
          <p:txBody>
            <a:bodyPr/>
            <a:lstStyle/>
            <a:p>
              <a:pPr algn="just" eaLnBrk="1" hangingPunct="1">
                <a:defRPr/>
              </a:pPr>
              <a:r>
                <a:rPr lang="en-US" altLang="zh-CN" i="1">
                  <a:solidFill>
                    <a:schemeClr val="bg1"/>
                  </a:solidFill>
                  <a:latin typeface="+mn-lt"/>
                </a:rPr>
                <a:t>s</a:t>
              </a:r>
              <a:endParaRPr lang="zh-CN" altLang="zh-CN" i="1">
                <a:solidFill>
                  <a:schemeClr val="bg1"/>
                </a:solidFill>
                <a:latin typeface="+mn-lt"/>
              </a:endParaRPr>
            </a:p>
          </p:txBody>
        </p:sp>
      </p:grpSp>
      <p:pic>
        <p:nvPicPr>
          <p:cNvPr id="30736" name="Picture 16">
            <a:extLst>
              <a:ext uri="{FF2B5EF4-FFF2-40B4-BE49-F238E27FC236}">
                <a16:creationId xmlns:a16="http://schemas.microsoft.com/office/drawing/2014/main" id="{6E5A1571-7EC8-C2B6-527F-CE650A758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8688" y="5038725"/>
            <a:ext cx="1766887" cy="715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737" name="Picture 17">
            <a:extLst>
              <a:ext uri="{FF2B5EF4-FFF2-40B4-BE49-F238E27FC236}">
                <a16:creationId xmlns:a16="http://schemas.microsoft.com/office/drawing/2014/main" id="{6E07E0D0-E2AE-CA62-A58B-B09DF7EB52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8350" y="5013325"/>
            <a:ext cx="1733550" cy="741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3DC3E5D2-B417-1C3C-3644-766AB994E029}"/>
              </a:ext>
            </a:extLst>
          </p:cNvPr>
          <p:cNvSpPr>
            <a:spLocks noChangeArrowheads="1"/>
          </p:cNvSpPr>
          <p:nvPr/>
        </p:nvSpPr>
        <p:spPr bwMode="auto">
          <a:xfrm>
            <a:off x="250825" y="4924425"/>
            <a:ext cx="30051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latin typeface="Times New Roman" panose="02020603050405020304" pitchFamily="18" charset="0"/>
                <a:cs typeface="Times New Roman" panose="02020603050405020304" pitchFamily="18" charset="0"/>
              </a:rPr>
              <a:t>人和船组成的系统的质心坐标：</a:t>
            </a:r>
            <a:endParaRPr lang="zh-CN" altLang="en-US" sz="240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07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7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DD4CF294-169E-E9B8-4143-5CE9B366AE6E}"/>
              </a:ext>
            </a:extLst>
          </p:cNvPr>
          <p:cNvSpPr>
            <a:spLocks noChangeArrowheads="1"/>
          </p:cNvSpPr>
          <p:nvPr/>
        </p:nvSpPr>
        <p:spPr bwMode="auto">
          <a:xfrm>
            <a:off x="744538" y="568325"/>
            <a:ext cx="6842125" cy="255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Aft>
                <a:spcPts val="1200"/>
              </a:spcAft>
            </a:pPr>
            <a:r>
              <a:rPr lang="zh-CN" altLang="zh-CN" sz="2400" b="1">
                <a:solidFill>
                  <a:schemeClr val="bg1"/>
                </a:solidFill>
                <a:latin typeface="Times New Roman" panose="02020603050405020304" pitchFamily="18" charset="0"/>
                <a:cs typeface="Times New Roman" panose="02020603050405020304" pitchFamily="18" charset="0"/>
              </a:rPr>
              <a:t>走动后的位置变化：</a:t>
            </a:r>
            <a:endParaRPr lang="zh-CN" altLang="zh-CN" sz="2400" b="1">
              <a:solidFill>
                <a:schemeClr val="bg1"/>
              </a:solidFill>
            </a:endParaRPr>
          </a:p>
          <a:p>
            <a:pPr>
              <a:spcAft>
                <a:spcPts val="1200"/>
              </a:spcAft>
            </a:pPr>
            <a:r>
              <a:rPr lang="zh-CN" altLang="zh-CN" sz="2400" b="1">
                <a:solidFill>
                  <a:schemeClr val="bg1"/>
                </a:solidFill>
                <a:latin typeface="Times New Roman" panose="02020603050405020304" pitchFamily="18" charset="0"/>
                <a:cs typeface="Times New Roman" panose="02020603050405020304" pitchFamily="18" charset="0"/>
              </a:rPr>
              <a:t>船相对岸移动了－</a:t>
            </a:r>
            <a:r>
              <a:rPr lang="en-US" altLang="zh-CN" sz="2400" b="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            </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2</a:t>
            </a:r>
            <a:r>
              <a:rPr lang="en-US" altLang="zh-CN" sz="2400" b="1">
                <a:solidFill>
                  <a:schemeClr val="bg1"/>
                </a:solidFill>
                <a:cs typeface="Times New Roman" panose="02020603050405020304" pitchFamily="18" charset="0"/>
              </a:rPr>
              <a:t>’</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2</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S </a:t>
            </a:r>
            <a:endParaRPr lang="en-US" altLang="zh-CN" sz="2400" b="1">
              <a:solidFill>
                <a:schemeClr val="bg1"/>
              </a:solidFill>
            </a:endParaRPr>
          </a:p>
          <a:p>
            <a:pPr>
              <a:spcAft>
                <a:spcPts val="1200"/>
              </a:spcAft>
            </a:pPr>
            <a:r>
              <a:rPr lang="zh-CN" altLang="en-US" sz="2400" b="1">
                <a:solidFill>
                  <a:schemeClr val="bg1"/>
                </a:solidFill>
                <a:latin typeface="Times New Roman" panose="02020603050405020304" pitchFamily="18" charset="0"/>
                <a:cs typeface="Times New Roman" panose="02020603050405020304" pitchFamily="18" charset="0"/>
              </a:rPr>
              <a:t>人相对船移动了</a:t>
            </a:r>
            <a:r>
              <a:rPr lang="en-US" altLang="zh-CN" sz="2400" b="1" i="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a:t>
            </a:r>
            <a:endParaRPr lang="zh-CN" altLang="en-US" sz="2400" b="1">
              <a:solidFill>
                <a:schemeClr val="bg1"/>
              </a:solidFill>
            </a:endParaRPr>
          </a:p>
          <a:p>
            <a:pPr>
              <a:spcAft>
                <a:spcPts val="1200"/>
              </a:spcAft>
            </a:pPr>
            <a:r>
              <a:rPr lang="zh-CN" altLang="en-US" sz="2400" b="1">
                <a:solidFill>
                  <a:schemeClr val="bg1"/>
                </a:solidFill>
                <a:latin typeface="Times New Roman" panose="02020603050405020304" pitchFamily="18" charset="0"/>
                <a:cs typeface="Times New Roman" panose="02020603050405020304" pitchFamily="18" charset="0"/>
              </a:rPr>
              <a:t>人相对岸移动了</a:t>
            </a:r>
            <a:r>
              <a:rPr lang="en-US" altLang="zh-CN" sz="2400" b="1" i="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S</a:t>
            </a:r>
            <a:r>
              <a:rPr lang="zh-CN" altLang="en-US" sz="2400" b="1">
                <a:solidFill>
                  <a:schemeClr val="bg1"/>
                </a:solidFill>
                <a:latin typeface="Times New Roman" panose="02020603050405020304" pitchFamily="18" charset="0"/>
                <a:cs typeface="Times New Roman" panose="02020603050405020304" pitchFamily="18" charset="0"/>
              </a:rPr>
              <a:t>，          </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1</a:t>
            </a:r>
            <a:r>
              <a:rPr lang="en-US" altLang="zh-CN" sz="2400" b="1">
                <a:solidFill>
                  <a:schemeClr val="bg1"/>
                </a:solidFill>
                <a:cs typeface="Times New Roman" panose="02020603050405020304" pitchFamily="18" charset="0"/>
              </a:rPr>
              <a:t>’</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1</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S</a:t>
            </a:r>
            <a:endParaRPr lang="en-US" altLang="zh-CN" sz="2400" b="1">
              <a:solidFill>
                <a:schemeClr val="bg1"/>
              </a:solidFill>
            </a:endParaRPr>
          </a:p>
          <a:p>
            <a:pPr>
              <a:spcAft>
                <a:spcPts val="1200"/>
              </a:spcAft>
            </a:pPr>
            <a:r>
              <a:rPr lang="zh-CN" altLang="en-US" sz="2400" b="1">
                <a:solidFill>
                  <a:schemeClr val="bg1"/>
                </a:solidFill>
                <a:latin typeface="Times New Roman" panose="02020603050405020304" pitchFamily="18" charset="0"/>
                <a:cs typeface="Times New Roman" panose="02020603050405020304" pitchFamily="18" charset="0"/>
              </a:rPr>
              <a:t>质心坐标保持不变：                 </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c</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baseline="-30000">
                <a:solidFill>
                  <a:schemeClr val="bg1"/>
                </a:solidFill>
                <a:latin typeface="Times New Roman" panose="02020603050405020304" pitchFamily="18" charset="0"/>
                <a:cs typeface="Times New Roman" panose="02020603050405020304" pitchFamily="18" charset="0"/>
              </a:rPr>
              <a:t>c</a:t>
            </a:r>
            <a:r>
              <a:rPr lang="en-US" altLang="zh-CN" sz="2400" b="1">
                <a:solidFill>
                  <a:schemeClr val="bg1"/>
                </a:solidFill>
                <a:cs typeface="Times New Roman" panose="02020603050405020304" pitchFamily="18" charset="0"/>
              </a:rPr>
              <a:t>’</a:t>
            </a:r>
            <a:endParaRPr lang="en-US" altLang="zh-CN" sz="2400" b="1">
              <a:solidFill>
                <a:schemeClr val="bg1"/>
              </a:solidFill>
            </a:endParaRPr>
          </a:p>
        </p:txBody>
      </p:sp>
      <p:grpSp>
        <p:nvGrpSpPr>
          <p:cNvPr id="31747" name="Group 7">
            <a:extLst>
              <a:ext uri="{FF2B5EF4-FFF2-40B4-BE49-F238E27FC236}">
                <a16:creationId xmlns:a16="http://schemas.microsoft.com/office/drawing/2014/main" id="{FC82434C-0D67-AD73-911E-E9960B6E4D0C}"/>
              </a:ext>
            </a:extLst>
          </p:cNvPr>
          <p:cNvGrpSpPr>
            <a:grpSpLocks/>
          </p:cNvGrpSpPr>
          <p:nvPr/>
        </p:nvGrpSpPr>
        <p:grpSpPr bwMode="auto">
          <a:xfrm>
            <a:off x="6946900" y="935038"/>
            <a:ext cx="1876425" cy="885825"/>
            <a:chOff x="5925" y="3885"/>
            <a:chExt cx="2955" cy="1395"/>
          </a:xfrm>
        </p:grpSpPr>
        <p:sp>
          <p:nvSpPr>
            <p:cNvPr id="5" name="AutoShape 8">
              <a:extLst>
                <a:ext uri="{FF2B5EF4-FFF2-40B4-BE49-F238E27FC236}">
                  <a16:creationId xmlns:a16="http://schemas.microsoft.com/office/drawing/2014/main" id="{3C419AA5-5DC5-4125-86B7-D26574AFB510}"/>
                </a:ext>
              </a:extLst>
            </p:cNvPr>
            <p:cNvSpPr>
              <a:spLocks noChangeArrowheads="1"/>
            </p:cNvSpPr>
            <p:nvPr/>
          </p:nvSpPr>
          <p:spPr bwMode="auto">
            <a:xfrm>
              <a:off x="6885" y="4605"/>
              <a:ext cx="1995" cy="18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FF"/>
            </a:solidFill>
            <a:ln w="9525">
              <a:solidFill>
                <a:srgbClr val="000000"/>
              </a:solidFill>
              <a:miter lim="800000"/>
              <a:headEnd/>
              <a:tailEnd/>
            </a:ln>
          </p:spPr>
          <p:txBody>
            <a:bodyPr/>
            <a:lstStyle/>
            <a:p>
              <a:pPr eaLnBrk="1" hangingPunct="1">
                <a:defRPr/>
              </a:pPr>
              <a:endParaRPr lang="zh-CN" altLang="en-US" sz="2400" i="1">
                <a:solidFill>
                  <a:schemeClr val="bg1"/>
                </a:solidFill>
                <a:latin typeface="+mn-lt"/>
              </a:endParaRPr>
            </a:p>
          </p:txBody>
        </p:sp>
        <p:sp>
          <p:nvSpPr>
            <p:cNvPr id="6" name="AutoShape 9">
              <a:extLst>
                <a:ext uri="{FF2B5EF4-FFF2-40B4-BE49-F238E27FC236}">
                  <a16:creationId xmlns:a16="http://schemas.microsoft.com/office/drawing/2014/main" id="{9BB7DE06-1C13-4AAE-8F30-1BB43930E030}"/>
                </a:ext>
              </a:extLst>
            </p:cNvPr>
            <p:cNvSpPr>
              <a:spLocks noChangeArrowheads="1"/>
            </p:cNvSpPr>
            <p:nvPr/>
          </p:nvSpPr>
          <p:spPr bwMode="auto">
            <a:xfrm>
              <a:off x="5925" y="5100"/>
              <a:ext cx="1995" cy="18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FF"/>
            </a:solidFill>
            <a:ln w="12700">
              <a:solidFill>
                <a:srgbClr val="000000"/>
              </a:solidFill>
              <a:miter lim="800000"/>
              <a:headEnd/>
              <a:tailEnd/>
            </a:ln>
          </p:spPr>
          <p:txBody>
            <a:bodyPr/>
            <a:lstStyle/>
            <a:p>
              <a:pPr eaLnBrk="1" hangingPunct="1">
                <a:defRPr/>
              </a:pPr>
              <a:endParaRPr lang="zh-CN" altLang="en-US" sz="2400" i="1">
                <a:solidFill>
                  <a:schemeClr val="bg1"/>
                </a:solidFill>
                <a:latin typeface="+mn-lt"/>
              </a:endParaRPr>
            </a:p>
          </p:txBody>
        </p:sp>
        <p:sp>
          <p:nvSpPr>
            <p:cNvPr id="7" name="Line 10">
              <a:extLst>
                <a:ext uri="{FF2B5EF4-FFF2-40B4-BE49-F238E27FC236}">
                  <a16:creationId xmlns:a16="http://schemas.microsoft.com/office/drawing/2014/main" id="{37BDF29F-6481-4120-8BC1-6EC7C5101987}"/>
                </a:ext>
              </a:extLst>
            </p:cNvPr>
            <p:cNvSpPr>
              <a:spLocks noChangeShapeType="1"/>
            </p:cNvSpPr>
            <p:nvPr/>
          </p:nvSpPr>
          <p:spPr bwMode="auto">
            <a:xfrm flipV="1">
              <a:off x="6945" y="4155"/>
              <a:ext cx="0" cy="450"/>
            </a:xfrm>
            <a:prstGeom prst="line">
              <a:avLst/>
            </a:prstGeom>
            <a:noFill/>
            <a:ln w="19050">
              <a:solidFill>
                <a:srgbClr val="000000"/>
              </a:solidFill>
              <a:round/>
              <a:headEnd/>
              <a:tailEnd type="triangle" w="med" len="med"/>
            </a:ln>
          </p:spPr>
          <p:txBody>
            <a:bodyPr/>
            <a:lstStyle/>
            <a:p>
              <a:pPr eaLnBrk="1" hangingPunct="1">
                <a:defRPr/>
              </a:pPr>
              <a:endParaRPr lang="zh-CN" altLang="en-US" sz="2400" i="1">
                <a:solidFill>
                  <a:schemeClr val="bg1"/>
                </a:solidFill>
                <a:latin typeface="+mn-lt"/>
              </a:endParaRPr>
            </a:p>
          </p:txBody>
        </p:sp>
        <p:sp>
          <p:nvSpPr>
            <p:cNvPr id="8" name="Line 11">
              <a:extLst>
                <a:ext uri="{FF2B5EF4-FFF2-40B4-BE49-F238E27FC236}">
                  <a16:creationId xmlns:a16="http://schemas.microsoft.com/office/drawing/2014/main" id="{2EFE64E4-666E-4C1D-9968-0A6E59F4DCE9}"/>
                </a:ext>
              </a:extLst>
            </p:cNvPr>
            <p:cNvSpPr>
              <a:spLocks noChangeShapeType="1"/>
            </p:cNvSpPr>
            <p:nvPr/>
          </p:nvSpPr>
          <p:spPr bwMode="auto">
            <a:xfrm flipV="1">
              <a:off x="7830" y="4650"/>
              <a:ext cx="0" cy="450"/>
            </a:xfrm>
            <a:prstGeom prst="line">
              <a:avLst/>
            </a:prstGeom>
            <a:noFill/>
            <a:ln w="19050">
              <a:solidFill>
                <a:srgbClr val="000000"/>
              </a:solidFill>
              <a:round/>
              <a:headEnd/>
              <a:tailEnd type="triangle" w="med" len="med"/>
            </a:ln>
          </p:spPr>
          <p:txBody>
            <a:bodyPr/>
            <a:lstStyle/>
            <a:p>
              <a:pPr eaLnBrk="1" hangingPunct="1">
                <a:defRPr/>
              </a:pPr>
              <a:endParaRPr lang="zh-CN" altLang="en-US" sz="2400" i="1">
                <a:solidFill>
                  <a:schemeClr val="bg1"/>
                </a:solidFill>
                <a:latin typeface="+mn-lt"/>
              </a:endParaRPr>
            </a:p>
          </p:txBody>
        </p:sp>
        <p:sp>
          <p:nvSpPr>
            <p:cNvPr id="9" name="Line 12">
              <a:extLst>
                <a:ext uri="{FF2B5EF4-FFF2-40B4-BE49-F238E27FC236}">
                  <a16:creationId xmlns:a16="http://schemas.microsoft.com/office/drawing/2014/main" id="{6BD3781B-4898-40A1-9A77-A10C214D01EA}"/>
                </a:ext>
              </a:extLst>
            </p:cNvPr>
            <p:cNvSpPr>
              <a:spLocks noChangeShapeType="1"/>
            </p:cNvSpPr>
            <p:nvPr/>
          </p:nvSpPr>
          <p:spPr bwMode="auto">
            <a:xfrm>
              <a:off x="5955" y="4200"/>
              <a:ext cx="0" cy="915"/>
            </a:xfrm>
            <a:prstGeom prst="line">
              <a:avLst/>
            </a:prstGeom>
            <a:noFill/>
            <a:ln w="9525">
              <a:solidFill>
                <a:srgbClr val="000000"/>
              </a:solidFill>
              <a:prstDash val="dash"/>
              <a:round/>
              <a:headEnd/>
              <a:tailEnd/>
            </a:ln>
          </p:spPr>
          <p:txBody>
            <a:bodyPr/>
            <a:lstStyle/>
            <a:p>
              <a:pPr eaLnBrk="1" hangingPunct="1">
                <a:defRPr/>
              </a:pPr>
              <a:endParaRPr lang="zh-CN" altLang="en-US" sz="2400" i="1">
                <a:solidFill>
                  <a:schemeClr val="bg1"/>
                </a:solidFill>
                <a:latin typeface="+mn-lt"/>
              </a:endParaRPr>
            </a:p>
          </p:txBody>
        </p:sp>
        <p:sp>
          <p:nvSpPr>
            <p:cNvPr id="10" name="Line 13">
              <a:extLst>
                <a:ext uri="{FF2B5EF4-FFF2-40B4-BE49-F238E27FC236}">
                  <a16:creationId xmlns:a16="http://schemas.microsoft.com/office/drawing/2014/main" id="{D6F987DA-7213-44E8-B59B-E8E9511243D4}"/>
                </a:ext>
              </a:extLst>
            </p:cNvPr>
            <p:cNvSpPr>
              <a:spLocks noChangeShapeType="1"/>
            </p:cNvSpPr>
            <p:nvPr/>
          </p:nvSpPr>
          <p:spPr bwMode="auto">
            <a:xfrm flipV="1">
              <a:off x="7845" y="4140"/>
              <a:ext cx="0" cy="525"/>
            </a:xfrm>
            <a:prstGeom prst="line">
              <a:avLst/>
            </a:prstGeom>
            <a:noFill/>
            <a:ln w="9525">
              <a:solidFill>
                <a:srgbClr val="000000"/>
              </a:solidFill>
              <a:prstDash val="dash"/>
              <a:round/>
              <a:headEnd/>
              <a:tailEnd/>
            </a:ln>
          </p:spPr>
          <p:txBody>
            <a:bodyPr/>
            <a:lstStyle/>
            <a:p>
              <a:pPr eaLnBrk="1" hangingPunct="1">
                <a:defRPr/>
              </a:pPr>
              <a:endParaRPr lang="zh-CN" altLang="en-US" sz="2400" i="1">
                <a:solidFill>
                  <a:schemeClr val="bg1"/>
                </a:solidFill>
                <a:latin typeface="+mn-lt"/>
              </a:endParaRPr>
            </a:p>
          </p:txBody>
        </p:sp>
        <p:sp>
          <p:nvSpPr>
            <p:cNvPr id="11" name="Text Box 14">
              <a:extLst>
                <a:ext uri="{FF2B5EF4-FFF2-40B4-BE49-F238E27FC236}">
                  <a16:creationId xmlns:a16="http://schemas.microsoft.com/office/drawing/2014/main" id="{CF2C6995-1768-4723-98C8-69C048A887CD}"/>
                </a:ext>
              </a:extLst>
            </p:cNvPr>
            <p:cNvSpPr txBox="1">
              <a:spLocks noChangeArrowheads="1"/>
            </p:cNvSpPr>
            <p:nvPr/>
          </p:nvSpPr>
          <p:spPr bwMode="auto">
            <a:xfrm>
              <a:off x="6165" y="3885"/>
              <a:ext cx="675" cy="675"/>
            </a:xfrm>
            <a:prstGeom prst="rect">
              <a:avLst/>
            </a:prstGeom>
            <a:noFill/>
            <a:ln>
              <a:noFill/>
            </a:ln>
          </p:spPr>
          <p:txBody>
            <a:bodyPr/>
            <a:lstStyle/>
            <a:p>
              <a:pPr algn="just" eaLnBrk="1" hangingPunct="1">
                <a:defRPr/>
              </a:pPr>
              <a:r>
                <a:rPr lang="en-US" altLang="zh-CN" sz="2400" i="1">
                  <a:solidFill>
                    <a:schemeClr val="bg1"/>
                  </a:solidFill>
                  <a:latin typeface="+mn-lt"/>
                </a:rPr>
                <a:t>S</a:t>
              </a:r>
              <a:endParaRPr lang="zh-CN" altLang="zh-CN" sz="2400" i="1">
                <a:solidFill>
                  <a:schemeClr val="bg1"/>
                </a:solidFill>
                <a:latin typeface="+mn-lt"/>
              </a:endParaRPr>
            </a:p>
          </p:txBody>
        </p:sp>
        <p:sp>
          <p:nvSpPr>
            <p:cNvPr id="12" name="Text Box 15">
              <a:extLst>
                <a:ext uri="{FF2B5EF4-FFF2-40B4-BE49-F238E27FC236}">
                  <a16:creationId xmlns:a16="http://schemas.microsoft.com/office/drawing/2014/main" id="{5D514A6A-FA99-4814-855D-5C8096D6AC1F}"/>
                </a:ext>
              </a:extLst>
            </p:cNvPr>
            <p:cNvSpPr txBox="1">
              <a:spLocks noChangeArrowheads="1"/>
            </p:cNvSpPr>
            <p:nvPr/>
          </p:nvSpPr>
          <p:spPr bwMode="auto">
            <a:xfrm>
              <a:off x="7170" y="3885"/>
              <a:ext cx="675" cy="675"/>
            </a:xfrm>
            <a:prstGeom prst="rect">
              <a:avLst/>
            </a:prstGeom>
            <a:noFill/>
            <a:ln>
              <a:noFill/>
            </a:ln>
          </p:spPr>
          <p:txBody>
            <a:bodyPr/>
            <a:lstStyle/>
            <a:p>
              <a:pPr algn="just" eaLnBrk="1" hangingPunct="1">
                <a:defRPr/>
              </a:pPr>
              <a:r>
                <a:rPr lang="en-US" altLang="zh-CN" sz="2400" i="1">
                  <a:solidFill>
                    <a:schemeClr val="bg1"/>
                  </a:solidFill>
                  <a:latin typeface="+mn-lt"/>
                </a:rPr>
                <a:t>s</a:t>
              </a:r>
              <a:endParaRPr lang="zh-CN" altLang="zh-CN" sz="2400" i="1">
                <a:solidFill>
                  <a:schemeClr val="bg1"/>
                </a:solidFill>
                <a:latin typeface="+mn-lt"/>
              </a:endParaRPr>
            </a:p>
          </p:txBody>
        </p:sp>
      </p:grpSp>
      <p:pic>
        <p:nvPicPr>
          <p:cNvPr id="31748" name="Picture 4">
            <a:extLst>
              <a:ext uri="{FF2B5EF4-FFF2-40B4-BE49-F238E27FC236}">
                <a16:creationId xmlns:a16="http://schemas.microsoft.com/office/drawing/2014/main" id="{9C2C191B-A032-80E5-3F46-1651231131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3400425"/>
            <a:ext cx="4043363" cy="665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1749" name="Picture 5">
            <a:extLst>
              <a:ext uri="{FF2B5EF4-FFF2-40B4-BE49-F238E27FC236}">
                <a16:creationId xmlns:a16="http://schemas.microsoft.com/office/drawing/2014/main" id="{4C771F96-BB71-6F4B-DBBD-A210FAE3DE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488" y="4365625"/>
            <a:ext cx="2957512" cy="647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3CA5938-66D2-481B-88C6-56A9737886B1}"/>
              </a:ext>
            </a:extLst>
          </p:cNvPr>
          <p:cNvSpPr/>
          <p:nvPr/>
        </p:nvSpPr>
        <p:spPr>
          <a:xfrm>
            <a:off x="2020888" y="5175250"/>
            <a:ext cx="3689350" cy="461963"/>
          </a:xfrm>
          <a:prstGeom prst="rect">
            <a:avLst/>
          </a:prstGeom>
        </p:spPr>
        <p:txBody>
          <a:bodyPr wrap="none">
            <a:spAutoFit/>
          </a:bodyPr>
          <a:lstStyle/>
          <a:p>
            <a:pPr eaLnBrk="1" hangingPunct="1">
              <a:defRPr/>
            </a:pPr>
            <a:r>
              <a:rPr lang="zh-CN" altLang="zh-CN" sz="2400" b="1">
                <a:solidFill>
                  <a:schemeClr val="bg1"/>
                </a:solidFill>
                <a:latin typeface="+mn-lt"/>
              </a:rPr>
              <a:t>人相对岸的距离：</a:t>
            </a:r>
            <a:r>
              <a:rPr lang="en-US" altLang="zh-CN" sz="2400" b="1" i="1">
                <a:solidFill>
                  <a:schemeClr val="bg1"/>
                </a:solidFill>
                <a:latin typeface="+mn-lt"/>
              </a:rPr>
              <a:t>l</a:t>
            </a:r>
            <a:r>
              <a:rPr lang="zh-CN" altLang="zh-CN" sz="2400" b="1">
                <a:solidFill>
                  <a:schemeClr val="bg1"/>
                </a:solidFill>
                <a:latin typeface="+mn-lt"/>
              </a:rPr>
              <a:t>－</a:t>
            </a:r>
            <a:r>
              <a:rPr lang="en-US" altLang="zh-CN" sz="2400" b="1">
                <a:solidFill>
                  <a:schemeClr val="bg1"/>
                </a:solidFill>
                <a:latin typeface="+mn-lt"/>
              </a:rPr>
              <a:t>S</a:t>
            </a:r>
            <a:r>
              <a:rPr lang="zh-CN" altLang="zh-CN" sz="2400" b="1">
                <a:solidFill>
                  <a:schemeClr val="bg1"/>
                </a:solidFill>
                <a:latin typeface="+mn-lt"/>
              </a:rPr>
              <a:t>＝</a:t>
            </a:r>
            <a:r>
              <a:rPr lang="en-US" altLang="zh-CN" sz="2400" b="1">
                <a:solidFill>
                  <a:schemeClr val="bg1"/>
                </a:solidFill>
                <a:latin typeface="+mn-lt"/>
              </a:rPr>
              <a:t>3</a:t>
            </a:r>
            <a:endParaRPr lang="zh-CN" altLang="en-US" sz="2400" b="1">
              <a:solidFill>
                <a:schemeClr val="bg1"/>
              </a:solidFill>
              <a:latin typeface="+mn-l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a:extLst>
              <a:ext uri="{FF2B5EF4-FFF2-40B4-BE49-F238E27FC236}">
                <a16:creationId xmlns:a16="http://schemas.microsoft.com/office/drawing/2014/main" id="{4336F23B-567D-1CF0-6E46-B6F182696E0C}"/>
              </a:ext>
            </a:extLst>
          </p:cNvPr>
          <p:cNvSpPr txBox="1">
            <a:spLocks noChangeArrowheads="1"/>
          </p:cNvSpPr>
          <p:nvPr/>
        </p:nvSpPr>
        <p:spPr bwMode="auto">
          <a:xfrm>
            <a:off x="395288" y="1412875"/>
            <a:ext cx="817245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1200"/>
              </a:spcAft>
              <a:buFont typeface="Arial" panose="020B0604020202020204" pitchFamily="34" charset="0"/>
              <a:buChar char="•"/>
            </a:pPr>
            <a:r>
              <a:rPr lang="zh-CN" altLang="en-US" sz="2800" b="1">
                <a:solidFill>
                  <a:schemeClr val="bg1"/>
                </a:solidFill>
              </a:rPr>
              <a:t>把原点取在质心上，坐标轴的方向始终与某固定参考系（惯性系）的坐标轴保持平行的平动坐标系叫</a:t>
            </a:r>
            <a:r>
              <a:rPr lang="zh-CN" altLang="en-US" sz="2800" b="1">
                <a:solidFill>
                  <a:srgbClr val="FFC000"/>
                </a:solidFill>
                <a:ea typeface="黑体" panose="02010609060101010101" pitchFamily="49" charset="-122"/>
              </a:rPr>
              <a:t>质心坐标系</a:t>
            </a:r>
            <a:r>
              <a:rPr lang="zh-CN" altLang="en-US" sz="2800" b="1">
                <a:solidFill>
                  <a:schemeClr val="bg1"/>
                </a:solidFill>
              </a:rPr>
              <a:t>（或</a:t>
            </a:r>
            <a:r>
              <a:rPr lang="zh-CN" altLang="en-US" sz="2800" b="1">
                <a:solidFill>
                  <a:srgbClr val="FFC000"/>
                </a:solidFill>
                <a:ea typeface="黑体" panose="02010609060101010101" pitchFamily="49" charset="-122"/>
              </a:rPr>
              <a:t>质心参考系</a:t>
            </a:r>
            <a:r>
              <a:rPr lang="zh-CN" altLang="en-US" sz="2800" b="1">
                <a:solidFill>
                  <a:schemeClr val="bg1"/>
                </a:solidFill>
              </a:rPr>
              <a:t>），简称</a:t>
            </a:r>
            <a:r>
              <a:rPr lang="zh-CN" altLang="en-US" sz="2800" b="1">
                <a:solidFill>
                  <a:srgbClr val="FFC000"/>
                </a:solidFill>
                <a:ea typeface="黑体" panose="02010609060101010101" pitchFamily="49" charset="-122"/>
              </a:rPr>
              <a:t>质心系</a:t>
            </a:r>
            <a:r>
              <a:rPr lang="zh-CN" altLang="en-US" sz="2800" b="1">
                <a:solidFill>
                  <a:schemeClr val="bg1"/>
                </a:solidFill>
              </a:rPr>
              <a:t>。</a:t>
            </a:r>
            <a:endParaRPr lang="en-US" altLang="zh-CN" sz="2800" b="1">
              <a:solidFill>
                <a:schemeClr val="bg1"/>
              </a:solidFill>
            </a:endParaRPr>
          </a:p>
          <a:p>
            <a:pPr eaLnBrk="1" hangingPunct="1">
              <a:spcAft>
                <a:spcPts val="1200"/>
              </a:spcAft>
              <a:buFont typeface="Arial" panose="020B0604020202020204" pitchFamily="34" charset="0"/>
              <a:buChar char="•"/>
            </a:pPr>
            <a:r>
              <a:rPr lang="zh-CN" altLang="en-US" sz="2800" b="1">
                <a:solidFill>
                  <a:schemeClr val="bg1"/>
                </a:solidFill>
              </a:rPr>
              <a:t>质心坐标系在讨论质点系和刚体力学问题中十分有用。</a:t>
            </a:r>
            <a:endParaRPr lang="en-US" altLang="zh-CN" sz="2800" b="1">
              <a:solidFill>
                <a:schemeClr val="bg1"/>
              </a:solidFill>
            </a:endParaRPr>
          </a:p>
          <a:p>
            <a:pPr eaLnBrk="1" hangingPunct="1">
              <a:spcAft>
                <a:spcPts val="1200"/>
              </a:spcAft>
              <a:buFont typeface="Arial" panose="020B0604020202020204" pitchFamily="34" charset="0"/>
              <a:buChar char="•"/>
            </a:pPr>
            <a:r>
              <a:rPr lang="zh-CN" altLang="en-US" sz="2800" b="1">
                <a:solidFill>
                  <a:schemeClr val="bg1"/>
                </a:solidFill>
              </a:rPr>
              <a:t>对于不受外力作用的体系（孤立体系）或所受外力的矢量和为零的体系，其质心坐标系是惯性系。</a:t>
            </a:r>
            <a:endParaRPr lang="en-US" altLang="zh-CN" sz="2800" b="1">
              <a:solidFill>
                <a:schemeClr val="bg1"/>
              </a:solidFill>
            </a:endParaRPr>
          </a:p>
          <a:p>
            <a:pPr eaLnBrk="1" hangingPunct="1">
              <a:spcAft>
                <a:spcPts val="1200"/>
              </a:spcAft>
              <a:buFont typeface="Arial" panose="020B0604020202020204" pitchFamily="34" charset="0"/>
              <a:buChar char="•"/>
            </a:pPr>
            <a:r>
              <a:rPr lang="zh-CN" altLang="en-US" sz="2800" b="1">
                <a:solidFill>
                  <a:schemeClr val="bg1"/>
                </a:solidFill>
              </a:rPr>
              <a:t>对于受外力作用的体系，其质心系是非惯性系。 </a:t>
            </a:r>
          </a:p>
        </p:txBody>
      </p:sp>
      <p:sp>
        <p:nvSpPr>
          <p:cNvPr id="32771" name="矩形 8">
            <a:extLst>
              <a:ext uri="{FF2B5EF4-FFF2-40B4-BE49-F238E27FC236}">
                <a16:creationId xmlns:a16="http://schemas.microsoft.com/office/drawing/2014/main" id="{14433722-BBF1-73C7-CB58-D8432A6498BE}"/>
              </a:ext>
            </a:extLst>
          </p:cNvPr>
          <p:cNvSpPr>
            <a:spLocks noChangeArrowheads="1"/>
          </p:cNvSpPr>
          <p:nvPr/>
        </p:nvSpPr>
        <p:spPr bwMode="auto">
          <a:xfrm>
            <a:off x="611188" y="404813"/>
            <a:ext cx="2359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C000"/>
                </a:solidFill>
              </a:rPr>
              <a:t>质心坐标系 </a:t>
            </a:r>
            <a:endParaRPr lang="zh-CN" altLang="en-US" sz="3200">
              <a:solidFill>
                <a:srgbClr val="FFC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a:extLst>
              <a:ext uri="{FF2B5EF4-FFF2-40B4-BE49-F238E27FC236}">
                <a16:creationId xmlns:a16="http://schemas.microsoft.com/office/drawing/2014/main" id="{6F0CA790-164C-F92A-AD5F-7801D9BF3B7D}"/>
              </a:ext>
            </a:extLst>
          </p:cNvPr>
          <p:cNvSpPr>
            <a:spLocks noGrp="1"/>
          </p:cNvSpPr>
          <p:nvPr>
            <p:ph idx="1"/>
          </p:nvPr>
        </p:nvSpPr>
        <p:spPr bwMode="auto">
          <a:xfrm>
            <a:off x="457200" y="333375"/>
            <a:ext cx="8229600" cy="6191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FontTx/>
              <a:buNone/>
            </a:pPr>
            <a:r>
              <a:rPr lang="zh-CN" altLang="en-US" b="1">
                <a:solidFill>
                  <a:srgbClr val="FFC000"/>
                </a:solidFill>
              </a:rPr>
              <a:t>思考题</a:t>
            </a:r>
            <a:endParaRPr lang="en-US" altLang="zh-CN" b="1">
              <a:solidFill>
                <a:srgbClr val="FFC000"/>
              </a:solidFill>
            </a:endParaRPr>
          </a:p>
          <a:p>
            <a:pPr marL="0" indent="0">
              <a:buFontTx/>
              <a:buNone/>
            </a:pPr>
            <a:r>
              <a:rPr lang="zh-CN" altLang="en-US" sz="2800" b="1">
                <a:solidFill>
                  <a:schemeClr val="bg1"/>
                </a:solidFill>
              </a:rPr>
              <a:t>如图，水平地面上一辆静止的炮车发射炮弹。炮车质量为</a:t>
            </a:r>
            <a:r>
              <a:rPr lang="en-US" altLang="zh-CN" sz="2800" b="1" i="1">
                <a:solidFill>
                  <a:schemeClr val="bg1"/>
                </a:solidFill>
              </a:rPr>
              <a:t>M</a:t>
            </a:r>
            <a:r>
              <a:rPr lang="zh-CN" altLang="en-US" sz="2800" b="1">
                <a:solidFill>
                  <a:schemeClr val="bg1"/>
                </a:solidFill>
              </a:rPr>
              <a:t>，炮身仰角为</a:t>
            </a:r>
            <a:r>
              <a:rPr lang="en-US" altLang="zh-CN" sz="2800" b="1" i="1">
                <a:solidFill>
                  <a:schemeClr val="bg1"/>
                </a:solidFill>
              </a:rPr>
              <a:t>α </a:t>
            </a:r>
            <a:r>
              <a:rPr lang="zh-CN" altLang="en-US" sz="2800" b="1">
                <a:solidFill>
                  <a:schemeClr val="bg1"/>
                </a:solidFill>
              </a:rPr>
              <a:t>，炮弹质量为</a:t>
            </a:r>
            <a:r>
              <a:rPr lang="en-US" altLang="zh-CN" sz="2800" b="1" i="1">
                <a:solidFill>
                  <a:schemeClr val="bg1"/>
                </a:solidFill>
              </a:rPr>
              <a:t>m</a:t>
            </a:r>
            <a:r>
              <a:rPr lang="zh-CN" altLang="en-US" sz="2800" b="1">
                <a:solidFill>
                  <a:schemeClr val="bg1"/>
                </a:solidFill>
              </a:rPr>
              <a:t>，炮弹刚出口时，相对于炮身的速度为</a:t>
            </a:r>
            <a:r>
              <a:rPr lang="en-US" altLang="zh-CN" sz="2800" b="1" i="1">
                <a:solidFill>
                  <a:schemeClr val="bg1"/>
                </a:solidFill>
              </a:rPr>
              <a:t>u</a:t>
            </a:r>
            <a:r>
              <a:rPr lang="zh-CN" altLang="en-US" sz="2800" b="1">
                <a:solidFill>
                  <a:schemeClr val="bg1"/>
                </a:solidFill>
              </a:rPr>
              <a:t>，不计地面摩擦：</a:t>
            </a:r>
            <a:endParaRPr lang="en-US" altLang="zh-CN" sz="2800" b="1">
              <a:solidFill>
                <a:schemeClr val="bg1"/>
              </a:solidFill>
            </a:endParaRPr>
          </a:p>
          <a:p>
            <a:pPr marL="0" indent="0">
              <a:buFontTx/>
              <a:buNone/>
            </a:pPr>
            <a:r>
              <a:rPr lang="en-US" altLang="zh-CN" sz="2800" b="1">
                <a:solidFill>
                  <a:schemeClr val="bg1"/>
                </a:solidFill>
              </a:rPr>
              <a:t>(1) </a:t>
            </a:r>
            <a:r>
              <a:rPr lang="zh-CN" altLang="en-US" sz="2800" b="1">
                <a:solidFill>
                  <a:schemeClr val="bg1"/>
                </a:solidFill>
              </a:rPr>
              <a:t>求炮弹刚出口时，炮车的反冲速度大小；</a:t>
            </a:r>
          </a:p>
          <a:p>
            <a:pPr marL="0" indent="0">
              <a:buFontTx/>
              <a:buNone/>
            </a:pPr>
            <a:r>
              <a:rPr lang="en-US" altLang="zh-CN" sz="2800" b="1">
                <a:solidFill>
                  <a:schemeClr val="bg1"/>
                </a:solidFill>
              </a:rPr>
              <a:t>(2) </a:t>
            </a:r>
            <a:r>
              <a:rPr lang="zh-CN" altLang="en-US" sz="2800" b="1">
                <a:solidFill>
                  <a:schemeClr val="bg1"/>
                </a:solidFill>
              </a:rPr>
              <a:t>若炮筒长为</a:t>
            </a:r>
            <a:r>
              <a:rPr lang="en-US" altLang="zh-CN" sz="2800" b="1" i="1">
                <a:solidFill>
                  <a:schemeClr val="bg1"/>
                </a:solidFill>
              </a:rPr>
              <a:t>l</a:t>
            </a:r>
            <a:r>
              <a:rPr lang="zh-CN" altLang="en-US" sz="2800" b="1">
                <a:solidFill>
                  <a:schemeClr val="bg1"/>
                </a:solidFill>
              </a:rPr>
              <a:t>，求发炮过程中炮车移动的距离。</a:t>
            </a:r>
          </a:p>
        </p:txBody>
      </p:sp>
      <p:grpSp>
        <p:nvGrpSpPr>
          <p:cNvPr id="33795" name="组合 6">
            <a:extLst>
              <a:ext uri="{FF2B5EF4-FFF2-40B4-BE49-F238E27FC236}">
                <a16:creationId xmlns:a16="http://schemas.microsoft.com/office/drawing/2014/main" id="{E493B258-14E8-1380-892E-9AF276981349}"/>
              </a:ext>
            </a:extLst>
          </p:cNvPr>
          <p:cNvGrpSpPr>
            <a:grpSpLocks/>
          </p:cNvGrpSpPr>
          <p:nvPr/>
        </p:nvGrpSpPr>
        <p:grpSpPr bwMode="auto">
          <a:xfrm>
            <a:off x="5146675" y="3694113"/>
            <a:ext cx="3619500" cy="2609850"/>
            <a:chOff x="5436096" y="4248150"/>
            <a:chExt cx="3619500" cy="2609850"/>
          </a:xfrm>
        </p:grpSpPr>
        <p:pic>
          <p:nvPicPr>
            <p:cNvPr id="33796" name="Picture 2">
              <a:extLst>
                <a:ext uri="{FF2B5EF4-FFF2-40B4-BE49-F238E27FC236}">
                  <a16:creationId xmlns:a16="http://schemas.microsoft.com/office/drawing/2014/main" id="{C973B0E5-0B82-6B66-2792-A3E7556DD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4248150"/>
              <a:ext cx="3619500" cy="2609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a:extLst>
                <a:ext uri="{FF2B5EF4-FFF2-40B4-BE49-F238E27FC236}">
                  <a16:creationId xmlns:a16="http://schemas.microsoft.com/office/drawing/2014/main" id="{3E7A00AC-76BD-4F3D-805C-D976D7A2ECE8}"/>
                </a:ext>
              </a:extLst>
            </p:cNvPr>
            <p:cNvSpPr/>
            <p:nvPr/>
          </p:nvSpPr>
          <p:spPr>
            <a:xfrm>
              <a:off x="6804521" y="5368925"/>
              <a:ext cx="269875" cy="460375"/>
            </a:xfrm>
            <a:prstGeom prst="rect">
              <a:avLst/>
            </a:prstGeom>
          </p:spPr>
          <p:txBody>
            <a:bodyPr wrap="none">
              <a:spAutoFit/>
            </a:bodyPr>
            <a:lstStyle/>
            <a:p>
              <a:pPr eaLnBrk="1" hangingPunct="1">
                <a:defRPr/>
              </a:pPr>
              <a:r>
                <a:rPr lang="en-US" altLang="zh-CN" sz="2400" b="1" i="1" dirty="0">
                  <a:latin typeface="+mj-lt"/>
                </a:rPr>
                <a:t>l</a:t>
              </a:r>
              <a:endParaRPr lang="zh-CN" altLang="en-US" sz="2400" dirty="0">
                <a:latin typeface="+mj-lt"/>
              </a:endParaRPr>
            </a:p>
          </p:txBody>
        </p:sp>
        <p:sp>
          <p:nvSpPr>
            <p:cNvPr id="5" name="矩形 4">
              <a:extLst>
                <a:ext uri="{FF2B5EF4-FFF2-40B4-BE49-F238E27FC236}">
                  <a16:creationId xmlns:a16="http://schemas.microsoft.com/office/drawing/2014/main" id="{E2A6E673-952C-4FE4-B57F-01FA8E314E75}"/>
                </a:ext>
              </a:extLst>
            </p:cNvPr>
            <p:cNvSpPr/>
            <p:nvPr/>
          </p:nvSpPr>
          <p:spPr>
            <a:xfrm>
              <a:off x="7490321" y="5383212"/>
              <a:ext cx="412750" cy="400050"/>
            </a:xfrm>
            <a:prstGeom prst="rect">
              <a:avLst/>
            </a:prstGeom>
          </p:spPr>
          <p:txBody>
            <a:bodyPr wrap="none">
              <a:spAutoFit/>
            </a:bodyPr>
            <a:lstStyle/>
            <a:p>
              <a:pPr eaLnBrk="1" hangingPunct="1">
                <a:defRPr/>
              </a:pPr>
              <a:r>
                <a:rPr lang="en-US" altLang="zh-CN" sz="2000" b="1" i="1" dirty="0">
                  <a:latin typeface="+mn-lt"/>
                </a:rPr>
                <a:t>M</a:t>
              </a:r>
              <a:endParaRPr lang="zh-CN" altLang="en-US" dirty="0">
                <a:latin typeface="+mn-lt"/>
              </a:endParaRPr>
            </a:p>
          </p:txBody>
        </p:sp>
        <p:sp>
          <p:nvSpPr>
            <p:cNvPr id="6" name="矩形 5">
              <a:extLst>
                <a:ext uri="{FF2B5EF4-FFF2-40B4-BE49-F238E27FC236}">
                  <a16:creationId xmlns:a16="http://schemas.microsoft.com/office/drawing/2014/main" id="{CBF98E83-15FE-4679-9945-C5B2B717651A}"/>
                </a:ext>
              </a:extLst>
            </p:cNvPr>
            <p:cNvSpPr/>
            <p:nvPr/>
          </p:nvSpPr>
          <p:spPr>
            <a:xfrm>
              <a:off x="8388846" y="4248150"/>
              <a:ext cx="355600" cy="461962"/>
            </a:xfrm>
            <a:prstGeom prst="rect">
              <a:avLst/>
            </a:prstGeom>
          </p:spPr>
          <p:txBody>
            <a:bodyPr wrap="none">
              <a:spAutoFit/>
            </a:bodyPr>
            <a:lstStyle/>
            <a:p>
              <a:pPr eaLnBrk="1" hangingPunct="1">
                <a:defRPr/>
              </a:pPr>
              <a:r>
                <a:rPr lang="en-US" altLang="zh-CN" sz="2400" b="1" i="1" dirty="0">
                  <a:latin typeface="+mn-lt"/>
                </a:rPr>
                <a:t>u</a:t>
              </a:r>
              <a:endParaRPr lang="zh-CN" altLang="en-US" sz="2400" dirty="0">
                <a:latin typeface="+mn-lt"/>
              </a:endParaRPr>
            </a:p>
          </p:txBody>
        </p:sp>
      </p:grpSp>
    </p:spTree>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3750022-76AD-F0DE-FE7B-12707B9B2EBE}"/>
              </a:ext>
            </a:extLst>
          </p:cNvPr>
          <p:cNvSpPr>
            <a:spLocks noChangeArrowheads="1"/>
          </p:cNvSpPr>
          <p:nvPr/>
        </p:nvSpPr>
        <p:spPr bwMode="auto">
          <a:xfrm>
            <a:off x="349250" y="957263"/>
            <a:ext cx="86423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FFC000"/>
                </a:solidFill>
              </a:rPr>
              <a:t>作业：</a:t>
            </a:r>
            <a:r>
              <a:rPr lang="en-US" altLang="zh-CN" sz="2800" b="1">
                <a:solidFill>
                  <a:srgbClr val="FFC000"/>
                </a:solidFill>
              </a:rPr>
              <a:t>p.136     3.11     3.17     3.18      3.19 </a:t>
            </a:r>
            <a:endParaRPr lang="zh-CN" altLang="en-US" sz="2800" b="1">
              <a:solidFill>
                <a:srgbClr val="FFC000"/>
              </a:solidFill>
            </a:endParaRPr>
          </a:p>
          <a:p>
            <a:pPr eaLnBrk="1" hangingPunct="1"/>
            <a:r>
              <a:rPr lang="en-US" altLang="zh-CN" sz="2800" b="1">
                <a:solidFill>
                  <a:srgbClr val="FFC000"/>
                </a:solidFill>
              </a:rPr>
              <a:t>           p.173     4.3       4.10     4.17     4.19</a:t>
            </a:r>
            <a:endParaRPr lang="zh-CN" altLang="en-US" sz="2800">
              <a:solidFill>
                <a:srgbClr val="FFC000"/>
              </a:solidFill>
            </a:endParaRPr>
          </a:p>
        </p:txBody>
      </p:sp>
      <p:sp>
        <p:nvSpPr>
          <p:cNvPr id="34819" name="文本框 4">
            <a:extLst>
              <a:ext uri="{FF2B5EF4-FFF2-40B4-BE49-F238E27FC236}">
                <a16:creationId xmlns:a16="http://schemas.microsoft.com/office/drawing/2014/main" id="{0156553E-183B-7D26-4F30-FBDFBBC19FFF}"/>
              </a:ext>
            </a:extLst>
          </p:cNvPr>
          <p:cNvSpPr txBox="1">
            <a:spLocks noChangeArrowheads="1"/>
          </p:cNvSpPr>
          <p:nvPr/>
        </p:nvSpPr>
        <p:spPr bwMode="auto">
          <a:xfrm>
            <a:off x="250825" y="3633788"/>
            <a:ext cx="87407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1"/>
                </a:solidFill>
              </a:rPr>
              <a:t>10. </a:t>
            </a:r>
            <a:r>
              <a:rPr lang="zh-CN" altLang="en-US" sz="2400" b="1">
                <a:solidFill>
                  <a:schemeClr val="bg1"/>
                </a:solidFill>
              </a:rPr>
              <a:t>如图，一个质量为</a:t>
            </a:r>
            <a:r>
              <a:rPr lang="en-US" altLang="zh-CN" sz="2400" b="1">
                <a:solidFill>
                  <a:schemeClr val="bg1"/>
                </a:solidFill>
              </a:rPr>
              <a:t>m</a:t>
            </a:r>
            <a:r>
              <a:rPr lang="zh-CN" altLang="en-US" sz="2400" b="1">
                <a:solidFill>
                  <a:schemeClr val="bg1"/>
                </a:solidFill>
              </a:rPr>
              <a:t>的小球，从内壁为半球的容器边沿</a:t>
            </a:r>
            <a:r>
              <a:rPr lang="en-US" altLang="zh-CN" sz="2400" b="1">
                <a:solidFill>
                  <a:schemeClr val="bg1"/>
                </a:solidFill>
              </a:rPr>
              <a:t>A</a:t>
            </a:r>
            <a:r>
              <a:rPr lang="zh-CN" altLang="en-US" sz="2400" b="1">
                <a:solidFill>
                  <a:schemeClr val="bg1"/>
                </a:solidFill>
              </a:rPr>
              <a:t>点下滑，容器质量为</a:t>
            </a:r>
            <a:r>
              <a:rPr lang="en-US" altLang="zh-CN" sz="2400" b="1">
                <a:solidFill>
                  <a:schemeClr val="bg1"/>
                </a:solidFill>
              </a:rPr>
              <a:t>m</a:t>
            </a:r>
            <a:r>
              <a:rPr lang="zh-CN" altLang="en-US" sz="2400" b="1">
                <a:solidFill>
                  <a:schemeClr val="bg1"/>
                </a:solidFill>
              </a:rPr>
              <a:t>’，半径为</a:t>
            </a:r>
            <a:r>
              <a:rPr lang="en-US" altLang="zh-CN" sz="2400" b="1">
                <a:solidFill>
                  <a:schemeClr val="bg1"/>
                </a:solidFill>
              </a:rPr>
              <a:t>R</a:t>
            </a:r>
            <a:r>
              <a:rPr lang="zh-CN" altLang="en-US" sz="2400" b="1">
                <a:solidFill>
                  <a:schemeClr val="bg1"/>
                </a:solidFill>
              </a:rPr>
              <a:t>，内壁光滑，也不计水平桌面的摩擦力。开始时小球和容器都处于静止状态，当小球滑到容器底部</a:t>
            </a:r>
            <a:r>
              <a:rPr lang="en-US" altLang="zh-CN" sz="2400" b="1">
                <a:solidFill>
                  <a:schemeClr val="bg1"/>
                </a:solidFill>
              </a:rPr>
              <a:t>B</a:t>
            </a:r>
            <a:r>
              <a:rPr lang="zh-CN" altLang="en-US" sz="2400" b="1">
                <a:solidFill>
                  <a:schemeClr val="bg1"/>
                </a:solidFill>
              </a:rPr>
              <a:t>点时，问小球受到多大的支持力？</a:t>
            </a:r>
          </a:p>
        </p:txBody>
      </p:sp>
      <p:grpSp>
        <p:nvGrpSpPr>
          <p:cNvPr id="34820" name="组合 22">
            <a:extLst>
              <a:ext uri="{FF2B5EF4-FFF2-40B4-BE49-F238E27FC236}">
                <a16:creationId xmlns:a16="http://schemas.microsoft.com/office/drawing/2014/main" id="{3795862A-CE80-469F-3089-FB6361C382CA}"/>
              </a:ext>
            </a:extLst>
          </p:cNvPr>
          <p:cNvGrpSpPr>
            <a:grpSpLocks/>
          </p:cNvGrpSpPr>
          <p:nvPr/>
        </p:nvGrpSpPr>
        <p:grpSpPr bwMode="auto">
          <a:xfrm>
            <a:off x="4787900" y="4652963"/>
            <a:ext cx="4140200" cy="2087562"/>
            <a:chOff x="4583617" y="3429000"/>
            <a:chExt cx="4140460" cy="2088232"/>
          </a:xfrm>
        </p:grpSpPr>
        <p:grpSp>
          <p:nvGrpSpPr>
            <p:cNvPr id="34823" name="组合 18">
              <a:extLst>
                <a:ext uri="{FF2B5EF4-FFF2-40B4-BE49-F238E27FC236}">
                  <a16:creationId xmlns:a16="http://schemas.microsoft.com/office/drawing/2014/main" id="{EC85E2FC-5579-1480-5A2F-62C6947ED47D}"/>
                </a:ext>
              </a:extLst>
            </p:cNvPr>
            <p:cNvGrpSpPr>
              <a:grpSpLocks/>
            </p:cNvGrpSpPr>
            <p:nvPr/>
          </p:nvGrpSpPr>
          <p:grpSpPr bwMode="auto">
            <a:xfrm>
              <a:off x="4583617" y="3429000"/>
              <a:ext cx="4140460" cy="2088232"/>
              <a:chOff x="4373978" y="2687433"/>
              <a:chExt cx="4140460" cy="2088232"/>
            </a:xfrm>
          </p:grpSpPr>
          <p:grpSp>
            <p:nvGrpSpPr>
              <p:cNvPr id="34826" name="组合 8">
                <a:extLst>
                  <a:ext uri="{FF2B5EF4-FFF2-40B4-BE49-F238E27FC236}">
                    <a16:creationId xmlns:a16="http://schemas.microsoft.com/office/drawing/2014/main" id="{90923D32-4A3E-EDCF-E357-16CF6488BDD7}"/>
                  </a:ext>
                </a:extLst>
              </p:cNvPr>
              <p:cNvGrpSpPr>
                <a:grpSpLocks/>
              </p:cNvGrpSpPr>
              <p:nvPr/>
            </p:nvGrpSpPr>
            <p:grpSpPr bwMode="auto">
              <a:xfrm>
                <a:off x="5040052" y="2687433"/>
                <a:ext cx="2808312" cy="2088232"/>
                <a:chOff x="5148064" y="4005064"/>
                <a:chExt cx="2808312" cy="2088232"/>
              </a:xfrm>
            </p:grpSpPr>
            <p:sp>
              <p:nvSpPr>
                <p:cNvPr id="8" name="矩形 7">
                  <a:extLst>
                    <a:ext uri="{FF2B5EF4-FFF2-40B4-BE49-F238E27FC236}">
                      <a16:creationId xmlns:a16="http://schemas.microsoft.com/office/drawing/2014/main" id="{82C59E3B-A131-4DF8-86B7-77561C92F0FD}"/>
                    </a:ext>
                  </a:extLst>
                </p:cNvPr>
                <p:cNvSpPr/>
                <p:nvPr/>
              </p:nvSpPr>
              <p:spPr>
                <a:xfrm>
                  <a:off x="5148782" y="4868941"/>
                  <a:ext cx="2806876" cy="1224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不完整圆 6">
                  <a:extLst>
                    <a:ext uri="{FF2B5EF4-FFF2-40B4-BE49-F238E27FC236}">
                      <a16:creationId xmlns:a16="http://schemas.microsoft.com/office/drawing/2014/main" id="{BFF36CB9-2E8F-40D0-B167-1FF6E3211B1C}"/>
                    </a:ext>
                  </a:extLst>
                </p:cNvPr>
                <p:cNvSpPr/>
                <p:nvPr/>
              </p:nvSpPr>
              <p:spPr>
                <a:xfrm>
                  <a:off x="5688566" y="4005064"/>
                  <a:ext cx="1727308" cy="1727754"/>
                </a:xfrm>
                <a:prstGeom prst="pie">
                  <a:avLst>
                    <a:gd name="adj1" fmla="val 0"/>
                    <a:gd name="adj2" fmla="val 1081894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endParaRPr>
                </a:p>
              </p:txBody>
            </p:sp>
          </p:grpSp>
          <p:cxnSp>
            <p:nvCxnSpPr>
              <p:cNvPr id="11" name="直接箭头连接符 10">
                <a:extLst>
                  <a:ext uri="{FF2B5EF4-FFF2-40B4-BE49-F238E27FC236}">
                    <a16:creationId xmlns:a16="http://schemas.microsoft.com/office/drawing/2014/main" id="{25F850ED-6EB0-4118-B620-F19072CA0B7D}"/>
                  </a:ext>
                </a:extLst>
              </p:cNvPr>
              <p:cNvCxnSpPr/>
              <p:nvPr/>
            </p:nvCxnSpPr>
            <p:spPr>
              <a:xfrm flipH="1">
                <a:off x="5867910" y="3573542"/>
                <a:ext cx="576298" cy="574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828" name="文本框 11">
                <a:extLst>
                  <a:ext uri="{FF2B5EF4-FFF2-40B4-BE49-F238E27FC236}">
                    <a16:creationId xmlns:a16="http://schemas.microsoft.com/office/drawing/2014/main" id="{90E95DC7-D3AD-659A-0DAC-8A5BF273BE1E}"/>
                  </a:ext>
                </a:extLst>
              </p:cNvPr>
              <p:cNvSpPr txBox="1">
                <a:spLocks noChangeArrowheads="1"/>
              </p:cNvSpPr>
              <p:nvPr/>
            </p:nvSpPr>
            <p:spPr bwMode="auto">
              <a:xfrm>
                <a:off x="5804798" y="3676382"/>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chemeClr val="accent1"/>
                    </a:solidFill>
                  </a:rPr>
                  <a:t>R</a:t>
                </a:r>
                <a:endParaRPr lang="zh-CN" altLang="en-US">
                  <a:solidFill>
                    <a:schemeClr val="accent1"/>
                  </a:solidFill>
                </a:endParaRPr>
              </a:p>
            </p:txBody>
          </p:sp>
          <p:cxnSp>
            <p:nvCxnSpPr>
              <p:cNvPr id="14" name="直接连接符 13">
                <a:extLst>
                  <a:ext uri="{FF2B5EF4-FFF2-40B4-BE49-F238E27FC236}">
                    <a16:creationId xmlns:a16="http://schemas.microsoft.com/office/drawing/2014/main" id="{7683CF9F-43AD-4295-92A1-2596E9376852}"/>
                  </a:ext>
                </a:extLst>
              </p:cNvPr>
              <p:cNvCxnSpPr/>
              <p:nvPr/>
            </p:nvCxnSpPr>
            <p:spPr>
              <a:xfrm>
                <a:off x="4373978" y="4775665"/>
                <a:ext cx="4140460" cy="0"/>
              </a:xfrm>
              <a:prstGeom prst="line">
                <a:avLst/>
              </a:prstGeom>
              <a:ln w="762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D606B829-635E-46F4-B939-A61E6F126DE6}"/>
                  </a:ext>
                </a:extLst>
              </p:cNvPr>
              <p:cNvSpPr/>
              <p:nvPr/>
            </p:nvSpPr>
            <p:spPr>
              <a:xfrm flipH="1">
                <a:off x="7177679" y="3505257"/>
                <a:ext cx="134946" cy="1349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4831" name="文本框 15">
                <a:extLst>
                  <a:ext uri="{FF2B5EF4-FFF2-40B4-BE49-F238E27FC236}">
                    <a16:creationId xmlns:a16="http://schemas.microsoft.com/office/drawing/2014/main" id="{33A67C1A-75D6-E6D4-A40E-D37AE70FEF1C}"/>
                  </a:ext>
                </a:extLst>
              </p:cNvPr>
              <p:cNvSpPr txBox="1">
                <a:spLocks noChangeArrowheads="1"/>
              </p:cNvSpPr>
              <p:nvPr/>
            </p:nvSpPr>
            <p:spPr bwMode="auto">
              <a:xfrm>
                <a:off x="7308304" y="3284984"/>
                <a:ext cx="540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A</a:t>
                </a:r>
                <a:endParaRPr lang="zh-CN" altLang="en-US"/>
              </a:p>
            </p:txBody>
          </p:sp>
          <p:sp>
            <p:nvSpPr>
              <p:cNvPr id="34832" name="文本框 16">
                <a:extLst>
                  <a:ext uri="{FF2B5EF4-FFF2-40B4-BE49-F238E27FC236}">
                    <a16:creationId xmlns:a16="http://schemas.microsoft.com/office/drawing/2014/main" id="{03D3DEC0-7C4D-3375-15BB-44E2490DFADA}"/>
                  </a:ext>
                </a:extLst>
              </p:cNvPr>
              <p:cNvSpPr txBox="1">
                <a:spLocks noChangeArrowheads="1"/>
              </p:cNvSpPr>
              <p:nvPr/>
            </p:nvSpPr>
            <p:spPr bwMode="auto">
              <a:xfrm>
                <a:off x="6574892" y="4358442"/>
                <a:ext cx="540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B</a:t>
                </a:r>
                <a:endParaRPr lang="zh-CN" altLang="en-US"/>
              </a:p>
            </p:txBody>
          </p:sp>
          <p:sp>
            <p:nvSpPr>
              <p:cNvPr id="18" name="椭圆 17">
                <a:extLst>
                  <a:ext uri="{FF2B5EF4-FFF2-40B4-BE49-F238E27FC236}">
                    <a16:creationId xmlns:a16="http://schemas.microsoft.com/office/drawing/2014/main" id="{E6B7D61D-742F-4955-8271-07D842F15E58}"/>
                  </a:ext>
                </a:extLst>
              </p:cNvPr>
              <p:cNvSpPr/>
              <p:nvPr/>
            </p:nvSpPr>
            <p:spPr>
              <a:xfrm flipH="1">
                <a:off x="6410869" y="4345315"/>
                <a:ext cx="136534" cy="13656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34824" name="文本框 20">
              <a:extLst>
                <a:ext uri="{FF2B5EF4-FFF2-40B4-BE49-F238E27FC236}">
                  <a16:creationId xmlns:a16="http://schemas.microsoft.com/office/drawing/2014/main" id="{9983A721-B90F-DB6F-B3D9-7A818E3DE7C9}"/>
                </a:ext>
              </a:extLst>
            </p:cNvPr>
            <p:cNvSpPr txBox="1">
              <a:spLocks noChangeArrowheads="1"/>
            </p:cNvSpPr>
            <p:nvPr/>
          </p:nvSpPr>
          <p:spPr bwMode="auto">
            <a:xfrm>
              <a:off x="7332814" y="4915343"/>
              <a:ext cx="6578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rPr>
                <a:t>m</a:t>
              </a:r>
              <a:r>
                <a:rPr lang="zh-CN" altLang="en-US" b="1">
                  <a:solidFill>
                    <a:schemeClr val="bg1"/>
                  </a:solidFill>
                </a:rPr>
                <a:t>’</a:t>
              </a:r>
              <a:endParaRPr lang="zh-CN" altLang="en-US"/>
            </a:p>
          </p:txBody>
        </p:sp>
        <p:sp>
          <p:nvSpPr>
            <p:cNvPr id="34825" name="文本框 21">
              <a:extLst>
                <a:ext uri="{FF2B5EF4-FFF2-40B4-BE49-F238E27FC236}">
                  <a16:creationId xmlns:a16="http://schemas.microsoft.com/office/drawing/2014/main" id="{261E4F7C-8A67-BEB8-56C2-42069B32768D}"/>
                </a:ext>
              </a:extLst>
            </p:cNvPr>
            <p:cNvSpPr txBox="1">
              <a:spLocks noChangeArrowheads="1"/>
            </p:cNvSpPr>
            <p:nvPr/>
          </p:nvSpPr>
          <p:spPr bwMode="auto">
            <a:xfrm>
              <a:off x="7003888" y="3985337"/>
              <a:ext cx="6578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solidFill>
                    <a:srgbClr val="FF0000"/>
                  </a:solidFill>
                </a:rPr>
                <a:t>m</a:t>
              </a:r>
              <a:endParaRPr lang="zh-CN" altLang="en-US">
                <a:solidFill>
                  <a:srgbClr val="FF0000"/>
                </a:solidFill>
              </a:endParaRPr>
            </a:p>
          </p:txBody>
        </p:sp>
      </p:grpSp>
      <p:sp>
        <p:nvSpPr>
          <p:cNvPr id="34821" name="文本框 2">
            <a:extLst>
              <a:ext uri="{FF2B5EF4-FFF2-40B4-BE49-F238E27FC236}">
                <a16:creationId xmlns:a16="http://schemas.microsoft.com/office/drawing/2014/main" id="{C01A5A27-3C7A-8482-9BBA-88DFE7CABE02}"/>
              </a:ext>
            </a:extLst>
          </p:cNvPr>
          <p:cNvSpPr txBox="1">
            <a:spLocks noChangeArrowheads="1"/>
          </p:cNvSpPr>
          <p:nvPr/>
        </p:nvSpPr>
        <p:spPr bwMode="auto">
          <a:xfrm>
            <a:off x="271463" y="2236788"/>
            <a:ext cx="86423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b="1">
                <a:solidFill>
                  <a:srgbClr val="FFC000"/>
                </a:solidFill>
              </a:rPr>
              <a:t>9. </a:t>
            </a:r>
            <a:r>
              <a:rPr lang="zh-CN" altLang="en-US" sz="2400" b="1">
                <a:solidFill>
                  <a:srgbClr val="FFC000"/>
                </a:solidFill>
              </a:rPr>
              <a:t>一人从</a:t>
            </a:r>
            <a:r>
              <a:rPr lang="en-US" altLang="zh-CN" sz="2400" b="1">
                <a:solidFill>
                  <a:srgbClr val="FFC000"/>
                </a:solidFill>
              </a:rPr>
              <a:t>10 m</a:t>
            </a:r>
            <a:r>
              <a:rPr lang="zh-CN" altLang="en-US" sz="2400" b="1">
                <a:solidFill>
                  <a:srgbClr val="FFC000"/>
                </a:solidFill>
              </a:rPr>
              <a:t>深的井中匀速地提水，起始桶中装有</a:t>
            </a:r>
            <a:r>
              <a:rPr lang="en-US" altLang="zh-CN" sz="2400" b="1">
                <a:solidFill>
                  <a:srgbClr val="FFC000"/>
                </a:solidFill>
              </a:rPr>
              <a:t>10kg</a:t>
            </a:r>
            <a:r>
              <a:rPr lang="zh-CN" altLang="en-US" sz="2400" b="1">
                <a:solidFill>
                  <a:srgbClr val="FFC000"/>
                </a:solidFill>
              </a:rPr>
              <a:t>的水，由于水桶底部均速地漏水，每升高</a:t>
            </a:r>
            <a:r>
              <a:rPr lang="en-US" altLang="zh-CN" sz="2400" b="1">
                <a:solidFill>
                  <a:srgbClr val="FFC000"/>
                </a:solidFill>
              </a:rPr>
              <a:t>1m</a:t>
            </a:r>
            <a:r>
              <a:rPr lang="zh-CN" altLang="en-US" sz="2400" b="1">
                <a:solidFill>
                  <a:srgbClr val="FFC000"/>
                </a:solidFill>
              </a:rPr>
              <a:t>要漏掉</a:t>
            </a:r>
            <a:r>
              <a:rPr lang="en-US" altLang="zh-CN" sz="2400" b="1">
                <a:solidFill>
                  <a:srgbClr val="FFC000"/>
                </a:solidFill>
              </a:rPr>
              <a:t>0.2kg</a:t>
            </a:r>
            <a:r>
              <a:rPr lang="zh-CN" altLang="en-US" sz="2400" b="1">
                <a:solidFill>
                  <a:srgbClr val="FFC000"/>
                </a:solidFill>
              </a:rPr>
              <a:t>水。问水桶被均速地从井中提到井口，人所做的功。</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2_默认设计模板">
  <a:themeElements>
    <a:clrScheme name="2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2390</TotalTime>
  <Words>2988</Words>
  <Application>Microsoft Office PowerPoint</Application>
  <PresentationFormat>全屏显示(4:3)</PresentationFormat>
  <Paragraphs>243</Paragraphs>
  <Slides>33</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33</vt:i4>
      </vt:variant>
    </vt:vector>
  </HeadingPairs>
  <TitlesOfParts>
    <vt:vector size="44" baseType="lpstr">
      <vt:lpstr>黑体</vt:lpstr>
      <vt:lpstr>楷体_GB2312</vt:lpstr>
      <vt:lpstr>隶书</vt:lpstr>
      <vt:lpstr>宋体</vt:lpstr>
      <vt:lpstr>Arial</vt:lpstr>
      <vt:lpstr>Bookman Old Style</vt:lpstr>
      <vt:lpstr>Calibri</vt:lpstr>
      <vt:lpstr>Times New Roman</vt:lpstr>
      <vt:lpstr>2_默认设计模板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关于质心运动定理的说明： </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大学物理电子教案</dc:title>
  <dc:subject>CH1-1</dc:subject>
  <dc:creator>喻有理</dc:creator>
  <cp:lastModifiedBy>LuoXiaoguang</cp:lastModifiedBy>
  <cp:revision>137</cp:revision>
  <dcterms:created xsi:type="dcterms:W3CDTF">2002-06-18T00:43:24Z</dcterms:created>
  <dcterms:modified xsi:type="dcterms:W3CDTF">2026-03-12T15:29:32Z</dcterms:modified>
</cp:coreProperties>
</file>