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73"/>
  </p:notesMasterIdLst>
  <p:sldIdLst>
    <p:sldId id="364" r:id="rId2"/>
    <p:sldId id="365" r:id="rId3"/>
    <p:sldId id="281" r:id="rId4"/>
    <p:sldId id="305" r:id="rId5"/>
    <p:sldId id="320" r:id="rId6"/>
    <p:sldId id="260" r:id="rId7"/>
    <p:sldId id="306" r:id="rId8"/>
    <p:sldId id="264" r:id="rId9"/>
    <p:sldId id="342" r:id="rId10"/>
    <p:sldId id="307" r:id="rId11"/>
    <p:sldId id="265" r:id="rId12"/>
    <p:sldId id="322" r:id="rId13"/>
    <p:sldId id="266" r:id="rId14"/>
    <p:sldId id="268" r:id="rId15"/>
    <p:sldId id="269" r:id="rId16"/>
    <p:sldId id="343" r:id="rId17"/>
    <p:sldId id="270" r:id="rId18"/>
    <p:sldId id="271" r:id="rId19"/>
    <p:sldId id="350" r:id="rId20"/>
    <p:sldId id="308" r:id="rId21"/>
    <p:sldId id="273" r:id="rId22"/>
    <p:sldId id="344" r:id="rId23"/>
    <p:sldId id="309" r:id="rId24"/>
    <p:sldId id="274" r:id="rId25"/>
    <p:sldId id="324" r:id="rId26"/>
    <p:sldId id="275" r:id="rId27"/>
    <p:sldId id="310" r:id="rId28"/>
    <p:sldId id="276" r:id="rId29"/>
    <p:sldId id="311" r:id="rId30"/>
    <p:sldId id="363" r:id="rId31"/>
    <p:sldId id="345" r:id="rId32"/>
    <p:sldId id="360" r:id="rId33"/>
    <p:sldId id="277" r:id="rId34"/>
    <p:sldId id="340" r:id="rId35"/>
    <p:sldId id="325" r:id="rId36"/>
    <p:sldId id="326" r:id="rId37"/>
    <p:sldId id="328" r:id="rId38"/>
    <p:sldId id="278" r:id="rId39"/>
    <p:sldId id="279" r:id="rId40"/>
    <p:sldId id="361" r:id="rId41"/>
    <p:sldId id="282" r:id="rId42"/>
    <p:sldId id="283" r:id="rId43"/>
    <p:sldId id="284" r:id="rId44"/>
    <p:sldId id="312" r:id="rId45"/>
    <p:sldId id="341" r:id="rId46"/>
    <p:sldId id="285" r:id="rId47"/>
    <p:sldId id="331" r:id="rId48"/>
    <p:sldId id="332" r:id="rId49"/>
    <p:sldId id="316" r:id="rId50"/>
    <p:sldId id="289" r:id="rId51"/>
    <p:sldId id="297" r:id="rId52"/>
    <p:sldId id="315" r:id="rId53"/>
    <p:sldId id="298" r:id="rId54"/>
    <p:sldId id="346" r:id="rId55"/>
    <p:sldId id="347" r:id="rId56"/>
    <p:sldId id="338" r:id="rId57"/>
    <p:sldId id="362" r:id="rId58"/>
    <p:sldId id="336" r:id="rId59"/>
    <p:sldId id="337" r:id="rId60"/>
    <p:sldId id="355" r:id="rId61"/>
    <p:sldId id="349" r:id="rId62"/>
    <p:sldId id="317" r:id="rId63"/>
    <p:sldId id="318" r:id="rId64"/>
    <p:sldId id="348" r:id="rId65"/>
    <p:sldId id="357" r:id="rId66"/>
    <p:sldId id="358" r:id="rId67"/>
    <p:sldId id="303" r:id="rId68"/>
    <p:sldId id="304" r:id="rId69"/>
    <p:sldId id="353" r:id="rId70"/>
    <p:sldId id="354" r:id="rId71"/>
    <p:sldId id="359" r:id="rId7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FFFF"/>
    <a:srgbClr val="FFFF00"/>
    <a:srgbClr val="66FFCC"/>
    <a:srgbClr val="006699"/>
    <a:srgbClr val="000099"/>
    <a:srgbClr val="000066"/>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0095" autoAdjust="0"/>
    <p:restoredTop sz="78225" autoAdjust="0"/>
  </p:normalViewPr>
  <p:slideViewPr>
    <p:cSldViewPr>
      <p:cViewPr varScale="1">
        <p:scale>
          <a:sx n="86" d="100"/>
          <a:sy n="86" d="100"/>
        </p:scale>
        <p:origin x="1848"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image" Target="../media/image7.emf"/><Relationship Id="rId7" Type="http://schemas.openxmlformats.org/officeDocument/2006/relationships/image" Target="../media/image11.emf"/><Relationship Id="rId2" Type="http://schemas.openxmlformats.org/officeDocument/2006/relationships/image" Target="../media/image6.emf"/><Relationship Id="rId1" Type="http://schemas.openxmlformats.org/officeDocument/2006/relationships/image" Target="../media/image5.emf"/><Relationship Id="rId6" Type="http://schemas.openxmlformats.org/officeDocument/2006/relationships/image" Target="../media/image10.emf"/><Relationship Id="rId5" Type="http://schemas.openxmlformats.org/officeDocument/2006/relationships/image" Target="../media/image9.emf"/><Relationship Id="rId10" Type="http://schemas.openxmlformats.org/officeDocument/2006/relationships/image" Target="../media/image14.emf"/><Relationship Id="rId4" Type="http://schemas.openxmlformats.org/officeDocument/2006/relationships/image" Target="../media/image8.emf"/><Relationship Id="rId9"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emf"/><Relationship Id="rId1" Type="http://schemas.openxmlformats.org/officeDocument/2006/relationships/image" Target="../media/image21.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image" Target="../media/image24.emf"/><Relationship Id="rId5" Type="http://schemas.openxmlformats.org/officeDocument/2006/relationships/image" Target="../media/image28.emf"/><Relationship Id="rId4" Type="http://schemas.openxmlformats.org/officeDocument/2006/relationships/image" Target="../media/image27.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emf"/><Relationship Id="rId1" Type="http://schemas.openxmlformats.org/officeDocument/2006/relationships/image" Target="../media/image29.emf"/><Relationship Id="rId5" Type="http://schemas.openxmlformats.org/officeDocument/2006/relationships/image" Target="../media/image33.wmf"/><Relationship Id="rId4"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41.emf"/><Relationship Id="rId3" Type="http://schemas.openxmlformats.org/officeDocument/2006/relationships/image" Target="../media/image36.emf"/><Relationship Id="rId7" Type="http://schemas.openxmlformats.org/officeDocument/2006/relationships/image" Target="../media/image40.emf"/><Relationship Id="rId2" Type="http://schemas.openxmlformats.org/officeDocument/2006/relationships/image" Target="../media/image35.emf"/><Relationship Id="rId1" Type="http://schemas.openxmlformats.org/officeDocument/2006/relationships/image" Target="../media/image34.emf"/><Relationship Id="rId6" Type="http://schemas.openxmlformats.org/officeDocument/2006/relationships/image" Target="../media/image39.emf"/><Relationship Id="rId5" Type="http://schemas.openxmlformats.org/officeDocument/2006/relationships/image" Target="../media/image38.emf"/><Relationship Id="rId4" Type="http://schemas.openxmlformats.org/officeDocument/2006/relationships/image" Target="../media/image37.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49.emf"/><Relationship Id="rId3" Type="http://schemas.openxmlformats.org/officeDocument/2006/relationships/image" Target="../media/image44.emf"/><Relationship Id="rId7" Type="http://schemas.openxmlformats.org/officeDocument/2006/relationships/image" Target="../media/image48.emf"/><Relationship Id="rId2" Type="http://schemas.openxmlformats.org/officeDocument/2006/relationships/image" Target="../media/image43.emf"/><Relationship Id="rId1" Type="http://schemas.openxmlformats.org/officeDocument/2006/relationships/image" Target="../media/image42.emf"/><Relationship Id="rId6" Type="http://schemas.openxmlformats.org/officeDocument/2006/relationships/image" Target="../media/image47.emf"/><Relationship Id="rId5" Type="http://schemas.openxmlformats.org/officeDocument/2006/relationships/image" Target="../media/image46.emf"/><Relationship Id="rId4" Type="http://schemas.openxmlformats.org/officeDocument/2006/relationships/image" Target="../media/image45.e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57.emf"/><Relationship Id="rId13" Type="http://schemas.openxmlformats.org/officeDocument/2006/relationships/image" Target="../media/image62.wmf"/><Relationship Id="rId3" Type="http://schemas.openxmlformats.org/officeDocument/2006/relationships/image" Target="../media/image52.emf"/><Relationship Id="rId7" Type="http://schemas.openxmlformats.org/officeDocument/2006/relationships/image" Target="../media/image56.emf"/><Relationship Id="rId12" Type="http://schemas.openxmlformats.org/officeDocument/2006/relationships/image" Target="../media/image61.emf"/><Relationship Id="rId2" Type="http://schemas.openxmlformats.org/officeDocument/2006/relationships/image" Target="../media/image51.emf"/><Relationship Id="rId1" Type="http://schemas.openxmlformats.org/officeDocument/2006/relationships/image" Target="../media/image50.emf"/><Relationship Id="rId6" Type="http://schemas.openxmlformats.org/officeDocument/2006/relationships/image" Target="../media/image55.emf"/><Relationship Id="rId11" Type="http://schemas.openxmlformats.org/officeDocument/2006/relationships/image" Target="../media/image60.emf"/><Relationship Id="rId5" Type="http://schemas.openxmlformats.org/officeDocument/2006/relationships/image" Target="../media/image54.emf"/><Relationship Id="rId10" Type="http://schemas.openxmlformats.org/officeDocument/2006/relationships/image" Target="../media/image59.emf"/><Relationship Id="rId4" Type="http://schemas.openxmlformats.org/officeDocument/2006/relationships/image" Target="../media/image53.emf"/><Relationship Id="rId9" Type="http://schemas.openxmlformats.org/officeDocument/2006/relationships/image" Target="../media/image5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image" Target="../media/image67.emf"/><Relationship Id="rId6" Type="http://schemas.openxmlformats.org/officeDocument/2006/relationships/image" Target="../media/image72.emf"/><Relationship Id="rId5" Type="http://schemas.openxmlformats.org/officeDocument/2006/relationships/image" Target="../media/image71.emf"/><Relationship Id="rId4" Type="http://schemas.openxmlformats.org/officeDocument/2006/relationships/image" Target="../media/image70.e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image" Target="../media/image75.emf"/><Relationship Id="rId7" Type="http://schemas.openxmlformats.org/officeDocument/2006/relationships/image" Target="../media/image79.wmf"/><Relationship Id="rId2" Type="http://schemas.openxmlformats.org/officeDocument/2006/relationships/image" Target="../media/image74.emf"/><Relationship Id="rId1" Type="http://schemas.openxmlformats.org/officeDocument/2006/relationships/image" Target="../media/image73.emf"/><Relationship Id="rId6" Type="http://schemas.openxmlformats.org/officeDocument/2006/relationships/image" Target="../media/image78.emf"/><Relationship Id="rId5" Type="http://schemas.openxmlformats.org/officeDocument/2006/relationships/image" Target="../media/image77.wmf"/><Relationship Id="rId4" Type="http://schemas.openxmlformats.org/officeDocument/2006/relationships/image" Target="../media/image76.wmf"/><Relationship Id="rId9" Type="http://schemas.openxmlformats.org/officeDocument/2006/relationships/image" Target="../media/image8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emf"/><Relationship Id="rId4" Type="http://schemas.openxmlformats.org/officeDocument/2006/relationships/image" Target="../media/image85.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87.emf"/><Relationship Id="rId1" Type="http://schemas.openxmlformats.org/officeDocument/2006/relationships/image" Target="../media/image86.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image" Target="../media/image89.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97.emf"/><Relationship Id="rId2" Type="http://schemas.openxmlformats.org/officeDocument/2006/relationships/image" Target="../media/image96.emf"/><Relationship Id="rId1" Type="http://schemas.openxmlformats.org/officeDocument/2006/relationships/image" Target="../media/image95.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00.emf"/><Relationship Id="rId7" Type="http://schemas.openxmlformats.org/officeDocument/2006/relationships/image" Target="../media/image104.emf"/><Relationship Id="rId2" Type="http://schemas.openxmlformats.org/officeDocument/2006/relationships/image" Target="../media/image99.emf"/><Relationship Id="rId1" Type="http://schemas.openxmlformats.org/officeDocument/2006/relationships/image" Target="../media/image98.emf"/><Relationship Id="rId6" Type="http://schemas.openxmlformats.org/officeDocument/2006/relationships/image" Target="../media/image103.emf"/><Relationship Id="rId5" Type="http://schemas.openxmlformats.org/officeDocument/2006/relationships/image" Target="../media/image102.emf"/><Relationship Id="rId4" Type="http://schemas.openxmlformats.org/officeDocument/2006/relationships/image" Target="../media/image10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05.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16.emf"/><Relationship Id="rId3" Type="http://schemas.openxmlformats.org/officeDocument/2006/relationships/image" Target="../media/image111.emf"/><Relationship Id="rId7" Type="http://schemas.openxmlformats.org/officeDocument/2006/relationships/image" Target="../media/image115.emf"/><Relationship Id="rId2" Type="http://schemas.openxmlformats.org/officeDocument/2006/relationships/image" Target="../media/image110.emf"/><Relationship Id="rId1" Type="http://schemas.openxmlformats.org/officeDocument/2006/relationships/image" Target="../media/image109.emf"/><Relationship Id="rId6" Type="http://schemas.openxmlformats.org/officeDocument/2006/relationships/image" Target="../media/image114.emf"/><Relationship Id="rId5" Type="http://schemas.openxmlformats.org/officeDocument/2006/relationships/image" Target="../media/image113.emf"/><Relationship Id="rId4" Type="http://schemas.openxmlformats.org/officeDocument/2006/relationships/image" Target="../media/image112.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21.emf"/><Relationship Id="rId2" Type="http://schemas.openxmlformats.org/officeDocument/2006/relationships/image" Target="../media/image120.emf"/><Relationship Id="rId1" Type="http://schemas.openxmlformats.org/officeDocument/2006/relationships/image" Target="../media/image119.emf"/><Relationship Id="rId5" Type="http://schemas.openxmlformats.org/officeDocument/2006/relationships/image" Target="../media/image123.emf"/><Relationship Id="rId4" Type="http://schemas.openxmlformats.org/officeDocument/2006/relationships/image" Target="../media/image122.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image" Target="../media/image134.wmf"/><Relationship Id="rId1" Type="http://schemas.openxmlformats.org/officeDocument/2006/relationships/image" Target="../media/image133.wmf"/><Relationship Id="rId5" Type="http://schemas.openxmlformats.org/officeDocument/2006/relationships/image" Target="../media/image137.wmf"/><Relationship Id="rId4" Type="http://schemas.openxmlformats.org/officeDocument/2006/relationships/image" Target="../media/image136.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47.wmf"/><Relationship Id="rId2" Type="http://schemas.openxmlformats.org/officeDocument/2006/relationships/image" Target="../media/image146.wmf"/><Relationship Id="rId1" Type="http://schemas.openxmlformats.org/officeDocument/2006/relationships/image" Target="../media/image145.wmf"/><Relationship Id="rId4" Type="http://schemas.openxmlformats.org/officeDocument/2006/relationships/image" Target="../media/image148.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52.wmf"/><Relationship Id="rId2" Type="http://schemas.openxmlformats.org/officeDocument/2006/relationships/image" Target="../media/image151.wmf"/><Relationship Id="rId1" Type="http://schemas.openxmlformats.org/officeDocument/2006/relationships/image" Target="../media/image150.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62.emf"/><Relationship Id="rId3" Type="http://schemas.openxmlformats.org/officeDocument/2006/relationships/image" Target="../media/image157.emf"/><Relationship Id="rId7" Type="http://schemas.openxmlformats.org/officeDocument/2006/relationships/image" Target="../media/image161.emf"/><Relationship Id="rId12" Type="http://schemas.openxmlformats.org/officeDocument/2006/relationships/image" Target="../media/image166.emf"/><Relationship Id="rId2" Type="http://schemas.openxmlformats.org/officeDocument/2006/relationships/image" Target="../media/image156.emf"/><Relationship Id="rId1" Type="http://schemas.openxmlformats.org/officeDocument/2006/relationships/image" Target="../media/image155.emf"/><Relationship Id="rId6" Type="http://schemas.openxmlformats.org/officeDocument/2006/relationships/image" Target="../media/image160.emf"/><Relationship Id="rId11" Type="http://schemas.openxmlformats.org/officeDocument/2006/relationships/image" Target="../media/image165.emf"/><Relationship Id="rId5" Type="http://schemas.openxmlformats.org/officeDocument/2006/relationships/image" Target="../media/image159.emf"/><Relationship Id="rId10" Type="http://schemas.openxmlformats.org/officeDocument/2006/relationships/image" Target="../media/image164.emf"/><Relationship Id="rId4" Type="http://schemas.openxmlformats.org/officeDocument/2006/relationships/image" Target="../media/image158.emf"/><Relationship Id="rId9" Type="http://schemas.openxmlformats.org/officeDocument/2006/relationships/image" Target="../media/image163.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69.emf"/><Relationship Id="rId7" Type="http://schemas.openxmlformats.org/officeDocument/2006/relationships/image" Target="../media/image173.emf"/><Relationship Id="rId2" Type="http://schemas.openxmlformats.org/officeDocument/2006/relationships/image" Target="../media/image168.emf"/><Relationship Id="rId1" Type="http://schemas.openxmlformats.org/officeDocument/2006/relationships/image" Target="../media/image167.emf"/><Relationship Id="rId6" Type="http://schemas.openxmlformats.org/officeDocument/2006/relationships/image" Target="../media/image172.emf"/><Relationship Id="rId5" Type="http://schemas.openxmlformats.org/officeDocument/2006/relationships/image" Target="../media/image171.emf"/><Relationship Id="rId4" Type="http://schemas.openxmlformats.org/officeDocument/2006/relationships/image" Target="../media/image170.e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81.wmf"/><Relationship Id="rId3" Type="http://schemas.openxmlformats.org/officeDocument/2006/relationships/image" Target="../media/image176.wmf"/><Relationship Id="rId7" Type="http://schemas.openxmlformats.org/officeDocument/2006/relationships/image" Target="../media/image180.wmf"/><Relationship Id="rId2" Type="http://schemas.openxmlformats.org/officeDocument/2006/relationships/image" Target="../media/image175.wmf"/><Relationship Id="rId1" Type="http://schemas.openxmlformats.org/officeDocument/2006/relationships/image" Target="../media/image174.wmf"/><Relationship Id="rId6" Type="http://schemas.openxmlformats.org/officeDocument/2006/relationships/image" Target="../media/image179.wmf"/><Relationship Id="rId5" Type="http://schemas.openxmlformats.org/officeDocument/2006/relationships/image" Target="../media/image178.wmf"/><Relationship Id="rId10" Type="http://schemas.openxmlformats.org/officeDocument/2006/relationships/image" Target="../media/image183.wmf"/><Relationship Id="rId4" Type="http://schemas.openxmlformats.org/officeDocument/2006/relationships/image" Target="../media/image177.wmf"/><Relationship Id="rId9" Type="http://schemas.openxmlformats.org/officeDocument/2006/relationships/image" Target="../media/image182.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91.emf"/><Relationship Id="rId3" Type="http://schemas.openxmlformats.org/officeDocument/2006/relationships/image" Target="../media/image186.wmf"/><Relationship Id="rId7" Type="http://schemas.openxmlformats.org/officeDocument/2006/relationships/image" Target="../media/image190.emf"/><Relationship Id="rId12" Type="http://schemas.openxmlformats.org/officeDocument/2006/relationships/image" Target="../media/image195.emf"/><Relationship Id="rId2" Type="http://schemas.openxmlformats.org/officeDocument/2006/relationships/image" Target="../media/image185.wmf"/><Relationship Id="rId1" Type="http://schemas.openxmlformats.org/officeDocument/2006/relationships/image" Target="../media/image184.wmf"/><Relationship Id="rId6" Type="http://schemas.openxmlformats.org/officeDocument/2006/relationships/image" Target="../media/image189.emf"/><Relationship Id="rId11" Type="http://schemas.openxmlformats.org/officeDocument/2006/relationships/image" Target="../media/image194.emf"/><Relationship Id="rId5" Type="http://schemas.openxmlformats.org/officeDocument/2006/relationships/image" Target="../media/image188.emf"/><Relationship Id="rId10" Type="http://schemas.openxmlformats.org/officeDocument/2006/relationships/image" Target="../media/image193.emf"/><Relationship Id="rId4" Type="http://schemas.openxmlformats.org/officeDocument/2006/relationships/image" Target="../media/image187.emf"/><Relationship Id="rId9" Type="http://schemas.openxmlformats.org/officeDocument/2006/relationships/image" Target="../media/image192.e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203.emf"/><Relationship Id="rId3" Type="http://schemas.openxmlformats.org/officeDocument/2006/relationships/image" Target="../media/image198.emf"/><Relationship Id="rId7" Type="http://schemas.openxmlformats.org/officeDocument/2006/relationships/image" Target="../media/image202.emf"/><Relationship Id="rId12" Type="http://schemas.openxmlformats.org/officeDocument/2006/relationships/image" Target="../media/image207.emf"/><Relationship Id="rId2" Type="http://schemas.openxmlformats.org/officeDocument/2006/relationships/image" Target="../media/image197.emf"/><Relationship Id="rId1" Type="http://schemas.openxmlformats.org/officeDocument/2006/relationships/image" Target="../media/image196.emf"/><Relationship Id="rId6" Type="http://schemas.openxmlformats.org/officeDocument/2006/relationships/image" Target="../media/image201.emf"/><Relationship Id="rId11" Type="http://schemas.openxmlformats.org/officeDocument/2006/relationships/image" Target="../media/image206.emf"/><Relationship Id="rId5" Type="http://schemas.openxmlformats.org/officeDocument/2006/relationships/image" Target="../media/image200.wmf"/><Relationship Id="rId10" Type="http://schemas.openxmlformats.org/officeDocument/2006/relationships/image" Target="../media/image205.emf"/><Relationship Id="rId4" Type="http://schemas.openxmlformats.org/officeDocument/2006/relationships/image" Target="../media/image199.emf"/><Relationship Id="rId9" Type="http://schemas.openxmlformats.org/officeDocument/2006/relationships/image" Target="../media/image204.e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210.wmf"/><Relationship Id="rId2" Type="http://schemas.openxmlformats.org/officeDocument/2006/relationships/image" Target="../media/image209.wmf"/><Relationship Id="rId1" Type="http://schemas.openxmlformats.org/officeDocument/2006/relationships/image" Target="../media/image208.e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213.wmf"/><Relationship Id="rId2" Type="http://schemas.openxmlformats.org/officeDocument/2006/relationships/image" Target="../media/image212.wmf"/><Relationship Id="rId1" Type="http://schemas.openxmlformats.org/officeDocument/2006/relationships/image" Target="../media/image211.wmf"/><Relationship Id="rId4" Type="http://schemas.openxmlformats.org/officeDocument/2006/relationships/image" Target="../media/image214.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218.emf"/><Relationship Id="rId2" Type="http://schemas.openxmlformats.org/officeDocument/2006/relationships/image" Target="../media/image217.emf"/><Relationship Id="rId1" Type="http://schemas.openxmlformats.org/officeDocument/2006/relationships/image" Target="../media/image216.emf"/><Relationship Id="rId6" Type="http://schemas.openxmlformats.org/officeDocument/2006/relationships/image" Target="../media/image221.emf"/><Relationship Id="rId5" Type="http://schemas.openxmlformats.org/officeDocument/2006/relationships/image" Target="../media/image220.emf"/><Relationship Id="rId4" Type="http://schemas.openxmlformats.org/officeDocument/2006/relationships/image" Target="../media/image219.e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229.emf"/><Relationship Id="rId3" Type="http://schemas.openxmlformats.org/officeDocument/2006/relationships/image" Target="../media/image224.emf"/><Relationship Id="rId7" Type="http://schemas.openxmlformats.org/officeDocument/2006/relationships/image" Target="../media/image228.emf"/><Relationship Id="rId2" Type="http://schemas.openxmlformats.org/officeDocument/2006/relationships/image" Target="../media/image223.emf"/><Relationship Id="rId1" Type="http://schemas.openxmlformats.org/officeDocument/2006/relationships/image" Target="../media/image222.emf"/><Relationship Id="rId6" Type="http://schemas.openxmlformats.org/officeDocument/2006/relationships/image" Target="../media/image227.emf"/><Relationship Id="rId5" Type="http://schemas.openxmlformats.org/officeDocument/2006/relationships/image" Target="../media/image226.emf"/><Relationship Id="rId10" Type="http://schemas.openxmlformats.org/officeDocument/2006/relationships/image" Target="../media/image231.emf"/><Relationship Id="rId4" Type="http://schemas.openxmlformats.org/officeDocument/2006/relationships/image" Target="../media/image225.emf"/><Relationship Id="rId9" Type="http://schemas.openxmlformats.org/officeDocument/2006/relationships/image" Target="../media/image230.e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234.wmf"/><Relationship Id="rId1" Type="http://schemas.openxmlformats.org/officeDocument/2006/relationships/image" Target="../media/image233.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237.wmf"/><Relationship Id="rId2" Type="http://schemas.openxmlformats.org/officeDocument/2006/relationships/image" Target="../media/image236.wmf"/><Relationship Id="rId1" Type="http://schemas.openxmlformats.org/officeDocument/2006/relationships/image" Target="../media/image235.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44.wmf"/><Relationship Id="rId2" Type="http://schemas.openxmlformats.org/officeDocument/2006/relationships/image" Target="../media/image243.wmf"/><Relationship Id="rId1" Type="http://schemas.openxmlformats.org/officeDocument/2006/relationships/image" Target="../media/image242.wmf"/><Relationship Id="rId6" Type="http://schemas.openxmlformats.org/officeDocument/2006/relationships/image" Target="../media/image247.wmf"/><Relationship Id="rId5" Type="http://schemas.openxmlformats.org/officeDocument/2006/relationships/image" Target="../media/image246.wmf"/><Relationship Id="rId4" Type="http://schemas.openxmlformats.org/officeDocument/2006/relationships/image" Target="../media/image245.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51.emf"/><Relationship Id="rId2" Type="http://schemas.openxmlformats.org/officeDocument/2006/relationships/image" Target="../media/image250.emf"/><Relationship Id="rId1" Type="http://schemas.openxmlformats.org/officeDocument/2006/relationships/image" Target="../media/image249.emf"/><Relationship Id="rId6" Type="http://schemas.openxmlformats.org/officeDocument/2006/relationships/image" Target="../media/image254.emf"/><Relationship Id="rId5" Type="http://schemas.openxmlformats.org/officeDocument/2006/relationships/image" Target="../media/image253.emf"/><Relationship Id="rId4" Type="http://schemas.openxmlformats.org/officeDocument/2006/relationships/image" Target="../media/image252.e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262.emf"/><Relationship Id="rId3" Type="http://schemas.openxmlformats.org/officeDocument/2006/relationships/image" Target="../media/image257.emf"/><Relationship Id="rId7" Type="http://schemas.openxmlformats.org/officeDocument/2006/relationships/image" Target="../media/image261.emf"/><Relationship Id="rId2" Type="http://schemas.openxmlformats.org/officeDocument/2006/relationships/image" Target="../media/image256.emf"/><Relationship Id="rId1" Type="http://schemas.openxmlformats.org/officeDocument/2006/relationships/image" Target="../media/image255.emf"/><Relationship Id="rId6" Type="http://schemas.openxmlformats.org/officeDocument/2006/relationships/image" Target="../media/image260.emf"/><Relationship Id="rId11" Type="http://schemas.openxmlformats.org/officeDocument/2006/relationships/image" Target="../media/image265.emf"/><Relationship Id="rId5" Type="http://schemas.openxmlformats.org/officeDocument/2006/relationships/image" Target="../media/image259.emf"/><Relationship Id="rId10" Type="http://schemas.openxmlformats.org/officeDocument/2006/relationships/image" Target="../media/image264.emf"/><Relationship Id="rId4" Type="http://schemas.openxmlformats.org/officeDocument/2006/relationships/image" Target="../media/image258.emf"/><Relationship Id="rId9" Type="http://schemas.openxmlformats.org/officeDocument/2006/relationships/image" Target="../media/image263.e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268.wmf"/><Relationship Id="rId2" Type="http://schemas.openxmlformats.org/officeDocument/2006/relationships/image" Target="../media/image267.wmf"/><Relationship Id="rId1" Type="http://schemas.openxmlformats.org/officeDocument/2006/relationships/image" Target="../media/image266.wmf"/><Relationship Id="rId5" Type="http://schemas.openxmlformats.org/officeDocument/2006/relationships/image" Target="../media/image270.wmf"/><Relationship Id="rId4" Type="http://schemas.openxmlformats.org/officeDocument/2006/relationships/image" Target="../media/image269.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74.wmf"/><Relationship Id="rId2" Type="http://schemas.openxmlformats.org/officeDocument/2006/relationships/image" Target="../media/image273.emf"/><Relationship Id="rId1" Type="http://schemas.openxmlformats.org/officeDocument/2006/relationships/image" Target="../media/image272.e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287.wmf"/><Relationship Id="rId2" Type="http://schemas.openxmlformats.org/officeDocument/2006/relationships/image" Target="../media/image286.wmf"/><Relationship Id="rId1" Type="http://schemas.openxmlformats.org/officeDocument/2006/relationships/image" Target="../media/image285.w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301.emf"/><Relationship Id="rId13" Type="http://schemas.openxmlformats.org/officeDocument/2006/relationships/image" Target="../media/image306.emf"/><Relationship Id="rId3" Type="http://schemas.openxmlformats.org/officeDocument/2006/relationships/image" Target="../media/image296.emf"/><Relationship Id="rId7" Type="http://schemas.openxmlformats.org/officeDocument/2006/relationships/image" Target="../media/image300.emf"/><Relationship Id="rId12" Type="http://schemas.openxmlformats.org/officeDocument/2006/relationships/image" Target="../media/image305.emf"/><Relationship Id="rId2" Type="http://schemas.openxmlformats.org/officeDocument/2006/relationships/image" Target="../media/image295.emf"/><Relationship Id="rId16" Type="http://schemas.openxmlformats.org/officeDocument/2006/relationships/image" Target="../media/image309.emf"/><Relationship Id="rId1" Type="http://schemas.openxmlformats.org/officeDocument/2006/relationships/image" Target="../media/image294.emf"/><Relationship Id="rId6" Type="http://schemas.openxmlformats.org/officeDocument/2006/relationships/image" Target="../media/image299.emf"/><Relationship Id="rId11" Type="http://schemas.openxmlformats.org/officeDocument/2006/relationships/image" Target="../media/image304.emf"/><Relationship Id="rId5" Type="http://schemas.openxmlformats.org/officeDocument/2006/relationships/image" Target="../media/image298.emf"/><Relationship Id="rId15" Type="http://schemas.openxmlformats.org/officeDocument/2006/relationships/image" Target="../media/image308.emf"/><Relationship Id="rId10" Type="http://schemas.openxmlformats.org/officeDocument/2006/relationships/image" Target="../media/image303.emf"/><Relationship Id="rId4" Type="http://schemas.openxmlformats.org/officeDocument/2006/relationships/image" Target="../media/image297.emf"/><Relationship Id="rId9" Type="http://schemas.openxmlformats.org/officeDocument/2006/relationships/image" Target="../media/image302.emf"/><Relationship Id="rId14" Type="http://schemas.openxmlformats.org/officeDocument/2006/relationships/image" Target="../media/image307.e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326.emf"/><Relationship Id="rId2" Type="http://schemas.openxmlformats.org/officeDocument/2006/relationships/image" Target="../media/image325.emf"/><Relationship Id="rId1" Type="http://schemas.openxmlformats.org/officeDocument/2006/relationships/image" Target="../media/image324.emf"/></Relationships>
</file>

<file path=ppt/drawings/_rels/vmlDrawing42.vml.rels><?xml version="1.0" encoding="UTF-8" standalone="yes"?>
<Relationships xmlns="http://schemas.openxmlformats.org/package/2006/relationships"><Relationship Id="rId8" Type="http://schemas.openxmlformats.org/officeDocument/2006/relationships/image" Target="../media/image326.emf"/><Relationship Id="rId3" Type="http://schemas.openxmlformats.org/officeDocument/2006/relationships/image" Target="../media/image329.emf"/><Relationship Id="rId7" Type="http://schemas.openxmlformats.org/officeDocument/2006/relationships/image" Target="../media/image333.emf"/><Relationship Id="rId2" Type="http://schemas.openxmlformats.org/officeDocument/2006/relationships/image" Target="../media/image328.emf"/><Relationship Id="rId1" Type="http://schemas.openxmlformats.org/officeDocument/2006/relationships/image" Target="../media/image327.emf"/><Relationship Id="rId6" Type="http://schemas.openxmlformats.org/officeDocument/2006/relationships/image" Target="../media/image332.emf"/><Relationship Id="rId5" Type="http://schemas.openxmlformats.org/officeDocument/2006/relationships/image" Target="../media/image331.emf"/><Relationship Id="rId4" Type="http://schemas.openxmlformats.org/officeDocument/2006/relationships/image" Target="../media/image330.e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341.emf"/><Relationship Id="rId13" Type="http://schemas.openxmlformats.org/officeDocument/2006/relationships/image" Target="../media/image346.emf"/><Relationship Id="rId3" Type="http://schemas.openxmlformats.org/officeDocument/2006/relationships/image" Target="../media/image336.emf"/><Relationship Id="rId7" Type="http://schemas.openxmlformats.org/officeDocument/2006/relationships/image" Target="../media/image340.emf"/><Relationship Id="rId12" Type="http://schemas.openxmlformats.org/officeDocument/2006/relationships/image" Target="../media/image345.emf"/><Relationship Id="rId2" Type="http://schemas.openxmlformats.org/officeDocument/2006/relationships/image" Target="../media/image335.emf"/><Relationship Id="rId1" Type="http://schemas.openxmlformats.org/officeDocument/2006/relationships/image" Target="../media/image334.emf"/><Relationship Id="rId6" Type="http://schemas.openxmlformats.org/officeDocument/2006/relationships/image" Target="../media/image339.emf"/><Relationship Id="rId11" Type="http://schemas.openxmlformats.org/officeDocument/2006/relationships/image" Target="../media/image344.emf"/><Relationship Id="rId5" Type="http://schemas.openxmlformats.org/officeDocument/2006/relationships/image" Target="../media/image338.emf"/><Relationship Id="rId15" Type="http://schemas.openxmlformats.org/officeDocument/2006/relationships/image" Target="../media/image348.emf"/><Relationship Id="rId10" Type="http://schemas.openxmlformats.org/officeDocument/2006/relationships/image" Target="../media/image343.emf"/><Relationship Id="rId4" Type="http://schemas.openxmlformats.org/officeDocument/2006/relationships/image" Target="../media/image337.emf"/><Relationship Id="rId9" Type="http://schemas.openxmlformats.org/officeDocument/2006/relationships/image" Target="../media/image342.emf"/><Relationship Id="rId14" Type="http://schemas.openxmlformats.org/officeDocument/2006/relationships/image" Target="../media/image347.e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356.emf"/><Relationship Id="rId13" Type="http://schemas.openxmlformats.org/officeDocument/2006/relationships/image" Target="../media/image361.emf"/><Relationship Id="rId3" Type="http://schemas.openxmlformats.org/officeDocument/2006/relationships/image" Target="../media/image351.emf"/><Relationship Id="rId7" Type="http://schemas.openxmlformats.org/officeDocument/2006/relationships/image" Target="../media/image355.emf"/><Relationship Id="rId12" Type="http://schemas.openxmlformats.org/officeDocument/2006/relationships/image" Target="../media/image360.emf"/><Relationship Id="rId2" Type="http://schemas.openxmlformats.org/officeDocument/2006/relationships/image" Target="../media/image350.emf"/><Relationship Id="rId1" Type="http://schemas.openxmlformats.org/officeDocument/2006/relationships/image" Target="../media/image349.emf"/><Relationship Id="rId6" Type="http://schemas.openxmlformats.org/officeDocument/2006/relationships/image" Target="../media/image354.emf"/><Relationship Id="rId11" Type="http://schemas.openxmlformats.org/officeDocument/2006/relationships/image" Target="../media/image359.emf"/><Relationship Id="rId5" Type="http://schemas.openxmlformats.org/officeDocument/2006/relationships/image" Target="../media/image353.emf"/><Relationship Id="rId10" Type="http://schemas.openxmlformats.org/officeDocument/2006/relationships/image" Target="../media/image358.emf"/><Relationship Id="rId4" Type="http://schemas.openxmlformats.org/officeDocument/2006/relationships/image" Target="../media/image352.emf"/><Relationship Id="rId9" Type="http://schemas.openxmlformats.org/officeDocument/2006/relationships/image" Target="../media/image357.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36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B2DC7D43-84AB-4315-ADBE-6EE5FF104835}" type="datetimeFigureOut">
              <a:rPr lang="zh-CN" altLang="en-US"/>
              <a:pPr>
                <a:defRPr/>
              </a:pPr>
              <a:t>2026/3/17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74C80956-AB2B-490C-B2F9-60C7F47C8005}" type="slidenum">
              <a:rPr lang="zh-CN" altLang="en-US"/>
              <a:pPr>
                <a:defRPr/>
              </a:pPr>
              <a:t>‹#›</a:t>
            </a:fld>
            <a:endParaRPr lang="zh-CN" altLang="en-US"/>
          </a:p>
        </p:txBody>
      </p:sp>
    </p:spTree>
    <p:extLst>
      <p:ext uri="{BB962C8B-B14F-4D97-AF65-F5344CB8AC3E}">
        <p14:creationId xmlns:p14="http://schemas.microsoft.com/office/powerpoint/2010/main" val="12575162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C80956-AB2B-490C-B2F9-60C7F47C8005}" type="slidenum">
              <a:rPr lang="zh-CN" altLang="en-US" smtClean="0"/>
              <a:pPr>
                <a:defRPr/>
              </a:pPr>
              <a:t>5</a:t>
            </a:fld>
            <a:endParaRPr lang="zh-CN" altLang="en-US"/>
          </a:p>
        </p:txBody>
      </p:sp>
    </p:spTree>
    <p:extLst>
      <p:ext uri="{BB962C8B-B14F-4D97-AF65-F5344CB8AC3E}">
        <p14:creationId xmlns:p14="http://schemas.microsoft.com/office/powerpoint/2010/main" val="271454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C80956-AB2B-490C-B2F9-60C7F47C8005}" type="slidenum">
              <a:rPr lang="zh-CN" altLang="en-US" smtClean="0"/>
              <a:pPr>
                <a:defRPr/>
              </a:pPr>
              <a:t>24</a:t>
            </a:fld>
            <a:endParaRPr lang="zh-CN" altLang="en-US"/>
          </a:p>
        </p:txBody>
      </p:sp>
    </p:spTree>
    <p:extLst>
      <p:ext uri="{BB962C8B-B14F-4D97-AF65-F5344CB8AC3E}">
        <p14:creationId xmlns:p14="http://schemas.microsoft.com/office/powerpoint/2010/main" val="2035479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Char char="•"/>
            </a:pPr>
            <a:r>
              <a:rPr lang="zh-CN" altLang="en-US" b="1" i="0" dirty="0">
                <a:solidFill>
                  <a:srgbClr val="0F1115"/>
                </a:solidFill>
                <a:effectLst/>
                <a:latin typeface="quote-cjk-patch"/>
              </a:rPr>
              <a:t>直观理解：</a:t>
            </a:r>
            <a:endParaRPr lang="zh-CN" altLang="en-US" b="0" i="0" dirty="0">
              <a:solidFill>
                <a:srgbClr val="0F1115"/>
              </a:solidFill>
              <a:effectLst/>
              <a:latin typeface="quote-cjk-patch"/>
            </a:endParaRPr>
          </a:p>
          <a:p>
            <a:pPr marL="742950" lvl="1" indent="-285750" algn="l">
              <a:buFont typeface="Arial" panose="020B0604020202020204" pitchFamily="34" charset="0"/>
              <a:buChar char="•"/>
            </a:pPr>
            <a:r>
              <a:rPr lang="zh-CN" altLang="en-US" b="0" i="0" dirty="0">
                <a:solidFill>
                  <a:srgbClr val="0F1115"/>
                </a:solidFill>
                <a:effectLst/>
                <a:latin typeface="quote-cjk-patch"/>
              </a:rPr>
              <a:t>想象一片薄板平放在桌面上。</a:t>
            </a:r>
          </a:p>
          <a:p>
            <a:pPr marL="742950" lvl="1" indent="-285750" algn="l">
              <a:buFont typeface="Arial" panose="020B0604020202020204" pitchFamily="34" charset="0"/>
              <a:buChar char="•"/>
            </a:pPr>
            <a:r>
              <a:rPr lang="zh-CN" altLang="en-US" b="0" i="0" dirty="0">
                <a:solidFill>
                  <a:srgbClr val="0F1115"/>
                </a:solidFill>
                <a:effectLst/>
                <a:latin typeface="quote-cjk-patch"/>
              </a:rPr>
              <a:t>让这片板绕垂直桌面的轴（</a:t>
            </a:r>
            <a:r>
              <a:rPr lang="en-US" altLang="zh-CN" b="0" i="0" dirty="0" err="1">
                <a:solidFill>
                  <a:srgbClr val="0F1115"/>
                </a:solidFill>
                <a:effectLst/>
                <a:latin typeface="KaTeX_Main"/>
              </a:rPr>
              <a:t>z</a:t>
            </a:r>
            <a:r>
              <a:rPr lang="en-US" altLang="zh-CN" b="0" i="1" dirty="0" err="1">
                <a:solidFill>
                  <a:srgbClr val="0F1115"/>
                </a:solidFill>
                <a:effectLst/>
                <a:latin typeface="KaTeX_Math"/>
              </a:rPr>
              <a:t>z</a:t>
            </a:r>
            <a:r>
              <a:rPr lang="zh-CN" altLang="en-US" b="0" i="0" dirty="0">
                <a:solidFill>
                  <a:srgbClr val="0F1115"/>
                </a:solidFill>
                <a:effectLst/>
                <a:latin typeface="quote-cjk-patch"/>
              </a:rPr>
              <a:t> 轴）旋转，板上的每个质点到 </a:t>
            </a:r>
            <a:r>
              <a:rPr lang="en-US" altLang="zh-CN" b="0" i="0" dirty="0" err="1">
                <a:solidFill>
                  <a:srgbClr val="0F1115"/>
                </a:solidFill>
                <a:effectLst/>
                <a:latin typeface="KaTeX_Main"/>
              </a:rPr>
              <a:t>z</a:t>
            </a:r>
            <a:r>
              <a:rPr lang="en-US" altLang="zh-CN" b="0" i="1" dirty="0" err="1">
                <a:solidFill>
                  <a:srgbClr val="0F1115"/>
                </a:solidFill>
                <a:effectLst/>
                <a:latin typeface="KaTeX_Math"/>
              </a:rPr>
              <a:t>z</a:t>
            </a:r>
            <a:r>
              <a:rPr lang="zh-CN" altLang="en-US" b="0" i="0" dirty="0">
                <a:solidFill>
                  <a:srgbClr val="0F1115"/>
                </a:solidFill>
                <a:effectLst/>
                <a:latin typeface="quote-cjk-patch"/>
              </a:rPr>
              <a:t> 轴的距离是 </a:t>
            </a:r>
            <a:r>
              <a:rPr lang="en-US" altLang="zh-CN" b="0" i="0" dirty="0">
                <a:solidFill>
                  <a:srgbClr val="0F1115"/>
                </a:solidFill>
                <a:effectLst/>
                <a:latin typeface="KaTeX_Main"/>
              </a:rPr>
              <a:t>r=x2+y2</a:t>
            </a:r>
            <a:r>
              <a:rPr lang="en-US" altLang="zh-CN" b="0" i="1" dirty="0">
                <a:solidFill>
                  <a:srgbClr val="0F1115"/>
                </a:solidFill>
                <a:effectLst/>
                <a:latin typeface="KaTeX_Math"/>
              </a:rPr>
              <a:t>r</a:t>
            </a:r>
            <a:r>
              <a:rPr lang="en-US" altLang="zh-CN" b="0" i="0" dirty="0">
                <a:solidFill>
                  <a:srgbClr val="0F1115"/>
                </a:solidFill>
                <a:effectLst/>
                <a:latin typeface="KaTeX_Main"/>
              </a:rPr>
              <a:t>=</a:t>
            </a:r>
            <a:r>
              <a:rPr lang="en-US" altLang="zh-CN" b="0" i="1" dirty="0">
                <a:solidFill>
                  <a:srgbClr val="0F1115"/>
                </a:solidFill>
                <a:effectLst/>
                <a:latin typeface="KaTeX_Math"/>
              </a:rPr>
              <a:t>x</a:t>
            </a:r>
            <a:r>
              <a:rPr lang="en-US" altLang="zh-CN" b="0" i="0" dirty="0">
                <a:solidFill>
                  <a:srgbClr val="0F1115"/>
                </a:solidFill>
                <a:effectLst/>
                <a:latin typeface="KaTeX_Main"/>
              </a:rPr>
              <a:t>2+</a:t>
            </a:r>
            <a:r>
              <a:rPr lang="en-US" altLang="zh-CN" b="0" i="1" dirty="0">
                <a:solidFill>
                  <a:srgbClr val="0F1115"/>
                </a:solidFill>
                <a:effectLst/>
                <a:latin typeface="KaTeX_Math"/>
              </a:rPr>
              <a:t>y</a:t>
            </a:r>
            <a:r>
              <a:rPr lang="en-US" altLang="zh-CN" b="0" i="0" dirty="0">
                <a:solidFill>
                  <a:srgbClr val="0F1115"/>
                </a:solidFill>
                <a:effectLst/>
                <a:latin typeface="KaTeX_Main"/>
              </a:rPr>
              <a:t>2​</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0" i="0" dirty="0">
                <a:solidFill>
                  <a:srgbClr val="0F1115"/>
                </a:solidFill>
                <a:effectLst/>
                <a:latin typeface="quote-cjk-patch"/>
              </a:rPr>
              <a:t>因此 </a:t>
            </a:r>
            <a:r>
              <a:rPr lang="en-US" altLang="zh-CN" b="0" i="0" dirty="0" err="1">
                <a:solidFill>
                  <a:srgbClr val="0F1115"/>
                </a:solidFill>
                <a:effectLst/>
                <a:latin typeface="KaTeX_Main"/>
              </a:rPr>
              <a:t>Jz</a:t>
            </a:r>
            <a:r>
              <a:rPr lang="en-US" altLang="zh-CN" b="0" i="0" dirty="0">
                <a:solidFill>
                  <a:srgbClr val="0F1115"/>
                </a:solidFill>
                <a:effectLst/>
                <a:latin typeface="KaTeX_Main"/>
              </a:rPr>
              <a:t>=∑miri2=∑mi(xi2+yi2)=∑mixi2+∑miyi2</a:t>
            </a:r>
            <a:r>
              <a:rPr lang="en-US" altLang="zh-CN" b="0" i="1" dirty="0">
                <a:solidFill>
                  <a:srgbClr val="0F1115"/>
                </a:solidFill>
                <a:effectLst/>
                <a:latin typeface="KaTeX_Math"/>
              </a:rPr>
              <a:t>Jz</a:t>
            </a:r>
            <a:r>
              <a:rPr lang="zh-CN" altLang="en-US" b="0" i="0" dirty="0">
                <a:solidFill>
                  <a:srgbClr val="0F1115"/>
                </a:solidFill>
                <a:effectLst/>
                <a:latin typeface="KaTeX_Main"/>
              </a:rPr>
              <a:t>​</a:t>
            </a:r>
            <a:r>
              <a:rPr lang="en-US" altLang="zh-CN" b="0" i="0" dirty="0">
                <a:solidFill>
                  <a:srgbClr val="0F1115"/>
                </a:solidFill>
                <a:effectLst/>
                <a:latin typeface="KaTeX_Main"/>
              </a:rPr>
              <a:t>=</a:t>
            </a:r>
            <a:r>
              <a:rPr lang="zh-CN" altLang="en-US" b="0" i="0" dirty="0">
                <a:solidFill>
                  <a:srgbClr val="0F1115"/>
                </a:solidFill>
                <a:effectLst/>
                <a:latin typeface="KaTeX_Size1"/>
              </a:rPr>
              <a:t>∑</a:t>
            </a:r>
            <a:r>
              <a:rPr lang="en-US" altLang="zh-CN" b="0" i="1" dirty="0">
                <a:solidFill>
                  <a:srgbClr val="0F1115"/>
                </a:solidFill>
                <a:effectLst/>
                <a:latin typeface="KaTeX_Math"/>
              </a:rPr>
              <a:t>mi</a:t>
            </a:r>
            <a:r>
              <a:rPr lang="zh-CN" altLang="en-US" b="0" i="0" dirty="0">
                <a:solidFill>
                  <a:srgbClr val="0F1115"/>
                </a:solidFill>
                <a:effectLst/>
                <a:latin typeface="KaTeX_Main"/>
              </a:rPr>
              <a:t>​</a:t>
            </a:r>
            <a:r>
              <a:rPr lang="en-US" altLang="zh-CN" b="0" i="1" dirty="0">
                <a:solidFill>
                  <a:srgbClr val="0F1115"/>
                </a:solidFill>
                <a:effectLst/>
                <a:latin typeface="KaTeX_Math"/>
              </a:rPr>
              <a:t>ri</a:t>
            </a:r>
            <a:r>
              <a:rPr lang="en-US" altLang="zh-CN" b="0" i="0" dirty="0">
                <a:solidFill>
                  <a:srgbClr val="0F1115"/>
                </a:solidFill>
                <a:effectLst/>
                <a:latin typeface="KaTeX_Main"/>
              </a:rPr>
              <a:t>2​=</a:t>
            </a:r>
            <a:r>
              <a:rPr lang="zh-CN" altLang="en-US" b="0" i="0" dirty="0">
                <a:solidFill>
                  <a:srgbClr val="0F1115"/>
                </a:solidFill>
                <a:effectLst/>
                <a:latin typeface="KaTeX_Size1"/>
              </a:rPr>
              <a:t>∑</a:t>
            </a:r>
            <a:r>
              <a:rPr lang="en-US" altLang="zh-CN" b="0" i="1" dirty="0">
                <a:solidFill>
                  <a:srgbClr val="0F1115"/>
                </a:solidFill>
                <a:effectLst/>
                <a:latin typeface="KaTeX_Math"/>
              </a:rPr>
              <a:t>mi</a:t>
            </a:r>
            <a:r>
              <a:rPr lang="zh-CN" altLang="en-US" b="0" i="0" dirty="0">
                <a:solidFill>
                  <a:srgbClr val="0F1115"/>
                </a:solidFill>
                <a:effectLst/>
                <a:latin typeface="KaTeX_Main"/>
              </a:rPr>
              <a:t>​</a:t>
            </a:r>
            <a:r>
              <a:rPr lang="en-US" altLang="zh-CN" b="0" i="0" dirty="0">
                <a:solidFill>
                  <a:srgbClr val="0F1115"/>
                </a:solidFill>
                <a:effectLst/>
                <a:latin typeface="KaTeX_Main"/>
              </a:rPr>
              <a:t>(</a:t>
            </a:r>
            <a:r>
              <a:rPr lang="en-US" altLang="zh-CN" b="0" i="1" dirty="0">
                <a:solidFill>
                  <a:srgbClr val="0F1115"/>
                </a:solidFill>
                <a:effectLst/>
                <a:latin typeface="KaTeX_Math"/>
              </a:rPr>
              <a:t>xi</a:t>
            </a:r>
            <a:r>
              <a:rPr lang="en-US" altLang="zh-CN" b="0" i="0" dirty="0">
                <a:solidFill>
                  <a:srgbClr val="0F1115"/>
                </a:solidFill>
                <a:effectLst/>
                <a:latin typeface="KaTeX_Main"/>
              </a:rPr>
              <a:t>2​+</a:t>
            </a:r>
            <a:r>
              <a:rPr lang="en-US" altLang="zh-CN" b="0" i="1" dirty="0">
                <a:solidFill>
                  <a:srgbClr val="0F1115"/>
                </a:solidFill>
                <a:effectLst/>
                <a:latin typeface="KaTeX_Math"/>
              </a:rPr>
              <a:t>yi</a:t>
            </a:r>
            <a:r>
              <a:rPr lang="en-US" altLang="zh-CN" b="0" i="0" dirty="0">
                <a:solidFill>
                  <a:srgbClr val="0F1115"/>
                </a:solidFill>
                <a:effectLst/>
                <a:latin typeface="KaTeX_Main"/>
              </a:rPr>
              <a:t>2​)=</a:t>
            </a:r>
            <a:r>
              <a:rPr lang="zh-CN" altLang="en-US" b="0" i="0" dirty="0">
                <a:solidFill>
                  <a:srgbClr val="0F1115"/>
                </a:solidFill>
                <a:effectLst/>
                <a:latin typeface="KaTeX_Size1"/>
              </a:rPr>
              <a:t>∑</a:t>
            </a:r>
            <a:r>
              <a:rPr lang="en-US" altLang="zh-CN" b="0" i="1" dirty="0">
                <a:solidFill>
                  <a:srgbClr val="0F1115"/>
                </a:solidFill>
                <a:effectLst/>
                <a:latin typeface="KaTeX_Math"/>
              </a:rPr>
              <a:t>mi</a:t>
            </a:r>
            <a:r>
              <a:rPr lang="zh-CN" altLang="en-US" b="0" i="0" dirty="0">
                <a:solidFill>
                  <a:srgbClr val="0F1115"/>
                </a:solidFill>
                <a:effectLst/>
                <a:latin typeface="KaTeX_Main"/>
              </a:rPr>
              <a:t>​</a:t>
            </a:r>
            <a:r>
              <a:rPr lang="en-US" altLang="zh-CN" b="0" i="1" dirty="0">
                <a:solidFill>
                  <a:srgbClr val="0F1115"/>
                </a:solidFill>
                <a:effectLst/>
                <a:latin typeface="KaTeX_Math"/>
              </a:rPr>
              <a:t>xi</a:t>
            </a:r>
            <a:r>
              <a:rPr lang="en-US" altLang="zh-CN" b="0" i="0" dirty="0">
                <a:solidFill>
                  <a:srgbClr val="0F1115"/>
                </a:solidFill>
                <a:effectLst/>
                <a:latin typeface="KaTeX_Main"/>
              </a:rPr>
              <a:t>2​+</a:t>
            </a:r>
            <a:r>
              <a:rPr lang="zh-CN" altLang="en-US" b="0" i="0" dirty="0">
                <a:solidFill>
                  <a:srgbClr val="0F1115"/>
                </a:solidFill>
                <a:effectLst/>
                <a:latin typeface="KaTeX_Size1"/>
              </a:rPr>
              <a:t>∑</a:t>
            </a:r>
            <a:r>
              <a:rPr lang="en-US" altLang="zh-CN" b="0" i="1" dirty="0">
                <a:solidFill>
                  <a:srgbClr val="0F1115"/>
                </a:solidFill>
                <a:effectLst/>
                <a:latin typeface="KaTeX_Math"/>
              </a:rPr>
              <a:t>mi</a:t>
            </a:r>
            <a:r>
              <a:rPr lang="zh-CN" altLang="en-US" b="0" i="0" dirty="0">
                <a:solidFill>
                  <a:srgbClr val="0F1115"/>
                </a:solidFill>
                <a:effectLst/>
                <a:latin typeface="KaTeX_Main"/>
              </a:rPr>
              <a:t>​</a:t>
            </a:r>
            <a:r>
              <a:rPr lang="en-US" altLang="zh-CN" b="0" i="1" dirty="0">
                <a:solidFill>
                  <a:srgbClr val="0F1115"/>
                </a:solidFill>
                <a:effectLst/>
                <a:latin typeface="KaTeX_Math"/>
              </a:rPr>
              <a:t>yi</a:t>
            </a:r>
            <a:r>
              <a:rPr lang="en-US" altLang="zh-CN" b="0" i="0" dirty="0">
                <a:solidFill>
                  <a:srgbClr val="0F1115"/>
                </a:solidFill>
                <a:effectLst/>
                <a:latin typeface="KaTeX_Main"/>
              </a:rPr>
              <a:t>2​</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0" i="0" dirty="0">
                <a:solidFill>
                  <a:srgbClr val="0F1115"/>
                </a:solidFill>
                <a:effectLst/>
                <a:latin typeface="quote-cjk-patch"/>
              </a:rPr>
              <a:t>而 </a:t>
            </a:r>
            <a:r>
              <a:rPr lang="zh-CN" altLang="en-US" b="0" i="0" dirty="0">
                <a:solidFill>
                  <a:srgbClr val="0F1115"/>
                </a:solidFill>
                <a:effectLst/>
                <a:latin typeface="KaTeX_Main"/>
              </a:rPr>
              <a:t>∑</a:t>
            </a:r>
            <a:r>
              <a:rPr lang="en-US" altLang="zh-CN" b="0" i="0" dirty="0">
                <a:solidFill>
                  <a:srgbClr val="0F1115"/>
                </a:solidFill>
                <a:effectLst/>
                <a:latin typeface="KaTeX_Main"/>
              </a:rPr>
              <a:t>mixi2</a:t>
            </a:r>
            <a:r>
              <a:rPr lang="zh-CN" altLang="en-US" b="0" i="0" dirty="0">
                <a:solidFill>
                  <a:srgbClr val="0F1115"/>
                </a:solidFill>
                <a:effectLst/>
                <a:latin typeface="KaTeX_Size1"/>
              </a:rPr>
              <a:t>∑</a:t>
            </a:r>
            <a:r>
              <a:rPr lang="en-US" altLang="zh-CN" b="0" i="1" dirty="0">
                <a:solidFill>
                  <a:srgbClr val="0F1115"/>
                </a:solidFill>
                <a:effectLst/>
                <a:latin typeface="KaTeX_Math"/>
              </a:rPr>
              <a:t>mi</a:t>
            </a:r>
            <a:r>
              <a:rPr lang="zh-CN" altLang="en-US" b="0" i="0" dirty="0">
                <a:solidFill>
                  <a:srgbClr val="0F1115"/>
                </a:solidFill>
                <a:effectLst/>
                <a:latin typeface="KaTeX_Main"/>
              </a:rPr>
              <a:t>​</a:t>
            </a:r>
            <a:r>
              <a:rPr lang="en-US" altLang="zh-CN" b="0" i="1" dirty="0">
                <a:solidFill>
                  <a:srgbClr val="0F1115"/>
                </a:solidFill>
                <a:effectLst/>
                <a:latin typeface="KaTeX_Math"/>
              </a:rPr>
              <a:t>xi</a:t>
            </a:r>
            <a:r>
              <a:rPr lang="en-US" altLang="zh-CN" b="0" i="0" dirty="0">
                <a:solidFill>
                  <a:srgbClr val="0F1115"/>
                </a:solidFill>
                <a:effectLst/>
                <a:latin typeface="KaTeX_Main"/>
              </a:rPr>
              <a:t>2​</a:t>
            </a:r>
            <a:r>
              <a:rPr lang="zh-CN" altLang="en-US" b="0" i="0" dirty="0">
                <a:solidFill>
                  <a:srgbClr val="0F1115"/>
                </a:solidFill>
                <a:effectLst/>
                <a:latin typeface="quote-cjk-patch"/>
              </a:rPr>
              <a:t> 就是绕 </a:t>
            </a:r>
            <a:r>
              <a:rPr lang="en-US" altLang="zh-CN" b="0" i="0" dirty="0" err="1">
                <a:solidFill>
                  <a:srgbClr val="0F1115"/>
                </a:solidFill>
                <a:effectLst/>
                <a:latin typeface="KaTeX_Main"/>
              </a:rPr>
              <a:t>y</a:t>
            </a:r>
            <a:r>
              <a:rPr lang="en-US" altLang="zh-CN" b="0" i="1" dirty="0" err="1">
                <a:solidFill>
                  <a:srgbClr val="0F1115"/>
                </a:solidFill>
                <a:effectLst/>
                <a:latin typeface="KaTeX_Math"/>
              </a:rPr>
              <a:t>y</a:t>
            </a:r>
            <a:r>
              <a:rPr lang="zh-CN" altLang="en-US" b="0" i="0" dirty="0">
                <a:solidFill>
                  <a:srgbClr val="0F1115"/>
                </a:solidFill>
                <a:effectLst/>
                <a:latin typeface="quote-cjk-patch"/>
              </a:rPr>
              <a:t> 轴的转动惯量 </a:t>
            </a:r>
            <a:r>
              <a:rPr lang="en-US" altLang="zh-CN" b="0" i="0" dirty="0" err="1">
                <a:solidFill>
                  <a:srgbClr val="0F1115"/>
                </a:solidFill>
                <a:effectLst/>
                <a:latin typeface="KaTeX_Main"/>
              </a:rPr>
              <a:t>Jy</a:t>
            </a:r>
            <a:r>
              <a:rPr lang="en-US" altLang="zh-CN" b="0" i="1" dirty="0" err="1">
                <a:solidFill>
                  <a:srgbClr val="0F1115"/>
                </a:solidFill>
                <a:effectLst/>
                <a:latin typeface="KaTeX_Math"/>
              </a:rPr>
              <a:t>Jy</a:t>
            </a:r>
            <a:r>
              <a:rPr lang="zh-CN" altLang="en-US" b="0" i="0" dirty="0">
                <a:solidFill>
                  <a:srgbClr val="0F1115"/>
                </a:solidFill>
                <a:effectLst/>
                <a:latin typeface="KaTeX_Main"/>
              </a:rPr>
              <a:t>​</a:t>
            </a:r>
            <a:r>
              <a:rPr lang="zh-CN" altLang="en-US" b="0" i="0" dirty="0">
                <a:solidFill>
                  <a:srgbClr val="0F1115"/>
                </a:solidFill>
                <a:effectLst/>
                <a:latin typeface="quote-cjk-patch"/>
              </a:rPr>
              <a:t>（因为绕</a:t>
            </a:r>
            <a:r>
              <a:rPr lang="en-US" altLang="zh-CN" b="0" i="0" dirty="0">
                <a:solidFill>
                  <a:srgbClr val="0F1115"/>
                </a:solidFill>
                <a:effectLst/>
                <a:latin typeface="quote-cjk-patch"/>
              </a:rPr>
              <a:t>y</a:t>
            </a:r>
            <a:r>
              <a:rPr lang="zh-CN" altLang="en-US" b="0" i="0" dirty="0">
                <a:solidFill>
                  <a:srgbClr val="0F1115"/>
                </a:solidFill>
                <a:effectLst/>
                <a:latin typeface="quote-cjk-patch"/>
              </a:rPr>
              <a:t>轴转时，距离是 </a:t>
            </a:r>
            <a:r>
              <a:rPr lang="zh-CN" altLang="en-US" b="0" i="0" dirty="0">
                <a:solidFill>
                  <a:srgbClr val="0F1115"/>
                </a:solidFill>
                <a:effectLst/>
                <a:latin typeface="KaTeX_Main"/>
              </a:rPr>
              <a:t>∣</a:t>
            </a:r>
            <a:r>
              <a:rPr lang="en-US" altLang="zh-CN" b="0" i="0" dirty="0">
                <a:solidFill>
                  <a:srgbClr val="0F1115"/>
                </a:solidFill>
                <a:effectLst/>
                <a:latin typeface="KaTeX_Main"/>
              </a:rPr>
              <a:t>x∣∣</a:t>
            </a:r>
            <a:r>
              <a:rPr lang="en-US" altLang="zh-CN" b="0" i="1" dirty="0">
                <a:solidFill>
                  <a:srgbClr val="0F1115"/>
                </a:solidFill>
                <a:effectLst/>
                <a:latin typeface="KaTeX_Math"/>
              </a:rPr>
              <a:t>x</a:t>
            </a:r>
            <a:r>
              <a:rPr lang="zh-CN" altLang="en-US" b="0" i="0" dirty="0">
                <a:solidFill>
                  <a:srgbClr val="0F1115"/>
                </a:solidFill>
                <a:effectLst/>
                <a:latin typeface="KaTeX_Main"/>
              </a:rPr>
              <a:t>∣</a:t>
            </a:r>
            <a:r>
              <a:rPr lang="zh-CN" altLang="en-US" b="0" i="0" dirty="0">
                <a:solidFill>
                  <a:srgbClr val="0F1115"/>
                </a:solidFill>
                <a:effectLst/>
                <a:latin typeface="quote-cjk-patch"/>
              </a:rPr>
              <a:t>），</a:t>
            </a:r>
            <a:r>
              <a:rPr lang="zh-CN" altLang="en-US" b="0" i="0" dirty="0">
                <a:solidFill>
                  <a:srgbClr val="0F1115"/>
                </a:solidFill>
                <a:effectLst/>
                <a:latin typeface="KaTeX_Main"/>
              </a:rPr>
              <a:t>∑</a:t>
            </a:r>
            <a:r>
              <a:rPr lang="en-US" altLang="zh-CN" b="0" i="0" dirty="0">
                <a:solidFill>
                  <a:srgbClr val="0F1115"/>
                </a:solidFill>
                <a:effectLst/>
                <a:latin typeface="KaTeX_Main"/>
              </a:rPr>
              <a:t>miyi2</a:t>
            </a:r>
            <a:r>
              <a:rPr lang="zh-CN" altLang="en-US" b="0" i="0" dirty="0">
                <a:solidFill>
                  <a:srgbClr val="0F1115"/>
                </a:solidFill>
                <a:effectLst/>
                <a:latin typeface="KaTeX_Size1"/>
              </a:rPr>
              <a:t>∑</a:t>
            </a:r>
            <a:r>
              <a:rPr lang="en-US" altLang="zh-CN" b="0" i="1" dirty="0">
                <a:solidFill>
                  <a:srgbClr val="0F1115"/>
                </a:solidFill>
                <a:effectLst/>
                <a:latin typeface="KaTeX_Math"/>
              </a:rPr>
              <a:t>mi</a:t>
            </a:r>
            <a:r>
              <a:rPr lang="zh-CN" altLang="en-US" b="0" i="0" dirty="0">
                <a:solidFill>
                  <a:srgbClr val="0F1115"/>
                </a:solidFill>
                <a:effectLst/>
                <a:latin typeface="KaTeX_Main"/>
              </a:rPr>
              <a:t>​</a:t>
            </a:r>
            <a:r>
              <a:rPr lang="en-US" altLang="zh-CN" b="0" i="1" dirty="0">
                <a:solidFill>
                  <a:srgbClr val="0F1115"/>
                </a:solidFill>
                <a:effectLst/>
                <a:latin typeface="KaTeX_Math"/>
              </a:rPr>
              <a:t>yi</a:t>
            </a:r>
            <a:r>
              <a:rPr lang="en-US" altLang="zh-CN" b="0" i="0" dirty="0">
                <a:solidFill>
                  <a:srgbClr val="0F1115"/>
                </a:solidFill>
                <a:effectLst/>
                <a:latin typeface="KaTeX_Main"/>
              </a:rPr>
              <a:t>2​</a:t>
            </a:r>
            <a:r>
              <a:rPr lang="zh-CN" altLang="en-US" b="0" i="0" dirty="0">
                <a:solidFill>
                  <a:srgbClr val="0F1115"/>
                </a:solidFill>
                <a:effectLst/>
                <a:latin typeface="quote-cjk-patch"/>
              </a:rPr>
              <a:t> 就是绕 </a:t>
            </a:r>
            <a:r>
              <a:rPr lang="en-US" altLang="zh-CN" b="0" i="0" dirty="0">
                <a:solidFill>
                  <a:srgbClr val="0F1115"/>
                </a:solidFill>
                <a:effectLst/>
                <a:latin typeface="KaTeX_Main"/>
              </a:rPr>
              <a:t>x</a:t>
            </a:r>
            <a:r>
              <a:rPr lang="en-US" altLang="zh-CN" b="0" i="1" dirty="0">
                <a:solidFill>
                  <a:srgbClr val="0F1115"/>
                </a:solidFill>
                <a:effectLst/>
                <a:latin typeface="KaTeX_Math"/>
              </a:rPr>
              <a:t>x</a:t>
            </a:r>
            <a:r>
              <a:rPr lang="zh-CN" altLang="en-US" b="0" i="0" dirty="0">
                <a:solidFill>
                  <a:srgbClr val="0F1115"/>
                </a:solidFill>
                <a:effectLst/>
                <a:latin typeface="quote-cjk-patch"/>
              </a:rPr>
              <a:t> 轴的转动惯量 </a:t>
            </a:r>
            <a:r>
              <a:rPr lang="en-US" altLang="zh-CN" b="0" i="0" dirty="0" err="1">
                <a:solidFill>
                  <a:srgbClr val="0F1115"/>
                </a:solidFill>
                <a:effectLst/>
                <a:latin typeface="KaTeX_Main"/>
              </a:rPr>
              <a:t>Jx</a:t>
            </a:r>
            <a:r>
              <a:rPr lang="en-US" altLang="zh-CN" b="0" i="1" dirty="0" err="1">
                <a:solidFill>
                  <a:srgbClr val="0F1115"/>
                </a:solidFill>
                <a:effectLst/>
                <a:latin typeface="KaTeX_Math"/>
              </a:rPr>
              <a:t>Jx</a:t>
            </a:r>
            <a:r>
              <a:rPr lang="zh-CN" altLang="en-US" b="0" i="0" dirty="0">
                <a:solidFill>
                  <a:srgbClr val="0F1115"/>
                </a:solidFill>
                <a:effectLst/>
                <a:latin typeface="KaTeX_Main"/>
              </a:rPr>
              <a:t>​</a:t>
            </a:r>
            <a:r>
              <a:rPr lang="zh-CN" altLang="en-US" b="0" i="0" dirty="0">
                <a:solidFill>
                  <a:srgbClr val="0F1115"/>
                </a:solidFill>
                <a:effectLst/>
                <a:latin typeface="quote-cjk-patch"/>
              </a:rPr>
              <a:t>（因为绕</a:t>
            </a:r>
            <a:r>
              <a:rPr lang="en-US" altLang="zh-CN" b="0" i="0" dirty="0">
                <a:solidFill>
                  <a:srgbClr val="0F1115"/>
                </a:solidFill>
                <a:effectLst/>
                <a:latin typeface="quote-cjk-patch"/>
              </a:rPr>
              <a:t>x</a:t>
            </a:r>
            <a:r>
              <a:rPr lang="zh-CN" altLang="en-US" b="0" i="0" dirty="0">
                <a:solidFill>
                  <a:srgbClr val="0F1115"/>
                </a:solidFill>
                <a:effectLst/>
                <a:latin typeface="quote-cjk-patch"/>
              </a:rPr>
              <a:t>轴转时，距离是 </a:t>
            </a:r>
            <a:r>
              <a:rPr lang="zh-CN" altLang="en-US" b="0" i="0" dirty="0">
                <a:solidFill>
                  <a:srgbClr val="0F1115"/>
                </a:solidFill>
                <a:effectLst/>
                <a:latin typeface="KaTeX_Main"/>
              </a:rPr>
              <a:t>∣</a:t>
            </a:r>
            <a:r>
              <a:rPr lang="en-US" altLang="zh-CN" b="0" i="0" dirty="0">
                <a:solidFill>
                  <a:srgbClr val="0F1115"/>
                </a:solidFill>
                <a:effectLst/>
                <a:latin typeface="KaTeX_Main"/>
              </a:rPr>
              <a:t>y∣∣</a:t>
            </a:r>
            <a:r>
              <a:rPr lang="en-US" altLang="zh-CN" b="0" i="1" dirty="0">
                <a:solidFill>
                  <a:srgbClr val="0F1115"/>
                </a:solidFill>
                <a:effectLst/>
                <a:latin typeface="KaTeX_Math"/>
              </a:rPr>
              <a:t>y</a:t>
            </a:r>
            <a:r>
              <a:rPr lang="zh-CN" altLang="en-US" b="0" i="0" dirty="0">
                <a:solidFill>
                  <a:srgbClr val="0F1115"/>
                </a:solidFill>
                <a:effectLst/>
                <a:latin typeface="KaTeX_Main"/>
              </a:rPr>
              <a:t>∣</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0" i="0" dirty="0">
                <a:solidFill>
                  <a:srgbClr val="0F1115"/>
                </a:solidFill>
                <a:effectLst/>
                <a:latin typeface="quote-cjk-patch"/>
              </a:rPr>
              <a:t>所以 </a:t>
            </a:r>
            <a:r>
              <a:rPr lang="en-US" altLang="zh-CN" b="0" i="0" dirty="0" err="1">
                <a:solidFill>
                  <a:srgbClr val="0F1115"/>
                </a:solidFill>
                <a:effectLst/>
                <a:latin typeface="KaTeX_Main"/>
              </a:rPr>
              <a:t>Jz</a:t>
            </a:r>
            <a:r>
              <a:rPr lang="en-US" altLang="zh-CN" b="0" i="0" dirty="0">
                <a:solidFill>
                  <a:srgbClr val="0F1115"/>
                </a:solidFill>
                <a:effectLst/>
                <a:latin typeface="KaTeX_Main"/>
              </a:rPr>
              <a:t>=</a:t>
            </a:r>
            <a:r>
              <a:rPr lang="en-US" altLang="zh-CN" b="0" i="0" dirty="0" err="1">
                <a:solidFill>
                  <a:srgbClr val="0F1115"/>
                </a:solidFill>
                <a:effectLst/>
                <a:latin typeface="KaTeX_Main"/>
              </a:rPr>
              <a:t>Jx+Jy</a:t>
            </a:r>
            <a:r>
              <a:rPr lang="en-US" altLang="zh-CN" b="0" i="1" dirty="0" err="1">
                <a:solidFill>
                  <a:srgbClr val="0F1115"/>
                </a:solidFill>
                <a:effectLst/>
                <a:latin typeface="KaTeX_Math"/>
              </a:rPr>
              <a:t>Jz</a:t>
            </a:r>
            <a:r>
              <a:rPr lang="zh-CN" altLang="en-US" b="0" i="0" dirty="0">
                <a:solidFill>
                  <a:srgbClr val="0F1115"/>
                </a:solidFill>
                <a:effectLst/>
                <a:latin typeface="KaTeX_Main"/>
              </a:rPr>
              <a:t>​</a:t>
            </a:r>
            <a:r>
              <a:rPr lang="en-US" altLang="zh-CN" b="0" i="0" dirty="0">
                <a:solidFill>
                  <a:srgbClr val="0F1115"/>
                </a:solidFill>
                <a:effectLst/>
                <a:latin typeface="KaTeX_Main"/>
              </a:rPr>
              <a:t>=</a:t>
            </a:r>
            <a:r>
              <a:rPr lang="en-US" altLang="zh-CN" b="0" i="1" dirty="0" err="1">
                <a:solidFill>
                  <a:srgbClr val="0F1115"/>
                </a:solidFill>
                <a:effectLst/>
                <a:latin typeface="KaTeX_Math"/>
              </a:rPr>
              <a:t>Jx</a:t>
            </a:r>
            <a:r>
              <a:rPr lang="zh-CN" altLang="en-US" b="0" i="0" dirty="0">
                <a:solidFill>
                  <a:srgbClr val="0F1115"/>
                </a:solidFill>
                <a:effectLst/>
                <a:latin typeface="KaTeX_Main"/>
              </a:rPr>
              <a:t>​</a:t>
            </a:r>
            <a:r>
              <a:rPr lang="en-US" altLang="zh-CN" b="0" i="0" dirty="0">
                <a:solidFill>
                  <a:srgbClr val="0F1115"/>
                </a:solidFill>
                <a:effectLst/>
                <a:latin typeface="KaTeX_Main"/>
              </a:rPr>
              <a:t>+</a:t>
            </a:r>
            <a:r>
              <a:rPr lang="en-US" altLang="zh-CN" b="0" i="1" dirty="0">
                <a:solidFill>
                  <a:srgbClr val="0F1115"/>
                </a:solidFill>
                <a:effectLst/>
                <a:latin typeface="KaTeX_Math"/>
              </a:rPr>
              <a:t>Jy</a:t>
            </a:r>
            <a:r>
              <a:rPr lang="zh-CN" altLang="en-US" b="0" i="0" dirty="0">
                <a:solidFill>
                  <a:srgbClr val="0F1115"/>
                </a:solidFill>
                <a:effectLst/>
                <a:latin typeface="KaTeX_Main"/>
              </a:rPr>
              <a:t>​</a:t>
            </a:r>
            <a:r>
              <a:rPr lang="zh-CN" altLang="en-US" b="0" i="0" dirty="0">
                <a:solidFill>
                  <a:srgbClr val="0F1115"/>
                </a:solidFill>
                <a:effectLst/>
                <a:latin typeface="quote-cjk-patch"/>
              </a:rPr>
              <a:t>。</a:t>
            </a:r>
          </a:p>
          <a:p>
            <a:endParaRPr lang="zh-CN" altLang="en-US" dirty="0"/>
          </a:p>
        </p:txBody>
      </p:sp>
      <p:sp>
        <p:nvSpPr>
          <p:cNvPr id="4" name="灯片编号占位符 3"/>
          <p:cNvSpPr>
            <a:spLocks noGrp="1"/>
          </p:cNvSpPr>
          <p:nvPr>
            <p:ph type="sldNum" sz="quarter" idx="5"/>
          </p:nvPr>
        </p:nvSpPr>
        <p:spPr/>
        <p:txBody>
          <a:bodyPr/>
          <a:lstStyle/>
          <a:p>
            <a:pPr>
              <a:defRPr/>
            </a:pPr>
            <a:fld id="{74C80956-AB2B-490C-B2F9-60C7F47C8005}" type="slidenum">
              <a:rPr lang="zh-CN" altLang="en-US" smtClean="0"/>
              <a:pPr>
                <a:defRPr/>
              </a:pPr>
              <a:t>28</a:t>
            </a:fld>
            <a:endParaRPr lang="zh-CN" altLang="en-US"/>
          </a:p>
        </p:txBody>
      </p:sp>
    </p:spTree>
    <p:extLst>
      <p:ext uri="{BB962C8B-B14F-4D97-AF65-F5344CB8AC3E}">
        <p14:creationId xmlns:p14="http://schemas.microsoft.com/office/powerpoint/2010/main" val="2137873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C80956-AB2B-490C-B2F9-60C7F47C8005}" type="slidenum">
              <a:rPr lang="zh-CN" altLang="en-US" smtClean="0"/>
              <a:pPr>
                <a:defRPr/>
              </a:pPr>
              <a:t>30</a:t>
            </a:fld>
            <a:endParaRPr lang="zh-CN" altLang="en-US"/>
          </a:p>
        </p:txBody>
      </p:sp>
    </p:spTree>
    <p:extLst>
      <p:ext uri="{BB962C8B-B14F-4D97-AF65-F5344CB8AC3E}">
        <p14:creationId xmlns:p14="http://schemas.microsoft.com/office/powerpoint/2010/main" val="20522154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C80956-AB2B-490C-B2F9-60C7F47C8005}" type="slidenum">
              <a:rPr lang="zh-CN" altLang="en-US" smtClean="0"/>
              <a:pPr>
                <a:defRPr/>
              </a:pPr>
              <a:t>36</a:t>
            </a:fld>
            <a:endParaRPr lang="zh-CN" altLang="en-US"/>
          </a:p>
        </p:txBody>
      </p:sp>
    </p:spTree>
    <p:extLst>
      <p:ext uri="{BB962C8B-B14F-4D97-AF65-F5344CB8AC3E}">
        <p14:creationId xmlns:p14="http://schemas.microsoft.com/office/powerpoint/2010/main" val="1424920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C80956-AB2B-490C-B2F9-60C7F47C8005}" type="slidenum">
              <a:rPr lang="zh-CN" altLang="en-US" smtClean="0"/>
              <a:pPr>
                <a:defRPr/>
              </a:pPr>
              <a:t>38</a:t>
            </a:fld>
            <a:endParaRPr lang="zh-CN" altLang="en-US"/>
          </a:p>
        </p:txBody>
      </p:sp>
    </p:spTree>
    <p:extLst>
      <p:ext uri="{BB962C8B-B14F-4D97-AF65-F5344CB8AC3E}">
        <p14:creationId xmlns:p14="http://schemas.microsoft.com/office/powerpoint/2010/main" val="1760811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C80956-AB2B-490C-B2F9-60C7F47C8005}" type="slidenum">
              <a:rPr lang="zh-CN" altLang="en-US" smtClean="0"/>
              <a:pPr>
                <a:defRPr/>
              </a:pPr>
              <a:t>39</a:t>
            </a:fld>
            <a:endParaRPr lang="zh-CN" altLang="en-US"/>
          </a:p>
        </p:txBody>
      </p:sp>
    </p:spTree>
    <p:extLst>
      <p:ext uri="{BB962C8B-B14F-4D97-AF65-F5344CB8AC3E}">
        <p14:creationId xmlns:p14="http://schemas.microsoft.com/office/powerpoint/2010/main" val="2115556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C80956-AB2B-490C-B2F9-60C7F47C8005}" type="slidenum">
              <a:rPr lang="zh-CN" altLang="en-US" smtClean="0"/>
              <a:pPr>
                <a:defRPr/>
              </a:pPr>
              <a:t>40</a:t>
            </a:fld>
            <a:endParaRPr lang="zh-CN" altLang="en-US"/>
          </a:p>
        </p:txBody>
      </p:sp>
    </p:spTree>
    <p:extLst>
      <p:ext uri="{BB962C8B-B14F-4D97-AF65-F5344CB8AC3E}">
        <p14:creationId xmlns:p14="http://schemas.microsoft.com/office/powerpoint/2010/main" val="16291095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645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C559C76-4CDC-462D-928F-A2CC9A572A5A}" type="slidenum">
              <a:rPr lang="zh-CN" altLang="en-US" smtClean="0"/>
              <a:pPr eaLnBrk="1" hangingPunct="1"/>
              <a:t>44</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74C80956-AB2B-490C-B2F9-60C7F47C8005}" type="slidenum">
              <a:rPr lang="zh-CN" altLang="en-US" smtClean="0"/>
              <a:pPr>
                <a:defRPr/>
              </a:pPr>
              <a:t>56</a:t>
            </a:fld>
            <a:endParaRPr lang="zh-CN" altLang="en-US"/>
          </a:p>
        </p:txBody>
      </p:sp>
    </p:spTree>
    <p:extLst>
      <p:ext uri="{BB962C8B-B14F-4D97-AF65-F5344CB8AC3E}">
        <p14:creationId xmlns:p14="http://schemas.microsoft.com/office/powerpoint/2010/main" val="242320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C80956-AB2B-490C-B2F9-60C7F47C8005}" type="slidenum">
              <a:rPr lang="zh-CN" altLang="en-US" smtClean="0"/>
              <a:pPr>
                <a:defRPr/>
              </a:pPr>
              <a:t>57</a:t>
            </a:fld>
            <a:endParaRPr lang="zh-CN" altLang="en-US"/>
          </a:p>
        </p:txBody>
      </p:sp>
    </p:spTree>
    <p:extLst>
      <p:ext uri="{BB962C8B-B14F-4D97-AF65-F5344CB8AC3E}">
        <p14:creationId xmlns:p14="http://schemas.microsoft.com/office/powerpoint/2010/main" val="1345148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971354459"/>
      </p:ext>
    </p:extLst>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4585687"/>
      </p:ext>
    </p:extLst>
  </p:cSld>
  <p:clrMapOvr>
    <a:masterClrMapping/>
  </p:clrMapOvr>
  <p:transition spd="slow">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930975608"/>
      </p:ext>
    </p:extLst>
  </p:cSld>
  <p:clrMapOvr>
    <a:masterClrMapping/>
  </p:clrMapOvr>
  <p:transition spd="slow">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91935826"/>
      </p:ext>
    </p:extLst>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16258504"/>
      </p:ext>
    </p:extLst>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36643265"/>
      </p:ext>
    </p:extLst>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0171303"/>
      </p:ext>
    </p:extLst>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97584000"/>
      </p:ext>
    </p:extLst>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713944961"/>
      </p:ext>
    </p:extLst>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62275986"/>
      </p:ext>
    </p:extLst>
  </p:cSld>
  <p:clrMapOvr>
    <a:masterClrMapping/>
  </p:clrMapOvr>
  <p:transition spd="slow">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46735267"/>
      </p:ext>
    </p:extLst>
  </p:cSld>
  <p:clrMapOvr>
    <a:masterClrMapping/>
  </p:clrMapOvr>
  <p:transition spd="slow">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11002319"/>
      </p:ext>
    </p:extLst>
  </p:cSld>
  <p:clrMapOvr>
    <a:masterClrMapping/>
  </p:clrMapOvr>
  <p:transition spd="slow">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97424075"/>
      </p:ext>
    </p:extLst>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AutoShape 4">
            <a:hlinkClick r:id="" action="ppaction://hlinkshowjump?jump=previousslide" highlightClick="1"/>
          </p:cNvPr>
          <p:cNvSpPr>
            <a:spLocks noChangeAspect="1" noChangeArrowheads="1"/>
          </p:cNvSpPr>
          <p:nvPr userDrawn="1"/>
        </p:nvSpPr>
        <p:spPr bwMode="auto">
          <a:xfrm>
            <a:off x="7345363" y="6675438"/>
            <a:ext cx="395287" cy="127000"/>
          </a:xfrm>
          <a:prstGeom prst="actionButtonBackPrevious">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p>
            <a:endParaRPr lang="zh-CN" altLang="en-US"/>
          </a:p>
        </p:txBody>
      </p:sp>
      <p:sp>
        <p:nvSpPr>
          <p:cNvPr id="1027" name="AutoShape 5">
            <a:hlinkClick r:id="" action="ppaction://hlinkshowjump?jump=firstslide" highlightClick="1"/>
          </p:cNvPr>
          <p:cNvSpPr>
            <a:spLocks noChangeAspect="1" noChangeArrowheads="1"/>
          </p:cNvSpPr>
          <p:nvPr userDrawn="1"/>
        </p:nvSpPr>
        <p:spPr bwMode="auto">
          <a:xfrm>
            <a:off x="7812088" y="6675438"/>
            <a:ext cx="395287" cy="127000"/>
          </a:xfrm>
          <a:prstGeom prst="actionButtonHome">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p>
            <a:endParaRPr lang="zh-CN" altLang="en-US"/>
          </a:p>
        </p:txBody>
      </p:sp>
      <p:sp>
        <p:nvSpPr>
          <p:cNvPr id="1028" name="AutoShape 6">
            <a:hlinkClick r:id="" action="ppaction://hlinkshowjump?jump=nextslide" highlightClick="1"/>
          </p:cNvPr>
          <p:cNvSpPr>
            <a:spLocks noChangeAspect="1" noChangeArrowheads="1"/>
          </p:cNvSpPr>
          <p:nvPr userDrawn="1"/>
        </p:nvSpPr>
        <p:spPr bwMode="auto">
          <a:xfrm>
            <a:off x="8280400" y="6675438"/>
            <a:ext cx="395288" cy="127000"/>
          </a:xfrm>
          <a:prstGeom prst="actionButtonForwardNext">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p>
            <a:endParaRPr lang="zh-CN" altLang="en-US"/>
          </a:p>
        </p:txBody>
      </p:sp>
      <p:sp>
        <p:nvSpPr>
          <p:cNvPr id="1029" name="Rectangle 5"/>
          <p:cNvSpPr>
            <a:spLocks noChangeArrowheads="1"/>
          </p:cNvSpPr>
          <p:nvPr userDrawn="1"/>
        </p:nvSpPr>
        <p:spPr bwMode="auto">
          <a:xfrm>
            <a:off x="1116013" y="3495675"/>
            <a:ext cx="7777162"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spcBef>
                <a:spcPct val="20000"/>
              </a:spcBef>
            </a:pPr>
            <a:endParaRPr lang="zh-CN" altLang="zh-CN" sz="800">
              <a:latin typeface="Times New Roman" pitchFamily="18" charset="0"/>
            </a:endParaRPr>
          </a:p>
        </p:txBody>
      </p:sp>
      <p:grpSp>
        <p:nvGrpSpPr>
          <p:cNvPr id="1030" name="Group 6"/>
          <p:cNvGrpSpPr>
            <a:grpSpLocks/>
          </p:cNvGrpSpPr>
          <p:nvPr userDrawn="1"/>
        </p:nvGrpSpPr>
        <p:grpSpPr bwMode="auto">
          <a:xfrm>
            <a:off x="7938" y="6604000"/>
            <a:ext cx="9086850" cy="4763"/>
            <a:chOff x="5" y="4160"/>
            <a:chExt cx="5724" cy="3"/>
          </a:xfrm>
        </p:grpSpPr>
        <p:sp>
          <p:nvSpPr>
            <p:cNvPr id="1031" name="Line 7"/>
            <p:cNvSpPr>
              <a:spLocks noChangeShapeType="1"/>
            </p:cNvSpPr>
            <p:nvPr userDrawn="1"/>
          </p:nvSpPr>
          <p:spPr bwMode="auto">
            <a:xfrm>
              <a:off x="5" y="4163"/>
              <a:ext cx="5724" cy="0"/>
            </a:xfrm>
            <a:prstGeom prst="line">
              <a:avLst/>
            </a:prstGeom>
            <a:noFill/>
            <a:ln w="3175">
              <a:solidFill>
                <a:srgbClr val="B2B2B2">
                  <a:alpha val="89803"/>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 name="Line 8"/>
            <p:cNvSpPr>
              <a:spLocks noChangeShapeType="1"/>
            </p:cNvSpPr>
            <p:nvPr userDrawn="1"/>
          </p:nvSpPr>
          <p:spPr bwMode="auto">
            <a:xfrm>
              <a:off x="21" y="4160"/>
              <a:ext cx="5701" cy="0"/>
            </a:xfrm>
            <a:prstGeom prst="line">
              <a:avLst/>
            </a:prstGeom>
            <a:noFill/>
            <a:ln w="63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transition spd="slow">
    <p:wipe di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charset="-122"/>
        </a:defRPr>
      </a:lvl2pPr>
      <a:lvl3pPr algn="ctr" rtl="0" eaLnBrk="0" fontAlgn="base" hangingPunct="0">
        <a:spcBef>
          <a:spcPct val="0"/>
        </a:spcBef>
        <a:spcAft>
          <a:spcPct val="0"/>
        </a:spcAft>
        <a:defRPr sz="4400">
          <a:solidFill>
            <a:schemeClr val="tx2"/>
          </a:solidFill>
          <a:latin typeface="Times New Roman" pitchFamily="18" charset="0"/>
          <a:ea typeface="宋体" charset="-122"/>
        </a:defRPr>
      </a:lvl3pPr>
      <a:lvl4pPr algn="ctr" rtl="0" eaLnBrk="0" fontAlgn="base" hangingPunct="0">
        <a:spcBef>
          <a:spcPct val="0"/>
        </a:spcBef>
        <a:spcAft>
          <a:spcPct val="0"/>
        </a:spcAft>
        <a:defRPr sz="4400">
          <a:solidFill>
            <a:schemeClr val="tx2"/>
          </a:solidFill>
          <a:latin typeface="Times New Roman" pitchFamily="18" charset="0"/>
          <a:ea typeface="宋体" charset="-122"/>
        </a:defRPr>
      </a:lvl4pPr>
      <a:lvl5pPr algn="ctr" rtl="0" eaLnBrk="0" fontAlgn="base" hangingPunct="0">
        <a:spcBef>
          <a:spcPct val="0"/>
        </a:spcBef>
        <a:spcAft>
          <a:spcPct val="0"/>
        </a:spcAft>
        <a:defRPr sz="4400">
          <a:solidFill>
            <a:schemeClr val="tx2"/>
          </a:solidFill>
          <a:latin typeface="Times New Roman" pitchFamily="18" charset="0"/>
          <a:ea typeface="宋体" charset="-122"/>
        </a:defRPr>
      </a:lvl5pPr>
      <a:lvl6pPr marL="457200" algn="ctr" rtl="0" fontAlgn="base">
        <a:spcBef>
          <a:spcPct val="0"/>
        </a:spcBef>
        <a:spcAft>
          <a:spcPct val="0"/>
        </a:spcAft>
        <a:defRPr sz="4400">
          <a:solidFill>
            <a:schemeClr val="tx2"/>
          </a:solidFill>
          <a:latin typeface="Times New Roman" pitchFamily="18" charset="0"/>
          <a:ea typeface="宋体" charset="-122"/>
        </a:defRPr>
      </a:lvl6pPr>
      <a:lvl7pPr marL="914400" algn="ctr" rtl="0" fontAlgn="base">
        <a:spcBef>
          <a:spcPct val="0"/>
        </a:spcBef>
        <a:spcAft>
          <a:spcPct val="0"/>
        </a:spcAft>
        <a:defRPr sz="4400">
          <a:solidFill>
            <a:schemeClr val="tx2"/>
          </a:solidFill>
          <a:latin typeface="Times New Roman" pitchFamily="18" charset="0"/>
          <a:ea typeface="宋体" charset="-122"/>
        </a:defRPr>
      </a:lvl7pPr>
      <a:lvl8pPr marL="1371600" algn="ctr" rtl="0" fontAlgn="base">
        <a:spcBef>
          <a:spcPct val="0"/>
        </a:spcBef>
        <a:spcAft>
          <a:spcPct val="0"/>
        </a:spcAft>
        <a:defRPr sz="4400">
          <a:solidFill>
            <a:schemeClr val="tx2"/>
          </a:solidFill>
          <a:latin typeface="Times New Roman" pitchFamily="18" charset="0"/>
          <a:ea typeface="宋体" charset="-122"/>
        </a:defRPr>
      </a:lvl8pPr>
      <a:lvl9pPr marL="1828800" algn="ctr" rtl="0" fontAlgn="base">
        <a:spcBef>
          <a:spcPct val="0"/>
        </a:spcBef>
        <a:spcAft>
          <a:spcPct val="0"/>
        </a:spcAft>
        <a:defRPr sz="4400">
          <a:solidFill>
            <a:schemeClr val="tx2"/>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9.png"/><Relationship Id="rId5" Type="http://schemas.openxmlformats.org/officeDocument/2006/relationships/image" Target="../media/image30.png"/><Relationship Id="rId10" Type="http://schemas.openxmlformats.org/officeDocument/2006/relationships/image" Target="../media/image8.png"/><Relationship Id="rId4" Type="http://schemas.openxmlformats.org/officeDocument/2006/relationships/image" Target="../media/image20.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oleObject" Target="../embeddings/oleObject6.bin"/><Relationship Id="rId18" Type="http://schemas.openxmlformats.org/officeDocument/2006/relationships/image" Target="../media/image12.e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9.emf"/><Relationship Id="rId17" Type="http://schemas.openxmlformats.org/officeDocument/2006/relationships/oleObject" Target="../embeddings/oleObject8.bin"/><Relationship Id="rId2" Type="http://schemas.openxmlformats.org/officeDocument/2006/relationships/slideLayout" Target="../slideLayouts/slideLayout7.xml"/><Relationship Id="rId16" Type="http://schemas.openxmlformats.org/officeDocument/2006/relationships/image" Target="../media/image11.emf"/><Relationship Id="rId20" Type="http://schemas.openxmlformats.org/officeDocument/2006/relationships/image" Target="../media/image13.emf"/><Relationship Id="rId1" Type="http://schemas.openxmlformats.org/officeDocument/2006/relationships/vmlDrawing" Target="../drawings/vmlDrawing1.vml"/><Relationship Id="rId6" Type="http://schemas.openxmlformats.org/officeDocument/2006/relationships/image" Target="../media/image6.e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8.emf"/><Relationship Id="rId19" Type="http://schemas.openxmlformats.org/officeDocument/2006/relationships/oleObject" Target="../embeddings/oleObject9.bin"/><Relationship Id="rId4" Type="http://schemas.openxmlformats.org/officeDocument/2006/relationships/image" Target="../media/image5.emf"/><Relationship Id="rId9" Type="http://schemas.openxmlformats.org/officeDocument/2006/relationships/oleObject" Target="../embeddings/oleObject4.bin"/><Relationship Id="rId14" Type="http://schemas.openxmlformats.org/officeDocument/2006/relationships/image" Target="../media/image10.emf"/><Relationship Id="rId22" Type="http://schemas.openxmlformats.org/officeDocument/2006/relationships/image" Target="../media/image14.emf"/></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s>
</file>

<file path=ppt/slides/_rels/slide10.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2.emf"/><Relationship Id="rId5" Type="http://schemas.openxmlformats.org/officeDocument/2006/relationships/oleObject" Target="../embeddings/oleObject13.bin"/><Relationship Id="rId4" Type="http://schemas.openxmlformats.org/officeDocument/2006/relationships/image" Target="../media/image21.emf"/></Relationships>
</file>

<file path=ppt/slides/_rels/slide11.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28.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5.emf"/><Relationship Id="rId11" Type="http://schemas.openxmlformats.org/officeDocument/2006/relationships/oleObject" Target="../embeddings/oleObject19.bin"/><Relationship Id="rId5" Type="http://schemas.openxmlformats.org/officeDocument/2006/relationships/oleObject" Target="../embeddings/oleObject16.bin"/><Relationship Id="rId10" Type="http://schemas.openxmlformats.org/officeDocument/2006/relationships/image" Target="../media/image27.emf"/><Relationship Id="rId4" Type="http://schemas.openxmlformats.org/officeDocument/2006/relationships/image" Target="../media/image24.emf"/><Relationship Id="rId9" Type="http://schemas.openxmlformats.org/officeDocument/2006/relationships/oleObject" Target="../embeddings/oleObject18.bin"/></Relationships>
</file>

<file path=ppt/slides/_rels/slide12.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33.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30.emf"/><Relationship Id="rId11" Type="http://schemas.openxmlformats.org/officeDocument/2006/relationships/oleObject" Target="../embeddings/oleObject24.bin"/><Relationship Id="rId5" Type="http://schemas.openxmlformats.org/officeDocument/2006/relationships/oleObject" Target="../embeddings/oleObject21.bin"/><Relationship Id="rId10" Type="http://schemas.openxmlformats.org/officeDocument/2006/relationships/image" Target="../media/image32.wmf"/><Relationship Id="rId4" Type="http://schemas.openxmlformats.org/officeDocument/2006/relationships/image" Target="../media/image29.emf"/><Relationship Id="rId9" Type="http://schemas.openxmlformats.org/officeDocument/2006/relationships/oleObject" Target="../embeddings/oleObject23.bin"/></Relationships>
</file>

<file path=ppt/slides/_rels/slide13.xml.rels><?xml version="1.0" encoding="UTF-8" standalone="yes"?>
<Relationships xmlns="http://schemas.openxmlformats.org/package/2006/relationships"><Relationship Id="rId8" Type="http://schemas.openxmlformats.org/officeDocument/2006/relationships/image" Target="../media/image36.emf"/><Relationship Id="rId13" Type="http://schemas.openxmlformats.org/officeDocument/2006/relationships/oleObject" Target="../embeddings/oleObject30.bin"/><Relationship Id="rId18" Type="http://schemas.openxmlformats.org/officeDocument/2006/relationships/image" Target="../media/image41.emf"/><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38.emf"/><Relationship Id="rId17" Type="http://schemas.openxmlformats.org/officeDocument/2006/relationships/oleObject" Target="../embeddings/oleObject32.bin"/><Relationship Id="rId2" Type="http://schemas.openxmlformats.org/officeDocument/2006/relationships/slideLayout" Target="../slideLayouts/slideLayout7.xml"/><Relationship Id="rId16" Type="http://schemas.openxmlformats.org/officeDocument/2006/relationships/image" Target="../media/image40.emf"/><Relationship Id="rId1" Type="http://schemas.openxmlformats.org/officeDocument/2006/relationships/vmlDrawing" Target="../drawings/vmlDrawing6.vml"/><Relationship Id="rId6" Type="http://schemas.openxmlformats.org/officeDocument/2006/relationships/image" Target="../media/image35.emf"/><Relationship Id="rId11" Type="http://schemas.openxmlformats.org/officeDocument/2006/relationships/oleObject" Target="../embeddings/oleObject29.bin"/><Relationship Id="rId5" Type="http://schemas.openxmlformats.org/officeDocument/2006/relationships/oleObject" Target="../embeddings/oleObject26.bin"/><Relationship Id="rId15" Type="http://schemas.openxmlformats.org/officeDocument/2006/relationships/oleObject" Target="../embeddings/oleObject31.bin"/><Relationship Id="rId10" Type="http://schemas.openxmlformats.org/officeDocument/2006/relationships/image" Target="../media/image37.emf"/><Relationship Id="rId4" Type="http://schemas.openxmlformats.org/officeDocument/2006/relationships/image" Target="../media/image34.emf"/><Relationship Id="rId9" Type="http://schemas.openxmlformats.org/officeDocument/2006/relationships/oleObject" Target="../embeddings/oleObject28.bin"/><Relationship Id="rId14" Type="http://schemas.openxmlformats.org/officeDocument/2006/relationships/image" Target="../media/image39.e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46.emf"/><Relationship Id="rId18" Type="http://schemas.openxmlformats.org/officeDocument/2006/relationships/oleObject" Target="../embeddings/oleObject40.bin"/><Relationship Id="rId3" Type="http://schemas.openxmlformats.org/officeDocument/2006/relationships/audio" Target="../media/audio1.wav"/><Relationship Id="rId7" Type="http://schemas.openxmlformats.org/officeDocument/2006/relationships/image" Target="../media/image43.emf"/><Relationship Id="rId12" Type="http://schemas.openxmlformats.org/officeDocument/2006/relationships/oleObject" Target="../embeddings/oleObject37.bin"/><Relationship Id="rId17" Type="http://schemas.openxmlformats.org/officeDocument/2006/relationships/image" Target="../media/image48.emf"/><Relationship Id="rId2" Type="http://schemas.openxmlformats.org/officeDocument/2006/relationships/slideLayout" Target="../slideLayouts/slideLayout7.xml"/><Relationship Id="rId16" Type="http://schemas.openxmlformats.org/officeDocument/2006/relationships/oleObject" Target="../embeddings/oleObject39.bin"/><Relationship Id="rId1" Type="http://schemas.openxmlformats.org/officeDocument/2006/relationships/vmlDrawing" Target="../drawings/vmlDrawing7.vml"/><Relationship Id="rId6" Type="http://schemas.openxmlformats.org/officeDocument/2006/relationships/oleObject" Target="../embeddings/oleObject34.bin"/><Relationship Id="rId11" Type="http://schemas.openxmlformats.org/officeDocument/2006/relationships/image" Target="../media/image45.emf"/><Relationship Id="rId5" Type="http://schemas.openxmlformats.org/officeDocument/2006/relationships/image" Target="../media/image42.emf"/><Relationship Id="rId15" Type="http://schemas.openxmlformats.org/officeDocument/2006/relationships/image" Target="../media/image47.emf"/><Relationship Id="rId10" Type="http://schemas.openxmlformats.org/officeDocument/2006/relationships/oleObject" Target="../embeddings/oleObject36.bin"/><Relationship Id="rId19" Type="http://schemas.openxmlformats.org/officeDocument/2006/relationships/image" Target="../media/image49.emf"/><Relationship Id="rId4" Type="http://schemas.openxmlformats.org/officeDocument/2006/relationships/oleObject" Target="../embeddings/oleObject33.bin"/><Relationship Id="rId9" Type="http://schemas.openxmlformats.org/officeDocument/2006/relationships/image" Target="../media/image44.emf"/><Relationship Id="rId14" Type="http://schemas.openxmlformats.org/officeDocument/2006/relationships/oleObject" Target="../embeddings/oleObject38.bin"/></Relationships>
</file>

<file path=ppt/slides/_rels/slide15.xml.rels><?xml version="1.0" encoding="UTF-8" standalone="yes"?>
<Relationships xmlns="http://schemas.openxmlformats.org/package/2006/relationships"><Relationship Id="rId8" Type="http://schemas.openxmlformats.org/officeDocument/2006/relationships/image" Target="../media/image52.emf"/><Relationship Id="rId13" Type="http://schemas.openxmlformats.org/officeDocument/2006/relationships/oleObject" Target="../embeddings/oleObject46.bin"/><Relationship Id="rId18" Type="http://schemas.openxmlformats.org/officeDocument/2006/relationships/image" Target="../media/image57.emf"/><Relationship Id="rId26" Type="http://schemas.openxmlformats.org/officeDocument/2006/relationships/image" Target="../media/image61.emf"/><Relationship Id="rId3" Type="http://schemas.openxmlformats.org/officeDocument/2006/relationships/oleObject" Target="../embeddings/oleObject41.bin"/><Relationship Id="rId21" Type="http://schemas.openxmlformats.org/officeDocument/2006/relationships/oleObject" Target="../embeddings/oleObject50.bin"/><Relationship Id="rId7" Type="http://schemas.openxmlformats.org/officeDocument/2006/relationships/oleObject" Target="../embeddings/oleObject43.bin"/><Relationship Id="rId12" Type="http://schemas.openxmlformats.org/officeDocument/2006/relationships/image" Target="../media/image54.emf"/><Relationship Id="rId17" Type="http://schemas.openxmlformats.org/officeDocument/2006/relationships/oleObject" Target="../embeddings/oleObject48.bin"/><Relationship Id="rId25" Type="http://schemas.openxmlformats.org/officeDocument/2006/relationships/oleObject" Target="../embeddings/oleObject52.bin"/><Relationship Id="rId2" Type="http://schemas.openxmlformats.org/officeDocument/2006/relationships/slideLayout" Target="../slideLayouts/slideLayout7.xml"/><Relationship Id="rId16" Type="http://schemas.openxmlformats.org/officeDocument/2006/relationships/image" Target="../media/image56.emf"/><Relationship Id="rId20" Type="http://schemas.openxmlformats.org/officeDocument/2006/relationships/image" Target="../media/image58.emf"/><Relationship Id="rId1" Type="http://schemas.openxmlformats.org/officeDocument/2006/relationships/vmlDrawing" Target="../drawings/vmlDrawing8.vml"/><Relationship Id="rId6" Type="http://schemas.openxmlformats.org/officeDocument/2006/relationships/image" Target="../media/image51.emf"/><Relationship Id="rId11" Type="http://schemas.openxmlformats.org/officeDocument/2006/relationships/oleObject" Target="../embeddings/oleObject45.bin"/><Relationship Id="rId24" Type="http://schemas.openxmlformats.org/officeDocument/2006/relationships/image" Target="../media/image60.emf"/><Relationship Id="rId5" Type="http://schemas.openxmlformats.org/officeDocument/2006/relationships/oleObject" Target="../embeddings/oleObject42.bin"/><Relationship Id="rId15" Type="http://schemas.openxmlformats.org/officeDocument/2006/relationships/oleObject" Target="../embeddings/oleObject47.bin"/><Relationship Id="rId23" Type="http://schemas.openxmlformats.org/officeDocument/2006/relationships/oleObject" Target="../embeddings/oleObject51.bin"/><Relationship Id="rId28" Type="http://schemas.openxmlformats.org/officeDocument/2006/relationships/image" Target="../media/image62.wmf"/><Relationship Id="rId10" Type="http://schemas.openxmlformats.org/officeDocument/2006/relationships/image" Target="../media/image53.emf"/><Relationship Id="rId19" Type="http://schemas.openxmlformats.org/officeDocument/2006/relationships/oleObject" Target="../embeddings/oleObject49.bin"/><Relationship Id="rId4" Type="http://schemas.openxmlformats.org/officeDocument/2006/relationships/image" Target="../media/image50.emf"/><Relationship Id="rId9" Type="http://schemas.openxmlformats.org/officeDocument/2006/relationships/oleObject" Target="../embeddings/oleObject44.bin"/><Relationship Id="rId14" Type="http://schemas.openxmlformats.org/officeDocument/2006/relationships/image" Target="../media/image55.emf"/><Relationship Id="rId22" Type="http://schemas.openxmlformats.org/officeDocument/2006/relationships/image" Target="../media/image59.emf"/><Relationship Id="rId27" Type="http://schemas.openxmlformats.org/officeDocument/2006/relationships/oleObject" Target="../embeddings/oleObject53.bin"/></Relationships>
</file>

<file path=ppt/slides/_rels/slide16.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3.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54.bin"/><Relationship Id="rId5" Type="http://schemas.openxmlformats.org/officeDocument/2006/relationships/image" Target="../media/image66.png"/><Relationship Id="rId4" Type="http://schemas.openxmlformats.org/officeDocument/2006/relationships/image" Target="../media/image65.png"/></Relationships>
</file>

<file path=ppt/slides/_rels/slide17.xml.rels><?xml version="1.0" encoding="UTF-8" standalone="yes"?>
<Relationships xmlns="http://schemas.openxmlformats.org/package/2006/relationships"><Relationship Id="rId8" Type="http://schemas.openxmlformats.org/officeDocument/2006/relationships/image" Target="../media/image69.emf"/><Relationship Id="rId13" Type="http://schemas.openxmlformats.org/officeDocument/2006/relationships/oleObject" Target="../embeddings/oleObject60.bin"/><Relationship Id="rId3" Type="http://schemas.openxmlformats.org/officeDocument/2006/relationships/oleObject" Target="../embeddings/oleObject55.bin"/><Relationship Id="rId7" Type="http://schemas.openxmlformats.org/officeDocument/2006/relationships/oleObject" Target="../embeddings/oleObject57.bin"/><Relationship Id="rId12" Type="http://schemas.openxmlformats.org/officeDocument/2006/relationships/image" Target="../media/image71.e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68.emf"/><Relationship Id="rId11" Type="http://schemas.openxmlformats.org/officeDocument/2006/relationships/oleObject" Target="../embeddings/oleObject59.bin"/><Relationship Id="rId5" Type="http://schemas.openxmlformats.org/officeDocument/2006/relationships/oleObject" Target="../embeddings/oleObject56.bin"/><Relationship Id="rId10" Type="http://schemas.openxmlformats.org/officeDocument/2006/relationships/image" Target="../media/image70.emf"/><Relationship Id="rId4" Type="http://schemas.openxmlformats.org/officeDocument/2006/relationships/image" Target="../media/image67.emf"/><Relationship Id="rId9" Type="http://schemas.openxmlformats.org/officeDocument/2006/relationships/oleObject" Target="../embeddings/oleObject58.bin"/><Relationship Id="rId14" Type="http://schemas.openxmlformats.org/officeDocument/2006/relationships/image" Target="../media/image72.emf"/></Relationships>
</file>

<file path=ppt/slides/_rels/slide18.xml.rels><?xml version="1.0" encoding="UTF-8" standalone="yes"?>
<Relationships xmlns="http://schemas.openxmlformats.org/package/2006/relationships"><Relationship Id="rId8" Type="http://schemas.openxmlformats.org/officeDocument/2006/relationships/image" Target="../media/image75.emf"/><Relationship Id="rId13" Type="http://schemas.openxmlformats.org/officeDocument/2006/relationships/oleObject" Target="../embeddings/oleObject66.bin"/><Relationship Id="rId18" Type="http://schemas.openxmlformats.org/officeDocument/2006/relationships/image" Target="../media/image80.wmf"/><Relationship Id="rId3" Type="http://schemas.openxmlformats.org/officeDocument/2006/relationships/oleObject" Target="../embeddings/oleObject61.bin"/><Relationship Id="rId7" Type="http://schemas.openxmlformats.org/officeDocument/2006/relationships/oleObject" Target="../embeddings/oleObject63.bin"/><Relationship Id="rId12" Type="http://schemas.openxmlformats.org/officeDocument/2006/relationships/image" Target="../media/image77.wmf"/><Relationship Id="rId17" Type="http://schemas.openxmlformats.org/officeDocument/2006/relationships/oleObject" Target="../embeddings/oleObject68.bin"/><Relationship Id="rId2" Type="http://schemas.openxmlformats.org/officeDocument/2006/relationships/slideLayout" Target="../slideLayouts/slideLayout2.xml"/><Relationship Id="rId16" Type="http://schemas.openxmlformats.org/officeDocument/2006/relationships/image" Target="../media/image79.wmf"/><Relationship Id="rId20" Type="http://schemas.openxmlformats.org/officeDocument/2006/relationships/image" Target="../media/image81.wmf"/><Relationship Id="rId1" Type="http://schemas.openxmlformats.org/officeDocument/2006/relationships/vmlDrawing" Target="../drawings/vmlDrawing11.vml"/><Relationship Id="rId6" Type="http://schemas.openxmlformats.org/officeDocument/2006/relationships/image" Target="../media/image74.emf"/><Relationship Id="rId11" Type="http://schemas.openxmlformats.org/officeDocument/2006/relationships/oleObject" Target="../embeddings/oleObject65.bin"/><Relationship Id="rId5" Type="http://schemas.openxmlformats.org/officeDocument/2006/relationships/oleObject" Target="../embeddings/oleObject62.bin"/><Relationship Id="rId15" Type="http://schemas.openxmlformats.org/officeDocument/2006/relationships/oleObject" Target="../embeddings/oleObject67.bin"/><Relationship Id="rId10" Type="http://schemas.openxmlformats.org/officeDocument/2006/relationships/image" Target="../media/image76.wmf"/><Relationship Id="rId19" Type="http://schemas.openxmlformats.org/officeDocument/2006/relationships/oleObject" Target="../embeddings/oleObject69.bin"/><Relationship Id="rId4" Type="http://schemas.openxmlformats.org/officeDocument/2006/relationships/image" Target="../media/image73.emf"/><Relationship Id="rId9" Type="http://schemas.openxmlformats.org/officeDocument/2006/relationships/oleObject" Target="../embeddings/oleObject64.bin"/><Relationship Id="rId14" Type="http://schemas.openxmlformats.org/officeDocument/2006/relationships/image" Target="../media/image78.emf"/></Relationships>
</file>

<file path=ppt/slides/_rels/slide19.x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oleObject" Target="../embeddings/oleObject70.bin"/><Relationship Id="rId7" Type="http://schemas.openxmlformats.org/officeDocument/2006/relationships/oleObject" Target="../embeddings/oleObject72.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83.wmf"/><Relationship Id="rId5" Type="http://schemas.openxmlformats.org/officeDocument/2006/relationships/oleObject" Target="../embeddings/oleObject71.bin"/><Relationship Id="rId10" Type="http://schemas.openxmlformats.org/officeDocument/2006/relationships/image" Target="../media/image85.wmf"/><Relationship Id="rId4" Type="http://schemas.openxmlformats.org/officeDocument/2006/relationships/image" Target="../media/image82.emf"/><Relationship Id="rId9" Type="http://schemas.openxmlformats.org/officeDocument/2006/relationships/oleObject" Target="../embeddings/oleObject73.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74.bin"/><Relationship Id="rId7" Type="http://schemas.openxmlformats.org/officeDocument/2006/relationships/image" Target="../media/image88.png"/><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87.emf"/><Relationship Id="rId5" Type="http://schemas.openxmlformats.org/officeDocument/2006/relationships/oleObject" Target="../embeddings/oleObject75.bin"/><Relationship Id="rId4" Type="http://schemas.openxmlformats.org/officeDocument/2006/relationships/image" Target="../media/image86.emf"/></Relationships>
</file>

<file path=ppt/slides/_rels/slide21.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oleObject" Target="../embeddings/oleObject76.bin"/><Relationship Id="rId7" Type="http://schemas.openxmlformats.org/officeDocument/2006/relationships/image" Target="../media/image91.png"/><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90.emf"/><Relationship Id="rId5" Type="http://schemas.openxmlformats.org/officeDocument/2006/relationships/oleObject" Target="../embeddings/oleObject77.bin"/><Relationship Id="rId4" Type="http://schemas.openxmlformats.org/officeDocument/2006/relationships/image" Target="../media/image89.emf"/></Relationships>
</file>

<file path=ppt/slides/_rels/slide2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97.emf"/><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96.emf"/><Relationship Id="rId5" Type="http://schemas.openxmlformats.org/officeDocument/2006/relationships/oleObject" Target="../embeddings/oleObject79.bin"/><Relationship Id="rId4" Type="http://schemas.openxmlformats.org/officeDocument/2006/relationships/image" Target="../media/image95.e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image" Target="../media/image102.emf"/><Relationship Id="rId3" Type="http://schemas.openxmlformats.org/officeDocument/2006/relationships/notesSlide" Target="../notesSlides/notesSlide2.xml"/><Relationship Id="rId7" Type="http://schemas.openxmlformats.org/officeDocument/2006/relationships/image" Target="../media/image99.emf"/><Relationship Id="rId12" Type="http://schemas.openxmlformats.org/officeDocument/2006/relationships/oleObject" Target="../embeddings/oleObject85.bin"/><Relationship Id="rId17" Type="http://schemas.openxmlformats.org/officeDocument/2006/relationships/image" Target="../media/image104.emf"/><Relationship Id="rId2" Type="http://schemas.openxmlformats.org/officeDocument/2006/relationships/slideLayout" Target="../slideLayouts/slideLayout2.xml"/><Relationship Id="rId16" Type="http://schemas.openxmlformats.org/officeDocument/2006/relationships/oleObject" Target="../embeddings/oleObject87.bin"/><Relationship Id="rId1" Type="http://schemas.openxmlformats.org/officeDocument/2006/relationships/vmlDrawing" Target="../drawings/vmlDrawing16.vml"/><Relationship Id="rId6" Type="http://schemas.openxmlformats.org/officeDocument/2006/relationships/oleObject" Target="../embeddings/oleObject82.bin"/><Relationship Id="rId11" Type="http://schemas.openxmlformats.org/officeDocument/2006/relationships/image" Target="../media/image101.emf"/><Relationship Id="rId5" Type="http://schemas.openxmlformats.org/officeDocument/2006/relationships/image" Target="../media/image98.emf"/><Relationship Id="rId15" Type="http://schemas.openxmlformats.org/officeDocument/2006/relationships/image" Target="../media/image103.emf"/><Relationship Id="rId10" Type="http://schemas.openxmlformats.org/officeDocument/2006/relationships/oleObject" Target="../embeddings/oleObject84.bin"/><Relationship Id="rId4" Type="http://schemas.openxmlformats.org/officeDocument/2006/relationships/oleObject" Target="../embeddings/oleObject81.bin"/><Relationship Id="rId9" Type="http://schemas.openxmlformats.org/officeDocument/2006/relationships/image" Target="../media/image100.emf"/><Relationship Id="rId14" Type="http://schemas.openxmlformats.org/officeDocument/2006/relationships/oleObject" Target="../embeddings/oleObject86.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88.bin"/><Relationship Id="rId7" Type="http://schemas.openxmlformats.org/officeDocument/2006/relationships/image" Target="../media/image108.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107.wmf"/><Relationship Id="rId5" Type="http://schemas.openxmlformats.org/officeDocument/2006/relationships/image" Target="../media/image106.wmf"/><Relationship Id="rId4" Type="http://schemas.openxmlformats.org/officeDocument/2006/relationships/image" Target="../media/image105.wmf"/></Relationships>
</file>

<file path=ppt/slides/_rels/slide26.xml.rels><?xml version="1.0" encoding="UTF-8" standalone="yes"?>
<Relationships xmlns="http://schemas.openxmlformats.org/package/2006/relationships"><Relationship Id="rId8" Type="http://schemas.openxmlformats.org/officeDocument/2006/relationships/image" Target="../media/image111.emf"/><Relationship Id="rId13" Type="http://schemas.openxmlformats.org/officeDocument/2006/relationships/oleObject" Target="../embeddings/oleObject94.bin"/><Relationship Id="rId18" Type="http://schemas.openxmlformats.org/officeDocument/2006/relationships/image" Target="../media/image116.emf"/><Relationship Id="rId3" Type="http://schemas.openxmlformats.org/officeDocument/2006/relationships/oleObject" Target="../embeddings/oleObject89.bin"/><Relationship Id="rId7" Type="http://schemas.openxmlformats.org/officeDocument/2006/relationships/oleObject" Target="../embeddings/oleObject91.bin"/><Relationship Id="rId12" Type="http://schemas.openxmlformats.org/officeDocument/2006/relationships/image" Target="../media/image113.emf"/><Relationship Id="rId17" Type="http://schemas.openxmlformats.org/officeDocument/2006/relationships/oleObject" Target="../embeddings/oleObject96.bin"/><Relationship Id="rId2" Type="http://schemas.openxmlformats.org/officeDocument/2006/relationships/slideLayout" Target="../slideLayouts/slideLayout7.xml"/><Relationship Id="rId16" Type="http://schemas.openxmlformats.org/officeDocument/2006/relationships/image" Target="../media/image115.emf"/><Relationship Id="rId1" Type="http://schemas.openxmlformats.org/officeDocument/2006/relationships/vmlDrawing" Target="../drawings/vmlDrawing18.vml"/><Relationship Id="rId6" Type="http://schemas.openxmlformats.org/officeDocument/2006/relationships/image" Target="../media/image110.emf"/><Relationship Id="rId11" Type="http://schemas.openxmlformats.org/officeDocument/2006/relationships/oleObject" Target="../embeddings/oleObject93.bin"/><Relationship Id="rId5" Type="http://schemas.openxmlformats.org/officeDocument/2006/relationships/oleObject" Target="../embeddings/oleObject90.bin"/><Relationship Id="rId15" Type="http://schemas.openxmlformats.org/officeDocument/2006/relationships/oleObject" Target="../embeddings/oleObject95.bin"/><Relationship Id="rId10" Type="http://schemas.openxmlformats.org/officeDocument/2006/relationships/image" Target="../media/image112.emf"/><Relationship Id="rId4" Type="http://schemas.openxmlformats.org/officeDocument/2006/relationships/image" Target="../media/image109.emf"/><Relationship Id="rId9" Type="http://schemas.openxmlformats.org/officeDocument/2006/relationships/oleObject" Target="../embeddings/oleObject92.bin"/><Relationship Id="rId14" Type="http://schemas.openxmlformats.org/officeDocument/2006/relationships/image" Target="../media/image114.emf"/></Relationships>
</file>

<file path=ppt/slides/_rels/slide2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w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99.bin"/><Relationship Id="rId13" Type="http://schemas.openxmlformats.org/officeDocument/2006/relationships/image" Target="../media/image123.emf"/><Relationship Id="rId3" Type="http://schemas.openxmlformats.org/officeDocument/2006/relationships/notesSlide" Target="../notesSlides/notesSlide3.xml"/><Relationship Id="rId7" Type="http://schemas.openxmlformats.org/officeDocument/2006/relationships/image" Target="../media/image120.emf"/><Relationship Id="rId12" Type="http://schemas.openxmlformats.org/officeDocument/2006/relationships/oleObject" Target="../embeddings/oleObject101.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98.bin"/><Relationship Id="rId11" Type="http://schemas.openxmlformats.org/officeDocument/2006/relationships/image" Target="../media/image122.emf"/><Relationship Id="rId5" Type="http://schemas.openxmlformats.org/officeDocument/2006/relationships/image" Target="../media/image119.emf"/><Relationship Id="rId10" Type="http://schemas.openxmlformats.org/officeDocument/2006/relationships/oleObject" Target="../embeddings/oleObject100.bin"/><Relationship Id="rId4" Type="http://schemas.openxmlformats.org/officeDocument/2006/relationships/oleObject" Target="../embeddings/oleObject97.bin"/><Relationship Id="rId9" Type="http://schemas.openxmlformats.org/officeDocument/2006/relationships/image" Target="../media/image121.emf"/></Relationships>
</file>

<file path=ppt/slides/_rels/slide2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w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26.png"/><Relationship Id="rId7" Type="http://schemas.openxmlformats.org/officeDocument/2006/relationships/image" Target="../media/image13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31.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04.bin"/><Relationship Id="rId13" Type="http://schemas.openxmlformats.org/officeDocument/2006/relationships/image" Target="../media/image137.wmf"/><Relationship Id="rId3" Type="http://schemas.openxmlformats.org/officeDocument/2006/relationships/image" Target="../media/image138.png"/><Relationship Id="rId7" Type="http://schemas.openxmlformats.org/officeDocument/2006/relationships/image" Target="../media/image134.wmf"/><Relationship Id="rId12" Type="http://schemas.openxmlformats.org/officeDocument/2006/relationships/oleObject" Target="../embeddings/oleObject106.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103.bin"/><Relationship Id="rId11" Type="http://schemas.openxmlformats.org/officeDocument/2006/relationships/image" Target="../media/image136.wmf"/><Relationship Id="rId5" Type="http://schemas.openxmlformats.org/officeDocument/2006/relationships/image" Target="../media/image133.wmf"/><Relationship Id="rId10" Type="http://schemas.openxmlformats.org/officeDocument/2006/relationships/oleObject" Target="../embeddings/oleObject105.bin"/><Relationship Id="rId4" Type="http://schemas.openxmlformats.org/officeDocument/2006/relationships/oleObject" Target="../embeddings/oleObject102.bin"/><Relationship Id="rId9" Type="http://schemas.openxmlformats.org/officeDocument/2006/relationships/image" Target="../media/image135.wmf"/></Relationships>
</file>

<file path=ppt/slides/_rels/slide35.xml.rels><?xml version="1.0" encoding="UTF-8" standalone="yes"?>
<Relationships xmlns="http://schemas.openxmlformats.org/package/2006/relationships"><Relationship Id="rId3" Type="http://schemas.openxmlformats.org/officeDocument/2006/relationships/image" Target="../media/image140.wmf"/><Relationship Id="rId7" Type="http://schemas.openxmlformats.org/officeDocument/2006/relationships/image" Target="../media/image144.wmf"/><Relationship Id="rId2" Type="http://schemas.openxmlformats.org/officeDocument/2006/relationships/image" Target="../media/image139.wmf"/><Relationship Id="rId1" Type="http://schemas.openxmlformats.org/officeDocument/2006/relationships/slideLayout" Target="../slideLayouts/slideLayout7.xml"/><Relationship Id="rId6" Type="http://schemas.openxmlformats.org/officeDocument/2006/relationships/image" Target="../media/image143.wmf"/><Relationship Id="rId5" Type="http://schemas.openxmlformats.org/officeDocument/2006/relationships/image" Target="../media/image142.wmf"/><Relationship Id="rId4" Type="http://schemas.openxmlformats.org/officeDocument/2006/relationships/image" Target="../media/image141.wmf"/></Relationships>
</file>

<file path=ppt/slides/_rels/slide36.xml.rels><?xml version="1.0" encoding="UTF-8" standalone="yes"?>
<Relationships xmlns="http://schemas.openxmlformats.org/package/2006/relationships"><Relationship Id="rId8" Type="http://schemas.openxmlformats.org/officeDocument/2006/relationships/image" Target="../media/image146.wmf"/><Relationship Id="rId3" Type="http://schemas.openxmlformats.org/officeDocument/2006/relationships/notesSlide" Target="../notesSlides/notesSlide5.xml"/><Relationship Id="rId7" Type="http://schemas.openxmlformats.org/officeDocument/2006/relationships/oleObject" Target="../embeddings/oleObject108.bin"/><Relationship Id="rId12" Type="http://schemas.openxmlformats.org/officeDocument/2006/relationships/image" Target="../media/image148.w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145.wmf"/><Relationship Id="rId11" Type="http://schemas.openxmlformats.org/officeDocument/2006/relationships/oleObject" Target="../embeddings/oleObject110.bin"/><Relationship Id="rId5" Type="http://schemas.openxmlformats.org/officeDocument/2006/relationships/oleObject" Target="../embeddings/oleObject107.bin"/><Relationship Id="rId10" Type="http://schemas.openxmlformats.org/officeDocument/2006/relationships/image" Target="../media/image147.wmf"/><Relationship Id="rId4" Type="http://schemas.openxmlformats.org/officeDocument/2006/relationships/image" Target="../media/image149.png"/><Relationship Id="rId9" Type="http://schemas.openxmlformats.org/officeDocument/2006/relationships/oleObject" Target="../embeddings/oleObject109.bin"/></Relationships>
</file>

<file path=ppt/slides/_rels/slide37.xml.rels><?xml version="1.0" encoding="UTF-8" standalone="yes"?>
<Relationships xmlns="http://schemas.openxmlformats.org/package/2006/relationships"><Relationship Id="rId8" Type="http://schemas.openxmlformats.org/officeDocument/2006/relationships/image" Target="../media/image151.wmf"/><Relationship Id="rId3" Type="http://schemas.openxmlformats.org/officeDocument/2006/relationships/image" Target="../media/image153.png"/><Relationship Id="rId7" Type="http://schemas.openxmlformats.org/officeDocument/2006/relationships/oleObject" Target="../embeddings/oleObject112.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150.wmf"/><Relationship Id="rId5" Type="http://schemas.openxmlformats.org/officeDocument/2006/relationships/oleObject" Target="../embeddings/oleObject111.bin"/><Relationship Id="rId10" Type="http://schemas.openxmlformats.org/officeDocument/2006/relationships/image" Target="../media/image152.wmf"/><Relationship Id="rId4" Type="http://schemas.openxmlformats.org/officeDocument/2006/relationships/image" Target="../media/image154.png"/><Relationship Id="rId9" Type="http://schemas.openxmlformats.org/officeDocument/2006/relationships/oleObject" Target="../embeddings/oleObject113.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16.bin"/><Relationship Id="rId13" Type="http://schemas.openxmlformats.org/officeDocument/2006/relationships/image" Target="../media/image159.emf"/><Relationship Id="rId18" Type="http://schemas.openxmlformats.org/officeDocument/2006/relationships/oleObject" Target="../embeddings/oleObject121.bin"/><Relationship Id="rId26" Type="http://schemas.openxmlformats.org/officeDocument/2006/relationships/oleObject" Target="../embeddings/oleObject125.bin"/><Relationship Id="rId3" Type="http://schemas.openxmlformats.org/officeDocument/2006/relationships/notesSlide" Target="../notesSlides/notesSlide6.xml"/><Relationship Id="rId21" Type="http://schemas.openxmlformats.org/officeDocument/2006/relationships/image" Target="../media/image163.emf"/><Relationship Id="rId7" Type="http://schemas.openxmlformats.org/officeDocument/2006/relationships/image" Target="../media/image156.emf"/><Relationship Id="rId12" Type="http://schemas.openxmlformats.org/officeDocument/2006/relationships/oleObject" Target="../embeddings/oleObject118.bin"/><Relationship Id="rId17" Type="http://schemas.openxmlformats.org/officeDocument/2006/relationships/image" Target="../media/image161.emf"/><Relationship Id="rId25" Type="http://schemas.openxmlformats.org/officeDocument/2006/relationships/image" Target="../media/image165.emf"/><Relationship Id="rId2" Type="http://schemas.openxmlformats.org/officeDocument/2006/relationships/slideLayout" Target="../slideLayouts/slideLayout7.xml"/><Relationship Id="rId16" Type="http://schemas.openxmlformats.org/officeDocument/2006/relationships/oleObject" Target="../embeddings/oleObject120.bin"/><Relationship Id="rId20" Type="http://schemas.openxmlformats.org/officeDocument/2006/relationships/oleObject" Target="../embeddings/oleObject122.bin"/><Relationship Id="rId1" Type="http://schemas.openxmlformats.org/officeDocument/2006/relationships/vmlDrawing" Target="../drawings/vmlDrawing23.vml"/><Relationship Id="rId6" Type="http://schemas.openxmlformats.org/officeDocument/2006/relationships/oleObject" Target="../embeddings/oleObject115.bin"/><Relationship Id="rId11" Type="http://schemas.openxmlformats.org/officeDocument/2006/relationships/image" Target="../media/image158.emf"/><Relationship Id="rId24" Type="http://schemas.openxmlformats.org/officeDocument/2006/relationships/oleObject" Target="../embeddings/oleObject124.bin"/><Relationship Id="rId5" Type="http://schemas.openxmlformats.org/officeDocument/2006/relationships/image" Target="../media/image155.emf"/><Relationship Id="rId15" Type="http://schemas.openxmlformats.org/officeDocument/2006/relationships/image" Target="../media/image160.emf"/><Relationship Id="rId23" Type="http://schemas.openxmlformats.org/officeDocument/2006/relationships/image" Target="../media/image164.emf"/><Relationship Id="rId10" Type="http://schemas.openxmlformats.org/officeDocument/2006/relationships/oleObject" Target="../embeddings/oleObject117.bin"/><Relationship Id="rId19" Type="http://schemas.openxmlformats.org/officeDocument/2006/relationships/image" Target="../media/image162.emf"/><Relationship Id="rId4" Type="http://schemas.openxmlformats.org/officeDocument/2006/relationships/oleObject" Target="../embeddings/oleObject114.bin"/><Relationship Id="rId9" Type="http://schemas.openxmlformats.org/officeDocument/2006/relationships/image" Target="../media/image157.emf"/><Relationship Id="rId14" Type="http://schemas.openxmlformats.org/officeDocument/2006/relationships/oleObject" Target="../embeddings/oleObject119.bin"/><Relationship Id="rId22" Type="http://schemas.openxmlformats.org/officeDocument/2006/relationships/oleObject" Target="../embeddings/oleObject123.bin"/><Relationship Id="rId27" Type="http://schemas.openxmlformats.org/officeDocument/2006/relationships/image" Target="../media/image166.e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28.bin"/><Relationship Id="rId13" Type="http://schemas.openxmlformats.org/officeDocument/2006/relationships/image" Target="../media/image171.emf"/><Relationship Id="rId3" Type="http://schemas.openxmlformats.org/officeDocument/2006/relationships/notesSlide" Target="../notesSlides/notesSlide7.xml"/><Relationship Id="rId7" Type="http://schemas.openxmlformats.org/officeDocument/2006/relationships/image" Target="../media/image168.emf"/><Relationship Id="rId12" Type="http://schemas.openxmlformats.org/officeDocument/2006/relationships/oleObject" Target="../embeddings/oleObject130.bin"/><Relationship Id="rId17" Type="http://schemas.openxmlformats.org/officeDocument/2006/relationships/image" Target="../media/image173.emf"/><Relationship Id="rId2" Type="http://schemas.openxmlformats.org/officeDocument/2006/relationships/slideLayout" Target="../slideLayouts/slideLayout2.xml"/><Relationship Id="rId16" Type="http://schemas.openxmlformats.org/officeDocument/2006/relationships/oleObject" Target="../embeddings/oleObject132.bin"/><Relationship Id="rId1" Type="http://schemas.openxmlformats.org/officeDocument/2006/relationships/vmlDrawing" Target="../drawings/vmlDrawing24.vml"/><Relationship Id="rId6" Type="http://schemas.openxmlformats.org/officeDocument/2006/relationships/oleObject" Target="../embeddings/oleObject127.bin"/><Relationship Id="rId11" Type="http://schemas.openxmlformats.org/officeDocument/2006/relationships/image" Target="../media/image170.emf"/><Relationship Id="rId5" Type="http://schemas.openxmlformats.org/officeDocument/2006/relationships/image" Target="../media/image167.emf"/><Relationship Id="rId15" Type="http://schemas.openxmlformats.org/officeDocument/2006/relationships/image" Target="../media/image172.emf"/><Relationship Id="rId10" Type="http://schemas.openxmlformats.org/officeDocument/2006/relationships/oleObject" Target="../embeddings/oleObject129.bin"/><Relationship Id="rId4" Type="http://schemas.openxmlformats.org/officeDocument/2006/relationships/oleObject" Target="../embeddings/oleObject126.bin"/><Relationship Id="rId9" Type="http://schemas.openxmlformats.org/officeDocument/2006/relationships/image" Target="../media/image169.emf"/><Relationship Id="rId14" Type="http://schemas.openxmlformats.org/officeDocument/2006/relationships/oleObject" Target="../embeddings/oleObject131.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35.bin"/><Relationship Id="rId13" Type="http://schemas.openxmlformats.org/officeDocument/2006/relationships/image" Target="../media/image178.wmf"/><Relationship Id="rId18" Type="http://schemas.openxmlformats.org/officeDocument/2006/relationships/oleObject" Target="../embeddings/oleObject140.bin"/><Relationship Id="rId3" Type="http://schemas.openxmlformats.org/officeDocument/2006/relationships/notesSlide" Target="../notesSlides/notesSlide8.xml"/><Relationship Id="rId21" Type="http://schemas.openxmlformats.org/officeDocument/2006/relationships/image" Target="../media/image182.wmf"/><Relationship Id="rId7" Type="http://schemas.openxmlformats.org/officeDocument/2006/relationships/image" Target="../media/image175.wmf"/><Relationship Id="rId12" Type="http://schemas.openxmlformats.org/officeDocument/2006/relationships/oleObject" Target="../embeddings/oleObject137.bin"/><Relationship Id="rId17" Type="http://schemas.openxmlformats.org/officeDocument/2006/relationships/image" Target="../media/image180.wmf"/><Relationship Id="rId2" Type="http://schemas.openxmlformats.org/officeDocument/2006/relationships/slideLayout" Target="../slideLayouts/slideLayout2.xml"/><Relationship Id="rId16" Type="http://schemas.openxmlformats.org/officeDocument/2006/relationships/oleObject" Target="../embeddings/oleObject139.bin"/><Relationship Id="rId20" Type="http://schemas.openxmlformats.org/officeDocument/2006/relationships/oleObject" Target="../embeddings/oleObject141.bin"/><Relationship Id="rId1" Type="http://schemas.openxmlformats.org/officeDocument/2006/relationships/vmlDrawing" Target="../drawings/vmlDrawing25.vml"/><Relationship Id="rId6" Type="http://schemas.openxmlformats.org/officeDocument/2006/relationships/oleObject" Target="../embeddings/oleObject134.bin"/><Relationship Id="rId11" Type="http://schemas.openxmlformats.org/officeDocument/2006/relationships/image" Target="../media/image177.wmf"/><Relationship Id="rId5" Type="http://schemas.openxmlformats.org/officeDocument/2006/relationships/image" Target="../media/image174.wmf"/><Relationship Id="rId15" Type="http://schemas.openxmlformats.org/officeDocument/2006/relationships/image" Target="../media/image179.wmf"/><Relationship Id="rId23" Type="http://schemas.openxmlformats.org/officeDocument/2006/relationships/image" Target="../media/image183.wmf"/><Relationship Id="rId10" Type="http://schemas.openxmlformats.org/officeDocument/2006/relationships/oleObject" Target="../embeddings/oleObject136.bin"/><Relationship Id="rId19" Type="http://schemas.openxmlformats.org/officeDocument/2006/relationships/image" Target="../media/image181.wmf"/><Relationship Id="rId4" Type="http://schemas.openxmlformats.org/officeDocument/2006/relationships/oleObject" Target="../embeddings/oleObject133.bin"/><Relationship Id="rId9" Type="http://schemas.openxmlformats.org/officeDocument/2006/relationships/image" Target="../media/image176.wmf"/><Relationship Id="rId14" Type="http://schemas.openxmlformats.org/officeDocument/2006/relationships/oleObject" Target="../embeddings/oleObject138.bin"/><Relationship Id="rId22" Type="http://schemas.openxmlformats.org/officeDocument/2006/relationships/oleObject" Target="../embeddings/oleObject142.bin"/></Relationships>
</file>

<file path=ppt/slides/_rels/slide41.xml.rels><?xml version="1.0" encoding="UTF-8" standalone="yes"?>
<Relationships xmlns="http://schemas.openxmlformats.org/package/2006/relationships"><Relationship Id="rId8" Type="http://schemas.openxmlformats.org/officeDocument/2006/relationships/image" Target="../media/image186.wmf"/><Relationship Id="rId13" Type="http://schemas.openxmlformats.org/officeDocument/2006/relationships/oleObject" Target="../embeddings/oleObject148.bin"/><Relationship Id="rId18" Type="http://schemas.openxmlformats.org/officeDocument/2006/relationships/image" Target="../media/image191.emf"/><Relationship Id="rId26" Type="http://schemas.openxmlformats.org/officeDocument/2006/relationships/image" Target="../media/image195.emf"/><Relationship Id="rId3" Type="http://schemas.openxmlformats.org/officeDocument/2006/relationships/oleObject" Target="../embeddings/oleObject143.bin"/><Relationship Id="rId21" Type="http://schemas.openxmlformats.org/officeDocument/2006/relationships/oleObject" Target="../embeddings/oleObject152.bin"/><Relationship Id="rId7" Type="http://schemas.openxmlformats.org/officeDocument/2006/relationships/oleObject" Target="../embeddings/oleObject145.bin"/><Relationship Id="rId12" Type="http://schemas.openxmlformats.org/officeDocument/2006/relationships/image" Target="../media/image188.emf"/><Relationship Id="rId17" Type="http://schemas.openxmlformats.org/officeDocument/2006/relationships/oleObject" Target="../embeddings/oleObject150.bin"/><Relationship Id="rId25" Type="http://schemas.openxmlformats.org/officeDocument/2006/relationships/oleObject" Target="../embeddings/oleObject154.bin"/><Relationship Id="rId2" Type="http://schemas.openxmlformats.org/officeDocument/2006/relationships/slideLayout" Target="../slideLayouts/slideLayout2.xml"/><Relationship Id="rId16" Type="http://schemas.openxmlformats.org/officeDocument/2006/relationships/image" Target="../media/image190.emf"/><Relationship Id="rId20" Type="http://schemas.openxmlformats.org/officeDocument/2006/relationships/image" Target="../media/image192.emf"/><Relationship Id="rId1" Type="http://schemas.openxmlformats.org/officeDocument/2006/relationships/vmlDrawing" Target="../drawings/vmlDrawing26.vml"/><Relationship Id="rId6" Type="http://schemas.openxmlformats.org/officeDocument/2006/relationships/image" Target="../media/image185.wmf"/><Relationship Id="rId11" Type="http://schemas.openxmlformats.org/officeDocument/2006/relationships/oleObject" Target="../embeddings/oleObject147.bin"/><Relationship Id="rId24" Type="http://schemas.openxmlformats.org/officeDocument/2006/relationships/image" Target="../media/image194.emf"/><Relationship Id="rId5" Type="http://schemas.openxmlformats.org/officeDocument/2006/relationships/oleObject" Target="../embeddings/oleObject144.bin"/><Relationship Id="rId15" Type="http://schemas.openxmlformats.org/officeDocument/2006/relationships/oleObject" Target="../embeddings/oleObject149.bin"/><Relationship Id="rId23" Type="http://schemas.openxmlformats.org/officeDocument/2006/relationships/oleObject" Target="../embeddings/oleObject153.bin"/><Relationship Id="rId10" Type="http://schemas.openxmlformats.org/officeDocument/2006/relationships/image" Target="../media/image187.emf"/><Relationship Id="rId19" Type="http://schemas.openxmlformats.org/officeDocument/2006/relationships/oleObject" Target="../embeddings/oleObject151.bin"/><Relationship Id="rId4" Type="http://schemas.openxmlformats.org/officeDocument/2006/relationships/image" Target="../media/image184.wmf"/><Relationship Id="rId9" Type="http://schemas.openxmlformats.org/officeDocument/2006/relationships/oleObject" Target="../embeddings/oleObject146.bin"/><Relationship Id="rId14" Type="http://schemas.openxmlformats.org/officeDocument/2006/relationships/image" Target="../media/image189.emf"/><Relationship Id="rId22" Type="http://schemas.openxmlformats.org/officeDocument/2006/relationships/image" Target="../media/image193.emf"/></Relationships>
</file>

<file path=ppt/slides/_rels/slide42.xml.rels><?xml version="1.0" encoding="UTF-8" standalone="yes"?>
<Relationships xmlns="http://schemas.openxmlformats.org/package/2006/relationships"><Relationship Id="rId8" Type="http://schemas.openxmlformats.org/officeDocument/2006/relationships/image" Target="../media/image198.emf"/><Relationship Id="rId13" Type="http://schemas.openxmlformats.org/officeDocument/2006/relationships/oleObject" Target="../embeddings/oleObject160.bin"/><Relationship Id="rId18" Type="http://schemas.openxmlformats.org/officeDocument/2006/relationships/image" Target="../media/image203.emf"/><Relationship Id="rId26" Type="http://schemas.openxmlformats.org/officeDocument/2006/relationships/image" Target="../media/image207.emf"/><Relationship Id="rId3" Type="http://schemas.openxmlformats.org/officeDocument/2006/relationships/oleObject" Target="../embeddings/oleObject155.bin"/><Relationship Id="rId21" Type="http://schemas.openxmlformats.org/officeDocument/2006/relationships/oleObject" Target="../embeddings/oleObject164.bin"/><Relationship Id="rId7" Type="http://schemas.openxmlformats.org/officeDocument/2006/relationships/oleObject" Target="../embeddings/oleObject157.bin"/><Relationship Id="rId12" Type="http://schemas.openxmlformats.org/officeDocument/2006/relationships/image" Target="../media/image200.wmf"/><Relationship Id="rId17" Type="http://schemas.openxmlformats.org/officeDocument/2006/relationships/oleObject" Target="../embeddings/oleObject162.bin"/><Relationship Id="rId25" Type="http://schemas.openxmlformats.org/officeDocument/2006/relationships/oleObject" Target="../embeddings/oleObject166.bin"/><Relationship Id="rId2" Type="http://schemas.openxmlformats.org/officeDocument/2006/relationships/slideLayout" Target="../slideLayouts/slideLayout7.xml"/><Relationship Id="rId16" Type="http://schemas.openxmlformats.org/officeDocument/2006/relationships/image" Target="../media/image202.emf"/><Relationship Id="rId20" Type="http://schemas.openxmlformats.org/officeDocument/2006/relationships/image" Target="../media/image204.emf"/><Relationship Id="rId1" Type="http://schemas.openxmlformats.org/officeDocument/2006/relationships/vmlDrawing" Target="../drawings/vmlDrawing27.vml"/><Relationship Id="rId6" Type="http://schemas.openxmlformats.org/officeDocument/2006/relationships/image" Target="../media/image197.emf"/><Relationship Id="rId11" Type="http://schemas.openxmlformats.org/officeDocument/2006/relationships/oleObject" Target="../embeddings/oleObject159.bin"/><Relationship Id="rId24" Type="http://schemas.openxmlformats.org/officeDocument/2006/relationships/image" Target="../media/image206.emf"/><Relationship Id="rId5" Type="http://schemas.openxmlformats.org/officeDocument/2006/relationships/oleObject" Target="../embeddings/oleObject156.bin"/><Relationship Id="rId15" Type="http://schemas.openxmlformats.org/officeDocument/2006/relationships/oleObject" Target="../embeddings/oleObject161.bin"/><Relationship Id="rId23" Type="http://schemas.openxmlformats.org/officeDocument/2006/relationships/oleObject" Target="../embeddings/oleObject165.bin"/><Relationship Id="rId10" Type="http://schemas.openxmlformats.org/officeDocument/2006/relationships/image" Target="../media/image199.emf"/><Relationship Id="rId19" Type="http://schemas.openxmlformats.org/officeDocument/2006/relationships/oleObject" Target="../embeddings/oleObject163.bin"/><Relationship Id="rId4" Type="http://schemas.openxmlformats.org/officeDocument/2006/relationships/image" Target="../media/image196.emf"/><Relationship Id="rId9" Type="http://schemas.openxmlformats.org/officeDocument/2006/relationships/oleObject" Target="../embeddings/oleObject158.bin"/><Relationship Id="rId14" Type="http://schemas.openxmlformats.org/officeDocument/2006/relationships/image" Target="../media/image201.emf"/><Relationship Id="rId22" Type="http://schemas.openxmlformats.org/officeDocument/2006/relationships/image" Target="../media/image205.emf"/></Relationships>
</file>

<file path=ppt/slides/_rels/slide43.xml.rels><?xml version="1.0" encoding="UTF-8" standalone="yes"?>
<Relationships xmlns="http://schemas.openxmlformats.org/package/2006/relationships"><Relationship Id="rId8" Type="http://schemas.openxmlformats.org/officeDocument/2006/relationships/image" Target="../media/image210.wmf"/><Relationship Id="rId3" Type="http://schemas.openxmlformats.org/officeDocument/2006/relationships/oleObject" Target="../embeddings/oleObject167.bin"/><Relationship Id="rId7" Type="http://schemas.openxmlformats.org/officeDocument/2006/relationships/oleObject" Target="../embeddings/oleObject169.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209.wmf"/><Relationship Id="rId5" Type="http://schemas.openxmlformats.org/officeDocument/2006/relationships/oleObject" Target="../embeddings/oleObject168.bin"/><Relationship Id="rId4" Type="http://schemas.openxmlformats.org/officeDocument/2006/relationships/image" Target="../media/image208.emf"/></Relationships>
</file>

<file path=ppt/slides/_rels/slide44.xml.rels><?xml version="1.0" encoding="UTF-8" standalone="yes"?>
<Relationships xmlns="http://schemas.openxmlformats.org/package/2006/relationships"><Relationship Id="rId8" Type="http://schemas.openxmlformats.org/officeDocument/2006/relationships/image" Target="../media/image211.wmf"/><Relationship Id="rId13" Type="http://schemas.openxmlformats.org/officeDocument/2006/relationships/oleObject" Target="../embeddings/oleObject173.bin"/><Relationship Id="rId3" Type="http://schemas.openxmlformats.org/officeDocument/2006/relationships/notesSlide" Target="../notesSlides/notesSlide9.xml"/><Relationship Id="rId7" Type="http://schemas.openxmlformats.org/officeDocument/2006/relationships/oleObject" Target="../embeddings/oleObject170.bin"/><Relationship Id="rId12" Type="http://schemas.openxmlformats.org/officeDocument/2006/relationships/image" Target="../media/image213.wmf"/><Relationship Id="rId2" Type="http://schemas.openxmlformats.org/officeDocument/2006/relationships/slideLayout" Target="../slideLayouts/slideLayout12.xml"/><Relationship Id="rId1" Type="http://schemas.openxmlformats.org/officeDocument/2006/relationships/vmlDrawing" Target="../drawings/vmlDrawing29.vml"/><Relationship Id="rId6" Type="http://schemas.openxmlformats.org/officeDocument/2006/relationships/image" Target="../media/image195.png"/><Relationship Id="rId11" Type="http://schemas.openxmlformats.org/officeDocument/2006/relationships/oleObject" Target="../embeddings/oleObject172.bin"/><Relationship Id="rId5" Type="http://schemas.openxmlformats.org/officeDocument/2006/relationships/image" Target="../media/image1940.png"/><Relationship Id="rId10" Type="http://schemas.openxmlformats.org/officeDocument/2006/relationships/image" Target="../media/image212.wmf"/><Relationship Id="rId4" Type="http://schemas.openxmlformats.org/officeDocument/2006/relationships/image" Target="../media/image215.png"/><Relationship Id="rId9" Type="http://schemas.openxmlformats.org/officeDocument/2006/relationships/oleObject" Target="../embeddings/oleObject171.bin"/><Relationship Id="rId14" Type="http://schemas.openxmlformats.org/officeDocument/2006/relationships/image" Target="../media/image214.wmf"/></Relationships>
</file>

<file path=ppt/slides/_rels/slide45.xml.rels><?xml version="1.0" encoding="UTF-8" standalone="yes"?>
<Relationships xmlns="http://schemas.openxmlformats.org/package/2006/relationships"><Relationship Id="rId8" Type="http://schemas.openxmlformats.org/officeDocument/2006/relationships/image" Target="../media/image218.emf"/><Relationship Id="rId13" Type="http://schemas.openxmlformats.org/officeDocument/2006/relationships/oleObject" Target="../embeddings/oleObject179.bin"/><Relationship Id="rId3" Type="http://schemas.openxmlformats.org/officeDocument/2006/relationships/oleObject" Target="../embeddings/oleObject174.bin"/><Relationship Id="rId7" Type="http://schemas.openxmlformats.org/officeDocument/2006/relationships/oleObject" Target="../embeddings/oleObject176.bin"/><Relationship Id="rId12" Type="http://schemas.openxmlformats.org/officeDocument/2006/relationships/image" Target="../media/image220.emf"/><Relationship Id="rId2" Type="http://schemas.openxmlformats.org/officeDocument/2006/relationships/slideLayout" Target="../slideLayouts/slideLayout12.xml"/><Relationship Id="rId1" Type="http://schemas.openxmlformats.org/officeDocument/2006/relationships/vmlDrawing" Target="../drawings/vmlDrawing30.vml"/><Relationship Id="rId6" Type="http://schemas.openxmlformats.org/officeDocument/2006/relationships/image" Target="../media/image217.emf"/><Relationship Id="rId11" Type="http://schemas.openxmlformats.org/officeDocument/2006/relationships/oleObject" Target="../embeddings/oleObject178.bin"/><Relationship Id="rId5" Type="http://schemas.openxmlformats.org/officeDocument/2006/relationships/oleObject" Target="../embeddings/oleObject175.bin"/><Relationship Id="rId10" Type="http://schemas.openxmlformats.org/officeDocument/2006/relationships/image" Target="../media/image219.emf"/><Relationship Id="rId4" Type="http://schemas.openxmlformats.org/officeDocument/2006/relationships/image" Target="../media/image216.emf"/><Relationship Id="rId9" Type="http://schemas.openxmlformats.org/officeDocument/2006/relationships/oleObject" Target="../embeddings/oleObject177.bin"/><Relationship Id="rId14" Type="http://schemas.openxmlformats.org/officeDocument/2006/relationships/image" Target="../media/image221.emf"/></Relationships>
</file>

<file path=ppt/slides/_rels/slide46.xml.rels><?xml version="1.0" encoding="UTF-8" standalone="yes"?>
<Relationships xmlns="http://schemas.openxmlformats.org/package/2006/relationships"><Relationship Id="rId8" Type="http://schemas.openxmlformats.org/officeDocument/2006/relationships/image" Target="../media/image224.emf"/><Relationship Id="rId13" Type="http://schemas.openxmlformats.org/officeDocument/2006/relationships/oleObject" Target="../embeddings/oleObject185.bin"/><Relationship Id="rId18" Type="http://schemas.openxmlformats.org/officeDocument/2006/relationships/image" Target="../media/image229.emf"/><Relationship Id="rId3" Type="http://schemas.openxmlformats.org/officeDocument/2006/relationships/oleObject" Target="../embeddings/oleObject180.bin"/><Relationship Id="rId21" Type="http://schemas.openxmlformats.org/officeDocument/2006/relationships/oleObject" Target="../embeddings/oleObject189.bin"/><Relationship Id="rId7" Type="http://schemas.openxmlformats.org/officeDocument/2006/relationships/oleObject" Target="../embeddings/oleObject182.bin"/><Relationship Id="rId12" Type="http://schemas.openxmlformats.org/officeDocument/2006/relationships/image" Target="../media/image226.emf"/><Relationship Id="rId17" Type="http://schemas.openxmlformats.org/officeDocument/2006/relationships/oleObject" Target="../embeddings/oleObject187.bin"/><Relationship Id="rId2" Type="http://schemas.openxmlformats.org/officeDocument/2006/relationships/slideLayout" Target="../slideLayouts/slideLayout12.xml"/><Relationship Id="rId16" Type="http://schemas.openxmlformats.org/officeDocument/2006/relationships/image" Target="../media/image228.emf"/><Relationship Id="rId20" Type="http://schemas.openxmlformats.org/officeDocument/2006/relationships/image" Target="../media/image230.emf"/><Relationship Id="rId1" Type="http://schemas.openxmlformats.org/officeDocument/2006/relationships/vmlDrawing" Target="../drawings/vmlDrawing31.vml"/><Relationship Id="rId6" Type="http://schemas.openxmlformats.org/officeDocument/2006/relationships/image" Target="../media/image223.emf"/><Relationship Id="rId11" Type="http://schemas.openxmlformats.org/officeDocument/2006/relationships/oleObject" Target="../embeddings/oleObject184.bin"/><Relationship Id="rId5" Type="http://schemas.openxmlformats.org/officeDocument/2006/relationships/oleObject" Target="../embeddings/oleObject181.bin"/><Relationship Id="rId15" Type="http://schemas.openxmlformats.org/officeDocument/2006/relationships/oleObject" Target="../embeddings/oleObject186.bin"/><Relationship Id="rId23" Type="http://schemas.openxmlformats.org/officeDocument/2006/relationships/image" Target="../media/image232.png"/><Relationship Id="rId10" Type="http://schemas.openxmlformats.org/officeDocument/2006/relationships/image" Target="../media/image225.emf"/><Relationship Id="rId19" Type="http://schemas.openxmlformats.org/officeDocument/2006/relationships/oleObject" Target="../embeddings/oleObject188.bin"/><Relationship Id="rId4" Type="http://schemas.openxmlformats.org/officeDocument/2006/relationships/image" Target="../media/image222.emf"/><Relationship Id="rId9" Type="http://schemas.openxmlformats.org/officeDocument/2006/relationships/oleObject" Target="../embeddings/oleObject183.bin"/><Relationship Id="rId14" Type="http://schemas.openxmlformats.org/officeDocument/2006/relationships/image" Target="../media/image227.emf"/><Relationship Id="rId22" Type="http://schemas.openxmlformats.org/officeDocument/2006/relationships/image" Target="../media/image231.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90.bin"/><Relationship Id="rId2" Type="http://schemas.openxmlformats.org/officeDocument/2006/relationships/slideLayout" Target="../slideLayouts/slideLayout12.xml"/><Relationship Id="rId1" Type="http://schemas.openxmlformats.org/officeDocument/2006/relationships/vmlDrawing" Target="../drawings/vmlDrawing32.vml"/><Relationship Id="rId6" Type="http://schemas.openxmlformats.org/officeDocument/2006/relationships/image" Target="../media/image234.wmf"/><Relationship Id="rId5" Type="http://schemas.openxmlformats.org/officeDocument/2006/relationships/oleObject" Target="../embeddings/oleObject191.bin"/><Relationship Id="rId4" Type="http://schemas.openxmlformats.org/officeDocument/2006/relationships/image" Target="../media/image233.wmf"/></Relationships>
</file>

<file path=ppt/slides/_rels/slide48.xml.rels><?xml version="1.0" encoding="UTF-8" standalone="yes"?>
<Relationships xmlns="http://schemas.openxmlformats.org/package/2006/relationships"><Relationship Id="rId8" Type="http://schemas.openxmlformats.org/officeDocument/2006/relationships/image" Target="../media/image235.wmf"/><Relationship Id="rId3" Type="http://schemas.openxmlformats.org/officeDocument/2006/relationships/image" Target="../media/image238.wmf"/><Relationship Id="rId7" Type="http://schemas.openxmlformats.org/officeDocument/2006/relationships/oleObject" Target="../embeddings/oleObject192.bin"/><Relationship Id="rId12" Type="http://schemas.openxmlformats.org/officeDocument/2006/relationships/image" Target="../media/image237.wmf"/><Relationship Id="rId2" Type="http://schemas.openxmlformats.org/officeDocument/2006/relationships/slideLayout" Target="../slideLayouts/slideLayout12.xml"/><Relationship Id="rId1" Type="http://schemas.openxmlformats.org/officeDocument/2006/relationships/vmlDrawing" Target="../drawings/vmlDrawing33.vml"/><Relationship Id="rId6" Type="http://schemas.openxmlformats.org/officeDocument/2006/relationships/image" Target="../media/image241.wmf"/><Relationship Id="rId11" Type="http://schemas.openxmlformats.org/officeDocument/2006/relationships/oleObject" Target="../embeddings/oleObject194.bin"/><Relationship Id="rId5" Type="http://schemas.openxmlformats.org/officeDocument/2006/relationships/image" Target="../media/image240.wmf"/><Relationship Id="rId10" Type="http://schemas.openxmlformats.org/officeDocument/2006/relationships/image" Target="../media/image236.wmf"/><Relationship Id="rId4" Type="http://schemas.openxmlformats.org/officeDocument/2006/relationships/image" Target="../media/image239.wmf"/><Relationship Id="rId9" Type="http://schemas.openxmlformats.org/officeDocument/2006/relationships/oleObject" Target="../embeddings/oleObject193.bin"/></Relationships>
</file>

<file path=ppt/slides/_rels/slide49.xml.rels><?xml version="1.0" encoding="UTF-8" standalone="yes"?>
<Relationships xmlns="http://schemas.openxmlformats.org/package/2006/relationships"><Relationship Id="rId8" Type="http://schemas.openxmlformats.org/officeDocument/2006/relationships/image" Target="../media/image243.wmf"/><Relationship Id="rId13" Type="http://schemas.openxmlformats.org/officeDocument/2006/relationships/oleObject" Target="../embeddings/oleObject199.bin"/><Relationship Id="rId3" Type="http://schemas.openxmlformats.org/officeDocument/2006/relationships/image" Target="../media/image248.png"/><Relationship Id="rId7" Type="http://schemas.openxmlformats.org/officeDocument/2006/relationships/oleObject" Target="../embeddings/oleObject196.bin"/><Relationship Id="rId12" Type="http://schemas.openxmlformats.org/officeDocument/2006/relationships/image" Target="../media/image245.wmf"/><Relationship Id="rId2" Type="http://schemas.openxmlformats.org/officeDocument/2006/relationships/slideLayout" Target="../slideLayouts/slideLayout7.xml"/><Relationship Id="rId16" Type="http://schemas.openxmlformats.org/officeDocument/2006/relationships/image" Target="../media/image247.wmf"/><Relationship Id="rId1" Type="http://schemas.openxmlformats.org/officeDocument/2006/relationships/vmlDrawing" Target="../drawings/vmlDrawing34.vml"/><Relationship Id="rId6" Type="http://schemas.openxmlformats.org/officeDocument/2006/relationships/image" Target="../media/image242.wmf"/><Relationship Id="rId11" Type="http://schemas.openxmlformats.org/officeDocument/2006/relationships/oleObject" Target="../embeddings/oleObject198.bin"/><Relationship Id="rId5" Type="http://schemas.openxmlformats.org/officeDocument/2006/relationships/oleObject" Target="../embeddings/oleObject195.bin"/><Relationship Id="rId15" Type="http://schemas.openxmlformats.org/officeDocument/2006/relationships/oleObject" Target="../embeddings/oleObject200.bin"/><Relationship Id="rId10" Type="http://schemas.openxmlformats.org/officeDocument/2006/relationships/image" Target="../media/image244.wmf"/><Relationship Id="rId4" Type="http://schemas.openxmlformats.org/officeDocument/2006/relationships/image" Target="../media/image2340.png"/><Relationship Id="rId9" Type="http://schemas.openxmlformats.org/officeDocument/2006/relationships/oleObject" Target="../embeddings/oleObject197.bin"/><Relationship Id="rId14" Type="http://schemas.openxmlformats.org/officeDocument/2006/relationships/image" Target="../media/image246.wmf"/></Relationships>
</file>

<file path=ppt/slides/_rels/slide50.xml.rels><?xml version="1.0" encoding="UTF-8" standalone="yes"?>
<Relationships xmlns="http://schemas.openxmlformats.org/package/2006/relationships"><Relationship Id="rId8" Type="http://schemas.openxmlformats.org/officeDocument/2006/relationships/image" Target="../media/image251.emf"/><Relationship Id="rId13" Type="http://schemas.openxmlformats.org/officeDocument/2006/relationships/oleObject" Target="../embeddings/oleObject206.bin"/><Relationship Id="rId3" Type="http://schemas.openxmlformats.org/officeDocument/2006/relationships/oleObject" Target="../embeddings/oleObject201.bin"/><Relationship Id="rId7" Type="http://schemas.openxmlformats.org/officeDocument/2006/relationships/oleObject" Target="../embeddings/oleObject203.bin"/><Relationship Id="rId12" Type="http://schemas.openxmlformats.org/officeDocument/2006/relationships/image" Target="../media/image253.emf"/><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250.emf"/><Relationship Id="rId11" Type="http://schemas.openxmlformats.org/officeDocument/2006/relationships/oleObject" Target="../embeddings/oleObject205.bin"/><Relationship Id="rId5" Type="http://schemas.openxmlformats.org/officeDocument/2006/relationships/oleObject" Target="../embeddings/oleObject202.bin"/><Relationship Id="rId10" Type="http://schemas.openxmlformats.org/officeDocument/2006/relationships/image" Target="../media/image252.emf"/><Relationship Id="rId4" Type="http://schemas.openxmlformats.org/officeDocument/2006/relationships/image" Target="../media/image249.emf"/><Relationship Id="rId9" Type="http://schemas.openxmlformats.org/officeDocument/2006/relationships/oleObject" Target="../embeddings/oleObject204.bin"/><Relationship Id="rId14" Type="http://schemas.openxmlformats.org/officeDocument/2006/relationships/image" Target="../media/image254.emf"/></Relationships>
</file>

<file path=ppt/slides/_rels/slide51.xml.rels><?xml version="1.0" encoding="UTF-8" standalone="yes"?>
<Relationships xmlns="http://schemas.openxmlformats.org/package/2006/relationships"><Relationship Id="rId8" Type="http://schemas.openxmlformats.org/officeDocument/2006/relationships/image" Target="../media/image257.emf"/><Relationship Id="rId13" Type="http://schemas.openxmlformats.org/officeDocument/2006/relationships/oleObject" Target="../embeddings/oleObject212.bin"/><Relationship Id="rId18" Type="http://schemas.openxmlformats.org/officeDocument/2006/relationships/image" Target="../media/image262.emf"/><Relationship Id="rId3" Type="http://schemas.openxmlformats.org/officeDocument/2006/relationships/oleObject" Target="../embeddings/oleObject207.bin"/><Relationship Id="rId21" Type="http://schemas.openxmlformats.org/officeDocument/2006/relationships/oleObject" Target="../embeddings/oleObject216.bin"/><Relationship Id="rId7" Type="http://schemas.openxmlformats.org/officeDocument/2006/relationships/oleObject" Target="../embeddings/oleObject209.bin"/><Relationship Id="rId12" Type="http://schemas.openxmlformats.org/officeDocument/2006/relationships/image" Target="../media/image259.emf"/><Relationship Id="rId17" Type="http://schemas.openxmlformats.org/officeDocument/2006/relationships/oleObject" Target="../embeddings/oleObject214.bin"/><Relationship Id="rId2" Type="http://schemas.openxmlformats.org/officeDocument/2006/relationships/slideLayout" Target="../slideLayouts/slideLayout7.xml"/><Relationship Id="rId16" Type="http://schemas.openxmlformats.org/officeDocument/2006/relationships/image" Target="../media/image261.emf"/><Relationship Id="rId20" Type="http://schemas.openxmlformats.org/officeDocument/2006/relationships/image" Target="../media/image263.emf"/><Relationship Id="rId1" Type="http://schemas.openxmlformats.org/officeDocument/2006/relationships/vmlDrawing" Target="../drawings/vmlDrawing36.vml"/><Relationship Id="rId6" Type="http://schemas.openxmlformats.org/officeDocument/2006/relationships/image" Target="../media/image256.emf"/><Relationship Id="rId11" Type="http://schemas.openxmlformats.org/officeDocument/2006/relationships/oleObject" Target="../embeddings/oleObject211.bin"/><Relationship Id="rId24" Type="http://schemas.openxmlformats.org/officeDocument/2006/relationships/image" Target="../media/image265.emf"/><Relationship Id="rId5" Type="http://schemas.openxmlformats.org/officeDocument/2006/relationships/oleObject" Target="../embeddings/oleObject208.bin"/><Relationship Id="rId15" Type="http://schemas.openxmlformats.org/officeDocument/2006/relationships/oleObject" Target="../embeddings/oleObject213.bin"/><Relationship Id="rId23" Type="http://schemas.openxmlformats.org/officeDocument/2006/relationships/oleObject" Target="../embeddings/oleObject217.bin"/><Relationship Id="rId10" Type="http://schemas.openxmlformats.org/officeDocument/2006/relationships/image" Target="../media/image258.emf"/><Relationship Id="rId19" Type="http://schemas.openxmlformats.org/officeDocument/2006/relationships/oleObject" Target="../embeddings/oleObject215.bin"/><Relationship Id="rId4" Type="http://schemas.openxmlformats.org/officeDocument/2006/relationships/image" Target="../media/image255.emf"/><Relationship Id="rId9" Type="http://schemas.openxmlformats.org/officeDocument/2006/relationships/oleObject" Target="../embeddings/oleObject210.bin"/><Relationship Id="rId14" Type="http://schemas.openxmlformats.org/officeDocument/2006/relationships/image" Target="../media/image260.emf"/><Relationship Id="rId22" Type="http://schemas.openxmlformats.org/officeDocument/2006/relationships/image" Target="../media/image264.emf"/></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220.bin"/><Relationship Id="rId13" Type="http://schemas.openxmlformats.org/officeDocument/2006/relationships/image" Target="../media/image270.wmf"/><Relationship Id="rId3" Type="http://schemas.openxmlformats.org/officeDocument/2006/relationships/image" Target="../media/image271.png"/><Relationship Id="rId7" Type="http://schemas.openxmlformats.org/officeDocument/2006/relationships/image" Target="../media/image267.wmf"/><Relationship Id="rId12" Type="http://schemas.openxmlformats.org/officeDocument/2006/relationships/oleObject" Target="../embeddings/oleObject222.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oleObject" Target="../embeddings/oleObject219.bin"/><Relationship Id="rId11" Type="http://schemas.openxmlformats.org/officeDocument/2006/relationships/image" Target="../media/image269.wmf"/><Relationship Id="rId5" Type="http://schemas.openxmlformats.org/officeDocument/2006/relationships/image" Target="../media/image266.wmf"/><Relationship Id="rId10" Type="http://schemas.openxmlformats.org/officeDocument/2006/relationships/oleObject" Target="../embeddings/oleObject221.bin"/><Relationship Id="rId4" Type="http://schemas.openxmlformats.org/officeDocument/2006/relationships/oleObject" Target="../embeddings/oleObject218.bin"/><Relationship Id="rId9" Type="http://schemas.openxmlformats.org/officeDocument/2006/relationships/image" Target="../media/image268.wmf"/></Relationships>
</file>

<file path=ppt/slides/_rels/slide53.xml.rels><?xml version="1.0" encoding="UTF-8" standalone="yes"?>
<Relationships xmlns="http://schemas.openxmlformats.org/package/2006/relationships"><Relationship Id="rId8" Type="http://schemas.openxmlformats.org/officeDocument/2006/relationships/image" Target="../media/image274.wmf"/><Relationship Id="rId3" Type="http://schemas.openxmlformats.org/officeDocument/2006/relationships/oleObject" Target="../embeddings/oleObject223.bin"/><Relationship Id="rId7" Type="http://schemas.openxmlformats.org/officeDocument/2006/relationships/oleObject" Target="../embeddings/oleObject225.bin"/><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image" Target="../media/image273.emf"/><Relationship Id="rId5" Type="http://schemas.openxmlformats.org/officeDocument/2006/relationships/oleObject" Target="../embeddings/oleObject224.bin"/><Relationship Id="rId10" Type="http://schemas.openxmlformats.org/officeDocument/2006/relationships/image" Target="../media/image276.png"/><Relationship Id="rId4" Type="http://schemas.openxmlformats.org/officeDocument/2006/relationships/image" Target="../media/image272.emf"/><Relationship Id="rId9" Type="http://schemas.openxmlformats.org/officeDocument/2006/relationships/image" Target="../media/image275.png"/></Relationships>
</file>

<file path=ppt/slides/_rels/slide54.xml.rels><?xml version="1.0" encoding="UTF-8" standalone="yes"?>
<Relationships xmlns="http://schemas.openxmlformats.org/package/2006/relationships"><Relationship Id="rId3" Type="http://schemas.openxmlformats.org/officeDocument/2006/relationships/image" Target="../media/image278.png"/><Relationship Id="rId2" Type="http://schemas.openxmlformats.org/officeDocument/2006/relationships/image" Target="../media/image277.png"/><Relationship Id="rId1" Type="http://schemas.openxmlformats.org/officeDocument/2006/relationships/slideLayout" Target="../slideLayouts/slideLayout7.xml"/><Relationship Id="rId5" Type="http://schemas.openxmlformats.org/officeDocument/2006/relationships/image" Target="../media/image280.png"/><Relationship Id="rId4" Type="http://schemas.openxmlformats.org/officeDocument/2006/relationships/image" Target="../media/image279.png"/></Relationships>
</file>

<file path=ppt/slides/_rels/slide55.xml.rels><?xml version="1.0" encoding="UTF-8" standalone="yes"?>
<Relationships xmlns="http://schemas.openxmlformats.org/package/2006/relationships"><Relationship Id="rId3" Type="http://schemas.openxmlformats.org/officeDocument/2006/relationships/image" Target="../media/image282.png"/><Relationship Id="rId2" Type="http://schemas.openxmlformats.org/officeDocument/2006/relationships/image" Target="../media/image281.png"/><Relationship Id="rId1" Type="http://schemas.openxmlformats.org/officeDocument/2006/relationships/slideLayout" Target="../slideLayouts/slideLayout7.xml"/><Relationship Id="rId5" Type="http://schemas.openxmlformats.org/officeDocument/2006/relationships/image" Target="../media/image284.png"/><Relationship Id="rId4" Type="http://schemas.openxmlformats.org/officeDocument/2006/relationships/image" Target="../media/image283.png"/></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227.bin"/><Relationship Id="rId3" Type="http://schemas.openxmlformats.org/officeDocument/2006/relationships/notesSlide" Target="../notesSlides/notesSlide10.xml"/><Relationship Id="rId7" Type="http://schemas.openxmlformats.org/officeDocument/2006/relationships/image" Target="../media/image285.wmf"/><Relationship Id="rId12" Type="http://schemas.openxmlformats.org/officeDocument/2006/relationships/image" Target="../media/image287.wmf"/><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oleObject" Target="../embeddings/oleObject226.bin"/><Relationship Id="rId11" Type="http://schemas.openxmlformats.org/officeDocument/2006/relationships/oleObject" Target="../embeddings/oleObject228.bin"/><Relationship Id="rId5" Type="http://schemas.openxmlformats.org/officeDocument/2006/relationships/image" Target="../media/image2820.png"/><Relationship Id="rId10" Type="http://schemas.openxmlformats.org/officeDocument/2006/relationships/image" Target="../media/image2830.png"/><Relationship Id="rId4" Type="http://schemas.openxmlformats.org/officeDocument/2006/relationships/image" Target="../media/image288.png"/><Relationship Id="rId9" Type="http://schemas.openxmlformats.org/officeDocument/2006/relationships/image" Target="../media/image286.w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8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91.wmf"/><Relationship Id="rId2" Type="http://schemas.openxmlformats.org/officeDocument/2006/relationships/image" Target="../media/image290.wmf"/><Relationship Id="rId1" Type="http://schemas.openxmlformats.org/officeDocument/2006/relationships/slideLayout" Target="../slideLayouts/slideLayout7.xml"/><Relationship Id="rId5" Type="http://schemas.openxmlformats.org/officeDocument/2006/relationships/image" Target="../media/image293.wmf"/><Relationship Id="rId4" Type="http://schemas.openxmlformats.org/officeDocument/2006/relationships/image" Target="../media/image292.wmf"/></Relationships>
</file>

<file path=ppt/slides/_rels/slide60.xml.rels><?xml version="1.0" encoding="UTF-8" standalone="yes"?>
<Relationships xmlns="http://schemas.openxmlformats.org/package/2006/relationships"><Relationship Id="rId13" Type="http://schemas.openxmlformats.org/officeDocument/2006/relationships/oleObject" Target="../embeddings/oleObject234.bin"/><Relationship Id="rId18" Type="http://schemas.openxmlformats.org/officeDocument/2006/relationships/image" Target="../media/image301.emf"/><Relationship Id="rId26" Type="http://schemas.openxmlformats.org/officeDocument/2006/relationships/image" Target="../media/image305.emf"/><Relationship Id="rId3" Type="http://schemas.openxmlformats.org/officeDocument/2006/relationships/oleObject" Target="../embeddings/oleObject229.bin"/><Relationship Id="rId21" Type="http://schemas.openxmlformats.org/officeDocument/2006/relationships/oleObject" Target="../embeddings/oleObject238.bin"/><Relationship Id="rId34" Type="http://schemas.openxmlformats.org/officeDocument/2006/relationships/image" Target="../media/image309.emf"/><Relationship Id="rId7" Type="http://schemas.openxmlformats.org/officeDocument/2006/relationships/oleObject" Target="../embeddings/oleObject231.bin"/><Relationship Id="rId12" Type="http://schemas.openxmlformats.org/officeDocument/2006/relationships/image" Target="../media/image298.emf"/><Relationship Id="rId17" Type="http://schemas.openxmlformats.org/officeDocument/2006/relationships/oleObject" Target="../embeddings/oleObject236.bin"/><Relationship Id="rId25" Type="http://schemas.openxmlformats.org/officeDocument/2006/relationships/oleObject" Target="../embeddings/oleObject240.bin"/><Relationship Id="rId33" Type="http://schemas.openxmlformats.org/officeDocument/2006/relationships/oleObject" Target="../embeddings/oleObject244.bin"/><Relationship Id="rId2" Type="http://schemas.openxmlformats.org/officeDocument/2006/relationships/slideLayout" Target="../slideLayouts/slideLayout2.xml"/><Relationship Id="rId16" Type="http://schemas.openxmlformats.org/officeDocument/2006/relationships/image" Target="../media/image300.emf"/><Relationship Id="rId20" Type="http://schemas.openxmlformats.org/officeDocument/2006/relationships/image" Target="../media/image302.emf"/><Relationship Id="rId29" Type="http://schemas.openxmlformats.org/officeDocument/2006/relationships/oleObject" Target="../embeddings/oleObject242.bin"/><Relationship Id="rId1" Type="http://schemas.openxmlformats.org/officeDocument/2006/relationships/vmlDrawing" Target="../drawings/vmlDrawing40.vml"/><Relationship Id="rId6" Type="http://schemas.openxmlformats.org/officeDocument/2006/relationships/image" Target="../media/image295.emf"/><Relationship Id="rId11" Type="http://schemas.openxmlformats.org/officeDocument/2006/relationships/oleObject" Target="../embeddings/oleObject233.bin"/><Relationship Id="rId24" Type="http://schemas.openxmlformats.org/officeDocument/2006/relationships/image" Target="../media/image304.emf"/><Relationship Id="rId32" Type="http://schemas.openxmlformats.org/officeDocument/2006/relationships/image" Target="../media/image308.emf"/><Relationship Id="rId5" Type="http://schemas.openxmlformats.org/officeDocument/2006/relationships/oleObject" Target="../embeddings/oleObject230.bin"/><Relationship Id="rId15" Type="http://schemas.openxmlformats.org/officeDocument/2006/relationships/oleObject" Target="../embeddings/oleObject235.bin"/><Relationship Id="rId23" Type="http://schemas.openxmlformats.org/officeDocument/2006/relationships/oleObject" Target="../embeddings/oleObject239.bin"/><Relationship Id="rId28" Type="http://schemas.openxmlformats.org/officeDocument/2006/relationships/image" Target="../media/image306.emf"/><Relationship Id="rId10" Type="http://schemas.openxmlformats.org/officeDocument/2006/relationships/image" Target="../media/image297.emf"/><Relationship Id="rId19" Type="http://schemas.openxmlformats.org/officeDocument/2006/relationships/oleObject" Target="../embeddings/oleObject237.bin"/><Relationship Id="rId31" Type="http://schemas.openxmlformats.org/officeDocument/2006/relationships/oleObject" Target="../embeddings/oleObject243.bin"/><Relationship Id="rId4" Type="http://schemas.openxmlformats.org/officeDocument/2006/relationships/image" Target="../media/image294.emf"/><Relationship Id="rId9" Type="http://schemas.openxmlformats.org/officeDocument/2006/relationships/oleObject" Target="../embeddings/oleObject232.bin"/><Relationship Id="rId14" Type="http://schemas.openxmlformats.org/officeDocument/2006/relationships/image" Target="../media/image299.emf"/><Relationship Id="rId22" Type="http://schemas.openxmlformats.org/officeDocument/2006/relationships/image" Target="../media/image303.emf"/><Relationship Id="rId27" Type="http://schemas.openxmlformats.org/officeDocument/2006/relationships/oleObject" Target="../embeddings/oleObject241.bin"/><Relationship Id="rId30" Type="http://schemas.openxmlformats.org/officeDocument/2006/relationships/image" Target="../media/image307.emf"/><Relationship Id="rId8" Type="http://schemas.openxmlformats.org/officeDocument/2006/relationships/image" Target="../media/image296.emf"/></Relationships>
</file>

<file path=ppt/slides/_rels/slide61.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image" Target="../media/image310.png"/><Relationship Id="rId1" Type="http://schemas.openxmlformats.org/officeDocument/2006/relationships/slideLayout" Target="../slideLayouts/slideLayout7.xml"/><Relationship Id="rId4" Type="http://schemas.openxmlformats.org/officeDocument/2006/relationships/image" Target="../media/image312.png"/></Relationships>
</file>

<file path=ppt/slides/_rels/slide62.xml.rels><?xml version="1.0" encoding="UTF-8" standalone="yes"?>
<Relationships xmlns="http://schemas.openxmlformats.org/package/2006/relationships"><Relationship Id="rId3" Type="http://schemas.openxmlformats.org/officeDocument/2006/relationships/image" Target="../media/image314.png"/><Relationship Id="rId2" Type="http://schemas.openxmlformats.org/officeDocument/2006/relationships/image" Target="../media/image313.png"/><Relationship Id="rId1" Type="http://schemas.openxmlformats.org/officeDocument/2006/relationships/slideLayout" Target="../slideLayouts/slideLayout7.xml"/><Relationship Id="rId4" Type="http://schemas.openxmlformats.org/officeDocument/2006/relationships/image" Target="../media/image315.png"/></Relationships>
</file>

<file path=ppt/slides/_rels/slide63.xml.rels><?xml version="1.0" encoding="UTF-8" standalone="yes"?>
<Relationships xmlns="http://schemas.openxmlformats.org/package/2006/relationships"><Relationship Id="rId3" Type="http://schemas.openxmlformats.org/officeDocument/2006/relationships/image" Target="../media/image317.png"/><Relationship Id="rId2" Type="http://schemas.openxmlformats.org/officeDocument/2006/relationships/image" Target="../media/image31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19.png"/><Relationship Id="rId7" Type="http://schemas.openxmlformats.org/officeDocument/2006/relationships/image" Target="../media/image323.png"/><Relationship Id="rId2" Type="http://schemas.openxmlformats.org/officeDocument/2006/relationships/image" Target="../media/image318.png"/><Relationship Id="rId1" Type="http://schemas.openxmlformats.org/officeDocument/2006/relationships/slideLayout" Target="../slideLayouts/slideLayout7.xml"/><Relationship Id="rId6" Type="http://schemas.openxmlformats.org/officeDocument/2006/relationships/image" Target="../media/image322.png"/><Relationship Id="rId5" Type="http://schemas.openxmlformats.org/officeDocument/2006/relationships/image" Target="../media/image321.png"/><Relationship Id="rId4" Type="http://schemas.openxmlformats.org/officeDocument/2006/relationships/image" Target="../media/image320.png"/></Relationships>
</file>

<file path=ppt/slides/_rels/slide65.xml.rels><?xml version="1.0" encoding="UTF-8" standalone="yes"?>
<Relationships xmlns="http://schemas.openxmlformats.org/package/2006/relationships"><Relationship Id="rId8" Type="http://schemas.openxmlformats.org/officeDocument/2006/relationships/image" Target="../media/image326.emf"/><Relationship Id="rId3" Type="http://schemas.openxmlformats.org/officeDocument/2006/relationships/oleObject" Target="../embeddings/oleObject245.bin"/><Relationship Id="rId7" Type="http://schemas.openxmlformats.org/officeDocument/2006/relationships/oleObject" Target="../embeddings/oleObject247.bin"/><Relationship Id="rId2" Type="http://schemas.openxmlformats.org/officeDocument/2006/relationships/slideLayout" Target="../slideLayouts/slideLayout13.xml"/><Relationship Id="rId1" Type="http://schemas.openxmlformats.org/officeDocument/2006/relationships/vmlDrawing" Target="../drawings/vmlDrawing41.vml"/><Relationship Id="rId6" Type="http://schemas.openxmlformats.org/officeDocument/2006/relationships/image" Target="../media/image325.emf"/><Relationship Id="rId5" Type="http://schemas.openxmlformats.org/officeDocument/2006/relationships/oleObject" Target="../embeddings/oleObject246.bin"/><Relationship Id="rId4" Type="http://schemas.openxmlformats.org/officeDocument/2006/relationships/image" Target="../media/image324.emf"/></Relationships>
</file>

<file path=ppt/slides/_rels/slide66.xml.rels><?xml version="1.0" encoding="UTF-8" standalone="yes"?>
<Relationships xmlns="http://schemas.openxmlformats.org/package/2006/relationships"><Relationship Id="rId8" Type="http://schemas.openxmlformats.org/officeDocument/2006/relationships/image" Target="../media/image329.emf"/><Relationship Id="rId13" Type="http://schemas.openxmlformats.org/officeDocument/2006/relationships/oleObject" Target="../embeddings/oleObject253.bin"/><Relationship Id="rId18" Type="http://schemas.openxmlformats.org/officeDocument/2006/relationships/image" Target="../media/image326.emf"/><Relationship Id="rId3" Type="http://schemas.openxmlformats.org/officeDocument/2006/relationships/oleObject" Target="../embeddings/oleObject248.bin"/><Relationship Id="rId7" Type="http://schemas.openxmlformats.org/officeDocument/2006/relationships/oleObject" Target="../embeddings/oleObject250.bin"/><Relationship Id="rId12" Type="http://schemas.openxmlformats.org/officeDocument/2006/relationships/image" Target="../media/image331.emf"/><Relationship Id="rId17" Type="http://schemas.openxmlformats.org/officeDocument/2006/relationships/oleObject" Target="../embeddings/oleObject255.bin"/><Relationship Id="rId2" Type="http://schemas.openxmlformats.org/officeDocument/2006/relationships/slideLayout" Target="../slideLayouts/slideLayout4.xml"/><Relationship Id="rId16" Type="http://schemas.openxmlformats.org/officeDocument/2006/relationships/image" Target="../media/image333.emf"/><Relationship Id="rId1" Type="http://schemas.openxmlformats.org/officeDocument/2006/relationships/vmlDrawing" Target="../drawings/vmlDrawing42.vml"/><Relationship Id="rId6" Type="http://schemas.openxmlformats.org/officeDocument/2006/relationships/image" Target="../media/image328.emf"/><Relationship Id="rId11" Type="http://schemas.openxmlformats.org/officeDocument/2006/relationships/oleObject" Target="../embeddings/oleObject252.bin"/><Relationship Id="rId5" Type="http://schemas.openxmlformats.org/officeDocument/2006/relationships/oleObject" Target="../embeddings/oleObject249.bin"/><Relationship Id="rId15" Type="http://schemas.openxmlformats.org/officeDocument/2006/relationships/oleObject" Target="../embeddings/oleObject254.bin"/><Relationship Id="rId10" Type="http://schemas.openxmlformats.org/officeDocument/2006/relationships/image" Target="../media/image330.emf"/><Relationship Id="rId4" Type="http://schemas.openxmlformats.org/officeDocument/2006/relationships/image" Target="../media/image327.emf"/><Relationship Id="rId9" Type="http://schemas.openxmlformats.org/officeDocument/2006/relationships/oleObject" Target="../embeddings/oleObject251.bin"/><Relationship Id="rId14" Type="http://schemas.openxmlformats.org/officeDocument/2006/relationships/image" Target="../media/image332.emf"/></Relationships>
</file>

<file path=ppt/slides/_rels/slide67.xml.rels><?xml version="1.0" encoding="UTF-8" standalone="yes"?>
<Relationships xmlns="http://schemas.openxmlformats.org/package/2006/relationships"><Relationship Id="rId8" Type="http://schemas.openxmlformats.org/officeDocument/2006/relationships/image" Target="../media/image336.emf"/><Relationship Id="rId13" Type="http://schemas.openxmlformats.org/officeDocument/2006/relationships/oleObject" Target="../embeddings/oleObject261.bin"/><Relationship Id="rId18" Type="http://schemas.openxmlformats.org/officeDocument/2006/relationships/image" Target="../media/image341.emf"/><Relationship Id="rId26" Type="http://schemas.openxmlformats.org/officeDocument/2006/relationships/image" Target="../media/image345.emf"/><Relationship Id="rId3" Type="http://schemas.openxmlformats.org/officeDocument/2006/relationships/oleObject" Target="../embeddings/oleObject256.bin"/><Relationship Id="rId21" Type="http://schemas.openxmlformats.org/officeDocument/2006/relationships/oleObject" Target="../embeddings/oleObject265.bin"/><Relationship Id="rId7" Type="http://schemas.openxmlformats.org/officeDocument/2006/relationships/oleObject" Target="../embeddings/oleObject258.bin"/><Relationship Id="rId12" Type="http://schemas.openxmlformats.org/officeDocument/2006/relationships/image" Target="../media/image338.emf"/><Relationship Id="rId17" Type="http://schemas.openxmlformats.org/officeDocument/2006/relationships/oleObject" Target="../embeddings/oleObject263.bin"/><Relationship Id="rId25" Type="http://schemas.openxmlformats.org/officeDocument/2006/relationships/oleObject" Target="../embeddings/oleObject267.bin"/><Relationship Id="rId2" Type="http://schemas.openxmlformats.org/officeDocument/2006/relationships/slideLayout" Target="../slideLayouts/slideLayout7.xml"/><Relationship Id="rId16" Type="http://schemas.openxmlformats.org/officeDocument/2006/relationships/image" Target="../media/image340.emf"/><Relationship Id="rId20" Type="http://schemas.openxmlformats.org/officeDocument/2006/relationships/image" Target="../media/image342.emf"/><Relationship Id="rId29" Type="http://schemas.openxmlformats.org/officeDocument/2006/relationships/oleObject" Target="../embeddings/oleObject269.bin"/><Relationship Id="rId1" Type="http://schemas.openxmlformats.org/officeDocument/2006/relationships/vmlDrawing" Target="../drawings/vmlDrawing43.vml"/><Relationship Id="rId6" Type="http://schemas.openxmlformats.org/officeDocument/2006/relationships/image" Target="../media/image335.emf"/><Relationship Id="rId11" Type="http://schemas.openxmlformats.org/officeDocument/2006/relationships/oleObject" Target="../embeddings/oleObject260.bin"/><Relationship Id="rId24" Type="http://schemas.openxmlformats.org/officeDocument/2006/relationships/image" Target="../media/image344.emf"/><Relationship Id="rId32" Type="http://schemas.openxmlformats.org/officeDocument/2006/relationships/image" Target="../media/image348.emf"/><Relationship Id="rId5" Type="http://schemas.openxmlformats.org/officeDocument/2006/relationships/oleObject" Target="../embeddings/oleObject257.bin"/><Relationship Id="rId15" Type="http://schemas.openxmlformats.org/officeDocument/2006/relationships/oleObject" Target="../embeddings/oleObject262.bin"/><Relationship Id="rId23" Type="http://schemas.openxmlformats.org/officeDocument/2006/relationships/oleObject" Target="../embeddings/oleObject266.bin"/><Relationship Id="rId28" Type="http://schemas.openxmlformats.org/officeDocument/2006/relationships/image" Target="../media/image346.emf"/><Relationship Id="rId10" Type="http://schemas.openxmlformats.org/officeDocument/2006/relationships/image" Target="../media/image337.emf"/><Relationship Id="rId19" Type="http://schemas.openxmlformats.org/officeDocument/2006/relationships/oleObject" Target="../embeddings/oleObject264.bin"/><Relationship Id="rId31" Type="http://schemas.openxmlformats.org/officeDocument/2006/relationships/oleObject" Target="../embeddings/oleObject270.bin"/><Relationship Id="rId4" Type="http://schemas.openxmlformats.org/officeDocument/2006/relationships/image" Target="../media/image334.emf"/><Relationship Id="rId9" Type="http://schemas.openxmlformats.org/officeDocument/2006/relationships/oleObject" Target="../embeddings/oleObject259.bin"/><Relationship Id="rId14" Type="http://schemas.openxmlformats.org/officeDocument/2006/relationships/image" Target="../media/image339.emf"/><Relationship Id="rId22" Type="http://schemas.openxmlformats.org/officeDocument/2006/relationships/image" Target="../media/image343.emf"/><Relationship Id="rId27" Type="http://schemas.openxmlformats.org/officeDocument/2006/relationships/oleObject" Target="../embeddings/oleObject268.bin"/><Relationship Id="rId30" Type="http://schemas.openxmlformats.org/officeDocument/2006/relationships/image" Target="../media/image347.emf"/></Relationships>
</file>

<file path=ppt/slides/_rels/slide68.xml.rels><?xml version="1.0" encoding="UTF-8" standalone="yes"?>
<Relationships xmlns="http://schemas.openxmlformats.org/package/2006/relationships"><Relationship Id="rId8" Type="http://schemas.openxmlformats.org/officeDocument/2006/relationships/image" Target="../media/image351.emf"/><Relationship Id="rId13" Type="http://schemas.openxmlformats.org/officeDocument/2006/relationships/oleObject" Target="../embeddings/oleObject276.bin"/><Relationship Id="rId18" Type="http://schemas.openxmlformats.org/officeDocument/2006/relationships/image" Target="../media/image356.emf"/><Relationship Id="rId26" Type="http://schemas.openxmlformats.org/officeDocument/2006/relationships/image" Target="../media/image360.emf"/><Relationship Id="rId3" Type="http://schemas.openxmlformats.org/officeDocument/2006/relationships/oleObject" Target="../embeddings/oleObject271.bin"/><Relationship Id="rId21" Type="http://schemas.openxmlformats.org/officeDocument/2006/relationships/oleObject" Target="../embeddings/oleObject280.bin"/><Relationship Id="rId7" Type="http://schemas.openxmlformats.org/officeDocument/2006/relationships/oleObject" Target="../embeddings/oleObject273.bin"/><Relationship Id="rId12" Type="http://schemas.openxmlformats.org/officeDocument/2006/relationships/image" Target="../media/image353.emf"/><Relationship Id="rId17" Type="http://schemas.openxmlformats.org/officeDocument/2006/relationships/oleObject" Target="../embeddings/oleObject278.bin"/><Relationship Id="rId25" Type="http://schemas.openxmlformats.org/officeDocument/2006/relationships/oleObject" Target="../embeddings/oleObject282.bin"/><Relationship Id="rId2" Type="http://schemas.openxmlformats.org/officeDocument/2006/relationships/slideLayout" Target="../slideLayouts/slideLayout7.xml"/><Relationship Id="rId16" Type="http://schemas.openxmlformats.org/officeDocument/2006/relationships/image" Target="../media/image355.emf"/><Relationship Id="rId20" Type="http://schemas.openxmlformats.org/officeDocument/2006/relationships/image" Target="../media/image357.emf"/><Relationship Id="rId1" Type="http://schemas.openxmlformats.org/officeDocument/2006/relationships/vmlDrawing" Target="../drawings/vmlDrawing44.vml"/><Relationship Id="rId6" Type="http://schemas.openxmlformats.org/officeDocument/2006/relationships/image" Target="../media/image350.emf"/><Relationship Id="rId11" Type="http://schemas.openxmlformats.org/officeDocument/2006/relationships/oleObject" Target="../embeddings/oleObject275.bin"/><Relationship Id="rId24" Type="http://schemas.openxmlformats.org/officeDocument/2006/relationships/image" Target="../media/image359.emf"/><Relationship Id="rId5" Type="http://schemas.openxmlformats.org/officeDocument/2006/relationships/oleObject" Target="../embeddings/oleObject272.bin"/><Relationship Id="rId15" Type="http://schemas.openxmlformats.org/officeDocument/2006/relationships/oleObject" Target="../embeddings/oleObject277.bin"/><Relationship Id="rId23" Type="http://schemas.openxmlformats.org/officeDocument/2006/relationships/oleObject" Target="../embeddings/oleObject281.bin"/><Relationship Id="rId28" Type="http://schemas.openxmlformats.org/officeDocument/2006/relationships/image" Target="../media/image361.emf"/><Relationship Id="rId10" Type="http://schemas.openxmlformats.org/officeDocument/2006/relationships/image" Target="../media/image352.emf"/><Relationship Id="rId19" Type="http://schemas.openxmlformats.org/officeDocument/2006/relationships/oleObject" Target="../embeddings/oleObject279.bin"/><Relationship Id="rId4" Type="http://schemas.openxmlformats.org/officeDocument/2006/relationships/image" Target="../media/image349.emf"/><Relationship Id="rId9" Type="http://schemas.openxmlformats.org/officeDocument/2006/relationships/oleObject" Target="../embeddings/oleObject274.bin"/><Relationship Id="rId14" Type="http://schemas.openxmlformats.org/officeDocument/2006/relationships/image" Target="../media/image354.emf"/><Relationship Id="rId22" Type="http://schemas.openxmlformats.org/officeDocument/2006/relationships/image" Target="../media/image358.emf"/><Relationship Id="rId27" Type="http://schemas.openxmlformats.org/officeDocument/2006/relationships/oleObject" Target="../embeddings/oleObject283.bin"/></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284.bin"/><Relationship Id="rId2" Type="http://schemas.openxmlformats.org/officeDocument/2006/relationships/slideLayout" Target="../slideLayouts/slideLayout7.xml"/><Relationship Id="rId1" Type="http://schemas.openxmlformats.org/officeDocument/2006/relationships/vmlDrawing" Target="../drawings/vmlDrawing45.vml"/><Relationship Id="rId5" Type="http://schemas.openxmlformats.org/officeDocument/2006/relationships/image" Target="../media/image363.png"/><Relationship Id="rId4" Type="http://schemas.openxmlformats.org/officeDocument/2006/relationships/image" Target="../media/image36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EAA665A3-4AB6-44B1-8016-8D3E0656CCA8}"/>
              </a:ext>
            </a:extLst>
          </p:cNvPr>
          <p:cNvPicPr>
            <a:picLocks noChangeAspect="1"/>
          </p:cNvPicPr>
          <p:nvPr/>
        </p:nvPicPr>
        <p:blipFill>
          <a:blip r:embed="rId2"/>
          <a:stretch>
            <a:fillRect/>
          </a:stretch>
        </p:blipFill>
        <p:spPr>
          <a:xfrm>
            <a:off x="508864" y="116632"/>
            <a:ext cx="8126272" cy="5472608"/>
          </a:xfrm>
          <a:prstGeom prst="rect">
            <a:avLst/>
          </a:prstGeom>
        </p:spPr>
      </p:pic>
      <p:pic>
        <p:nvPicPr>
          <p:cNvPr id="16" name="图片 15">
            <a:extLst>
              <a:ext uri="{FF2B5EF4-FFF2-40B4-BE49-F238E27FC236}">
                <a16:creationId xmlns:a16="http://schemas.microsoft.com/office/drawing/2014/main" id="{883B8A11-4F14-4D38-8F3E-BC0F44E37436}"/>
              </a:ext>
            </a:extLst>
          </p:cNvPr>
          <p:cNvPicPr>
            <a:picLocks noChangeAspect="1"/>
          </p:cNvPicPr>
          <p:nvPr/>
        </p:nvPicPr>
        <p:blipFill>
          <a:blip r:embed="rId3"/>
          <a:stretch>
            <a:fillRect/>
          </a:stretch>
        </p:blipFill>
        <p:spPr>
          <a:xfrm>
            <a:off x="1547664" y="5605336"/>
            <a:ext cx="6300700" cy="1067191"/>
          </a:xfrm>
          <a:prstGeom prst="rect">
            <a:avLst/>
          </a:prstGeom>
        </p:spPr>
      </p:pic>
    </p:spTree>
    <p:extLst>
      <p:ext uri="{BB962C8B-B14F-4D97-AF65-F5344CB8AC3E}">
        <p14:creationId xmlns:p14="http://schemas.microsoft.com/office/powerpoint/2010/main" val="589171763"/>
      </p:ext>
    </p:extLst>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F2DF272-38F4-490F-9963-6B2264583784}"/>
              </a:ext>
            </a:extLst>
          </p:cNvPr>
          <p:cNvPicPr>
            <a:picLocks noChangeAspect="1"/>
          </p:cNvPicPr>
          <p:nvPr/>
        </p:nvPicPr>
        <p:blipFill>
          <a:blip r:embed="rId2"/>
          <a:stretch>
            <a:fillRect/>
          </a:stretch>
        </p:blipFill>
        <p:spPr>
          <a:xfrm>
            <a:off x="362476" y="500428"/>
            <a:ext cx="8419048" cy="5857143"/>
          </a:xfrm>
          <a:prstGeom prst="rect">
            <a:avLst/>
          </a:prstGeom>
        </p:spPr>
      </p:pic>
    </p:spTree>
    <p:extLst>
      <p:ext uri="{BB962C8B-B14F-4D97-AF65-F5344CB8AC3E}">
        <p14:creationId xmlns:p14="http://schemas.microsoft.com/office/powerpoint/2010/main" val="1076627712"/>
      </p:ext>
    </p:extLst>
  </p:cSld>
  <p:clrMapOvr>
    <a:masterClrMapping/>
  </p:clrMapOvr>
  <p:transition spd="slow">
    <p:wipe dir="d"/>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801688" y="836613"/>
            <a:ext cx="7172325"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ts val="0"/>
              </a:spcBef>
              <a:defRPr/>
            </a:pPr>
            <a:r>
              <a:rPr kumimoji="1" lang="zh-CN" altLang="en-US" sz="5000" b="1" dirty="0">
                <a:solidFill>
                  <a:srgbClr val="FF3300"/>
                </a:solidFill>
                <a:effectLst>
                  <a:outerShdw blurRad="38100" dist="38100" dir="2700000" algn="tl">
                    <a:srgbClr val="000000"/>
                  </a:outerShdw>
                </a:effectLst>
                <a:latin typeface="隶书" pitchFamily="49" charset="-122"/>
                <a:ea typeface="隶书" pitchFamily="49" charset="-122"/>
              </a:rPr>
              <a:t>第</a:t>
            </a:r>
            <a:r>
              <a:rPr kumimoji="1" lang="en-US" altLang="zh-CN" sz="5000" b="1" dirty="0">
                <a:solidFill>
                  <a:srgbClr val="FF3300"/>
                </a:solidFill>
                <a:effectLst>
                  <a:outerShdw blurRad="38100" dist="38100" dir="2700000" algn="tl">
                    <a:srgbClr val="000000"/>
                  </a:outerShdw>
                </a:effectLst>
                <a:latin typeface="隶书" pitchFamily="49" charset="-122"/>
                <a:ea typeface="隶书" pitchFamily="49" charset="-122"/>
              </a:rPr>
              <a:t>6</a:t>
            </a:r>
            <a:r>
              <a:rPr kumimoji="1" lang="zh-CN" altLang="en-US" sz="5000" b="1" dirty="0">
                <a:solidFill>
                  <a:srgbClr val="FF3300"/>
                </a:solidFill>
                <a:effectLst>
                  <a:outerShdw blurRad="38100" dist="38100" dir="2700000" algn="tl">
                    <a:srgbClr val="000000"/>
                  </a:outerShdw>
                </a:effectLst>
                <a:latin typeface="隶书" pitchFamily="49" charset="-122"/>
                <a:ea typeface="隶书" pitchFamily="49" charset="-122"/>
              </a:rPr>
              <a:t>章 刚体力学</a:t>
            </a:r>
            <a:endParaRPr kumimoji="1" lang="en-US" altLang="zh-CN" sz="5000" b="1" dirty="0">
              <a:solidFill>
                <a:srgbClr val="FF3300"/>
              </a:solidFill>
              <a:effectLst>
                <a:outerShdw blurRad="38100" dist="38100" dir="2700000" algn="tl">
                  <a:srgbClr val="000000"/>
                </a:outerShdw>
              </a:effectLst>
              <a:latin typeface="隶书" pitchFamily="49" charset="-122"/>
              <a:ea typeface="隶书" pitchFamily="49" charset="-122"/>
            </a:endParaRPr>
          </a:p>
        </p:txBody>
      </p:sp>
      <p:sp>
        <p:nvSpPr>
          <p:cNvPr id="2051" name="Text Box 10"/>
          <p:cNvSpPr txBox="1">
            <a:spLocks noChangeArrowheads="1"/>
          </p:cNvSpPr>
          <p:nvPr/>
        </p:nvSpPr>
        <p:spPr bwMode="auto">
          <a:xfrm>
            <a:off x="1547664" y="2228081"/>
            <a:ext cx="51054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800" b="1" dirty="0">
                <a:solidFill>
                  <a:srgbClr val="FFFF66"/>
                </a:solidFill>
                <a:latin typeface="Times New Roman" pitchFamily="18" charset="0"/>
              </a:rPr>
              <a:t>6.1 </a:t>
            </a:r>
            <a:r>
              <a:rPr kumimoji="1" lang="zh-CN" altLang="en-US" sz="2800" b="1" dirty="0">
                <a:solidFill>
                  <a:srgbClr val="FFFF66"/>
                </a:solidFill>
                <a:latin typeface="Times New Roman" pitchFamily="18" charset="0"/>
              </a:rPr>
              <a:t>刚体运动的描述</a:t>
            </a:r>
          </a:p>
        </p:txBody>
      </p:sp>
      <p:sp>
        <p:nvSpPr>
          <p:cNvPr id="2052" name="Text Box 11"/>
          <p:cNvSpPr txBox="1">
            <a:spLocks noChangeArrowheads="1"/>
          </p:cNvSpPr>
          <p:nvPr/>
        </p:nvSpPr>
        <p:spPr bwMode="auto">
          <a:xfrm>
            <a:off x="1547664" y="2796406"/>
            <a:ext cx="6911975"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800" b="1" dirty="0">
                <a:solidFill>
                  <a:srgbClr val="FFFF66"/>
                </a:solidFill>
                <a:latin typeface="Times New Roman" pitchFamily="18" charset="0"/>
              </a:rPr>
              <a:t>6.2 </a:t>
            </a:r>
            <a:r>
              <a:rPr kumimoji="1" lang="zh-CN" altLang="en-US" sz="2800" b="1" dirty="0">
                <a:solidFill>
                  <a:srgbClr val="FFFF66"/>
                </a:solidFill>
                <a:latin typeface="Times New Roman" pitchFamily="18" charset="0"/>
              </a:rPr>
              <a:t>刚体绕定轴转动的转动定律</a:t>
            </a:r>
          </a:p>
        </p:txBody>
      </p:sp>
      <p:sp>
        <p:nvSpPr>
          <p:cNvPr id="2053" name="Text Box 12"/>
          <p:cNvSpPr txBox="1">
            <a:spLocks noChangeArrowheads="1"/>
          </p:cNvSpPr>
          <p:nvPr/>
        </p:nvSpPr>
        <p:spPr bwMode="auto">
          <a:xfrm>
            <a:off x="1547664" y="3364731"/>
            <a:ext cx="6911975"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800" b="1" dirty="0">
                <a:solidFill>
                  <a:srgbClr val="FFFF66"/>
                </a:solidFill>
                <a:latin typeface="Times New Roman" pitchFamily="18" charset="0"/>
              </a:rPr>
              <a:t>6.3 </a:t>
            </a:r>
            <a:r>
              <a:rPr kumimoji="1" lang="zh-CN" altLang="en-US" sz="2800" b="1" dirty="0">
                <a:solidFill>
                  <a:srgbClr val="FFFF66"/>
                </a:solidFill>
                <a:latin typeface="Times New Roman" pitchFamily="18" charset="0"/>
              </a:rPr>
              <a:t>绕定轴转动刚体的动能 </a:t>
            </a:r>
          </a:p>
        </p:txBody>
      </p:sp>
      <p:sp>
        <p:nvSpPr>
          <p:cNvPr id="2054" name="Text Box 13"/>
          <p:cNvSpPr txBox="1">
            <a:spLocks noChangeArrowheads="1"/>
          </p:cNvSpPr>
          <p:nvPr/>
        </p:nvSpPr>
        <p:spPr bwMode="auto">
          <a:xfrm>
            <a:off x="1547664" y="3933056"/>
            <a:ext cx="6911975"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800" b="1" dirty="0">
                <a:solidFill>
                  <a:srgbClr val="FFFF66"/>
                </a:solidFill>
                <a:latin typeface="Times New Roman" pitchFamily="18" charset="0"/>
              </a:rPr>
              <a:t>6.4 </a:t>
            </a:r>
            <a:r>
              <a:rPr kumimoji="1" lang="zh-CN" altLang="en-US" sz="2800" b="1" dirty="0">
                <a:solidFill>
                  <a:srgbClr val="FFFF66"/>
                </a:solidFill>
                <a:latin typeface="Times New Roman" pitchFamily="18" charset="0"/>
              </a:rPr>
              <a:t>刚体的动量矩和动量矩守恒定律</a:t>
            </a:r>
          </a:p>
        </p:txBody>
      </p:sp>
    </p:spTree>
  </p:cSld>
  <p:clrMapOvr>
    <a:masterClrMapping/>
  </p:clrMapOvr>
  <p:transition spd="slow">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258763" y="1052513"/>
            <a:ext cx="8345487" cy="517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5000"/>
              </a:lnSpc>
              <a:defRPr/>
            </a:pPr>
            <a:r>
              <a:rPr lang="zh-CN" altLang="en-US" sz="2400" b="1" dirty="0">
                <a:solidFill>
                  <a:srgbClr val="FFC000"/>
                </a:solidFill>
              </a:rPr>
              <a:t>一、</a:t>
            </a:r>
            <a:r>
              <a:rPr lang="zh-CN" altLang="zh-CN" sz="2400" b="1" dirty="0">
                <a:solidFill>
                  <a:srgbClr val="FFC000"/>
                </a:solidFill>
              </a:rPr>
              <a:t>刚体和自由度的概念</a:t>
            </a:r>
          </a:p>
          <a:p>
            <a:pPr marL="457200" indent="-457200">
              <a:lnSpc>
                <a:spcPct val="125000"/>
              </a:lnSpc>
              <a:buFont typeface="Arial" panose="020B0604020202020204" pitchFamily="34" charset="0"/>
              <a:buChar char="•"/>
              <a:defRPr/>
            </a:pPr>
            <a:r>
              <a:rPr lang="zh-CN" altLang="en-US" sz="2400" b="1" dirty="0">
                <a:solidFill>
                  <a:schemeClr val="bg1"/>
                </a:solidFill>
              </a:rPr>
              <a:t>如果需要研究物体的转动，就不能忽略它的形状和大小而把它简化为质点来处理。但如果物体的形状和转动不能忽略，而形变可以忽略。我们就得到实际物体的另外一个抽象的质点组</a:t>
            </a:r>
            <a:r>
              <a:rPr lang="en-US" altLang="zh-CN" sz="2400" b="1" dirty="0">
                <a:solidFill>
                  <a:schemeClr val="bg1"/>
                </a:solidFill>
              </a:rPr>
              <a:t>——</a:t>
            </a:r>
            <a:r>
              <a:rPr lang="zh-CN" altLang="en-US" sz="2400" b="1" dirty="0">
                <a:solidFill>
                  <a:schemeClr val="bg1"/>
                </a:solidFill>
              </a:rPr>
              <a:t>刚体</a:t>
            </a:r>
            <a:r>
              <a:rPr lang="en-US" altLang="zh-CN" sz="2400" b="1" dirty="0">
                <a:solidFill>
                  <a:schemeClr val="bg1"/>
                </a:solidFill>
              </a:rPr>
              <a:t>(rigid body)</a:t>
            </a:r>
            <a:r>
              <a:rPr lang="zh-CN" altLang="en-US" sz="2400" b="1" dirty="0">
                <a:solidFill>
                  <a:schemeClr val="bg1"/>
                </a:solidFill>
              </a:rPr>
              <a:t>，即形状和大小完全不变的物体。</a:t>
            </a:r>
            <a:endParaRPr lang="en-US" altLang="zh-CN" sz="2400" b="1" dirty="0">
              <a:solidFill>
                <a:schemeClr val="bg1"/>
              </a:solidFill>
            </a:endParaRPr>
          </a:p>
          <a:p>
            <a:pPr marL="342900" indent="-342900">
              <a:lnSpc>
                <a:spcPct val="125000"/>
              </a:lnSpc>
              <a:buFont typeface="Arial" panose="020B0604020202020204" pitchFamily="34" charset="0"/>
              <a:buChar char="•"/>
              <a:defRPr/>
            </a:pPr>
            <a:r>
              <a:rPr lang="zh-CN" altLang="en-US" sz="2400" b="1" dirty="0">
                <a:solidFill>
                  <a:schemeClr val="bg1"/>
                </a:solidFill>
              </a:rPr>
              <a:t>刚体是组内任意两质点间的距离保持不变的质点组。 </a:t>
            </a:r>
            <a:endParaRPr lang="en-US" altLang="zh-CN" sz="2400" b="1" dirty="0">
              <a:solidFill>
                <a:schemeClr val="bg1"/>
              </a:solidFill>
            </a:endParaRPr>
          </a:p>
          <a:p>
            <a:pPr marL="342900" indent="-342900">
              <a:lnSpc>
                <a:spcPct val="125000"/>
              </a:lnSpc>
              <a:buFont typeface="Arial" panose="020B0604020202020204" pitchFamily="34" charset="0"/>
              <a:buChar char="•"/>
              <a:defRPr/>
            </a:pPr>
            <a:r>
              <a:rPr lang="zh-CN" altLang="zh-CN" sz="2400" b="1" dirty="0">
                <a:solidFill>
                  <a:schemeClr val="bg1"/>
                </a:solidFill>
              </a:rPr>
              <a:t>刚体和质点都是对实际物体的</a:t>
            </a:r>
            <a:r>
              <a:rPr lang="zh-CN" altLang="zh-CN" sz="2400" b="1" dirty="0">
                <a:solidFill>
                  <a:srgbClr val="FFC000"/>
                </a:solidFill>
              </a:rPr>
              <a:t>抽象</a:t>
            </a:r>
            <a:r>
              <a:rPr lang="zh-CN" altLang="zh-CN" sz="2400" b="1" dirty="0">
                <a:solidFill>
                  <a:schemeClr val="bg1"/>
                </a:solidFill>
              </a:rPr>
              <a:t>。刚体考虑了物体的</a:t>
            </a:r>
            <a:r>
              <a:rPr lang="zh-CN" altLang="zh-CN" sz="2400" b="1" dirty="0">
                <a:solidFill>
                  <a:srgbClr val="FFC000"/>
                </a:solidFill>
              </a:rPr>
              <a:t>体积效应</a:t>
            </a:r>
            <a:r>
              <a:rPr lang="zh-CN" altLang="zh-CN" sz="2400" b="1" dirty="0">
                <a:solidFill>
                  <a:schemeClr val="bg1"/>
                </a:solidFill>
              </a:rPr>
              <a:t>，但忽略了物体的形变。与质点相比，刚体更加接近实际物体。</a:t>
            </a:r>
            <a:endParaRPr lang="en-US" altLang="zh-CN" sz="2400" b="1" dirty="0">
              <a:solidFill>
                <a:schemeClr val="bg1"/>
              </a:solidFill>
            </a:endParaRPr>
          </a:p>
          <a:p>
            <a:pPr>
              <a:lnSpc>
                <a:spcPct val="125000"/>
              </a:lnSpc>
              <a:defRPr/>
            </a:pPr>
            <a:endParaRPr lang="zh-CN" altLang="zh-CN" sz="2400" b="1" dirty="0">
              <a:solidFill>
                <a:schemeClr val="bg1"/>
              </a:solidFill>
            </a:endParaRPr>
          </a:p>
        </p:txBody>
      </p:sp>
      <p:sp>
        <p:nvSpPr>
          <p:cNvPr id="3075" name="Rectangle 2"/>
          <p:cNvSpPr>
            <a:spLocks noChangeArrowheads="1"/>
          </p:cNvSpPr>
          <p:nvPr/>
        </p:nvSpPr>
        <p:spPr bwMode="auto">
          <a:xfrm>
            <a:off x="1547813" y="131763"/>
            <a:ext cx="56007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3200" b="1" dirty="0">
                <a:solidFill>
                  <a:srgbClr val="66FF33"/>
                </a:solidFill>
                <a:latin typeface="Times New Roman" pitchFamily="18" charset="0"/>
                <a:ea typeface="黑体" pitchFamily="49" charset="-122"/>
              </a:rPr>
              <a:t>6.1  </a:t>
            </a:r>
            <a:r>
              <a:rPr lang="zh-CN" altLang="en-US" sz="3200" b="1" dirty="0">
                <a:solidFill>
                  <a:srgbClr val="66FF33"/>
                </a:solidFill>
                <a:latin typeface="黑体" pitchFamily="49" charset="-122"/>
                <a:ea typeface="黑体" pitchFamily="49" charset="-122"/>
              </a:rPr>
              <a:t>刚体运动的描述</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179388" y="908050"/>
            <a:ext cx="5040312" cy="471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5000"/>
              </a:lnSpc>
            </a:pPr>
            <a:r>
              <a:rPr lang="zh-CN" altLang="zh-CN" sz="2400" b="1">
                <a:solidFill>
                  <a:srgbClr val="FFC000"/>
                </a:solidFill>
              </a:rPr>
              <a:t>自由度：</a:t>
            </a:r>
            <a:r>
              <a:rPr lang="zh-CN" altLang="zh-CN" sz="2400" b="1">
                <a:solidFill>
                  <a:srgbClr val="FFFFFF"/>
                </a:solidFill>
              </a:rPr>
              <a:t>确定一个物体的位置所需要的独立坐标数。</a:t>
            </a:r>
          </a:p>
          <a:p>
            <a:pPr>
              <a:lnSpc>
                <a:spcPct val="125000"/>
              </a:lnSpc>
            </a:pPr>
            <a:r>
              <a:rPr lang="zh-CN" altLang="zh-CN" sz="2400" b="1">
                <a:solidFill>
                  <a:srgbClr val="FFFFFF"/>
                </a:solidFill>
              </a:rPr>
              <a:t>质点的位置：</a:t>
            </a:r>
            <a:r>
              <a:rPr lang="en-US" altLang="zh-CN" sz="2400" b="1">
                <a:solidFill>
                  <a:srgbClr val="FFFFFF"/>
                </a:solidFill>
              </a:rPr>
              <a:t>x</a:t>
            </a:r>
            <a:r>
              <a:rPr lang="zh-CN" altLang="zh-CN" sz="2400" b="1">
                <a:solidFill>
                  <a:srgbClr val="FFFFFF"/>
                </a:solidFill>
              </a:rPr>
              <a:t>，</a:t>
            </a:r>
            <a:r>
              <a:rPr lang="en-US" altLang="zh-CN" sz="2400" b="1">
                <a:solidFill>
                  <a:srgbClr val="FFFFFF"/>
                </a:solidFill>
              </a:rPr>
              <a:t>y</a:t>
            </a:r>
            <a:r>
              <a:rPr lang="zh-CN" altLang="zh-CN" sz="2400" b="1">
                <a:solidFill>
                  <a:srgbClr val="FFFFFF"/>
                </a:solidFill>
              </a:rPr>
              <a:t>，</a:t>
            </a:r>
            <a:r>
              <a:rPr lang="en-US" altLang="zh-CN" sz="2400" b="1">
                <a:solidFill>
                  <a:srgbClr val="FFFFFF"/>
                </a:solidFill>
              </a:rPr>
              <a:t>z</a:t>
            </a:r>
            <a:r>
              <a:rPr lang="zh-CN" altLang="zh-CN" sz="2400" b="1">
                <a:solidFill>
                  <a:srgbClr val="FFFFFF"/>
                </a:solidFill>
              </a:rPr>
              <a:t>三个空间坐标，</a:t>
            </a:r>
            <a:r>
              <a:rPr lang="en-US" altLang="zh-CN" sz="2400" b="1">
                <a:solidFill>
                  <a:srgbClr val="FFFFFF"/>
                </a:solidFill>
              </a:rPr>
              <a:t>3</a:t>
            </a:r>
            <a:r>
              <a:rPr lang="zh-CN" altLang="zh-CN" sz="2400" b="1">
                <a:solidFill>
                  <a:srgbClr val="FFFFFF"/>
                </a:solidFill>
              </a:rPr>
              <a:t>个自由度。</a:t>
            </a:r>
          </a:p>
          <a:p>
            <a:pPr>
              <a:lnSpc>
                <a:spcPct val="125000"/>
              </a:lnSpc>
            </a:pPr>
            <a:r>
              <a:rPr lang="zh-CN" altLang="zh-CN" sz="2400" b="1">
                <a:solidFill>
                  <a:srgbClr val="FFFFFF"/>
                </a:solidFill>
              </a:rPr>
              <a:t>刚体的运动：</a:t>
            </a:r>
            <a:r>
              <a:rPr lang="zh-CN" altLang="zh-CN" sz="2400" b="1">
                <a:solidFill>
                  <a:srgbClr val="FFC000"/>
                </a:solidFill>
              </a:rPr>
              <a:t>任意点的平动</a:t>
            </a:r>
            <a:r>
              <a:rPr lang="zh-CN" altLang="zh-CN" sz="2400" b="1">
                <a:solidFill>
                  <a:srgbClr val="FFFFFF"/>
                </a:solidFill>
              </a:rPr>
              <a:t>＋</a:t>
            </a:r>
            <a:r>
              <a:rPr lang="zh-CN" altLang="zh-CN" sz="2400" b="1">
                <a:solidFill>
                  <a:srgbClr val="FFC000"/>
                </a:solidFill>
              </a:rPr>
              <a:t>绕该点的转动</a:t>
            </a:r>
          </a:p>
          <a:p>
            <a:pPr>
              <a:lnSpc>
                <a:spcPct val="125000"/>
              </a:lnSpc>
            </a:pPr>
            <a:r>
              <a:rPr lang="zh-CN" altLang="zh-CN" sz="2400" b="1">
                <a:solidFill>
                  <a:srgbClr val="FFFFFF"/>
                </a:solidFill>
              </a:rPr>
              <a:t>点的平动</a:t>
            </a:r>
            <a:r>
              <a:rPr lang="zh-CN" altLang="en-US" sz="2400" b="1">
                <a:solidFill>
                  <a:srgbClr val="FFFFFF"/>
                </a:solidFill>
              </a:rPr>
              <a:t>有</a:t>
            </a:r>
            <a:r>
              <a:rPr lang="en-US" altLang="zh-CN" sz="2400" b="1">
                <a:solidFill>
                  <a:srgbClr val="FFFFFF"/>
                </a:solidFill>
              </a:rPr>
              <a:t>3</a:t>
            </a:r>
            <a:r>
              <a:rPr lang="zh-CN" altLang="zh-CN" sz="2400" b="1">
                <a:solidFill>
                  <a:srgbClr val="FFFFFF"/>
                </a:solidFill>
              </a:rPr>
              <a:t>个自由度；</a:t>
            </a:r>
            <a:endParaRPr lang="en-US" altLang="zh-CN" sz="2400" b="1">
              <a:solidFill>
                <a:srgbClr val="FFFFFF"/>
              </a:solidFill>
            </a:endParaRPr>
          </a:p>
          <a:p>
            <a:pPr>
              <a:lnSpc>
                <a:spcPct val="125000"/>
              </a:lnSpc>
            </a:pPr>
            <a:r>
              <a:rPr lang="zh-CN" altLang="zh-CN" sz="2400" b="1">
                <a:solidFill>
                  <a:srgbClr val="FFFFFF"/>
                </a:solidFill>
              </a:rPr>
              <a:t>绕定点转动</a:t>
            </a:r>
            <a:r>
              <a:rPr lang="zh-CN" altLang="en-US" sz="2400" b="1">
                <a:solidFill>
                  <a:srgbClr val="FFFFFF"/>
                </a:solidFill>
              </a:rPr>
              <a:t>有</a:t>
            </a:r>
            <a:r>
              <a:rPr lang="en-US" altLang="zh-CN" sz="2400" b="1">
                <a:solidFill>
                  <a:srgbClr val="FFFFFF"/>
                </a:solidFill>
              </a:rPr>
              <a:t>3</a:t>
            </a:r>
            <a:r>
              <a:rPr lang="zh-CN" altLang="zh-CN" sz="2400" b="1">
                <a:solidFill>
                  <a:srgbClr val="FFFFFF"/>
                </a:solidFill>
              </a:rPr>
              <a:t>个自由度</a:t>
            </a:r>
            <a:r>
              <a:rPr lang="zh-CN" altLang="en-US" sz="2400" b="1">
                <a:solidFill>
                  <a:srgbClr val="FFFFFF"/>
                </a:solidFill>
              </a:rPr>
              <a:t>（三个方位角中的两个</a:t>
            </a:r>
            <a:r>
              <a:rPr lang="en-US" altLang="zh-CN" sz="2400" b="1">
                <a:solidFill>
                  <a:srgbClr val="FFFFFF"/>
                </a:solidFill>
              </a:rPr>
              <a:t>+</a:t>
            </a:r>
            <a:r>
              <a:rPr lang="zh-CN" altLang="en-US" sz="2400" b="1">
                <a:solidFill>
                  <a:srgbClr val="FFFFFF"/>
                </a:solidFill>
              </a:rPr>
              <a:t>绕转动轴转过的角度）；</a:t>
            </a:r>
            <a:endParaRPr lang="en-US" altLang="zh-CN" sz="2400" b="1">
              <a:solidFill>
                <a:srgbClr val="FFFFFF"/>
              </a:solidFill>
            </a:endParaRPr>
          </a:p>
          <a:p>
            <a:pPr>
              <a:lnSpc>
                <a:spcPct val="125000"/>
              </a:lnSpc>
            </a:pPr>
            <a:r>
              <a:rPr lang="zh-CN" altLang="en-US" sz="2400" b="1">
                <a:solidFill>
                  <a:srgbClr val="FFFFFF"/>
                </a:solidFill>
              </a:rPr>
              <a:t>因此，自由刚体一共</a:t>
            </a:r>
            <a:r>
              <a:rPr lang="en-US" altLang="zh-CN" sz="2400" b="1">
                <a:solidFill>
                  <a:srgbClr val="FFFFFF"/>
                </a:solidFill>
              </a:rPr>
              <a:t>6</a:t>
            </a:r>
            <a:r>
              <a:rPr lang="zh-CN" altLang="zh-CN" sz="2400" b="1">
                <a:solidFill>
                  <a:srgbClr val="FFFFFF"/>
                </a:solidFill>
              </a:rPr>
              <a:t>个自由度。</a:t>
            </a:r>
          </a:p>
        </p:txBody>
      </p:sp>
      <p:grpSp>
        <p:nvGrpSpPr>
          <p:cNvPr id="4" name="组合 3"/>
          <p:cNvGrpSpPr/>
          <p:nvPr/>
        </p:nvGrpSpPr>
        <p:grpSpPr>
          <a:xfrm>
            <a:off x="5608277" y="1471910"/>
            <a:ext cx="3120455" cy="3582392"/>
            <a:chOff x="5652119" y="1660945"/>
            <a:chExt cx="3120455" cy="3582392"/>
          </a:xfrm>
        </p:grpSpPr>
        <p:pic>
          <p:nvPicPr>
            <p:cNvPr id="798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119" y="1678930"/>
              <a:ext cx="3120455" cy="3550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3" name="TextBox 2"/>
                <p:cNvSpPr txBox="1"/>
                <p:nvPr/>
              </p:nvSpPr>
              <p:spPr>
                <a:xfrm>
                  <a:off x="5819464" y="4874005"/>
                  <a:ext cx="3792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a:rPr>
                          <m:t>𝒙</m:t>
                        </m:r>
                      </m:oMath>
                    </m:oMathPara>
                  </a14:m>
                  <a:endParaRPr lang="zh-CN" altLang="en-US" b="1"/>
                </a:p>
              </p:txBody>
            </p:sp>
          </mc:Choice>
          <mc:Fallback xmlns="">
            <p:sp>
              <p:nvSpPr>
                <p:cNvPr id="3" name="TextBox 2"/>
                <p:cNvSpPr txBox="1">
                  <a:spLocks noRot="1" noChangeAspect="1" noMove="1" noResize="1" noEditPoints="1" noAdjustHandles="1" noChangeArrowheads="1" noChangeShapeType="1" noTextEdit="1"/>
                </p:cNvSpPr>
                <p:nvPr/>
              </p:nvSpPr>
              <p:spPr>
                <a:xfrm>
                  <a:off x="5819464" y="4874005"/>
                  <a:ext cx="379206" cy="369332"/>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8340707" y="4504673"/>
                  <a:ext cx="3866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a:rPr>
                          <m:t>𝒚</m:t>
                        </m:r>
                      </m:oMath>
                    </m:oMathPara>
                  </a14:m>
                  <a:endParaRPr lang="zh-CN" altLang="en-US" b="1"/>
                </a:p>
              </p:txBody>
            </p:sp>
          </mc:Choice>
          <mc:Fallback xmlns="">
            <p:sp>
              <p:nvSpPr>
                <p:cNvPr id="8" name="TextBox 7"/>
                <p:cNvSpPr txBox="1">
                  <a:spLocks noRot="1" noChangeAspect="1" noMove="1" noResize="1" noEditPoints="1" noAdjustHandles="1" noChangeArrowheads="1" noChangeShapeType="1" noTextEdit="1"/>
                </p:cNvSpPr>
                <p:nvPr/>
              </p:nvSpPr>
              <p:spPr>
                <a:xfrm>
                  <a:off x="8340707" y="4504673"/>
                  <a:ext cx="386644" cy="369332"/>
                </a:xfrm>
                <a:prstGeom prst="rect">
                  <a:avLst/>
                </a:prstGeom>
                <a:blipFill rotWithShape="1">
                  <a:blip r:embed="rId5"/>
                  <a:stretch>
                    <a:fillRect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6009067" y="1660945"/>
                  <a:ext cx="3674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a:rPr>
                          <m:t>𝒛</m:t>
                        </m:r>
                      </m:oMath>
                    </m:oMathPara>
                  </a14:m>
                  <a:endParaRPr lang="zh-CN" altLang="en-US" b="1"/>
                </a:p>
              </p:txBody>
            </p:sp>
          </mc:Choice>
          <mc:Fallback xmlns="">
            <p:sp>
              <p:nvSpPr>
                <p:cNvPr id="9" name="TextBox 8"/>
                <p:cNvSpPr txBox="1">
                  <a:spLocks noRot="1" noChangeAspect="1" noMove="1" noResize="1" noEditPoints="1" noAdjustHandles="1" noChangeArrowheads="1" noChangeShapeType="1" noTextEdit="1"/>
                </p:cNvSpPr>
                <p:nvPr/>
              </p:nvSpPr>
              <p:spPr>
                <a:xfrm>
                  <a:off x="6009067" y="1660945"/>
                  <a:ext cx="367408" cy="369332"/>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8100897" y="180231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b="1" i="1" smtClean="0">
                            <a:latin typeface="Cambria Math"/>
                          </a:rPr>
                          <m:t>𝝎</m:t>
                        </m:r>
                      </m:oMath>
                    </m:oMathPara>
                  </a14:m>
                  <a:endParaRPr lang="zh-CN" altLang="en-US" b="1"/>
                </a:p>
              </p:txBody>
            </p:sp>
          </mc:Choice>
          <mc:Fallback xmlns="">
            <p:sp>
              <p:nvSpPr>
                <p:cNvPr id="10" name="TextBox 9"/>
                <p:cNvSpPr txBox="1">
                  <a:spLocks noRot="1" noChangeAspect="1" noMove="1" noResize="1" noEditPoints="1" noAdjustHandles="1" noChangeArrowheads="1" noChangeShapeType="1" noTextEdit="1"/>
                </p:cNvSpPr>
                <p:nvPr/>
              </p:nvSpPr>
              <p:spPr>
                <a:xfrm>
                  <a:off x="8100897" y="1802314"/>
                  <a:ext cx="433132" cy="369332"/>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7638195" y="2923028"/>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b="1" i="1" smtClean="0">
                            <a:latin typeface="Cambria Math"/>
                          </a:rPr>
                          <m:t>𝝋</m:t>
                        </m:r>
                      </m:oMath>
                    </m:oMathPara>
                  </a14:m>
                  <a:endParaRPr lang="zh-CN" altLang="en-US" b="1"/>
                </a:p>
              </p:txBody>
            </p:sp>
          </mc:Choice>
          <mc:Fallback xmlns="">
            <p:sp>
              <p:nvSpPr>
                <p:cNvPr id="11" name="TextBox 10"/>
                <p:cNvSpPr txBox="1">
                  <a:spLocks noRot="1" noChangeAspect="1" noMove="1" noResize="1" noEditPoints="1" noAdjustHandles="1" noChangeArrowheads="1" noChangeShapeType="1" noTextEdit="1"/>
                </p:cNvSpPr>
                <p:nvPr/>
              </p:nvSpPr>
              <p:spPr>
                <a:xfrm>
                  <a:off x="7638195" y="2923028"/>
                  <a:ext cx="433132" cy="369332"/>
                </a:xfrm>
                <a:prstGeom prst="rect">
                  <a:avLst/>
                </a:prstGeom>
                <a:blipFill rotWithShape="1">
                  <a:blip r:embed="rId8"/>
                  <a:stretch>
                    <a:fillRect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7299147" y="3292360"/>
                  <a:ext cx="40588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b="1" i="1" smtClean="0">
                            <a:latin typeface="Cambria Math"/>
                          </a:rPr>
                          <m:t>𝜷</m:t>
                        </m:r>
                      </m:oMath>
                    </m:oMathPara>
                  </a14:m>
                  <a:endParaRPr lang="zh-CN" altLang="en-US" b="1"/>
                </a:p>
              </p:txBody>
            </p:sp>
          </mc:Choice>
          <mc:Fallback xmlns="">
            <p:sp>
              <p:nvSpPr>
                <p:cNvPr id="12" name="TextBox 11"/>
                <p:cNvSpPr txBox="1">
                  <a:spLocks noRot="1" noChangeAspect="1" noMove="1" noResize="1" noEditPoints="1" noAdjustHandles="1" noChangeArrowheads="1" noChangeShapeType="1" noTextEdit="1"/>
                </p:cNvSpPr>
                <p:nvPr/>
              </p:nvSpPr>
              <p:spPr>
                <a:xfrm>
                  <a:off x="7299147" y="3292360"/>
                  <a:ext cx="405880" cy="369332"/>
                </a:xfrm>
                <a:prstGeom prst="rect">
                  <a:avLst/>
                </a:prstGeom>
                <a:blipFill rotWithShape="1">
                  <a:blip r:embed="rId9"/>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7098456" y="3659264"/>
                  <a:ext cx="40588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b="1" i="1" smtClean="0">
                            <a:latin typeface="Cambria Math"/>
                          </a:rPr>
                          <m:t>𝜶</m:t>
                        </m:r>
                      </m:oMath>
                    </m:oMathPara>
                  </a14:m>
                  <a:endParaRPr lang="zh-CN" altLang="en-US" b="1"/>
                </a:p>
              </p:txBody>
            </p:sp>
          </mc:Choice>
          <mc:Fallback xmlns="">
            <p:sp>
              <p:nvSpPr>
                <p:cNvPr id="13" name="TextBox 12"/>
                <p:cNvSpPr txBox="1">
                  <a:spLocks noRot="1" noChangeAspect="1" noMove="1" noResize="1" noEditPoints="1" noAdjustHandles="1" noChangeArrowheads="1" noChangeShapeType="1" noTextEdit="1"/>
                </p:cNvSpPr>
                <p:nvPr/>
              </p:nvSpPr>
              <p:spPr>
                <a:xfrm>
                  <a:off x="7098456" y="3659264"/>
                  <a:ext cx="405880" cy="369332"/>
                </a:xfrm>
                <a:prstGeom prst="rect">
                  <a:avLst/>
                </a:prstGeom>
                <a:blipFill rotWithShape="1">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7155672" y="2923028"/>
                  <a:ext cx="38824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b="1" i="1" smtClean="0">
                            <a:latin typeface="Cambria Math"/>
                          </a:rPr>
                          <m:t>𝜸</m:t>
                        </m:r>
                      </m:oMath>
                    </m:oMathPara>
                  </a14:m>
                  <a:endParaRPr lang="zh-CN" altLang="en-US" b="1"/>
                </a:p>
              </p:txBody>
            </p:sp>
          </mc:Choice>
          <mc:Fallback xmlns="">
            <p:sp>
              <p:nvSpPr>
                <p:cNvPr id="14" name="TextBox 13"/>
                <p:cNvSpPr txBox="1">
                  <a:spLocks noRot="1" noChangeAspect="1" noMove="1" noResize="1" noEditPoints="1" noAdjustHandles="1" noChangeArrowheads="1" noChangeShapeType="1" noTextEdit="1"/>
                </p:cNvSpPr>
                <p:nvPr/>
              </p:nvSpPr>
              <p:spPr>
                <a:xfrm>
                  <a:off x="7155672" y="2923028"/>
                  <a:ext cx="388248" cy="369332"/>
                </a:xfrm>
                <a:prstGeom prst="rect">
                  <a:avLst/>
                </a:prstGeom>
                <a:blipFill rotWithShape="1">
                  <a:blip r:embed="rId11"/>
                  <a:stretch>
                    <a:fillRect b="-49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6796848" y="3320638"/>
                  <a:ext cx="41549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a:latin typeface="Cambria Math"/>
                          </a:rPr>
                          <m:t>𝑪</m:t>
                        </m:r>
                      </m:oMath>
                    </m:oMathPara>
                  </a14:m>
                  <a:endParaRPr lang="zh-CN" altLang="en-US" sz="2000" b="1" i="1"/>
                </a:p>
              </p:txBody>
            </p:sp>
          </mc:Choice>
          <mc:Fallback xmlns="">
            <p:sp>
              <p:nvSpPr>
                <p:cNvPr id="15" name="TextBox 14"/>
                <p:cNvSpPr txBox="1">
                  <a:spLocks noRot="1" noChangeAspect="1" noMove="1" noResize="1" noEditPoints="1" noAdjustHandles="1" noChangeArrowheads="1" noChangeShapeType="1" noTextEdit="1"/>
                </p:cNvSpPr>
                <p:nvPr/>
              </p:nvSpPr>
              <p:spPr>
                <a:xfrm>
                  <a:off x="6796848" y="3320638"/>
                  <a:ext cx="415498" cy="400110"/>
                </a:xfrm>
                <a:prstGeom prst="rect">
                  <a:avLst/>
                </a:prstGeom>
                <a:blipFill rotWithShape="1">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6155100" y="4489284"/>
                  <a:ext cx="44274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a:rPr>
                          <m:t>𝑶</m:t>
                        </m:r>
                      </m:oMath>
                    </m:oMathPara>
                  </a14:m>
                  <a:endParaRPr lang="zh-CN" altLang="en-US" sz="2000" b="1" i="1"/>
                </a:p>
              </p:txBody>
            </p:sp>
          </mc:Choice>
          <mc:Fallback xmlns="">
            <p:sp>
              <p:nvSpPr>
                <p:cNvPr id="16" name="TextBox 15"/>
                <p:cNvSpPr txBox="1">
                  <a:spLocks noRot="1" noChangeAspect="1" noMove="1" noResize="1" noEditPoints="1" noAdjustHandles="1" noChangeArrowheads="1" noChangeShapeType="1" noTextEdit="1"/>
                </p:cNvSpPr>
                <p:nvPr/>
              </p:nvSpPr>
              <p:spPr>
                <a:xfrm>
                  <a:off x="6155100" y="4489284"/>
                  <a:ext cx="442749" cy="400110"/>
                </a:xfrm>
                <a:prstGeom prst="rect">
                  <a:avLst/>
                </a:prstGeom>
                <a:blipFill rotWithShape="1">
                  <a:blip r:embed="rId13"/>
                  <a:stretch>
                    <a:fillRect/>
                  </a:stretch>
                </a:blipFill>
              </p:spPr>
              <p:txBody>
                <a:bodyPr/>
                <a:lstStyle/>
                <a:p>
                  <a:r>
                    <a:rPr lang="zh-CN" altLang="en-US">
                      <a:noFill/>
                    </a:rPr>
                    <a:t> </a:t>
                  </a:r>
                </a:p>
              </p:txBody>
            </p:sp>
          </mc:Fallback>
        </mc:AlternateContent>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2" name="Rectangle 46"/>
          <p:cNvSpPr>
            <a:spLocks noChangeArrowheads="1"/>
          </p:cNvSpPr>
          <p:nvPr/>
        </p:nvSpPr>
        <p:spPr bwMode="auto">
          <a:xfrm>
            <a:off x="123825" y="333375"/>
            <a:ext cx="43195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zh-CN" altLang="en-US" sz="2800" b="1">
                <a:solidFill>
                  <a:srgbClr val="FFFF00"/>
                </a:solidFill>
                <a:latin typeface="宋体" pitchFamily="2" charset="-122"/>
              </a:rPr>
              <a:t>二</a:t>
            </a:r>
            <a:r>
              <a:rPr kumimoji="1" lang="en-US" altLang="zh-CN" sz="2800" b="1">
                <a:solidFill>
                  <a:srgbClr val="FFFF00"/>
                </a:solidFill>
                <a:latin typeface="宋体" pitchFamily="2" charset="-122"/>
              </a:rPr>
              <a:t>.</a:t>
            </a:r>
            <a:r>
              <a:rPr lang="zh-CN" altLang="en-US" sz="2800" b="1">
                <a:solidFill>
                  <a:srgbClr val="FFFF00"/>
                </a:solidFill>
                <a:latin typeface="宋体" pitchFamily="2" charset="-122"/>
              </a:rPr>
              <a:t>刚体的平动</a:t>
            </a:r>
          </a:p>
        </p:txBody>
      </p:sp>
      <p:sp>
        <p:nvSpPr>
          <p:cNvPr id="9263" name="Text Box 47"/>
          <p:cNvSpPr txBox="1">
            <a:spLocks noChangeArrowheads="1"/>
          </p:cNvSpPr>
          <p:nvPr/>
        </p:nvSpPr>
        <p:spPr bwMode="auto">
          <a:xfrm>
            <a:off x="611188" y="922338"/>
            <a:ext cx="82343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zh-CN" altLang="en-US" sz="2400" b="1">
                <a:solidFill>
                  <a:schemeClr val="bg1"/>
                </a:solidFill>
                <a:latin typeface="Times New Roman" pitchFamily="18" charset="0"/>
              </a:rPr>
              <a:t>刚体运动时，若在刚体内所作的任一条直线都始终保持和自身平行</a:t>
            </a:r>
          </a:p>
        </p:txBody>
      </p:sp>
      <p:sp>
        <p:nvSpPr>
          <p:cNvPr id="9264" name="Rectangle 48"/>
          <p:cNvSpPr>
            <a:spLocks noChangeArrowheads="1"/>
          </p:cNvSpPr>
          <p:nvPr/>
        </p:nvSpPr>
        <p:spPr bwMode="auto">
          <a:xfrm>
            <a:off x="2284413" y="1414463"/>
            <a:ext cx="251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400" b="1" i="1">
                <a:solidFill>
                  <a:srgbClr val="66FFFF"/>
                </a:solidFill>
                <a:latin typeface="宋体" pitchFamily="2" charset="-122"/>
              </a:rPr>
              <a:t>— </a:t>
            </a:r>
            <a:r>
              <a:rPr lang="zh-CN" altLang="en-US" sz="2400" b="1">
                <a:solidFill>
                  <a:srgbClr val="66FFFF"/>
                </a:solidFill>
                <a:latin typeface="宋体" pitchFamily="2" charset="-122"/>
              </a:rPr>
              <a:t>刚体平动</a:t>
            </a:r>
            <a:endParaRPr lang="zh-CN" altLang="en-US" sz="2400" b="1" i="1">
              <a:solidFill>
                <a:srgbClr val="66FFFF"/>
              </a:solidFill>
              <a:latin typeface="宋体" pitchFamily="2" charset="-122"/>
            </a:endParaRPr>
          </a:p>
        </p:txBody>
      </p:sp>
      <p:sp>
        <p:nvSpPr>
          <p:cNvPr id="9265" name="AutoShape 49"/>
          <p:cNvSpPr>
            <a:spLocks noChangeArrowheads="1"/>
          </p:cNvSpPr>
          <p:nvPr/>
        </p:nvSpPr>
        <p:spPr bwMode="auto">
          <a:xfrm>
            <a:off x="4392613" y="3475038"/>
            <a:ext cx="1066800" cy="1219200"/>
          </a:xfrm>
          <a:prstGeom prst="cube">
            <a:avLst>
              <a:gd name="adj" fmla="val 25000"/>
            </a:avLst>
          </a:prstGeom>
          <a:solidFill>
            <a:srgbClr val="0033CC"/>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6" name="AutoShape 50"/>
          <p:cNvSpPr>
            <a:spLocks noChangeArrowheads="1"/>
          </p:cNvSpPr>
          <p:nvPr/>
        </p:nvSpPr>
        <p:spPr bwMode="auto">
          <a:xfrm>
            <a:off x="5840413" y="4160838"/>
            <a:ext cx="1066800" cy="1219200"/>
          </a:xfrm>
          <a:prstGeom prst="cube">
            <a:avLst>
              <a:gd name="adj" fmla="val 25000"/>
            </a:avLst>
          </a:prstGeom>
          <a:solidFill>
            <a:srgbClr val="0033CC"/>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7" name="AutoShape 51"/>
          <p:cNvSpPr>
            <a:spLocks noChangeArrowheads="1"/>
          </p:cNvSpPr>
          <p:nvPr/>
        </p:nvSpPr>
        <p:spPr bwMode="auto">
          <a:xfrm>
            <a:off x="7440613" y="2865438"/>
            <a:ext cx="1066800" cy="1219200"/>
          </a:xfrm>
          <a:prstGeom prst="cube">
            <a:avLst>
              <a:gd name="adj" fmla="val 25000"/>
            </a:avLst>
          </a:prstGeom>
          <a:solidFill>
            <a:srgbClr val="0033CC"/>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8" name="Line 52"/>
          <p:cNvSpPr>
            <a:spLocks noChangeShapeType="1"/>
          </p:cNvSpPr>
          <p:nvPr/>
        </p:nvSpPr>
        <p:spPr bwMode="auto">
          <a:xfrm flipV="1">
            <a:off x="4392613" y="3794125"/>
            <a:ext cx="457200" cy="9144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9" name="Line 53"/>
          <p:cNvSpPr>
            <a:spLocks noChangeShapeType="1"/>
          </p:cNvSpPr>
          <p:nvPr/>
        </p:nvSpPr>
        <p:spPr bwMode="auto">
          <a:xfrm flipV="1">
            <a:off x="7426325" y="3170238"/>
            <a:ext cx="457200" cy="9144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0" name="Line 54"/>
          <p:cNvSpPr>
            <a:spLocks noChangeShapeType="1"/>
          </p:cNvSpPr>
          <p:nvPr/>
        </p:nvSpPr>
        <p:spPr bwMode="auto">
          <a:xfrm flipV="1">
            <a:off x="5840413" y="4465638"/>
            <a:ext cx="457200" cy="9144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1" name="Freeform 55"/>
          <p:cNvSpPr>
            <a:spLocks/>
          </p:cNvSpPr>
          <p:nvPr/>
        </p:nvSpPr>
        <p:spPr bwMode="auto">
          <a:xfrm>
            <a:off x="4367213" y="2690813"/>
            <a:ext cx="3544887" cy="1836737"/>
          </a:xfrm>
          <a:custGeom>
            <a:avLst/>
            <a:gdLst>
              <a:gd name="T0" fmla="*/ 0 w 2233"/>
              <a:gd name="T1" fmla="*/ 2147483647 h 1157"/>
              <a:gd name="T2" fmla="*/ 2147483647 w 2233"/>
              <a:gd name="T3" fmla="*/ 2147483647 h 1157"/>
              <a:gd name="T4" fmla="*/ 2147483647 w 2233"/>
              <a:gd name="T5" fmla="*/ 2147483647 h 1157"/>
              <a:gd name="T6" fmla="*/ 2147483647 w 2233"/>
              <a:gd name="T7" fmla="*/ 2147483647 h 1157"/>
              <a:gd name="T8" fmla="*/ 2147483647 w 2233"/>
              <a:gd name="T9" fmla="*/ 2147483647 h 1157"/>
              <a:gd name="T10" fmla="*/ 2147483647 w 2233"/>
              <a:gd name="T11" fmla="*/ 2147483647 h 1157"/>
              <a:gd name="T12" fmla="*/ 2147483647 w 2233"/>
              <a:gd name="T13" fmla="*/ 0 h 11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33" h="1157">
                <a:moveTo>
                  <a:pt x="0" y="509"/>
                </a:moveTo>
                <a:cubicBezTo>
                  <a:pt x="49" y="540"/>
                  <a:pt x="161" y="619"/>
                  <a:pt x="293" y="693"/>
                </a:cubicBezTo>
                <a:cubicBezTo>
                  <a:pt x="425" y="767"/>
                  <a:pt x="637" y="883"/>
                  <a:pt x="793" y="954"/>
                </a:cubicBezTo>
                <a:cubicBezTo>
                  <a:pt x="949" y="1025"/>
                  <a:pt x="1043" y="1157"/>
                  <a:pt x="1228" y="1117"/>
                </a:cubicBezTo>
                <a:cubicBezTo>
                  <a:pt x="1413" y="1077"/>
                  <a:pt x="1741" y="847"/>
                  <a:pt x="1902" y="715"/>
                </a:cubicBezTo>
                <a:cubicBezTo>
                  <a:pt x="2063" y="583"/>
                  <a:pt x="2157" y="443"/>
                  <a:pt x="2195" y="324"/>
                </a:cubicBezTo>
                <a:cubicBezTo>
                  <a:pt x="2233" y="205"/>
                  <a:pt x="2144" y="67"/>
                  <a:pt x="2130" y="0"/>
                </a:cubicBezTo>
              </a:path>
            </a:pathLst>
          </a:custGeom>
          <a:noFill/>
          <a:ln w="19050" cap="flat">
            <a:solidFill>
              <a:srgbClr val="66FF33"/>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272" name="Object 56"/>
          <p:cNvGraphicFramePr>
            <a:graphicFrameLocks/>
          </p:cNvGraphicFramePr>
          <p:nvPr/>
        </p:nvGraphicFramePr>
        <p:xfrm>
          <a:off x="4702175" y="3376613"/>
          <a:ext cx="277813" cy="304800"/>
        </p:xfrm>
        <a:graphic>
          <a:graphicData uri="http://schemas.openxmlformats.org/presentationml/2006/ole">
            <mc:AlternateContent xmlns:mc="http://schemas.openxmlformats.org/markup-compatibility/2006">
              <mc:Choice xmlns:v="urn:schemas-microsoft-com:vml" Requires="v">
                <p:oleObj spid="_x0000_s1086" name="公式" r:id="rId3" imgW="190578" imgH="219186" progId="Equation.3">
                  <p:embed/>
                </p:oleObj>
              </mc:Choice>
              <mc:Fallback>
                <p:oleObj name="公式" r:id="rId3" imgW="190578" imgH="219186" progId="Equation.3">
                  <p:embed/>
                  <p:pic>
                    <p:nvPicPr>
                      <p:cNvPr id="0" name="Object 5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2175" y="3376613"/>
                        <a:ext cx="2778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73" name="Object 57"/>
          <p:cNvGraphicFramePr>
            <a:graphicFrameLocks/>
          </p:cNvGraphicFramePr>
          <p:nvPr/>
        </p:nvGraphicFramePr>
        <p:xfrm>
          <a:off x="4125913" y="4760913"/>
          <a:ext cx="277812" cy="292100"/>
        </p:xfrm>
        <a:graphic>
          <a:graphicData uri="http://schemas.openxmlformats.org/presentationml/2006/ole">
            <mc:AlternateContent xmlns:mc="http://schemas.openxmlformats.org/markup-compatibility/2006">
              <mc:Choice xmlns:v="urn:schemas-microsoft-com:vml" Requires="v">
                <p:oleObj spid="_x0000_s1087" name="公式" r:id="rId5" imgW="190578" imgH="200021" progId="Equation.3">
                  <p:embed/>
                </p:oleObj>
              </mc:Choice>
              <mc:Fallback>
                <p:oleObj name="公式" r:id="rId5" imgW="190578" imgH="200021" progId="Equation.3">
                  <p:embed/>
                  <p:pic>
                    <p:nvPicPr>
                      <p:cNvPr id="0" name="Object 5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25913" y="4760913"/>
                        <a:ext cx="277812"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74" name="Object 58"/>
          <p:cNvGraphicFramePr>
            <a:graphicFrameLocks/>
          </p:cNvGraphicFramePr>
          <p:nvPr/>
        </p:nvGraphicFramePr>
        <p:xfrm>
          <a:off x="6149975" y="4011613"/>
          <a:ext cx="341313" cy="317500"/>
        </p:xfrm>
        <a:graphic>
          <a:graphicData uri="http://schemas.openxmlformats.org/presentationml/2006/ole">
            <mc:AlternateContent xmlns:mc="http://schemas.openxmlformats.org/markup-compatibility/2006">
              <mc:Choice xmlns:v="urn:schemas-microsoft-com:vml" Requires="v">
                <p:oleObj spid="_x0000_s1088" name="公式" r:id="rId7" imgW="257254" imgH="228634" progId="Equation.3">
                  <p:embed/>
                </p:oleObj>
              </mc:Choice>
              <mc:Fallback>
                <p:oleObj name="公式" r:id="rId7" imgW="257254" imgH="228634" progId="Equation.3">
                  <p:embed/>
                  <p:pic>
                    <p:nvPicPr>
                      <p:cNvPr id="0" name="Object 5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49975" y="4011613"/>
                        <a:ext cx="34131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75" name="Object 59"/>
          <p:cNvGraphicFramePr>
            <a:graphicFrameLocks/>
          </p:cNvGraphicFramePr>
          <p:nvPr/>
        </p:nvGraphicFramePr>
        <p:xfrm>
          <a:off x="5573713" y="5443538"/>
          <a:ext cx="341312" cy="317500"/>
        </p:xfrm>
        <a:graphic>
          <a:graphicData uri="http://schemas.openxmlformats.org/presentationml/2006/ole">
            <mc:AlternateContent xmlns:mc="http://schemas.openxmlformats.org/markup-compatibility/2006">
              <mc:Choice xmlns:v="urn:schemas-microsoft-com:vml" Requires="v">
                <p:oleObj spid="_x0000_s1089" name="公式" r:id="rId9" imgW="257254" imgH="228634" progId="Equation.3">
                  <p:embed/>
                </p:oleObj>
              </mc:Choice>
              <mc:Fallback>
                <p:oleObj name="公式" r:id="rId9" imgW="257254" imgH="228634" progId="Equation.3">
                  <p:embed/>
                  <p:pic>
                    <p:nvPicPr>
                      <p:cNvPr id="0" name="Object 5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73713" y="5443538"/>
                        <a:ext cx="34131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76" name="Object 60"/>
          <p:cNvGraphicFramePr>
            <a:graphicFrameLocks/>
          </p:cNvGraphicFramePr>
          <p:nvPr/>
        </p:nvGraphicFramePr>
        <p:xfrm>
          <a:off x="7542213" y="2859088"/>
          <a:ext cx="390525" cy="317500"/>
        </p:xfrm>
        <a:graphic>
          <a:graphicData uri="http://schemas.openxmlformats.org/presentationml/2006/ole">
            <mc:AlternateContent xmlns:mc="http://schemas.openxmlformats.org/markup-compatibility/2006">
              <mc:Choice xmlns:v="urn:schemas-microsoft-com:vml" Requires="v">
                <p:oleObj spid="_x0000_s1090" name="公式" r:id="rId11" imgW="304763" imgH="228634" progId="Equation.3">
                  <p:embed/>
                </p:oleObj>
              </mc:Choice>
              <mc:Fallback>
                <p:oleObj name="公式" r:id="rId11" imgW="304763" imgH="228634" progId="Equation.3">
                  <p:embed/>
                  <p:pic>
                    <p:nvPicPr>
                      <p:cNvPr id="0" name="Object 60"/>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42213" y="2859088"/>
                        <a:ext cx="390525"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77" name="Object 61"/>
          <p:cNvGraphicFramePr>
            <a:graphicFrameLocks/>
          </p:cNvGraphicFramePr>
          <p:nvPr/>
        </p:nvGraphicFramePr>
        <p:xfrm>
          <a:off x="7321550" y="4121150"/>
          <a:ext cx="392113" cy="317500"/>
        </p:xfrm>
        <a:graphic>
          <a:graphicData uri="http://schemas.openxmlformats.org/presentationml/2006/ole">
            <mc:AlternateContent xmlns:mc="http://schemas.openxmlformats.org/markup-compatibility/2006">
              <mc:Choice xmlns:v="urn:schemas-microsoft-com:vml" Requires="v">
                <p:oleObj spid="_x0000_s1091" name="公式" r:id="rId13" imgW="304763" imgH="228634" progId="Equation.3">
                  <p:embed/>
                </p:oleObj>
              </mc:Choice>
              <mc:Fallback>
                <p:oleObj name="公式" r:id="rId13" imgW="304763" imgH="228634" progId="Equation.3">
                  <p:embed/>
                  <p:pic>
                    <p:nvPicPr>
                      <p:cNvPr id="0" name="Object 61"/>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21550" y="4121150"/>
                        <a:ext cx="39211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78" name="Freeform 62"/>
          <p:cNvSpPr>
            <a:spLocks/>
          </p:cNvSpPr>
          <p:nvPr/>
        </p:nvSpPr>
        <p:spPr bwMode="auto">
          <a:xfrm>
            <a:off x="3933825" y="3446463"/>
            <a:ext cx="3541713" cy="1995487"/>
          </a:xfrm>
          <a:custGeom>
            <a:avLst/>
            <a:gdLst>
              <a:gd name="T0" fmla="*/ 0 w 2231"/>
              <a:gd name="T1" fmla="*/ 2147483647 h 1257"/>
              <a:gd name="T2" fmla="*/ 2147483647 w 2231"/>
              <a:gd name="T3" fmla="*/ 2147483647 h 1257"/>
              <a:gd name="T4" fmla="*/ 2147483647 w 2231"/>
              <a:gd name="T5" fmla="*/ 2147483647 h 1257"/>
              <a:gd name="T6" fmla="*/ 2147483647 w 2231"/>
              <a:gd name="T7" fmla="*/ 2147483647 h 1257"/>
              <a:gd name="T8" fmla="*/ 2147483647 w 2231"/>
              <a:gd name="T9" fmla="*/ 2147483647 h 1257"/>
              <a:gd name="T10" fmla="*/ 2147483647 w 2231"/>
              <a:gd name="T11" fmla="*/ 2147483647 h 1257"/>
              <a:gd name="T12" fmla="*/ 2147483647 w 2231"/>
              <a:gd name="T13" fmla="*/ 0 h 12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31" h="1257">
                <a:moveTo>
                  <a:pt x="0" y="609"/>
                </a:moveTo>
                <a:cubicBezTo>
                  <a:pt x="49" y="640"/>
                  <a:pt x="161" y="719"/>
                  <a:pt x="293" y="793"/>
                </a:cubicBezTo>
                <a:cubicBezTo>
                  <a:pt x="425" y="867"/>
                  <a:pt x="637" y="983"/>
                  <a:pt x="793" y="1054"/>
                </a:cubicBezTo>
                <a:cubicBezTo>
                  <a:pt x="949" y="1125"/>
                  <a:pt x="1043" y="1257"/>
                  <a:pt x="1228" y="1217"/>
                </a:cubicBezTo>
                <a:cubicBezTo>
                  <a:pt x="1413" y="1177"/>
                  <a:pt x="1741" y="947"/>
                  <a:pt x="1902" y="815"/>
                </a:cubicBezTo>
                <a:cubicBezTo>
                  <a:pt x="2063" y="683"/>
                  <a:pt x="2159" y="560"/>
                  <a:pt x="2195" y="424"/>
                </a:cubicBezTo>
                <a:cubicBezTo>
                  <a:pt x="2231" y="288"/>
                  <a:pt x="2136" y="88"/>
                  <a:pt x="2120" y="0"/>
                </a:cubicBezTo>
              </a:path>
            </a:pathLst>
          </a:custGeom>
          <a:noFill/>
          <a:ln w="19050" cap="flat">
            <a:solidFill>
              <a:srgbClr val="66FF33"/>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9" name="Text Box 63"/>
          <p:cNvSpPr txBox="1">
            <a:spLocks noChangeArrowheads="1"/>
          </p:cNvSpPr>
          <p:nvPr/>
        </p:nvSpPr>
        <p:spPr bwMode="auto">
          <a:xfrm>
            <a:off x="381000" y="2222500"/>
            <a:ext cx="2155825" cy="457200"/>
          </a:xfrm>
          <a:prstGeom prst="rect">
            <a:avLst/>
          </a:prstGeom>
          <a:noFill/>
          <a:ln>
            <a:noFill/>
          </a:ln>
          <a:effectLst/>
          <a:extLst>
            <a:ext uri="{909E8E84-426E-40DD-AFC4-6F175D3DCCD1}">
              <a14:hiddenFill xmlns:a14="http://schemas.microsoft.com/office/drawing/2010/main">
                <a:solidFill>
                  <a:srgbClr val="3333CC">
                    <a:alpha val="32156"/>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buClr>
                <a:srgbClr val="FFFF00"/>
              </a:buClr>
              <a:buSzPct val="85000"/>
              <a:buFont typeface="Wingdings" pitchFamily="2" charset="2"/>
              <a:buChar char="l"/>
            </a:pPr>
            <a:r>
              <a:rPr lang="zh-CN" altLang="en-US" sz="2400" b="1">
                <a:solidFill>
                  <a:schemeClr val="bg1"/>
                </a:solidFill>
                <a:latin typeface="宋体" pitchFamily="2" charset="-122"/>
              </a:rPr>
              <a:t>平动的特点</a:t>
            </a:r>
            <a:endParaRPr lang="zh-CN" altLang="en-US" sz="2400">
              <a:solidFill>
                <a:schemeClr val="bg1"/>
              </a:solidFill>
              <a:latin typeface="宋体" pitchFamily="2" charset="-122"/>
            </a:endParaRPr>
          </a:p>
        </p:txBody>
      </p:sp>
      <p:sp>
        <p:nvSpPr>
          <p:cNvPr id="9280" name="Text Box 64"/>
          <p:cNvSpPr txBox="1">
            <a:spLocks noChangeArrowheads="1"/>
          </p:cNvSpPr>
          <p:nvPr/>
        </p:nvSpPr>
        <p:spPr bwMode="auto">
          <a:xfrm>
            <a:off x="2536825" y="2268538"/>
            <a:ext cx="4627563"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38150" indent="-43815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a:solidFill>
                  <a:schemeClr val="bg1"/>
                </a:solidFill>
                <a:latin typeface="Times New Roman" pitchFamily="18" charset="0"/>
              </a:rPr>
              <a:t>(1) </a:t>
            </a:r>
            <a:r>
              <a:rPr lang="zh-CN" altLang="en-US" sz="2400" b="1">
                <a:solidFill>
                  <a:schemeClr val="bg1"/>
                </a:solidFill>
                <a:latin typeface="Times New Roman" pitchFamily="18" charset="0"/>
              </a:rPr>
              <a:t>刚体中各质点的运动情况相同（运动轨迹、速度、加速度）</a:t>
            </a:r>
            <a:endParaRPr lang="zh-CN" altLang="en-US" sz="2400">
              <a:solidFill>
                <a:schemeClr val="bg1"/>
              </a:solidFill>
              <a:latin typeface="Times New Roman" pitchFamily="18" charset="0"/>
            </a:endParaRPr>
          </a:p>
        </p:txBody>
      </p:sp>
      <p:graphicFrame>
        <p:nvGraphicFramePr>
          <p:cNvPr id="9281" name="Object 65"/>
          <p:cNvGraphicFramePr>
            <a:graphicFrameLocks/>
          </p:cNvGraphicFramePr>
          <p:nvPr/>
        </p:nvGraphicFramePr>
        <p:xfrm>
          <a:off x="1042988" y="3246438"/>
          <a:ext cx="1778000" cy="457200"/>
        </p:xfrm>
        <a:graphic>
          <a:graphicData uri="http://schemas.openxmlformats.org/presentationml/2006/ole">
            <mc:AlternateContent xmlns:mc="http://schemas.openxmlformats.org/markup-compatibility/2006">
              <mc:Choice xmlns:v="urn:schemas-microsoft-com:vml" Requires="v">
                <p:oleObj spid="_x0000_s1092" name="公式" r:id="rId15" imgW="1686051" imgH="361981" progId="Equation.3">
                  <p:embed/>
                </p:oleObj>
              </mc:Choice>
              <mc:Fallback>
                <p:oleObj name="公式" r:id="rId15" imgW="1686051" imgH="361981" progId="Equation.3">
                  <p:embed/>
                  <p:pic>
                    <p:nvPicPr>
                      <p:cNvPr id="0" name="Object 65"/>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42988" y="3246438"/>
                        <a:ext cx="1778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82" name="Object 66"/>
          <p:cNvGraphicFramePr>
            <a:graphicFrameLocks/>
          </p:cNvGraphicFramePr>
          <p:nvPr/>
        </p:nvGraphicFramePr>
        <p:xfrm>
          <a:off x="1239838" y="3830638"/>
          <a:ext cx="1371600" cy="419100"/>
        </p:xfrm>
        <a:graphic>
          <a:graphicData uri="http://schemas.openxmlformats.org/presentationml/2006/ole">
            <mc:AlternateContent xmlns:mc="http://schemas.openxmlformats.org/markup-compatibility/2006">
              <mc:Choice xmlns:v="urn:schemas-microsoft-com:vml" Requires="v">
                <p:oleObj spid="_x0000_s1093" name="公式" r:id="rId17" imgW="1285998" imgH="323920" progId="Equation.3">
                  <p:embed/>
                </p:oleObj>
              </mc:Choice>
              <mc:Fallback>
                <p:oleObj name="公式" r:id="rId17" imgW="1285998" imgH="323920" progId="Equation.3">
                  <p:embed/>
                  <p:pic>
                    <p:nvPicPr>
                      <p:cNvPr id="0" name="Object 66"/>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39838" y="3830638"/>
                        <a:ext cx="13716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83" name="Object 67"/>
          <p:cNvGraphicFramePr>
            <a:graphicFrameLocks/>
          </p:cNvGraphicFramePr>
          <p:nvPr/>
        </p:nvGraphicFramePr>
        <p:xfrm>
          <a:off x="1384300" y="4478338"/>
          <a:ext cx="1087438" cy="419100"/>
        </p:xfrm>
        <a:graphic>
          <a:graphicData uri="http://schemas.openxmlformats.org/presentationml/2006/ole">
            <mc:AlternateContent xmlns:mc="http://schemas.openxmlformats.org/markup-compatibility/2006">
              <mc:Choice xmlns:v="urn:schemas-microsoft-com:vml" Requires="v">
                <p:oleObj spid="_x0000_s1094" name="公式" r:id="rId19" imgW="1000131" imgH="323920" progId="Equation.3">
                  <p:embed/>
                </p:oleObj>
              </mc:Choice>
              <mc:Fallback>
                <p:oleObj name="公式" r:id="rId19" imgW="1000131" imgH="323920" progId="Equation.3">
                  <p:embed/>
                  <p:pic>
                    <p:nvPicPr>
                      <p:cNvPr id="0" name="Object 67"/>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84300" y="4478338"/>
                        <a:ext cx="1087438"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84" name="Object 68"/>
          <p:cNvGraphicFramePr>
            <a:graphicFrameLocks/>
          </p:cNvGraphicFramePr>
          <p:nvPr/>
        </p:nvGraphicFramePr>
        <p:xfrm>
          <a:off x="1389063" y="5126038"/>
          <a:ext cx="1082675" cy="420687"/>
        </p:xfrm>
        <a:graphic>
          <a:graphicData uri="http://schemas.openxmlformats.org/presentationml/2006/ole">
            <mc:AlternateContent xmlns:mc="http://schemas.openxmlformats.org/markup-compatibility/2006">
              <mc:Choice xmlns:v="urn:schemas-microsoft-com:vml" Requires="v">
                <p:oleObj spid="_x0000_s1095" name="公式" r:id="rId21" imgW="990683" imgH="323920" progId="Equation.3">
                  <p:embed/>
                </p:oleObj>
              </mc:Choice>
              <mc:Fallback>
                <p:oleObj name="公式" r:id="rId21" imgW="990683" imgH="323920" progId="Equation.3">
                  <p:embed/>
                  <p:pic>
                    <p:nvPicPr>
                      <p:cNvPr id="0" name="Object 68"/>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389063" y="5126038"/>
                        <a:ext cx="1082675"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85" name="Rectangle 69"/>
          <p:cNvSpPr>
            <a:spLocks noChangeArrowheads="1"/>
          </p:cNvSpPr>
          <p:nvPr/>
        </p:nvSpPr>
        <p:spPr bwMode="auto">
          <a:xfrm>
            <a:off x="1244600" y="4394200"/>
            <a:ext cx="1371600" cy="1219200"/>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6" name="Text Box 70"/>
          <p:cNvSpPr txBox="1">
            <a:spLocks noChangeArrowheads="1"/>
          </p:cNvSpPr>
          <p:nvPr/>
        </p:nvSpPr>
        <p:spPr bwMode="auto">
          <a:xfrm>
            <a:off x="692840" y="5874302"/>
            <a:ext cx="82716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dirty="0">
                <a:solidFill>
                  <a:schemeClr val="bg1"/>
                </a:solidFill>
                <a:latin typeface="Times New Roman" pitchFamily="18" charset="0"/>
              </a:rPr>
              <a:t>(2) </a:t>
            </a:r>
            <a:r>
              <a:rPr lang="zh-CN" altLang="en-US" sz="2400" b="1" dirty="0">
                <a:solidFill>
                  <a:schemeClr val="bg1"/>
                </a:solidFill>
                <a:latin typeface="Times New Roman" pitchFamily="18" charset="0"/>
              </a:rPr>
              <a:t>刚体的平动可归结为质点运动（物体的质心运动）</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65"/>
                                        </p:tgtEl>
                                        <p:attrNameLst>
                                          <p:attrName>style.visibility</p:attrName>
                                        </p:attrNameLst>
                                      </p:cBhvr>
                                      <p:to>
                                        <p:strVal val="visible"/>
                                      </p:to>
                                    </p:set>
                                    <p:animEffect transition="in" filter="wipe(left)">
                                      <p:cBhvr>
                                        <p:cTn id="7" dur="500"/>
                                        <p:tgtEl>
                                          <p:spTgt spid="92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68"/>
                                        </p:tgtEl>
                                        <p:attrNameLst>
                                          <p:attrName>style.visibility</p:attrName>
                                        </p:attrNameLst>
                                      </p:cBhvr>
                                      <p:to>
                                        <p:strVal val="visible"/>
                                      </p:to>
                                    </p:set>
                                    <p:animEffect transition="in" filter="wipe(left)">
                                      <p:cBhvr>
                                        <p:cTn id="12" dur="500"/>
                                        <p:tgtEl>
                                          <p:spTgt spid="92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272"/>
                                        </p:tgtEl>
                                        <p:attrNameLst>
                                          <p:attrName>style.visibility</p:attrName>
                                        </p:attrNameLst>
                                      </p:cBhvr>
                                      <p:to>
                                        <p:strVal val="visible"/>
                                      </p:to>
                                    </p:set>
                                    <p:animEffect transition="in" filter="wipe(left)">
                                      <p:cBhvr>
                                        <p:cTn id="17" dur="500"/>
                                        <p:tgtEl>
                                          <p:spTgt spid="92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273"/>
                                        </p:tgtEl>
                                        <p:attrNameLst>
                                          <p:attrName>style.visibility</p:attrName>
                                        </p:attrNameLst>
                                      </p:cBhvr>
                                      <p:to>
                                        <p:strVal val="visible"/>
                                      </p:to>
                                    </p:set>
                                    <p:animEffect transition="in" filter="wipe(left)">
                                      <p:cBhvr>
                                        <p:cTn id="22" dur="500"/>
                                        <p:tgtEl>
                                          <p:spTgt spid="927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266"/>
                                        </p:tgtEl>
                                        <p:attrNameLst>
                                          <p:attrName>style.visibility</p:attrName>
                                        </p:attrNameLst>
                                      </p:cBhvr>
                                      <p:to>
                                        <p:strVal val="visible"/>
                                      </p:to>
                                    </p:set>
                                    <p:animEffect transition="in" filter="wipe(left)">
                                      <p:cBhvr>
                                        <p:cTn id="27" dur="500"/>
                                        <p:tgtEl>
                                          <p:spTgt spid="926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270"/>
                                        </p:tgtEl>
                                        <p:attrNameLst>
                                          <p:attrName>style.visibility</p:attrName>
                                        </p:attrNameLst>
                                      </p:cBhvr>
                                      <p:to>
                                        <p:strVal val="visible"/>
                                      </p:to>
                                    </p:set>
                                    <p:animEffect transition="in" filter="wipe(left)">
                                      <p:cBhvr>
                                        <p:cTn id="32" dur="500"/>
                                        <p:tgtEl>
                                          <p:spTgt spid="927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274"/>
                                        </p:tgtEl>
                                        <p:attrNameLst>
                                          <p:attrName>style.visibility</p:attrName>
                                        </p:attrNameLst>
                                      </p:cBhvr>
                                      <p:to>
                                        <p:strVal val="visible"/>
                                      </p:to>
                                    </p:set>
                                    <p:animEffect transition="in" filter="wipe(left)">
                                      <p:cBhvr>
                                        <p:cTn id="37" dur="500"/>
                                        <p:tgtEl>
                                          <p:spTgt spid="927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275"/>
                                        </p:tgtEl>
                                        <p:attrNameLst>
                                          <p:attrName>style.visibility</p:attrName>
                                        </p:attrNameLst>
                                      </p:cBhvr>
                                      <p:to>
                                        <p:strVal val="visible"/>
                                      </p:to>
                                    </p:set>
                                    <p:animEffect transition="in" filter="wipe(left)">
                                      <p:cBhvr>
                                        <p:cTn id="42" dur="500"/>
                                        <p:tgtEl>
                                          <p:spTgt spid="927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267"/>
                                        </p:tgtEl>
                                        <p:attrNameLst>
                                          <p:attrName>style.visibility</p:attrName>
                                        </p:attrNameLst>
                                      </p:cBhvr>
                                      <p:to>
                                        <p:strVal val="visible"/>
                                      </p:to>
                                    </p:set>
                                    <p:animEffect transition="in" filter="wipe(left)">
                                      <p:cBhvr>
                                        <p:cTn id="47" dur="500"/>
                                        <p:tgtEl>
                                          <p:spTgt spid="926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269"/>
                                        </p:tgtEl>
                                        <p:attrNameLst>
                                          <p:attrName>style.visibility</p:attrName>
                                        </p:attrNameLst>
                                      </p:cBhvr>
                                      <p:to>
                                        <p:strVal val="visible"/>
                                      </p:to>
                                    </p:set>
                                    <p:animEffect transition="in" filter="wipe(left)">
                                      <p:cBhvr>
                                        <p:cTn id="52" dur="500"/>
                                        <p:tgtEl>
                                          <p:spTgt spid="926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9276"/>
                                        </p:tgtEl>
                                        <p:attrNameLst>
                                          <p:attrName>style.visibility</p:attrName>
                                        </p:attrNameLst>
                                      </p:cBhvr>
                                      <p:to>
                                        <p:strVal val="visible"/>
                                      </p:to>
                                    </p:set>
                                    <p:animEffect transition="in" filter="wipe(left)">
                                      <p:cBhvr>
                                        <p:cTn id="57" dur="500"/>
                                        <p:tgtEl>
                                          <p:spTgt spid="927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9277"/>
                                        </p:tgtEl>
                                        <p:attrNameLst>
                                          <p:attrName>style.visibility</p:attrName>
                                        </p:attrNameLst>
                                      </p:cBhvr>
                                      <p:to>
                                        <p:strVal val="visible"/>
                                      </p:to>
                                    </p:set>
                                    <p:animEffect transition="in" filter="wipe(left)">
                                      <p:cBhvr>
                                        <p:cTn id="62" dur="500"/>
                                        <p:tgtEl>
                                          <p:spTgt spid="927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9279"/>
                                        </p:tgtEl>
                                        <p:attrNameLst>
                                          <p:attrName>style.visibility</p:attrName>
                                        </p:attrNameLst>
                                      </p:cBhvr>
                                      <p:to>
                                        <p:strVal val="visible"/>
                                      </p:to>
                                    </p:set>
                                    <p:animEffect transition="in" filter="wipe(left)">
                                      <p:cBhvr>
                                        <p:cTn id="67" dur="500"/>
                                        <p:tgtEl>
                                          <p:spTgt spid="927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9280"/>
                                        </p:tgtEl>
                                        <p:attrNameLst>
                                          <p:attrName>style.visibility</p:attrName>
                                        </p:attrNameLst>
                                      </p:cBhvr>
                                      <p:to>
                                        <p:strVal val="visible"/>
                                      </p:to>
                                    </p:set>
                                    <p:animEffect transition="in" filter="wipe(left)">
                                      <p:cBhvr>
                                        <p:cTn id="72" dur="500"/>
                                        <p:tgtEl>
                                          <p:spTgt spid="928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9281"/>
                                        </p:tgtEl>
                                        <p:attrNameLst>
                                          <p:attrName>style.visibility</p:attrName>
                                        </p:attrNameLst>
                                      </p:cBhvr>
                                      <p:to>
                                        <p:strVal val="visible"/>
                                      </p:to>
                                    </p:set>
                                    <p:animEffect transition="in" filter="wipe(left)">
                                      <p:cBhvr>
                                        <p:cTn id="77" dur="500"/>
                                        <p:tgtEl>
                                          <p:spTgt spid="928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9282"/>
                                        </p:tgtEl>
                                        <p:attrNameLst>
                                          <p:attrName>style.visibility</p:attrName>
                                        </p:attrNameLst>
                                      </p:cBhvr>
                                      <p:to>
                                        <p:strVal val="visible"/>
                                      </p:to>
                                    </p:set>
                                    <p:animEffect transition="in" filter="wipe(left)">
                                      <p:cBhvr>
                                        <p:cTn id="82" dur="500"/>
                                        <p:tgtEl>
                                          <p:spTgt spid="928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9285"/>
                                        </p:tgtEl>
                                        <p:attrNameLst>
                                          <p:attrName>style.visibility</p:attrName>
                                        </p:attrNameLst>
                                      </p:cBhvr>
                                      <p:to>
                                        <p:strVal val="visible"/>
                                      </p:to>
                                    </p:set>
                                    <p:animEffect transition="in" filter="wipe(left)">
                                      <p:cBhvr>
                                        <p:cTn id="87" dur="500"/>
                                        <p:tgtEl>
                                          <p:spTgt spid="9285"/>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9283"/>
                                        </p:tgtEl>
                                        <p:attrNameLst>
                                          <p:attrName>style.visibility</p:attrName>
                                        </p:attrNameLst>
                                      </p:cBhvr>
                                      <p:to>
                                        <p:strVal val="visible"/>
                                      </p:to>
                                    </p:set>
                                    <p:animEffect transition="in" filter="wipe(left)">
                                      <p:cBhvr>
                                        <p:cTn id="92" dur="500"/>
                                        <p:tgtEl>
                                          <p:spTgt spid="9283"/>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9284"/>
                                        </p:tgtEl>
                                        <p:attrNameLst>
                                          <p:attrName>style.visibility</p:attrName>
                                        </p:attrNameLst>
                                      </p:cBhvr>
                                      <p:to>
                                        <p:strVal val="visible"/>
                                      </p:to>
                                    </p:set>
                                    <p:animEffect transition="in" filter="wipe(left)">
                                      <p:cBhvr>
                                        <p:cTn id="97" dur="500"/>
                                        <p:tgtEl>
                                          <p:spTgt spid="9284"/>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9271"/>
                                        </p:tgtEl>
                                        <p:attrNameLst>
                                          <p:attrName>style.visibility</p:attrName>
                                        </p:attrNameLst>
                                      </p:cBhvr>
                                      <p:to>
                                        <p:strVal val="visible"/>
                                      </p:to>
                                    </p:set>
                                    <p:animEffect transition="in" filter="wipe(left)">
                                      <p:cBhvr>
                                        <p:cTn id="102" dur="500"/>
                                        <p:tgtEl>
                                          <p:spTgt spid="927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9278"/>
                                        </p:tgtEl>
                                        <p:attrNameLst>
                                          <p:attrName>style.visibility</p:attrName>
                                        </p:attrNameLst>
                                      </p:cBhvr>
                                      <p:to>
                                        <p:strVal val="visible"/>
                                      </p:to>
                                    </p:set>
                                    <p:animEffect transition="in" filter="wipe(left)">
                                      <p:cBhvr>
                                        <p:cTn id="107" dur="500"/>
                                        <p:tgtEl>
                                          <p:spTgt spid="9278"/>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9286"/>
                                        </p:tgtEl>
                                        <p:attrNameLst>
                                          <p:attrName>style.visibility</p:attrName>
                                        </p:attrNameLst>
                                      </p:cBhvr>
                                      <p:to>
                                        <p:strVal val="visible"/>
                                      </p:to>
                                    </p:set>
                                    <p:animEffect transition="in" filter="wipe(left)">
                                      <p:cBhvr>
                                        <p:cTn id="112" dur="500"/>
                                        <p:tgtEl>
                                          <p:spTgt spid="9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65" grpId="0" animBg="1"/>
      <p:bldP spid="9266" grpId="0" animBg="1"/>
      <p:bldP spid="9267" grpId="0" animBg="1"/>
      <p:bldP spid="9268" grpId="0" animBg="1"/>
      <p:bldP spid="9269" grpId="0" animBg="1"/>
      <p:bldP spid="9270" grpId="0" animBg="1"/>
      <p:bldP spid="9271" grpId="0" animBg="1"/>
      <p:bldP spid="9278" grpId="0" animBg="1"/>
      <p:bldP spid="9279" grpId="0"/>
      <p:bldP spid="9280" grpId="0" autoUpdateAnimBg="0"/>
      <p:bldP spid="9285" grpId="0" animBg="1"/>
      <p:bldP spid="9286"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矩形 1"/>
          <p:cNvSpPr>
            <a:spLocks noChangeArrowheads="1"/>
          </p:cNvSpPr>
          <p:nvPr/>
        </p:nvSpPr>
        <p:spPr bwMode="auto">
          <a:xfrm>
            <a:off x="95708" y="595320"/>
            <a:ext cx="518408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FFC000"/>
                </a:solidFill>
                <a:latin typeface="+mn-lt"/>
              </a:rPr>
              <a:t>曲柄连杆机构是将转动转换为平动的机械机构</a:t>
            </a:r>
            <a:r>
              <a:rPr lang="zh-CN" altLang="en-US" sz="2400" b="1" dirty="0">
                <a:solidFill>
                  <a:schemeClr val="bg1"/>
                </a:solidFill>
                <a:latin typeface="+mn-lt"/>
              </a:rPr>
              <a:t>，</a:t>
            </a:r>
            <a:r>
              <a:rPr lang="zh-CN" altLang="zh-CN" sz="2400" b="1" dirty="0">
                <a:solidFill>
                  <a:schemeClr val="bg1"/>
                </a:solidFill>
                <a:latin typeface="+mn-lt"/>
              </a:rPr>
              <a:t>装置如图，曲柄长度为</a:t>
            </a:r>
            <a:r>
              <a:rPr lang="en-US" altLang="zh-CN" sz="2400" b="1" i="1" dirty="0">
                <a:solidFill>
                  <a:schemeClr val="bg1"/>
                </a:solidFill>
                <a:latin typeface="+mn-lt"/>
              </a:rPr>
              <a:t>r</a:t>
            </a:r>
            <a:r>
              <a:rPr lang="zh-CN" altLang="zh-CN" sz="2400" b="1" dirty="0">
                <a:solidFill>
                  <a:schemeClr val="bg1"/>
                </a:solidFill>
                <a:latin typeface="+mn-lt"/>
              </a:rPr>
              <a:t>，与</a:t>
            </a:r>
            <a:r>
              <a:rPr lang="en-US" altLang="zh-CN" sz="2400" b="1" i="1" dirty="0">
                <a:solidFill>
                  <a:schemeClr val="bg1"/>
                </a:solidFill>
                <a:latin typeface="+mn-lt"/>
              </a:rPr>
              <a:t>x</a:t>
            </a:r>
            <a:r>
              <a:rPr lang="zh-CN" altLang="zh-CN" sz="2400" b="1" dirty="0">
                <a:solidFill>
                  <a:schemeClr val="bg1"/>
                </a:solidFill>
                <a:latin typeface="+mn-lt"/>
              </a:rPr>
              <a:t>轴的夹角</a:t>
            </a:r>
            <a:r>
              <a:rPr lang="en-US" altLang="zh-CN" sz="2400" b="1" i="1" dirty="0">
                <a:solidFill>
                  <a:schemeClr val="bg1"/>
                </a:solidFill>
                <a:latin typeface="+mn-lt"/>
              </a:rPr>
              <a:t>φ</a:t>
            </a:r>
            <a:r>
              <a:rPr lang="zh-CN" altLang="zh-CN" sz="2400" b="1" dirty="0">
                <a:solidFill>
                  <a:schemeClr val="bg1"/>
                </a:solidFill>
                <a:latin typeface="+mn-lt"/>
              </a:rPr>
              <a:t>＝</a:t>
            </a:r>
            <a:r>
              <a:rPr lang="en-US" altLang="zh-CN" sz="2400" b="1" i="1" dirty="0" err="1">
                <a:solidFill>
                  <a:schemeClr val="bg1"/>
                </a:solidFill>
                <a:latin typeface="+mn-lt"/>
              </a:rPr>
              <a:t>ωt</a:t>
            </a:r>
            <a:r>
              <a:rPr lang="zh-CN" altLang="zh-CN" sz="2400" b="1" dirty="0">
                <a:solidFill>
                  <a:schemeClr val="bg1"/>
                </a:solidFill>
                <a:latin typeface="+mn-lt"/>
              </a:rPr>
              <a:t>，其中</a:t>
            </a:r>
            <a:r>
              <a:rPr lang="en-US" altLang="zh-CN" sz="2400" b="1" i="1" dirty="0">
                <a:solidFill>
                  <a:schemeClr val="bg1"/>
                </a:solidFill>
                <a:latin typeface="+mn-lt"/>
              </a:rPr>
              <a:t>ω</a:t>
            </a:r>
            <a:r>
              <a:rPr lang="zh-CN" altLang="zh-CN" sz="2400" b="1" dirty="0">
                <a:solidFill>
                  <a:schemeClr val="bg1"/>
                </a:solidFill>
                <a:latin typeface="+mn-lt"/>
              </a:rPr>
              <a:t>为常量。</a:t>
            </a:r>
          </a:p>
          <a:p>
            <a:r>
              <a:rPr lang="zh-CN" altLang="zh-CN" sz="2400" b="1" dirty="0">
                <a:solidFill>
                  <a:schemeClr val="bg1"/>
                </a:solidFill>
                <a:latin typeface="+mn-lt"/>
              </a:rPr>
              <a:t>求：</a:t>
            </a:r>
            <a:r>
              <a:rPr lang="en-US" altLang="zh-CN" sz="2400" b="1" dirty="0">
                <a:solidFill>
                  <a:schemeClr val="bg1"/>
                </a:solidFill>
                <a:latin typeface="+mn-lt"/>
              </a:rPr>
              <a:t>T</a:t>
            </a:r>
            <a:r>
              <a:rPr lang="zh-CN" altLang="zh-CN" sz="2400" b="1" dirty="0">
                <a:solidFill>
                  <a:schemeClr val="bg1"/>
                </a:solidFill>
                <a:latin typeface="+mn-lt"/>
              </a:rPr>
              <a:t>形连杆在</a:t>
            </a:r>
            <a:r>
              <a:rPr lang="en-US" altLang="zh-CN" sz="2400" b="1" dirty="0">
                <a:solidFill>
                  <a:schemeClr val="bg1"/>
                </a:solidFill>
                <a:latin typeface="+mn-lt"/>
              </a:rPr>
              <a:t>t</a:t>
            </a:r>
            <a:r>
              <a:rPr lang="zh-CN" altLang="zh-CN" sz="2400" b="1" dirty="0">
                <a:solidFill>
                  <a:schemeClr val="bg1"/>
                </a:solidFill>
                <a:latin typeface="+mn-lt"/>
              </a:rPr>
              <a:t>时刻的速度和加速度。</a:t>
            </a:r>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3322" y="475953"/>
            <a:ext cx="3533775" cy="178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8" name="矩形 2"/>
          <p:cNvSpPr>
            <a:spLocks noChangeArrowheads="1"/>
          </p:cNvSpPr>
          <p:nvPr/>
        </p:nvSpPr>
        <p:spPr bwMode="auto">
          <a:xfrm>
            <a:off x="-22225" y="14288"/>
            <a:ext cx="27099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a:solidFill>
                  <a:srgbClr val="FFC000"/>
                </a:solidFill>
                <a:latin typeface="+mn-lt"/>
              </a:rPr>
              <a:t>书中例题</a:t>
            </a:r>
            <a:r>
              <a:rPr lang="en-US" altLang="zh-CN" sz="2400" b="1">
                <a:solidFill>
                  <a:srgbClr val="FFC000"/>
                </a:solidFill>
                <a:latin typeface="+mn-lt"/>
              </a:rPr>
              <a:t>5.1(P.182)</a:t>
            </a:r>
            <a:endParaRPr lang="zh-CN" altLang="zh-CN" sz="2400" b="1">
              <a:solidFill>
                <a:srgbClr val="FFC000"/>
              </a:solidFill>
              <a:latin typeface="+mn-lt"/>
            </a:endParaRPr>
          </a:p>
        </p:txBody>
      </p:sp>
      <p:sp>
        <p:nvSpPr>
          <p:cNvPr id="4" name="矩形 3"/>
          <p:cNvSpPr>
            <a:spLocks noChangeArrowheads="1"/>
          </p:cNvSpPr>
          <p:nvPr/>
        </p:nvSpPr>
        <p:spPr bwMode="auto">
          <a:xfrm>
            <a:off x="755650" y="2420938"/>
            <a:ext cx="76327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zh-CN" sz="2400" b="1" dirty="0">
                <a:solidFill>
                  <a:schemeClr val="bg1"/>
                </a:solidFill>
                <a:latin typeface="+mn-lt"/>
              </a:rPr>
              <a:t>解：</a:t>
            </a:r>
            <a:r>
              <a:rPr lang="en-US" altLang="zh-CN" sz="2400" b="1" dirty="0">
                <a:solidFill>
                  <a:schemeClr val="bg1"/>
                </a:solidFill>
                <a:latin typeface="+mn-lt"/>
              </a:rPr>
              <a:t>T</a:t>
            </a:r>
            <a:r>
              <a:rPr lang="zh-CN" altLang="zh-CN" sz="2400" b="1" dirty="0">
                <a:solidFill>
                  <a:schemeClr val="bg1"/>
                </a:solidFill>
                <a:latin typeface="+mn-lt"/>
              </a:rPr>
              <a:t>形连杆的运动为平动，∴连杆上任意点的速度和加速度都相同。以杆上</a:t>
            </a:r>
            <a:r>
              <a:rPr lang="en-US" altLang="zh-CN" sz="2400" b="1" dirty="0">
                <a:solidFill>
                  <a:schemeClr val="bg1"/>
                </a:solidFill>
                <a:latin typeface="+mn-lt"/>
              </a:rPr>
              <a:t>M</a:t>
            </a:r>
            <a:r>
              <a:rPr lang="zh-CN" altLang="zh-CN" sz="2400" b="1" dirty="0">
                <a:solidFill>
                  <a:schemeClr val="bg1"/>
                </a:solidFill>
                <a:latin typeface="+mn-lt"/>
              </a:rPr>
              <a:t>点为研究对象：</a:t>
            </a:r>
          </a:p>
          <a:p>
            <a:pPr>
              <a:lnSpc>
                <a:spcPct val="150000"/>
              </a:lnSpc>
            </a:pPr>
            <a:r>
              <a:rPr lang="en-US" altLang="zh-CN" sz="2400" b="1" i="1">
                <a:solidFill>
                  <a:schemeClr val="bg1"/>
                </a:solidFill>
                <a:latin typeface="+mn-lt"/>
              </a:rPr>
              <a:t>                                         x</a:t>
            </a:r>
            <a:r>
              <a:rPr lang="zh-CN" altLang="zh-CN" sz="2400" b="1" dirty="0">
                <a:solidFill>
                  <a:schemeClr val="bg1"/>
                </a:solidFill>
                <a:latin typeface="+mn-lt"/>
              </a:rPr>
              <a:t>＝</a:t>
            </a:r>
            <a:r>
              <a:rPr lang="en-US" altLang="zh-CN" sz="2400" b="1" i="1" dirty="0" err="1">
                <a:solidFill>
                  <a:schemeClr val="bg1"/>
                </a:solidFill>
                <a:latin typeface="+mn-lt"/>
              </a:rPr>
              <a:t>r</a:t>
            </a:r>
            <a:r>
              <a:rPr lang="en-US" altLang="zh-CN" sz="2400" b="1" dirty="0" err="1">
                <a:solidFill>
                  <a:schemeClr val="bg1"/>
                </a:solidFill>
                <a:latin typeface="+mn-lt"/>
              </a:rPr>
              <a:t>cos</a:t>
            </a:r>
            <a:r>
              <a:rPr lang="en-US" altLang="zh-CN" sz="2400" b="1" i="1" dirty="0" err="1">
                <a:solidFill>
                  <a:schemeClr val="bg1"/>
                </a:solidFill>
                <a:latin typeface="+mn-lt"/>
              </a:rPr>
              <a:t>ωt</a:t>
            </a:r>
            <a:endParaRPr lang="zh-CN" altLang="zh-CN" sz="2400" b="1" i="1" dirty="0">
              <a:solidFill>
                <a:schemeClr val="bg1"/>
              </a:solidFill>
              <a:latin typeface="+mn-lt"/>
            </a:endParaRPr>
          </a:p>
          <a:p>
            <a:pPr>
              <a:lnSpc>
                <a:spcPct val="150000"/>
              </a:lnSpc>
            </a:pPr>
            <a:r>
              <a:rPr lang="zh-CN" altLang="zh-CN" sz="2400" b="1" dirty="0">
                <a:solidFill>
                  <a:schemeClr val="bg1"/>
                </a:solidFill>
                <a:latin typeface="+mn-lt"/>
              </a:rPr>
              <a:t>对时间</a:t>
            </a:r>
            <a:r>
              <a:rPr lang="en-US" altLang="zh-CN" sz="2400" b="1" i="1" dirty="0">
                <a:solidFill>
                  <a:schemeClr val="bg1"/>
                </a:solidFill>
                <a:latin typeface="+mn-lt"/>
              </a:rPr>
              <a:t>t</a:t>
            </a:r>
            <a:r>
              <a:rPr lang="zh-CN" altLang="zh-CN" sz="2400" b="1" dirty="0">
                <a:solidFill>
                  <a:schemeClr val="bg1"/>
                </a:solidFill>
                <a:latin typeface="+mn-lt"/>
              </a:rPr>
              <a:t>求导得速度和加速度：</a:t>
            </a:r>
          </a:p>
          <a:p>
            <a:pPr>
              <a:lnSpc>
                <a:spcPct val="150000"/>
              </a:lnSpc>
            </a:pPr>
            <a:r>
              <a:rPr lang="en-US" altLang="zh-CN" sz="2400" b="1" i="1">
                <a:solidFill>
                  <a:schemeClr val="bg1"/>
                </a:solidFill>
                <a:latin typeface="+mn-lt"/>
              </a:rPr>
              <a:t>                                        v</a:t>
            </a:r>
            <a:r>
              <a:rPr lang="zh-CN" altLang="zh-CN" sz="2400" b="1" dirty="0">
                <a:solidFill>
                  <a:schemeClr val="bg1"/>
                </a:solidFill>
                <a:latin typeface="+mn-lt"/>
              </a:rPr>
              <a:t>＝－</a:t>
            </a:r>
            <a:r>
              <a:rPr lang="en-US" altLang="zh-CN" sz="2400" b="1" i="1" dirty="0" err="1">
                <a:solidFill>
                  <a:schemeClr val="bg1"/>
                </a:solidFill>
                <a:latin typeface="+mn-lt"/>
              </a:rPr>
              <a:t>rω</a:t>
            </a:r>
            <a:r>
              <a:rPr lang="en-US" altLang="zh-CN" sz="2400" b="1" dirty="0" err="1">
                <a:solidFill>
                  <a:schemeClr val="bg1"/>
                </a:solidFill>
                <a:latin typeface="+mn-lt"/>
              </a:rPr>
              <a:t>sin</a:t>
            </a:r>
            <a:r>
              <a:rPr lang="en-US" altLang="zh-CN" sz="2400" b="1" i="1" dirty="0" err="1">
                <a:solidFill>
                  <a:schemeClr val="bg1"/>
                </a:solidFill>
                <a:latin typeface="+mn-lt"/>
              </a:rPr>
              <a:t>ωt</a:t>
            </a:r>
            <a:endParaRPr lang="zh-CN" altLang="zh-CN" sz="2400" b="1" i="1" dirty="0">
              <a:solidFill>
                <a:schemeClr val="bg1"/>
              </a:solidFill>
              <a:latin typeface="+mn-lt"/>
            </a:endParaRPr>
          </a:p>
          <a:p>
            <a:pPr>
              <a:lnSpc>
                <a:spcPct val="150000"/>
              </a:lnSpc>
            </a:pPr>
            <a:r>
              <a:rPr lang="en-US" altLang="zh-CN" sz="2400" b="1" i="1">
                <a:solidFill>
                  <a:schemeClr val="bg1"/>
                </a:solidFill>
                <a:latin typeface="+mn-lt"/>
              </a:rPr>
              <a:t>                                        a</a:t>
            </a:r>
            <a:r>
              <a:rPr lang="zh-CN" altLang="zh-CN" sz="2400" b="1" dirty="0">
                <a:solidFill>
                  <a:schemeClr val="bg1"/>
                </a:solidFill>
                <a:latin typeface="+mn-lt"/>
              </a:rPr>
              <a:t>＝－</a:t>
            </a:r>
            <a:r>
              <a:rPr lang="en-US" altLang="zh-CN" sz="2400" b="1" i="1" dirty="0">
                <a:solidFill>
                  <a:schemeClr val="bg1"/>
                </a:solidFill>
                <a:latin typeface="+mn-lt"/>
              </a:rPr>
              <a:t>rω</a:t>
            </a:r>
            <a:r>
              <a:rPr lang="en-US" altLang="zh-CN" sz="2400" b="1" baseline="30000" dirty="0">
                <a:solidFill>
                  <a:schemeClr val="bg1"/>
                </a:solidFill>
                <a:latin typeface="+mn-lt"/>
              </a:rPr>
              <a:t>2</a:t>
            </a:r>
            <a:r>
              <a:rPr lang="en-US" altLang="zh-CN" sz="2400" b="1" dirty="0">
                <a:solidFill>
                  <a:schemeClr val="bg1"/>
                </a:solidFill>
                <a:latin typeface="+mn-lt"/>
              </a:rPr>
              <a:t>cos</a:t>
            </a:r>
            <a:r>
              <a:rPr lang="en-US" altLang="zh-CN" sz="2400" b="1" i="1" dirty="0">
                <a:solidFill>
                  <a:schemeClr val="bg1"/>
                </a:solidFill>
                <a:latin typeface="+mn-lt"/>
              </a:rPr>
              <a:t>ωt</a:t>
            </a:r>
            <a:endParaRPr lang="zh-CN" altLang="zh-CN" sz="2400" b="1" i="1" dirty="0">
              <a:solidFill>
                <a:schemeClr val="bg1"/>
              </a:solidFill>
              <a:latin typeface="+mn-lt"/>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Rectangle 6"/>
          <p:cNvSpPr>
            <a:spLocks noChangeArrowheads="1"/>
          </p:cNvSpPr>
          <p:nvPr/>
        </p:nvSpPr>
        <p:spPr bwMode="auto">
          <a:xfrm>
            <a:off x="179388" y="404813"/>
            <a:ext cx="59055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r>
              <a:rPr lang="zh-CN" altLang="en-US" sz="2800" b="1">
                <a:solidFill>
                  <a:srgbClr val="FFFF00"/>
                </a:solidFill>
                <a:latin typeface="宋体" pitchFamily="2" charset="-122"/>
              </a:rPr>
              <a:t>三</a:t>
            </a:r>
            <a:r>
              <a:rPr lang="en-US" altLang="zh-CN" sz="2800" b="1">
                <a:solidFill>
                  <a:srgbClr val="FFFF00"/>
                </a:solidFill>
                <a:latin typeface="宋体" pitchFamily="2" charset="-122"/>
              </a:rPr>
              <a:t>.</a:t>
            </a:r>
            <a:r>
              <a:rPr lang="zh-CN" altLang="en-US" sz="2800" b="1">
                <a:solidFill>
                  <a:srgbClr val="FFFF00"/>
                </a:solidFill>
                <a:latin typeface="宋体" pitchFamily="2" charset="-122"/>
              </a:rPr>
              <a:t>刚体绕定轴转动</a:t>
            </a:r>
          </a:p>
        </p:txBody>
      </p:sp>
      <p:sp>
        <p:nvSpPr>
          <p:cNvPr id="13638" name="Text Box 326"/>
          <p:cNvSpPr txBox="1">
            <a:spLocks noChangeArrowheads="1"/>
          </p:cNvSpPr>
          <p:nvPr/>
        </p:nvSpPr>
        <p:spPr bwMode="auto">
          <a:xfrm>
            <a:off x="755650" y="954088"/>
            <a:ext cx="76327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60000"/>
              </a:lnSpc>
            </a:pPr>
            <a:r>
              <a:rPr lang="zh-CN" altLang="en-US" sz="2400" b="1">
                <a:solidFill>
                  <a:schemeClr val="bg1"/>
                </a:solidFill>
                <a:latin typeface="宋体" pitchFamily="2" charset="-122"/>
              </a:rPr>
              <a:t>刚体内各点都绕同一直线</a:t>
            </a:r>
            <a:r>
              <a:rPr lang="en-US" altLang="zh-CN" sz="2400" b="1">
                <a:solidFill>
                  <a:schemeClr val="bg1"/>
                </a:solidFill>
                <a:latin typeface="宋体" pitchFamily="2" charset="-122"/>
              </a:rPr>
              <a:t>(</a:t>
            </a:r>
            <a:r>
              <a:rPr lang="zh-CN" altLang="en-US" sz="2400" b="1">
                <a:solidFill>
                  <a:schemeClr val="bg1"/>
                </a:solidFill>
                <a:latin typeface="宋体" pitchFamily="2" charset="-122"/>
              </a:rPr>
              <a:t>转轴</a:t>
            </a:r>
            <a:r>
              <a:rPr lang="en-US" altLang="zh-CN" sz="2400" b="1">
                <a:solidFill>
                  <a:schemeClr val="bg1"/>
                </a:solidFill>
                <a:latin typeface="宋体" pitchFamily="2" charset="-122"/>
              </a:rPr>
              <a:t>)</a:t>
            </a:r>
            <a:r>
              <a:rPr lang="zh-CN" altLang="en-US" sz="2400" b="1">
                <a:solidFill>
                  <a:schemeClr val="bg1"/>
                </a:solidFill>
                <a:latin typeface="宋体" pitchFamily="2" charset="-122"/>
              </a:rPr>
              <a:t>作</a:t>
            </a:r>
            <a:r>
              <a:rPr lang="zh-CN" altLang="en-US" sz="2400" b="1">
                <a:solidFill>
                  <a:srgbClr val="66FFFF"/>
                </a:solidFill>
                <a:latin typeface="宋体" pitchFamily="2" charset="-122"/>
              </a:rPr>
              <a:t>圆周</a:t>
            </a:r>
            <a:r>
              <a:rPr lang="zh-CN" altLang="en-US" sz="2400" b="1">
                <a:solidFill>
                  <a:schemeClr val="bg1"/>
                </a:solidFill>
                <a:latin typeface="宋体" pitchFamily="2" charset="-122"/>
              </a:rPr>
              <a:t>运动</a:t>
            </a:r>
            <a:r>
              <a:rPr lang="en-US" altLang="zh-CN" sz="2400" b="1" baseline="30000">
                <a:solidFill>
                  <a:schemeClr val="bg1"/>
                </a:solidFill>
                <a:latin typeface="宋体" pitchFamily="2" charset="-122"/>
              </a:rPr>
              <a:t>___</a:t>
            </a:r>
            <a:r>
              <a:rPr lang="zh-CN" altLang="en-US" sz="2400" b="1">
                <a:solidFill>
                  <a:schemeClr val="bg1"/>
                </a:solidFill>
                <a:latin typeface="宋体" pitchFamily="2" charset="-122"/>
              </a:rPr>
              <a:t>刚体转动</a:t>
            </a:r>
          </a:p>
        </p:txBody>
      </p:sp>
      <p:sp>
        <p:nvSpPr>
          <p:cNvPr id="13639" name="Rectangle 327"/>
          <p:cNvSpPr>
            <a:spLocks noChangeArrowheads="1"/>
          </p:cNvSpPr>
          <p:nvPr/>
        </p:nvSpPr>
        <p:spPr bwMode="auto">
          <a:xfrm>
            <a:off x="755650" y="1700213"/>
            <a:ext cx="2592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a:solidFill>
                  <a:schemeClr val="bg1"/>
                </a:solidFill>
                <a:latin typeface="Times New Roman" pitchFamily="18" charset="0"/>
              </a:rPr>
              <a:t>转轴固定不动</a:t>
            </a:r>
          </a:p>
        </p:txBody>
      </p:sp>
      <p:sp>
        <p:nvSpPr>
          <p:cNvPr id="13640" name="Text Box 328"/>
          <p:cNvSpPr txBox="1">
            <a:spLocks noChangeArrowheads="1"/>
          </p:cNvSpPr>
          <p:nvPr/>
        </p:nvSpPr>
        <p:spPr bwMode="auto">
          <a:xfrm>
            <a:off x="2700338" y="1693863"/>
            <a:ext cx="295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i="1">
                <a:solidFill>
                  <a:schemeClr val="bg1"/>
                </a:solidFill>
                <a:latin typeface="宋体" pitchFamily="2" charset="-122"/>
              </a:rPr>
              <a:t>— </a:t>
            </a:r>
            <a:r>
              <a:rPr lang="zh-CN" altLang="en-US" sz="2400" b="1">
                <a:solidFill>
                  <a:srgbClr val="66FFFF"/>
                </a:solidFill>
                <a:latin typeface="Times New Roman" pitchFamily="18" charset="0"/>
              </a:rPr>
              <a:t>定轴转动</a:t>
            </a:r>
          </a:p>
        </p:txBody>
      </p:sp>
      <p:pic>
        <p:nvPicPr>
          <p:cNvPr id="7513" name="Picture 3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2348880"/>
            <a:ext cx="1728366" cy="3672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514" name="Picture 3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3140968"/>
            <a:ext cx="2448272" cy="2176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rrowheads="1"/>
          </p:cNvSpPr>
          <p:nvPr/>
        </p:nvSpPr>
        <p:spPr bwMode="auto">
          <a:xfrm>
            <a:off x="368299" y="1496738"/>
            <a:ext cx="524986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b="1">
                <a:solidFill>
                  <a:schemeClr val="bg1"/>
                </a:solidFill>
              </a:rPr>
              <a:t>刚体绕一固定轴转动，</a:t>
            </a:r>
            <a:r>
              <a:rPr lang="zh-CN" altLang="en-US" sz="2400" b="1">
                <a:solidFill>
                  <a:schemeClr val="bg1"/>
                </a:solidFill>
              </a:rPr>
              <a:t>它只有一个自由度，</a:t>
            </a:r>
            <a:r>
              <a:rPr lang="zh-CN" altLang="zh-CN" sz="2400" b="1">
                <a:solidFill>
                  <a:schemeClr val="bg1"/>
                </a:solidFill>
              </a:rPr>
              <a:t>转过的角度</a:t>
            </a:r>
            <a:r>
              <a:rPr lang="en-US" altLang="zh-CN" sz="2400" b="1" i="1">
                <a:solidFill>
                  <a:schemeClr val="bg1"/>
                </a:solidFill>
              </a:rPr>
              <a:t>θ</a:t>
            </a:r>
            <a:r>
              <a:rPr lang="zh-CN" altLang="zh-CN" sz="2400" b="1">
                <a:solidFill>
                  <a:schemeClr val="bg1"/>
                </a:solidFill>
              </a:rPr>
              <a:t>称为角位移</a:t>
            </a:r>
            <a:r>
              <a:rPr lang="zh-CN" altLang="en-US" sz="2400" b="1">
                <a:solidFill>
                  <a:schemeClr val="bg1"/>
                </a:solidFill>
              </a:rPr>
              <a:t>，它是时间的单值函数</a:t>
            </a:r>
            <a:r>
              <a:rPr lang="zh-CN" altLang="zh-CN" sz="2400" b="1">
                <a:solidFill>
                  <a:schemeClr val="bg1"/>
                </a:solidFill>
              </a:rPr>
              <a:t>。</a:t>
            </a:r>
          </a:p>
          <a:p>
            <a:r>
              <a:rPr lang="zh-CN" altLang="zh-CN" sz="2400" b="1">
                <a:solidFill>
                  <a:schemeClr val="bg1"/>
                </a:solidFill>
              </a:rPr>
              <a:t>角位移的单位：</a:t>
            </a:r>
            <a:r>
              <a:rPr lang="en-US" altLang="zh-CN" sz="2400" b="1">
                <a:solidFill>
                  <a:schemeClr val="bg1"/>
                </a:solidFill>
                <a:latin typeface="+mn-lt"/>
              </a:rPr>
              <a:t>rad</a:t>
            </a:r>
            <a:r>
              <a:rPr lang="zh-CN" altLang="zh-CN" sz="2400" b="1">
                <a:solidFill>
                  <a:schemeClr val="bg1"/>
                </a:solidFill>
              </a:rPr>
              <a:t>（弧度） ；角位移的方向：右手定则，符合右手定则的方向为“＋”；反之为“－”</a:t>
            </a:r>
          </a:p>
        </p:txBody>
      </p:sp>
      <p:graphicFrame>
        <p:nvGraphicFramePr>
          <p:cNvPr id="5" name="Object 3"/>
          <p:cNvGraphicFramePr>
            <a:graphicFrameLocks/>
          </p:cNvGraphicFramePr>
          <p:nvPr>
            <p:extLst>
              <p:ext uri="{D42A27DB-BD31-4B8C-83A1-F6EECF244321}">
                <p14:modId xmlns:p14="http://schemas.microsoft.com/office/powerpoint/2010/main" val="2148164995"/>
              </p:ext>
            </p:extLst>
          </p:nvPr>
        </p:nvGraphicFramePr>
        <p:xfrm>
          <a:off x="2365374" y="3979588"/>
          <a:ext cx="1255713" cy="484188"/>
        </p:xfrm>
        <a:graphic>
          <a:graphicData uri="http://schemas.openxmlformats.org/presentationml/2006/ole">
            <mc:AlternateContent xmlns:mc="http://schemas.openxmlformats.org/markup-compatibility/2006">
              <mc:Choice xmlns:v="urn:schemas-microsoft-com:vml" Requires="v">
                <p:oleObj spid="_x0000_s2056" name="Equation" r:id="rId3" imgW="1114316" imgH="304755" progId="Equation.3">
                  <p:embed/>
                </p:oleObj>
              </mc:Choice>
              <mc:Fallback>
                <p:oleObj name="Equation" r:id="rId3" imgW="1114316" imgH="304755"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5374" y="3979588"/>
                        <a:ext cx="1255713"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324"/>
          <p:cNvSpPr>
            <a:spLocks noChangeArrowheads="1"/>
          </p:cNvSpPr>
          <p:nvPr/>
        </p:nvSpPr>
        <p:spPr bwMode="auto">
          <a:xfrm>
            <a:off x="112712" y="332656"/>
            <a:ext cx="5505451"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0" hangingPunct="0"/>
            <a:r>
              <a:rPr lang="en-US" altLang="zh-CN" sz="2400" b="1">
                <a:solidFill>
                  <a:srgbClr val="FFFF00"/>
                </a:solidFill>
                <a:latin typeface="Times New Roman" pitchFamily="18" charset="0"/>
              </a:rPr>
              <a:t>1. </a:t>
            </a:r>
            <a:r>
              <a:rPr lang="zh-CN" altLang="en-US" sz="2400" b="1">
                <a:solidFill>
                  <a:srgbClr val="FFFF00"/>
                </a:solidFill>
                <a:latin typeface="Times New Roman" pitchFamily="18" charset="0"/>
              </a:rPr>
              <a:t>描述 刚体绕定轴转动的角量</a:t>
            </a:r>
            <a:endParaRPr lang="zh-CN" altLang="en-US" sz="2400" b="1">
              <a:solidFill>
                <a:srgbClr val="FFFF00"/>
              </a:solidFill>
              <a:latin typeface="Times New Roman" pitchFamily="18" charset="0"/>
              <a:ea typeface="黑体" pitchFamily="49" charset="-122"/>
            </a:endParaRPr>
          </a:p>
        </p:txBody>
      </p:sp>
      <p:sp>
        <p:nvSpPr>
          <p:cNvPr id="7" name="Rectangle 2"/>
          <p:cNvSpPr>
            <a:spLocks noChangeArrowheads="1"/>
          </p:cNvSpPr>
          <p:nvPr/>
        </p:nvSpPr>
        <p:spPr bwMode="auto">
          <a:xfrm>
            <a:off x="6605597" y="1907977"/>
            <a:ext cx="1098550" cy="2414587"/>
          </a:xfrm>
          <a:prstGeom prst="rect">
            <a:avLst/>
          </a:prstGeom>
          <a:gradFill rotWithShape="1">
            <a:gsLst>
              <a:gs pos="0">
                <a:schemeClr val="accent1">
                  <a:alpha val="67999"/>
                </a:schemeClr>
              </a:gs>
              <a:gs pos="50000">
                <a:schemeClr val="accent1">
                  <a:gamma/>
                  <a:shade val="46275"/>
                  <a:invGamma/>
                  <a:alpha val="67999"/>
                </a:schemeClr>
              </a:gs>
              <a:gs pos="100000">
                <a:schemeClr val="accent1">
                  <a:alpha val="67999"/>
                </a:schemeClr>
              </a:gs>
            </a:gsLst>
            <a:lin ang="0" scaled="1"/>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grpSp>
        <p:nvGrpSpPr>
          <p:cNvPr id="8" name="Group 7"/>
          <p:cNvGrpSpPr>
            <a:grpSpLocks/>
          </p:cNvGrpSpPr>
          <p:nvPr/>
        </p:nvGrpSpPr>
        <p:grpSpPr bwMode="auto">
          <a:xfrm>
            <a:off x="6913572" y="631627"/>
            <a:ext cx="1689100" cy="4106862"/>
            <a:chOff x="3648" y="240"/>
            <a:chExt cx="1310" cy="3768"/>
          </a:xfrm>
        </p:grpSpPr>
        <p:sp>
          <p:nvSpPr>
            <p:cNvPr id="9" name="Rectangle 8"/>
            <p:cNvSpPr>
              <a:spLocks noChangeArrowheads="1"/>
            </p:cNvSpPr>
            <p:nvPr/>
          </p:nvSpPr>
          <p:spPr bwMode="auto">
            <a:xfrm>
              <a:off x="4276" y="3656"/>
              <a:ext cx="18" cy="24"/>
            </a:xfrm>
            <a:prstGeom prst="rect">
              <a:avLst/>
            </a:prstGeom>
            <a:solidFill>
              <a:srgbClr val="FFE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 name="Freeform 9"/>
            <p:cNvSpPr>
              <a:spLocks noEditPoints="1"/>
            </p:cNvSpPr>
            <p:nvPr/>
          </p:nvSpPr>
          <p:spPr bwMode="auto">
            <a:xfrm>
              <a:off x="4204" y="3644"/>
              <a:ext cx="60" cy="36"/>
            </a:xfrm>
            <a:custGeom>
              <a:avLst/>
              <a:gdLst>
                <a:gd name="T0" fmla="*/ 60 w 60"/>
                <a:gd name="T1" fmla="*/ 12 h 36"/>
                <a:gd name="T2" fmla="*/ 54 w 60"/>
                <a:gd name="T3" fmla="*/ 12 h 36"/>
                <a:gd name="T4" fmla="*/ 42 w 60"/>
                <a:gd name="T5" fmla="*/ 6 h 36"/>
                <a:gd name="T6" fmla="*/ 36 w 60"/>
                <a:gd name="T7" fmla="*/ 30 h 36"/>
                <a:gd name="T8" fmla="*/ 48 w 60"/>
                <a:gd name="T9" fmla="*/ 36 h 36"/>
                <a:gd name="T10" fmla="*/ 60 w 60"/>
                <a:gd name="T11" fmla="*/ 36 h 36"/>
                <a:gd name="T12" fmla="*/ 60 w 60"/>
                <a:gd name="T13" fmla="*/ 12 h 36"/>
                <a:gd name="T14" fmla="*/ 30 w 60"/>
                <a:gd name="T15" fmla="*/ 6 h 36"/>
                <a:gd name="T16" fmla="*/ 18 w 60"/>
                <a:gd name="T17" fmla="*/ 6 h 36"/>
                <a:gd name="T18" fmla="*/ 6 w 60"/>
                <a:gd name="T19" fmla="*/ 0 h 36"/>
                <a:gd name="T20" fmla="*/ 0 w 60"/>
                <a:gd name="T21" fmla="*/ 24 h 36"/>
                <a:gd name="T22" fmla="*/ 12 w 60"/>
                <a:gd name="T23" fmla="*/ 24 h 36"/>
                <a:gd name="T24" fmla="*/ 24 w 60"/>
                <a:gd name="T25" fmla="*/ 30 h 36"/>
                <a:gd name="T26" fmla="*/ 30 w 60"/>
                <a:gd name="T27" fmla="*/ 6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 h="36">
                  <a:moveTo>
                    <a:pt x="60" y="12"/>
                  </a:moveTo>
                  <a:lnTo>
                    <a:pt x="54" y="12"/>
                  </a:lnTo>
                  <a:lnTo>
                    <a:pt x="42" y="6"/>
                  </a:lnTo>
                  <a:lnTo>
                    <a:pt x="36" y="30"/>
                  </a:lnTo>
                  <a:lnTo>
                    <a:pt x="48" y="36"/>
                  </a:lnTo>
                  <a:lnTo>
                    <a:pt x="60" y="36"/>
                  </a:lnTo>
                  <a:lnTo>
                    <a:pt x="60" y="12"/>
                  </a:lnTo>
                  <a:close/>
                  <a:moveTo>
                    <a:pt x="30" y="6"/>
                  </a:moveTo>
                  <a:lnTo>
                    <a:pt x="18" y="6"/>
                  </a:lnTo>
                  <a:lnTo>
                    <a:pt x="6" y="0"/>
                  </a:lnTo>
                  <a:lnTo>
                    <a:pt x="0" y="24"/>
                  </a:lnTo>
                  <a:lnTo>
                    <a:pt x="12" y="24"/>
                  </a:lnTo>
                  <a:lnTo>
                    <a:pt x="24" y="30"/>
                  </a:lnTo>
                  <a:lnTo>
                    <a:pt x="30" y="6"/>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
            <p:cNvSpPr>
              <a:spLocks noEditPoints="1"/>
            </p:cNvSpPr>
            <p:nvPr/>
          </p:nvSpPr>
          <p:spPr bwMode="auto">
            <a:xfrm>
              <a:off x="4138" y="3614"/>
              <a:ext cx="66" cy="48"/>
            </a:xfrm>
            <a:custGeom>
              <a:avLst/>
              <a:gdLst>
                <a:gd name="T0" fmla="*/ 66 w 66"/>
                <a:gd name="T1" fmla="*/ 24 h 48"/>
                <a:gd name="T2" fmla="*/ 54 w 66"/>
                <a:gd name="T3" fmla="*/ 24 h 48"/>
                <a:gd name="T4" fmla="*/ 42 w 66"/>
                <a:gd name="T5" fmla="*/ 18 h 48"/>
                <a:gd name="T6" fmla="*/ 36 w 66"/>
                <a:gd name="T7" fmla="*/ 36 h 48"/>
                <a:gd name="T8" fmla="*/ 48 w 66"/>
                <a:gd name="T9" fmla="*/ 42 h 48"/>
                <a:gd name="T10" fmla="*/ 54 w 66"/>
                <a:gd name="T11" fmla="*/ 48 h 48"/>
                <a:gd name="T12" fmla="*/ 66 w 66"/>
                <a:gd name="T13" fmla="*/ 24 h 48"/>
                <a:gd name="T14" fmla="*/ 36 w 66"/>
                <a:gd name="T15" fmla="*/ 12 h 48"/>
                <a:gd name="T16" fmla="*/ 30 w 66"/>
                <a:gd name="T17" fmla="*/ 6 h 48"/>
                <a:gd name="T18" fmla="*/ 18 w 66"/>
                <a:gd name="T19" fmla="*/ 0 h 48"/>
                <a:gd name="T20" fmla="*/ 0 w 66"/>
                <a:gd name="T21" fmla="*/ 18 h 48"/>
                <a:gd name="T22" fmla="*/ 12 w 66"/>
                <a:gd name="T23" fmla="*/ 24 h 48"/>
                <a:gd name="T24" fmla="*/ 24 w 66"/>
                <a:gd name="T25" fmla="*/ 30 h 48"/>
                <a:gd name="T26" fmla="*/ 36 w 66"/>
                <a:gd name="T27" fmla="*/ 12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6" h="48">
                  <a:moveTo>
                    <a:pt x="66" y="24"/>
                  </a:moveTo>
                  <a:lnTo>
                    <a:pt x="54" y="24"/>
                  </a:lnTo>
                  <a:lnTo>
                    <a:pt x="42" y="18"/>
                  </a:lnTo>
                  <a:lnTo>
                    <a:pt x="36" y="36"/>
                  </a:lnTo>
                  <a:lnTo>
                    <a:pt x="48" y="42"/>
                  </a:lnTo>
                  <a:lnTo>
                    <a:pt x="54" y="48"/>
                  </a:lnTo>
                  <a:lnTo>
                    <a:pt x="66" y="24"/>
                  </a:lnTo>
                  <a:close/>
                  <a:moveTo>
                    <a:pt x="36" y="12"/>
                  </a:moveTo>
                  <a:lnTo>
                    <a:pt x="30" y="6"/>
                  </a:lnTo>
                  <a:lnTo>
                    <a:pt x="18" y="0"/>
                  </a:lnTo>
                  <a:lnTo>
                    <a:pt x="0" y="18"/>
                  </a:lnTo>
                  <a:lnTo>
                    <a:pt x="12" y="24"/>
                  </a:lnTo>
                  <a:lnTo>
                    <a:pt x="24" y="30"/>
                  </a:lnTo>
                  <a:lnTo>
                    <a:pt x="36" y="12"/>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1"/>
            <p:cNvSpPr>
              <a:spLocks noEditPoints="1"/>
            </p:cNvSpPr>
            <p:nvPr/>
          </p:nvSpPr>
          <p:spPr bwMode="auto">
            <a:xfrm>
              <a:off x="4085" y="3572"/>
              <a:ext cx="59" cy="54"/>
            </a:xfrm>
            <a:custGeom>
              <a:avLst/>
              <a:gdLst>
                <a:gd name="T0" fmla="*/ 59 w 59"/>
                <a:gd name="T1" fmla="*/ 36 h 54"/>
                <a:gd name="T2" fmla="*/ 53 w 59"/>
                <a:gd name="T3" fmla="*/ 30 h 54"/>
                <a:gd name="T4" fmla="*/ 41 w 59"/>
                <a:gd name="T5" fmla="*/ 24 h 54"/>
                <a:gd name="T6" fmla="*/ 30 w 59"/>
                <a:gd name="T7" fmla="*/ 42 h 54"/>
                <a:gd name="T8" fmla="*/ 41 w 59"/>
                <a:gd name="T9" fmla="*/ 48 h 54"/>
                <a:gd name="T10" fmla="*/ 47 w 59"/>
                <a:gd name="T11" fmla="*/ 54 h 54"/>
                <a:gd name="T12" fmla="*/ 59 w 59"/>
                <a:gd name="T13" fmla="*/ 36 h 54"/>
                <a:gd name="T14" fmla="*/ 36 w 59"/>
                <a:gd name="T15" fmla="*/ 12 h 54"/>
                <a:gd name="T16" fmla="*/ 18 w 59"/>
                <a:gd name="T17" fmla="*/ 0 h 54"/>
                <a:gd name="T18" fmla="*/ 0 w 59"/>
                <a:gd name="T19" fmla="*/ 18 h 54"/>
                <a:gd name="T20" fmla="*/ 18 w 59"/>
                <a:gd name="T21" fmla="*/ 30 h 54"/>
                <a:gd name="T22" fmla="*/ 36 w 59"/>
                <a:gd name="T23" fmla="*/ 12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9" h="54">
                  <a:moveTo>
                    <a:pt x="59" y="36"/>
                  </a:moveTo>
                  <a:lnTo>
                    <a:pt x="53" y="30"/>
                  </a:lnTo>
                  <a:lnTo>
                    <a:pt x="41" y="24"/>
                  </a:lnTo>
                  <a:lnTo>
                    <a:pt x="30" y="42"/>
                  </a:lnTo>
                  <a:lnTo>
                    <a:pt x="41" y="48"/>
                  </a:lnTo>
                  <a:lnTo>
                    <a:pt x="47" y="54"/>
                  </a:lnTo>
                  <a:lnTo>
                    <a:pt x="59" y="36"/>
                  </a:lnTo>
                  <a:close/>
                  <a:moveTo>
                    <a:pt x="36" y="12"/>
                  </a:moveTo>
                  <a:lnTo>
                    <a:pt x="18" y="0"/>
                  </a:lnTo>
                  <a:lnTo>
                    <a:pt x="0" y="18"/>
                  </a:lnTo>
                  <a:lnTo>
                    <a:pt x="18" y="30"/>
                  </a:lnTo>
                  <a:lnTo>
                    <a:pt x="36" y="12"/>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2"/>
            <p:cNvSpPr>
              <a:spLocks noEditPoints="1"/>
            </p:cNvSpPr>
            <p:nvPr/>
          </p:nvSpPr>
          <p:spPr bwMode="auto">
            <a:xfrm>
              <a:off x="4043" y="3524"/>
              <a:ext cx="54" cy="54"/>
            </a:xfrm>
            <a:custGeom>
              <a:avLst/>
              <a:gdLst>
                <a:gd name="T0" fmla="*/ 54 w 54"/>
                <a:gd name="T1" fmla="*/ 42 h 54"/>
                <a:gd name="T2" fmla="*/ 36 w 54"/>
                <a:gd name="T3" fmla="*/ 24 h 54"/>
                <a:gd name="T4" fmla="*/ 18 w 54"/>
                <a:gd name="T5" fmla="*/ 42 h 54"/>
                <a:gd name="T6" fmla="*/ 36 w 54"/>
                <a:gd name="T7" fmla="*/ 54 h 54"/>
                <a:gd name="T8" fmla="*/ 54 w 54"/>
                <a:gd name="T9" fmla="*/ 42 h 54"/>
                <a:gd name="T10" fmla="*/ 30 w 54"/>
                <a:gd name="T11" fmla="*/ 18 h 54"/>
                <a:gd name="T12" fmla="*/ 18 w 54"/>
                <a:gd name="T13" fmla="*/ 0 h 54"/>
                <a:gd name="T14" fmla="*/ 0 w 54"/>
                <a:gd name="T15" fmla="*/ 12 h 54"/>
                <a:gd name="T16" fmla="*/ 12 w 54"/>
                <a:gd name="T17" fmla="*/ 30 h 54"/>
                <a:gd name="T18" fmla="*/ 30 w 54"/>
                <a:gd name="T19" fmla="*/ 18 h 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54">
                  <a:moveTo>
                    <a:pt x="54" y="42"/>
                  </a:moveTo>
                  <a:lnTo>
                    <a:pt x="36" y="24"/>
                  </a:lnTo>
                  <a:lnTo>
                    <a:pt x="18" y="42"/>
                  </a:lnTo>
                  <a:lnTo>
                    <a:pt x="36" y="54"/>
                  </a:lnTo>
                  <a:lnTo>
                    <a:pt x="54" y="42"/>
                  </a:lnTo>
                  <a:close/>
                  <a:moveTo>
                    <a:pt x="30" y="18"/>
                  </a:moveTo>
                  <a:lnTo>
                    <a:pt x="18" y="0"/>
                  </a:lnTo>
                  <a:lnTo>
                    <a:pt x="0" y="12"/>
                  </a:lnTo>
                  <a:lnTo>
                    <a:pt x="12" y="30"/>
                  </a:lnTo>
                  <a:lnTo>
                    <a:pt x="3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3"/>
            <p:cNvSpPr>
              <a:spLocks noEditPoints="1"/>
            </p:cNvSpPr>
            <p:nvPr/>
          </p:nvSpPr>
          <p:spPr bwMode="auto">
            <a:xfrm>
              <a:off x="4001" y="3471"/>
              <a:ext cx="48" cy="59"/>
            </a:xfrm>
            <a:custGeom>
              <a:avLst/>
              <a:gdLst>
                <a:gd name="T0" fmla="*/ 48 w 48"/>
                <a:gd name="T1" fmla="*/ 41 h 59"/>
                <a:gd name="T2" fmla="*/ 42 w 48"/>
                <a:gd name="T3" fmla="*/ 35 h 59"/>
                <a:gd name="T4" fmla="*/ 36 w 48"/>
                <a:gd name="T5" fmla="*/ 23 h 59"/>
                <a:gd name="T6" fmla="*/ 18 w 48"/>
                <a:gd name="T7" fmla="*/ 41 h 59"/>
                <a:gd name="T8" fmla="*/ 24 w 48"/>
                <a:gd name="T9" fmla="*/ 53 h 59"/>
                <a:gd name="T10" fmla="*/ 30 w 48"/>
                <a:gd name="T11" fmla="*/ 59 h 59"/>
                <a:gd name="T12" fmla="*/ 48 w 48"/>
                <a:gd name="T13" fmla="*/ 41 h 59"/>
                <a:gd name="T14" fmla="*/ 30 w 48"/>
                <a:gd name="T15" fmla="*/ 18 h 59"/>
                <a:gd name="T16" fmla="*/ 24 w 48"/>
                <a:gd name="T17" fmla="*/ 12 h 59"/>
                <a:gd name="T18" fmla="*/ 18 w 48"/>
                <a:gd name="T19" fmla="*/ 0 h 59"/>
                <a:gd name="T20" fmla="*/ 0 w 48"/>
                <a:gd name="T21" fmla="*/ 12 h 59"/>
                <a:gd name="T22" fmla="*/ 6 w 48"/>
                <a:gd name="T23" fmla="*/ 23 h 59"/>
                <a:gd name="T24" fmla="*/ 12 w 48"/>
                <a:gd name="T25" fmla="*/ 29 h 59"/>
                <a:gd name="T26" fmla="*/ 30 w 48"/>
                <a:gd name="T27" fmla="*/ 18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8" h="59">
                  <a:moveTo>
                    <a:pt x="48" y="41"/>
                  </a:moveTo>
                  <a:lnTo>
                    <a:pt x="42" y="35"/>
                  </a:lnTo>
                  <a:lnTo>
                    <a:pt x="36" y="23"/>
                  </a:lnTo>
                  <a:lnTo>
                    <a:pt x="18" y="41"/>
                  </a:lnTo>
                  <a:lnTo>
                    <a:pt x="24" y="53"/>
                  </a:lnTo>
                  <a:lnTo>
                    <a:pt x="30" y="59"/>
                  </a:lnTo>
                  <a:lnTo>
                    <a:pt x="48" y="41"/>
                  </a:lnTo>
                  <a:close/>
                  <a:moveTo>
                    <a:pt x="30" y="18"/>
                  </a:moveTo>
                  <a:lnTo>
                    <a:pt x="24" y="12"/>
                  </a:lnTo>
                  <a:lnTo>
                    <a:pt x="18" y="0"/>
                  </a:lnTo>
                  <a:lnTo>
                    <a:pt x="0" y="12"/>
                  </a:lnTo>
                  <a:lnTo>
                    <a:pt x="6" y="23"/>
                  </a:lnTo>
                  <a:lnTo>
                    <a:pt x="12" y="29"/>
                  </a:lnTo>
                  <a:lnTo>
                    <a:pt x="3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4"/>
            <p:cNvSpPr>
              <a:spLocks noEditPoints="1"/>
            </p:cNvSpPr>
            <p:nvPr/>
          </p:nvSpPr>
          <p:spPr bwMode="auto">
            <a:xfrm>
              <a:off x="3959" y="3411"/>
              <a:ext cx="54" cy="60"/>
            </a:xfrm>
            <a:custGeom>
              <a:avLst/>
              <a:gdLst>
                <a:gd name="T0" fmla="*/ 54 w 54"/>
                <a:gd name="T1" fmla="*/ 48 h 60"/>
                <a:gd name="T2" fmla="*/ 48 w 54"/>
                <a:gd name="T3" fmla="*/ 42 h 60"/>
                <a:gd name="T4" fmla="*/ 42 w 54"/>
                <a:gd name="T5" fmla="*/ 30 h 60"/>
                <a:gd name="T6" fmla="*/ 18 w 54"/>
                <a:gd name="T7" fmla="*/ 42 h 60"/>
                <a:gd name="T8" fmla="*/ 36 w 54"/>
                <a:gd name="T9" fmla="*/ 60 h 60"/>
                <a:gd name="T10" fmla="*/ 54 w 54"/>
                <a:gd name="T11" fmla="*/ 48 h 60"/>
                <a:gd name="T12" fmla="*/ 36 w 54"/>
                <a:gd name="T13" fmla="*/ 18 h 60"/>
                <a:gd name="T14" fmla="*/ 30 w 54"/>
                <a:gd name="T15" fmla="*/ 12 h 60"/>
                <a:gd name="T16" fmla="*/ 24 w 54"/>
                <a:gd name="T17" fmla="*/ 0 h 60"/>
                <a:gd name="T18" fmla="*/ 0 w 54"/>
                <a:gd name="T19" fmla="*/ 12 h 60"/>
                <a:gd name="T20" fmla="*/ 6 w 54"/>
                <a:gd name="T21" fmla="*/ 24 h 60"/>
                <a:gd name="T22" fmla="*/ 12 w 54"/>
                <a:gd name="T23" fmla="*/ 36 h 60"/>
                <a:gd name="T24" fmla="*/ 36 w 54"/>
                <a:gd name="T25" fmla="*/ 18 h 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4" h="60">
                  <a:moveTo>
                    <a:pt x="54" y="48"/>
                  </a:moveTo>
                  <a:lnTo>
                    <a:pt x="48" y="42"/>
                  </a:lnTo>
                  <a:lnTo>
                    <a:pt x="42" y="30"/>
                  </a:lnTo>
                  <a:lnTo>
                    <a:pt x="18" y="42"/>
                  </a:lnTo>
                  <a:lnTo>
                    <a:pt x="36" y="60"/>
                  </a:lnTo>
                  <a:lnTo>
                    <a:pt x="54" y="48"/>
                  </a:lnTo>
                  <a:close/>
                  <a:moveTo>
                    <a:pt x="36" y="18"/>
                  </a:moveTo>
                  <a:lnTo>
                    <a:pt x="30" y="12"/>
                  </a:lnTo>
                  <a:lnTo>
                    <a:pt x="24" y="0"/>
                  </a:lnTo>
                  <a:lnTo>
                    <a:pt x="0" y="12"/>
                  </a:lnTo>
                  <a:lnTo>
                    <a:pt x="6" y="24"/>
                  </a:lnTo>
                  <a:lnTo>
                    <a:pt x="12" y="36"/>
                  </a:lnTo>
                  <a:lnTo>
                    <a:pt x="36"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5"/>
            <p:cNvSpPr>
              <a:spLocks noEditPoints="1"/>
            </p:cNvSpPr>
            <p:nvPr/>
          </p:nvSpPr>
          <p:spPr bwMode="auto">
            <a:xfrm>
              <a:off x="3929" y="3357"/>
              <a:ext cx="48" cy="60"/>
            </a:xfrm>
            <a:custGeom>
              <a:avLst/>
              <a:gdLst>
                <a:gd name="T0" fmla="*/ 48 w 48"/>
                <a:gd name="T1" fmla="*/ 48 h 60"/>
                <a:gd name="T2" fmla="*/ 42 w 48"/>
                <a:gd name="T3" fmla="*/ 36 h 60"/>
                <a:gd name="T4" fmla="*/ 36 w 48"/>
                <a:gd name="T5" fmla="*/ 24 h 60"/>
                <a:gd name="T6" fmla="*/ 18 w 48"/>
                <a:gd name="T7" fmla="*/ 36 h 60"/>
                <a:gd name="T8" fmla="*/ 24 w 48"/>
                <a:gd name="T9" fmla="*/ 48 h 60"/>
                <a:gd name="T10" fmla="*/ 24 w 48"/>
                <a:gd name="T11" fmla="*/ 60 h 60"/>
                <a:gd name="T12" fmla="*/ 48 w 48"/>
                <a:gd name="T13" fmla="*/ 48 h 60"/>
                <a:gd name="T14" fmla="*/ 30 w 48"/>
                <a:gd name="T15" fmla="*/ 18 h 60"/>
                <a:gd name="T16" fmla="*/ 24 w 48"/>
                <a:gd name="T17" fmla="*/ 12 h 60"/>
                <a:gd name="T18" fmla="*/ 18 w 48"/>
                <a:gd name="T19" fmla="*/ 0 h 60"/>
                <a:gd name="T20" fmla="*/ 0 w 48"/>
                <a:gd name="T21" fmla="*/ 6 h 60"/>
                <a:gd name="T22" fmla="*/ 6 w 48"/>
                <a:gd name="T23" fmla="*/ 18 h 60"/>
                <a:gd name="T24" fmla="*/ 12 w 48"/>
                <a:gd name="T25" fmla="*/ 30 h 60"/>
                <a:gd name="T26" fmla="*/ 30 w 48"/>
                <a:gd name="T27" fmla="*/ 18 h 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8" h="60">
                  <a:moveTo>
                    <a:pt x="48" y="48"/>
                  </a:moveTo>
                  <a:lnTo>
                    <a:pt x="42" y="36"/>
                  </a:lnTo>
                  <a:lnTo>
                    <a:pt x="36" y="24"/>
                  </a:lnTo>
                  <a:lnTo>
                    <a:pt x="18" y="36"/>
                  </a:lnTo>
                  <a:lnTo>
                    <a:pt x="24" y="48"/>
                  </a:lnTo>
                  <a:lnTo>
                    <a:pt x="24" y="60"/>
                  </a:lnTo>
                  <a:lnTo>
                    <a:pt x="48" y="48"/>
                  </a:lnTo>
                  <a:close/>
                  <a:moveTo>
                    <a:pt x="30" y="18"/>
                  </a:moveTo>
                  <a:lnTo>
                    <a:pt x="24" y="12"/>
                  </a:lnTo>
                  <a:lnTo>
                    <a:pt x="18" y="0"/>
                  </a:lnTo>
                  <a:lnTo>
                    <a:pt x="0" y="6"/>
                  </a:lnTo>
                  <a:lnTo>
                    <a:pt x="6" y="18"/>
                  </a:lnTo>
                  <a:lnTo>
                    <a:pt x="12" y="30"/>
                  </a:lnTo>
                  <a:lnTo>
                    <a:pt x="3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6"/>
            <p:cNvSpPr>
              <a:spLocks noEditPoints="1"/>
            </p:cNvSpPr>
            <p:nvPr/>
          </p:nvSpPr>
          <p:spPr bwMode="auto">
            <a:xfrm>
              <a:off x="3899" y="3297"/>
              <a:ext cx="42" cy="60"/>
            </a:xfrm>
            <a:custGeom>
              <a:avLst/>
              <a:gdLst>
                <a:gd name="T0" fmla="*/ 42 w 42"/>
                <a:gd name="T1" fmla="*/ 48 h 60"/>
                <a:gd name="T2" fmla="*/ 42 w 42"/>
                <a:gd name="T3" fmla="*/ 42 h 60"/>
                <a:gd name="T4" fmla="*/ 36 w 42"/>
                <a:gd name="T5" fmla="*/ 30 h 60"/>
                <a:gd name="T6" fmla="*/ 12 w 42"/>
                <a:gd name="T7" fmla="*/ 36 h 60"/>
                <a:gd name="T8" fmla="*/ 18 w 42"/>
                <a:gd name="T9" fmla="*/ 48 h 60"/>
                <a:gd name="T10" fmla="*/ 24 w 42"/>
                <a:gd name="T11" fmla="*/ 60 h 60"/>
                <a:gd name="T12" fmla="*/ 42 w 42"/>
                <a:gd name="T13" fmla="*/ 48 h 60"/>
                <a:gd name="T14" fmla="*/ 30 w 42"/>
                <a:gd name="T15" fmla="*/ 18 h 60"/>
                <a:gd name="T16" fmla="*/ 24 w 42"/>
                <a:gd name="T17" fmla="*/ 12 h 60"/>
                <a:gd name="T18" fmla="*/ 18 w 42"/>
                <a:gd name="T19" fmla="*/ 0 h 60"/>
                <a:gd name="T20" fmla="*/ 0 w 42"/>
                <a:gd name="T21" fmla="*/ 6 h 60"/>
                <a:gd name="T22" fmla="*/ 6 w 42"/>
                <a:gd name="T23" fmla="*/ 18 h 60"/>
                <a:gd name="T24" fmla="*/ 6 w 42"/>
                <a:gd name="T25" fmla="*/ 30 h 60"/>
                <a:gd name="T26" fmla="*/ 30 w 42"/>
                <a:gd name="T27" fmla="*/ 18 h 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2" h="60">
                  <a:moveTo>
                    <a:pt x="42" y="48"/>
                  </a:moveTo>
                  <a:lnTo>
                    <a:pt x="42" y="42"/>
                  </a:lnTo>
                  <a:lnTo>
                    <a:pt x="36" y="30"/>
                  </a:lnTo>
                  <a:lnTo>
                    <a:pt x="12" y="36"/>
                  </a:lnTo>
                  <a:lnTo>
                    <a:pt x="18" y="48"/>
                  </a:lnTo>
                  <a:lnTo>
                    <a:pt x="24" y="60"/>
                  </a:lnTo>
                  <a:lnTo>
                    <a:pt x="42" y="48"/>
                  </a:lnTo>
                  <a:close/>
                  <a:moveTo>
                    <a:pt x="30" y="18"/>
                  </a:moveTo>
                  <a:lnTo>
                    <a:pt x="24" y="12"/>
                  </a:lnTo>
                  <a:lnTo>
                    <a:pt x="18" y="0"/>
                  </a:lnTo>
                  <a:lnTo>
                    <a:pt x="0" y="6"/>
                  </a:lnTo>
                  <a:lnTo>
                    <a:pt x="6" y="18"/>
                  </a:lnTo>
                  <a:lnTo>
                    <a:pt x="6" y="30"/>
                  </a:lnTo>
                  <a:lnTo>
                    <a:pt x="3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7"/>
            <p:cNvSpPr>
              <a:spLocks noEditPoints="1"/>
            </p:cNvSpPr>
            <p:nvPr/>
          </p:nvSpPr>
          <p:spPr bwMode="auto">
            <a:xfrm>
              <a:off x="3863" y="3232"/>
              <a:ext cx="48" cy="65"/>
            </a:xfrm>
            <a:custGeom>
              <a:avLst/>
              <a:gdLst>
                <a:gd name="T0" fmla="*/ 48 w 48"/>
                <a:gd name="T1" fmla="*/ 53 h 65"/>
                <a:gd name="T2" fmla="*/ 48 w 48"/>
                <a:gd name="T3" fmla="*/ 42 h 65"/>
                <a:gd name="T4" fmla="*/ 42 w 48"/>
                <a:gd name="T5" fmla="*/ 30 h 65"/>
                <a:gd name="T6" fmla="*/ 18 w 48"/>
                <a:gd name="T7" fmla="*/ 42 h 65"/>
                <a:gd name="T8" fmla="*/ 24 w 48"/>
                <a:gd name="T9" fmla="*/ 53 h 65"/>
                <a:gd name="T10" fmla="*/ 30 w 48"/>
                <a:gd name="T11" fmla="*/ 65 h 65"/>
                <a:gd name="T12" fmla="*/ 48 w 48"/>
                <a:gd name="T13" fmla="*/ 53 h 65"/>
                <a:gd name="T14" fmla="*/ 36 w 48"/>
                <a:gd name="T15" fmla="*/ 24 h 65"/>
                <a:gd name="T16" fmla="*/ 30 w 48"/>
                <a:gd name="T17" fmla="*/ 12 h 65"/>
                <a:gd name="T18" fmla="*/ 24 w 48"/>
                <a:gd name="T19" fmla="*/ 0 h 65"/>
                <a:gd name="T20" fmla="*/ 0 w 48"/>
                <a:gd name="T21" fmla="*/ 12 h 65"/>
                <a:gd name="T22" fmla="*/ 6 w 48"/>
                <a:gd name="T23" fmla="*/ 24 h 65"/>
                <a:gd name="T24" fmla="*/ 12 w 48"/>
                <a:gd name="T25" fmla="*/ 36 h 65"/>
                <a:gd name="T26" fmla="*/ 36 w 48"/>
                <a:gd name="T27" fmla="*/ 24 h 6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8" h="65">
                  <a:moveTo>
                    <a:pt x="48" y="53"/>
                  </a:moveTo>
                  <a:lnTo>
                    <a:pt x="48" y="42"/>
                  </a:lnTo>
                  <a:lnTo>
                    <a:pt x="42" y="30"/>
                  </a:lnTo>
                  <a:lnTo>
                    <a:pt x="18" y="42"/>
                  </a:lnTo>
                  <a:lnTo>
                    <a:pt x="24" y="53"/>
                  </a:lnTo>
                  <a:lnTo>
                    <a:pt x="30" y="65"/>
                  </a:lnTo>
                  <a:lnTo>
                    <a:pt x="48" y="53"/>
                  </a:lnTo>
                  <a:close/>
                  <a:moveTo>
                    <a:pt x="36" y="24"/>
                  </a:moveTo>
                  <a:lnTo>
                    <a:pt x="30" y="12"/>
                  </a:lnTo>
                  <a:lnTo>
                    <a:pt x="24" y="0"/>
                  </a:lnTo>
                  <a:lnTo>
                    <a:pt x="0" y="12"/>
                  </a:lnTo>
                  <a:lnTo>
                    <a:pt x="6" y="24"/>
                  </a:lnTo>
                  <a:lnTo>
                    <a:pt x="12" y="36"/>
                  </a:lnTo>
                  <a:lnTo>
                    <a:pt x="36"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8"/>
            <p:cNvSpPr>
              <a:spLocks noEditPoints="1"/>
            </p:cNvSpPr>
            <p:nvPr/>
          </p:nvSpPr>
          <p:spPr bwMode="auto">
            <a:xfrm>
              <a:off x="3833" y="3172"/>
              <a:ext cx="48" cy="60"/>
            </a:xfrm>
            <a:custGeom>
              <a:avLst/>
              <a:gdLst>
                <a:gd name="T0" fmla="*/ 48 w 48"/>
                <a:gd name="T1" fmla="*/ 54 h 60"/>
                <a:gd name="T2" fmla="*/ 48 w 48"/>
                <a:gd name="T3" fmla="*/ 42 h 60"/>
                <a:gd name="T4" fmla="*/ 42 w 48"/>
                <a:gd name="T5" fmla="*/ 30 h 60"/>
                <a:gd name="T6" fmla="*/ 18 w 48"/>
                <a:gd name="T7" fmla="*/ 42 h 60"/>
                <a:gd name="T8" fmla="*/ 24 w 48"/>
                <a:gd name="T9" fmla="*/ 54 h 60"/>
                <a:gd name="T10" fmla="*/ 30 w 48"/>
                <a:gd name="T11" fmla="*/ 60 h 60"/>
                <a:gd name="T12" fmla="*/ 48 w 48"/>
                <a:gd name="T13" fmla="*/ 54 h 60"/>
                <a:gd name="T14" fmla="*/ 36 w 48"/>
                <a:gd name="T15" fmla="*/ 24 h 60"/>
                <a:gd name="T16" fmla="*/ 30 w 48"/>
                <a:gd name="T17" fmla="*/ 12 h 60"/>
                <a:gd name="T18" fmla="*/ 24 w 48"/>
                <a:gd name="T19" fmla="*/ 0 h 60"/>
                <a:gd name="T20" fmla="*/ 0 w 48"/>
                <a:gd name="T21" fmla="*/ 12 h 60"/>
                <a:gd name="T22" fmla="*/ 6 w 48"/>
                <a:gd name="T23" fmla="*/ 24 h 60"/>
                <a:gd name="T24" fmla="*/ 12 w 48"/>
                <a:gd name="T25" fmla="*/ 30 h 60"/>
                <a:gd name="T26" fmla="*/ 36 w 48"/>
                <a:gd name="T27" fmla="*/ 24 h 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8" h="60">
                  <a:moveTo>
                    <a:pt x="48" y="54"/>
                  </a:moveTo>
                  <a:lnTo>
                    <a:pt x="48" y="42"/>
                  </a:lnTo>
                  <a:lnTo>
                    <a:pt x="42" y="30"/>
                  </a:lnTo>
                  <a:lnTo>
                    <a:pt x="18" y="42"/>
                  </a:lnTo>
                  <a:lnTo>
                    <a:pt x="24" y="54"/>
                  </a:lnTo>
                  <a:lnTo>
                    <a:pt x="30" y="60"/>
                  </a:lnTo>
                  <a:lnTo>
                    <a:pt x="48" y="54"/>
                  </a:lnTo>
                  <a:close/>
                  <a:moveTo>
                    <a:pt x="36" y="24"/>
                  </a:moveTo>
                  <a:lnTo>
                    <a:pt x="30" y="12"/>
                  </a:lnTo>
                  <a:lnTo>
                    <a:pt x="24" y="0"/>
                  </a:lnTo>
                  <a:lnTo>
                    <a:pt x="0" y="12"/>
                  </a:lnTo>
                  <a:lnTo>
                    <a:pt x="6" y="24"/>
                  </a:lnTo>
                  <a:lnTo>
                    <a:pt x="12" y="30"/>
                  </a:lnTo>
                  <a:lnTo>
                    <a:pt x="36"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9"/>
            <p:cNvSpPr>
              <a:spLocks noEditPoints="1"/>
            </p:cNvSpPr>
            <p:nvPr/>
          </p:nvSpPr>
          <p:spPr bwMode="auto">
            <a:xfrm>
              <a:off x="3809" y="3112"/>
              <a:ext cx="42" cy="60"/>
            </a:xfrm>
            <a:custGeom>
              <a:avLst/>
              <a:gdLst>
                <a:gd name="T0" fmla="*/ 42 w 42"/>
                <a:gd name="T1" fmla="*/ 48 h 60"/>
                <a:gd name="T2" fmla="*/ 42 w 42"/>
                <a:gd name="T3" fmla="*/ 42 h 60"/>
                <a:gd name="T4" fmla="*/ 36 w 42"/>
                <a:gd name="T5" fmla="*/ 30 h 60"/>
                <a:gd name="T6" fmla="*/ 12 w 42"/>
                <a:gd name="T7" fmla="*/ 42 h 60"/>
                <a:gd name="T8" fmla="*/ 18 w 42"/>
                <a:gd name="T9" fmla="*/ 54 h 60"/>
                <a:gd name="T10" fmla="*/ 24 w 42"/>
                <a:gd name="T11" fmla="*/ 60 h 60"/>
                <a:gd name="T12" fmla="*/ 42 w 42"/>
                <a:gd name="T13" fmla="*/ 48 h 60"/>
                <a:gd name="T14" fmla="*/ 30 w 42"/>
                <a:gd name="T15" fmla="*/ 18 h 60"/>
                <a:gd name="T16" fmla="*/ 24 w 42"/>
                <a:gd name="T17" fmla="*/ 12 h 60"/>
                <a:gd name="T18" fmla="*/ 18 w 42"/>
                <a:gd name="T19" fmla="*/ 0 h 60"/>
                <a:gd name="T20" fmla="*/ 0 w 42"/>
                <a:gd name="T21" fmla="*/ 12 h 60"/>
                <a:gd name="T22" fmla="*/ 6 w 42"/>
                <a:gd name="T23" fmla="*/ 24 h 60"/>
                <a:gd name="T24" fmla="*/ 6 w 42"/>
                <a:gd name="T25" fmla="*/ 30 h 60"/>
                <a:gd name="T26" fmla="*/ 30 w 42"/>
                <a:gd name="T27" fmla="*/ 18 h 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2" h="60">
                  <a:moveTo>
                    <a:pt x="42" y="48"/>
                  </a:moveTo>
                  <a:lnTo>
                    <a:pt x="42" y="42"/>
                  </a:lnTo>
                  <a:lnTo>
                    <a:pt x="36" y="30"/>
                  </a:lnTo>
                  <a:lnTo>
                    <a:pt x="12" y="42"/>
                  </a:lnTo>
                  <a:lnTo>
                    <a:pt x="18" y="54"/>
                  </a:lnTo>
                  <a:lnTo>
                    <a:pt x="24" y="60"/>
                  </a:lnTo>
                  <a:lnTo>
                    <a:pt x="42" y="48"/>
                  </a:lnTo>
                  <a:close/>
                  <a:moveTo>
                    <a:pt x="30" y="18"/>
                  </a:moveTo>
                  <a:lnTo>
                    <a:pt x="24" y="12"/>
                  </a:lnTo>
                  <a:lnTo>
                    <a:pt x="18" y="0"/>
                  </a:lnTo>
                  <a:lnTo>
                    <a:pt x="0" y="12"/>
                  </a:lnTo>
                  <a:lnTo>
                    <a:pt x="6" y="24"/>
                  </a:lnTo>
                  <a:lnTo>
                    <a:pt x="6" y="30"/>
                  </a:lnTo>
                  <a:lnTo>
                    <a:pt x="3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0"/>
            <p:cNvSpPr>
              <a:spLocks noEditPoints="1"/>
            </p:cNvSpPr>
            <p:nvPr/>
          </p:nvSpPr>
          <p:spPr bwMode="auto">
            <a:xfrm>
              <a:off x="3780" y="3053"/>
              <a:ext cx="41" cy="59"/>
            </a:xfrm>
            <a:custGeom>
              <a:avLst/>
              <a:gdLst>
                <a:gd name="T0" fmla="*/ 41 w 41"/>
                <a:gd name="T1" fmla="*/ 47 h 59"/>
                <a:gd name="T2" fmla="*/ 41 w 41"/>
                <a:gd name="T3" fmla="*/ 41 h 59"/>
                <a:gd name="T4" fmla="*/ 35 w 41"/>
                <a:gd name="T5" fmla="*/ 29 h 59"/>
                <a:gd name="T6" fmla="*/ 12 w 41"/>
                <a:gd name="T7" fmla="*/ 35 h 59"/>
                <a:gd name="T8" fmla="*/ 18 w 41"/>
                <a:gd name="T9" fmla="*/ 47 h 59"/>
                <a:gd name="T10" fmla="*/ 24 w 41"/>
                <a:gd name="T11" fmla="*/ 59 h 59"/>
                <a:gd name="T12" fmla="*/ 41 w 41"/>
                <a:gd name="T13" fmla="*/ 47 h 59"/>
                <a:gd name="T14" fmla="*/ 29 w 41"/>
                <a:gd name="T15" fmla="*/ 18 h 59"/>
                <a:gd name="T16" fmla="*/ 24 w 41"/>
                <a:gd name="T17" fmla="*/ 12 h 59"/>
                <a:gd name="T18" fmla="*/ 18 w 41"/>
                <a:gd name="T19" fmla="*/ 0 h 59"/>
                <a:gd name="T20" fmla="*/ 0 w 41"/>
                <a:gd name="T21" fmla="*/ 6 h 59"/>
                <a:gd name="T22" fmla="*/ 6 w 41"/>
                <a:gd name="T23" fmla="*/ 18 h 59"/>
                <a:gd name="T24" fmla="*/ 6 w 41"/>
                <a:gd name="T25" fmla="*/ 29 h 59"/>
                <a:gd name="T26" fmla="*/ 29 w 41"/>
                <a:gd name="T27" fmla="*/ 18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1" h="59">
                  <a:moveTo>
                    <a:pt x="41" y="47"/>
                  </a:moveTo>
                  <a:lnTo>
                    <a:pt x="41" y="41"/>
                  </a:lnTo>
                  <a:lnTo>
                    <a:pt x="35" y="29"/>
                  </a:lnTo>
                  <a:lnTo>
                    <a:pt x="12" y="35"/>
                  </a:lnTo>
                  <a:lnTo>
                    <a:pt x="18" y="47"/>
                  </a:lnTo>
                  <a:lnTo>
                    <a:pt x="24" y="59"/>
                  </a:lnTo>
                  <a:lnTo>
                    <a:pt x="41" y="47"/>
                  </a:lnTo>
                  <a:close/>
                  <a:moveTo>
                    <a:pt x="29" y="18"/>
                  </a:moveTo>
                  <a:lnTo>
                    <a:pt x="24" y="12"/>
                  </a:lnTo>
                  <a:lnTo>
                    <a:pt x="18" y="0"/>
                  </a:lnTo>
                  <a:lnTo>
                    <a:pt x="0" y="6"/>
                  </a:lnTo>
                  <a:lnTo>
                    <a:pt x="6" y="18"/>
                  </a:lnTo>
                  <a:lnTo>
                    <a:pt x="6" y="29"/>
                  </a:lnTo>
                  <a:lnTo>
                    <a:pt x="29"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21"/>
            <p:cNvSpPr>
              <a:spLocks noEditPoints="1"/>
            </p:cNvSpPr>
            <p:nvPr/>
          </p:nvSpPr>
          <p:spPr bwMode="auto">
            <a:xfrm>
              <a:off x="3750" y="2987"/>
              <a:ext cx="48" cy="66"/>
            </a:xfrm>
            <a:custGeom>
              <a:avLst/>
              <a:gdLst>
                <a:gd name="T0" fmla="*/ 48 w 48"/>
                <a:gd name="T1" fmla="*/ 54 h 66"/>
                <a:gd name="T2" fmla="*/ 42 w 48"/>
                <a:gd name="T3" fmla="*/ 48 h 66"/>
                <a:gd name="T4" fmla="*/ 36 w 48"/>
                <a:gd name="T5" fmla="*/ 36 h 66"/>
                <a:gd name="T6" fmla="*/ 12 w 48"/>
                <a:gd name="T7" fmla="*/ 42 h 66"/>
                <a:gd name="T8" fmla="*/ 18 w 48"/>
                <a:gd name="T9" fmla="*/ 54 h 66"/>
                <a:gd name="T10" fmla="*/ 24 w 48"/>
                <a:gd name="T11" fmla="*/ 66 h 66"/>
                <a:gd name="T12" fmla="*/ 48 w 48"/>
                <a:gd name="T13" fmla="*/ 54 h 66"/>
                <a:gd name="T14" fmla="*/ 30 w 48"/>
                <a:gd name="T15" fmla="*/ 24 h 66"/>
                <a:gd name="T16" fmla="*/ 30 w 48"/>
                <a:gd name="T17" fmla="*/ 12 h 66"/>
                <a:gd name="T18" fmla="*/ 24 w 48"/>
                <a:gd name="T19" fmla="*/ 0 h 66"/>
                <a:gd name="T20" fmla="*/ 0 w 48"/>
                <a:gd name="T21" fmla="*/ 12 h 66"/>
                <a:gd name="T22" fmla="*/ 6 w 48"/>
                <a:gd name="T23" fmla="*/ 24 h 66"/>
                <a:gd name="T24" fmla="*/ 12 w 48"/>
                <a:gd name="T25" fmla="*/ 30 h 66"/>
                <a:gd name="T26" fmla="*/ 30 w 48"/>
                <a:gd name="T27" fmla="*/ 24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8" h="66">
                  <a:moveTo>
                    <a:pt x="48" y="54"/>
                  </a:moveTo>
                  <a:lnTo>
                    <a:pt x="42" y="48"/>
                  </a:lnTo>
                  <a:lnTo>
                    <a:pt x="36" y="36"/>
                  </a:lnTo>
                  <a:lnTo>
                    <a:pt x="12" y="42"/>
                  </a:lnTo>
                  <a:lnTo>
                    <a:pt x="18" y="54"/>
                  </a:lnTo>
                  <a:lnTo>
                    <a:pt x="24" y="66"/>
                  </a:lnTo>
                  <a:lnTo>
                    <a:pt x="48" y="54"/>
                  </a:lnTo>
                  <a:close/>
                  <a:moveTo>
                    <a:pt x="30" y="24"/>
                  </a:moveTo>
                  <a:lnTo>
                    <a:pt x="30" y="12"/>
                  </a:lnTo>
                  <a:lnTo>
                    <a:pt x="24" y="0"/>
                  </a:lnTo>
                  <a:lnTo>
                    <a:pt x="0" y="12"/>
                  </a:lnTo>
                  <a:lnTo>
                    <a:pt x="6" y="24"/>
                  </a:lnTo>
                  <a:lnTo>
                    <a:pt x="12" y="30"/>
                  </a:lnTo>
                  <a:lnTo>
                    <a:pt x="30"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22"/>
            <p:cNvSpPr>
              <a:spLocks noEditPoints="1"/>
            </p:cNvSpPr>
            <p:nvPr/>
          </p:nvSpPr>
          <p:spPr bwMode="auto">
            <a:xfrm>
              <a:off x="3726" y="2927"/>
              <a:ext cx="42" cy="60"/>
            </a:xfrm>
            <a:custGeom>
              <a:avLst/>
              <a:gdLst>
                <a:gd name="T0" fmla="*/ 42 w 42"/>
                <a:gd name="T1" fmla="*/ 54 h 60"/>
                <a:gd name="T2" fmla="*/ 42 w 42"/>
                <a:gd name="T3" fmla="*/ 42 h 60"/>
                <a:gd name="T4" fmla="*/ 36 w 42"/>
                <a:gd name="T5" fmla="*/ 30 h 60"/>
                <a:gd name="T6" fmla="*/ 12 w 42"/>
                <a:gd name="T7" fmla="*/ 42 h 60"/>
                <a:gd name="T8" fmla="*/ 18 w 42"/>
                <a:gd name="T9" fmla="*/ 54 h 60"/>
                <a:gd name="T10" fmla="*/ 18 w 42"/>
                <a:gd name="T11" fmla="*/ 60 h 60"/>
                <a:gd name="T12" fmla="*/ 42 w 42"/>
                <a:gd name="T13" fmla="*/ 54 h 60"/>
                <a:gd name="T14" fmla="*/ 30 w 42"/>
                <a:gd name="T15" fmla="*/ 18 h 60"/>
                <a:gd name="T16" fmla="*/ 30 w 42"/>
                <a:gd name="T17" fmla="*/ 12 h 60"/>
                <a:gd name="T18" fmla="*/ 24 w 42"/>
                <a:gd name="T19" fmla="*/ 0 h 60"/>
                <a:gd name="T20" fmla="*/ 0 w 42"/>
                <a:gd name="T21" fmla="*/ 6 h 60"/>
                <a:gd name="T22" fmla="*/ 6 w 42"/>
                <a:gd name="T23" fmla="*/ 18 h 60"/>
                <a:gd name="T24" fmla="*/ 6 w 42"/>
                <a:gd name="T25" fmla="*/ 30 h 60"/>
                <a:gd name="T26" fmla="*/ 30 w 42"/>
                <a:gd name="T27" fmla="*/ 18 h 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2" h="60">
                  <a:moveTo>
                    <a:pt x="42" y="54"/>
                  </a:moveTo>
                  <a:lnTo>
                    <a:pt x="42" y="42"/>
                  </a:lnTo>
                  <a:lnTo>
                    <a:pt x="36" y="30"/>
                  </a:lnTo>
                  <a:lnTo>
                    <a:pt x="12" y="42"/>
                  </a:lnTo>
                  <a:lnTo>
                    <a:pt x="18" y="54"/>
                  </a:lnTo>
                  <a:lnTo>
                    <a:pt x="18" y="60"/>
                  </a:lnTo>
                  <a:lnTo>
                    <a:pt x="42" y="54"/>
                  </a:lnTo>
                  <a:close/>
                  <a:moveTo>
                    <a:pt x="30" y="18"/>
                  </a:moveTo>
                  <a:lnTo>
                    <a:pt x="30" y="12"/>
                  </a:lnTo>
                  <a:lnTo>
                    <a:pt x="24" y="0"/>
                  </a:lnTo>
                  <a:lnTo>
                    <a:pt x="0" y="6"/>
                  </a:lnTo>
                  <a:lnTo>
                    <a:pt x="6" y="18"/>
                  </a:lnTo>
                  <a:lnTo>
                    <a:pt x="6" y="30"/>
                  </a:lnTo>
                  <a:lnTo>
                    <a:pt x="3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3"/>
            <p:cNvSpPr>
              <a:spLocks noEditPoints="1"/>
            </p:cNvSpPr>
            <p:nvPr/>
          </p:nvSpPr>
          <p:spPr bwMode="auto">
            <a:xfrm>
              <a:off x="3702" y="2861"/>
              <a:ext cx="42" cy="60"/>
            </a:xfrm>
            <a:custGeom>
              <a:avLst/>
              <a:gdLst>
                <a:gd name="T0" fmla="*/ 42 w 42"/>
                <a:gd name="T1" fmla="*/ 54 h 60"/>
                <a:gd name="T2" fmla="*/ 42 w 42"/>
                <a:gd name="T3" fmla="*/ 48 h 60"/>
                <a:gd name="T4" fmla="*/ 36 w 42"/>
                <a:gd name="T5" fmla="*/ 36 h 60"/>
                <a:gd name="T6" fmla="*/ 12 w 42"/>
                <a:gd name="T7" fmla="*/ 42 h 60"/>
                <a:gd name="T8" fmla="*/ 18 w 42"/>
                <a:gd name="T9" fmla="*/ 54 h 60"/>
                <a:gd name="T10" fmla="*/ 18 w 42"/>
                <a:gd name="T11" fmla="*/ 60 h 60"/>
                <a:gd name="T12" fmla="*/ 42 w 42"/>
                <a:gd name="T13" fmla="*/ 54 h 60"/>
                <a:gd name="T14" fmla="*/ 30 w 42"/>
                <a:gd name="T15" fmla="*/ 24 h 60"/>
                <a:gd name="T16" fmla="*/ 30 w 42"/>
                <a:gd name="T17" fmla="*/ 12 h 60"/>
                <a:gd name="T18" fmla="*/ 24 w 42"/>
                <a:gd name="T19" fmla="*/ 0 h 60"/>
                <a:gd name="T20" fmla="*/ 0 w 42"/>
                <a:gd name="T21" fmla="*/ 6 h 60"/>
                <a:gd name="T22" fmla="*/ 6 w 42"/>
                <a:gd name="T23" fmla="*/ 18 h 60"/>
                <a:gd name="T24" fmla="*/ 6 w 42"/>
                <a:gd name="T25" fmla="*/ 30 h 60"/>
                <a:gd name="T26" fmla="*/ 30 w 42"/>
                <a:gd name="T27" fmla="*/ 24 h 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2" h="60">
                  <a:moveTo>
                    <a:pt x="42" y="54"/>
                  </a:moveTo>
                  <a:lnTo>
                    <a:pt x="42" y="48"/>
                  </a:lnTo>
                  <a:lnTo>
                    <a:pt x="36" y="36"/>
                  </a:lnTo>
                  <a:lnTo>
                    <a:pt x="12" y="42"/>
                  </a:lnTo>
                  <a:lnTo>
                    <a:pt x="18" y="54"/>
                  </a:lnTo>
                  <a:lnTo>
                    <a:pt x="18" y="60"/>
                  </a:lnTo>
                  <a:lnTo>
                    <a:pt x="42" y="54"/>
                  </a:lnTo>
                  <a:close/>
                  <a:moveTo>
                    <a:pt x="30" y="24"/>
                  </a:moveTo>
                  <a:lnTo>
                    <a:pt x="30" y="12"/>
                  </a:lnTo>
                  <a:lnTo>
                    <a:pt x="24" y="0"/>
                  </a:lnTo>
                  <a:lnTo>
                    <a:pt x="0" y="6"/>
                  </a:lnTo>
                  <a:lnTo>
                    <a:pt x="6" y="18"/>
                  </a:lnTo>
                  <a:lnTo>
                    <a:pt x="6" y="30"/>
                  </a:lnTo>
                  <a:lnTo>
                    <a:pt x="30"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24"/>
            <p:cNvSpPr>
              <a:spLocks noEditPoints="1"/>
            </p:cNvSpPr>
            <p:nvPr/>
          </p:nvSpPr>
          <p:spPr bwMode="auto">
            <a:xfrm>
              <a:off x="3684" y="2796"/>
              <a:ext cx="42" cy="65"/>
            </a:xfrm>
            <a:custGeom>
              <a:avLst/>
              <a:gdLst>
                <a:gd name="T0" fmla="*/ 42 w 42"/>
                <a:gd name="T1" fmla="*/ 54 h 65"/>
                <a:gd name="T2" fmla="*/ 36 w 42"/>
                <a:gd name="T3" fmla="*/ 48 h 65"/>
                <a:gd name="T4" fmla="*/ 36 w 42"/>
                <a:gd name="T5" fmla="*/ 36 h 65"/>
                <a:gd name="T6" fmla="*/ 12 w 42"/>
                <a:gd name="T7" fmla="*/ 42 h 65"/>
                <a:gd name="T8" fmla="*/ 12 w 42"/>
                <a:gd name="T9" fmla="*/ 54 h 65"/>
                <a:gd name="T10" fmla="*/ 18 w 42"/>
                <a:gd name="T11" fmla="*/ 65 h 65"/>
                <a:gd name="T12" fmla="*/ 42 w 42"/>
                <a:gd name="T13" fmla="*/ 54 h 65"/>
                <a:gd name="T14" fmla="*/ 30 w 42"/>
                <a:gd name="T15" fmla="*/ 24 h 65"/>
                <a:gd name="T16" fmla="*/ 30 w 42"/>
                <a:gd name="T17" fmla="*/ 12 h 65"/>
                <a:gd name="T18" fmla="*/ 24 w 42"/>
                <a:gd name="T19" fmla="*/ 0 h 65"/>
                <a:gd name="T20" fmla="*/ 0 w 42"/>
                <a:gd name="T21" fmla="*/ 6 h 65"/>
                <a:gd name="T22" fmla="*/ 6 w 42"/>
                <a:gd name="T23" fmla="*/ 18 h 65"/>
                <a:gd name="T24" fmla="*/ 6 w 42"/>
                <a:gd name="T25" fmla="*/ 30 h 65"/>
                <a:gd name="T26" fmla="*/ 30 w 42"/>
                <a:gd name="T27" fmla="*/ 24 h 6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2" h="65">
                  <a:moveTo>
                    <a:pt x="42" y="54"/>
                  </a:moveTo>
                  <a:lnTo>
                    <a:pt x="36" y="48"/>
                  </a:lnTo>
                  <a:lnTo>
                    <a:pt x="36" y="36"/>
                  </a:lnTo>
                  <a:lnTo>
                    <a:pt x="12" y="42"/>
                  </a:lnTo>
                  <a:lnTo>
                    <a:pt x="12" y="54"/>
                  </a:lnTo>
                  <a:lnTo>
                    <a:pt x="18" y="65"/>
                  </a:lnTo>
                  <a:lnTo>
                    <a:pt x="42" y="54"/>
                  </a:lnTo>
                  <a:close/>
                  <a:moveTo>
                    <a:pt x="30" y="24"/>
                  </a:moveTo>
                  <a:lnTo>
                    <a:pt x="30" y="12"/>
                  </a:lnTo>
                  <a:lnTo>
                    <a:pt x="24" y="0"/>
                  </a:lnTo>
                  <a:lnTo>
                    <a:pt x="0" y="6"/>
                  </a:lnTo>
                  <a:lnTo>
                    <a:pt x="6" y="18"/>
                  </a:lnTo>
                  <a:lnTo>
                    <a:pt x="6" y="30"/>
                  </a:lnTo>
                  <a:lnTo>
                    <a:pt x="30"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25"/>
            <p:cNvSpPr>
              <a:spLocks noEditPoints="1"/>
            </p:cNvSpPr>
            <p:nvPr/>
          </p:nvSpPr>
          <p:spPr bwMode="auto">
            <a:xfrm>
              <a:off x="3672" y="2730"/>
              <a:ext cx="36" cy="66"/>
            </a:xfrm>
            <a:custGeom>
              <a:avLst/>
              <a:gdLst>
                <a:gd name="T0" fmla="*/ 36 w 36"/>
                <a:gd name="T1" fmla="*/ 60 h 66"/>
                <a:gd name="T2" fmla="*/ 30 w 36"/>
                <a:gd name="T3" fmla="*/ 48 h 66"/>
                <a:gd name="T4" fmla="*/ 30 w 36"/>
                <a:gd name="T5" fmla="*/ 36 h 66"/>
                <a:gd name="T6" fmla="*/ 6 w 36"/>
                <a:gd name="T7" fmla="*/ 42 h 66"/>
                <a:gd name="T8" fmla="*/ 6 w 36"/>
                <a:gd name="T9" fmla="*/ 54 h 66"/>
                <a:gd name="T10" fmla="*/ 12 w 36"/>
                <a:gd name="T11" fmla="*/ 66 h 66"/>
                <a:gd name="T12" fmla="*/ 36 w 36"/>
                <a:gd name="T13" fmla="*/ 60 h 66"/>
                <a:gd name="T14" fmla="*/ 24 w 36"/>
                <a:gd name="T15" fmla="*/ 24 h 66"/>
                <a:gd name="T16" fmla="*/ 24 w 36"/>
                <a:gd name="T17" fmla="*/ 12 h 66"/>
                <a:gd name="T18" fmla="*/ 24 w 36"/>
                <a:gd name="T19" fmla="*/ 0 h 66"/>
                <a:gd name="T20" fmla="*/ 0 w 36"/>
                <a:gd name="T21" fmla="*/ 6 h 66"/>
                <a:gd name="T22" fmla="*/ 0 w 36"/>
                <a:gd name="T23" fmla="*/ 18 h 66"/>
                <a:gd name="T24" fmla="*/ 0 w 36"/>
                <a:gd name="T25" fmla="*/ 30 h 66"/>
                <a:gd name="T26" fmla="*/ 24 w 36"/>
                <a:gd name="T27" fmla="*/ 24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6" h="66">
                  <a:moveTo>
                    <a:pt x="36" y="60"/>
                  </a:moveTo>
                  <a:lnTo>
                    <a:pt x="30" y="48"/>
                  </a:lnTo>
                  <a:lnTo>
                    <a:pt x="30" y="36"/>
                  </a:lnTo>
                  <a:lnTo>
                    <a:pt x="6" y="42"/>
                  </a:lnTo>
                  <a:lnTo>
                    <a:pt x="6" y="54"/>
                  </a:lnTo>
                  <a:lnTo>
                    <a:pt x="12" y="66"/>
                  </a:lnTo>
                  <a:lnTo>
                    <a:pt x="36" y="60"/>
                  </a:lnTo>
                  <a:close/>
                  <a:moveTo>
                    <a:pt x="24" y="24"/>
                  </a:moveTo>
                  <a:lnTo>
                    <a:pt x="24" y="12"/>
                  </a:lnTo>
                  <a:lnTo>
                    <a:pt x="24" y="0"/>
                  </a:lnTo>
                  <a:lnTo>
                    <a:pt x="0" y="6"/>
                  </a:lnTo>
                  <a:lnTo>
                    <a:pt x="0" y="18"/>
                  </a:lnTo>
                  <a:lnTo>
                    <a:pt x="0" y="30"/>
                  </a:lnTo>
                  <a:lnTo>
                    <a:pt x="24"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26"/>
            <p:cNvSpPr>
              <a:spLocks noEditPoints="1"/>
            </p:cNvSpPr>
            <p:nvPr/>
          </p:nvSpPr>
          <p:spPr bwMode="auto">
            <a:xfrm>
              <a:off x="3660" y="2664"/>
              <a:ext cx="30" cy="60"/>
            </a:xfrm>
            <a:custGeom>
              <a:avLst/>
              <a:gdLst>
                <a:gd name="T0" fmla="*/ 30 w 30"/>
                <a:gd name="T1" fmla="*/ 60 h 60"/>
                <a:gd name="T2" fmla="*/ 30 w 30"/>
                <a:gd name="T3" fmla="*/ 48 h 60"/>
                <a:gd name="T4" fmla="*/ 30 w 30"/>
                <a:gd name="T5" fmla="*/ 36 h 60"/>
                <a:gd name="T6" fmla="*/ 6 w 30"/>
                <a:gd name="T7" fmla="*/ 42 h 60"/>
                <a:gd name="T8" fmla="*/ 6 w 30"/>
                <a:gd name="T9" fmla="*/ 60 h 60"/>
                <a:gd name="T10" fmla="*/ 30 w 30"/>
                <a:gd name="T11" fmla="*/ 60 h 60"/>
                <a:gd name="T12" fmla="*/ 24 w 30"/>
                <a:gd name="T13" fmla="*/ 24 h 60"/>
                <a:gd name="T14" fmla="*/ 24 w 30"/>
                <a:gd name="T15" fmla="*/ 12 h 60"/>
                <a:gd name="T16" fmla="*/ 24 w 30"/>
                <a:gd name="T17" fmla="*/ 0 h 60"/>
                <a:gd name="T18" fmla="*/ 0 w 30"/>
                <a:gd name="T19" fmla="*/ 6 h 60"/>
                <a:gd name="T20" fmla="*/ 0 w 30"/>
                <a:gd name="T21" fmla="*/ 18 h 60"/>
                <a:gd name="T22" fmla="*/ 0 w 30"/>
                <a:gd name="T23" fmla="*/ 30 h 60"/>
                <a:gd name="T24" fmla="*/ 24 w 30"/>
                <a:gd name="T25" fmla="*/ 24 h 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0" h="60">
                  <a:moveTo>
                    <a:pt x="30" y="60"/>
                  </a:moveTo>
                  <a:lnTo>
                    <a:pt x="30" y="48"/>
                  </a:lnTo>
                  <a:lnTo>
                    <a:pt x="30" y="36"/>
                  </a:lnTo>
                  <a:lnTo>
                    <a:pt x="6" y="42"/>
                  </a:lnTo>
                  <a:lnTo>
                    <a:pt x="6" y="60"/>
                  </a:lnTo>
                  <a:lnTo>
                    <a:pt x="30" y="60"/>
                  </a:lnTo>
                  <a:close/>
                  <a:moveTo>
                    <a:pt x="24" y="24"/>
                  </a:moveTo>
                  <a:lnTo>
                    <a:pt x="24" y="12"/>
                  </a:lnTo>
                  <a:lnTo>
                    <a:pt x="24" y="0"/>
                  </a:lnTo>
                  <a:lnTo>
                    <a:pt x="0" y="6"/>
                  </a:lnTo>
                  <a:lnTo>
                    <a:pt x="0" y="18"/>
                  </a:lnTo>
                  <a:lnTo>
                    <a:pt x="0" y="30"/>
                  </a:lnTo>
                  <a:lnTo>
                    <a:pt x="24"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27"/>
            <p:cNvSpPr>
              <a:spLocks noEditPoints="1"/>
            </p:cNvSpPr>
            <p:nvPr/>
          </p:nvSpPr>
          <p:spPr bwMode="auto">
            <a:xfrm>
              <a:off x="3654" y="2599"/>
              <a:ext cx="24" cy="59"/>
            </a:xfrm>
            <a:custGeom>
              <a:avLst/>
              <a:gdLst>
                <a:gd name="T0" fmla="*/ 24 w 24"/>
                <a:gd name="T1" fmla="*/ 59 h 59"/>
                <a:gd name="T2" fmla="*/ 24 w 24"/>
                <a:gd name="T3" fmla="*/ 48 h 59"/>
                <a:gd name="T4" fmla="*/ 24 w 24"/>
                <a:gd name="T5" fmla="*/ 36 h 59"/>
                <a:gd name="T6" fmla="*/ 0 w 24"/>
                <a:gd name="T7" fmla="*/ 36 h 59"/>
                <a:gd name="T8" fmla="*/ 0 w 24"/>
                <a:gd name="T9" fmla="*/ 48 h 59"/>
                <a:gd name="T10" fmla="*/ 6 w 24"/>
                <a:gd name="T11" fmla="*/ 59 h 59"/>
                <a:gd name="T12" fmla="*/ 24 w 24"/>
                <a:gd name="T13" fmla="*/ 59 h 59"/>
                <a:gd name="T14" fmla="*/ 24 w 24"/>
                <a:gd name="T15" fmla="*/ 24 h 59"/>
                <a:gd name="T16" fmla="*/ 24 w 24"/>
                <a:gd name="T17" fmla="*/ 12 h 59"/>
                <a:gd name="T18" fmla="*/ 24 w 24"/>
                <a:gd name="T19" fmla="*/ 0 h 59"/>
                <a:gd name="T20" fmla="*/ 0 w 24"/>
                <a:gd name="T21" fmla="*/ 0 h 59"/>
                <a:gd name="T22" fmla="*/ 0 w 24"/>
                <a:gd name="T23" fmla="*/ 12 h 59"/>
                <a:gd name="T24" fmla="*/ 0 w 24"/>
                <a:gd name="T25" fmla="*/ 24 h 59"/>
                <a:gd name="T26" fmla="*/ 24 w 24"/>
                <a:gd name="T27" fmla="*/ 24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4" h="59">
                  <a:moveTo>
                    <a:pt x="24" y="59"/>
                  </a:moveTo>
                  <a:lnTo>
                    <a:pt x="24" y="48"/>
                  </a:lnTo>
                  <a:lnTo>
                    <a:pt x="24" y="36"/>
                  </a:lnTo>
                  <a:lnTo>
                    <a:pt x="0" y="36"/>
                  </a:lnTo>
                  <a:lnTo>
                    <a:pt x="0" y="48"/>
                  </a:lnTo>
                  <a:lnTo>
                    <a:pt x="6" y="59"/>
                  </a:lnTo>
                  <a:lnTo>
                    <a:pt x="24" y="59"/>
                  </a:lnTo>
                  <a:close/>
                  <a:moveTo>
                    <a:pt x="24" y="24"/>
                  </a:moveTo>
                  <a:lnTo>
                    <a:pt x="24" y="12"/>
                  </a:lnTo>
                  <a:lnTo>
                    <a:pt x="24" y="0"/>
                  </a:lnTo>
                  <a:lnTo>
                    <a:pt x="0" y="0"/>
                  </a:lnTo>
                  <a:lnTo>
                    <a:pt x="0" y="12"/>
                  </a:lnTo>
                  <a:lnTo>
                    <a:pt x="0" y="24"/>
                  </a:lnTo>
                  <a:lnTo>
                    <a:pt x="24"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28"/>
            <p:cNvSpPr>
              <a:spLocks noEditPoints="1"/>
            </p:cNvSpPr>
            <p:nvPr/>
          </p:nvSpPr>
          <p:spPr bwMode="auto">
            <a:xfrm>
              <a:off x="3648" y="2533"/>
              <a:ext cx="24" cy="60"/>
            </a:xfrm>
            <a:custGeom>
              <a:avLst/>
              <a:gdLst>
                <a:gd name="T0" fmla="*/ 24 w 24"/>
                <a:gd name="T1" fmla="*/ 54 h 60"/>
                <a:gd name="T2" fmla="*/ 24 w 24"/>
                <a:gd name="T3" fmla="*/ 36 h 60"/>
                <a:gd name="T4" fmla="*/ 0 w 24"/>
                <a:gd name="T5" fmla="*/ 36 h 60"/>
                <a:gd name="T6" fmla="*/ 0 w 24"/>
                <a:gd name="T7" fmla="*/ 48 h 60"/>
                <a:gd name="T8" fmla="*/ 0 w 24"/>
                <a:gd name="T9" fmla="*/ 60 h 60"/>
                <a:gd name="T10" fmla="*/ 24 w 24"/>
                <a:gd name="T11" fmla="*/ 54 h 60"/>
                <a:gd name="T12" fmla="*/ 24 w 24"/>
                <a:gd name="T13" fmla="*/ 24 h 60"/>
                <a:gd name="T14" fmla="*/ 24 w 24"/>
                <a:gd name="T15" fmla="*/ 12 h 60"/>
                <a:gd name="T16" fmla="*/ 24 w 24"/>
                <a:gd name="T17" fmla="*/ 0 h 60"/>
                <a:gd name="T18" fmla="*/ 0 w 24"/>
                <a:gd name="T19" fmla="*/ 0 h 60"/>
                <a:gd name="T20" fmla="*/ 0 w 24"/>
                <a:gd name="T21" fmla="*/ 12 h 60"/>
                <a:gd name="T22" fmla="*/ 0 w 24"/>
                <a:gd name="T23" fmla="*/ 24 h 60"/>
                <a:gd name="T24" fmla="*/ 24 w 24"/>
                <a:gd name="T25" fmla="*/ 24 h 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4" h="60">
                  <a:moveTo>
                    <a:pt x="24" y="54"/>
                  </a:moveTo>
                  <a:lnTo>
                    <a:pt x="24" y="36"/>
                  </a:lnTo>
                  <a:lnTo>
                    <a:pt x="0" y="36"/>
                  </a:lnTo>
                  <a:lnTo>
                    <a:pt x="0" y="48"/>
                  </a:lnTo>
                  <a:lnTo>
                    <a:pt x="0" y="60"/>
                  </a:lnTo>
                  <a:lnTo>
                    <a:pt x="24" y="54"/>
                  </a:lnTo>
                  <a:close/>
                  <a:moveTo>
                    <a:pt x="24" y="24"/>
                  </a:moveTo>
                  <a:lnTo>
                    <a:pt x="24" y="12"/>
                  </a:lnTo>
                  <a:lnTo>
                    <a:pt x="24" y="0"/>
                  </a:lnTo>
                  <a:lnTo>
                    <a:pt x="0" y="0"/>
                  </a:lnTo>
                  <a:lnTo>
                    <a:pt x="0" y="12"/>
                  </a:lnTo>
                  <a:lnTo>
                    <a:pt x="0" y="24"/>
                  </a:lnTo>
                  <a:lnTo>
                    <a:pt x="24"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29"/>
            <p:cNvSpPr>
              <a:spLocks noEditPoints="1"/>
            </p:cNvSpPr>
            <p:nvPr/>
          </p:nvSpPr>
          <p:spPr bwMode="auto">
            <a:xfrm>
              <a:off x="3648" y="2467"/>
              <a:ext cx="24" cy="54"/>
            </a:xfrm>
            <a:custGeom>
              <a:avLst/>
              <a:gdLst>
                <a:gd name="T0" fmla="*/ 24 w 24"/>
                <a:gd name="T1" fmla="*/ 54 h 54"/>
                <a:gd name="T2" fmla="*/ 24 w 24"/>
                <a:gd name="T3" fmla="*/ 42 h 54"/>
                <a:gd name="T4" fmla="*/ 24 w 24"/>
                <a:gd name="T5" fmla="*/ 30 h 54"/>
                <a:gd name="T6" fmla="*/ 0 w 24"/>
                <a:gd name="T7" fmla="*/ 30 h 54"/>
                <a:gd name="T8" fmla="*/ 0 w 24"/>
                <a:gd name="T9" fmla="*/ 42 h 54"/>
                <a:gd name="T10" fmla="*/ 0 w 24"/>
                <a:gd name="T11" fmla="*/ 54 h 54"/>
                <a:gd name="T12" fmla="*/ 24 w 24"/>
                <a:gd name="T13" fmla="*/ 54 h 54"/>
                <a:gd name="T14" fmla="*/ 24 w 24"/>
                <a:gd name="T15" fmla="*/ 18 h 54"/>
                <a:gd name="T16" fmla="*/ 24 w 24"/>
                <a:gd name="T17" fmla="*/ 0 h 54"/>
                <a:gd name="T18" fmla="*/ 0 w 24"/>
                <a:gd name="T19" fmla="*/ 0 h 54"/>
                <a:gd name="T20" fmla="*/ 0 w 24"/>
                <a:gd name="T21" fmla="*/ 18 h 54"/>
                <a:gd name="T22" fmla="*/ 24 w 24"/>
                <a:gd name="T23" fmla="*/ 18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 h="54">
                  <a:moveTo>
                    <a:pt x="24" y="54"/>
                  </a:moveTo>
                  <a:lnTo>
                    <a:pt x="24" y="42"/>
                  </a:lnTo>
                  <a:lnTo>
                    <a:pt x="24" y="30"/>
                  </a:lnTo>
                  <a:lnTo>
                    <a:pt x="0" y="30"/>
                  </a:lnTo>
                  <a:lnTo>
                    <a:pt x="0" y="42"/>
                  </a:lnTo>
                  <a:lnTo>
                    <a:pt x="0" y="54"/>
                  </a:lnTo>
                  <a:lnTo>
                    <a:pt x="24" y="54"/>
                  </a:lnTo>
                  <a:close/>
                  <a:moveTo>
                    <a:pt x="24" y="18"/>
                  </a:moveTo>
                  <a:lnTo>
                    <a:pt x="24" y="0"/>
                  </a:lnTo>
                  <a:lnTo>
                    <a:pt x="0" y="0"/>
                  </a:lnTo>
                  <a:lnTo>
                    <a:pt x="0" y="18"/>
                  </a:lnTo>
                  <a:lnTo>
                    <a:pt x="24"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30"/>
            <p:cNvSpPr>
              <a:spLocks noEditPoints="1"/>
            </p:cNvSpPr>
            <p:nvPr/>
          </p:nvSpPr>
          <p:spPr bwMode="auto">
            <a:xfrm>
              <a:off x="3654" y="2396"/>
              <a:ext cx="24" cy="59"/>
            </a:xfrm>
            <a:custGeom>
              <a:avLst/>
              <a:gdLst>
                <a:gd name="T0" fmla="*/ 24 w 24"/>
                <a:gd name="T1" fmla="*/ 59 h 59"/>
                <a:gd name="T2" fmla="*/ 24 w 24"/>
                <a:gd name="T3" fmla="*/ 47 h 59"/>
                <a:gd name="T4" fmla="*/ 24 w 24"/>
                <a:gd name="T5" fmla="*/ 36 h 59"/>
                <a:gd name="T6" fmla="*/ 0 w 24"/>
                <a:gd name="T7" fmla="*/ 36 h 59"/>
                <a:gd name="T8" fmla="*/ 0 w 24"/>
                <a:gd name="T9" fmla="*/ 47 h 59"/>
                <a:gd name="T10" fmla="*/ 0 w 24"/>
                <a:gd name="T11" fmla="*/ 59 h 59"/>
                <a:gd name="T12" fmla="*/ 24 w 24"/>
                <a:gd name="T13" fmla="*/ 59 h 59"/>
                <a:gd name="T14" fmla="*/ 24 w 24"/>
                <a:gd name="T15" fmla="*/ 24 h 59"/>
                <a:gd name="T16" fmla="*/ 24 w 24"/>
                <a:gd name="T17" fmla="*/ 6 h 59"/>
                <a:gd name="T18" fmla="*/ 6 w 24"/>
                <a:gd name="T19" fmla="*/ 0 h 59"/>
                <a:gd name="T20" fmla="*/ 0 w 24"/>
                <a:gd name="T21" fmla="*/ 12 h 59"/>
                <a:gd name="T22" fmla="*/ 0 w 24"/>
                <a:gd name="T23" fmla="*/ 24 h 59"/>
                <a:gd name="T24" fmla="*/ 24 w 24"/>
                <a:gd name="T25" fmla="*/ 24 h 5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4" h="59">
                  <a:moveTo>
                    <a:pt x="24" y="59"/>
                  </a:moveTo>
                  <a:lnTo>
                    <a:pt x="24" y="47"/>
                  </a:lnTo>
                  <a:lnTo>
                    <a:pt x="24" y="36"/>
                  </a:lnTo>
                  <a:lnTo>
                    <a:pt x="0" y="36"/>
                  </a:lnTo>
                  <a:lnTo>
                    <a:pt x="0" y="47"/>
                  </a:lnTo>
                  <a:lnTo>
                    <a:pt x="0" y="59"/>
                  </a:lnTo>
                  <a:lnTo>
                    <a:pt x="24" y="59"/>
                  </a:lnTo>
                  <a:close/>
                  <a:moveTo>
                    <a:pt x="24" y="24"/>
                  </a:moveTo>
                  <a:lnTo>
                    <a:pt x="24" y="6"/>
                  </a:lnTo>
                  <a:lnTo>
                    <a:pt x="6" y="0"/>
                  </a:lnTo>
                  <a:lnTo>
                    <a:pt x="0" y="12"/>
                  </a:lnTo>
                  <a:lnTo>
                    <a:pt x="0" y="24"/>
                  </a:lnTo>
                  <a:lnTo>
                    <a:pt x="24"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31"/>
            <p:cNvSpPr>
              <a:spLocks noEditPoints="1"/>
            </p:cNvSpPr>
            <p:nvPr/>
          </p:nvSpPr>
          <p:spPr bwMode="auto">
            <a:xfrm>
              <a:off x="3660" y="2330"/>
              <a:ext cx="30" cy="60"/>
            </a:xfrm>
            <a:custGeom>
              <a:avLst/>
              <a:gdLst>
                <a:gd name="T0" fmla="*/ 24 w 30"/>
                <a:gd name="T1" fmla="*/ 60 h 60"/>
                <a:gd name="T2" fmla="*/ 24 w 30"/>
                <a:gd name="T3" fmla="*/ 48 h 60"/>
                <a:gd name="T4" fmla="*/ 24 w 30"/>
                <a:gd name="T5" fmla="*/ 36 h 60"/>
                <a:gd name="T6" fmla="*/ 0 w 30"/>
                <a:gd name="T7" fmla="*/ 30 h 60"/>
                <a:gd name="T8" fmla="*/ 0 w 30"/>
                <a:gd name="T9" fmla="*/ 42 h 60"/>
                <a:gd name="T10" fmla="*/ 0 w 30"/>
                <a:gd name="T11" fmla="*/ 54 h 60"/>
                <a:gd name="T12" fmla="*/ 24 w 30"/>
                <a:gd name="T13" fmla="*/ 60 h 60"/>
                <a:gd name="T14" fmla="*/ 30 w 30"/>
                <a:gd name="T15" fmla="*/ 24 h 60"/>
                <a:gd name="T16" fmla="*/ 30 w 30"/>
                <a:gd name="T17" fmla="*/ 6 h 60"/>
                <a:gd name="T18" fmla="*/ 6 w 30"/>
                <a:gd name="T19" fmla="*/ 0 h 60"/>
                <a:gd name="T20" fmla="*/ 6 w 30"/>
                <a:gd name="T21" fmla="*/ 12 h 60"/>
                <a:gd name="T22" fmla="*/ 6 w 30"/>
                <a:gd name="T23" fmla="*/ 24 h 60"/>
                <a:gd name="T24" fmla="*/ 30 w 30"/>
                <a:gd name="T25" fmla="*/ 24 h 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0" h="60">
                  <a:moveTo>
                    <a:pt x="24" y="60"/>
                  </a:moveTo>
                  <a:lnTo>
                    <a:pt x="24" y="48"/>
                  </a:lnTo>
                  <a:lnTo>
                    <a:pt x="24" y="36"/>
                  </a:lnTo>
                  <a:lnTo>
                    <a:pt x="0" y="30"/>
                  </a:lnTo>
                  <a:lnTo>
                    <a:pt x="0" y="42"/>
                  </a:lnTo>
                  <a:lnTo>
                    <a:pt x="0" y="54"/>
                  </a:lnTo>
                  <a:lnTo>
                    <a:pt x="24" y="60"/>
                  </a:lnTo>
                  <a:close/>
                  <a:moveTo>
                    <a:pt x="30" y="24"/>
                  </a:moveTo>
                  <a:lnTo>
                    <a:pt x="30" y="6"/>
                  </a:lnTo>
                  <a:lnTo>
                    <a:pt x="6" y="0"/>
                  </a:lnTo>
                  <a:lnTo>
                    <a:pt x="6" y="12"/>
                  </a:lnTo>
                  <a:lnTo>
                    <a:pt x="6" y="24"/>
                  </a:lnTo>
                  <a:lnTo>
                    <a:pt x="30"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32"/>
            <p:cNvSpPr>
              <a:spLocks noEditPoints="1"/>
            </p:cNvSpPr>
            <p:nvPr/>
          </p:nvSpPr>
          <p:spPr bwMode="auto">
            <a:xfrm>
              <a:off x="3666" y="2264"/>
              <a:ext cx="36" cy="60"/>
            </a:xfrm>
            <a:custGeom>
              <a:avLst/>
              <a:gdLst>
                <a:gd name="T0" fmla="*/ 24 w 36"/>
                <a:gd name="T1" fmla="*/ 60 h 60"/>
                <a:gd name="T2" fmla="*/ 30 w 36"/>
                <a:gd name="T3" fmla="*/ 48 h 60"/>
                <a:gd name="T4" fmla="*/ 30 w 36"/>
                <a:gd name="T5" fmla="*/ 36 h 60"/>
                <a:gd name="T6" fmla="*/ 6 w 36"/>
                <a:gd name="T7" fmla="*/ 30 h 60"/>
                <a:gd name="T8" fmla="*/ 6 w 36"/>
                <a:gd name="T9" fmla="*/ 42 h 60"/>
                <a:gd name="T10" fmla="*/ 0 w 36"/>
                <a:gd name="T11" fmla="*/ 54 h 60"/>
                <a:gd name="T12" fmla="*/ 24 w 36"/>
                <a:gd name="T13" fmla="*/ 60 h 60"/>
                <a:gd name="T14" fmla="*/ 30 w 36"/>
                <a:gd name="T15" fmla="*/ 24 h 60"/>
                <a:gd name="T16" fmla="*/ 36 w 36"/>
                <a:gd name="T17" fmla="*/ 12 h 60"/>
                <a:gd name="T18" fmla="*/ 36 w 36"/>
                <a:gd name="T19" fmla="*/ 0 h 60"/>
                <a:gd name="T20" fmla="*/ 12 w 36"/>
                <a:gd name="T21" fmla="*/ 0 h 60"/>
                <a:gd name="T22" fmla="*/ 12 w 36"/>
                <a:gd name="T23" fmla="*/ 18 h 60"/>
                <a:gd name="T24" fmla="*/ 30 w 36"/>
                <a:gd name="T25" fmla="*/ 24 h 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 h="60">
                  <a:moveTo>
                    <a:pt x="24" y="60"/>
                  </a:moveTo>
                  <a:lnTo>
                    <a:pt x="30" y="48"/>
                  </a:lnTo>
                  <a:lnTo>
                    <a:pt x="30" y="36"/>
                  </a:lnTo>
                  <a:lnTo>
                    <a:pt x="6" y="30"/>
                  </a:lnTo>
                  <a:lnTo>
                    <a:pt x="6" y="42"/>
                  </a:lnTo>
                  <a:lnTo>
                    <a:pt x="0" y="54"/>
                  </a:lnTo>
                  <a:lnTo>
                    <a:pt x="24" y="60"/>
                  </a:lnTo>
                  <a:close/>
                  <a:moveTo>
                    <a:pt x="30" y="24"/>
                  </a:moveTo>
                  <a:lnTo>
                    <a:pt x="36" y="12"/>
                  </a:lnTo>
                  <a:lnTo>
                    <a:pt x="36" y="0"/>
                  </a:lnTo>
                  <a:lnTo>
                    <a:pt x="12" y="0"/>
                  </a:lnTo>
                  <a:lnTo>
                    <a:pt x="12" y="18"/>
                  </a:lnTo>
                  <a:lnTo>
                    <a:pt x="30"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33"/>
            <p:cNvSpPr>
              <a:spLocks noEditPoints="1"/>
            </p:cNvSpPr>
            <p:nvPr/>
          </p:nvSpPr>
          <p:spPr bwMode="auto">
            <a:xfrm>
              <a:off x="3684" y="2199"/>
              <a:ext cx="36" cy="59"/>
            </a:xfrm>
            <a:custGeom>
              <a:avLst/>
              <a:gdLst>
                <a:gd name="T0" fmla="*/ 24 w 36"/>
                <a:gd name="T1" fmla="*/ 59 h 59"/>
                <a:gd name="T2" fmla="*/ 24 w 36"/>
                <a:gd name="T3" fmla="*/ 47 h 59"/>
                <a:gd name="T4" fmla="*/ 30 w 36"/>
                <a:gd name="T5" fmla="*/ 35 h 59"/>
                <a:gd name="T6" fmla="*/ 6 w 36"/>
                <a:gd name="T7" fmla="*/ 30 h 59"/>
                <a:gd name="T8" fmla="*/ 0 w 36"/>
                <a:gd name="T9" fmla="*/ 41 h 59"/>
                <a:gd name="T10" fmla="*/ 0 w 36"/>
                <a:gd name="T11" fmla="*/ 53 h 59"/>
                <a:gd name="T12" fmla="*/ 24 w 36"/>
                <a:gd name="T13" fmla="*/ 59 h 59"/>
                <a:gd name="T14" fmla="*/ 30 w 36"/>
                <a:gd name="T15" fmla="*/ 24 h 59"/>
                <a:gd name="T16" fmla="*/ 36 w 36"/>
                <a:gd name="T17" fmla="*/ 18 h 59"/>
                <a:gd name="T18" fmla="*/ 36 w 36"/>
                <a:gd name="T19" fmla="*/ 6 h 59"/>
                <a:gd name="T20" fmla="*/ 12 w 36"/>
                <a:gd name="T21" fmla="*/ 0 h 59"/>
                <a:gd name="T22" fmla="*/ 12 w 36"/>
                <a:gd name="T23" fmla="*/ 12 h 59"/>
                <a:gd name="T24" fmla="*/ 6 w 36"/>
                <a:gd name="T25" fmla="*/ 18 h 59"/>
                <a:gd name="T26" fmla="*/ 30 w 36"/>
                <a:gd name="T27" fmla="*/ 24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6" h="59">
                  <a:moveTo>
                    <a:pt x="24" y="59"/>
                  </a:moveTo>
                  <a:lnTo>
                    <a:pt x="24" y="47"/>
                  </a:lnTo>
                  <a:lnTo>
                    <a:pt x="30" y="35"/>
                  </a:lnTo>
                  <a:lnTo>
                    <a:pt x="6" y="30"/>
                  </a:lnTo>
                  <a:lnTo>
                    <a:pt x="0" y="41"/>
                  </a:lnTo>
                  <a:lnTo>
                    <a:pt x="0" y="53"/>
                  </a:lnTo>
                  <a:lnTo>
                    <a:pt x="24" y="59"/>
                  </a:lnTo>
                  <a:close/>
                  <a:moveTo>
                    <a:pt x="30" y="24"/>
                  </a:moveTo>
                  <a:lnTo>
                    <a:pt x="36" y="18"/>
                  </a:lnTo>
                  <a:lnTo>
                    <a:pt x="36" y="6"/>
                  </a:lnTo>
                  <a:lnTo>
                    <a:pt x="12" y="0"/>
                  </a:lnTo>
                  <a:lnTo>
                    <a:pt x="12" y="12"/>
                  </a:lnTo>
                  <a:lnTo>
                    <a:pt x="6" y="18"/>
                  </a:lnTo>
                  <a:lnTo>
                    <a:pt x="30"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34"/>
            <p:cNvSpPr>
              <a:spLocks noEditPoints="1"/>
            </p:cNvSpPr>
            <p:nvPr/>
          </p:nvSpPr>
          <p:spPr bwMode="auto">
            <a:xfrm>
              <a:off x="3696" y="2133"/>
              <a:ext cx="42" cy="60"/>
            </a:xfrm>
            <a:custGeom>
              <a:avLst/>
              <a:gdLst>
                <a:gd name="T0" fmla="*/ 24 w 42"/>
                <a:gd name="T1" fmla="*/ 60 h 60"/>
                <a:gd name="T2" fmla="*/ 30 w 42"/>
                <a:gd name="T3" fmla="*/ 48 h 60"/>
                <a:gd name="T4" fmla="*/ 30 w 42"/>
                <a:gd name="T5" fmla="*/ 36 h 60"/>
                <a:gd name="T6" fmla="*/ 6 w 42"/>
                <a:gd name="T7" fmla="*/ 30 h 60"/>
                <a:gd name="T8" fmla="*/ 6 w 42"/>
                <a:gd name="T9" fmla="*/ 42 h 60"/>
                <a:gd name="T10" fmla="*/ 0 w 42"/>
                <a:gd name="T11" fmla="*/ 54 h 60"/>
                <a:gd name="T12" fmla="*/ 24 w 42"/>
                <a:gd name="T13" fmla="*/ 60 h 60"/>
                <a:gd name="T14" fmla="*/ 36 w 42"/>
                <a:gd name="T15" fmla="*/ 24 h 60"/>
                <a:gd name="T16" fmla="*/ 36 w 42"/>
                <a:gd name="T17" fmla="*/ 18 h 60"/>
                <a:gd name="T18" fmla="*/ 42 w 42"/>
                <a:gd name="T19" fmla="*/ 6 h 60"/>
                <a:gd name="T20" fmla="*/ 18 w 42"/>
                <a:gd name="T21" fmla="*/ 0 h 60"/>
                <a:gd name="T22" fmla="*/ 18 w 42"/>
                <a:gd name="T23" fmla="*/ 12 h 60"/>
                <a:gd name="T24" fmla="*/ 12 w 42"/>
                <a:gd name="T25" fmla="*/ 18 h 60"/>
                <a:gd name="T26" fmla="*/ 36 w 42"/>
                <a:gd name="T27" fmla="*/ 24 h 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2" h="60">
                  <a:moveTo>
                    <a:pt x="24" y="60"/>
                  </a:moveTo>
                  <a:lnTo>
                    <a:pt x="30" y="48"/>
                  </a:lnTo>
                  <a:lnTo>
                    <a:pt x="30" y="36"/>
                  </a:lnTo>
                  <a:lnTo>
                    <a:pt x="6" y="30"/>
                  </a:lnTo>
                  <a:lnTo>
                    <a:pt x="6" y="42"/>
                  </a:lnTo>
                  <a:lnTo>
                    <a:pt x="0" y="54"/>
                  </a:lnTo>
                  <a:lnTo>
                    <a:pt x="24" y="60"/>
                  </a:lnTo>
                  <a:close/>
                  <a:moveTo>
                    <a:pt x="36" y="24"/>
                  </a:moveTo>
                  <a:lnTo>
                    <a:pt x="36" y="18"/>
                  </a:lnTo>
                  <a:lnTo>
                    <a:pt x="42" y="6"/>
                  </a:lnTo>
                  <a:lnTo>
                    <a:pt x="18" y="0"/>
                  </a:lnTo>
                  <a:lnTo>
                    <a:pt x="18" y="12"/>
                  </a:lnTo>
                  <a:lnTo>
                    <a:pt x="12" y="18"/>
                  </a:lnTo>
                  <a:lnTo>
                    <a:pt x="36"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35"/>
            <p:cNvSpPr>
              <a:spLocks noEditPoints="1"/>
            </p:cNvSpPr>
            <p:nvPr/>
          </p:nvSpPr>
          <p:spPr bwMode="auto">
            <a:xfrm>
              <a:off x="3714" y="2067"/>
              <a:ext cx="42" cy="60"/>
            </a:xfrm>
            <a:custGeom>
              <a:avLst/>
              <a:gdLst>
                <a:gd name="T0" fmla="*/ 24 w 42"/>
                <a:gd name="T1" fmla="*/ 60 h 60"/>
                <a:gd name="T2" fmla="*/ 30 w 42"/>
                <a:gd name="T3" fmla="*/ 48 h 60"/>
                <a:gd name="T4" fmla="*/ 30 w 42"/>
                <a:gd name="T5" fmla="*/ 36 h 60"/>
                <a:gd name="T6" fmla="*/ 12 w 42"/>
                <a:gd name="T7" fmla="*/ 30 h 60"/>
                <a:gd name="T8" fmla="*/ 6 w 42"/>
                <a:gd name="T9" fmla="*/ 42 h 60"/>
                <a:gd name="T10" fmla="*/ 0 w 42"/>
                <a:gd name="T11" fmla="*/ 54 h 60"/>
                <a:gd name="T12" fmla="*/ 24 w 42"/>
                <a:gd name="T13" fmla="*/ 60 h 60"/>
                <a:gd name="T14" fmla="*/ 36 w 42"/>
                <a:gd name="T15" fmla="*/ 24 h 60"/>
                <a:gd name="T16" fmla="*/ 42 w 42"/>
                <a:gd name="T17" fmla="*/ 18 h 60"/>
                <a:gd name="T18" fmla="*/ 42 w 42"/>
                <a:gd name="T19" fmla="*/ 6 h 60"/>
                <a:gd name="T20" fmla="*/ 18 w 42"/>
                <a:gd name="T21" fmla="*/ 0 h 60"/>
                <a:gd name="T22" fmla="*/ 18 w 42"/>
                <a:gd name="T23" fmla="*/ 12 h 60"/>
                <a:gd name="T24" fmla="*/ 12 w 42"/>
                <a:gd name="T25" fmla="*/ 18 h 60"/>
                <a:gd name="T26" fmla="*/ 36 w 42"/>
                <a:gd name="T27" fmla="*/ 24 h 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2" h="60">
                  <a:moveTo>
                    <a:pt x="24" y="60"/>
                  </a:moveTo>
                  <a:lnTo>
                    <a:pt x="30" y="48"/>
                  </a:lnTo>
                  <a:lnTo>
                    <a:pt x="30" y="36"/>
                  </a:lnTo>
                  <a:lnTo>
                    <a:pt x="12" y="30"/>
                  </a:lnTo>
                  <a:lnTo>
                    <a:pt x="6" y="42"/>
                  </a:lnTo>
                  <a:lnTo>
                    <a:pt x="0" y="54"/>
                  </a:lnTo>
                  <a:lnTo>
                    <a:pt x="24" y="60"/>
                  </a:lnTo>
                  <a:close/>
                  <a:moveTo>
                    <a:pt x="36" y="24"/>
                  </a:moveTo>
                  <a:lnTo>
                    <a:pt x="42" y="18"/>
                  </a:lnTo>
                  <a:lnTo>
                    <a:pt x="42" y="6"/>
                  </a:lnTo>
                  <a:lnTo>
                    <a:pt x="18" y="0"/>
                  </a:lnTo>
                  <a:lnTo>
                    <a:pt x="18" y="12"/>
                  </a:lnTo>
                  <a:lnTo>
                    <a:pt x="12" y="18"/>
                  </a:lnTo>
                  <a:lnTo>
                    <a:pt x="36"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36"/>
            <p:cNvSpPr>
              <a:spLocks noEditPoints="1"/>
            </p:cNvSpPr>
            <p:nvPr/>
          </p:nvSpPr>
          <p:spPr bwMode="auto">
            <a:xfrm>
              <a:off x="3738" y="2002"/>
              <a:ext cx="36" cy="59"/>
            </a:xfrm>
            <a:custGeom>
              <a:avLst/>
              <a:gdLst>
                <a:gd name="T0" fmla="*/ 24 w 36"/>
                <a:gd name="T1" fmla="*/ 59 h 59"/>
                <a:gd name="T2" fmla="*/ 24 w 36"/>
                <a:gd name="T3" fmla="*/ 47 h 59"/>
                <a:gd name="T4" fmla="*/ 30 w 36"/>
                <a:gd name="T5" fmla="*/ 35 h 59"/>
                <a:gd name="T6" fmla="*/ 6 w 36"/>
                <a:gd name="T7" fmla="*/ 29 h 59"/>
                <a:gd name="T8" fmla="*/ 0 w 36"/>
                <a:gd name="T9" fmla="*/ 41 h 59"/>
                <a:gd name="T10" fmla="*/ 0 w 36"/>
                <a:gd name="T11" fmla="*/ 53 h 59"/>
                <a:gd name="T12" fmla="*/ 24 w 36"/>
                <a:gd name="T13" fmla="*/ 59 h 59"/>
                <a:gd name="T14" fmla="*/ 30 w 36"/>
                <a:gd name="T15" fmla="*/ 29 h 59"/>
                <a:gd name="T16" fmla="*/ 36 w 36"/>
                <a:gd name="T17" fmla="*/ 18 h 59"/>
                <a:gd name="T18" fmla="*/ 36 w 36"/>
                <a:gd name="T19" fmla="*/ 6 h 59"/>
                <a:gd name="T20" fmla="*/ 12 w 36"/>
                <a:gd name="T21" fmla="*/ 0 h 59"/>
                <a:gd name="T22" fmla="*/ 12 w 36"/>
                <a:gd name="T23" fmla="*/ 12 h 59"/>
                <a:gd name="T24" fmla="*/ 6 w 36"/>
                <a:gd name="T25" fmla="*/ 18 h 59"/>
                <a:gd name="T26" fmla="*/ 30 w 36"/>
                <a:gd name="T27" fmla="*/ 29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6" h="59">
                  <a:moveTo>
                    <a:pt x="24" y="59"/>
                  </a:moveTo>
                  <a:lnTo>
                    <a:pt x="24" y="47"/>
                  </a:lnTo>
                  <a:lnTo>
                    <a:pt x="30" y="35"/>
                  </a:lnTo>
                  <a:lnTo>
                    <a:pt x="6" y="29"/>
                  </a:lnTo>
                  <a:lnTo>
                    <a:pt x="0" y="41"/>
                  </a:lnTo>
                  <a:lnTo>
                    <a:pt x="0" y="53"/>
                  </a:lnTo>
                  <a:lnTo>
                    <a:pt x="24" y="59"/>
                  </a:lnTo>
                  <a:close/>
                  <a:moveTo>
                    <a:pt x="30" y="29"/>
                  </a:moveTo>
                  <a:lnTo>
                    <a:pt x="36" y="18"/>
                  </a:lnTo>
                  <a:lnTo>
                    <a:pt x="36" y="6"/>
                  </a:lnTo>
                  <a:lnTo>
                    <a:pt x="12" y="0"/>
                  </a:lnTo>
                  <a:lnTo>
                    <a:pt x="12" y="12"/>
                  </a:lnTo>
                  <a:lnTo>
                    <a:pt x="6" y="18"/>
                  </a:lnTo>
                  <a:lnTo>
                    <a:pt x="30" y="29"/>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37"/>
            <p:cNvSpPr>
              <a:spLocks noEditPoints="1"/>
            </p:cNvSpPr>
            <p:nvPr/>
          </p:nvSpPr>
          <p:spPr bwMode="auto">
            <a:xfrm>
              <a:off x="3756" y="1966"/>
              <a:ext cx="30" cy="30"/>
            </a:xfrm>
            <a:custGeom>
              <a:avLst/>
              <a:gdLst>
                <a:gd name="T0" fmla="*/ 24 w 30"/>
                <a:gd name="T1" fmla="*/ 30 h 30"/>
                <a:gd name="T2" fmla="*/ 30 w 30"/>
                <a:gd name="T3" fmla="*/ 24 h 30"/>
                <a:gd name="T4" fmla="*/ 30 w 30"/>
                <a:gd name="T5" fmla="*/ 12 h 30"/>
                <a:gd name="T6" fmla="*/ 6 w 30"/>
                <a:gd name="T7" fmla="*/ 0 h 30"/>
                <a:gd name="T8" fmla="*/ 6 w 30"/>
                <a:gd name="T9" fmla="*/ 12 h 30"/>
                <a:gd name="T10" fmla="*/ 0 w 30"/>
                <a:gd name="T11" fmla="*/ 24 h 30"/>
                <a:gd name="T12" fmla="*/ 24 w 30"/>
                <a:gd name="T13" fmla="*/ 30 h 30"/>
                <a:gd name="T14" fmla="*/ 30 w 30"/>
                <a:gd name="T15" fmla="*/ 12 h 30"/>
                <a:gd name="T16" fmla="*/ 30 w 30"/>
                <a:gd name="T17" fmla="*/ 12 h 30"/>
                <a:gd name="T18" fmla="*/ 6 w 30"/>
                <a:gd name="T19" fmla="*/ 0 h 30"/>
                <a:gd name="T20" fmla="*/ 6 w 30"/>
                <a:gd name="T21" fmla="*/ 0 h 30"/>
                <a:gd name="T22" fmla="*/ 30 w 30"/>
                <a:gd name="T23" fmla="*/ 12 h 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0" h="30">
                  <a:moveTo>
                    <a:pt x="24" y="30"/>
                  </a:moveTo>
                  <a:lnTo>
                    <a:pt x="30" y="24"/>
                  </a:lnTo>
                  <a:lnTo>
                    <a:pt x="30" y="12"/>
                  </a:lnTo>
                  <a:lnTo>
                    <a:pt x="6" y="0"/>
                  </a:lnTo>
                  <a:lnTo>
                    <a:pt x="6" y="12"/>
                  </a:lnTo>
                  <a:lnTo>
                    <a:pt x="0" y="24"/>
                  </a:lnTo>
                  <a:lnTo>
                    <a:pt x="24" y="30"/>
                  </a:lnTo>
                  <a:close/>
                  <a:moveTo>
                    <a:pt x="30" y="12"/>
                  </a:moveTo>
                  <a:lnTo>
                    <a:pt x="30" y="12"/>
                  </a:lnTo>
                  <a:lnTo>
                    <a:pt x="6" y="0"/>
                  </a:lnTo>
                  <a:lnTo>
                    <a:pt x="30" y="12"/>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38"/>
            <p:cNvSpPr>
              <a:spLocks noEditPoints="1"/>
            </p:cNvSpPr>
            <p:nvPr/>
          </p:nvSpPr>
          <p:spPr bwMode="auto">
            <a:xfrm>
              <a:off x="3762" y="1936"/>
              <a:ext cx="36" cy="36"/>
            </a:xfrm>
            <a:custGeom>
              <a:avLst/>
              <a:gdLst>
                <a:gd name="T0" fmla="*/ 0 w 36"/>
                <a:gd name="T1" fmla="*/ 30 h 36"/>
                <a:gd name="T2" fmla="*/ 0 w 36"/>
                <a:gd name="T3" fmla="*/ 30 h 36"/>
                <a:gd name="T4" fmla="*/ 0 w 36"/>
                <a:gd name="T5" fmla="*/ 30 h 36"/>
                <a:gd name="T6" fmla="*/ 12 w 36"/>
                <a:gd name="T7" fmla="*/ 36 h 36"/>
                <a:gd name="T8" fmla="*/ 0 w 36"/>
                <a:gd name="T9" fmla="*/ 30 h 36"/>
                <a:gd name="T10" fmla="*/ 30 w 36"/>
                <a:gd name="T11" fmla="*/ 30 h 36"/>
                <a:gd name="T12" fmla="*/ 30 w 36"/>
                <a:gd name="T13" fmla="*/ 18 h 36"/>
                <a:gd name="T14" fmla="*/ 36 w 36"/>
                <a:gd name="T15" fmla="*/ 6 h 36"/>
                <a:gd name="T16" fmla="*/ 12 w 36"/>
                <a:gd name="T17" fmla="*/ 0 h 36"/>
                <a:gd name="T18" fmla="*/ 6 w 36"/>
                <a:gd name="T19" fmla="*/ 12 h 36"/>
                <a:gd name="T20" fmla="*/ 6 w 36"/>
                <a:gd name="T21" fmla="*/ 24 h 36"/>
                <a:gd name="T22" fmla="*/ 30 w 36"/>
                <a:gd name="T23" fmla="*/ 3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6" h="36">
                  <a:moveTo>
                    <a:pt x="0" y="30"/>
                  </a:moveTo>
                  <a:lnTo>
                    <a:pt x="0" y="30"/>
                  </a:lnTo>
                  <a:lnTo>
                    <a:pt x="12" y="36"/>
                  </a:lnTo>
                  <a:lnTo>
                    <a:pt x="0" y="30"/>
                  </a:lnTo>
                  <a:close/>
                  <a:moveTo>
                    <a:pt x="30" y="30"/>
                  </a:moveTo>
                  <a:lnTo>
                    <a:pt x="30" y="18"/>
                  </a:lnTo>
                  <a:lnTo>
                    <a:pt x="36" y="6"/>
                  </a:lnTo>
                  <a:lnTo>
                    <a:pt x="12" y="0"/>
                  </a:lnTo>
                  <a:lnTo>
                    <a:pt x="6" y="12"/>
                  </a:lnTo>
                  <a:lnTo>
                    <a:pt x="6" y="24"/>
                  </a:lnTo>
                  <a:lnTo>
                    <a:pt x="30" y="3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39"/>
            <p:cNvSpPr>
              <a:spLocks noEditPoints="1"/>
            </p:cNvSpPr>
            <p:nvPr/>
          </p:nvSpPr>
          <p:spPr bwMode="auto">
            <a:xfrm>
              <a:off x="3774" y="1870"/>
              <a:ext cx="41" cy="60"/>
            </a:xfrm>
            <a:custGeom>
              <a:avLst/>
              <a:gdLst>
                <a:gd name="T0" fmla="*/ 24 w 41"/>
                <a:gd name="T1" fmla="*/ 60 h 60"/>
                <a:gd name="T2" fmla="*/ 30 w 41"/>
                <a:gd name="T3" fmla="*/ 54 h 60"/>
                <a:gd name="T4" fmla="*/ 30 w 41"/>
                <a:gd name="T5" fmla="*/ 42 h 60"/>
                <a:gd name="T6" fmla="*/ 12 w 41"/>
                <a:gd name="T7" fmla="*/ 36 h 60"/>
                <a:gd name="T8" fmla="*/ 6 w 41"/>
                <a:gd name="T9" fmla="*/ 48 h 60"/>
                <a:gd name="T10" fmla="*/ 0 w 41"/>
                <a:gd name="T11" fmla="*/ 54 h 60"/>
                <a:gd name="T12" fmla="*/ 24 w 41"/>
                <a:gd name="T13" fmla="*/ 60 h 60"/>
                <a:gd name="T14" fmla="*/ 35 w 41"/>
                <a:gd name="T15" fmla="*/ 30 h 60"/>
                <a:gd name="T16" fmla="*/ 41 w 41"/>
                <a:gd name="T17" fmla="*/ 24 h 60"/>
                <a:gd name="T18" fmla="*/ 41 w 41"/>
                <a:gd name="T19" fmla="*/ 12 h 60"/>
                <a:gd name="T20" fmla="*/ 24 w 41"/>
                <a:gd name="T21" fmla="*/ 0 h 60"/>
                <a:gd name="T22" fmla="*/ 18 w 41"/>
                <a:gd name="T23" fmla="*/ 12 h 60"/>
                <a:gd name="T24" fmla="*/ 12 w 41"/>
                <a:gd name="T25" fmla="*/ 24 h 60"/>
                <a:gd name="T26" fmla="*/ 35 w 41"/>
                <a:gd name="T27" fmla="*/ 30 h 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1" h="60">
                  <a:moveTo>
                    <a:pt x="24" y="60"/>
                  </a:moveTo>
                  <a:lnTo>
                    <a:pt x="30" y="54"/>
                  </a:lnTo>
                  <a:lnTo>
                    <a:pt x="30" y="42"/>
                  </a:lnTo>
                  <a:lnTo>
                    <a:pt x="12" y="36"/>
                  </a:lnTo>
                  <a:lnTo>
                    <a:pt x="6" y="48"/>
                  </a:lnTo>
                  <a:lnTo>
                    <a:pt x="0" y="54"/>
                  </a:lnTo>
                  <a:lnTo>
                    <a:pt x="24" y="60"/>
                  </a:lnTo>
                  <a:close/>
                  <a:moveTo>
                    <a:pt x="35" y="30"/>
                  </a:moveTo>
                  <a:lnTo>
                    <a:pt x="41" y="24"/>
                  </a:lnTo>
                  <a:lnTo>
                    <a:pt x="41" y="12"/>
                  </a:lnTo>
                  <a:lnTo>
                    <a:pt x="24" y="0"/>
                  </a:lnTo>
                  <a:lnTo>
                    <a:pt x="18" y="12"/>
                  </a:lnTo>
                  <a:lnTo>
                    <a:pt x="12" y="24"/>
                  </a:lnTo>
                  <a:lnTo>
                    <a:pt x="35" y="3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40"/>
            <p:cNvSpPr>
              <a:spLocks noEditPoints="1"/>
            </p:cNvSpPr>
            <p:nvPr/>
          </p:nvSpPr>
          <p:spPr bwMode="auto">
            <a:xfrm>
              <a:off x="3798" y="1811"/>
              <a:ext cx="41" cy="59"/>
            </a:xfrm>
            <a:custGeom>
              <a:avLst/>
              <a:gdLst>
                <a:gd name="T0" fmla="*/ 23 w 41"/>
                <a:gd name="T1" fmla="*/ 59 h 59"/>
                <a:gd name="T2" fmla="*/ 29 w 41"/>
                <a:gd name="T3" fmla="*/ 47 h 59"/>
                <a:gd name="T4" fmla="*/ 29 w 41"/>
                <a:gd name="T5" fmla="*/ 35 h 59"/>
                <a:gd name="T6" fmla="*/ 11 w 41"/>
                <a:gd name="T7" fmla="*/ 29 h 59"/>
                <a:gd name="T8" fmla="*/ 6 w 41"/>
                <a:gd name="T9" fmla="*/ 41 h 59"/>
                <a:gd name="T10" fmla="*/ 0 w 41"/>
                <a:gd name="T11" fmla="*/ 47 h 59"/>
                <a:gd name="T12" fmla="*/ 23 w 41"/>
                <a:gd name="T13" fmla="*/ 59 h 59"/>
                <a:gd name="T14" fmla="*/ 35 w 41"/>
                <a:gd name="T15" fmla="*/ 29 h 59"/>
                <a:gd name="T16" fmla="*/ 41 w 41"/>
                <a:gd name="T17" fmla="*/ 17 h 59"/>
                <a:gd name="T18" fmla="*/ 41 w 41"/>
                <a:gd name="T19" fmla="*/ 5 h 59"/>
                <a:gd name="T20" fmla="*/ 23 w 41"/>
                <a:gd name="T21" fmla="*/ 0 h 59"/>
                <a:gd name="T22" fmla="*/ 17 w 41"/>
                <a:gd name="T23" fmla="*/ 11 h 59"/>
                <a:gd name="T24" fmla="*/ 11 w 41"/>
                <a:gd name="T25" fmla="*/ 17 h 59"/>
                <a:gd name="T26" fmla="*/ 35 w 41"/>
                <a:gd name="T27" fmla="*/ 29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1" h="59">
                  <a:moveTo>
                    <a:pt x="23" y="59"/>
                  </a:moveTo>
                  <a:lnTo>
                    <a:pt x="29" y="47"/>
                  </a:lnTo>
                  <a:lnTo>
                    <a:pt x="29" y="35"/>
                  </a:lnTo>
                  <a:lnTo>
                    <a:pt x="11" y="29"/>
                  </a:lnTo>
                  <a:lnTo>
                    <a:pt x="6" y="41"/>
                  </a:lnTo>
                  <a:lnTo>
                    <a:pt x="0" y="47"/>
                  </a:lnTo>
                  <a:lnTo>
                    <a:pt x="23" y="59"/>
                  </a:lnTo>
                  <a:close/>
                  <a:moveTo>
                    <a:pt x="35" y="29"/>
                  </a:moveTo>
                  <a:lnTo>
                    <a:pt x="41" y="17"/>
                  </a:lnTo>
                  <a:lnTo>
                    <a:pt x="41" y="5"/>
                  </a:lnTo>
                  <a:lnTo>
                    <a:pt x="23" y="0"/>
                  </a:lnTo>
                  <a:lnTo>
                    <a:pt x="17" y="11"/>
                  </a:lnTo>
                  <a:lnTo>
                    <a:pt x="11" y="17"/>
                  </a:lnTo>
                  <a:lnTo>
                    <a:pt x="35" y="29"/>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41"/>
            <p:cNvSpPr>
              <a:spLocks noEditPoints="1"/>
            </p:cNvSpPr>
            <p:nvPr/>
          </p:nvSpPr>
          <p:spPr bwMode="auto">
            <a:xfrm>
              <a:off x="3821" y="1745"/>
              <a:ext cx="48" cy="60"/>
            </a:xfrm>
            <a:custGeom>
              <a:avLst/>
              <a:gdLst>
                <a:gd name="T0" fmla="*/ 24 w 48"/>
                <a:gd name="T1" fmla="*/ 60 h 60"/>
                <a:gd name="T2" fmla="*/ 30 w 48"/>
                <a:gd name="T3" fmla="*/ 54 h 60"/>
                <a:gd name="T4" fmla="*/ 36 w 48"/>
                <a:gd name="T5" fmla="*/ 42 h 60"/>
                <a:gd name="T6" fmla="*/ 12 w 48"/>
                <a:gd name="T7" fmla="*/ 30 h 60"/>
                <a:gd name="T8" fmla="*/ 6 w 48"/>
                <a:gd name="T9" fmla="*/ 42 h 60"/>
                <a:gd name="T10" fmla="*/ 0 w 48"/>
                <a:gd name="T11" fmla="*/ 54 h 60"/>
                <a:gd name="T12" fmla="*/ 24 w 48"/>
                <a:gd name="T13" fmla="*/ 60 h 60"/>
                <a:gd name="T14" fmla="*/ 36 w 48"/>
                <a:gd name="T15" fmla="*/ 30 h 60"/>
                <a:gd name="T16" fmla="*/ 42 w 48"/>
                <a:gd name="T17" fmla="*/ 24 h 60"/>
                <a:gd name="T18" fmla="*/ 48 w 48"/>
                <a:gd name="T19" fmla="*/ 12 h 60"/>
                <a:gd name="T20" fmla="*/ 24 w 48"/>
                <a:gd name="T21" fmla="*/ 0 h 60"/>
                <a:gd name="T22" fmla="*/ 24 w 48"/>
                <a:gd name="T23" fmla="*/ 12 h 60"/>
                <a:gd name="T24" fmla="*/ 18 w 48"/>
                <a:gd name="T25" fmla="*/ 24 h 60"/>
                <a:gd name="T26" fmla="*/ 36 w 48"/>
                <a:gd name="T27" fmla="*/ 30 h 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8" h="60">
                  <a:moveTo>
                    <a:pt x="24" y="60"/>
                  </a:moveTo>
                  <a:lnTo>
                    <a:pt x="30" y="54"/>
                  </a:lnTo>
                  <a:lnTo>
                    <a:pt x="36" y="42"/>
                  </a:lnTo>
                  <a:lnTo>
                    <a:pt x="12" y="30"/>
                  </a:lnTo>
                  <a:lnTo>
                    <a:pt x="6" y="42"/>
                  </a:lnTo>
                  <a:lnTo>
                    <a:pt x="0" y="54"/>
                  </a:lnTo>
                  <a:lnTo>
                    <a:pt x="24" y="60"/>
                  </a:lnTo>
                  <a:close/>
                  <a:moveTo>
                    <a:pt x="36" y="30"/>
                  </a:moveTo>
                  <a:lnTo>
                    <a:pt x="42" y="24"/>
                  </a:lnTo>
                  <a:lnTo>
                    <a:pt x="48" y="12"/>
                  </a:lnTo>
                  <a:lnTo>
                    <a:pt x="24" y="0"/>
                  </a:lnTo>
                  <a:lnTo>
                    <a:pt x="24" y="12"/>
                  </a:lnTo>
                  <a:lnTo>
                    <a:pt x="18" y="24"/>
                  </a:lnTo>
                  <a:lnTo>
                    <a:pt x="36" y="3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42"/>
            <p:cNvSpPr>
              <a:spLocks noEditPoints="1"/>
            </p:cNvSpPr>
            <p:nvPr/>
          </p:nvSpPr>
          <p:spPr bwMode="auto">
            <a:xfrm>
              <a:off x="3851" y="1685"/>
              <a:ext cx="48" cy="60"/>
            </a:xfrm>
            <a:custGeom>
              <a:avLst/>
              <a:gdLst>
                <a:gd name="T0" fmla="*/ 24 w 48"/>
                <a:gd name="T1" fmla="*/ 60 h 60"/>
                <a:gd name="T2" fmla="*/ 30 w 48"/>
                <a:gd name="T3" fmla="*/ 54 h 60"/>
                <a:gd name="T4" fmla="*/ 30 w 48"/>
                <a:gd name="T5" fmla="*/ 42 h 60"/>
                <a:gd name="T6" fmla="*/ 12 w 48"/>
                <a:gd name="T7" fmla="*/ 30 h 60"/>
                <a:gd name="T8" fmla="*/ 6 w 48"/>
                <a:gd name="T9" fmla="*/ 42 h 60"/>
                <a:gd name="T10" fmla="*/ 0 w 48"/>
                <a:gd name="T11" fmla="*/ 48 h 60"/>
                <a:gd name="T12" fmla="*/ 24 w 48"/>
                <a:gd name="T13" fmla="*/ 60 h 60"/>
                <a:gd name="T14" fmla="*/ 36 w 48"/>
                <a:gd name="T15" fmla="*/ 30 h 60"/>
                <a:gd name="T16" fmla="*/ 42 w 48"/>
                <a:gd name="T17" fmla="*/ 24 h 60"/>
                <a:gd name="T18" fmla="*/ 48 w 48"/>
                <a:gd name="T19" fmla="*/ 12 h 60"/>
                <a:gd name="T20" fmla="*/ 30 w 48"/>
                <a:gd name="T21" fmla="*/ 0 h 60"/>
                <a:gd name="T22" fmla="*/ 24 w 48"/>
                <a:gd name="T23" fmla="*/ 12 h 60"/>
                <a:gd name="T24" fmla="*/ 18 w 48"/>
                <a:gd name="T25" fmla="*/ 18 h 60"/>
                <a:gd name="T26" fmla="*/ 36 w 48"/>
                <a:gd name="T27" fmla="*/ 30 h 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8" h="60">
                  <a:moveTo>
                    <a:pt x="24" y="60"/>
                  </a:moveTo>
                  <a:lnTo>
                    <a:pt x="30" y="54"/>
                  </a:lnTo>
                  <a:lnTo>
                    <a:pt x="30" y="42"/>
                  </a:lnTo>
                  <a:lnTo>
                    <a:pt x="12" y="30"/>
                  </a:lnTo>
                  <a:lnTo>
                    <a:pt x="6" y="42"/>
                  </a:lnTo>
                  <a:lnTo>
                    <a:pt x="0" y="48"/>
                  </a:lnTo>
                  <a:lnTo>
                    <a:pt x="24" y="60"/>
                  </a:lnTo>
                  <a:close/>
                  <a:moveTo>
                    <a:pt x="36" y="30"/>
                  </a:moveTo>
                  <a:lnTo>
                    <a:pt x="42" y="24"/>
                  </a:lnTo>
                  <a:lnTo>
                    <a:pt x="48" y="12"/>
                  </a:lnTo>
                  <a:lnTo>
                    <a:pt x="30" y="0"/>
                  </a:lnTo>
                  <a:lnTo>
                    <a:pt x="24" y="12"/>
                  </a:lnTo>
                  <a:lnTo>
                    <a:pt x="18" y="18"/>
                  </a:lnTo>
                  <a:lnTo>
                    <a:pt x="36" y="3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43"/>
            <p:cNvSpPr>
              <a:spLocks noEditPoints="1"/>
            </p:cNvSpPr>
            <p:nvPr/>
          </p:nvSpPr>
          <p:spPr bwMode="auto">
            <a:xfrm>
              <a:off x="3881" y="1625"/>
              <a:ext cx="54" cy="60"/>
            </a:xfrm>
            <a:custGeom>
              <a:avLst/>
              <a:gdLst>
                <a:gd name="T0" fmla="*/ 24 w 54"/>
                <a:gd name="T1" fmla="*/ 60 h 60"/>
                <a:gd name="T2" fmla="*/ 30 w 54"/>
                <a:gd name="T3" fmla="*/ 54 h 60"/>
                <a:gd name="T4" fmla="*/ 36 w 54"/>
                <a:gd name="T5" fmla="*/ 42 h 60"/>
                <a:gd name="T6" fmla="*/ 12 w 54"/>
                <a:gd name="T7" fmla="*/ 30 h 60"/>
                <a:gd name="T8" fmla="*/ 6 w 54"/>
                <a:gd name="T9" fmla="*/ 42 h 60"/>
                <a:gd name="T10" fmla="*/ 0 w 54"/>
                <a:gd name="T11" fmla="*/ 48 h 60"/>
                <a:gd name="T12" fmla="*/ 24 w 54"/>
                <a:gd name="T13" fmla="*/ 60 h 60"/>
                <a:gd name="T14" fmla="*/ 42 w 54"/>
                <a:gd name="T15" fmla="*/ 30 h 60"/>
                <a:gd name="T16" fmla="*/ 48 w 54"/>
                <a:gd name="T17" fmla="*/ 24 h 60"/>
                <a:gd name="T18" fmla="*/ 54 w 54"/>
                <a:gd name="T19" fmla="*/ 12 h 60"/>
                <a:gd name="T20" fmla="*/ 30 w 54"/>
                <a:gd name="T21" fmla="*/ 0 h 60"/>
                <a:gd name="T22" fmla="*/ 24 w 54"/>
                <a:gd name="T23" fmla="*/ 12 h 60"/>
                <a:gd name="T24" fmla="*/ 18 w 54"/>
                <a:gd name="T25" fmla="*/ 18 h 60"/>
                <a:gd name="T26" fmla="*/ 42 w 54"/>
                <a:gd name="T27" fmla="*/ 30 h 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 h="60">
                  <a:moveTo>
                    <a:pt x="24" y="60"/>
                  </a:moveTo>
                  <a:lnTo>
                    <a:pt x="30" y="54"/>
                  </a:lnTo>
                  <a:lnTo>
                    <a:pt x="36" y="42"/>
                  </a:lnTo>
                  <a:lnTo>
                    <a:pt x="12" y="30"/>
                  </a:lnTo>
                  <a:lnTo>
                    <a:pt x="6" y="42"/>
                  </a:lnTo>
                  <a:lnTo>
                    <a:pt x="0" y="48"/>
                  </a:lnTo>
                  <a:lnTo>
                    <a:pt x="24" y="60"/>
                  </a:lnTo>
                  <a:close/>
                  <a:moveTo>
                    <a:pt x="42" y="30"/>
                  </a:moveTo>
                  <a:lnTo>
                    <a:pt x="48" y="24"/>
                  </a:lnTo>
                  <a:lnTo>
                    <a:pt x="54" y="12"/>
                  </a:lnTo>
                  <a:lnTo>
                    <a:pt x="30" y="0"/>
                  </a:lnTo>
                  <a:lnTo>
                    <a:pt x="24" y="12"/>
                  </a:lnTo>
                  <a:lnTo>
                    <a:pt x="18" y="18"/>
                  </a:lnTo>
                  <a:lnTo>
                    <a:pt x="42" y="3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44"/>
            <p:cNvSpPr>
              <a:spLocks/>
            </p:cNvSpPr>
            <p:nvPr/>
          </p:nvSpPr>
          <p:spPr bwMode="auto">
            <a:xfrm>
              <a:off x="3917" y="1596"/>
              <a:ext cx="36" cy="35"/>
            </a:xfrm>
            <a:custGeom>
              <a:avLst/>
              <a:gdLst>
                <a:gd name="T0" fmla="*/ 24 w 36"/>
                <a:gd name="T1" fmla="*/ 35 h 35"/>
                <a:gd name="T2" fmla="*/ 30 w 36"/>
                <a:gd name="T3" fmla="*/ 29 h 35"/>
                <a:gd name="T4" fmla="*/ 36 w 36"/>
                <a:gd name="T5" fmla="*/ 17 h 35"/>
                <a:gd name="T6" fmla="*/ 18 w 36"/>
                <a:gd name="T7" fmla="*/ 0 h 35"/>
                <a:gd name="T8" fmla="*/ 12 w 36"/>
                <a:gd name="T9" fmla="*/ 11 h 35"/>
                <a:gd name="T10" fmla="*/ 0 w 36"/>
                <a:gd name="T11" fmla="*/ 23 h 35"/>
                <a:gd name="T12" fmla="*/ 24 w 36"/>
                <a:gd name="T13" fmla="*/ 35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6" h="35">
                  <a:moveTo>
                    <a:pt x="24" y="35"/>
                  </a:moveTo>
                  <a:lnTo>
                    <a:pt x="30" y="29"/>
                  </a:lnTo>
                  <a:lnTo>
                    <a:pt x="36" y="17"/>
                  </a:lnTo>
                  <a:lnTo>
                    <a:pt x="18" y="0"/>
                  </a:lnTo>
                  <a:lnTo>
                    <a:pt x="12" y="11"/>
                  </a:lnTo>
                  <a:lnTo>
                    <a:pt x="0" y="23"/>
                  </a:lnTo>
                  <a:lnTo>
                    <a:pt x="24" y="35"/>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Rectangle 45"/>
            <p:cNvSpPr>
              <a:spLocks noChangeArrowheads="1"/>
            </p:cNvSpPr>
            <p:nvPr/>
          </p:nvSpPr>
          <p:spPr bwMode="auto">
            <a:xfrm>
              <a:off x="4366" y="1231"/>
              <a:ext cx="66" cy="24"/>
            </a:xfrm>
            <a:prstGeom prst="rect">
              <a:avLst/>
            </a:prstGeom>
            <a:solidFill>
              <a:srgbClr val="FFE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 name="Freeform 46"/>
            <p:cNvSpPr>
              <a:spLocks noEditPoints="1"/>
            </p:cNvSpPr>
            <p:nvPr/>
          </p:nvSpPr>
          <p:spPr bwMode="auto">
            <a:xfrm>
              <a:off x="4354" y="837"/>
              <a:ext cx="24" cy="418"/>
            </a:xfrm>
            <a:custGeom>
              <a:avLst/>
              <a:gdLst>
                <a:gd name="T0" fmla="*/ 24 w 24"/>
                <a:gd name="T1" fmla="*/ 406 h 418"/>
                <a:gd name="T2" fmla="*/ 24 w 24"/>
                <a:gd name="T3" fmla="*/ 0 h 418"/>
                <a:gd name="T4" fmla="*/ 0 w 24"/>
                <a:gd name="T5" fmla="*/ 0 h 418"/>
                <a:gd name="T6" fmla="*/ 0 w 24"/>
                <a:gd name="T7" fmla="*/ 406 h 418"/>
                <a:gd name="T8" fmla="*/ 24 w 24"/>
                <a:gd name="T9" fmla="*/ 406 h 418"/>
                <a:gd name="T10" fmla="*/ 0 w 24"/>
                <a:gd name="T11" fmla="*/ 406 h 418"/>
                <a:gd name="T12" fmla="*/ 0 w 24"/>
                <a:gd name="T13" fmla="*/ 418 h 418"/>
                <a:gd name="T14" fmla="*/ 12 w 24"/>
                <a:gd name="T15" fmla="*/ 418 h 418"/>
                <a:gd name="T16" fmla="*/ 12 w 24"/>
                <a:gd name="T17" fmla="*/ 406 h 418"/>
                <a:gd name="T18" fmla="*/ 0 w 24"/>
                <a:gd name="T19" fmla="*/ 406 h 4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418">
                  <a:moveTo>
                    <a:pt x="24" y="406"/>
                  </a:moveTo>
                  <a:lnTo>
                    <a:pt x="24" y="0"/>
                  </a:lnTo>
                  <a:lnTo>
                    <a:pt x="0" y="0"/>
                  </a:lnTo>
                  <a:lnTo>
                    <a:pt x="0" y="406"/>
                  </a:lnTo>
                  <a:lnTo>
                    <a:pt x="24" y="406"/>
                  </a:lnTo>
                  <a:close/>
                  <a:moveTo>
                    <a:pt x="0" y="406"/>
                  </a:moveTo>
                  <a:lnTo>
                    <a:pt x="0" y="418"/>
                  </a:lnTo>
                  <a:lnTo>
                    <a:pt x="12" y="418"/>
                  </a:lnTo>
                  <a:lnTo>
                    <a:pt x="12" y="406"/>
                  </a:lnTo>
                  <a:lnTo>
                    <a:pt x="0" y="406"/>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47"/>
            <p:cNvSpPr>
              <a:spLocks noEditPoints="1"/>
            </p:cNvSpPr>
            <p:nvPr/>
          </p:nvSpPr>
          <p:spPr bwMode="auto">
            <a:xfrm>
              <a:off x="4354" y="825"/>
              <a:ext cx="78" cy="24"/>
            </a:xfrm>
            <a:custGeom>
              <a:avLst/>
              <a:gdLst>
                <a:gd name="T0" fmla="*/ 12 w 78"/>
                <a:gd name="T1" fmla="*/ 24 h 24"/>
                <a:gd name="T2" fmla="*/ 78 w 78"/>
                <a:gd name="T3" fmla="*/ 24 h 24"/>
                <a:gd name="T4" fmla="*/ 78 w 78"/>
                <a:gd name="T5" fmla="*/ 0 h 24"/>
                <a:gd name="T6" fmla="*/ 12 w 78"/>
                <a:gd name="T7" fmla="*/ 0 h 24"/>
                <a:gd name="T8" fmla="*/ 12 w 78"/>
                <a:gd name="T9" fmla="*/ 24 h 24"/>
                <a:gd name="T10" fmla="*/ 12 w 78"/>
                <a:gd name="T11" fmla="*/ 0 h 24"/>
                <a:gd name="T12" fmla="*/ 0 w 78"/>
                <a:gd name="T13" fmla="*/ 0 h 24"/>
                <a:gd name="T14" fmla="*/ 0 w 78"/>
                <a:gd name="T15" fmla="*/ 12 h 24"/>
                <a:gd name="T16" fmla="*/ 12 w 78"/>
                <a:gd name="T17" fmla="*/ 12 h 24"/>
                <a:gd name="T18" fmla="*/ 12 w 78"/>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8" h="24">
                  <a:moveTo>
                    <a:pt x="12" y="24"/>
                  </a:moveTo>
                  <a:lnTo>
                    <a:pt x="78" y="24"/>
                  </a:lnTo>
                  <a:lnTo>
                    <a:pt x="78" y="0"/>
                  </a:lnTo>
                  <a:lnTo>
                    <a:pt x="12" y="0"/>
                  </a:lnTo>
                  <a:lnTo>
                    <a:pt x="12" y="24"/>
                  </a:lnTo>
                  <a:close/>
                  <a:moveTo>
                    <a:pt x="12" y="0"/>
                  </a:moveTo>
                  <a:lnTo>
                    <a:pt x="0" y="0"/>
                  </a:lnTo>
                  <a:lnTo>
                    <a:pt x="0" y="12"/>
                  </a:lnTo>
                  <a:lnTo>
                    <a:pt x="12" y="12"/>
                  </a:lnTo>
                  <a:lnTo>
                    <a:pt x="12"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48"/>
            <p:cNvSpPr>
              <a:spLocks/>
            </p:cNvSpPr>
            <p:nvPr/>
          </p:nvSpPr>
          <p:spPr bwMode="auto">
            <a:xfrm>
              <a:off x="4366" y="825"/>
              <a:ext cx="71" cy="72"/>
            </a:xfrm>
            <a:custGeom>
              <a:avLst/>
              <a:gdLst>
                <a:gd name="T0" fmla="*/ 0 w 71"/>
                <a:gd name="T1" fmla="*/ 18 h 72"/>
                <a:gd name="T2" fmla="*/ 54 w 71"/>
                <a:gd name="T3" fmla="*/ 72 h 72"/>
                <a:gd name="T4" fmla="*/ 71 w 71"/>
                <a:gd name="T5" fmla="*/ 54 h 72"/>
                <a:gd name="T6" fmla="*/ 18 w 71"/>
                <a:gd name="T7" fmla="*/ 0 h 72"/>
                <a:gd name="T8" fmla="*/ 0 w 71"/>
                <a:gd name="T9" fmla="*/ 18 h 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1" h="72">
                  <a:moveTo>
                    <a:pt x="0" y="18"/>
                  </a:moveTo>
                  <a:lnTo>
                    <a:pt x="54" y="72"/>
                  </a:lnTo>
                  <a:lnTo>
                    <a:pt x="71" y="54"/>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49"/>
            <p:cNvSpPr>
              <a:spLocks/>
            </p:cNvSpPr>
            <p:nvPr/>
          </p:nvSpPr>
          <p:spPr bwMode="auto">
            <a:xfrm>
              <a:off x="4396" y="825"/>
              <a:ext cx="41" cy="42"/>
            </a:xfrm>
            <a:custGeom>
              <a:avLst/>
              <a:gdLst>
                <a:gd name="T0" fmla="*/ 0 w 41"/>
                <a:gd name="T1" fmla="*/ 18 h 42"/>
                <a:gd name="T2" fmla="*/ 24 w 41"/>
                <a:gd name="T3" fmla="*/ 42 h 42"/>
                <a:gd name="T4" fmla="*/ 41 w 41"/>
                <a:gd name="T5" fmla="*/ 30 h 42"/>
                <a:gd name="T6" fmla="*/ 18 w 41"/>
                <a:gd name="T7" fmla="*/ 0 h 42"/>
                <a:gd name="T8" fmla="*/ 0 w 41"/>
                <a:gd name="T9" fmla="*/ 18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42">
                  <a:moveTo>
                    <a:pt x="0" y="18"/>
                  </a:moveTo>
                  <a:lnTo>
                    <a:pt x="24" y="42"/>
                  </a:lnTo>
                  <a:lnTo>
                    <a:pt x="41" y="30"/>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50"/>
            <p:cNvSpPr>
              <a:spLocks/>
            </p:cNvSpPr>
            <p:nvPr/>
          </p:nvSpPr>
          <p:spPr bwMode="auto">
            <a:xfrm>
              <a:off x="4360" y="927"/>
              <a:ext cx="77" cy="77"/>
            </a:xfrm>
            <a:custGeom>
              <a:avLst/>
              <a:gdLst>
                <a:gd name="T0" fmla="*/ 0 w 77"/>
                <a:gd name="T1" fmla="*/ 18 h 77"/>
                <a:gd name="T2" fmla="*/ 60 w 77"/>
                <a:gd name="T3" fmla="*/ 77 h 77"/>
                <a:gd name="T4" fmla="*/ 77 w 77"/>
                <a:gd name="T5" fmla="*/ 59 h 77"/>
                <a:gd name="T6" fmla="*/ 18 w 77"/>
                <a:gd name="T7" fmla="*/ 0 h 77"/>
                <a:gd name="T8" fmla="*/ 0 w 77"/>
                <a:gd name="T9" fmla="*/ 18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7">
                  <a:moveTo>
                    <a:pt x="0" y="18"/>
                  </a:moveTo>
                  <a:lnTo>
                    <a:pt x="60" y="77"/>
                  </a:lnTo>
                  <a:lnTo>
                    <a:pt x="77" y="59"/>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51"/>
            <p:cNvSpPr>
              <a:spLocks/>
            </p:cNvSpPr>
            <p:nvPr/>
          </p:nvSpPr>
          <p:spPr bwMode="auto">
            <a:xfrm>
              <a:off x="4360" y="873"/>
              <a:ext cx="77" cy="78"/>
            </a:xfrm>
            <a:custGeom>
              <a:avLst/>
              <a:gdLst>
                <a:gd name="T0" fmla="*/ 0 w 77"/>
                <a:gd name="T1" fmla="*/ 18 h 78"/>
                <a:gd name="T2" fmla="*/ 60 w 77"/>
                <a:gd name="T3" fmla="*/ 78 h 78"/>
                <a:gd name="T4" fmla="*/ 77 w 77"/>
                <a:gd name="T5" fmla="*/ 60 h 78"/>
                <a:gd name="T6" fmla="*/ 18 w 77"/>
                <a:gd name="T7" fmla="*/ 0 h 78"/>
                <a:gd name="T8" fmla="*/ 0 w 77"/>
                <a:gd name="T9" fmla="*/ 18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8">
                  <a:moveTo>
                    <a:pt x="0" y="18"/>
                  </a:moveTo>
                  <a:lnTo>
                    <a:pt x="60" y="78"/>
                  </a:lnTo>
                  <a:lnTo>
                    <a:pt x="77" y="60"/>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52"/>
            <p:cNvSpPr>
              <a:spLocks/>
            </p:cNvSpPr>
            <p:nvPr/>
          </p:nvSpPr>
          <p:spPr bwMode="auto">
            <a:xfrm>
              <a:off x="4360" y="980"/>
              <a:ext cx="77" cy="78"/>
            </a:xfrm>
            <a:custGeom>
              <a:avLst/>
              <a:gdLst>
                <a:gd name="T0" fmla="*/ 0 w 77"/>
                <a:gd name="T1" fmla="*/ 18 h 78"/>
                <a:gd name="T2" fmla="*/ 60 w 77"/>
                <a:gd name="T3" fmla="*/ 78 h 78"/>
                <a:gd name="T4" fmla="*/ 77 w 77"/>
                <a:gd name="T5" fmla="*/ 60 h 78"/>
                <a:gd name="T6" fmla="*/ 18 w 77"/>
                <a:gd name="T7" fmla="*/ 0 h 78"/>
                <a:gd name="T8" fmla="*/ 0 w 77"/>
                <a:gd name="T9" fmla="*/ 18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8">
                  <a:moveTo>
                    <a:pt x="0" y="18"/>
                  </a:moveTo>
                  <a:lnTo>
                    <a:pt x="60" y="78"/>
                  </a:lnTo>
                  <a:lnTo>
                    <a:pt x="77" y="60"/>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53"/>
            <p:cNvSpPr>
              <a:spLocks/>
            </p:cNvSpPr>
            <p:nvPr/>
          </p:nvSpPr>
          <p:spPr bwMode="auto">
            <a:xfrm>
              <a:off x="4360" y="897"/>
              <a:ext cx="77" cy="77"/>
            </a:xfrm>
            <a:custGeom>
              <a:avLst/>
              <a:gdLst>
                <a:gd name="T0" fmla="*/ 0 w 77"/>
                <a:gd name="T1" fmla="*/ 18 h 77"/>
                <a:gd name="T2" fmla="*/ 60 w 77"/>
                <a:gd name="T3" fmla="*/ 77 h 77"/>
                <a:gd name="T4" fmla="*/ 77 w 77"/>
                <a:gd name="T5" fmla="*/ 66 h 77"/>
                <a:gd name="T6" fmla="*/ 18 w 77"/>
                <a:gd name="T7" fmla="*/ 0 h 77"/>
                <a:gd name="T8" fmla="*/ 0 w 77"/>
                <a:gd name="T9" fmla="*/ 18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7">
                  <a:moveTo>
                    <a:pt x="0" y="18"/>
                  </a:moveTo>
                  <a:lnTo>
                    <a:pt x="60" y="77"/>
                  </a:lnTo>
                  <a:lnTo>
                    <a:pt x="77" y="66"/>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54"/>
            <p:cNvSpPr>
              <a:spLocks/>
            </p:cNvSpPr>
            <p:nvPr/>
          </p:nvSpPr>
          <p:spPr bwMode="auto">
            <a:xfrm>
              <a:off x="4360" y="843"/>
              <a:ext cx="77" cy="78"/>
            </a:xfrm>
            <a:custGeom>
              <a:avLst/>
              <a:gdLst>
                <a:gd name="T0" fmla="*/ 0 w 77"/>
                <a:gd name="T1" fmla="*/ 18 h 78"/>
                <a:gd name="T2" fmla="*/ 60 w 77"/>
                <a:gd name="T3" fmla="*/ 78 h 78"/>
                <a:gd name="T4" fmla="*/ 77 w 77"/>
                <a:gd name="T5" fmla="*/ 66 h 78"/>
                <a:gd name="T6" fmla="*/ 18 w 77"/>
                <a:gd name="T7" fmla="*/ 0 h 78"/>
                <a:gd name="T8" fmla="*/ 0 w 77"/>
                <a:gd name="T9" fmla="*/ 18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8">
                  <a:moveTo>
                    <a:pt x="0" y="18"/>
                  </a:moveTo>
                  <a:lnTo>
                    <a:pt x="60" y="78"/>
                  </a:lnTo>
                  <a:lnTo>
                    <a:pt x="77" y="66"/>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55"/>
            <p:cNvSpPr>
              <a:spLocks/>
            </p:cNvSpPr>
            <p:nvPr/>
          </p:nvSpPr>
          <p:spPr bwMode="auto">
            <a:xfrm>
              <a:off x="4360" y="951"/>
              <a:ext cx="77" cy="77"/>
            </a:xfrm>
            <a:custGeom>
              <a:avLst/>
              <a:gdLst>
                <a:gd name="T0" fmla="*/ 0 w 77"/>
                <a:gd name="T1" fmla="*/ 18 h 77"/>
                <a:gd name="T2" fmla="*/ 60 w 77"/>
                <a:gd name="T3" fmla="*/ 77 h 77"/>
                <a:gd name="T4" fmla="*/ 77 w 77"/>
                <a:gd name="T5" fmla="*/ 65 h 77"/>
                <a:gd name="T6" fmla="*/ 18 w 77"/>
                <a:gd name="T7" fmla="*/ 0 h 77"/>
                <a:gd name="T8" fmla="*/ 0 w 77"/>
                <a:gd name="T9" fmla="*/ 18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7">
                  <a:moveTo>
                    <a:pt x="0" y="18"/>
                  </a:moveTo>
                  <a:lnTo>
                    <a:pt x="60" y="77"/>
                  </a:lnTo>
                  <a:lnTo>
                    <a:pt x="77" y="65"/>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56"/>
            <p:cNvSpPr>
              <a:spLocks/>
            </p:cNvSpPr>
            <p:nvPr/>
          </p:nvSpPr>
          <p:spPr bwMode="auto">
            <a:xfrm>
              <a:off x="4360" y="1004"/>
              <a:ext cx="77" cy="78"/>
            </a:xfrm>
            <a:custGeom>
              <a:avLst/>
              <a:gdLst>
                <a:gd name="T0" fmla="*/ 0 w 77"/>
                <a:gd name="T1" fmla="*/ 18 h 78"/>
                <a:gd name="T2" fmla="*/ 60 w 77"/>
                <a:gd name="T3" fmla="*/ 78 h 78"/>
                <a:gd name="T4" fmla="*/ 77 w 77"/>
                <a:gd name="T5" fmla="*/ 66 h 78"/>
                <a:gd name="T6" fmla="*/ 18 w 77"/>
                <a:gd name="T7" fmla="*/ 0 h 78"/>
                <a:gd name="T8" fmla="*/ 0 w 77"/>
                <a:gd name="T9" fmla="*/ 18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8">
                  <a:moveTo>
                    <a:pt x="0" y="18"/>
                  </a:moveTo>
                  <a:lnTo>
                    <a:pt x="60" y="78"/>
                  </a:lnTo>
                  <a:lnTo>
                    <a:pt x="77" y="66"/>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57"/>
            <p:cNvSpPr>
              <a:spLocks/>
            </p:cNvSpPr>
            <p:nvPr/>
          </p:nvSpPr>
          <p:spPr bwMode="auto">
            <a:xfrm>
              <a:off x="4360" y="1034"/>
              <a:ext cx="77" cy="78"/>
            </a:xfrm>
            <a:custGeom>
              <a:avLst/>
              <a:gdLst>
                <a:gd name="T0" fmla="*/ 0 w 77"/>
                <a:gd name="T1" fmla="*/ 18 h 78"/>
                <a:gd name="T2" fmla="*/ 60 w 77"/>
                <a:gd name="T3" fmla="*/ 78 h 78"/>
                <a:gd name="T4" fmla="*/ 77 w 77"/>
                <a:gd name="T5" fmla="*/ 60 h 78"/>
                <a:gd name="T6" fmla="*/ 18 w 77"/>
                <a:gd name="T7" fmla="*/ 0 h 78"/>
                <a:gd name="T8" fmla="*/ 0 w 77"/>
                <a:gd name="T9" fmla="*/ 18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8">
                  <a:moveTo>
                    <a:pt x="0" y="18"/>
                  </a:moveTo>
                  <a:lnTo>
                    <a:pt x="60" y="78"/>
                  </a:lnTo>
                  <a:lnTo>
                    <a:pt x="77" y="60"/>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58"/>
            <p:cNvSpPr>
              <a:spLocks/>
            </p:cNvSpPr>
            <p:nvPr/>
          </p:nvSpPr>
          <p:spPr bwMode="auto">
            <a:xfrm>
              <a:off x="4360" y="1142"/>
              <a:ext cx="77" cy="77"/>
            </a:xfrm>
            <a:custGeom>
              <a:avLst/>
              <a:gdLst>
                <a:gd name="T0" fmla="*/ 0 w 77"/>
                <a:gd name="T1" fmla="*/ 18 h 77"/>
                <a:gd name="T2" fmla="*/ 60 w 77"/>
                <a:gd name="T3" fmla="*/ 77 h 77"/>
                <a:gd name="T4" fmla="*/ 77 w 77"/>
                <a:gd name="T5" fmla="*/ 59 h 77"/>
                <a:gd name="T6" fmla="*/ 18 w 77"/>
                <a:gd name="T7" fmla="*/ 0 h 77"/>
                <a:gd name="T8" fmla="*/ 0 w 77"/>
                <a:gd name="T9" fmla="*/ 18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7">
                  <a:moveTo>
                    <a:pt x="0" y="18"/>
                  </a:moveTo>
                  <a:lnTo>
                    <a:pt x="60" y="77"/>
                  </a:lnTo>
                  <a:lnTo>
                    <a:pt x="77" y="59"/>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59"/>
            <p:cNvSpPr>
              <a:spLocks/>
            </p:cNvSpPr>
            <p:nvPr/>
          </p:nvSpPr>
          <p:spPr bwMode="auto">
            <a:xfrm>
              <a:off x="4360" y="1088"/>
              <a:ext cx="77" cy="78"/>
            </a:xfrm>
            <a:custGeom>
              <a:avLst/>
              <a:gdLst>
                <a:gd name="T0" fmla="*/ 0 w 77"/>
                <a:gd name="T1" fmla="*/ 18 h 78"/>
                <a:gd name="T2" fmla="*/ 60 w 77"/>
                <a:gd name="T3" fmla="*/ 78 h 78"/>
                <a:gd name="T4" fmla="*/ 77 w 77"/>
                <a:gd name="T5" fmla="*/ 60 h 78"/>
                <a:gd name="T6" fmla="*/ 18 w 77"/>
                <a:gd name="T7" fmla="*/ 0 h 78"/>
                <a:gd name="T8" fmla="*/ 0 w 77"/>
                <a:gd name="T9" fmla="*/ 18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8">
                  <a:moveTo>
                    <a:pt x="0" y="18"/>
                  </a:moveTo>
                  <a:lnTo>
                    <a:pt x="60" y="78"/>
                  </a:lnTo>
                  <a:lnTo>
                    <a:pt x="77" y="60"/>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60"/>
            <p:cNvSpPr>
              <a:spLocks/>
            </p:cNvSpPr>
            <p:nvPr/>
          </p:nvSpPr>
          <p:spPr bwMode="auto">
            <a:xfrm>
              <a:off x="4360" y="1195"/>
              <a:ext cx="54" cy="54"/>
            </a:xfrm>
            <a:custGeom>
              <a:avLst/>
              <a:gdLst>
                <a:gd name="T0" fmla="*/ 0 w 54"/>
                <a:gd name="T1" fmla="*/ 18 h 54"/>
                <a:gd name="T2" fmla="*/ 36 w 54"/>
                <a:gd name="T3" fmla="*/ 54 h 54"/>
                <a:gd name="T4" fmla="*/ 54 w 54"/>
                <a:gd name="T5" fmla="*/ 36 h 54"/>
                <a:gd name="T6" fmla="*/ 18 w 54"/>
                <a:gd name="T7" fmla="*/ 0 h 54"/>
                <a:gd name="T8" fmla="*/ 0 w 54"/>
                <a:gd name="T9" fmla="*/ 18 h 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54">
                  <a:moveTo>
                    <a:pt x="0" y="18"/>
                  </a:moveTo>
                  <a:lnTo>
                    <a:pt x="36" y="54"/>
                  </a:lnTo>
                  <a:lnTo>
                    <a:pt x="54" y="36"/>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61"/>
            <p:cNvSpPr>
              <a:spLocks/>
            </p:cNvSpPr>
            <p:nvPr/>
          </p:nvSpPr>
          <p:spPr bwMode="auto">
            <a:xfrm>
              <a:off x="4360" y="1112"/>
              <a:ext cx="77" cy="77"/>
            </a:xfrm>
            <a:custGeom>
              <a:avLst/>
              <a:gdLst>
                <a:gd name="T0" fmla="*/ 0 w 77"/>
                <a:gd name="T1" fmla="*/ 18 h 77"/>
                <a:gd name="T2" fmla="*/ 60 w 77"/>
                <a:gd name="T3" fmla="*/ 77 h 77"/>
                <a:gd name="T4" fmla="*/ 77 w 77"/>
                <a:gd name="T5" fmla="*/ 66 h 77"/>
                <a:gd name="T6" fmla="*/ 18 w 77"/>
                <a:gd name="T7" fmla="*/ 0 h 77"/>
                <a:gd name="T8" fmla="*/ 0 w 77"/>
                <a:gd name="T9" fmla="*/ 18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7">
                  <a:moveTo>
                    <a:pt x="0" y="18"/>
                  </a:moveTo>
                  <a:lnTo>
                    <a:pt x="60" y="77"/>
                  </a:lnTo>
                  <a:lnTo>
                    <a:pt x="77" y="66"/>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62"/>
            <p:cNvSpPr>
              <a:spLocks/>
            </p:cNvSpPr>
            <p:nvPr/>
          </p:nvSpPr>
          <p:spPr bwMode="auto">
            <a:xfrm>
              <a:off x="4360" y="1058"/>
              <a:ext cx="77" cy="78"/>
            </a:xfrm>
            <a:custGeom>
              <a:avLst/>
              <a:gdLst>
                <a:gd name="T0" fmla="*/ 0 w 77"/>
                <a:gd name="T1" fmla="*/ 18 h 78"/>
                <a:gd name="T2" fmla="*/ 60 w 77"/>
                <a:gd name="T3" fmla="*/ 78 h 78"/>
                <a:gd name="T4" fmla="*/ 77 w 77"/>
                <a:gd name="T5" fmla="*/ 66 h 78"/>
                <a:gd name="T6" fmla="*/ 18 w 77"/>
                <a:gd name="T7" fmla="*/ 0 h 78"/>
                <a:gd name="T8" fmla="*/ 0 w 77"/>
                <a:gd name="T9" fmla="*/ 18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8">
                  <a:moveTo>
                    <a:pt x="0" y="18"/>
                  </a:moveTo>
                  <a:lnTo>
                    <a:pt x="60" y="78"/>
                  </a:lnTo>
                  <a:lnTo>
                    <a:pt x="77" y="66"/>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63"/>
            <p:cNvSpPr>
              <a:spLocks/>
            </p:cNvSpPr>
            <p:nvPr/>
          </p:nvSpPr>
          <p:spPr bwMode="auto">
            <a:xfrm>
              <a:off x="4360" y="1166"/>
              <a:ext cx="77" cy="77"/>
            </a:xfrm>
            <a:custGeom>
              <a:avLst/>
              <a:gdLst>
                <a:gd name="T0" fmla="*/ 0 w 77"/>
                <a:gd name="T1" fmla="*/ 18 h 77"/>
                <a:gd name="T2" fmla="*/ 60 w 77"/>
                <a:gd name="T3" fmla="*/ 77 h 77"/>
                <a:gd name="T4" fmla="*/ 77 w 77"/>
                <a:gd name="T5" fmla="*/ 65 h 77"/>
                <a:gd name="T6" fmla="*/ 18 w 77"/>
                <a:gd name="T7" fmla="*/ 0 h 77"/>
                <a:gd name="T8" fmla="*/ 0 w 77"/>
                <a:gd name="T9" fmla="*/ 18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7">
                  <a:moveTo>
                    <a:pt x="0" y="18"/>
                  </a:moveTo>
                  <a:lnTo>
                    <a:pt x="60" y="77"/>
                  </a:lnTo>
                  <a:lnTo>
                    <a:pt x="77" y="65"/>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64"/>
            <p:cNvSpPr>
              <a:spLocks/>
            </p:cNvSpPr>
            <p:nvPr/>
          </p:nvSpPr>
          <p:spPr bwMode="auto">
            <a:xfrm>
              <a:off x="4360" y="1219"/>
              <a:ext cx="30" cy="30"/>
            </a:xfrm>
            <a:custGeom>
              <a:avLst/>
              <a:gdLst>
                <a:gd name="T0" fmla="*/ 0 w 30"/>
                <a:gd name="T1" fmla="*/ 18 h 30"/>
                <a:gd name="T2" fmla="*/ 12 w 30"/>
                <a:gd name="T3" fmla="*/ 30 h 30"/>
                <a:gd name="T4" fmla="*/ 30 w 30"/>
                <a:gd name="T5" fmla="*/ 12 h 30"/>
                <a:gd name="T6" fmla="*/ 18 w 30"/>
                <a:gd name="T7" fmla="*/ 0 h 30"/>
                <a:gd name="T8" fmla="*/ 0 w 30"/>
                <a:gd name="T9" fmla="*/ 18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30">
                  <a:moveTo>
                    <a:pt x="0" y="18"/>
                  </a:moveTo>
                  <a:lnTo>
                    <a:pt x="12" y="30"/>
                  </a:lnTo>
                  <a:lnTo>
                    <a:pt x="30" y="12"/>
                  </a:lnTo>
                  <a:lnTo>
                    <a:pt x="18" y="0"/>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Rectangle 65"/>
            <p:cNvSpPr>
              <a:spLocks noChangeArrowheads="1"/>
            </p:cNvSpPr>
            <p:nvPr/>
          </p:nvSpPr>
          <p:spPr bwMode="auto">
            <a:xfrm>
              <a:off x="4156" y="825"/>
              <a:ext cx="60" cy="24"/>
            </a:xfrm>
            <a:prstGeom prst="rect">
              <a:avLst/>
            </a:prstGeom>
            <a:solidFill>
              <a:srgbClr val="FFE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7" name="Freeform 66"/>
            <p:cNvSpPr>
              <a:spLocks noEditPoints="1"/>
            </p:cNvSpPr>
            <p:nvPr/>
          </p:nvSpPr>
          <p:spPr bwMode="auto">
            <a:xfrm>
              <a:off x="4204" y="825"/>
              <a:ext cx="24" cy="418"/>
            </a:xfrm>
            <a:custGeom>
              <a:avLst/>
              <a:gdLst>
                <a:gd name="T0" fmla="*/ 0 w 24"/>
                <a:gd name="T1" fmla="*/ 12 h 418"/>
                <a:gd name="T2" fmla="*/ 0 w 24"/>
                <a:gd name="T3" fmla="*/ 418 h 418"/>
                <a:gd name="T4" fmla="*/ 24 w 24"/>
                <a:gd name="T5" fmla="*/ 418 h 418"/>
                <a:gd name="T6" fmla="*/ 24 w 24"/>
                <a:gd name="T7" fmla="*/ 12 h 418"/>
                <a:gd name="T8" fmla="*/ 0 w 24"/>
                <a:gd name="T9" fmla="*/ 12 h 418"/>
                <a:gd name="T10" fmla="*/ 24 w 24"/>
                <a:gd name="T11" fmla="*/ 12 h 418"/>
                <a:gd name="T12" fmla="*/ 24 w 24"/>
                <a:gd name="T13" fmla="*/ 0 h 418"/>
                <a:gd name="T14" fmla="*/ 12 w 24"/>
                <a:gd name="T15" fmla="*/ 0 h 418"/>
                <a:gd name="T16" fmla="*/ 12 w 24"/>
                <a:gd name="T17" fmla="*/ 12 h 418"/>
                <a:gd name="T18" fmla="*/ 24 w 24"/>
                <a:gd name="T19" fmla="*/ 12 h 4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418">
                  <a:moveTo>
                    <a:pt x="0" y="12"/>
                  </a:moveTo>
                  <a:lnTo>
                    <a:pt x="0" y="418"/>
                  </a:lnTo>
                  <a:lnTo>
                    <a:pt x="24" y="418"/>
                  </a:lnTo>
                  <a:lnTo>
                    <a:pt x="24" y="12"/>
                  </a:lnTo>
                  <a:lnTo>
                    <a:pt x="0" y="12"/>
                  </a:lnTo>
                  <a:close/>
                  <a:moveTo>
                    <a:pt x="24" y="12"/>
                  </a:moveTo>
                  <a:lnTo>
                    <a:pt x="24" y="0"/>
                  </a:lnTo>
                  <a:lnTo>
                    <a:pt x="12" y="0"/>
                  </a:lnTo>
                  <a:lnTo>
                    <a:pt x="12" y="12"/>
                  </a:lnTo>
                  <a:lnTo>
                    <a:pt x="24" y="12"/>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67"/>
            <p:cNvSpPr>
              <a:spLocks noEditPoints="1"/>
            </p:cNvSpPr>
            <p:nvPr/>
          </p:nvSpPr>
          <p:spPr bwMode="auto">
            <a:xfrm>
              <a:off x="4156" y="1231"/>
              <a:ext cx="72" cy="24"/>
            </a:xfrm>
            <a:custGeom>
              <a:avLst/>
              <a:gdLst>
                <a:gd name="T0" fmla="*/ 60 w 72"/>
                <a:gd name="T1" fmla="*/ 0 h 24"/>
                <a:gd name="T2" fmla="*/ 0 w 72"/>
                <a:gd name="T3" fmla="*/ 0 h 24"/>
                <a:gd name="T4" fmla="*/ 0 w 72"/>
                <a:gd name="T5" fmla="*/ 24 h 24"/>
                <a:gd name="T6" fmla="*/ 60 w 72"/>
                <a:gd name="T7" fmla="*/ 24 h 24"/>
                <a:gd name="T8" fmla="*/ 60 w 72"/>
                <a:gd name="T9" fmla="*/ 0 h 24"/>
                <a:gd name="T10" fmla="*/ 60 w 72"/>
                <a:gd name="T11" fmla="*/ 24 h 24"/>
                <a:gd name="T12" fmla="*/ 72 w 72"/>
                <a:gd name="T13" fmla="*/ 24 h 24"/>
                <a:gd name="T14" fmla="*/ 72 w 72"/>
                <a:gd name="T15" fmla="*/ 12 h 24"/>
                <a:gd name="T16" fmla="*/ 60 w 72"/>
                <a:gd name="T17" fmla="*/ 12 h 24"/>
                <a:gd name="T18" fmla="*/ 60 w 72"/>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2" h="24">
                  <a:moveTo>
                    <a:pt x="60" y="0"/>
                  </a:moveTo>
                  <a:lnTo>
                    <a:pt x="0" y="0"/>
                  </a:lnTo>
                  <a:lnTo>
                    <a:pt x="0" y="24"/>
                  </a:lnTo>
                  <a:lnTo>
                    <a:pt x="60" y="24"/>
                  </a:lnTo>
                  <a:lnTo>
                    <a:pt x="60" y="0"/>
                  </a:lnTo>
                  <a:close/>
                  <a:moveTo>
                    <a:pt x="60" y="24"/>
                  </a:moveTo>
                  <a:lnTo>
                    <a:pt x="72" y="24"/>
                  </a:lnTo>
                  <a:lnTo>
                    <a:pt x="72" y="12"/>
                  </a:lnTo>
                  <a:lnTo>
                    <a:pt x="60" y="12"/>
                  </a:lnTo>
                  <a:lnTo>
                    <a:pt x="60"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68"/>
            <p:cNvSpPr>
              <a:spLocks/>
            </p:cNvSpPr>
            <p:nvPr/>
          </p:nvSpPr>
          <p:spPr bwMode="auto">
            <a:xfrm>
              <a:off x="4150" y="1184"/>
              <a:ext cx="66" cy="65"/>
            </a:xfrm>
            <a:custGeom>
              <a:avLst/>
              <a:gdLst>
                <a:gd name="T0" fmla="*/ 66 w 66"/>
                <a:gd name="T1" fmla="*/ 47 h 65"/>
                <a:gd name="T2" fmla="*/ 18 w 66"/>
                <a:gd name="T3" fmla="*/ 0 h 65"/>
                <a:gd name="T4" fmla="*/ 0 w 66"/>
                <a:gd name="T5" fmla="*/ 11 h 65"/>
                <a:gd name="T6" fmla="*/ 54 w 66"/>
                <a:gd name="T7" fmla="*/ 65 h 65"/>
                <a:gd name="T8" fmla="*/ 66 w 66"/>
                <a:gd name="T9" fmla="*/ 47 h 6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65">
                  <a:moveTo>
                    <a:pt x="66" y="47"/>
                  </a:moveTo>
                  <a:lnTo>
                    <a:pt x="18" y="0"/>
                  </a:lnTo>
                  <a:lnTo>
                    <a:pt x="0" y="11"/>
                  </a:lnTo>
                  <a:lnTo>
                    <a:pt x="54" y="65"/>
                  </a:lnTo>
                  <a:lnTo>
                    <a:pt x="66" y="47"/>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69"/>
            <p:cNvSpPr>
              <a:spLocks/>
            </p:cNvSpPr>
            <p:nvPr/>
          </p:nvSpPr>
          <p:spPr bwMode="auto">
            <a:xfrm>
              <a:off x="4150" y="1207"/>
              <a:ext cx="42" cy="42"/>
            </a:xfrm>
            <a:custGeom>
              <a:avLst/>
              <a:gdLst>
                <a:gd name="T0" fmla="*/ 42 w 42"/>
                <a:gd name="T1" fmla="*/ 24 h 42"/>
                <a:gd name="T2" fmla="*/ 18 w 42"/>
                <a:gd name="T3" fmla="*/ 0 h 42"/>
                <a:gd name="T4" fmla="*/ 0 w 42"/>
                <a:gd name="T5" fmla="*/ 18 h 42"/>
                <a:gd name="T6" fmla="*/ 24 w 42"/>
                <a:gd name="T7" fmla="*/ 42 h 42"/>
                <a:gd name="T8" fmla="*/ 42 w 42"/>
                <a:gd name="T9" fmla="*/ 24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42">
                  <a:moveTo>
                    <a:pt x="42" y="24"/>
                  </a:moveTo>
                  <a:lnTo>
                    <a:pt x="18" y="0"/>
                  </a:lnTo>
                  <a:lnTo>
                    <a:pt x="0" y="18"/>
                  </a:lnTo>
                  <a:lnTo>
                    <a:pt x="24" y="42"/>
                  </a:lnTo>
                  <a:lnTo>
                    <a:pt x="42"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70"/>
            <p:cNvSpPr>
              <a:spLocks/>
            </p:cNvSpPr>
            <p:nvPr/>
          </p:nvSpPr>
          <p:spPr bwMode="auto">
            <a:xfrm>
              <a:off x="4150" y="1076"/>
              <a:ext cx="78" cy="78"/>
            </a:xfrm>
            <a:custGeom>
              <a:avLst/>
              <a:gdLst>
                <a:gd name="T0" fmla="*/ 78 w 78"/>
                <a:gd name="T1" fmla="*/ 60 h 78"/>
                <a:gd name="T2" fmla="*/ 18 w 78"/>
                <a:gd name="T3" fmla="*/ 0 h 78"/>
                <a:gd name="T4" fmla="*/ 0 w 78"/>
                <a:gd name="T5" fmla="*/ 12 h 78"/>
                <a:gd name="T6" fmla="*/ 60 w 78"/>
                <a:gd name="T7" fmla="*/ 78 h 78"/>
                <a:gd name="T8" fmla="*/ 78 w 78"/>
                <a:gd name="T9" fmla="*/ 6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78">
                  <a:moveTo>
                    <a:pt x="78" y="60"/>
                  </a:moveTo>
                  <a:lnTo>
                    <a:pt x="18" y="0"/>
                  </a:lnTo>
                  <a:lnTo>
                    <a:pt x="0" y="12"/>
                  </a:lnTo>
                  <a:lnTo>
                    <a:pt x="60" y="78"/>
                  </a:lnTo>
                  <a:lnTo>
                    <a:pt x="78" y="6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71"/>
            <p:cNvSpPr>
              <a:spLocks/>
            </p:cNvSpPr>
            <p:nvPr/>
          </p:nvSpPr>
          <p:spPr bwMode="auto">
            <a:xfrm>
              <a:off x="4150" y="1130"/>
              <a:ext cx="78" cy="77"/>
            </a:xfrm>
            <a:custGeom>
              <a:avLst/>
              <a:gdLst>
                <a:gd name="T0" fmla="*/ 78 w 78"/>
                <a:gd name="T1" fmla="*/ 59 h 77"/>
                <a:gd name="T2" fmla="*/ 18 w 78"/>
                <a:gd name="T3" fmla="*/ 0 h 77"/>
                <a:gd name="T4" fmla="*/ 0 w 78"/>
                <a:gd name="T5" fmla="*/ 12 h 77"/>
                <a:gd name="T6" fmla="*/ 60 w 78"/>
                <a:gd name="T7" fmla="*/ 77 h 77"/>
                <a:gd name="T8" fmla="*/ 78 w 78"/>
                <a:gd name="T9" fmla="*/ 59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77">
                  <a:moveTo>
                    <a:pt x="78" y="59"/>
                  </a:moveTo>
                  <a:lnTo>
                    <a:pt x="18" y="0"/>
                  </a:lnTo>
                  <a:lnTo>
                    <a:pt x="0" y="12"/>
                  </a:lnTo>
                  <a:lnTo>
                    <a:pt x="60" y="77"/>
                  </a:lnTo>
                  <a:lnTo>
                    <a:pt x="78" y="59"/>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72"/>
            <p:cNvSpPr>
              <a:spLocks/>
            </p:cNvSpPr>
            <p:nvPr/>
          </p:nvSpPr>
          <p:spPr bwMode="auto">
            <a:xfrm>
              <a:off x="4150" y="1022"/>
              <a:ext cx="78" cy="78"/>
            </a:xfrm>
            <a:custGeom>
              <a:avLst/>
              <a:gdLst>
                <a:gd name="T0" fmla="*/ 78 w 78"/>
                <a:gd name="T1" fmla="*/ 60 h 78"/>
                <a:gd name="T2" fmla="*/ 18 w 78"/>
                <a:gd name="T3" fmla="*/ 0 h 78"/>
                <a:gd name="T4" fmla="*/ 0 w 78"/>
                <a:gd name="T5" fmla="*/ 12 h 78"/>
                <a:gd name="T6" fmla="*/ 60 w 78"/>
                <a:gd name="T7" fmla="*/ 78 h 78"/>
                <a:gd name="T8" fmla="*/ 78 w 78"/>
                <a:gd name="T9" fmla="*/ 6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78">
                  <a:moveTo>
                    <a:pt x="78" y="60"/>
                  </a:moveTo>
                  <a:lnTo>
                    <a:pt x="18" y="0"/>
                  </a:lnTo>
                  <a:lnTo>
                    <a:pt x="0" y="12"/>
                  </a:lnTo>
                  <a:lnTo>
                    <a:pt x="60" y="78"/>
                  </a:lnTo>
                  <a:lnTo>
                    <a:pt x="78" y="6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73"/>
            <p:cNvSpPr>
              <a:spLocks/>
            </p:cNvSpPr>
            <p:nvPr/>
          </p:nvSpPr>
          <p:spPr bwMode="auto">
            <a:xfrm>
              <a:off x="4150" y="1100"/>
              <a:ext cx="78" cy="78"/>
            </a:xfrm>
            <a:custGeom>
              <a:avLst/>
              <a:gdLst>
                <a:gd name="T0" fmla="*/ 78 w 78"/>
                <a:gd name="T1" fmla="*/ 60 h 78"/>
                <a:gd name="T2" fmla="*/ 18 w 78"/>
                <a:gd name="T3" fmla="*/ 0 h 78"/>
                <a:gd name="T4" fmla="*/ 0 w 78"/>
                <a:gd name="T5" fmla="*/ 18 h 78"/>
                <a:gd name="T6" fmla="*/ 60 w 78"/>
                <a:gd name="T7" fmla="*/ 78 h 78"/>
                <a:gd name="T8" fmla="*/ 78 w 78"/>
                <a:gd name="T9" fmla="*/ 6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78">
                  <a:moveTo>
                    <a:pt x="78" y="60"/>
                  </a:moveTo>
                  <a:lnTo>
                    <a:pt x="18" y="0"/>
                  </a:lnTo>
                  <a:lnTo>
                    <a:pt x="0" y="18"/>
                  </a:lnTo>
                  <a:lnTo>
                    <a:pt x="60" y="78"/>
                  </a:lnTo>
                  <a:lnTo>
                    <a:pt x="78" y="6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74"/>
            <p:cNvSpPr>
              <a:spLocks/>
            </p:cNvSpPr>
            <p:nvPr/>
          </p:nvSpPr>
          <p:spPr bwMode="auto">
            <a:xfrm>
              <a:off x="4150" y="1154"/>
              <a:ext cx="78" cy="77"/>
            </a:xfrm>
            <a:custGeom>
              <a:avLst/>
              <a:gdLst>
                <a:gd name="T0" fmla="*/ 78 w 78"/>
                <a:gd name="T1" fmla="*/ 59 h 77"/>
                <a:gd name="T2" fmla="*/ 18 w 78"/>
                <a:gd name="T3" fmla="*/ 0 h 77"/>
                <a:gd name="T4" fmla="*/ 0 w 78"/>
                <a:gd name="T5" fmla="*/ 18 h 77"/>
                <a:gd name="T6" fmla="*/ 60 w 78"/>
                <a:gd name="T7" fmla="*/ 77 h 77"/>
                <a:gd name="T8" fmla="*/ 78 w 78"/>
                <a:gd name="T9" fmla="*/ 59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77">
                  <a:moveTo>
                    <a:pt x="78" y="59"/>
                  </a:moveTo>
                  <a:lnTo>
                    <a:pt x="18" y="0"/>
                  </a:lnTo>
                  <a:lnTo>
                    <a:pt x="0" y="18"/>
                  </a:lnTo>
                  <a:lnTo>
                    <a:pt x="60" y="77"/>
                  </a:lnTo>
                  <a:lnTo>
                    <a:pt x="78" y="59"/>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75"/>
            <p:cNvSpPr>
              <a:spLocks/>
            </p:cNvSpPr>
            <p:nvPr/>
          </p:nvSpPr>
          <p:spPr bwMode="auto">
            <a:xfrm>
              <a:off x="4150" y="1046"/>
              <a:ext cx="78" cy="78"/>
            </a:xfrm>
            <a:custGeom>
              <a:avLst/>
              <a:gdLst>
                <a:gd name="T0" fmla="*/ 78 w 78"/>
                <a:gd name="T1" fmla="*/ 60 h 78"/>
                <a:gd name="T2" fmla="*/ 18 w 78"/>
                <a:gd name="T3" fmla="*/ 0 h 78"/>
                <a:gd name="T4" fmla="*/ 0 w 78"/>
                <a:gd name="T5" fmla="*/ 18 h 78"/>
                <a:gd name="T6" fmla="*/ 60 w 78"/>
                <a:gd name="T7" fmla="*/ 78 h 78"/>
                <a:gd name="T8" fmla="*/ 78 w 78"/>
                <a:gd name="T9" fmla="*/ 6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78">
                  <a:moveTo>
                    <a:pt x="78" y="60"/>
                  </a:moveTo>
                  <a:lnTo>
                    <a:pt x="18" y="0"/>
                  </a:lnTo>
                  <a:lnTo>
                    <a:pt x="0" y="18"/>
                  </a:lnTo>
                  <a:lnTo>
                    <a:pt x="60" y="78"/>
                  </a:lnTo>
                  <a:lnTo>
                    <a:pt x="78" y="6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76"/>
            <p:cNvSpPr>
              <a:spLocks/>
            </p:cNvSpPr>
            <p:nvPr/>
          </p:nvSpPr>
          <p:spPr bwMode="auto">
            <a:xfrm>
              <a:off x="4150" y="992"/>
              <a:ext cx="78" cy="78"/>
            </a:xfrm>
            <a:custGeom>
              <a:avLst/>
              <a:gdLst>
                <a:gd name="T0" fmla="*/ 78 w 78"/>
                <a:gd name="T1" fmla="*/ 60 h 78"/>
                <a:gd name="T2" fmla="*/ 18 w 78"/>
                <a:gd name="T3" fmla="*/ 0 h 78"/>
                <a:gd name="T4" fmla="*/ 0 w 78"/>
                <a:gd name="T5" fmla="*/ 18 h 78"/>
                <a:gd name="T6" fmla="*/ 60 w 78"/>
                <a:gd name="T7" fmla="*/ 78 h 78"/>
                <a:gd name="T8" fmla="*/ 78 w 78"/>
                <a:gd name="T9" fmla="*/ 6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78">
                  <a:moveTo>
                    <a:pt x="78" y="60"/>
                  </a:moveTo>
                  <a:lnTo>
                    <a:pt x="18" y="0"/>
                  </a:lnTo>
                  <a:lnTo>
                    <a:pt x="0" y="18"/>
                  </a:lnTo>
                  <a:lnTo>
                    <a:pt x="60" y="78"/>
                  </a:lnTo>
                  <a:lnTo>
                    <a:pt x="78" y="6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77"/>
            <p:cNvSpPr>
              <a:spLocks/>
            </p:cNvSpPr>
            <p:nvPr/>
          </p:nvSpPr>
          <p:spPr bwMode="auto">
            <a:xfrm>
              <a:off x="4150" y="969"/>
              <a:ext cx="78" cy="77"/>
            </a:xfrm>
            <a:custGeom>
              <a:avLst/>
              <a:gdLst>
                <a:gd name="T0" fmla="*/ 78 w 78"/>
                <a:gd name="T1" fmla="*/ 59 h 77"/>
                <a:gd name="T2" fmla="*/ 18 w 78"/>
                <a:gd name="T3" fmla="*/ 0 h 77"/>
                <a:gd name="T4" fmla="*/ 0 w 78"/>
                <a:gd name="T5" fmla="*/ 11 h 77"/>
                <a:gd name="T6" fmla="*/ 60 w 78"/>
                <a:gd name="T7" fmla="*/ 77 h 77"/>
                <a:gd name="T8" fmla="*/ 78 w 78"/>
                <a:gd name="T9" fmla="*/ 59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77">
                  <a:moveTo>
                    <a:pt x="78" y="59"/>
                  </a:moveTo>
                  <a:lnTo>
                    <a:pt x="18" y="0"/>
                  </a:lnTo>
                  <a:lnTo>
                    <a:pt x="0" y="11"/>
                  </a:lnTo>
                  <a:lnTo>
                    <a:pt x="60" y="77"/>
                  </a:lnTo>
                  <a:lnTo>
                    <a:pt x="78" y="59"/>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78"/>
            <p:cNvSpPr>
              <a:spLocks/>
            </p:cNvSpPr>
            <p:nvPr/>
          </p:nvSpPr>
          <p:spPr bwMode="auto">
            <a:xfrm>
              <a:off x="4150" y="861"/>
              <a:ext cx="78" cy="78"/>
            </a:xfrm>
            <a:custGeom>
              <a:avLst/>
              <a:gdLst>
                <a:gd name="T0" fmla="*/ 78 w 78"/>
                <a:gd name="T1" fmla="*/ 60 h 78"/>
                <a:gd name="T2" fmla="*/ 18 w 78"/>
                <a:gd name="T3" fmla="*/ 0 h 78"/>
                <a:gd name="T4" fmla="*/ 0 w 78"/>
                <a:gd name="T5" fmla="*/ 12 h 78"/>
                <a:gd name="T6" fmla="*/ 60 w 78"/>
                <a:gd name="T7" fmla="*/ 78 h 78"/>
                <a:gd name="T8" fmla="*/ 78 w 78"/>
                <a:gd name="T9" fmla="*/ 6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78">
                  <a:moveTo>
                    <a:pt x="78" y="60"/>
                  </a:moveTo>
                  <a:lnTo>
                    <a:pt x="18" y="0"/>
                  </a:lnTo>
                  <a:lnTo>
                    <a:pt x="0" y="12"/>
                  </a:lnTo>
                  <a:lnTo>
                    <a:pt x="60" y="78"/>
                  </a:lnTo>
                  <a:lnTo>
                    <a:pt x="78" y="6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79"/>
            <p:cNvSpPr>
              <a:spLocks/>
            </p:cNvSpPr>
            <p:nvPr/>
          </p:nvSpPr>
          <p:spPr bwMode="auto">
            <a:xfrm>
              <a:off x="4150" y="915"/>
              <a:ext cx="78" cy="77"/>
            </a:xfrm>
            <a:custGeom>
              <a:avLst/>
              <a:gdLst>
                <a:gd name="T0" fmla="*/ 78 w 78"/>
                <a:gd name="T1" fmla="*/ 59 h 77"/>
                <a:gd name="T2" fmla="*/ 18 w 78"/>
                <a:gd name="T3" fmla="*/ 0 h 77"/>
                <a:gd name="T4" fmla="*/ 0 w 78"/>
                <a:gd name="T5" fmla="*/ 12 h 77"/>
                <a:gd name="T6" fmla="*/ 60 w 78"/>
                <a:gd name="T7" fmla="*/ 77 h 77"/>
                <a:gd name="T8" fmla="*/ 78 w 78"/>
                <a:gd name="T9" fmla="*/ 59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77">
                  <a:moveTo>
                    <a:pt x="78" y="59"/>
                  </a:moveTo>
                  <a:lnTo>
                    <a:pt x="18" y="0"/>
                  </a:lnTo>
                  <a:lnTo>
                    <a:pt x="0" y="12"/>
                  </a:lnTo>
                  <a:lnTo>
                    <a:pt x="60" y="77"/>
                  </a:lnTo>
                  <a:lnTo>
                    <a:pt x="78" y="59"/>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80"/>
            <p:cNvSpPr>
              <a:spLocks/>
            </p:cNvSpPr>
            <p:nvPr/>
          </p:nvSpPr>
          <p:spPr bwMode="auto">
            <a:xfrm>
              <a:off x="4174" y="825"/>
              <a:ext cx="54" cy="60"/>
            </a:xfrm>
            <a:custGeom>
              <a:avLst/>
              <a:gdLst>
                <a:gd name="T0" fmla="*/ 54 w 54"/>
                <a:gd name="T1" fmla="*/ 42 h 60"/>
                <a:gd name="T2" fmla="*/ 12 w 54"/>
                <a:gd name="T3" fmla="*/ 0 h 60"/>
                <a:gd name="T4" fmla="*/ 0 w 54"/>
                <a:gd name="T5" fmla="*/ 18 h 60"/>
                <a:gd name="T6" fmla="*/ 36 w 54"/>
                <a:gd name="T7" fmla="*/ 60 h 60"/>
                <a:gd name="T8" fmla="*/ 54 w 54"/>
                <a:gd name="T9" fmla="*/ 42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60">
                  <a:moveTo>
                    <a:pt x="54" y="42"/>
                  </a:moveTo>
                  <a:lnTo>
                    <a:pt x="12" y="0"/>
                  </a:lnTo>
                  <a:lnTo>
                    <a:pt x="0" y="18"/>
                  </a:lnTo>
                  <a:lnTo>
                    <a:pt x="36" y="60"/>
                  </a:lnTo>
                  <a:lnTo>
                    <a:pt x="54" y="42"/>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81"/>
            <p:cNvSpPr>
              <a:spLocks/>
            </p:cNvSpPr>
            <p:nvPr/>
          </p:nvSpPr>
          <p:spPr bwMode="auto">
            <a:xfrm>
              <a:off x="4150" y="885"/>
              <a:ext cx="78" cy="78"/>
            </a:xfrm>
            <a:custGeom>
              <a:avLst/>
              <a:gdLst>
                <a:gd name="T0" fmla="*/ 78 w 78"/>
                <a:gd name="T1" fmla="*/ 60 h 78"/>
                <a:gd name="T2" fmla="*/ 18 w 78"/>
                <a:gd name="T3" fmla="*/ 0 h 78"/>
                <a:gd name="T4" fmla="*/ 0 w 78"/>
                <a:gd name="T5" fmla="*/ 18 h 78"/>
                <a:gd name="T6" fmla="*/ 60 w 78"/>
                <a:gd name="T7" fmla="*/ 78 h 78"/>
                <a:gd name="T8" fmla="*/ 78 w 78"/>
                <a:gd name="T9" fmla="*/ 6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78">
                  <a:moveTo>
                    <a:pt x="78" y="60"/>
                  </a:moveTo>
                  <a:lnTo>
                    <a:pt x="18" y="0"/>
                  </a:lnTo>
                  <a:lnTo>
                    <a:pt x="0" y="18"/>
                  </a:lnTo>
                  <a:lnTo>
                    <a:pt x="60" y="78"/>
                  </a:lnTo>
                  <a:lnTo>
                    <a:pt x="78" y="6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82"/>
            <p:cNvSpPr>
              <a:spLocks/>
            </p:cNvSpPr>
            <p:nvPr/>
          </p:nvSpPr>
          <p:spPr bwMode="auto">
            <a:xfrm>
              <a:off x="4150" y="939"/>
              <a:ext cx="78" cy="77"/>
            </a:xfrm>
            <a:custGeom>
              <a:avLst/>
              <a:gdLst>
                <a:gd name="T0" fmla="*/ 78 w 78"/>
                <a:gd name="T1" fmla="*/ 59 h 77"/>
                <a:gd name="T2" fmla="*/ 18 w 78"/>
                <a:gd name="T3" fmla="*/ 0 h 77"/>
                <a:gd name="T4" fmla="*/ 0 w 78"/>
                <a:gd name="T5" fmla="*/ 18 h 77"/>
                <a:gd name="T6" fmla="*/ 60 w 78"/>
                <a:gd name="T7" fmla="*/ 77 h 77"/>
                <a:gd name="T8" fmla="*/ 78 w 78"/>
                <a:gd name="T9" fmla="*/ 59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77">
                  <a:moveTo>
                    <a:pt x="78" y="59"/>
                  </a:moveTo>
                  <a:lnTo>
                    <a:pt x="18" y="0"/>
                  </a:lnTo>
                  <a:lnTo>
                    <a:pt x="0" y="18"/>
                  </a:lnTo>
                  <a:lnTo>
                    <a:pt x="60" y="77"/>
                  </a:lnTo>
                  <a:lnTo>
                    <a:pt x="78" y="59"/>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83"/>
            <p:cNvSpPr>
              <a:spLocks/>
            </p:cNvSpPr>
            <p:nvPr/>
          </p:nvSpPr>
          <p:spPr bwMode="auto">
            <a:xfrm>
              <a:off x="4150" y="831"/>
              <a:ext cx="78" cy="78"/>
            </a:xfrm>
            <a:custGeom>
              <a:avLst/>
              <a:gdLst>
                <a:gd name="T0" fmla="*/ 78 w 78"/>
                <a:gd name="T1" fmla="*/ 60 h 78"/>
                <a:gd name="T2" fmla="*/ 18 w 78"/>
                <a:gd name="T3" fmla="*/ 0 h 78"/>
                <a:gd name="T4" fmla="*/ 0 w 78"/>
                <a:gd name="T5" fmla="*/ 18 h 78"/>
                <a:gd name="T6" fmla="*/ 60 w 78"/>
                <a:gd name="T7" fmla="*/ 78 h 78"/>
                <a:gd name="T8" fmla="*/ 78 w 78"/>
                <a:gd name="T9" fmla="*/ 6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78">
                  <a:moveTo>
                    <a:pt x="78" y="60"/>
                  </a:moveTo>
                  <a:lnTo>
                    <a:pt x="18" y="0"/>
                  </a:lnTo>
                  <a:lnTo>
                    <a:pt x="0" y="18"/>
                  </a:lnTo>
                  <a:lnTo>
                    <a:pt x="60" y="78"/>
                  </a:lnTo>
                  <a:lnTo>
                    <a:pt x="78" y="6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84"/>
            <p:cNvSpPr>
              <a:spLocks/>
            </p:cNvSpPr>
            <p:nvPr/>
          </p:nvSpPr>
          <p:spPr bwMode="auto">
            <a:xfrm>
              <a:off x="4198" y="825"/>
              <a:ext cx="30" cy="30"/>
            </a:xfrm>
            <a:custGeom>
              <a:avLst/>
              <a:gdLst>
                <a:gd name="T0" fmla="*/ 30 w 30"/>
                <a:gd name="T1" fmla="*/ 12 h 30"/>
                <a:gd name="T2" fmla="*/ 18 w 30"/>
                <a:gd name="T3" fmla="*/ 0 h 30"/>
                <a:gd name="T4" fmla="*/ 0 w 30"/>
                <a:gd name="T5" fmla="*/ 18 h 30"/>
                <a:gd name="T6" fmla="*/ 12 w 30"/>
                <a:gd name="T7" fmla="*/ 30 h 30"/>
                <a:gd name="T8" fmla="*/ 30 w 30"/>
                <a:gd name="T9" fmla="*/ 12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30">
                  <a:moveTo>
                    <a:pt x="30" y="12"/>
                  </a:moveTo>
                  <a:lnTo>
                    <a:pt x="18" y="0"/>
                  </a:lnTo>
                  <a:lnTo>
                    <a:pt x="0" y="18"/>
                  </a:lnTo>
                  <a:lnTo>
                    <a:pt x="12" y="30"/>
                  </a:lnTo>
                  <a:lnTo>
                    <a:pt x="30" y="12"/>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85"/>
            <p:cNvSpPr>
              <a:spLocks/>
            </p:cNvSpPr>
            <p:nvPr/>
          </p:nvSpPr>
          <p:spPr bwMode="auto">
            <a:xfrm>
              <a:off x="3947" y="1375"/>
              <a:ext cx="365" cy="232"/>
            </a:xfrm>
            <a:custGeom>
              <a:avLst/>
              <a:gdLst>
                <a:gd name="T0" fmla="*/ 18 w 365"/>
                <a:gd name="T1" fmla="*/ 232 h 232"/>
                <a:gd name="T2" fmla="*/ 54 w 365"/>
                <a:gd name="T3" fmla="*/ 185 h 232"/>
                <a:gd name="T4" fmla="*/ 96 w 365"/>
                <a:gd name="T5" fmla="*/ 143 h 232"/>
                <a:gd name="T6" fmla="*/ 132 w 365"/>
                <a:gd name="T7" fmla="*/ 107 h 232"/>
                <a:gd name="T8" fmla="*/ 174 w 365"/>
                <a:gd name="T9" fmla="*/ 77 h 232"/>
                <a:gd name="T10" fmla="*/ 221 w 365"/>
                <a:gd name="T11" fmla="*/ 53 h 232"/>
                <a:gd name="T12" fmla="*/ 269 w 365"/>
                <a:gd name="T13" fmla="*/ 35 h 232"/>
                <a:gd name="T14" fmla="*/ 317 w 365"/>
                <a:gd name="T15" fmla="*/ 29 h 232"/>
                <a:gd name="T16" fmla="*/ 365 w 365"/>
                <a:gd name="T17" fmla="*/ 23 h 232"/>
                <a:gd name="T18" fmla="*/ 365 w 365"/>
                <a:gd name="T19" fmla="*/ 0 h 232"/>
                <a:gd name="T20" fmla="*/ 311 w 365"/>
                <a:gd name="T21" fmla="*/ 6 h 232"/>
                <a:gd name="T22" fmla="*/ 257 w 365"/>
                <a:gd name="T23" fmla="*/ 18 h 232"/>
                <a:gd name="T24" fmla="*/ 209 w 365"/>
                <a:gd name="T25" fmla="*/ 35 h 232"/>
                <a:gd name="T26" fmla="*/ 162 w 365"/>
                <a:gd name="T27" fmla="*/ 59 h 232"/>
                <a:gd name="T28" fmla="*/ 120 w 365"/>
                <a:gd name="T29" fmla="*/ 89 h 232"/>
                <a:gd name="T30" fmla="*/ 78 w 365"/>
                <a:gd name="T31" fmla="*/ 131 h 232"/>
                <a:gd name="T32" fmla="*/ 0 w 365"/>
                <a:gd name="T33" fmla="*/ 221 h 232"/>
                <a:gd name="T34" fmla="*/ 18 w 365"/>
                <a:gd name="T35" fmla="*/ 232 h 2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65" h="232">
                  <a:moveTo>
                    <a:pt x="18" y="232"/>
                  </a:moveTo>
                  <a:lnTo>
                    <a:pt x="54" y="185"/>
                  </a:lnTo>
                  <a:lnTo>
                    <a:pt x="96" y="143"/>
                  </a:lnTo>
                  <a:lnTo>
                    <a:pt x="132" y="107"/>
                  </a:lnTo>
                  <a:lnTo>
                    <a:pt x="174" y="77"/>
                  </a:lnTo>
                  <a:lnTo>
                    <a:pt x="221" y="53"/>
                  </a:lnTo>
                  <a:lnTo>
                    <a:pt x="269" y="35"/>
                  </a:lnTo>
                  <a:lnTo>
                    <a:pt x="317" y="29"/>
                  </a:lnTo>
                  <a:lnTo>
                    <a:pt x="365" y="23"/>
                  </a:lnTo>
                  <a:lnTo>
                    <a:pt x="365" y="0"/>
                  </a:lnTo>
                  <a:lnTo>
                    <a:pt x="311" y="6"/>
                  </a:lnTo>
                  <a:lnTo>
                    <a:pt x="257" y="18"/>
                  </a:lnTo>
                  <a:lnTo>
                    <a:pt x="209" y="35"/>
                  </a:lnTo>
                  <a:lnTo>
                    <a:pt x="162" y="59"/>
                  </a:lnTo>
                  <a:lnTo>
                    <a:pt x="120" y="89"/>
                  </a:lnTo>
                  <a:lnTo>
                    <a:pt x="78" y="131"/>
                  </a:lnTo>
                  <a:lnTo>
                    <a:pt x="0" y="221"/>
                  </a:lnTo>
                  <a:lnTo>
                    <a:pt x="18" y="232"/>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86"/>
            <p:cNvSpPr>
              <a:spLocks noEditPoints="1"/>
            </p:cNvSpPr>
            <p:nvPr/>
          </p:nvSpPr>
          <p:spPr bwMode="auto">
            <a:xfrm>
              <a:off x="4312" y="1375"/>
              <a:ext cx="389" cy="268"/>
            </a:xfrm>
            <a:custGeom>
              <a:avLst/>
              <a:gdLst>
                <a:gd name="T0" fmla="*/ 0 w 389"/>
                <a:gd name="T1" fmla="*/ 23 h 268"/>
                <a:gd name="T2" fmla="*/ 54 w 389"/>
                <a:gd name="T3" fmla="*/ 29 h 268"/>
                <a:gd name="T4" fmla="*/ 102 w 389"/>
                <a:gd name="T5" fmla="*/ 41 h 268"/>
                <a:gd name="T6" fmla="*/ 149 w 389"/>
                <a:gd name="T7" fmla="*/ 59 h 268"/>
                <a:gd name="T8" fmla="*/ 197 w 389"/>
                <a:gd name="T9" fmla="*/ 89 h 268"/>
                <a:gd name="T10" fmla="*/ 239 w 389"/>
                <a:gd name="T11" fmla="*/ 125 h 268"/>
                <a:gd name="T12" fmla="*/ 287 w 389"/>
                <a:gd name="T13" fmla="*/ 167 h 268"/>
                <a:gd name="T14" fmla="*/ 329 w 389"/>
                <a:gd name="T15" fmla="*/ 215 h 268"/>
                <a:gd name="T16" fmla="*/ 371 w 389"/>
                <a:gd name="T17" fmla="*/ 268 h 268"/>
                <a:gd name="T18" fmla="*/ 389 w 389"/>
                <a:gd name="T19" fmla="*/ 250 h 268"/>
                <a:gd name="T20" fmla="*/ 347 w 389"/>
                <a:gd name="T21" fmla="*/ 197 h 268"/>
                <a:gd name="T22" fmla="*/ 305 w 389"/>
                <a:gd name="T23" fmla="*/ 149 h 268"/>
                <a:gd name="T24" fmla="*/ 257 w 389"/>
                <a:gd name="T25" fmla="*/ 101 h 268"/>
                <a:gd name="T26" fmla="*/ 209 w 389"/>
                <a:gd name="T27" fmla="*/ 65 h 268"/>
                <a:gd name="T28" fmla="*/ 161 w 389"/>
                <a:gd name="T29" fmla="*/ 35 h 268"/>
                <a:gd name="T30" fmla="*/ 108 w 389"/>
                <a:gd name="T31" fmla="*/ 18 h 268"/>
                <a:gd name="T32" fmla="*/ 60 w 389"/>
                <a:gd name="T33" fmla="*/ 6 h 268"/>
                <a:gd name="T34" fmla="*/ 0 w 389"/>
                <a:gd name="T35" fmla="*/ 0 h 268"/>
                <a:gd name="T36" fmla="*/ 0 w 389"/>
                <a:gd name="T37" fmla="*/ 23 h 268"/>
                <a:gd name="T38" fmla="*/ 0 w 389"/>
                <a:gd name="T39" fmla="*/ 0 h 268"/>
                <a:gd name="T40" fmla="*/ 0 w 389"/>
                <a:gd name="T41" fmla="*/ 0 h 268"/>
                <a:gd name="T42" fmla="*/ 0 w 389"/>
                <a:gd name="T43" fmla="*/ 12 h 268"/>
                <a:gd name="T44" fmla="*/ 0 w 389"/>
                <a:gd name="T45" fmla="*/ 0 h 26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89" h="268">
                  <a:moveTo>
                    <a:pt x="0" y="23"/>
                  </a:moveTo>
                  <a:lnTo>
                    <a:pt x="54" y="29"/>
                  </a:lnTo>
                  <a:lnTo>
                    <a:pt x="102" y="41"/>
                  </a:lnTo>
                  <a:lnTo>
                    <a:pt x="149" y="59"/>
                  </a:lnTo>
                  <a:lnTo>
                    <a:pt x="197" y="89"/>
                  </a:lnTo>
                  <a:lnTo>
                    <a:pt x="239" y="125"/>
                  </a:lnTo>
                  <a:lnTo>
                    <a:pt x="287" y="167"/>
                  </a:lnTo>
                  <a:lnTo>
                    <a:pt x="329" y="215"/>
                  </a:lnTo>
                  <a:lnTo>
                    <a:pt x="371" y="268"/>
                  </a:lnTo>
                  <a:lnTo>
                    <a:pt x="389" y="250"/>
                  </a:lnTo>
                  <a:lnTo>
                    <a:pt x="347" y="197"/>
                  </a:lnTo>
                  <a:lnTo>
                    <a:pt x="305" y="149"/>
                  </a:lnTo>
                  <a:lnTo>
                    <a:pt x="257" y="101"/>
                  </a:lnTo>
                  <a:lnTo>
                    <a:pt x="209" y="65"/>
                  </a:lnTo>
                  <a:lnTo>
                    <a:pt x="161" y="35"/>
                  </a:lnTo>
                  <a:lnTo>
                    <a:pt x="108" y="18"/>
                  </a:lnTo>
                  <a:lnTo>
                    <a:pt x="60" y="6"/>
                  </a:lnTo>
                  <a:lnTo>
                    <a:pt x="0" y="0"/>
                  </a:lnTo>
                  <a:lnTo>
                    <a:pt x="0" y="23"/>
                  </a:lnTo>
                  <a:close/>
                  <a:moveTo>
                    <a:pt x="0" y="0"/>
                  </a:moveTo>
                  <a:lnTo>
                    <a:pt x="0" y="0"/>
                  </a:lnTo>
                  <a:lnTo>
                    <a:pt x="0" y="12"/>
                  </a:lnTo>
                  <a:lnTo>
                    <a:pt x="0"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87"/>
            <p:cNvSpPr>
              <a:spLocks noEditPoints="1"/>
            </p:cNvSpPr>
            <p:nvPr/>
          </p:nvSpPr>
          <p:spPr bwMode="auto">
            <a:xfrm>
              <a:off x="4683" y="1625"/>
              <a:ext cx="71" cy="96"/>
            </a:xfrm>
            <a:custGeom>
              <a:avLst/>
              <a:gdLst>
                <a:gd name="T0" fmla="*/ 0 w 71"/>
                <a:gd name="T1" fmla="*/ 18 h 96"/>
                <a:gd name="T2" fmla="*/ 24 w 71"/>
                <a:gd name="T3" fmla="*/ 54 h 96"/>
                <a:gd name="T4" fmla="*/ 48 w 71"/>
                <a:gd name="T5" fmla="*/ 96 h 96"/>
                <a:gd name="T6" fmla="*/ 71 w 71"/>
                <a:gd name="T7" fmla="*/ 84 h 96"/>
                <a:gd name="T8" fmla="*/ 48 w 71"/>
                <a:gd name="T9" fmla="*/ 42 h 96"/>
                <a:gd name="T10" fmla="*/ 18 w 71"/>
                <a:gd name="T11" fmla="*/ 0 h 96"/>
                <a:gd name="T12" fmla="*/ 0 w 71"/>
                <a:gd name="T13" fmla="*/ 18 h 96"/>
                <a:gd name="T14" fmla="*/ 0 w 71"/>
                <a:gd name="T15" fmla="*/ 18 h 96"/>
                <a:gd name="T16" fmla="*/ 0 w 71"/>
                <a:gd name="T17" fmla="*/ 18 h 96"/>
                <a:gd name="T18" fmla="*/ 0 w 71"/>
                <a:gd name="T19" fmla="*/ 18 h 96"/>
                <a:gd name="T20" fmla="*/ 6 w 71"/>
                <a:gd name="T21" fmla="*/ 6 h 96"/>
                <a:gd name="T22" fmla="*/ 0 w 71"/>
                <a:gd name="T23" fmla="*/ 18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 h="96">
                  <a:moveTo>
                    <a:pt x="0" y="18"/>
                  </a:moveTo>
                  <a:lnTo>
                    <a:pt x="24" y="54"/>
                  </a:lnTo>
                  <a:lnTo>
                    <a:pt x="48" y="96"/>
                  </a:lnTo>
                  <a:lnTo>
                    <a:pt x="71" y="84"/>
                  </a:lnTo>
                  <a:lnTo>
                    <a:pt x="48" y="42"/>
                  </a:lnTo>
                  <a:lnTo>
                    <a:pt x="18" y="0"/>
                  </a:lnTo>
                  <a:lnTo>
                    <a:pt x="0" y="18"/>
                  </a:lnTo>
                  <a:close/>
                  <a:moveTo>
                    <a:pt x="0" y="18"/>
                  </a:moveTo>
                  <a:lnTo>
                    <a:pt x="0" y="18"/>
                  </a:lnTo>
                  <a:lnTo>
                    <a:pt x="6" y="6"/>
                  </a:lnTo>
                  <a:lnTo>
                    <a:pt x="0" y="1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88"/>
            <p:cNvSpPr>
              <a:spLocks noEditPoints="1"/>
            </p:cNvSpPr>
            <p:nvPr/>
          </p:nvSpPr>
          <p:spPr bwMode="auto">
            <a:xfrm>
              <a:off x="4731" y="1709"/>
              <a:ext cx="89" cy="119"/>
            </a:xfrm>
            <a:custGeom>
              <a:avLst/>
              <a:gdLst>
                <a:gd name="T0" fmla="*/ 0 w 89"/>
                <a:gd name="T1" fmla="*/ 12 h 119"/>
                <a:gd name="T2" fmla="*/ 18 w 89"/>
                <a:gd name="T3" fmla="*/ 42 h 119"/>
                <a:gd name="T4" fmla="*/ 35 w 89"/>
                <a:gd name="T5" fmla="*/ 66 h 119"/>
                <a:gd name="T6" fmla="*/ 53 w 89"/>
                <a:gd name="T7" fmla="*/ 96 h 119"/>
                <a:gd name="T8" fmla="*/ 71 w 89"/>
                <a:gd name="T9" fmla="*/ 119 h 119"/>
                <a:gd name="T10" fmla="*/ 89 w 89"/>
                <a:gd name="T11" fmla="*/ 113 h 119"/>
                <a:gd name="T12" fmla="*/ 59 w 89"/>
                <a:gd name="T13" fmla="*/ 54 h 119"/>
                <a:gd name="T14" fmla="*/ 23 w 89"/>
                <a:gd name="T15" fmla="*/ 0 h 119"/>
                <a:gd name="T16" fmla="*/ 0 w 89"/>
                <a:gd name="T17" fmla="*/ 12 h 119"/>
                <a:gd name="T18" fmla="*/ 23 w 89"/>
                <a:gd name="T19" fmla="*/ 0 h 119"/>
                <a:gd name="T20" fmla="*/ 23 w 89"/>
                <a:gd name="T21" fmla="*/ 0 h 119"/>
                <a:gd name="T22" fmla="*/ 23 w 89"/>
                <a:gd name="T23" fmla="*/ 0 h 119"/>
                <a:gd name="T24" fmla="*/ 12 w 89"/>
                <a:gd name="T25" fmla="*/ 6 h 119"/>
                <a:gd name="T26" fmla="*/ 23 w 89"/>
                <a:gd name="T27" fmla="*/ 0 h 11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9" h="119">
                  <a:moveTo>
                    <a:pt x="0" y="12"/>
                  </a:moveTo>
                  <a:lnTo>
                    <a:pt x="18" y="42"/>
                  </a:lnTo>
                  <a:lnTo>
                    <a:pt x="35" y="66"/>
                  </a:lnTo>
                  <a:lnTo>
                    <a:pt x="53" y="96"/>
                  </a:lnTo>
                  <a:lnTo>
                    <a:pt x="71" y="119"/>
                  </a:lnTo>
                  <a:lnTo>
                    <a:pt x="89" y="113"/>
                  </a:lnTo>
                  <a:lnTo>
                    <a:pt x="59" y="54"/>
                  </a:lnTo>
                  <a:lnTo>
                    <a:pt x="23" y="0"/>
                  </a:lnTo>
                  <a:lnTo>
                    <a:pt x="0" y="12"/>
                  </a:lnTo>
                  <a:close/>
                  <a:moveTo>
                    <a:pt x="23" y="0"/>
                  </a:moveTo>
                  <a:lnTo>
                    <a:pt x="23" y="0"/>
                  </a:lnTo>
                  <a:lnTo>
                    <a:pt x="12" y="6"/>
                  </a:lnTo>
                  <a:lnTo>
                    <a:pt x="23"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89"/>
            <p:cNvSpPr>
              <a:spLocks noEditPoints="1"/>
            </p:cNvSpPr>
            <p:nvPr/>
          </p:nvSpPr>
          <p:spPr bwMode="auto">
            <a:xfrm>
              <a:off x="4802" y="1822"/>
              <a:ext cx="156" cy="705"/>
            </a:xfrm>
            <a:custGeom>
              <a:avLst/>
              <a:gdLst>
                <a:gd name="T0" fmla="*/ 0 w 156"/>
                <a:gd name="T1" fmla="*/ 6 h 705"/>
                <a:gd name="T2" fmla="*/ 54 w 156"/>
                <a:gd name="T3" fmla="*/ 162 h 705"/>
                <a:gd name="T4" fmla="*/ 96 w 156"/>
                <a:gd name="T5" fmla="*/ 329 h 705"/>
                <a:gd name="T6" fmla="*/ 126 w 156"/>
                <a:gd name="T7" fmla="*/ 514 h 705"/>
                <a:gd name="T8" fmla="*/ 132 w 156"/>
                <a:gd name="T9" fmla="*/ 705 h 705"/>
                <a:gd name="T10" fmla="*/ 156 w 156"/>
                <a:gd name="T11" fmla="*/ 705 h 705"/>
                <a:gd name="T12" fmla="*/ 144 w 156"/>
                <a:gd name="T13" fmla="*/ 508 h 705"/>
                <a:gd name="T14" fmla="*/ 120 w 156"/>
                <a:gd name="T15" fmla="*/ 323 h 705"/>
                <a:gd name="T16" fmla="*/ 78 w 156"/>
                <a:gd name="T17" fmla="*/ 156 h 705"/>
                <a:gd name="T18" fmla="*/ 18 w 156"/>
                <a:gd name="T19" fmla="*/ 0 h 705"/>
                <a:gd name="T20" fmla="*/ 0 w 156"/>
                <a:gd name="T21" fmla="*/ 6 h 705"/>
                <a:gd name="T22" fmla="*/ 0 w 156"/>
                <a:gd name="T23" fmla="*/ 6 h 705"/>
                <a:gd name="T24" fmla="*/ 0 w 156"/>
                <a:gd name="T25" fmla="*/ 6 h 705"/>
                <a:gd name="T26" fmla="*/ 0 w 156"/>
                <a:gd name="T27" fmla="*/ 6 h 705"/>
                <a:gd name="T28" fmla="*/ 6 w 156"/>
                <a:gd name="T29" fmla="*/ 0 h 705"/>
                <a:gd name="T30" fmla="*/ 0 w 156"/>
                <a:gd name="T31" fmla="*/ 6 h 70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6" h="705">
                  <a:moveTo>
                    <a:pt x="0" y="6"/>
                  </a:moveTo>
                  <a:lnTo>
                    <a:pt x="54" y="162"/>
                  </a:lnTo>
                  <a:lnTo>
                    <a:pt x="96" y="329"/>
                  </a:lnTo>
                  <a:lnTo>
                    <a:pt x="126" y="514"/>
                  </a:lnTo>
                  <a:lnTo>
                    <a:pt x="132" y="705"/>
                  </a:lnTo>
                  <a:lnTo>
                    <a:pt x="156" y="705"/>
                  </a:lnTo>
                  <a:lnTo>
                    <a:pt x="144" y="508"/>
                  </a:lnTo>
                  <a:lnTo>
                    <a:pt x="120" y="323"/>
                  </a:lnTo>
                  <a:lnTo>
                    <a:pt x="78" y="156"/>
                  </a:lnTo>
                  <a:lnTo>
                    <a:pt x="18" y="0"/>
                  </a:lnTo>
                  <a:lnTo>
                    <a:pt x="0" y="6"/>
                  </a:lnTo>
                  <a:close/>
                  <a:moveTo>
                    <a:pt x="0" y="6"/>
                  </a:moveTo>
                  <a:lnTo>
                    <a:pt x="0" y="6"/>
                  </a:lnTo>
                  <a:lnTo>
                    <a:pt x="6" y="0"/>
                  </a:lnTo>
                  <a:lnTo>
                    <a:pt x="0" y="6"/>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90"/>
            <p:cNvSpPr>
              <a:spLocks noEditPoints="1"/>
            </p:cNvSpPr>
            <p:nvPr/>
          </p:nvSpPr>
          <p:spPr bwMode="auto">
            <a:xfrm>
              <a:off x="4838" y="2527"/>
              <a:ext cx="120" cy="603"/>
            </a:xfrm>
            <a:custGeom>
              <a:avLst/>
              <a:gdLst>
                <a:gd name="T0" fmla="*/ 96 w 120"/>
                <a:gd name="T1" fmla="*/ 0 h 603"/>
                <a:gd name="T2" fmla="*/ 90 w 120"/>
                <a:gd name="T3" fmla="*/ 161 h 603"/>
                <a:gd name="T4" fmla="*/ 72 w 120"/>
                <a:gd name="T5" fmla="*/ 317 h 603"/>
                <a:gd name="T6" fmla="*/ 42 w 120"/>
                <a:gd name="T7" fmla="*/ 460 h 603"/>
                <a:gd name="T8" fmla="*/ 0 w 120"/>
                <a:gd name="T9" fmla="*/ 597 h 603"/>
                <a:gd name="T10" fmla="*/ 24 w 120"/>
                <a:gd name="T11" fmla="*/ 603 h 603"/>
                <a:gd name="T12" fmla="*/ 66 w 120"/>
                <a:gd name="T13" fmla="*/ 466 h 603"/>
                <a:gd name="T14" fmla="*/ 96 w 120"/>
                <a:gd name="T15" fmla="*/ 323 h 603"/>
                <a:gd name="T16" fmla="*/ 114 w 120"/>
                <a:gd name="T17" fmla="*/ 161 h 603"/>
                <a:gd name="T18" fmla="*/ 120 w 120"/>
                <a:gd name="T19" fmla="*/ 0 h 603"/>
                <a:gd name="T20" fmla="*/ 96 w 120"/>
                <a:gd name="T21" fmla="*/ 0 h 603"/>
                <a:gd name="T22" fmla="*/ 120 w 120"/>
                <a:gd name="T23" fmla="*/ 0 h 603"/>
                <a:gd name="T24" fmla="*/ 120 w 120"/>
                <a:gd name="T25" fmla="*/ 0 h 603"/>
                <a:gd name="T26" fmla="*/ 108 w 120"/>
                <a:gd name="T27" fmla="*/ 0 h 603"/>
                <a:gd name="T28" fmla="*/ 120 w 120"/>
                <a:gd name="T29" fmla="*/ 0 h 6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0" h="603">
                  <a:moveTo>
                    <a:pt x="96" y="0"/>
                  </a:moveTo>
                  <a:lnTo>
                    <a:pt x="90" y="161"/>
                  </a:lnTo>
                  <a:lnTo>
                    <a:pt x="72" y="317"/>
                  </a:lnTo>
                  <a:lnTo>
                    <a:pt x="42" y="460"/>
                  </a:lnTo>
                  <a:lnTo>
                    <a:pt x="0" y="597"/>
                  </a:lnTo>
                  <a:lnTo>
                    <a:pt x="24" y="603"/>
                  </a:lnTo>
                  <a:lnTo>
                    <a:pt x="66" y="466"/>
                  </a:lnTo>
                  <a:lnTo>
                    <a:pt x="96" y="323"/>
                  </a:lnTo>
                  <a:lnTo>
                    <a:pt x="114" y="161"/>
                  </a:lnTo>
                  <a:lnTo>
                    <a:pt x="120" y="0"/>
                  </a:lnTo>
                  <a:lnTo>
                    <a:pt x="96" y="0"/>
                  </a:lnTo>
                  <a:close/>
                  <a:moveTo>
                    <a:pt x="120" y="0"/>
                  </a:moveTo>
                  <a:lnTo>
                    <a:pt x="120" y="0"/>
                  </a:lnTo>
                  <a:lnTo>
                    <a:pt x="108" y="0"/>
                  </a:lnTo>
                  <a:lnTo>
                    <a:pt x="120"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91"/>
            <p:cNvSpPr>
              <a:spLocks noEditPoints="1"/>
            </p:cNvSpPr>
            <p:nvPr/>
          </p:nvSpPr>
          <p:spPr bwMode="auto">
            <a:xfrm>
              <a:off x="4731" y="3124"/>
              <a:ext cx="131" cy="221"/>
            </a:xfrm>
            <a:custGeom>
              <a:avLst/>
              <a:gdLst>
                <a:gd name="T0" fmla="*/ 107 w 131"/>
                <a:gd name="T1" fmla="*/ 0 h 221"/>
                <a:gd name="T2" fmla="*/ 83 w 131"/>
                <a:gd name="T3" fmla="*/ 54 h 221"/>
                <a:gd name="T4" fmla="*/ 59 w 131"/>
                <a:gd name="T5" fmla="*/ 108 h 221"/>
                <a:gd name="T6" fmla="*/ 0 w 131"/>
                <a:gd name="T7" fmla="*/ 209 h 221"/>
                <a:gd name="T8" fmla="*/ 18 w 131"/>
                <a:gd name="T9" fmla="*/ 221 h 221"/>
                <a:gd name="T10" fmla="*/ 77 w 131"/>
                <a:gd name="T11" fmla="*/ 120 h 221"/>
                <a:gd name="T12" fmla="*/ 107 w 131"/>
                <a:gd name="T13" fmla="*/ 66 h 221"/>
                <a:gd name="T14" fmla="*/ 131 w 131"/>
                <a:gd name="T15" fmla="*/ 6 h 221"/>
                <a:gd name="T16" fmla="*/ 107 w 131"/>
                <a:gd name="T17" fmla="*/ 0 h 221"/>
                <a:gd name="T18" fmla="*/ 131 w 131"/>
                <a:gd name="T19" fmla="*/ 6 h 221"/>
                <a:gd name="T20" fmla="*/ 131 w 131"/>
                <a:gd name="T21" fmla="*/ 6 h 221"/>
                <a:gd name="T22" fmla="*/ 131 w 131"/>
                <a:gd name="T23" fmla="*/ 6 h 221"/>
                <a:gd name="T24" fmla="*/ 119 w 131"/>
                <a:gd name="T25" fmla="*/ 6 h 221"/>
                <a:gd name="T26" fmla="*/ 131 w 131"/>
                <a:gd name="T27" fmla="*/ 6 h 2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1" h="221">
                  <a:moveTo>
                    <a:pt x="107" y="0"/>
                  </a:moveTo>
                  <a:lnTo>
                    <a:pt x="83" y="54"/>
                  </a:lnTo>
                  <a:lnTo>
                    <a:pt x="59" y="108"/>
                  </a:lnTo>
                  <a:lnTo>
                    <a:pt x="0" y="209"/>
                  </a:lnTo>
                  <a:lnTo>
                    <a:pt x="18" y="221"/>
                  </a:lnTo>
                  <a:lnTo>
                    <a:pt x="77" y="120"/>
                  </a:lnTo>
                  <a:lnTo>
                    <a:pt x="107" y="66"/>
                  </a:lnTo>
                  <a:lnTo>
                    <a:pt x="131" y="6"/>
                  </a:lnTo>
                  <a:lnTo>
                    <a:pt x="107" y="0"/>
                  </a:lnTo>
                  <a:close/>
                  <a:moveTo>
                    <a:pt x="131" y="6"/>
                  </a:moveTo>
                  <a:lnTo>
                    <a:pt x="131" y="6"/>
                  </a:lnTo>
                  <a:lnTo>
                    <a:pt x="119" y="6"/>
                  </a:lnTo>
                  <a:lnTo>
                    <a:pt x="131" y="6"/>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92"/>
            <p:cNvSpPr>
              <a:spLocks noEditPoints="1"/>
            </p:cNvSpPr>
            <p:nvPr/>
          </p:nvSpPr>
          <p:spPr bwMode="auto">
            <a:xfrm>
              <a:off x="4557" y="3333"/>
              <a:ext cx="192" cy="251"/>
            </a:xfrm>
            <a:custGeom>
              <a:avLst/>
              <a:gdLst>
                <a:gd name="T0" fmla="*/ 174 w 192"/>
                <a:gd name="T1" fmla="*/ 0 h 251"/>
                <a:gd name="T2" fmla="*/ 96 w 192"/>
                <a:gd name="T3" fmla="*/ 126 h 251"/>
                <a:gd name="T4" fmla="*/ 54 w 192"/>
                <a:gd name="T5" fmla="*/ 185 h 251"/>
                <a:gd name="T6" fmla="*/ 0 w 192"/>
                <a:gd name="T7" fmla="*/ 233 h 251"/>
                <a:gd name="T8" fmla="*/ 18 w 192"/>
                <a:gd name="T9" fmla="*/ 251 h 251"/>
                <a:gd name="T10" fmla="*/ 72 w 192"/>
                <a:gd name="T11" fmla="*/ 197 h 251"/>
                <a:gd name="T12" fmla="*/ 114 w 192"/>
                <a:gd name="T13" fmla="*/ 138 h 251"/>
                <a:gd name="T14" fmla="*/ 192 w 192"/>
                <a:gd name="T15" fmla="*/ 12 h 251"/>
                <a:gd name="T16" fmla="*/ 174 w 192"/>
                <a:gd name="T17" fmla="*/ 0 h 251"/>
                <a:gd name="T18" fmla="*/ 192 w 192"/>
                <a:gd name="T19" fmla="*/ 12 h 251"/>
                <a:gd name="T20" fmla="*/ 192 w 192"/>
                <a:gd name="T21" fmla="*/ 12 h 251"/>
                <a:gd name="T22" fmla="*/ 192 w 192"/>
                <a:gd name="T23" fmla="*/ 12 h 251"/>
                <a:gd name="T24" fmla="*/ 180 w 192"/>
                <a:gd name="T25" fmla="*/ 6 h 251"/>
                <a:gd name="T26" fmla="*/ 192 w 192"/>
                <a:gd name="T27" fmla="*/ 12 h 2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2" h="251">
                  <a:moveTo>
                    <a:pt x="174" y="0"/>
                  </a:moveTo>
                  <a:lnTo>
                    <a:pt x="96" y="126"/>
                  </a:lnTo>
                  <a:lnTo>
                    <a:pt x="54" y="185"/>
                  </a:lnTo>
                  <a:lnTo>
                    <a:pt x="0" y="233"/>
                  </a:lnTo>
                  <a:lnTo>
                    <a:pt x="18" y="251"/>
                  </a:lnTo>
                  <a:lnTo>
                    <a:pt x="72" y="197"/>
                  </a:lnTo>
                  <a:lnTo>
                    <a:pt x="114" y="138"/>
                  </a:lnTo>
                  <a:lnTo>
                    <a:pt x="192" y="12"/>
                  </a:lnTo>
                  <a:lnTo>
                    <a:pt x="174" y="0"/>
                  </a:lnTo>
                  <a:close/>
                  <a:moveTo>
                    <a:pt x="192" y="12"/>
                  </a:moveTo>
                  <a:lnTo>
                    <a:pt x="192" y="12"/>
                  </a:lnTo>
                  <a:lnTo>
                    <a:pt x="180" y="6"/>
                  </a:lnTo>
                  <a:lnTo>
                    <a:pt x="192" y="12"/>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93"/>
            <p:cNvSpPr>
              <a:spLocks noEditPoints="1"/>
            </p:cNvSpPr>
            <p:nvPr/>
          </p:nvSpPr>
          <p:spPr bwMode="auto">
            <a:xfrm>
              <a:off x="4312" y="3566"/>
              <a:ext cx="263" cy="114"/>
            </a:xfrm>
            <a:custGeom>
              <a:avLst/>
              <a:gdLst>
                <a:gd name="T0" fmla="*/ 245 w 263"/>
                <a:gd name="T1" fmla="*/ 0 h 114"/>
                <a:gd name="T2" fmla="*/ 185 w 263"/>
                <a:gd name="T3" fmla="*/ 42 h 114"/>
                <a:gd name="T4" fmla="*/ 125 w 263"/>
                <a:gd name="T5" fmla="*/ 66 h 114"/>
                <a:gd name="T6" fmla="*/ 66 w 263"/>
                <a:gd name="T7" fmla="*/ 84 h 114"/>
                <a:gd name="T8" fmla="*/ 0 w 263"/>
                <a:gd name="T9" fmla="*/ 90 h 114"/>
                <a:gd name="T10" fmla="*/ 0 w 263"/>
                <a:gd name="T11" fmla="*/ 114 h 114"/>
                <a:gd name="T12" fmla="*/ 66 w 263"/>
                <a:gd name="T13" fmla="*/ 108 h 114"/>
                <a:gd name="T14" fmla="*/ 131 w 263"/>
                <a:gd name="T15" fmla="*/ 90 h 114"/>
                <a:gd name="T16" fmla="*/ 197 w 263"/>
                <a:gd name="T17" fmla="*/ 60 h 114"/>
                <a:gd name="T18" fmla="*/ 263 w 263"/>
                <a:gd name="T19" fmla="*/ 18 h 114"/>
                <a:gd name="T20" fmla="*/ 245 w 263"/>
                <a:gd name="T21" fmla="*/ 0 h 114"/>
                <a:gd name="T22" fmla="*/ 245 w 263"/>
                <a:gd name="T23" fmla="*/ 0 h 114"/>
                <a:gd name="T24" fmla="*/ 245 w 263"/>
                <a:gd name="T25" fmla="*/ 0 h 114"/>
                <a:gd name="T26" fmla="*/ 245 w 263"/>
                <a:gd name="T27" fmla="*/ 0 h 114"/>
                <a:gd name="T28" fmla="*/ 251 w 263"/>
                <a:gd name="T29" fmla="*/ 6 h 114"/>
                <a:gd name="T30" fmla="*/ 245 w 263"/>
                <a:gd name="T31" fmla="*/ 0 h 1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63" h="114">
                  <a:moveTo>
                    <a:pt x="245" y="0"/>
                  </a:moveTo>
                  <a:lnTo>
                    <a:pt x="185" y="42"/>
                  </a:lnTo>
                  <a:lnTo>
                    <a:pt x="125" y="66"/>
                  </a:lnTo>
                  <a:lnTo>
                    <a:pt x="66" y="84"/>
                  </a:lnTo>
                  <a:lnTo>
                    <a:pt x="0" y="90"/>
                  </a:lnTo>
                  <a:lnTo>
                    <a:pt x="0" y="114"/>
                  </a:lnTo>
                  <a:lnTo>
                    <a:pt x="66" y="108"/>
                  </a:lnTo>
                  <a:lnTo>
                    <a:pt x="131" y="90"/>
                  </a:lnTo>
                  <a:lnTo>
                    <a:pt x="197" y="60"/>
                  </a:lnTo>
                  <a:lnTo>
                    <a:pt x="263" y="18"/>
                  </a:lnTo>
                  <a:lnTo>
                    <a:pt x="245" y="0"/>
                  </a:lnTo>
                  <a:close/>
                  <a:moveTo>
                    <a:pt x="245" y="0"/>
                  </a:moveTo>
                  <a:lnTo>
                    <a:pt x="245" y="0"/>
                  </a:lnTo>
                  <a:lnTo>
                    <a:pt x="251" y="6"/>
                  </a:lnTo>
                  <a:lnTo>
                    <a:pt x="245"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94"/>
            <p:cNvSpPr>
              <a:spLocks/>
            </p:cNvSpPr>
            <p:nvPr/>
          </p:nvSpPr>
          <p:spPr bwMode="auto">
            <a:xfrm>
              <a:off x="4091" y="3942"/>
              <a:ext cx="406" cy="1"/>
            </a:xfrm>
            <a:custGeom>
              <a:avLst/>
              <a:gdLst>
                <a:gd name="T0" fmla="*/ 0 w 406"/>
                <a:gd name="T1" fmla="*/ 0 h 1"/>
                <a:gd name="T2" fmla="*/ 406 w 406"/>
                <a:gd name="T3" fmla="*/ 0 h 1"/>
                <a:gd name="T4" fmla="*/ 0 w 406"/>
                <a:gd name="T5" fmla="*/ 0 h 1"/>
                <a:gd name="T6" fmla="*/ 0 w 406"/>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06" h="1">
                  <a:moveTo>
                    <a:pt x="0" y="0"/>
                  </a:moveTo>
                  <a:lnTo>
                    <a:pt x="40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95"/>
            <p:cNvSpPr>
              <a:spLocks/>
            </p:cNvSpPr>
            <p:nvPr/>
          </p:nvSpPr>
          <p:spPr bwMode="auto">
            <a:xfrm>
              <a:off x="4115" y="3942"/>
              <a:ext cx="59" cy="66"/>
            </a:xfrm>
            <a:custGeom>
              <a:avLst/>
              <a:gdLst>
                <a:gd name="T0" fmla="*/ 0 w 59"/>
                <a:gd name="T1" fmla="*/ 66 h 66"/>
                <a:gd name="T2" fmla="*/ 59 w 59"/>
                <a:gd name="T3" fmla="*/ 0 h 66"/>
                <a:gd name="T4" fmla="*/ 0 w 59"/>
                <a:gd name="T5" fmla="*/ 66 h 66"/>
                <a:gd name="T6" fmla="*/ 0 w 59"/>
                <a:gd name="T7" fmla="*/ 66 h 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9" h="66">
                  <a:moveTo>
                    <a:pt x="0" y="66"/>
                  </a:moveTo>
                  <a:lnTo>
                    <a:pt x="59" y="0"/>
                  </a:lnTo>
                  <a:lnTo>
                    <a:pt x="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96"/>
            <p:cNvSpPr>
              <a:spLocks/>
            </p:cNvSpPr>
            <p:nvPr/>
          </p:nvSpPr>
          <p:spPr bwMode="auto">
            <a:xfrm>
              <a:off x="4085" y="3942"/>
              <a:ext cx="65" cy="66"/>
            </a:xfrm>
            <a:custGeom>
              <a:avLst/>
              <a:gdLst>
                <a:gd name="T0" fmla="*/ 0 w 65"/>
                <a:gd name="T1" fmla="*/ 66 h 66"/>
                <a:gd name="T2" fmla="*/ 65 w 65"/>
                <a:gd name="T3" fmla="*/ 0 h 66"/>
                <a:gd name="T4" fmla="*/ 0 w 65"/>
                <a:gd name="T5" fmla="*/ 66 h 66"/>
                <a:gd name="T6" fmla="*/ 0 w 65"/>
                <a:gd name="T7" fmla="*/ 66 h 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 h="66">
                  <a:moveTo>
                    <a:pt x="0" y="66"/>
                  </a:moveTo>
                  <a:lnTo>
                    <a:pt x="65" y="0"/>
                  </a:lnTo>
                  <a:lnTo>
                    <a:pt x="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97"/>
            <p:cNvSpPr>
              <a:spLocks/>
            </p:cNvSpPr>
            <p:nvPr/>
          </p:nvSpPr>
          <p:spPr bwMode="auto">
            <a:xfrm>
              <a:off x="4455" y="3960"/>
              <a:ext cx="42" cy="48"/>
            </a:xfrm>
            <a:custGeom>
              <a:avLst/>
              <a:gdLst>
                <a:gd name="T0" fmla="*/ 0 w 42"/>
                <a:gd name="T1" fmla="*/ 48 h 48"/>
                <a:gd name="T2" fmla="*/ 42 w 42"/>
                <a:gd name="T3" fmla="*/ 0 h 48"/>
                <a:gd name="T4" fmla="*/ 0 w 42"/>
                <a:gd name="T5" fmla="*/ 48 h 48"/>
                <a:gd name="T6" fmla="*/ 0 w 42"/>
                <a:gd name="T7" fmla="*/ 48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2" h="48">
                  <a:moveTo>
                    <a:pt x="0" y="48"/>
                  </a:moveTo>
                  <a:lnTo>
                    <a:pt x="42" y="0"/>
                  </a:lnTo>
                  <a:lnTo>
                    <a:pt x="0"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98"/>
            <p:cNvSpPr>
              <a:spLocks/>
            </p:cNvSpPr>
            <p:nvPr/>
          </p:nvSpPr>
          <p:spPr bwMode="auto">
            <a:xfrm>
              <a:off x="4402" y="3942"/>
              <a:ext cx="59" cy="66"/>
            </a:xfrm>
            <a:custGeom>
              <a:avLst/>
              <a:gdLst>
                <a:gd name="T0" fmla="*/ 0 w 59"/>
                <a:gd name="T1" fmla="*/ 66 h 66"/>
                <a:gd name="T2" fmla="*/ 59 w 59"/>
                <a:gd name="T3" fmla="*/ 0 h 66"/>
                <a:gd name="T4" fmla="*/ 0 w 59"/>
                <a:gd name="T5" fmla="*/ 66 h 66"/>
                <a:gd name="T6" fmla="*/ 0 w 59"/>
                <a:gd name="T7" fmla="*/ 66 h 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9" h="66">
                  <a:moveTo>
                    <a:pt x="0" y="66"/>
                  </a:moveTo>
                  <a:lnTo>
                    <a:pt x="59" y="0"/>
                  </a:lnTo>
                  <a:lnTo>
                    <a:pt x="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99"/>
            <p:cNvSpPr>
              <a:spLocks/>
            </p:cNvSpPr>
            <p:nvPr/>
          </p:nvSpPr>
          <p:spPr bwMode="auto">
            <a:xfrm>
              <a:off x="4138" y="3942"/>
              <a:ext cx="60" cy="66"/>
            </a:xfrm>
            <a:custGeom>
              <a:avLst/>
              <a:gdLst>
                <a:gd name="T0" fmla="*/ 0 w 60"/>
                <a:gd name="T1" fmla="*/ 66 h 66"/>
                <a:gd name="T2" fmla="*/ 60 w 60"/>
                <a:gd name="T3" fmla="*/ 0 h 66"/>
                <a:gd name="T4" fmla="*/ 0 w 60"/>
                <a:gd name="T5" fmla="*/ 66 h 66"/>
                <a:gd name="T6" fmla="*/ 0 w 60"/>
                <a:gd name="T7" fmla="*/ 66 h 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66">
                  <a:moveTo>
                    <a:pt x="0" y="66"/>
                  </a:moveTo>
                  <a:lnTo>
                    <a:pt x="60" y="0"/>
                  </a:lnTo>
                  <a:lnTo>
                    <a:pt x="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00"/>
            <p:cNvSpPr>
              <a:spLocks/>
            </p:cNvSpPr>
            <p:nvPr/>
          </p:nvSpPr>
          <p:spPr bwMode="auto">
            <a:xfrm>
              <a:off x="4479" y="3984"/>
              <a:ext cx="18" cy="24"/>
            </a:xfrm>
            <a:custGeom>
              <a:avLst/>
              <a:gdLst>
                <a:gd name="T0" fmla="*/ 0 w 18"/>
                <a:gd name="T1" fmla="*/ 24 h 24"/>
                <a:gd name="T2" fmla="*/ 18 w 18"/>
                <a:gd name="T3" fmla="*/ 0 h 24"/>
                <a:gd name="T4" fmla="*/ 0 w 18"/>
                <a:gd name="T5" fmla="*/ 24 h 24"/>
                <a:gd name="T6" fmla="*/ 0 w 18"/>
                <a:gd name="T7" fmla="*/ 24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 h="24">
                  <a:moveTo>
                    <a:pt x="0" y="24"/>
                  </a:moveTo>
                  <a:lnTo>
                    <a:pt x="18" y="0"/>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Freeform 101"/>
            <p:cNvSpPr>
              <a:spLocks/>
            </p:cNvSpPr>
            <p:nvPr/>
          </p:nvSpPr>
          <p:spPr bwMode="auto">
            <a:xfrm>
              <a:off x="4378" y="3942"/>
              <a:ext cx="59" cy="66"/>
            </a:xfrm>
            <a:custGeom>
              <a:avLst/>
              <a:gdLst>
                <a:gd name="T0" fmla="*/ 0 w 59"/>
                <a:gd name="T1" fmla="*/ 66 h 66"/>
                <a:gd name="T2" fmla="*/ 59 w 59"/>
                <a:gd name="T3" fmla="*/ 0 h 66"/>
                <a:gd name="T4" fmla="*/ 0 w 59"/>
                <a:gd name="T5" fmla="*/ 66 h 66"/>
                <a:gd name="T6" fmla="*/ 0 w 59"/>
                <a:gd name="T7" fmla="*/ 66 h 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9" h="66">
                  <a:moveTo>
                    <a:pt x="0" y="66"/>
                  </a:moveTo>
                  <a:lnTo>
                    <a:pt x="59" y="0"/>
                  </a:lnTo>
                  <a:lnTo>
                    <a:pt x="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02"/>
            <p:cNvSpPr>
              <a:spLocks/>
            </p:cNvSpPr>
            <p:nvPr/>
          </p:nvSpPr>
          <p:spPr bwMode="auto">
            <a:xfrm>
              <a:off x="4426" y="3942"/>
              <a:ext cx="65" cy="66"/>
            </a:xfrm>
            <a:custGeom>
              <a:avLst/>
              <a:gdLst>
                <a:gd name="T0" fmla="*/ 0 w 65"/>
                <a:gd name="T1" fmla="*/ 66 h 66"/>
                <a:gd name="T2" fmla="*/ 65 w 65"/>
                <a:gd name="T3" fmla="*/ 0 h 66"/>
                <a:gd name="T4" fmla="*/ 0 w 65"/>
                <a:gd name="T5" fmla="*/ 66 h 66"/>
                <a:gd name="T6" fmla="*/ 0 w 65"/>
                <a:gd name="T7" fmla="*/ 66 h 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 h="66">
                  <a:moveTo>
                    <a:pt x="0" y="66"/>
                  </a:moveTo>
                  <a:lnTo>
                    <a:pt x="65" y="0"/>
                  </a:lnTo>
                  <a:lnTo>
                    <a:pt x="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03"/>
            <p:cNvSpPr>
              <a:spLocks/>
            </p:cNvSpPr>
            <p:nvPr/>
          </p:nvSpPr>
          <p:spPr bwMode="auto">
            <a:xfrm>
              <a:off x="4527" y="3948"/>
              <a:ext cx="30" cy="30"/>
            </a:xfrm>
            <a:custGeom>
              <a:avLst/>
              <a:gdLst>
                <a:gd name="T0" fmla="*/ 0 w 30"/>
                <a:gd name="T1" fmla="*/ 30 h 30"/>
                <a:gd name="T2" fmla="*/ 30 w 30"/>
                <a:gd name="T3" fmla="*/ 0 h 30"/>
                <a:gd name="T4" fmla="*/ 0 w 30"/>
                <a:gd name="T5" fmla="*/ 30 h 30"/>
                <a:gd name="T6" fmla="*/ 0 w 30"/>
                <a:gd name="T7" fmla="*/ 3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 h="30">
                  <a:moveTo>
                    <a:pt x="0" y="30"/>
                  </a:moveTo>
                  <a:lnTo>
                    <a:pt x="30" y="0"/>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05" name="Picture 10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4" y="825"/>
              <a:ext cx="60" cy="3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 name="Picture 10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4" y="825"/>
              <a:ext cx="60" cy="3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 name="Freeform 106"/>
            <p:cNvSpPr>
              <a:spLocks/>
            </p:cNvSpPr>
            <p:nvPr/>
          </p:nvSpPr>
          <p:spPr bwMode="auto">
            <a:xfrm>
              <a:off x="4270" y="3912"/>
              <a:ext cx="24" cy="24"/>
            </a:xfrm>
            <a:custGeom>
              <a:avLst/>
              <a:gdLst>
                <a:gd name="T0" fmla="*/ 24 w 24"/>
                <a:gd name="T1" fmla="*/ 24 h 24"/>
                <a:gd name="T2" fmla="*/ 6 w 24"/>
                <a:gd name="T3" fmla="*/ 18 h 24"/>
                <a:gd name="T4" fmla="*/ 0 w 24"/>
                <a:gd name="T5" fmla="*/ 0 h 24"/>
                <a:gd name="T6" fmla="*/ 0 w 24"/>
                <a:gd name="T7" fmla="*/ 0 h 24"/>
                <a:gd name="T8" fmla="*/ 6 w 24"/>
                <a:gd name="T9" fmla="*/ 18 h 24"/>
                <a:gd name="T10" fmla="*/ 24 w 24"/>
                <a:gd name="T11" fmla="*/ 24 h 24"/>
                <a:gd name="T12" fmla="*/ 24 w 24"/>
                <a:gd name="T13" fmla="*/ 24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 h="24">
                  <a:moveTo>
                    <a:pt x="24" y="24"/>
                  </a:moveTo>
                  <a:lnTo>
                    <a:pt x="6" y="18"/>
                  </a:lnTo>
                  <a:lnTo>
                    <a:pt x="0" y="0"/>
                  </a:lnTo>
                  <a:lnTo>
                    <a:pt x="6" y="18"/>
                  </a:lnTo>
                  <a:lnTo>
                    <a:pt x="24"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07"/>
            <p:cNvSpPr>
              <a:spLocks noEditPoints="1"/>
            </p:cNvSpPr>
            <p:nvPr/>
          </p:nvSpPr>
          <p:spPr bwMode="auto">
            <a:xfrm>
              <a:off x="4270" y="855"/>
              <a:ext cx="1" cy="3057"/>
            </a:xfrm>
            <a:custGeom>
              <a:avLst/>
              <a:gdLst>
                <a:gd name="T0" fmla="*/ 0 w 1"/>
                <a:gd name="T1" fmla="*/ 3057 h 3057"/>
                <a:gd name="T2" fmla="*/ 0 w 1"/>
                <a:gd name="T3" fmla="*/ 0 h 3057"/>
                <a:gd name="T4" fmla="*/ 0 w 1"/>
                <a:gd name="T5" fmla="*/ 3057 h 3057"/>
                <a:gd name="T6" fmla="*/ 0 w 1"/>
                <a:gd name="T7" fmla="*/ 3057 h 3057"/>
                <a:gd name="T8" fmla="*/ 0 w 1"/>
                <a:gd name="T9" fmla="*/ 3057 h 3057"/>
                <a:gd name="T10" fmla="*/ 0 w 1"/>
                <a:gd name="T11" fmla="*/ 3057 h 3057"/>
                <a:gd name="T12" fmla="*/ 0 w 1"/>
                <a:gd name="T13" fmla="*/ 3057 h 30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3057">
                  <a:moveTo>
                    <a:pt x="0" y="3057"/>
                  </a:moveTo>
                  <a:lnTo>
                    <a:pt x="0" y="0"/>
                  </a:lnTo>
                  <a:lnTo>
                    <a:pt x="0" y="3057"/>
                  </a:lnTo>
                  <a:close/>
                  <a:moveTo>
                    <a:pt x="0" y="3057"/>
                  </a:moveTo>
                  <a:lnTo>
                    <a:pt x="0" y="30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08"/>
            <p:cNvSpPr>
              <a:spLocks noEditPoints="1"/>
            </p:cNvSpPr>
            <p:nvPr/>
          </p:nvSpPr>
          <p:spPr bwMode="auto">
            <a:xfrm>
              <a:off x="4270" y="831"/>
              <a:ext cx="24" cy="24"/>
            </a:xfrm>
            <a:custGeom>
              <a:avLst/>
              <a:gdLst>
                <a:gd name="T0" fmla="*/ 0 w 24"/>
                <a:gd name="T1" fmla="*/ 24 h 24"/>
                <a:gd name="T2" fmla="*/ 6 w 24"/>
                <a:gd name="T3" fmla="*/ 6 h 24"/>
                <a:gd name="T4" fmla="*/ 24 w 24"/>
                <a:gd name="T5" fmla="*/ 0 h 24"/>
                <a:gd name="T6" fmla="*/ 24 w 24"/>
                <a:gd name="T7" fmla="*/ 0 h 24"/>
                <a:gd name="T8" fmla="*/ 6 w 24"/>
                <a:gd name="T9" fmla="*/ 6 h 24"/>
                <a:gd name="T10" fmla="*/ 0 w 24"/>
                <a:gd name="T11" fmla="*/ 24 h 24"/>
                <a:gd name="T12" fmla="*/ 0 w 24"/>
                <a:gd name="T13" fmla="*/ 24 h 24"/>
                <a:gd name="T14" fmla="*/ 0 w 24"/>
                <a:gd name="T15" fmla="*/ 24 h 24"/>
                <a:gd name="T16" fmla="*/ 0 w 24"/>
                <a:gd name="T17" fmla="*/ 24 h 24"/>
                <a:gd name="T18" fmla="*/ 0 w 24"/>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24">
                  <a:moveTo>
                    <a:pt x="0" y="24"/>
                  </a:moveTo>
                  <a:lnTo>
                    <a:pt x="6" y="6"/>
                  </a:lnTo>
                  <a:lnTo>
                    <a:pt x="24" y="0"/>
                  </a:lnTo>
                  <a:lnTo>
                    <a:pt x="6" y="6"/>
                  </a:lnTo>
                  <a:lnTo>
                    <a:pt x="0" y="24"/>
                  </a:lnTo>
                  <a:close/>
                  <a:moveTo>
                    <a:pt x="0" y="24"/>
                  </a:move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09"/>
            <p:cNvSpPr>
              <a:spLocks noEditPoints="1"/>
            </p:cNvSpPr>
            <p:nvPr/>
          </p:nvSpPr>
          <p:spPr bwMode="auto">
            <a:xfrm>
              <a:off x="4294" y="831"/>
              <a:ext cx="24" cy="24"/>
            </a:xfrm>
            <a:custGeom>
              <a:avLst/>
              <a:gdLst>
                <a:gd name="T0" fmla="*/ 0 w 24"/>
                <a:gd name="T1" fmla="*/ 0 h 24"/>
                <a:gd name="T2" fmla="*/ 18 w 24"/>
                <a:gd name="T3" fmla="*/ 6 h 24"/>
                <a:gd name="T4" fmla="*/ 24 w 24"/>
                <a:gd name="T5" fmla="*/ 24 h 24"/>
                <a:gd name="T6" fmla="*/ 24 w 24"/>
                <a:gd name="T7" fmla="*/ 24 h 24"/>
                <a:gd name="T8" fmla="*/ 18 w 24"/>
                <a:gd name="T9" fmla="*/ 6 h 24"/>
                <a:gd name="T10" fmla="*/ 0 w 24"/>
                <a:gd name="T11" fmla="*/ 0 h 24"/>
                <a:gd name="T12" fmla="*/ 0 w 24"/>
                <a:gd name="T13" fmla="*/ 0 h 24"/>
                <a:gd name="T14" fmla="*/ 0 w 24"/>
                <a:gd name="T15" fmla="*/ 0 h 24"/>
                <a:gd name="T16" fmla="*/ 0 w 24"/>
                <a:gd name="T17" fmla="*/ 0 h 24"/>
                <a:gd name="T18" fmla="*/ 0 w 24"/>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24">
                  <a:moveTo>
                    <a:pt x="0" y="0"/>
                  </a:moveTo>
                  <a:lnTo>
                    <a:pt x="18" y="6"/>
                  </a:lnTo>
                  <a:lnTo>
                    <a:pt x="24" y="24"/>
                  </a:lnTo>
                  <a:lnTo>
                    <a:pt x="18" y="6"/>
                  </a:lnTo>
                  <a:lnTo>
                    <a:pt x="0" y="0"/>
                  </a:lnTo>
                  <a:close/>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10"/>
            <p:cNvSpPr>
              <a:spLocks noEditPoints="1"/>
            </p:cNvSpPr>
            <p:nvPr/>
          </p:nvSpPr>
          <p:spPr bwMode="auto">
            <a:xfrm>
              <a:off x="4318" y="855"/>
              <a:ext cx="1" cy="3057"/>
            </a:xfrm>
            <a:custGeom>
              <a:avLst/>
              <a:gdLst>
                <a:gd name="T0" fmla="*/ 0 w 1"/>
                <a:gd name="T1" fmla="*/ 0 h 3057"/>
                <a:gd name="T2" fmla="*/ 0 w 1"/>
                <a:gd name="T3" fmla="*/ 3057 h 3057"/>
                <a:gd name="T4" fmla="*/ 0 w 1"/>
                <a:gd name="T5" fmla="*/ 0 h 3057"/>
                <a:gd name="T6" fmla="*/ 0 w 1"/>
                <a:gd name="T7" fmla="*/ 0 h 3057"/>
                <a:gd name="T8" fmla="*/ 0 w 1"/>
                <a:gd name="T9" fmla="*/ 0 h 3057"/>
                <a:gd name="T10" fmla="*/ 0 w 1"/>
                <a:gd name="T11" fmla="*/ 0 h 3057"/>
                <a:gd name="T12" fmla="*/ 0 w 1"/>
                <a:gd name="T13" fmla="*/ 0 h 30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3057">
                  <a:moveTo>
                    <a:pt x="0" y="0"/>
                  </a:moveTo>
                  <a:lnTo>
                    <a:pt x="0" y="3057"/>
                  </a:lnTo>
                  <a:lnTo>
                    <a:pt x="0" y="0"/>
                  </a:lnTo>
                  <a:close/>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11"/>
            <p:cNvSpPr>
              <a:spLocks noEditPoints="1"/>
            </p:cNvSpPr>
            <p:nvPr/>
          </p:nvSpPr>
          <p:spPr bwMode="auto">
            <a:xfrm>
              <a:off x="4294" y="3912"/>
              <a:ext cx="24" cy="24"/>
            </a:xfrm>
            <a:custGeom>
              <a:avLst/>
              <a:gdLst>
                <a:gd name="T0" fmla="*/ 24 w 24"/>
                <a:gd name="T1" fmla="*/ 0 h 24"/>
                <a:gd name="T2" fmla="*/ 18 w 24"/>
                <a:gd name="T3" fmla="*/ 18 h 24"/>
                <a:gd name="T4" fmla="*/ 0 w 24"/>
                <a:gd name="T5" fmla="*/ 24 h 24"/>
                <a:gd name="T6" fmla="*/ 0 w 24"/>
                <a:gd name="T7" fmla="*/ 24 h 24"/>
                <a:gd name="T8" fmla="*/ 18 w 24"/>
                <a:gd name="T9" fmla="*/ 18 h 24"/>
                <a:gd name="T10" fmla="*/ 24 w 24"/>
                <a:gd name="T11" fmla="*/ 0 h 24"/>
                <a:gd name="T12" fmla="*/ 24 w 24"/>
                <a:gd name="T13" fmla="*/ 0 h 24"/>
                <a:gd name="T14" fmla="*/ 24 w 24"/>
                <a:gd name="T15" fmla="*/ 0 h 24"/>
                <a:gd name="T16" fmla="*/ 24 w 24"/>
                <a:gd name="T17" fmla="*/ 0 h 24"/>
                <a:gd name="T18" fmla="*/ 24 w 24"/>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24">
                  <a:moveTo>
                    <a:pt x="24" y="0"/>
                  </a:moveTo>
                  <a:lnTo>
                    <a:pt x="18" y="18"/>
                  </a:lnTo>
                  <a:lnTo>
                    <a:pt x="0" y="24"/>
                  </a:lnTo>
                  <a:lnTo>
                    <a:pt x="18" y="18"/>
                  </a:lnTo>
                  <a:lnTo>
                    <a:pt x="24" y="0"/>
                  </a:lnTo>
                  <a:close/>
                  <a:moveTo>
                    <a:pt x="24" y="0"/>
                  </a:move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12"/>
            <p:cNvSpPr>
              <a:spLocks/>
            </p:cNvSpPr>
            <p:nvPr/>
          </p:nvSpPr>
          <p:spPr bwMode="auto">
            <a:xfrm>
              <a:off x="4294" y="3936"/>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13"/>
            <p:cNvSpPr>
              <a:spLocks/>
            </p:cNvSpPr>
            <p:nvPr/>
          </p:nvSpPr>
          <p:spPr bwMode="auto">
            <a:xfrm>
              <a:off x="4348" y="3805"/>
              <a:ext cx="30" cy="131"/>
            </a:xfrm>
            <a:custGeom>
              <a:avLst/>
              <a:gdLst>
                <a:gd name="T0" fmla="*/ 0 w 30"/>
                <a:gd name="T1" fmla="*/ 131 h 131"/>
                <a:gd name="T2" fmla="*/ 0 w 30"/>
                <a:gd name="T3" fmla="*/ 0 h 131"/>
                <a:gd name="T4" fmla="*/ 30 w 30"/>
                <a:gd name="T5" fmla="*/ 0 h 131"/>
                <a:gd name="T6" fmla="*/ 30 w 30"/>
                <a:gd name="T7" fmla="*/ 131 h 131"/>
                <a:gd name="T8" fmla="*/ 0 w 30"/>
                <a:gd name="T9" fmla="*/ 131 h 131"/>
                <a:gd name="T10" fmla="*/ 0 w 30"/>
                <a:gd name="T11" fmla="*/ 131 h 1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 h="131">
                  <a:moveTo>
                    <a:pt x="0" y="131"/>
                  </a:moveTo>
                  <a:lnTo>
                    <a:pt x="0" y="0"/>
                  </a:lnTo>
                  <a:lnTo>
                    <a:pt x="30" y="0"/>
                  </a:lnTo>
                  <a:lnTo>
                    <a:pt x="30" y="131"/>
                  </a:lnTo>
                  <a:lnTo>
                    <a:pt x="0" y="1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14"/>
            <p:cNvSpPr>
              <a:spLocks noChangeArrowheads="1"/>
            </p:cNvSpPr>
            <p:nvPr/>
          </p:nvSpPr>
          <p:spPr bwMode="auto">
            <a:xfrm>
              <a:off x="4336" y="3805"/>
              <a:ext cx="24" cy="131"/>
            </a:xfrm>
            <a:prstGeom prst="rect">
              <a:avLst/>
            </a:prstGeom>
            <a:solidFill>
              <a:srgbClr val="FFE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15"/>
            <p:cNvSpPr>
              <a:spLocks noEditPoints="1"/>
            </p:cNvSpPr>
            <p:nvPr/>
          </p:nvSpPr>
          <p:spPr bwMode="auto">
            <a:xfrm>
              <a:off x="4336" y="3793"/>
              <a:ext cx="42" cy="24"/>
            </a:xfrm>
            <a:custGeom>
              <a:avLst/>
              <a:gdLst>
                <a:gd name="T0" fmla="*/ 12 w 42"/>
                <a:gd name="T1" fmla="*/ 24 h 24"/>
                <a:gd name="T2" fmla="*/ 42 w 42"/>
                <a:gd name="T3" fmla="*/ 24 h 24"/>
                <a:gd name="T4" fmla="*/ 42 w 42"/>
                <a:gd name="T5" fmla="*/ 0 h 24"/>
                <a:gd name="T6" fmla="*/ 12 w 42"/>
                <a:gd name="T7" fmla="*/ 0 h 24"/>
                <a:gd name="T8" fmla="*/ 12 w 42"/>
                <a:gd name="T9" fmla="*/ 24 h 24"/>
                <a:gd name="T10" fmla="*/ 12 w 42"/>
                <a:gd name="T11" fmla="*/ 0 h 24"/>
                <a:gd name="T12" fmla="*/ 0 w 42"/>
                <a:gd name="T13" fmla="*/ 0 h 24"/>
                <a:gd name="T14" fmla="*/ 0 w 42"/>
                <a:gd name="T15" fmla="*/ 12 h 24"/>
                <a:gd name="T16" fmla="*/ 12 w 42"/>
                <a:gd name="T17" fmla="*/ 12 h 24"/>
                <a:gd name="T18" fmla="*/ 12 w 42"/>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24">
                  <a:moveTo>
                    <a:pt x="12" y="24"/>
                  </a:moveTo>
                  <a:lnTo>
                    <a:pt x="42" y="24"/>
                  </a:lnTo>
                  <a:lnTo>
                    <a:pt x="42" y="0"/>
                  </a:lnTo>
                  <a:lnTo>
                    <a:pt x="12" y="0"/>
                  </a:lnTo>
                  <a:lnTo>
                    <a:pt x="12" y="24"/>
                  </a:lnTo>
                  <a:close/>
                  <a:moveTo>
                    <a:pt x="12" y="0"/>
                  </a:moveTo>
                  <a:lnTo>
                    <a:pt x="0" y="0"/>
                  </a:lnTo>
                  <a:lnTo>
                    <a:pt x="0" y="12"/>
                  </a:lnTo>
                  <a:lnTo>
                    <a:pt x="12" y="12"/>
                  </a:lnTo>
                  <a:lnTo>
                    <a:pt x="12"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16"/>
            <p:cNvSpPr>
              <a:spLocks noEditPoints="1"/>
            </p:cNvSpPr>
            <p:nvPr/>
          </p:nvSpPr>
          <p:spPr bwMode="auto">
            <a:xfrm>
              <a:off x="4366" y="3793"/>
              <a:ext cx="24" cy="143"/>
            </a:xfrm>
            <a:custGeom>
              <a:avLst/>
              <a:gdLst>
                <a:gd name="T0" fmla="*/ 0 w 24"/>
                <a:gd name="T1" fmla="*/ 12 h 143"/>
                <a:gd name="T2" fmla="*/ 0 w 24"/>
                <a:gd name="T3" fmla="*/ 143 h 143"/>
                <a:gd name="T4" fmla="*/ 24 w 24"/>
                <a:gd name="T5" fmla="*/ 143 h 143"/>
                <a:gd name="T6" fmla="*/ 24 w 24"/>
                <a:gd name="T7" fmla="*/ 12 h 143"/>
                <a:gd name="T8" fmla="*/ 0 w 24"/>
                <a:gd name="T9" fmla="*/ 12 h 143"/>
                <a:gd name="T10" fmla="*/ 24 w 24"/>
                <a:gd name="T11" fmla="*/ 12 h 143"/>
                <a:gd name="T12" fmla="*/ 24 w 24"/>
                <a:gd name="T13" fmla="*/ 0 h 143"/>
                <a:gd name="T14" fmla="*/ 12 w 24"/>
                <a:gd name="T15" fmla="*/ 0 h 143"/>
                <a:gd name="T16" fmla="*/ 12 w 24"/>
                <a:gd name="T17" fmla="*/ 12 h 143"/>
                <a:gd name="T18" fmla="*/ 24 w 24"/>
                <a:gd name="T19" fmla="*/ 12 h 1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43">
                  <a:moveTo>
                    <a:pt x="0" y="12"/>
                  </a:moveTo>
                  <a:lnTo>
                    <a:pt x="0" y="143"/>
                  </a:lnTo>
                  <a:lnTo>
                    <a:pt x="24" y="143"/>
                  </a:lnTo>
                  <a:lnTo>
                    <a:pt x="24" y="12"/>
                  </a:lnTo>
                  <a:lnTo>
                    <a:pt x="0" y="12"/>
                  </a:lnTo>
                  <a:close/>
                  <a:moveTo>
                    <a:pt x="24" y="12"/>
                  </a:moveTo>
                  <a:lnTo>
                    <a:pt x="24" y="0"/>
                  </a:lnTo>
                  <a:lnTo>
                    <a:pt x="12" y="0"/>
                  </a:lnTo>
                  <a:lnTo>
                    <a:pt x="12" y="12"/>
                  </a:lnTo>
                  <a:lnTo>
                    <a:pt x="24" y="12"/>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17"/>
            <p:cNvSpPr>
              <a:spLocks noEditPoints="1"/>
            </p:cNvSpPr>
            <p:nvPr/>
          </p:nvSpPr>
          <p:spPr bwMode="auto">
            <a:xfrm>
              <a:off x="4348" y="3924"/>
              <a:ext cx="42" cy="24"/>
            </a:xfrm>
            <a:custGeom>
              <a:avLst/>
              <a:gdLst>
                <a:gd name="T0" fmla="*/ 30 w 42"/>
                <a:gd name="T1" fmla="*/ 0 h 24"/>
                <a:gd name="T2" fmla="*/ 0 w 42"/>
                <a:gd name="T3" fmla="*/ 0 h 24"/>
                <a:gd name="T4" fmla="*/ 0 w 42"/>
                <a:gd name="T5" fmla="*/ 24 h 24"/>
                <a:gd name="T6" fmla="*/ 30 w 42"/>
                <a:gd name="T7" fmla="*/ 24 h 24"/>
                <a:gd name="T8" fmla="*/ 30 w 42"/>
                <a:gd name="T9" fmla="*/ 0 h 24"/>
                <a:gd name="T10" fmla="*/ 30 w 42"/>
                <a:gd name="T11" fmla="*/ 24 h 24"/>
                <a:gd name="T12" fmla="*/ 42 w 42"/>
                <a:gd name="T13" fmla="*/ 24 h 24"/>
                <a:gd name="T14" fmla="*/ 42 w 42"/>
                <a:gd name="T15" fmla="*/ 12 h 24"/>
                <a:gd name="T16" fmla="*/ 30 w 42"/>
                <a:gd name="T17" fmla="*/ 12 h 24"/>
                <a:gd name="T18" fmla="*/ 30 w 42"/>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24">
                  <a:moveTo>
                    <a:pt x="30" y="0"/>
                  </a:moveTo>
                  <a:lnTo>
                    <a:pt x="0" y="0"/>
                  </a:lnTo>
                  <a:lnTo>
                    <a:pt x="0" y="24"/>
                  </a:lnTo>
                  <a:lnTo>
                    <a:pt x="30" y="24"/>
                  </a:lnTo>
                  <a:lnTo>
                    <a:pt x="30" y="0"/>
                  </a:lnTo>
                  <a:close/>
                  <a:moveTo>
                    <a:pt x="30" y="24"/>
                  </a:moveTo>
                  <a:lnTo>
                    <a:pt x="42" y="24"/>
                  </a:lnTo>
                  <a:lnTo>
                    <a:pt x="42" y="12"/>
                  </a:lnTo>
                  <a:lnTo>
                    <a:pt x="30" y="12"/>
                  </a:lnTo>
                  <a:lnTo>
                    <a:pt x="30"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Rectangle 118"/>
            <p:cNvSpPr>
              <a:spLocks noChangeArrowheads="1"/>
            </p:cNvSpPr>
            <p:nvPr/>
          </p:nvSpPr>
          <p:spPr bwMode="auto">
            <a:xfrm>
              <a:off x="4336" y="3936"/>
              <a:ext cx="12" cy="12"/>
            </a:xfrm>
            <a:prstGeom prst="rect">
              <a:avLst/>
            </a:prstGeom>
            <a:solidFill>
              <a:srgbClr val="FFE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 name="Freeform 119"/>
            <p:cNvSpPr>
              <a:spLocks/>
            </p:cNvSpPr>
            <p:nvPr/>
          </p:nvSpPr>
          <p:spPr bwMode="auto">
            <a:xfrm>
              <a:off x="4216" y="3805"/>
              <a:ext cx="24" cy="131"/>
            </a:xfrm>
            <a:custGeom>
              <a:avLst/>
              <a:gdLst>
                <a:gd name="T0" fmla="*/ 0 w 24"/>
                <a:gd name="T1" fmla="*/ 131 h 131"/>
                <a:gd name="T2" fmla="*/ 0 w 24"/>
                <a:gd name="T3" fmla="*/ 0 h 131"/>
                <a:gd name="T4" fmla="*/ 24 w 24"/>
                <a:gd name="T5" fmla="*/ 0 h 131"/>
                <a:gd name="T6" fmla="*/ 24 w 24"/>
                <a:gd name="T7" fmla="*/ 131 h 131"/>
                <a:gd name="T8" fmla="*/ 0 w 24"/>
                <a:gd name="T9" fmla="*/ 131 h 131"/>
                <a:gd name="T10" fmla="*/ 0 w 24"/>
                <a:gd name="T11" fmla="*/ 131 h 1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 h="131">
                  <a:moveTo>
                    <a:pt x="0" y="131"/>
                  </a:moveTo>
                  <a:lnTo>
                    <a:pt x="0" y="0"/>
                  </a:lnTo>
                  <a:lnTo>
                    <a:pt x="24" y="0"/>
                  </a:lnTo>
                  <a:lnTo>
                    <a:pt x="24" y="131"/>
                  </a:lnTo>
                  <a:lnTo>
                    <a:pt x="0" y="1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Rectangle 120"/>
            <p:cNvSpPr>
              <a:spLocks noChangeArrowheads="1"/>
            </p:cNvSpPr>
            <p:nvPr/>
          </p:nvSpPr>
          <p:spPr bwMode="auto">
            <a:xfrm>
              <a:off x="4204" y="3805"/>
              <a:ext cx="24" cy="131"/>
            </a:xfrm>
            <a:prstGeom prst="rect">
              <a:avLst/>
            </a:prstGeom>
            <a:solidFill>
              <a:srgbClr val="FFE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 name="Freeform 121"/>
            <p:cNvSpPr>
              <a:spLocks noEditPoints="1"/>
            </p:cNvSpPr>
            <p:nvPr/>
          </p:nvSpPr>
          <p:spPr bwMode="auto">
            <a:xfrm>
              <a:off x="4204" y="3793"/>
              <a:ext cx="36" cy="24"/>
            </a:xfrm>
            <a:custGeom>
              <a:avLst/>
              <a:gdLst>
                <a:gd name="T0" fmla="*/ 12 w 36"/>
                <a:gd name="T1" fmla="*/ 24 h 24"/>
                <a:gd name="T2" fmla="*/ 36 w 36"/>
                <a:gd name="T3" fmla="*/ 24 h 24"/>
                <a:gd name="T4" fmla="*/ 36 w 36"/>
                <a:gd name="T5" fmla="*/ 0 h 24"/>
                <a:gd name="T6" fmla="*/ 12 w 36"/>
                <a:gd name="T7" fmla="*/ 0 h 24"/>
                <a:gd name="T8" fmla="*/ 12 w 36"/>
                <a:gd name="T9" fmla="*/ 24 h 24"/>
                <a:gd name="T10" fmla="*/ 12 w 36"/>
                <a:gd name="T11" fmla="*/ 0 h 24"/>
                <a:gd name="T12" fmla="*/ 0 w 36"/>
                <a:gd name="T13" fmla="*/ 0 h 24"/>
                <a:gd name="T14" fmla="*/ 0 w 36"/>
                <a:gd name="T15" fmla="*/ 12 h 24"/>
                <a:gd name="T16" fmla="*/ 12 w 36"/>
                <a:gd name="T17" fmla="*/ 12 h 24"/>
                <a:gd name="T18" fmla="*/ 12 w 36"/>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6" h="24">
                  <a:moveTo>
                    <a:pt x="12" y="24"/>
                  </a:moveTo>
                  <a:lnTo>
                    <a:pt x="36" y="24"/>
                  </a:lnTo>
                  <a:lnTo>
                    <a:pt x="36" y="0"/>
                  </a:lnTo>
                  <a:lnTo>
                    <a:pt x="12" y="0"/>
                  </a:lnTo>
                  <a:lnTo>
                    <a:pt x="12" y="24"/>
                  </a:lnTo>
                  <a:close/>
                  <a:moveTo>
                    <a:pt x="12" y="0"/>
                  </a:moveTo>
                  <a:lnTo>
                    <a:pt x="0" y="0"/>
                  </a:lnTo>
                  <a:lnTo>
                    <a:pt x="0" y="12"/>
                  </a:lnTo>
                  <a:lnTo>
                    <a:pt x="12" y="12"/>
                  </a:lnTo>
                  <a:lnTo>
                    <a:pt x="12"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 name="Freeform 122"/>
            <p:cNvSpPr>
              <a:spLocks noEditPoints="1"/>
            </p:cNvSpPr>
            <p:nvPr/>
          </p:nvSpPr>
          <p:spPr bwMode="auto">
            <a:xfrm>
              <a:off x="4228" y="3793"/>
              <a:ext cx="24" cy="143"/>
            </a:xfrm>
            <a:custGeom>
              <a:avLst/>
              <a:gdLst>
                <a:gd name="T0" fmla="*/ 0 w 24"/>
                <a:gd name="T1" fmla="*/ 12 h 143"/>
                <a:gd name="T2" fmla="*/ 0 w 24"/>
                <a:gd name="T3" fmla="*/ 143 h 143"/>
                <a:gd name="T4" fmla="*/ 24 w 24"/>
                <a:gd name="T5" fmla="*/ 143 h 143"/>
                <a:gd name="T6" fmla="*/ 24 w 24"/>
                <a:gd name="T7" fmla="*/ 12 h 143"/>
                <a:gd name="T8" fmla="*/ 0 w 24"/>
                <a:gd name="T9" fmla="*/ 12 h 143"/>
                <a:gd name="T10" fmla="*/ 24 w 24"/>
                <a:gd name="T11" fmla="*/ 12 h 143"/>
                <a:gd name="T12" fmla="*/ 24 w 24"/>
                <a:gd name="T13" fmla="*/ 0 h 143"/>
                <a:gd name="T14" fmla="*/ 12 w 24"/>
                <a:gd name="T15" fmla="*/ 0 h 143"/>
                <a:gd name="T16" fmla="*/ 12 w 24"/>
                <a:gd name="T17" fmla="*/ 12 h 143"/>
                <a:gd name="T18" fmla="*/ 24 w 24"/>
                <a:gd name="T19" fmla="*/ 12 h 1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43">
                  <a:moveTo>
                    <a:pt x="0" y="12"/>
                  </a:moveTo>
                  <a:lnTo>
                    <a:pt x="0" y="143"/>
                  </a:lnTo>
                  <a:lnTo>
                    <a:pt x="24" y="143"/>
                  </a:lnTo>
                  <a:lnTo>
                    <a:pt x="24" y="12"/>
                  </a:lnTo>
                  <a:lnTo>
                    <a:pt x="0" y="12"/>
                  </a:lnTo>
                  <a:close/>
                  <a:moveTo>
                    <a:pt x="24" y="12"/>
                  </a:moveTo>
                  <a:lnTo>
                    <a:pt x="24" y="0"/>
                  </a:lnTo>
                  <a:lnTo>
                    <a:pt x="12" y="0"/>
                  </a:lnTo>
                  <a:lnTo>
                    <a:pt x="12" y="12"/>
                  </a:lnTo>
                  <a:lnTo>
                    <a:pt x="24" y="12"/>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4" name="Freeform 123"/>
            <p:cNvSpPr>
              <a:spLocks noEditPoints="1"/>
            </p:cNvSpPr>
            <p:nvPr/>
          </p:nvSpPr>
          <p:spPr bwMode="auto">
            <a:xfrm>
              <a:off x="4216" y="3924"/>
              <a:ext cx="36" cy="24"/>
            </a:xfrm>
            <a:custGeom>
              <a:avLst/>
              <a:gdLst>
                <a:gd name="T0" fmla="*/ 24 w 36"/>
                <a:gd name="T1" fmla="*/ 0 h 24"/>
                <a:gd name="T2" fmla="*/ 0 w 36"/>
                <a:gd name="T3" fmla="*/ 0 h 24"/>
                <a:gd name="T4" fmla="*/ 0 w 36"/>
                <a:gd name="T5" fmla="*/ 24 h 24"/>
                <a:gd name="T6" fmla="*/ 24 w 36"/>
                <a:gd name="T7" fmla="*/ 24 h 24"/>
                <a:gd name="T8" fmla="*/ 24 w 36"/>
                <a:gd name="T9" fmla="*/ 0 h 24"/>
                <a:gd name="T10" fmla="*/ 24 w 36"/>
                <a:gd name="T11" fmla="*/ 24 h 24"/>
                <a:gd name="T12" fmla="*/ 36 w 36"/>
                <a:gd name="T13" fmla="*/ 24 h 24"/>
                <a:gd name="T14" fmla="*/ 36 w 36"/>
                <a:gd name="T15" fmla="*/ 12 h 24"/>
                <a:gd name="T16" fmla="*/ 24 w 36"/>
                <a:gd name="T17" fmla="*/ 12 h 24"/>
                <a:gd name="T18" fmla="*/ 24 w 36"/>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6" h="24">
                  <a:moveTo>
                    <a:pt x="24" y="0"/>
                  </a:moveTo>
                  <a:lnTo>
                    <a:pt x="0" y="0"/>
                  </a:lnTo>
                  <a:lnTo>
                    <a:pt x="0" y="24"/>
                  </a:lnTo>
                  <a:lnTo>
                    <a:pt x="24" y="24"/>
                  </a:lnTo>
                  <a:lnTo>
                    <a:pt x="24" y="0"/>
                  </a:lnTo>
                  <a:close/>
                  <a:moveTo>
                    <a:pt x="24" y="24"/>
                  </a:moveTo>
                  <a:lnTo>
                    <a:pt x="36" y="24"/>
                  </a:lnTo>
                  <a:lnTo>
                    <a:pt x="36" y="12"/>
                  </a:lnTo>
                  <a:lnTo>
                    <a:pt x="24" y="12"/>
                  </a:lnTo>
                  <a:lnTo>
                    <a:pt x="24" y="24"/>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5" name="Rectangle 124"/>
            <p:cNvSpPr>
              <a:spLocks noChangeArrowheads="1"/>
            </p:cNvSpPr>
            <p:nvPr/>
          </p:nvSpPr>
          <p:spPr bwMode="auto">
            <a:xfrm>
              <a:off x="4204" y="3936"/>
              <a:ext cx="12" cy="12"/>
            </a:xfrm>
            <a:prstGeom prst="rect">
              <a:avLst/>
            </a:prstGeom>
            <a:solidFill>
              <a:srgbClr val="FFE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6" name="Line 125"/>
            <p:cNvSpPr>
              <a:spLocks noChangeShapeType="1"/>
            </p:cNvSpPr>
            <p:nvPr/>
          </p:nvSpPr>
          <p:spPr bwMode="auto">
            <a:xfrm flipV="1">
              <a:off x="4294" y="240"/>
              <a:ext cx="1" cy="3696"/>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Rectangle 126"/>
            <p:cNvSpPr>
              <a:spLocks noChangeArrowheads="1"/>
            </p:cNvSpPr>
            <p:nvPr/>
          </p:nvSpPr>
          <p:spPr bwMode="auto">
            <a:xfrm>
              <a:off x="4282" y="3859"/>
              <a:ext cx="24" cy="77"/>
            </a:xfrm>
            <a:prstGeom prst="rect">
              <a:avLst/>
            </a:prstGeom>
            <a:solidFill>
              <a:srgbClr val="409D2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8" name="Freeform 127"/>
            <p:cNvSpPr>
              <a:spLocks noEditPoints="1"/>
            </p:cNvSpPr>
            <p:nvPr/>
          </p:nvSpPr>
          <p:spPr bwMode="auto">
            <a:xfrm>
              <a:off x="4282" y="3727"/>
              <a:ext cx="24" cy="108"/>
            </a:xfrm>
            <a:custGeom>
              <a:avLst/>
              <a:gdLst>
                <a:gd name="T0" fmla="*/ 24 w 24"/>
                <a:gd name="T1" fmla="*/ 108 h 108"/>
                <a:gd name="T2" fmla="*/ 24 w 24"/>
                <a:gd name="T3" fmla="*/ 102 h 108"/>
                <a:gd name="T4" fmla="*/ 0 w 24"/>
                <a:gd name="T5" fmla="*/ 102 h 108"/>
                <a:gd name="T6" fmla="*/ 0 w 24"/>
                <a:gd name="T7" fmla="*/ 108 h 108"/>
                <a:gd name="T8" fmla="*/ 24 w 24"/>
                <a:gd name="T9" fmla="*/ 108 h 108"/>
                <a:gd name="T10" fmla="*/ 24 w 24"/>
                <a:gd name="T11" fmla="*/ 78 h 108"/>
                <a:gd name="T12" fmla="*/ 24 w 24"/>
                <a:gd name="T13" fmla="*/ 0 h 108"/>
                <a:gd name="T14" fmla="*/ 0 w 24"/>
                <a:gd name="T15" fmla="*/ 0 h 108"/>
                <a:gd name="T16" fmla="*/ 0 w 24"/>
                <a:gd name="T17" fmla="*/ 78 h 108"/>
                <a:gd name="T18" fmla="*/ 24 w 24"/>
                <a:gd name="T19" fmla="*/ 78 h 10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08">
                  <a:moveTo>
                    <a:pt x="24" y="108"/>
                  </a:moveTo>
                  <a:lnTo>
                    <a:pt x="24" y="102"/>
                  </a:lnTo>
                  <a:lnTo>
                    <a:pt x="0" y="102"/>
                  </a:lnTo>
                  <a:lnTo>
                    <a:pt x="0" y="108"/>
                  </a:lnTo>
                  <a:lnTo>
                    <a:pt x="24" y="108"/>
                  </a:lnTo>
                  <a:close/>
                  <a:moveTo>
                    <a:pt x="24" y="78"/>
                  </a:moveTo>
                  <a:lnTo>
                    <a:pt x="24" y="0"/>
                  </a:lnTo>
                  <a:lnTo>
                    <a:pt x="0" y="0"/>
                  </a:lnTo>
                  <a:lnTo>
                    <a:pt x="0" y="78"/>
                  </a:lnTo>
                  <a:lnTo>
                    <a:pt x="24" y="78"/>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 name="Freeform 128"/>
            <p:cNvSpPr>
              <a:spLocks noEditPoints="1"/>
            </p:cNvSpPr>
            <p:nvPr/>
          </p:nvSpPr>
          <p:spPr bwMode="auto">
            <a:xfrm>
              <a:off x="4282" y="3596"/>
              <a:ext cx="24" cy="107"/>
            </a:xfrm>
            <a:custGeom>
              <a:avLst/>
              <a:gdLst>
                <a:gd name="T0" fmla="*/ 24 w 24"/>
                <a:gd name="T1" fmla="*/ 107 h 107"/>
                <a:gd name="T2" fmla="*/ 24 w 24"/>
                <a:gd name="T3" fmla="*/ 102 h 107"/>
                <a:gd name="T4" fmla="*/ 0 w 24"/>
                <a:gd name="T5" fmla="*/ 102 h 107"/>
                <a:gd name="T6" fmla="*/ 0 w 24"/>
                <a:gd name="T7" fmla="*/ 107 h 107"/>
                <a:gd name="T8" fmla="*/ 24 w 24"/>
                <a:gd name="T9" fmla="*/ 107 h 107"/>
                <a:gd name="T10" fmla="*/ 24 w 24"/>
                <a:gd name="T11" fmla="*/ 78 h 107"/>
                <a:gd name="T12" fmla="*/ 24 w 24"/>
                <a:gd name="T13" fmla="*/ 0 h 107"/>
                <a:gd name="T14" fmla="*/ 0 w 24"/>
                <a:gd name="T15" fmla="*/ 0 h 107"/>
                <a:gd name="T16" fmla="*/ 0 w 24"/>
                <a:gd name="T17" fmla="*/ 78 h 107"/>
                <a:gd name="T18" fmla="*/ 24 w 24"/>
                <a:gd name="T19" fmla="*/ 78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07">
                  <a:moveTo>
                    <a:pt x="24" y="107"/>
                  </a:moveTo>
                  <a:lnTo>
                    <a:pt x="24" y="102"/>
                  </a:lnTo>
                  <a:lnTo>
                    <a:pt x="0" y="102"/>
                  </a:lnTo>
                  <a:lnTo>
                    <a:pt x="0" y="107"/>
                  </a:lnTo>
                  <a:lnTo>
                    <a:pt x="24" y="107"/>
                  </a:lnTo>
                  <a:close/>
                  <a:moveTo>
                    <a:pt x="24" y="78"/>
                  </a:moveTo>
                  <a:lnTo>
                    <a:pt x="24" y="0"/>
                  </a:lnTo>
                  <a:lnTo>
                    <a:pt x="0" y="0"/>
                  </a:lnTo>
                  <a:lnTo>
                    <a:pt x="0" y="78"/>
                  </a:lnTo>
                  <a:lnTo>
                    <a:pt x="24" y="78"/>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 name="Freeform 129"/>
            <p:cNvSpPr>
              <a:spLocks noEditPoints="1"/>
            </p:cNvSpPr>
            <p:nvPr/>
          </p:nvSpPr>
          <p:spPr bwMode="auto">
            <a:xfrm>
              <a:off x="4282" y="3459"/>
              <a:ext cx="24" cy="113"/>
            </a:xfrm>
            <a:custGeom>
              <a:avLst/>
              <a:gdLst>
                <a:gd name="T0" fmla="*/ 24 w 24"/>
                <a:gd name="T1" fmla="*/ 113 h 113"/>
                <a:gd name="T2" fmla="*/ 24 w 24"/>
                <a:gd name="T3" fmla="*/ 101 h 113"/>
                <a:gd name="T4" fmla="*/ 0 w 24"/>
                <a:gd name="T5" fmla="*/ 101 h 113"/>
                <a:gd name="T6" fmla="*/ 0 w 24"/>
                <a:gd name="T7" fmla="*/ 113 h 113"/>
                <a:gd name="T8" fmla="*/ 24 w 24"/>
                <a:gd name="T9" fmla="*/ 113 h 113"/>
                <a:gd name="T10" fmla="*/ 24 w 24"/>
                <a:gd name="T11" fmla="*/ 83 h 113"/>
                <a:gd name="T12" fmla="*/ 24 w 24"/>
                <a:gd name="T13" fmla="*/ 0 h 113"/>
                <a:gd name="T14" fmla="*/ 0 w 24"/>
                <a:gd name="T15" fmla="*/ 0 h 113"/>
                <a:gd name="T16" fmla="*/ 0 w 24"/>
                <a:gd name="T17" fmla="*/ 83 h 113"/>
                <a:gd name="T18" fmla="*/ 24 w 24"/>
                <a:gd name="T19" fmla="*/ 83 h 1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13">
                  <a:moveTo>
                    <a:pt x="24" y="113"/>
                  </a:moveTo>
                  <a:lnTo>
                    <a:pt x="24" y="101"/>
                  </a:lnTo>
                  <a:lnTo>
                    <a:pt x="0" y="101"/>
                  </a:lnTo>
                  <a:lnTo>
                    <a:pt x="0" y="113"/>
                  </a:lnTo>
                  <a:lnTo>
                    <a:pt x="24" y="113"/>
                  </a:lnTo>
                  <a:close/>
                  <a:moveTo>
                    <a:pt x="24" y="83"/>
                  </a:moveTo>
                  <a:lnTo>
                    <a:pt x="24" y="0"/>
                  </a:lnTo>
                  <a:lnTo>
                    <a:pt x="0" y="0"/>
                  </a:lnTo>
                  <a:lnTo>
                    <a:pt x="0" y="83"/>
                  </a:lnTo>
                  <a:lnTo>
                    <a:pt x="24" y="83"/>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 name="Freeform 130"/>
            <p:cNvSpPr>
              <a:spLocks noEditPoints="1"/>
            </p:cNvSpPr>
            <p:nvPr/>
          </p:nvSpPr>
          <p:spPr bwMode="auto">
            <a:xfrm>
              <a:off x="4282" y="3327"/>
              <a:ext cx="24" cy="114"/>
            </a:xfrm>
            <a:custGeom>
              <a:avLst/>
              <a:gdLst>
                <a:gd name="T0" fmla="*/ 24 w 24"/>
                <a:gd name="T1" fmla="*/ 114 h 114"/>
                <a:gd name="T2" fmla="*/ 24 w 24"/>
                <a:gd name="T3" fmla="*/ 102 h 114"/>
                <a:gd name="T4" fmla="*/ 0 w 24"/>
                <a:gd name="T5" fmla="*/ 102 h 114"/>
                <a:gd name="T6" fmla="*/ 0 w 24"/>
                <a:gd name="T7" fmla="*/ 114 h 114"/>
                <a:gd name="T8" fmla="*/ 24 w 24"/>
                <a:gd name="T9" fmla="*/ 114 h 114"/>
                <a:gd name="T10" fmla="*/ 24 w 24"/>
                <a:gd name="T11" fmla="*/ 78 h 114"/>
                <a:gd name="T12" fmla="*/ 24 w 24"/>
                <a:gd name="T13" fmla="*/ 0 h 114"/>
                <a:gd name="T14" fmla="*/ 0 w 24"/>
                <a:gd name="T15" fmla="*/ 0 h 114"/>
                <a:gd name="T16" fmla="*/ 0 w 24"/>
                <a:gd name="T17" fmla="*/ 78 h 114"/>
                <a:gd name="T18" fmla="*/ 24 w 24"/>
                <a:gd name="T19" fmla="*/ 78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14">
                  <a:moveTo>
                    <a:pt x="24" y="114"/>
                  </a:moveTo>
                  <a:lnTo>
                    <a:pt x="24" y="102"/>
                  </a:lnTo>
                  <a:lnTo>
                    <a:pt x="0" y="102"/>
                  </a:lnTo>
                  <a:lnTo>
                    <a:pt x="0" y="114"/>
                  </a:lnTo>
                  <a:lnTo>
                    <a:pt x="24" y="114"/>
                  </a:lnTo>
                  <a:close/>
                  <a:moveTo>
                    <a:pt x="24" y="78"/>
                  </a:moveTo>
                  <a:lnTo>
                    <a:pt x="24" y="0"/>
                  </a:lnTo>
                  <a:lnTo>
                    <a:pt x="0" y="0"/>
                  </a:lnTo>
                  <a:lnTo>
                    <a:pt x="0" y="78"/>
                  </a:lnTo>
                  <a:lnTo>
                    <a:pt x="24" y="78"/>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2" name="Freeform 131"/>
            <p:cNvSpPr>
              <a:spLocks noEditPoints="1"/>
            </p:cNvSpPr>
            <p:nvPr/>
          </p:nvSpPr>
          <p:spPr bwMode="auto">
            <a:xfrm>
              <a:off x="4282" y="3196"/>
              <a:ext cx="24" cy="107"/>
            </a:xfrm>
            <a:custGeom>
              <a:avLst/>
              <a:gdLst>
                <a:gd name="T0" fmla="*/ 24 w 24"/>
                <a:gd name="T1" fmla="*/ 107 h 107"/>
                <a:gd name="T2" fmla="*/ 24 w 24"/>
                <a:gd name="T3" fmla="*/ 101 h 107"/>
                <a:gd name="T4" fmla="*/ 0 w 24"/>
                <a:gd name="T5" fmla="*/ 101 h 107"/>
                <a:gd name="T6" fmla="*/ 0 w 24"/>
                <a:gd name="T7" fmla="*/ 107 h 107"/>
                <a:gd name="T8" fmla="*/ 24 w 24"/>
                <a:gd name="T9" fmla="*/ 107 h 107"/>
                <a:gd name="T10" fmla="*/ 24 w 24"/>
                <a:gd name="T11" fmla="*/ 78 h 107"/>
                <a:gd name="T12" fmla="*/ 24 w 24"/>
                <a:gd name="T13" fmla="*/ 0 h 107"/>
                <a:gd name="T14" fmla="*/ 0 w 24"/>
                <a:gd name="T15" fmla="*/ 0 h 107"/>
                <a:gd name="T16" fmla="*/ 0 w 24"/>
                <a:gd name="T17" fmla="*/ 78 h 107"/>
                <a:gd name="T18" fmla="*/ 24 w 24"/>
                <a:gd name="T19" fmla="*/ 78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07">
                  <a:moveTo>
                    <a:pt x="24" y="107"/>
                  </a:moveTo>
                  <a:lnTo>
                    <a:pt x="24" y="101"/>
                  </a:lnTo>
                  <a:lnTo>
                    <a:pt x="0" y="101"/>
                  </a:lnTo>
                  <a:lnTo>
                    <a:pt x="0" y="107"/>
                  </a:lnTo>
                  <a:lnTo>
                    <a:pt x="24" y="107"/>
                  </a:lnTo>
                  <a:close/>
                  <a:moveTo>
                    <a:pt x="24" y="78"/>
                  </a:moveTo>
                  <a:lnTo>
                    <a:pt x="24" y="0"/>
                  </a:lnTo>
                  <a:lnTo>
                    <a:pt x="0" y="0"/>
                  </a:lnTo>
                  <a:lnTo>
                    <a:pt x="0" y="78"/>
                  </a:lnTo>
                  <a:lnTo>
                    <a:pt x="24" y="78"/>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 name="Freeform 132"/>
            <p:cNvSpPr>
              <a:spLocks noEditPoints="1"/>
            </p:cNvSpPr>
            <p:nvPr/>
          </p:nvSpPr>
          <p:spPr bwMode="auto">
            <a:xfrm>
              <a:off x="4282" y="3065"/>
              <a:ext cx="24" cy="107"/>
            </a:xfrm>
            <a:custGeom>
              <a:avLst/>
              <a:gdLst>
                <a:gd name="T0" fmla="*/ 24 w 24"/>
                <a:gd name="T1" fmla="*/ 107 h 107"/>
                <a:gd name="T2" fmla="*/ 24 w 24"/>
                <a:gd name="T3" fmla="*/ 101 h 107"/>
                <a:gd name="T4" fmla="*/ 0 w 24"/>
                <a:gd name="T5" fmla="*/ 101 h 107"/>
                <a:gd name="T6" fmla="*/ 0 w 24"/>
                <a:gd name="T7" fmla="*/ 107 h 107"/>
                <a:gd name="T8" fmla="*/ 24 w 24"/>
                <a:gd name="T9" fmla="*/ 107 h 107"/>
                <a:gd name="T10" fmla="*/ 24 w 24"/>
                <a:gd name="T11" fmla="*/ 77 h 107"/>
                <a:gd name="T12" fmla="*/ 24 w 24"/>
                <a:gd name="T13" fmla="*/ 0 h 107"/>
                <a:gd name="T14" fmla="*/ 0 w 24"/>
                <a:gd name="T15" fmla="*/ 0 h 107"/>
                <a:gd name="T16" fmla="*/ 0 w 24"/>
                <a:gd name="T17" fmla="*/ 77 h 107"/>
                <a:gd name="T18" fmla="*/ 24 w 24"/>
                <a:gd name="T19" fmla="*/ 77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07">
                  <a:moveTo>
                    <a:pt x="24" y="107"/>
                  </a:moveTo>
                  <a:lnTo>
                    <a:pt x="24" y="101"/>
                  </a:lnTo>
                  <a:lnTo>
                    <a:pt x="0" y="101"/>
                  </a:lnTo>
                  <a:lnTo>
                    <a:pt x="0" y="107"/>
                  </a:lnTo>
                  <a:lnTo>
                    <a:pt x="24" y="107"/>
                  </a:lnTo>
                  <a:close/>
                  <a:moveTo>
                    <a:pt x="24" y="77"/>
                  </a:moveTo>
                  <a:lnTo>
                    <a:pt x="24" y="0"/>
                  </a:lnTo>
                  <a:lnTo>
                    <a:pt x="0" y="0"/>
                  </a:lnTo>
                  <a:lnTo>
                    <a:pt x="0" y="77"/>
                  </a:lnTo>
                  <a:lnTo>
                    <a:pt x="24" y="77"/>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4" name="Freeform 133"/>
            <p:cNvSpPr>
              <a:spLocks noEditPoints="1"/>
            </p:cNvSpPr>
            <p:nvPr/>
          </p:nvSpPr>
          <p:spPr bwMode="auto">
            <a:xfrm>
              <a:off x="4282" y="2933"/>
              <a:ext cx="24" cy="108"/>
            </a:xfrm>
            <a:custGeom>
              <a:avLst/>
              <a:gdLst>
                <a:gd name="T0" fmla="*/ 24 w 24"/>
                <a:gd name="T1" fmla="*/ 108 h 108"/>
                <a:gd name="T2" fmla="*/ 24 w 24"/>
                <a:gd name="T3" fmla="*/ 102 h 108"/>
                <a:gd name="T4" fmla="*/ 0 w 24"/>
                <a:gd name="T5" fmla="*/ 102 h 108"/>
                <a:gd name="T6" fmla="*/ 0 w 24"/>
                <a:gd name="T7" fmla="*/ 108 h 108"/>
                <a:gd name="T8" fmla="*/ 24 w 24"/>
                <a:gd name="T9" fmla="*/ 108 h 108"/>
                <a:gd name="T10" fmla="*/ 24 w 24"/>
                <a:gd name="T11" fmla="*/ 78 h 108"/>
                <a:gd name="T12" fmla="*/ 24 w 24"/>
                <a:gd name="T13" fmla="*/ 0 h 108"/>
                <a:gd name="T14" fmla="*/ 0 w 24"/>
                <a:gd name="T15" fmla="*/ 0 h 108"/>
                <a:gd name="T16" fmla="*/ 0 w 24"/>
                <a:gd name="T17" fmla="*/ 78 h 108"/>
                <a:gd name="T18" fmla="*/ 24 w 24"/>
                <a:gd name="T19" fmla="*/ 78 h 10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08">
                  <a:moveTo>
                    <a:pt x="24" y="108"/>
                  </a:moveTo>
                  <a:lnTo>
                    <a:pt x="24" y="102"/>
                  </a:lnTo>
                  <a:lnTo>
                    <a:pt x="0" y="102"/>
                  </a:lnTo>
                  <a:lnTo>
                    <a:pt x="0" y="108"/>
                  </a:lnTo>
                  <a:lnTo>
                    <a:pt x="24" y="108"/>
                  </a:lnTo>
                  <a:close/>
                  <a:moveTo>
                    <a:pt x="24" y="78"/>
                  </a:moveTo>
                  <a:lnTo>
                    <a:pt x="24" y="0"/>
                  </a:lnTo>
                  <a:lnTo>
                    <a:pt x="0" y="0"/>
                  </a:lnTo>
                  <a:lnTo>
                    <a:pt x="0" y="78"/>
                  </a:lnTo>
                  <a:lnTo>
                    <a:pt x="24" y="78"/>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 name="Freeform 134"/>
            <p:cNvSpPr>
              <a:spLocks noEditPoints="1"/>
            </p:cNvSpPr>
            <p:nvPr/>
          </p:nvSpPr>
          <p:spPr bwMode="auto">
            <a:xfrm>
              <a:off x="4282" y="2796"/>
              <a:ext cx="24" cy="113"/>
            </a:xfrm>
            <a:custGeom>
              <a:avLst/>
              <a:gdLst>
                <a:gd name="T0" fmla="*/ 24 w 24"/>
                <a:gd name="T1" fmla="*/ 113 h 113"/>
                <a:gd name="T2" fmla="*/ 24 w 24"/>
                <a:gd name="T3" fmla="*/ 101 h 113"/>
                <a:gd name="T4" fmla="*/ 0 w 24"/>
                <a:gd name="T5" fmla="*/ 101 h 113"/>
                <a:gd name="T6" fmla="*/ 0 w 24"/>
                <a:gd name="T7" fmla="*/ 113 h 113"/>
                <a:gd name="T8" fmla="*/ 24 w 24"/>
                <a:gd name="T9" fmla="*/ 113 h 113"/>
                <a:gd name="T10" fmla="*/ 24 w 24"/>
                <a:gd name="T11" fmla="*/ 83 h 113"/>
                <a:gd name="T12" fmla="*/ 24 w 24"/>
                <a:gd name="T13" fmla="*/ 0 h 113"/>
                <a:gd name="T14" fmla="*/ 0 w 24"/>
                <a:gd name="T15" fmla="*/ 0 h 113"/>
                <a:gd name="T16" fmla="*/ 0 w 24"/>
                <a:gd name="T17" fmla="*/ 83 h 113"/>
                <a:gd name="T18" fmla="*/ 24 w 24"/>
                <a:gd name="T19" fmla="*/ 83 h 1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13">
                  <a:moveTo>
                    <a:pt x="24" y="113"/>
                  </a:moveTo>
                  <a:lnTo>
                    <a:pt x="24" y="101"/>
                  </a:lnTo>
                  <a:lnTo>
                    <a:pt x="0" y="101"/>
                  </a:lnTo>
                  <a:lnTo>
                    <a:pt x="0" y="113"/>
                  </a:lnTo>
                  <a:lnTo>
                    <a:pt x="24" y="113"/>
                  </a:lnTo>
                  <a:close/>
                  <a:moveTo>
                    <a:pt x="24" y="83"/>
                  </a:moveTo>
                  <a:lnTo>
                    <a:pt x="24" y="0"/>
                  </a:lnTo>
                  <a:lnTo>
                    <a:pt x="0" y="0"/>
                  </a:lnTo>
                  <a:lnTo>
                    <a:pt x="0" y="83"/>
                  </a:lnTo>
                  <a:lnTo>
                    <a:pt x="24" y="83"/>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 name="Freeform 135"/>
            <p:cNvSpPr>
              <a:spLocks noEditPoints="1"/>
            </p:cNvSpPr>
            <p:nvPr/>
          </p:nvSpPr>
          <p:spPr bwMode="auto">
            <a:xfrm>
              <a:off x="4282" y="2664"/>
              <a:ext cx="24" cy="114"/>
            </a:xfrm>
            <a:custGeom>
              <a:avLst/>
              <a:gdLst>
                <a:gd name="T0" fmla="*/ 24 w 24"/>
                <a:gd name="T1" fmla="*/ 114 h 114"/>
                <a:gd name="T2" fmla="*/ 24 w 24"/>
                <a:gd name="T3" fmla="*/ 102 h 114"/>
                <a:gd name="T4" fmla="*/ 0 w 24"/>
                <a:gd name="T5" fmla="*/ 102 h 114"/>
                <a:gd name="T6" fmla="*/ 0 w 24"/>
                <a:gd name="T7" fmla="*/ 114 h 114"/>
                <a:gd name="T8" fmla="*/ 24 w 24"/>
                <a:gd name="T9" fmla="*/ 114 h 114"/>
                <a:gd name="T10" fmla="*/ 24 w 24"/>
                <a:gd name="T11" fmla="*/ 78 h 114"/>
                <a:gd name="T12" fmla="*/ 24 w 24"/>
                <a:gd name="T13" fmla="*/ 0 h 114"/>
                <a:gd name="T14" fmla="*/ 0 w 24"/>
                <a:gd name="T15" fmla="*/ 0 h 114"/>
                <a:gd name="T16" fmla="*/ 0 w 24"/>
                <a:gd name="T17" fmla="*/ 78 h 114"/>
                <a:gd name="T18" fmla="*/ 24 w 24"/>
                <a:gd name="T19" fmla="*/ 78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14">
                  <a:moveTo>
                    <a:pt x="24" y="114"/>
                  </a:moveTo>
                  <a:lnTo>
                    <a:pt x="24" y="102"/>
                  </a:lnTo>
                  <a:lnTo>
                    <a:pt x="0" y="102"/>
                  </a:lnTo>
                  <a:lnTo>
                    <a:pt x="0" y="114"/>
                  </a:lnTo>
                  <a:lnTo>
                    <a:pt x="24" y="114"/>
                  </a:lnTo>
                  <a:close/>
                  <a:moveTo>
                    <a:pt x="24" y="78"/>
                  </a:moveTo>
                  <a:lnTo>
                    <a:pt x="24" y="0"/>
                  </a:lnTo>
                  <a:lnTo>
                    <a:pt x="0" y="0"/>
                  </a:lnTo>
                  <a:lnTo>
                    <a:pt x="0" y="78"/>
                  </a:lnTo>
                  <a:lnTo>
                    <a:pt x="24" y="78"/>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 name="Freeform 136"/>
            <p:cNvSpPr>
              <a:spLocks noEditPoints="1"/>
            </p:cNvSpPr>
            <p:nvPr/>
          </p:nvSpPr>
          <p:spPr bwMode="auto">
            <a:xfrm>
              <a:off x="4282" y="2533"/>
              <a:ext cx="24" cy="108"/>
            </a:xfrm>
            <a:custGeom>
              <a:avLst/>
              <a:gdLst>
                <a:gd name="T0" fmla="*/ 24 w 24"/>
                <a:gd name="T1" fmla="*/ 108 h 108"/>
                <a:gd name="T2" fmla="*/ 24 w 24"/>
                <a:gd name="T3" fmla="*/ 102 h 108"/>
                <a:gd name="T4" fmla="*/ 0 w 24"/>
                <a:gd name="T5" fmla="*/ 102 h 108"/>
                <a:gd name="T6" fmla="*/ 0 w 24"/>
                <a:gd name="T7" fmla="*/ 108 h 108"/>
                <a:gd name="T8" fmla="*/ 24 w 24"/>
                <a:gd name="T9" fmla="*/ 108 h 108"/>
                <a:gd name="T10" fmla="*/ 24 w 24"/>
                <a:gd name="T11" fmla="*/ 78 h 108"/>
                <a:gd name="T12" fmla="*/ 24 w 24"/>
                <a:gd name="T13" fmla="*/ 0 h 108"/>
                <a:gd name="T14" fmla="*/ 0 w 24"/>
                <a:gd name="T15" fmla="*/ 0 h 108"/>
                <a:gd name="T16" fmla="*/ 0 w 24"/>
                <a:gd name="T17" fmla="*/ 78 h 108"/>
                <a:gd name="T18" fmla="*/ 24 w 24"/>
                <a:gd name="T19" fmla="*/ 78 h 10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08">
                  <a:moveTo>
                    <a:pt x="24" y="108"/>
                  </a:moveTo>
                  <a:lnTo>
                    <a:pt x="24" y="102"/>
                  </a:lnTo>
                  <a:lnTo>
                    <a:pt x="0" y="102"/>
                  </a:lnTo>
                  <a:lnTo>
                    <a:pt x="0" y="108"/>
                  </a:lnTo>
                  <a:lnTo>
                    <a:pt x="24" y="108"/>
                  </a:lnTo>
                  <a:close/>
                  <a:moveTo>
                    <a:pt x="24" y="78"/>
                  </a:moveTo>
                  <a:lnTo>
                    <a:pt x="24" y="0"/>
                  </a:lnTo>
                  <a:lnTo>
                    <a:pt x="0" y="0"/>
                  </a:lnTo>
                  <a:lnTo>
                    <a:pt x="0" y="78"/>
                  </a:lnTo>
                  <a:lnTo>
                    <a:pt x="24" y="78"/>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 name="Freeform 137"/>
            <p:cNvSpPr>
              <a:spLocks noEditPoints="1"/>
            </p:cNvSpPr>
            <p:nvPr/>
          </p:nvSpPr>
          <p:spPr bwMode="auto">
            <a:xfrm>
              <a:off x="4282" y="2402"/>
              <a:ext cx="24" cy="107"/>
            </a:xfrm>
            <a:custGeom>
              <a:avLst/>
              <a:gdLst>
                <a:gd name="T0" fmla="*/ 24 w 24"/>
                <a:gd name="T1" fmla="*/ 107 h 107"/>
                <a:gd name="T2" fmla="*/ 24 w 24"/>
                <a:gd name="T3" fmla="*/ 101 h 107"/>
                <a:gd name="T4" fmla="*/ 0 w 24"/>
                <a:gd name="T5" fmla="*/ 101 h 107"/>
                <a:gd name="T6" fmla="*/ 0 w 24"/>
                <a:gd name="T7" fmla="*/ 107 h 107"/>
                <a:gd name="T8" fmla="*/ 24 w 24"/>
                <a:gd name="T9" fmla="*/ 107 h 107"/>
                <a:gd name="T10" fmla="*/ 24 w 24"/>
                <a:gd name="T11" fmla="*/ 77 h 107"/>
                <a:gd name="T12" fmla="*/ 24 w 24"/>
                <a:gd name="T13" fmla="*/ 0 h 107"/>
                <a:gd name="T14" fmla="*/ 0 w 24"/>
                <a:gd name="T15" fmla="*/ 0 h 107"/>
                <a:gd name="T16" fmla="*/ 0 w 24"/>
                <a:gd name="T17" fmla="*/ 77 h 107"/>
                <a:gd name="T18" fmla="*/ 24 w 24"/>
                <a:gd name="T19" fmla="*/ 77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07">
                  <a:moveTo>
                    <a:pt x="24" y="107"/>
                  </a:moveTo>
                  <a:lnTo>
                    <a:pt x="24" y="101"/>
                  </a:lnTo>
                  <a:lnTo>
                    <a:pt x="0" y="101"/>
                  </a:lnTo>
                  <a:lnTo>
                    <a:pt x="0" y="107"/>
                  </a:lnTo>
                  <a:lnTo>
                    <a:pt x="24" y="107"/>
                  </a:lnTo>
                  <a:close/>
                  <a:moveTo>
                    <a:pt x="24" y="77"/>
                  </a:moveTo>
                  <a:lnTo>
                    <a:pt x="24" y="0"/>
                  </a:lnTo>
                  <a:lnTo>
                    <a:pt x="0" y="0"/>
                  </a:lnTo>
                  <a:lnTo>
                    <a:pt x="0" y="77"/>
                  </a:lnTo>
                  <a:lnTo>
                    <a:pt x="24" y="77"/>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 name="Freeform 138"/>
            <p:cNvSpPr>
              <a:spLocks noEditPoints="1"/>
            </p:cNvSpPr>
            <p:nvPr/>
          </p:nvSpPr>
          <p:spPr bwMode="auto">
            <a:xfrm>
              <a:off x="4282" y="2264"/>
              <a:ext cx="24" cy="114"/>
            </a:xfrm>
            <a:custGeom>
              <a:avLst/>
              <a:gdLst>
                <a:gd name="T0" fmla="*/ 24 w 24"/>
                <a:gd name="T1" fmla="*/ 114 h 114"/>
                <a:gd name="T2" fmla="*/ 24 w 24"/>
                <a:gd name="T3" fmla="*/ 108 h 114"/>
                <a:gd name="T4" fmla="*/ 0 w 24"/>
                <a:gd name="T5" fmla="*/ 108 h 114"/>
                <a:gd name="T6" fmla="*/ 0 w 24"/>
                <a:gd name="T7" fmla="*/ 114 h 114"/>
                <a:gd name="T8" fmla="*/ 24 w 24"/>
                <a:gd name="T9" fmla="*/ 114 h 114"/>
                <a:gd name="T10" fmla="*/ 24 w 24"/>
                <a:gd name="T11" fmla="*/ 84 h 114"/>
                <a:gd name="T12" fmla="*/ 24 w 24"/>
                <a:gd name="T13" fmla="*/ 0 h 114"/>
                <a:gd name="T14" fmla="*/ 0 w 24"/>
                <a:gd name="T15" fmla="*/ 0 h 114"/>
                <a:gd name="T16" fmla="*/ 0 w 24"/>
                <a:gd name="T17" fmla="*/ 84 h 114"/>
                <a:gd name="T18" fmla="*/ 24 w 24"/>
                <a:gd name="T19" fmla="*/ 84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14">
                  <a:moveTo>
                    <a:pt x="24" y="114"/>
                  </a:moveTo>
                  <a:lnTo>
                    <a:pt x="24" y="108"/>
                  </a:lnTo>
                  <a:lnTo>
                    <a:pt x="0" y="108"/>
                  </a:lnTo>
                  <a:lnTo>
                    <a:pt x="0" y="114"/>
                  </a:lnTo>
                  <a:lnTo>
                    <a:pt x="24" y="114"/>
                  </a:lnTo>
                  <a:close/>
                  <a:moveTo>
                    <a:pt x="24" y="84"/>
                  </a:moveTo>
                  <a:lnTo>
                    <a:pt x="24" y="0"/>
                  </a:lnTo>
                  <a:lnTo>
                    <a:pt x="0" y="0"/>
                  </a:lnTo>
                  <a:lnTo>
                    <a:pt x="0" y="84"/>
                  </a:lnTo>
                  <a:lnTo>
                    <a:pt x="24" y="84"/>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0" name="Freeform 139"/>
            <p:cNvSpPr>
              <a:spLocks noEditPoints="1"/>
            </p:cNvSpPr>
            <p:nvPr/>
          </p:nvSpPr>
          <p:spPr bwMode="auto">
            <a:xfrm>
              <a:off x="4282" y="2133"/>
              <a:ext cx="24" cy="113"/>
            </a:xfrm>
            <a:custGeom>
              <a:avLst/>
              <a:gdLst>
                <a:gd name="T0" fmla="*/ 24 w 24"/>
                <a:gd name="T1" fmla="*/ 113 h 113"/>
                <a:gd name="T2" fmla="*/ 24 w 24"/>
                <a:gd name="T3" fmla="*/ 101 h 113"/>
                <a:gd name="T4" fmla="*/ 0 w 24"/>
                <a:gd name="T5" fmla="*/ 101 h 113"/>
                <a:gd name="T6" fmla="*/ 0 w 24"/>
                <a:gd name="T7" fmla="*/ 113 h 113"/>
                <a:gd name="T8" fmla="*/ 24 w 24"/>
                <a:gd name="T9" fmla="*/ 113 h 113"/>
                <a:gd name="T10" fmla="*/ 24 w 24"/>
                <a:gd name="T11" fmla="*/ 84 h 113"/>
                <a:gd name="T12" fmla="*/ 24 w 24"/>
                <a:gd name="T13" fmla="*/ 0 h 113"/>
                <a:gd name="T14" fmla="*/ 0 w 24"/>
                <a:gd name="T15" fmla="*/ 0 h 113"/>
                <a:gd name="T16" fmla="*/ 0 w 24"/>
                <a:gd name="T17" fmla="*/ 84 h 113"/>
                <a:gd name="T18" fmla="*/ 24 w 24"/>
                <a:gd name="T19" fmla="*/ 84 h 1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13">
                  <a:moveTo>
                    <a:pt x="24" y="113"/>
                  </a:moveTo>
                  <a:lnTo>
                    <a:pt x="24" y="101"/>
                  </a:lnTo>
                  <a:lnTo>
                    <a:pt x="0" y="101"/>
                  </a:lnTo>
                  <a:lnTo>
                    <a:pt x="0" y="113"/>
                  </a:lnTo>
                  <a:lnTo>
                    <a:pt x="24" y="113"/>
                  </a:lnTo>
                  <a:close/>
                  <a:moveTo>
                    <a:pt x="24" y="84"/>
                  </a:moveTo>
                  <a:lnTo>
                    <a:pt x="24" y="0"/>
                  </a:lnTo>
                  <a:lnTo>
                    <a:pt x="0" y="0"/>
                  </a:lnTo>
                  <a:lnTo>
                    <a:pt x="0" y="84"/>
                  </a:lnTo>
                  <a:lnTo>
                    <a:pt x="24" y="84"/>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1" name="Freeform 140"/>
            <p:cNvSpPr>
              <a:spLocks noEditPoints="1"/>
            </p:cNvSpPr>
            <p:nvPr/>
          </p:nvSpPr>
          <p:spPr bwMode="auto">
            <a:xfrm>
              <a:off x="4282" y="2002"/>
              <a:ext cx="24" cy="107"/>
            </a:xfrm>
            <a:custGeom>
              <a:avLst/>
              <a:gdLst>
                <a:gd name="T0" fmla="*/ 24 w 24"/>
                <a:gd name="T1" fmla="*/ 107 h 107"/>
                <a:gd name="T2" fmla="*/ 24 w 24"/>
                <a:gd name="T3" fmla="*/ 101 h 107"/>
                <a:gd name="T4" fmla="*/ 0 w 24"/>
                <a:gd name="T5" fmla="*/ 101 h 107"/>
                <a:gd name="T6" fmla="*/ 0 w 24"/>
                <a:gd name="T7" fmla="*/ 107 h 107"/>
                <a:gd name="T8" fmla="*/ 24 w 24"/>
                <a:gd name="T9" fmla="*/ 107 h 107"/>
                <a:gd name="T10" fmla="*/ 24 w 24"/>
                <a:gd name="T11" fmla="*/ 77 h 107"/>
                <a:gd name="T12" fmla="*/ 24 w 24"/>
                <a:gd name="T13" fmla="*/ 0 h 107"/>
                <a:gd name="T14" fmla="*/ 0 w 24"/>
                <a:gd name="T15" fmla="*/ 0 h 107"/>
                <a:gd name="T16" fmla="*/ 0 w 24"/>
                <a:gd name="T17" fmla="*/ 77 h 107"/>
                <a:gd name="T18" fmla="*/ 24 w 24"/>
                <a:gd name="T19" fmla="*/ 77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07">
                  <a:moveTo>
                    <a:pt x="24" y="107"/>
                  </a:moveTo>
                  <a:lnTo>
                    <a:pt x="24" y="101"/>
                  </a:lnTo>
                  <a:lnTo>
                    <a:pt x="0" y="101"/>
                  </a:lnTo>
                  <a:lnTo>
                    <a:pt x="0" y="107"/>
                  </a:lnTo>
                  <a:lnTo>
                    <a:pt x="24" y="107"/>
                  </a:lnTo>
                  <a:close/>
                  <a:moveTo>
                    <a:pt x="24" y="77"/>
                  </a:moveTo>
                  <a:lnTo>
                    <a:pt x="24" y="0"/>
                  </a:lnTo>
                  <a:lnTo>
                    <a:pt x="0" y="0"/>
                  </a:lnTo>
                  <a:lnTo>
                    <a:pt x="0" y="77"/>
                  </a:lnTo>
                  <a:lnTo>
                    <a:pt x="24" y="77"/>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2" name="Freeform 141"/>
            <p:cNvSpPr>
              <a:spLocks noEditPoints="1"/>
            </p:cNvSpPr>
            <p:nvPr/>
          </p:nvSpPr>
          <p:spPr bwMode="auto">
            <a:xfrm>
              <a:off x="4282" y="1870"/>
              <a:ext cx="24" cy="108"/>
            </a:xfrm>
            <a:custGeom>
              <a:avLst/>
              <a:gdLst>
                <a:gd name="T0" fmla="*/ 24 w 24"/>
                <a:gd name="T1" fmla="*/ 108 h 108"/>
                <a:gd name="T2" fmla="*/ 24 w 24"/>
                <a:gd name="T3" fmla="*/ 102 h 108"/>
                <a:gd name="T4" fmla="*/ 0 w 24"/>
                <a:gd name="T5" fmla="*/ 102 h 108"/>
                <a:gd name="T6" fmla="*/ 0 w 24"/>
                <a:gd name="T7" fmla="*/ 108 h 108"/>
                <a:gd name="T8" fmla="*/ 24 w 24"/>
                <a:gd name="T9" fmla="*/ 108 h 108"/>
                <a:gd name="T10" fmla="*/ 24 w 24"/>
                <a:gd name="T11" fmla="*/ 78 h 108"/>
                <a:gd name="T12" fmla="*/ 24 w 24"/>
                <a:gd name="T13" fmla="*/ 0 h 108"/>
                <a:gd name="T14" fmla="*/ 0 w 24"/>
                <a:gd name="T15" fmla="*/ 0 h 108"/>
                <a:gd name="T16" fmla="*/ 0 w 24"/>
                <a:gd name="T17" fmla="*/ 78 h 108"/>
                <a:gd name="T18" fmla="*/ 24 w 24"/>
                <a:gd name="T19" fmla="*/ 78 h 10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08">
                  <a:moveTo>
                    <a:pt x="24" y="108"/>
                  </a:moveTo>
                  <a:lnTo>
                    <a:pt x="24" y="102"/>
                  </a:lnTo>
                  <a:lnTo>
                    <a:pt x="0" y="102"/>
                  </a:lnTo>
                  <a:lnTo>
                    <a:pt x="0" y="108"/>
                  </a:lnTo>
                  <a:lnTo>
                    <a:pt x="24" y="108"/>
                  </a:lnTo>
                  <a:close/>
                  <a:moveTo>
                    <a:pt x="24" y="78"/>
                  </a:moveTo>
                  <a:lnTo>
                    <a:pt x="24" y="0"/>
                  </a:lnTo>
                  <a:lnTo>
                    <a:pt x="0" y="0"/>
                  </a:lnTo>
                  <a:lnTo>
                    <a:pt x="0" y="78"/>
                  </a:lnTo>
                  <a:lnTo>
                    <a:pt x="24" y="78"/>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 name="Freeform 142"/>
            <p:cNvSpPr>
              <a:spLocks noEditPoints="1"/>
            </p:cNvSpPr>
            <p:nvPr/>
          </p:nvSpPr>
          <p:spPr bwMode="auto">
            <a:xfrm>
              <a:off x="4282" y="1739"/>
              <a:ext cx="24" cy="107"/>
            </a:xfrm>
            <a:custGeom>
              <a:avLst/>
              <a:gdLst>
                <a:gd name="T0" fmla="*/ 24 w 24"/>
                <a:gd name="T1" fmla="*/ 107 h 107"/>
                <a:gd name="T2" fmla="*/ 24 w 24"/>
                <a:gd name="T3" fmla="*/ 101 h 107"/>
                <a:gd name="T4" fmla="*/ 0 w 24"/>
                <a:gd name="T5" fmla="*/ 101 h 107"/>
                <a:gd name="T6" fmla="*/ 0 w 24"/>
                <a:gd name="T7" fmla="*/ 107 h 107"/>
                <a:gd name="T8" fmla="*/ 24 w 24"/>
                <a:gd name="T9" fmla="*/ 107 h 107"/>
                <a:gd name="T10" fmla="*/ 24 w 24"/>
                <a:gd name="T11" fmla="*/ 77 h 107"/>
                <a:gd name="T12" fmla="*/ 24 w 24"/>
                <a:gd name="T13" fmla="*/ 0 h 107"/>
                <a:gd name="T14" fmla="*/ 0 w 24"/>
                <a:gd name="T15" fmla="*/ 0 h 107"/>
                <a:gd name="T16" fmla="*/ 0 w 24"/>
                <a:gd name="T17" fmla="*/ 77 h 107"/>
                <a:gd name="T18" fmla="*/ 24 w 24"/>
                <a:gd name="T19" fmla="*/ 77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07">
                  <a:moveTo>
                    <a:pt x="24" y="107"/>
                  </a:moveTo>
                  <a:lnTo>
                    <a:pt x="24" y="101"/>
                  </a:lnTo>
                  <a:lnTo>
                    <a:pt x="0" y="101"/>
                  </a:lnTo>
                  <a:lnTo>
                    <a:pt x="0" y="107"/>
                  </a:lnTo>
                  <a:lnTo>
                    <a:pt x="24" y="107"/>
                  </a:lnTo>
                  <a:close/>
                  <a:moveTo>
                    <a:pt x="24" y="77"/>
                  </a:moveTo>
                  <a:lnTo>
                    <a:pt x="24" y="0"/>
                  </a:lnTo>
                  <a:lnTo>
                    <a:pt x="0" y="0"/>
                  </a:lnTo>
                  <a:lnTo>
                    <a:pt x="0" y="77"/>
                  </a:lnTo>
                  <a:lnTo>
                    <a:pt x="24" y="77"/>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 name="Freeform 143"/>
            <p:cNvSpPr>
              <a:spLocks noEditPoints="1"/>
            </p:cNvSpPr>
            <p:nvPr/>
          </p:nvSpPr>
          <p:spPr bwMode="auto">
            <a:xfrm>
              <a:off x="4282" y="1602"/>
              <a:ext cx="24" cy="113"/>
            </a:xfrm>
            <a:custGeom>
              <a:avLst/>
              <a:gdLst>
                <a:gd name="T0" fmla="*/ 24 w 24"/>
                <a:gd name="T1" fmla="*/ 113 h 113"/>
                <a:gd name="T2" fmla="*/ 24 w 24"/>
                <a:gd name="T3" fmla="*/ 101 h 113"/>
                <a:gd name="T4" fmla="*/ 0 w 24"/>
                <a:gd name="T5" fmla="*/ 101 h 113"/>
                <a:gd name="T6" fmla="*/ 0 w 24"/>
                <a:gd name="T7" fmla="*/ 113 h 113"/>
                <a:gd name="T8" fmla="*/ 24 w 24"/>
                <a:gd name="T9" fmla="*/ 113 h 113"/>
                <a:gd name="T10" fmla="*/ 24 w 24"/>
                <a:gd name="T11" fmla="*/ 83 h 113"/>
                <a:gd name="T12" fmla="*/ 24 w 24"/>
                <a:gd name="T13" fmla="*/ 0 h 113"/>
                <a:gd name="T14" fmla="*/ 0 w 24"/>
                <a:gd name="T15" fmla="*/ 0 h 113"/>
                <a:gd name="T16" fmla="*/ 0 w 24"/>
                <a:gd name="T17" fmla="*/ 83 h 113"/>
                <a:gd name="T18" fmla="*/ 24 w 24"/>
                <a:gd name="T19" fmla="*/ 83 h 1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13">
                  <a:moveTo>
                    <a:pt x="24" y="113"/>
                  </a:moveTo>
                  <a:lnTo>
                    <a:pt x="24" y="101"/>
                  </a:lnTo>
                  <a:lnTo>
                    <a:pt x="0" y="101"/>
                  </a:lnTo>
                  <a:lnTo>
                    <a:pt x="0" y="113"/>
                  </a:lnTo>
                  <a:lnTo>
                    <a:pt x="24" y="113"/>
                  </a:lnTo>
                  <a:close/>
                  <a:moveTo>
                    <a:pt x="24" y="83"/>
                  </a:moveTo>
                  <a:lnTo>
                    <a:pt x="24" y="0"/>
                  </a:lnTo>
                  <a:lnTo>
                    <a:pt x="0" y="0"/>
                  </a:lnTo>
                  <a:lnTo>
                    <a:pt x="0" y="83"/>
                  </a:lnTo>
                  <a:lnTo>
                    <a:pt x="24" y="83"/>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5" name="Freeform 144"/>
            <p:cNvSpPr>
              <a:spLocks noEditPoints="1"/>
            </p:cNvSpPr>
            <p:nvPr/>
          </p:nvSpPr>
          <p:spPr bwMode="auto">
            <a:xfrm>
              <a:off x="4282" y="1470"/>
              <a:ext cx="24" cy="114"/>
            </a:xfrm>
            <a:custGeom>
              <a:avLst/>
              <a:gdLst>
                <a:gd name="T0" fmla="*/ 24 w 24"/>
                <a:gd name="T1" fmla="*/ 114 h 114"/>
                <a:gd name="T2" fmla="*/ 24 w 24"/>
                <a:gd name="T3" fmla="*/ 102 h 114"/>
                <a:gd name="T4" fmla="*/ 0 w 24"/>
                <a:gd name="T5" fmla="*/ 102 h 114"/>
                <a:gd name="T6" fmla="*/ 0 w 24"/>
                <a:gd name="T7" fmla="*/ 114 h 114"/>
                <a:gd name="T8" fmla="*/ 24 w 24"/>
                <a:gd name="T9" fmla="*/ 114 h 114"/>
                <a:gd name="T10" fmla="*/ 24 w 24"/>
                <a:gd name="T11" fmla="*/ 78 h 114"/>
                <a:gd name="T12" fmla="*/ 24 w 24"/>
                <a:gd name="T13" fmla="*/ 0 h 114"/>
                <a:gd name="T14" fmla="*/ 0 w 24"/>
                <a:gd name="T15" fmla="*/ 0 h 114"/>
                <a:gd name="T16" fmla="*/ 0 w 24"/>
                <a:gd name="T17" fmla="*/ 78 h 114"/>
                <a:gd name="T18" fmla="*/ 24 w 24"/>
                <a:gd name="T19" fmla="*/ 78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14">
                  <a:moveTo>
                    <a:pt x="24" y="114"/>
                  </a:moveTo>
                  <a:lnTo>
                    <a:pt x="24" y="102"/>
                  </a:lnTo>
                  <a:lnTo>
                    <a:pt x="0" y="102"/>
                  </a:lnTo>
                  <a:lnTo>
                    <a:pt x="0" y="114"/>
                  </a:lnTo>
                  <a:lnTo>
                    <a:pt x="24" y="114"/>
                  </a:lnTo>
                  <a:close/>
                  <a:moveTo>
                    <a:pt x="24" y="78"/>
                  </a:moveTo>
                  <a:lnTo>
                    <a:pt x="24" y="0"/>
                  </a:lnTo>
                  <a:lnTo>
                    <a:pt x="0" y="0"/>
                  </a:lnTo>
                  <a:lnTo>
                    <a:pt x="0" y="78"/>
                  </a:lnTo>
                  <a:lnTo>
                    <a:pt x="24" y="78"/>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6" name="Freeform 145"/>
            <p:cNvSpPr>
              <a:spLocks noEditPoints="1"/>
            </p:cNvSpPr>
            <p:nvPr/>
          </p:nvSpPr>
          <p:spPr bwMode="auto">
            <a:xfrm>
              <a:off x="4282" y="1339"/>
              <a:ext cx="24" cy="107"/>
            </a:xfrm>
            <a:custGeom>
              <a:avLst/>
              <a:gdLst>
                <a:gd name="T0" fmla="*/ 24 w 24"/>
                <a:gd name="T1" fmla="*/ 107 h 107"/>
                <a:gd name="T2" fmla="*/ 24 w 24"/>
                <a:gd name="T3" fmla="*/ 101 h 107"/>
                <a:gd name="T4" fmla="*/ 0 w 24"/>
                <a:gd name="T5" fmla="*/ 101 h 107"/>
                <a:gd name="T6" fmla="*/ 0 w 24"/>
                <a:gd name="T7" fmla="*/ 107 h 107"/>
                <a:gd name="T8" fmla="*/ 24 w 24"/>
                <a:gd name="T9" fmla="*/ 107 h 107"/>
                <a:gd name="T10" fmla="*/ 24 w 24"/>
                <a:gd name="T11" fmla="*/ 77 h 107"/>
                <a:gd name="T12" fmla="*/ 24 w 24"/>
                <a:gd name="T13" fmla="*/ 0 h 107"/>
                <a:gd name="T14" fmla="*/ 0 w 24"/>
                <a:gd name="T15" fmla="*/ 0 h 107"/>
                <a:gd name="T16" fmla="*/ 0 w 24"/>
                <a:gd name="T17" fmla="*/ 77 h 107"/>
                <a:gd name="T18" fmla="*/ 24 w 24"/>
                <a:gd name="T19" fmla="*/ 77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07">
                  <a:moveTo>
                    <a:pt x="24" y="107"/>
                  </a:moveTo>
                  <a:lnTo>
                    <a:pt x="24" y="101"/>
                  </a:lnTo>
                  <a:lnTo>
                    <a:pt x="0" y="101"/>
                  </a:lnTo>
                  <a:lnTo>
                    <a:pt x="0" y="107"/>
                  </a:lnTo>
                  <a:lnTo>
                    <a:pt x="24" y="107"/>
                  </a:lnTo>
                  <a:close/>
                  <a:moveTo>
                    <a:pt x="24" y="77"/>
                  </a:moveTo>
                  <a:lnTo>
                    <a:pt x="24" y="0"/>
                  </a:lnTo>
                  <a:lnTo>
                    <a:pt x="0" y="0"/>
                  </a:lnTo>
                  <a:lnTo>
                    <a:pt x="0" y="77"/>
                  </a:lnTo>
                  <a:lnTo>
                    <a:pt x="24" y="77"/>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7" name="Freeform 146"/>
            <p:cNvSpPr>
              <a:spLocks noEditPoints="1"/>
            </p:cNvSpPr>
            <p:nvPr/>
          </p:nvSpPr>
          <p:spPr bwMode="auto">
            <a:xfrm>
              <a:off x="4282" y="1207"/>
              <a:ext cx="24" cy="108"/>
            </a:xfrm>
            <a:custGeom>
              <a:avLst/>
              <a:gdLst>
                <a:gd name="T0" fmla="*/ 24 w 24"/>
                <a:gd name="T1" fmla="*/ 108 h 108"/>
                <a:gd name="T2" fmla="*/ 24 w 24"/>
                <a:gd name="T3" fmla="*/ 102 h 108"/>
                <a:gd name="T4" fmla="*/ 0 w 24"/>
                <a:gd name="T5" fmla="*/ 102 h 108"/>
                <a:gd name="T6" fmla="*/ 0 w 24"/>
                <a:gd name="T7" fmla="*/ 108 h 108"/>
                <a:gd name="T8" fmla="*/ 24 w 24"/>
                <a:gd name="T9" fmla="*/ 108 h 108"/>
                <a:gd name="T10" fmla="*/ 24 w 24"/>
                <a:gd name="T11" fmla="*/ 78 h 108"/>
                <a:gd name="T12" fmla="*/ 24 w 24"/>
                <a:gd name="T13" fmla="*/ 0 h 108"/>
                <a:gd name="T14" fmla="*/ 0 w 24"/>
                <a:gd name="T15" fmla="*/ 0 h 108"/>
                <a:gd name="T16" fmla="*/ 0 w 24"/>
                <a:gd name="T17" fmla="*/ 78 h 108"/>
                <a:gd name="T18" fmla="*/ 24 w 24"/>
                <a:gd name="T19" fmla="*/ 78 h 10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08">
                  <a:moveTo>
                    <a:pt x="24" y="108"/>
                  </a:moveTo>
                  <a:lnTo>
                    <a:pt x="24" y="102"/>
                  </a:lnTo>
                  <a:lnTo>
                    <a:pt x="0" y="102"/>
                  </a:lnTo>
                  <a:lnTo>
                    <a:pt x="0" y="108"/>
                  </a:lnTo>
                  <a:lnTo>
                    <a:pt x="24" y="108"/>
                  </a:lnTo>
                  <a:close/>
                  <a:moveTo>
                    <a:pt x="24" y="78"/>
                  </a:moveTo>
                  <a:lnTo>
                    <a:pt x="24" y="0"/>
                  </a:lnTo>
                  <a:lnTo>
                    <a:pt x="0" y="0"/>
                  </a:lnTo>
                  <a:lnTo>
                    <a:pt x="0" y="78"/>
                  </a:lnTo>
                  <a:lnTo>
                    <a:pt x="24" y="78"/>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8" name="Freeform 147"/>
            <p:cNvSpPr>
              <a:spLocks noEditPoints="1"/>
            </p:cNvSpPr>
            <p:nvPr/>
          </p:nvSpPr>
          <p:spPr bwMode="auto">
            <a:xfrm>
              <a:off x="4282" y="1070"/>
              <a:ext cx="24" cy="114"/>
            </a:xfrm>
            <a:custGeom>
              <a:avLst/>
              <a:gdLst>
                <a:gd name="T0" fmla="*/ 24 w 24"/>
                <a:gd name="T1" fmla="*/ 114 h 114"/>
                <a:gd name="T2" fmla="*/ 24 w 24"/>
                <a:gd name="T3" fmla="*/ 102 h 114"/>
                <a:gd name="T4" fmla="*/ 0 w 24"/>
                <a:gd name="T5" fmla="*/ 102 h 114"/>
                <a:gd name="T6" fmla="*/ 0 w 24"/>
                <a:gd name="T7" fmla="*/ 114 h 114"/>
                <a:gd name="T8" fmla="*/ 24 w 24"/>
                <a:gd name="T9" fmla="*/ 114 h 114"/>
                <a:gd name="T10" fmla="*/ 24 w 24"/>
                <a:gd name="T11" fmla="*/ 84 h 114"/>
                <a:gd name="T12" fmla="*/ 24 w 24"/>
                <a:gd name="T13" fmla="*/ 0 h 114"/>
                <a:gd name="T14" fmla="*/ 0 w 24"/>
                <a:gd name="T15" fmla="*/ 0 h 114"/>
                <a:gd name="T16" fmla="*/ 0 w 24"/>
                <a:gd name="T17" fmla="*/ 84 h 114"/>
                <a:gd name="T18" fmla="*/ 24 w 24"/>
                <a:gd name="T19" fmla="*/ 84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14">
                  <a:moveTo>
                    <a:pt x="24" y="114"/>
                  </a:moveTo>
                  <a:lnTo>
                    <a:pt x="24" y="102"/>
                  </a:lnTo>
                  <a:lnTo>
                    <a:pt x="0" y="102"/>
                  </a:lnTo>
                  <a:lnTo>
                    <a:pt x="0" y="114"/>
                  </a:lnTo>
                  <a:lnTo>
                    <a:pt x="24" y="114"/>
                  </a:lnTo>
                  <a:close/>
                  <a:moveTo>
                    <a:pt x="24" y="84"/>
                  </a:moveTo>
                  <a:lnTo>
                    <a:pt x="24" y="0"/>
                  </a:lnTo>
                  <a:lnTo>
                    <a:pt x="0" y="0"/>
                  </a:lnTo>
                  <a:lnTo>
                    <a:pt x="0" y="84"/>
                  </a:lnTo>
                  <a:lnTo>
                    <a:pt x="24" y="84"/>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 name="Freeform 148"/>
            <p:cNvSpPr>
              <a:spLocks noEditPoints="1"/>
            </p:cNvSpPr>
            <p:nvPr/>
          </p:nvSpPr>
          <p:spPr bwMode="auto">
            <a:xfrm>
              <a:off x="4282" y="939"/>
              <a:ext cx="24" cy="113"/>
            </a:xfrm>
            <a:custGeom>
              <a:avLst/>
              <a:gdLst>
                <a:gd name="T0" fmla="*/ 24 w 24"/>
                <a:gd name="T1" fmla="*/ 113 h 113"/>
                <a:gd name="T2" fmla="*/ 24 w 24"/>
                <a:gd name="T3" fmla="*/ 101 h 113"/>
                <a:gd name="T4" fmla="*/ 0 w 24"/>
                <a:gd name="T5" fmla="*/ 101 h 113"/>
                <a:gd name="T6" fmla="*/ 0 w 24"/>
                <a:gd name="T7" fmla="*/ 113 h 113"/>
                <a:gd name="T8" fmla="*/ 24 w 24"/>
                <a:gd name="T9" fmla="*/ 113 h 113"/>
                <a:gd name="T10" fmla="*/ 24 w 24"/>
                <a:gd name="T11" fmla="*/ 77 h 113"/>
                <a:gd name="T12" fmla="*/ 24 w 24"/>
                <a:gd name="T13" fmla="*/ 0 h 113"/>
                <a:gd name="T14" fmla="*/ 0 w 24"/>
                <a:gd name="T15" fmla="*/ 0 h 113"/>
                <a:gd name="T16" fmla="*/ 0 w 24"/>
                <a:gd name="T17" fmla="*/ 77 h 113"/>
                <a:gd name="T18" fmla="*/ 24 w 24"/>
                <a:gd name="T19" fmla="*/ 77 h 1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13">
                  <a:moveTo>
                    <a:pt x="24" y="113"/>
                  </a:moveTo>
                  <a:lnTo>
                    <a:pt x="24" y="101"/>
                  </a:lnTo>
                  <a:lnTo>
                    <a:pt x="0" y="101"/>
                  </a:lnTo>
                  <a:lnTo>
                    <a:pt x="0" y="113"/>
                  </a:lnTo>
                  <a:lnTo>
                    <a:pt x="24" y="113"/>
                  </a:lnTo>
                  <a:close/>
                  <a:moveTo>
                    <a:pt x="24" y="77"/>
                  </a:moveTo>
                  <a:lnTo>
                    <a:pt x="24" y="0"/>
                  </a:lnTo>
                  <a:lnTo>
                    <a:pt x="0" y="0"/>
                  </a:lnTo>
                  <a:lnTo>
                    <a:pt x="0" y="77"/>
                  </a:lnTo>
                  <a:lnTo>
                    <a:pt x="24" y="77"/>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0" name="Freeform 149"/>
            <p:cNvSpPr>
              <a:spLocks noEditPoints="1"/>
            </p:cNvSpPr>
            <p:nvPr/>
          </p:nvSpPr>
          <p:spPr bwMode="auto">
            <a:xfrm>
              <a:off x="4282" y="807"/>
              <a:ext cx="24" cy="108"/>
            </a:xfrm>
            <a:custGeom>
              <a:avLst/>
              <a:gdLst>
                <a:gd name="T0" fmla="*/ 24 w 24"/>
                <a:gd name="T1" fmla="*/ 108 h 108"/>
                <a:gd name="T2" fmla="*/ 24 w 24"/>
                <a:gd name="T3" fmla="*/ 102 h 108"/>
                <a:gd name="T4" fmla="*/ 0 w 24"/>
                <a:gd name="T5" fmla="*/ 102 h 108"/>
                <a:gd name="T6" fmla="*/ 0 w 24"/>
                <a:gd name="T7" fmla="*/ 108 h 108"/>
                <a:gd name="T8" fmla="*/ 24 w 24"/>
                <a:gd name="T9" fmla="*/ 108 h 108"/>
                <a:gd name="T10" fmla="*/ 24 w 24"/>
                <a:gd name="T11" fmla="*/ 78 h 108"/>
                <a:gd name="T12" fmla="*/ 24 w 24"/>
                <a:gd name="T13" fmla="*/ 0 h 108"/>
                <a:gd name="T14" fmla="*/ 0 w 24"/>
                <a:gd name="T15" fmla="*/ 0 h 108"/>
                <a:gd name="T16" fmla="*/ 0 w 24"/>
                <a:gd name="T17" fmla="*/ 78 h 108"/>
                <a:gd name="T18" fmla="*/ 24 w 24"/>
                <a:gd name="T19" fmla="*/ 78 h 10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08">
                  <a:moveTo>
                    <a:pt x="24" y="108"/>
                  </a:moveTo>
                  <a:lnTo>
                    <a:pt x="24" y="102"/>
                  </a:lnTo>
                  <a:lnTo>
                    <a:pt x="0" y="102"/>
                  </a:lnTo>
                  <a:lnTo>
                    <a:pt x="0" y="108"/>
                  </a:lnTo>
                  <a:lnTo>
                    <a:pt x="24" y="108"/>
                  </a:lnTo>
                  <a:close/>
                  <a:moveTo>
                    <a:pt x="24" y="78"/>
                  </a:moveTo>
                  <a:lnTo>
                    <a:pt x="24" y="0"/>
                  </a:lnTo>
                  <a:lnTo>
                    <a:pt x="0" y="0"/>
                  </a:lnTo>
                  <a:lnTo>
                    <a:pt x="0" y="78"/>
                  </a:lnTo>
                  <a:lnTo>
                    <a:pt x="24" y="78"/>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1" name="Freeform 150"/>
            <p:cNvSpPr>
              <a:spLocks noEditPoints="1"/>
            </p:cNvSpPr>
            <p:nvPr/>
          </p:nvSpPr>
          <p:spPr bwMode="auto">
            <a:xfrm>
              <a:off x="4282" y="676"/>
              <a:ext cx="24" cy="107"/>
            </a:xfrm>
            <a:custGeom>
              <a:avLst/>
              <a:gdLst>
                <a:gd name="T0" fmla="*/ 24 w 24"/>
                <a:gd name="T1" fmla="*/ 107 h 107"/>
                <a:gd name="T2" fmla="*/ 24 w 24"/>
                <a:gd name="T3" fmla="*/ 101 h 107"/>
                <a:gd name="T4" fmla="*/ 0 w 24"/>
                <a:gd name="T5" fmla="*/ 101 h 107"/>
                <a:gd name="T6" fmla="*/ 0 w 24"/>
                <a:gd name="T7" fmla="*/ 107 h 107"/>
                <a:gd name="T8" fmla="*/ 24 w 24"/>
                <a:gd name="T9" fmla="*/ 107 h 107"/>
                <a:gd name="T10" fmla="*/ 24 w 24"/>
                <a:gd name="T11" fmla="*/ 78 h 107"/>
                <a:gd name="T12" fmla="*/ 24 w 24"/>
                <a:gd name="T13" fmla="*/ 0 h 107"/>
                <a:gd name="T14" fmla="*/ 0 w 24"/>
                <a:gd name="T15" fmla="*/ 0 h 107"/>
                <a:gd name="T16" fmla="*/ 0 w 24"/>
                <a:gd name="T17" fmla="*/ 78 h 107"/>
                <a:gd name="T18" fmla="*/ 24 w 24"/>
                <a:gd name="T19" fmla="*/ 78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07">
                  <a:moveTo>
                    <a:pt x="24" y="107"/>
                  </a:moveTo>
                  <a:lnTo>
                    <a:pt x="24" y="101"/>
                  </a:lnTo>
                  <a:lnTo>
                    <a:pt x="0" y="101"/>
                  </a:lnTo>
                  <a:lnTo>
                    <a:pt x="0" y="107"/>
                  </a:lnTo>
                  <a:lnTo>
                    <a:pt x="24" y="107"/>
                  </a:lnTo>
                  <a:close/>
                  <a:moveTo>
                    <a:pt x="24" y="78"/>
                  </a:moveTo>
                  <a:lnTo>
                    <a:pt x="24" y="0"/>
                  </a:lnTo>
                  <a:lnTo>
                    <a:pt x="0" y="0"/>
                  </a:lnTo>
                  <a:lnTo>
                    <a:pt x="0" y="78"/>
                  </a:lnTo>
                  <a:lnTo>
                    <a:pt x="24" y="78"/>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 name="Freeform 151"/>
            <p:cNvSpPr>
              <a:spLocks noEditPoints="1"/>
            </p:cNvSpPr>
            <p:nvPr/>
          </p:nvSpPr>
          <p:spPr bwMode="auto">
            <a:xfrm>
              <a:off x="4282" y="539"/>
              <a:ext cx="24" cy="113"/>
            </a:xfrm>
            <a:custGeom>
              <a:avLst/>
              <a:gdLst>
                <a:gd name="T0" fmla="*/ 24 w 24"/>
                <a:gd name="T1" fmla="*/ 113 h 113"/>
                <a:gd name="T2" fmla="*/ 24 w 24"/>
                <a:gd name="T3" fmla="*/ 107 h 113"/>
                <a:gd name="T4" fmla="*/ 0 w 24"/>
                <a:gd name="T5" fmla="*/ 107 h 113"/>
                <a:gd name="T6" fmla="*/ 0 w 24"/>
                <a:gd name="T7" fmla="*/ 113 h 113"/>
                <a:gd name="T8" fmla="*/ 24 w 24"/>
                <a:gd name="T9" fmla="*/ 113 h 113"/>
                <a:gd name="T10" fmla="*/ 24 w 24"/>
                <a:gd name="T11" fmla="*/ 83 h 113"/>
                <a:gd name="T12" fmla="*/ 24 w 24"/>
                <a:gd name="T13" fmla="*/ 0 h 113"/>
                <a:gd name="T14" fmla="*/ 0 w 24"/>
                <a:gd name="T15" fmla="*/ 0 h 113"/>
                <a:gd name="T16" fmla="*/ 0 w 24"/>
                <a:gd name="T17" fmla="*/ 83 h 113"/>
                <a:gd name="T18" fmla="*/ 24 w 24"/>
                <a:gd name="T19" fmla="*/ 83 h 1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13">
                  <a:moveTo>
                    <a:pt x="24" y="113"/>
                  </a:moveTo>
                  <a:lnTo>
                    <a:pt x="24" y="107"/>
                  </a:lnTo>
                  <a:lnTo>
                    <a:pt x="0" y="107"/>
                  </a:lnTo>
                  <a:lnTo>
                    <a:pt x="0" y="113"/>
                  </a:lnTo>
                  <a:lnTo>
                    <a:pt x="24" y="113"/>
                  </a:lnTo>
                  <a:close/>
                  <a:moveTo>
                    <a:pt x="24" y="83"/>
                  </a:moveTo>
                  <a:lnTo>
                    <a:pt x="24" y="0"/>
                  </a:lnTo>
                  <a:lnTo>
                    <a:pt x="0" y="0"/>
                  </a:lnTo>
                  <a:lnTo>
                    <a:pt x="0" y="83"/>
                  </a:lnTo>
                  <a:lnTo>
                    <a:pt x="24" y="83"/>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3" name="Freeform 152"/>
            <p:cNvSpPr>
              <a:spLocks noEditPoints="1"/>
            </p:cNvSpPr>
            <p:nvPr/>
          </p:nvSpPr>
          <p:spPr bwMode="auto">
            <a:xfrm>
              <a:off x="4282" y="407"/>
              <a:ext cx="24" cy="114"/>
            </a:xfrm>
            <a:custGeom>
              <a:avLst/>
              <a:gdLst>
                <a:gd name="T0" fmla="*/ 24 w 24"/>
                <a:gd name="T1" fmla="*/ 114 h 114"/>
                <a:gd name="T2" fmla="*/ 24 w 24"/>
                <a:gd name="T3" fmla="*/ 102 h 114"/>
                <a:gd name="T4" fmla="*/ 0 w 24"/>
                <a:gd name="T5" fmla="*/ 102 h 114"/>
                <a:gd name="T6" fmla="*/ 0 w 24"/>
                <a:gd name="T7" fmla="*/ 114 h 114"/>
                <a:gd name="T8" fmla="*/ 24 w 24"/>
                <a:gd name="T9" fmla="*/ 114 h 114"/>
                <a:gd name="T10" fmla="*/ 24 w 24"/>
                <a:gd name="T11" fmla="*/ 84 h 114"/>
                <a:gd name="T12" fmla="*/ 24 w 24"/>
                <a:gd name="T13" fmla="*/ 0 h 114"/>
                <a:gd name="T14" fmla="*/ 0 w 24"/>
                <a:gd name="T15" fmla="*/ 0 h 114"/>
                <a:gd name="T16" fmla="*/ 0 w 24"/>
                <a:gd name="T17" fmla="*/ 84 h 114"/>
                <a:gd name="T18" fmla="*/ 24 w 24"/>
                <a:gd name="T19" fmla="*/ 84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14">
                  <a:moveTo>
                    <a:pt x="24" y="114"/>
                  </a:moveTo>
                  <a:lnTo>
                    <a:pt x="24" y="102"/>
                  </a:lnTo>
                  <a:lnTo>
                    <a:pt x="0" y="102"/>
                  </a:lnTo>
                  <a:lnTo>
                    <a:pt x="0" y="114"/>
                  </a:lnTo>
                  <a:lnTo>
                    <a:pt x="24" y="114"/>
                  </a:lnTo>
                  <a:close/>
                  <a:moveTo>
                    <a:pt x="24" y="84"/>
                  </a:moveTo>
                  <a:lnTo>
                    <a:pt x="24" y="0"/>
                  </a:lnTo>
                  <a:lnTo>
                    <a:pt x="0" y="0"/>
                  </a:lnTo>
                  <a:lnTo>
                    <a:pt x="0" y="84"/>
                  </a:lnTo>
                  <a:lnTo>
                    <a:pt x="24" y="84"/>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4" name="Freeform 153"/>
            <p:cNvSpPr>
              <a:spLocks noEditPoints="1"/>
            </p:cNvSpPr>
            <p:nvPr/>
          </p:nvSpPr>
          <p:spPr bwMode="auto">
            <a:xfrm>
              <a:off x="4282" y="276"/>
              <a:ext cx="24" cy="107"/>
            </a:xfrm>
            <a:custGeom>
              <a:avLst/>
              <a:gdLst>
                <a:gd name="T0" fmla="*/ 24 w 24"/>
                <a:gd name="T1" fmla="*/ 107 h 107"/>
                <a:gd name="T2" fmla="*/ 24 w 24"/>
                <a:gd name="T3" fmla="*/ 101 h 107"/>
                <a:gd name="T4" fmla="*/ 0 w 24"/>
                <a:gd name="T5" fmla="*/ 101 h 107"/>
                <a:gd name="T6" fmla="*/ 0 w 24"/>
                <a:gd name="T7" fmla="*/ 107 h 107"/>
                <a:gd name="T8" fmla="*/ 24 w 24"/>
                <a:gd name="T9" fmla="*/ 107 h 107"/>
                <a:gd name="T10" fmla="*/ 24 w 24"/>
                <a:gd name="T11" fmla="*/ 77 h 107"/>
                <a:gd name="T12" fmla="*/ 24 w 24"/>
                <a:gd name="T13" fmla="*/ 0 h 107"/>
                <a:gd name="T14" fmla="*/ 0 w 24"/>
                <a:gd name="T15" fmla="*/ 0 h 107"/>
                <a:gd name="T16" fmla="*/ 0 w 24"/>
                <a:gd name="T17" fmla="*/ 77 h 107"/>
                <a:gd name="T18" fmla="*/ 24 w 24"/>
                <a:gd name="T19" fmla="*/ 77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07">
                  <a:moveTo>
                    <a:pt x="24" y="107"/>
                  </a:moveTo>
                  <a:lnTo>
                    <a:pt x="24" y="101"/>
                  </a:lnTo>
                  <a:lnTo>
                    <a:pt x="0" y="101"/>
                  </a:lnTo>
                  <a:lnTo>
                    <a:pt x="0" y="107"/>
                  </a:lnTo>
                  <a:lnTo>
                    <a:pt x="24" y="107"/>
                  </a:lnTo>
                  <a:close/>
                  <a:moveTo>
                    <a:pt x="24" y="77"/>
                  </a:moveTo>
                  <a:lnTo>
                    <a:pt x="24" y="0"/>
                  </a:lnTo>
                  <a:lnTo>
                    <a:pt x="0" y="0"/>
                  </a:lnTo>
                  <a:lnTo>
                    <a:pt x="0" y="77"/>
                  </a:lnTo>
                  <a:lnTo>
                    <a:pt x="24" y="77"/>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5" name="Rectangle 154"/>
            <p:cNvSpPr>
              <a:spLocks noChangeArrowheads="1"/>
            </p:cNvSpPr>
            <p:nvPr/>
          </p:nvSpPr>
          <p:spPr bwMode="auto">
            <a:xfrm>
              <a:off x="4282" y="246"/>
              <a:ext cx="24" cy="6"/>
            </a:xfrm>
            <a:prstGeom prst="rect">
              <a:avLst/>
            </a:prstGeom>
            <a:solidFill>
              <a:srgbClr val="409D2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6" name="Freeform 155"/>
            <p:cNvSpPr>
              <a:spLocks/>
            </p:cNvSpPr>
            <p:nvPr/>
          </p:nvSpPr>
          <p:spPr bwMode="auto">
            <a:xfrm>
              <a:off x="4168" y="3942"/>
              <a:ext cx="60" cy="66"/>
            </a:xfrm>
            <a:custGeom>
              <a:avLst/>
              <a:gdLst>
                <a:gd name="T0" fmla="*/ 0 w 60"/>
                <a:gd name="T1" fmla="*/ 66 h 66"/>
                <a:gd name="T2" fmla="*/ 60 w 60"/>
                <a:gd name="T3" fmla="*/ 0 h 66"/>
                <a:gd name="T4" fmla="*/ 0 w 60"/>
                <a:gd name="T5" fmla="*/ 66 h 66"/>
                <a:gd name="T6" fmla="*/ 0 w 60"/>
                <a:gd name="T7" fmla="*/ 66 h 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66">
                  <a:moveTo>
                    <a:pt x="0" y="66"/>
                  </a:moveTo>
                  <a:lnTo>
                    <a:pt x="60" y="0"/>
                  </a:lnTo>
                  <a:lnTo>
                    <a:pt x="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7" name="Freeform 156"/>
            <p:cNvSpPr>
              <a:spLocks/>
            </p:cNvSpPr>
            <p:nvPr/>
          </p:nvSpPr>
          <p:spPr bwMode="auto">
            <a:xfrm>
              <a:off x="4192" y="3942"/>
              <a:ext cx="60" cy="66"/>
            </a:xfrm>
            <a:custGeom>
              <a:avLst/>
              <a:gdLst>
                <a:gd name="T0" fmla="*/ 0 w 60"/>
                <a:gd name="T1" fmla="*/ 66 h 66"/>
                <a:gd name="T2" fmla="*/ 60 w 60"/>
                <a:gd name="T3" fmla="*/ 0 h 66"/>
                <a:gd name="T4" fmla="*/ 0 w 60"/>
                <a:gd name="T5" fmla="*/ 66 h 66"/>
                <a:gd name="T6" fmla="*/ 0 w 60"/>
                <a:gd name="T7" fmla="*/ 66 h 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66">
                  <a:moveTo>
                    <a:pt x="0" y="66"/>
                  </a:moveTo>
                  <a:lnTo>
                    <a:pt x="60" y="0"/>
                  </a:lnTo>
                  <a:lnTo>
                    <a:pt x="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8" name="Freeform 157"/>
            <p:cNvSpPr>
              <a:spLocks/>
            </p:cNvSpPr>
            <p:nvPr/>
          </p:nvSpPr>
          <p:spPr bwMode="auto">
            <a:xfrm>
              <a:off x="4216" y="3942"/>
              <a:ext cx="66" cy="66"/>
            </a:xfrm>
            <a:custGeom>
              <a:avLst/>
              <a:gdLst>
                <a:gd name="T0" fmla="*/ 0 w 66"/>
                <a:gd name="T1" fmla="*/ 66 h 66"/>
                <a:gd name="T2" fmla="*/ 66 w 66"/>
                <a:gd name="T3" fmla="*/ 0 h 66"/>
                <a:gd name="T4" fmla="*/ 0 w 66"/>
                <a:gd name="T5" fmla="*/ 66 h 66"/>
                <a:gd name="T6" fmla="*/ 0 w 66"/>
                <a:gd name="T7" fmla="*/ 66 h 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6" h="66">
                  <a:moveTo>
                    <a:pt x="0" y="66"/>
                  </a:moveTo>
                  <a:lnTo>
                    <a:pt x="66" y="0"/>
                  </a:lnTo>
                  <a:lnTo>
                    <a:pt x="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9" name="Freeform 158"/>
            <p:cNvSpPr>
              <a:spLocks/>
            </p:cNvSpPr>
            <p:nvPr/>
          </p:nvSpPr>
          <p:spPr bwMode="auto">
            <a:xfrm>
              <a:off x="4246" y="3942"/>
              <a:ext cx="60" cy="66"/>
            </a:xfrm>
            <a:custGeom>
              <a:avLst/>
              <a:gdLst>
                <a:gd name="T0" fmla="*/ 0 w 60"/>
                <a:gd name="T1" fmla="*/ 66 h 66"/>
                <a:gd name="T2" fmla="*/ 60 w 60"/>
                <a:gd name="T3" fmla="*/ 0 h 66"/>
                <a:gd name="T4" fmla="*/ 0 w 60"/>
                <a:gd name="T5" fmla="*/ 66 h 66"/>
                <a:gd name="T6" fmla="*/ 0 w 60"/>
                <a:gd name="T7" fmla="*/ 66 h 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66">
                  <a:moveTo>
                    <a:pt x="0" y="66"/>
                  </a:moveTo>
                  <a:lnTo>
                    <a:pt x="60" y="0"/>
                  </a:lnTo>
                  <a:lnTo>
                    <a:pt x="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0" name="Freeform 159"/>
            <p:cNvSpPr>
              <a:spLocks/>
            </p:cNvSpPr>
            <p:nvPr/>
          </p:nvSpPr>
          <p:spPr bwMode="auto">
            <a:xfrm>
              <a:off x="4270" y="3942"/>
              <a:ext cx="60" cy="66"/>
            </a:xfrm>
            <a:custGeom>
              <a:avLst/>
              <a:gdLst>
                <a:gd name="T0" fmla="*/ 0 w 60"/>
                <a:gd name="T1" fmla="*/ 66 h 66"/>
                <a:gd name="T2" fmla="*/ 60 w 60"/>
                <a:gd name="T3" fmla="*/ 0 h 66"/>
                <a:gd name="T4" fmla="*/ 0 w 60"/>
                <a:gd name="T5" fmla="*/ 66 h 66"/>
                <a:gd name="T6" fmla="*/ 0 w 60"/>
                <a:gd name="T7" fmla="*/ 66 h 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66">
                  <a:moveTo>
                    <a:pt x="0" y="66"/>
                  </a:moveTo>
                  <a:lnTo>
                    <a:pt x="60" y="0"/>
                  </a:lnTo>
                  <a:lnTo>
                    <a:pt x="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1" name="Freeform 160"/>
            <p:cNvSpPr>
              <a:spLocks/>
            </p:cNvSpPr>
            <p:nvPr/>
          </p:nvSpPr>
          <p:spPr bwMode="auto">
            <a:xfrm>
              <a:off x="4324" y="3942"/>
              <a:ext cx="60" cy="66"/>
            </a:xfrm>
            <a:custGeom>
              <a:avLst/>
              <a:gdLst>
                <a:gd name="T0" fmla="*/ 0 w 60"/>
                <a:gd name="T1" fmla="*/ 66 h 66"/>
                <a:gd name="T2" fmla="*/ 60 w 60"/>
                <a:gd name="T3" fmla="*/ 0 h 66"/>
                <a:gd name="T4" fmla="*/ 0 w 60"/>
                <a:gd name="T5" fmla="*/ 66 h 66"/>
                <a:gd name="T6" fmla="*/ 0 w 60"/>
                <a:gd name="T7" fmla="*/ 66 h 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66">
                  <a:moveTo>
                    <a:pt x="0" y="66"/>
                  </a:moveTo>
                  <a:lnTo>
                    <a:pt x="60" y="0"/>
                  </a:lnTo>
                  <a:lnTo>
                    <a:pt x="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2" name="Freeform 161"/>
            <p:cNvSpPr>
              <a:spLocks/>
            </p:cNvSpPr>
            <p:nvPr/>
          </p:nvSpPr>
          <p:spPr bwMode="auto">
            <a:xfrm>
              <a:off x="4294" y="3942"/>
              <a:ext cx="66" cy="66"/>
            </a:xfrm>
            <a:custGeom>
              <a:avLst/>
              <a:gdLst>
                <a:gd name="T0" fmla="*/ 0 w 66"/>
                <a:gd name="T1" fmla="*/ 66 h 66"/>
                <a:gd name="T2" fmla="*/ 66 w 66"/>
                <a:gd name="T3" fmla="*/ 0 h 66"/>
                <a:gd name="T4" fmla="*/ 0 w 66"/>
                <a:gd name="T5" fmla="*/ 66 h 66"/>
                <a:gd name="T6" fmla="*/ 0 w 66"/>
                <a:gd name="T7" fmla="*/ 66 h 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6" h="66">
                  <a:moveTo>
                    <a:pt x="0" y="66"/>
                  </a:moveTo>
                  <a:lnTo>
                    <a:pt x="66" y="0"/>
                  </a:lnTo>
                  <a:lnTo>
                    <a:pt x="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3" name="Freeform 162"/>
            <p:cNvSpPr>
              <a:spLocks/>
            </p:cNvSpPr>
            <p:nvPr/>
          </p:nvSpPr>
          <p:spPr bwMode="auto">
            <a:xfrm>
              <a:off x="4348" y="3942"/>
              <a:ext cx="60" cy="66"/>
            </a:xfrm>
            <a:custGeom>
              <a:avLst/>
              <a:gdLst>
                <a:gd name="T0" fmla="*/ 0 w 60"/>
                <a:gd name="T1" fmla="*/ 66 h 66"/>
                <a:gd name="T2" fmla="*/ 60 w 60"/>
                <a:gd name="T3" fmla="*/ 0 h 66"/>
                <a:gd name="T4" fmla="*/ 0 w 60"/>
                <a:gd name="T5" fmla="*/ 66 h 66"/>
                <a:gd name="T6" fmla="*/ 0 w 60"/>
                <a:gd name="T7" fmla="*/ 66 h 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66">
                  <a:moveTo>
                    <a:pt x="0" y="66"/>
                  </a:moveTo>
                  <a:lnTo>
                    <a:pt x="60" y="0"/>
                  </a:lnTo>
                  <a:lnTo>
                    <a:pt x="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4" name="Freeform 163"/>
            <p:cNvSpPr>
              <a:spLocks/>
            </p:cNvSpPr>
            <p:nvPr/>
          </p:nvSpPr>
          <p:spPr bwMode="auto">
            <a:xfrm>
              <a:off x="4270" y="240"/>
              <a:ext cx="42" cy="149"/>
            </a:xfrm>
            <a:custGeom>
              <a:avLst/>
              <a:gdLst>
                <a:gd name="T0" fmla="*/ 12 w 42"/>
                <a:gd name="T1" fmla="*/ 78 h 149"/>
                <a:gd name="T2" fmla="*/ 6 w 42"/>
                <a:gd name="T3" fmla="*/ 113 h 149"/>
                <a:gd name="T4" fmla="*/ 0 w 42"/>
                <a:gd name="T5" fmla="*/ 149 h 149"/>
                <a:gd name="T6" fmla="*/ 42 w 42"/>
                <a:gd name="T7" fmla="*/ 149 h 149"/>
                <a:gd name="T8" fmla="*/ 42 w 42"/>
                <a:gd name="T9" fmla="*/ 137 h 149"/>
                <a:gd name="T10" fmla="*/ 36 w 42"/>
                <a:gd name="T11" fmla="*/ 125 h 149"/>
                <a:gd name="T12" fmla="*/ 30 w 42"/>
                <a:gd name="T13" fmla="*/ 78 h 149"/>
                <a:gd name="T14" fmla="*/ 24 w 42"/>
                <a:gd name="T15" fmla="*/ 36 h 149"/>
                <a:gd name="T16" fmla="*/ 24 w 42"/>
                <a:gd name="T17" fmla="*/ 0 h 149"/>
                <a:gd name="T18" fmla="*/ 18 w 42"/>
                <a:gd name="T19" fmla="*/ 36 h 149"/>
                <a:gd name="T20" fmla="*/ 12 w 42"/>
                <a:gd name="T21" fmla="*/ 78 h 149"/>
                <a:gd name="T22" fmla="*/ 12 w 42"/>
                <a:gd name="T23" fmla="*/ 78 h 1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2" h="149">
                  <a:moveTo>
                    <a:pt x="12" y="78"/>
                  </a:moveTo>
                  <a:lnTo>
                    <a:pt x="6" y="113"/>
                  </a:lnTo>
                  <a:lnTo>
                    <a:pt x="0" y="149"/>
                  </a:lnTo>
                  <a:lnTo>
                    <a:pt x="42" y="149"/>
                  </a:lnTo>
                  <a:lnTo>
                    <a:pt x="42" y="137"/>
                  </a:lnTo>
                  <a:lnTo>
                    <a:pt x="36" y="125"/>
                  </a:lnTo>
                  <a:lnTo>
                    <a:pt x="30" y="78"/>
                  </a:lnTo>
                  <a:lnTo>
                    <a:pt x="24" y="36"/>
                  </a:lnTo>
                  <a:lnTo>
                    <a:pt x="24" y="0"/>
                  </a:lnTo>
                  <a:lnTo>
                    <a:pt x="18" y="36"/>
                  </a:lnTo>
                  <a:lnTo>
                    <a:pt x="1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5" name="Freeform 164"/>
            <p:cNvSpPr>
              <a:spLocks/>
            </p:cNvSpPr>
            <p:nvPr/>
          </p:nvSpPr>
          <p:spPr bwMode="auto">
            <a:xfrm>
              <a:off x="4258" y="318"/>
              <a:ext cx="36" cy="77"/>
            </a:xfrm>
            <a:custGeom>
              <a:avLst/>
              <a:gdLst>
                <a:gd name="T0" fmla="*/ 12 w 36"/>
                <a:gd name="T1" fmla="*/ 0 h 77"/>
                <a:gd name="T2" fmla="*/ 6 w 36"/>
                <a:gd name="T3" fmla="*/ 35 h 77"/>
                <a:gd name="T4" fmla="*/ 0 w 36"/>
                <a:gd name="T5" fmla="*/ 71 h 77"/>
                <a:gd name="T6" fmla="*/ 24 w 36"/>
                <a:gd name="T7" fmla="*/ 77 h 77"/>
                <a:gd name="T8" fmla="*/ 30 w 36"/>
                <a:gd name="T9" fmla="*/ 41 h 77"/>
                <a:gd name="T10" fmla="*/ 36 w 36"/>
                <a:gd name="T11" fmla="*/ 0 h 77"/>
                <a:gd name="T12" fmla="*/ 12 w 36"/>
                <a:gd name="T13" fmla="*/ 0 h 7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6" h="77">
                  <a:moveTo>
                    <a:pt x="12" y="0"/>
                  </a:moveTo>
                  <a:lnTo>
                    <a:pt x="6" y="35"/>
                  </a:lnTo>
                  <a:lnTo>
                    <a:pt x="0" y="71"/>
                  </a:lnTo>
                  <a:lnTo>
                    <a:pt x="24" y="77"/>
                  </a:lnTo>
                  <a:lnTo>
                    <a:pt x="30" y="41"/>
                  </a:lnTo>
                  <a:lnTo>
                    <a:pt x="36" y="0"/>
                  </a:lnTo>
                  <a:lnTo>
                    <a:pt x="12" y="0"/>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6" name="Freeform 165"/>
            <p:cNvSpPr>
              <a:spLocks noEditPoints="1"/>
            </p:cNvSpPr>
            <p:nvPr/>
          </p:nvSpPr>
          <p:spPr bwMode="auto">
            <a:xfrm>
              <a:off x="4258" y="377"/>
              <a:ext cx="54" cy="24"/>
            </a:xfrm>
            <a:custGeom>
              <a:avLst/>
              <a:gdLst>
                <a:gd name="T0" fmla="*/ 12 w 54"/>
                <a:gd name="T1" fmla="*/ 24 h 24"/>
                <a:gd name="T2" fmla="*/ 54 w 54"/>
                <a:gd name="T3" fmla="*/ 24 h 24"/>
                <a:gd name="T4" fmla="*/ 54 w 54"/>
                <a:gd name="T5" fmla="*/ 0 h 24"/>
                <a:gd name="T6" fmla="*/ 12 w 54"/>
                <a:gd name="T7" fmla="*/ 0 h 24"/>
                <a:gd name="T8" fmla="*/ 12 w 54"/>
                <a:gd name="T9" fmla="*/ 24 h 24"/>
                <a:gd name="T10" fmla="*/ 0 w 54"/>
                <a:gd name="T11" fmla="*/ 12 h 24"/>
                <a:gd name="T12" fmla="*/ 0 w 54"/>
                <a:gd name="T13" fmla="*/ 24 h 24"/>
                <a:gd name="T14" fmla="*/ 12 w 54"/>
                <a:gd name="T15" fmla="*/ 24 h 24"/>
                <a:gd name="T16" fmla="*/ 12 w 54"/>
                <a:gd name="T17" fmla="*/ 12 h 24"/>
                <a:gd name="T18" fmla="*/ 0 w 54"/>
                <a:gd name="T19" fmla="*/ 12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24">
                  <a:moveTo>
                    <a:pt x="12" y="24"/>
                  </a:moveTo>
                  <a:lnTo>
                    <a:pt x="54" y="24"/>
                  </a:lnTo>
                  <a:lnTo>
                    <a:pt x="54" y="0"/>
                  </a:lnTo>
                  <a:lnTo>
                    <a:pt x="12" y="0"/>
                  </a:lnTo>
                  <a:lnTo>
                    <a:pt x="12" y="24"/>
                  </a:lnTo>
                  <a:close/>
                  <a:moveTo>
                    <a:pt x="0" y="12"/>
                  </a:moveTo>
                  <a:lnTo>
                    <a:pt x="0" y="24"/>
                  </a:lnTo>
                  <a:lnTo>
                    <a:pt x="12" y="24"/>
                  </a:lnTo>
                  <a:lnTo>
                    <a:pt x="12" y="12"/>
                  </a:lnTo>
                  <a:lnTo>
                    <a:pt x="0" y="12"/>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7" name="Freeform 166"/>
            <p:cNvSpPr>
              <a:spLocks noEditPoints="1"/>
            </p:cNvSpPr>
            <p:nvPr/>
          </p:nvSpPr>
          <p:spPr bwMode="auto">
            <a:xfrm>
              <a:off x="4288" y="318"/>
              <a:ext cx="42" cy="83"/>
            </a:xfrm>
            <a:custGeom>
              <a:avLst/>
              <a:gdLst>
                <a:gd name="T0" fmla="*/ 36 w 42"/>
                <a:gd name="T1" fmla="*/ 71 h 83"/>
                <a:gd name="T2" fmla="*/ 36 w 42"/>
                <a:gd name="T3" fmla="*/ 59 h 83"/>
                <a:gd name="T4" fmla="*/ 30 w 42"/>
                <a:gd name="T5" fmla="*/ 41 h 83"/>
                <a:gd name="T6" fmla="*/ 24 w 42"/>
                <a:gd name="T7" fmla="*/ 0 h 83"/>
                <a:gd name="T8" fmla="*/ 0 w 42"/>
                <a:gd name="T9" fmla="*/ 0 h 83"/>
                <a:gd name="T10" fmla="*/ 6 w 42"/>
                <a:gd name="T11" fmla="*/ 47 h 83"/>
                <a:gd name="T12" fmla="*/ 12 w 42"/>
                <a:gd name="T13" fmla="*/ 65 h 83"/>
                <a:gd name="T14" fmla="*/ 12 w 42"/>
                <a:gd name="T15" fmla="*/ 77 h 83"/>
                <a:gd name="T16" fmla="*/ 36 w 42"/>
                <a:gd name="T17" fmla="*/ 71 h 83"/>
                <a:gd name="T18" fmla="*/ 24 w 42"/>
                <a:gd name="T19" fmla="*/ 83 h 83"/>
                <a:gd name="T20" fmla="*/ 42 w 42"/>
                <a:gd name="T21" fmla="*/ 83 h 83"/>
                <a:gd name="T22" fmla="*/ 36 w 42"/>
                <a:gd name="T23" fmla="*/ 71 h 83"/>
                <a:gd name="T24" fmla="*/ 24 w 42"/>
                <a:gd name="T25" fmla="*/ 71 h 83"/>
                <a:gd name="T26" fmla="*/ 24 w 42"/>
                <a:gd name="T27" fmla="*/ 83 h 8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2" h="83">
                  <a:moveTo>
                    <a:pt x="36" y="71"/>
                  </a:moveTo>
                  <a:lnTo>
                    <a:pt x="36" y="59"/>
                  </a:lnTo>
                  <a:lnTo>
                    <a:pt x="30" y="41"/>
                  </a:lnTo>
                  <a:lnTo>
                    <a:pt x="24" y="0"/>
                  </a:lnTo>
                  <a:lnTo>
                    <a:pt x="0" y="0"/>
                  </a:lnTo>
                  <a:lnTo>
                    <a:pt x="6" y="47"/>
                  </a:lnTo>
                  <a:lnTo>
                    <a:pt x="12" y="65"/>
                  </a:lnTo>
                  <a:lnTo>
                    <a:pt x="12" y="77"/>
                  </a:lnTo>
                  <a:lnTo>
                    <a:pt x="36" y="71"/>
                  </a:lnTo>
                  <a:close/>
                  <a:moveTo>
                    <a:pt x="24" y="83"/>
                  </a:moveTo>
                  <a:lnTo>
                    <a:pt x="42" y="83"/>
                  </a:lnTo>
                  <a:lnTo>
                    <a:pt x="36" y="71"/>
                  </a:lnTo>
                  <a:lnTo>
                    <a:pt x="24" y="71"/>
                  </a:lnTo>
                  <a:lnTo>
                    <a:pt x="24" y="83"/>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8" name="Freeform 167"/>
            <p:cNvSpPr>
              <a:spLocks noEditPoints="1"/>
            </p:cNvSpPr>
            <p:nvPr/>
          </p:nvSpPr>
          <p:spPr bwMode="auto">
            <a:xfrm>
              <a:off x="4282" y="240"/>
              <a:ext cx="30" cy="78"/>
            </a:xfrm>
            <a:custGeom>
              <a:avLst/>
              <a:gdLst>
                <a:gd name="T0" fmla="*/ 30 w 30"/>
                <a:gd name="T1" fmla="*/ 78 h 78"/>
                <a:gd name="T2" fmla="*/ 24 w 30"/>
                <a:gd name="T3" fmla="*/ 30 h 78"/>
                <a:gd name="T4" fmla="*/ 24 w 30"/>
                <a:gd name="T5" fmla="*/ 0 h 78"/>
                <a:gd name="T6" fmla="*/ 0 w 30"/>
                <a:gd name="T7" fmla="*/ 0 h 78"/>
                <a:gd name="T8" fmla="*/ 0 w 30"/>
                <a:gd name="T9" fmla="*/ 36 h 78"/>
                <a:gd name="T10" fmla="*/ 6 w 30"/>
                <a:gd name="T11" fmla="*/ 78 h 78"/>
                <a:gd name="T12" fmla="*/ 30 w 30"/>
                <a:gd name="T13" fmla="*/ 78 h 78"/>
                <a:gd name="T14" fmla="*/ 30 w 30"/>
                <a:gd name="T15" fmla="*/ 78 h 78"/>
                <a:gd name="T16" fmla="*/ 30 w 30"/>
                <a:gd name="T17" fmla="*/ 78 h 78"/>
                <a:gd name="T18" fmla="*/ 30 w 30"/>
                <a:gd name="T19" fmla="*/ 78 h 78"/>
                <a:gd name="T20" fmla="*/ 18 w 30"/>
                <a:gd name="T21" fmla="*/ 78 h 78"/>
                <a:gd name="T22" fmla="*/ 30 w 30"/>
                <a:gd name="T23" fmla="*/ 7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0" h="78">
                  <a:moveTo>
                    <a:pt x="30" y="78"/>
                  </a:moveTo>
                  <a:lnTo>
                    <a:pt x="24" y="30"/>
                  </a:lnTo>
                  <a:lnTo>
                    <a:pt x="24" y="0"/>
                  </a:lnTo>
                  <a:lnTo>
                    <a:pt x="0" y="0"/>
                  </a:lnTo>
                  <a:lnTo>
                    <a:pt x="0" y="36"/>
                  </a:lnTo>
                  <a:lnTo>
                    <a:pt x="6" y="78"/>
                  </a:lnTo>
                  <a:lnTo>
                    <a:pt x="30" y="78"/>
                  </a:lnTo>
                  <a:close/>
                  <a:moveTo>
                    <a:pt x="30" y="78"/>
                  </a:moveTo>
                  <a:lnTo>
                    <a:pt x="30" y="78"/>
                  </a:lnTo>
                  <a:lnTo>
                    <a:pt x="18" y="78"/>
                  </a:lnTo>
                  <a:lnTo>
                    <a:pt x="30" y="78"/>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9" name="Freeform 168"/>
            <p:cNvSpPr>
              <a:spLocks noEditPoints="1"/>
            </p:cNvSpPr>
            <p:nvPr/>
          </p:nvSpPr>
          <p:spPr bwMode="auto">
            <a:xfrm>
              <a:off x="4270" y="240"/>
              <a:ext cx="36" cy="78"/>
            </a:xfrm>
            <a:custGeom>
              <a:avLst/>
              <a:gdLst>
                <a:gd name="T0" fmla="*/ 12 w 36"/>
                <a:gd name="T1" fmla="*/ 0 h 78"/>
                <a:gd name="T2" fmla="*/ 6 w 36"/>
                <a:gd name="T3" fmla="*/ 30 h 78"/>
                <a:gd name="T4" fmla="*/ 0 w 36"/>
                <a:gd name="T5" fmla="*/ 78 h 78"/>
                <a:gd name="T6" fmla="*/ 24 w 36"/>
                <a:gd name="T7" fmla="*/ 78 h 78"/>
                <a:gd name="T8" fmla="*/ 30 w 36"/>
                <a:gd name="T9" fmla="*/ 36 h 78"/>
                <a:gd name="T10" fmla="*/ 36 w 36"/>
                <a:gd name="T11" fmla="*/ 0 h 78"/>
                <a:gd name="T12" fmla="*/ 12 w 36"/>
                <a:gd name="T13" fmla="*/ 0 h 78"/>
                <a:gd name="T14" fmla="*/ 36 w 36"/>
                <a:gd name="T15" fmla="*/ 0 h 78"/>
                <a:gd name="T16" fmla="*/ 12 w 36"/>
                <a:gd name="T17" fmla="*/ 0 h 78"/>
                <a:gd name="T18" fmla="*/ 36 w 36"/>
                <a:gd name="T19" fmla="*/ 0 h 78"/>
                <a:gd name="T20" fmla="*/ 12 w 36"/>
                <a:gd name="T21" fmla="*/ 0 h 78"/>
                <a:gd name="T22" fmla="*/ 36 w 36"/>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6" h="78">
                  <a:moveTo>
                    <a:pt x="12" y="0"/>
                  </a:moveTo>
                  <a:lnTo>
                    <a:pt x="6" y="30"/>
                  </a:lnTo>
                  <a:lnTo>
                    <a:pt x="0" y="78"/>
                  </a:lnTo>
                  <a:lnTo>
                    <a:pt x="24" y="78"/>
                  </a:lnTo>
                  <a:lnTo>
                    <a:pt x="30" y="36"/>
                  </a:lnTo>
                  <a:lnTo>
                    <a:pt x="36" y="0"/>
                  </a:lnTo>
                  <a:lnTo>
                    <a:pt x="12" y="0"/>
                  </a:lnTo>
                  <a:close/>
                  <a:moveTo>
                    <a:pt x="36" y="0"/>
                  </a:moveTo>
                  <a:lnTo>
                    <a:pt x="12" y="0"/>
                  </a:lnTo>
                  <a:lnTo>
                    <a:pt x="36" y="0"/>
                  </a:lnTo>
                  <a:lnTo>
                    <a:pt x="12" y="0"/>
                  </a:lnTo>
                  <a:lnTo>
                    <a:pt x="36" y="0"/>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0" name="Freeform 169"/>
            <p:cNvSpPr>
              <a:spLocks/>
            </p:cNvSpPr>
            <p:nvPr/>
          </p:nvSpPr>
          <p:spPr bwMode="auto">
            <a:xfrm>
              <a:off x="4282" y="318"/>
              <a:ext cx="12" cy="1"/>
            </a:xfrm>
            <a:custGeom>
              <a:avLst/>
              <a:gdLst>
                <a:gd name="T0" fmla="*/ 12 w 12"/>
                <a:gd name="T1" fmla="*/ 0 h 1"/>
                <a:gd name="T2" fmla="*/ 12 w 12"/>
                <a:gd name="T3" fmla="*/ 0 h 1"/>
                <a:gd name="T4" fmla="*/ 12 w 12"/>
                <a:gd name="T5" fmla="*/ 0 h 1"/>
                <a:gd name="T6" fmla="*/ 0 w 12"/>
                <a:gd name="T7" fmla="*/ 0 h 1"/>
                <a:gd name="T8" fmla="*/ 12 w 12"/>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
                  <a:moveTo>
                    <a:pt x="12" y="0"/>
                  </a:moveTo>
                  <a:lnTo>
                    <a:pt x="12" y="0"/>
                  </a:lnTo>
                  <a:lnTo>
                    <a:pt x="0" y="0"/>
                  </a:lnTo>
                  <a:lnTo>
                    <a:pt x="12" y="0"/>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1" name="Freeform 170"/>
            <p:cNvSpPr>
              <a:spLocks/>
            </p:cNvSpPr>
            <p:nvPr/>
          </p:nvSpPr>
          <p:spPr bwMode="auto">
            <a:xfrm>
              <a:off x="3995" y="2181"/>
              <a:ext cx="30" cy="30"/>
            </a:xfrm>
            <a:custGeom>
              <a:avLst/>
              <a:gdLst>
                <a:gd name="T0" fmla="*/ 30 w 30"/>
                <a:gd name="T1" fmla="*/ 6 h 30"/>
                <a:gd name="T2" fmla="*/ 18 w 30"/>
                <a:gd name="T3" fmla="*/ 0 h 30"/>
                <a:gd name="T4" fmla="*/ 6 w 30"/>
                <a:gd name="T5" fmla="*/ 0 h 30"/>
                <a:gd name="T6" fmla="*/ 0 w 30"/>
                <a:gd name="T7" fmla="*/ 18 h 30"/>
                <a:gd name="T8" fmla="*/ 12 w 30"/>
                <a:gd name="T9" fmla="*/ 24 h 30"/>
                <a:gd name="T10" fmla="*/ 18 w 30"/>
                <a:gd name="T11" fmla="*/ 30 h 30"/>
                <a:gd name="T12" fmla="*/ 30 w 30"/>
                <a:gd name="T13" fmla="*/ 6 h 3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30">
                  <a:moveTo>
                    <a:pt x="30" y="6"/>
                  </a:moveTo>
                  <a:lnTo>
                    <a:pt x="18" y="0"/>
                  </a:lnTo>
                  <a:lnTo>
                    <a:pt x="6" y="0"/>
                  </a:lnTo>
                  <a:lnTo>
                    <a:pt x="0" y="18"/>
                  </a:lnTo>
                  <a:lnTo>
                    <a:pt x="12" y="24"/>
                  </a:lnTo>
                  <a:lnTo>
                    <a:pt x="18" y="30"/>
                  </a:lnTo>
                  <a:lnTo>
                    <a:pt x="30" y="6"/>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 name="Freeform 171"/>
            <p:cNvSpPr>
              <a:spLocks noEditPoints="1"/>
            </p:cNvSpPr>
            <p:nvPr/>
          </p:nvSpPr>
          <p:spPr bwMode="auto">
            <a:xfrm>
              <a:off x="3929" y="2151"/>
              <a:ext cx="66" cy="48"/>
            </a:xfrm>
            <a:custGeom>
              <a:avLst/>
              <a:gdLst>
                <a:gd name="T0" fmla="*/ 66 w 66"/>
                <a:gd name="T1" fmla="*/ 24 h 48"/>
                <a:gd name="T2" fmla="*/ 54 w 66"/>
                <a:gd name="T3" fmla="*/ 18 h 48"/>
                <a:gd name="T4" fmla="*/ 42 w 66"/>
                <a:gd name="T5" fmla="*/ 12 h 48"/>
                <a:gd name="T6" fmla="*/ 36 w 66"/>
                <a:gd name="T7" fmla="*/ 36 h 48"/>
                <a:gd name="T8" fmla="*/ 48 w 66"/>
                <a:gd name="T9" fmla="*/ 42 h 48"/>
                <a:gd name="T10" fmla="*/ 54 w 66"/>
                <a:gd name="T11" fmla="*/ 48 h 48"/>
                <a:gd name="T12" fmla="*/ 66 w 66"/>
                <a:gd name="T13" fmla="*/ 24 h 48"/>
                <a:gd name="T14" fmla="*/ 30 w 66"/>
                <a:gd name="T15" fmla="*/ 12 h 48"/>
                <a:gd name="T16" fmla="*/ 24 w 66"/>
                <a:gd name="T17" fmla="*/ 6 h 48"/>
                <a:gd name="T18" fmla="*/ 12 w 66"/>
                <a:gd name="T19" fmla="*/ 0 h 48"/>
                <a:gd name="T20" fmla="*/ 0 w 66"/>
                <a:gd name="T21" fmla="*/ 24 h 48"/>
                <a:gd name="T22" fmla="*/ 12 w 66"/>
                <a:gd name="T23" fmla="*/ 30 h 48"/>
                <a:gd name="T24" fmla="*/ 24 w 66"/>
                <a:gd name="T25" fmla="*/ 30 h 48"/>
                <a:gd name="T26" fmla="*/ 30 w 66"/>
                <a:gd name="T27" fmla="*/ 12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6" h="48">
                  <a:moveTo>
                    <a:pt x="66" y="24"/>
                  </a:moveTo>
                  <a:lnTo>
                    <a:pt x="54" y="18"/>
                  </a:lnTo>
                  <a:lnTo>
                    <a:pt x="42" y="12"/>
                  </a:lnTo>
                  <a:lnTo>
                    <a:pt x="36" y="36"/>
                  </a:lnTo>
                  <a:lnTo>
                    <a:pt x="48" y="42"/>
                  </a:lnTo>
                  <a:lnTo>
                    <a:pt x="54" y="48"/>
                  </a:lnTo>
                  <a:lnTo>
                    <a:pt x="66" y="24"/>
                  </a:lnTo>
                  <a:close/>
                  <a:moveTo>
                    <a:pt x="30" y="12"/>
                  </a:moveTo>
                  <a:lnTo>
                    <a:pt x="24" y="6"/>
                  </a:lnTo>
                  <a:lnTo>
                    <a:pt x="12" y="0"/>
                  </a:lnTo>
                  <a:lnTo>
                    <a:pt x="0" y="24"/>
                  </a:lnTo>
                  <a:lnTo>
                    <a:pt x="12" y="30"/>
                  </a:lnTo>
                  <a:lnTo>
                    <a:pt x="24" y="30"/>
                  </a:lnTo>
                  <a:lnTo>
                    <a:pt x="30" y="12"/>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3" name="Freeform 172"/>
            <p:cNvSpPr>
              <a:spLocks noEditPoints="1"/>
            </p:cNvSpPr>
            <p:nvPr/>
          </p:nvSpPr>
          <p:spPr bwMode="auto">
            <a:xfrm>
              <a:off x="3869" y="2115"/>
              <a:ext cx="66" cy="54"/>
            </a:xfrm>
            <a:custGeom>
              <a:avLst/>
              <a:gdLst>
                <a:gd name="T0" fmla="*/ 66 w 66"/>
                <a:gd name="T1" fmla="*/ 30 h 54"/>
                <a:gd name="T2" fmla="*/ 54 w 66"/>
                <a:gd name="T3" fmla="*/ 24 h 54"/>
                <a:gd name="T4" fmla="*/ 42 w 66"/>
                <a:gd name="T5" fmla="*/ 18 h 54"/>
                <a:gd name="T6" fmla="*/ 30 w 66"/>
                <a:gd name="T7" fmla="*/ 42 h 54"/>
                <a:gd name="T8" fmla="*/ 42 w 66"/>
                <a:gd name="T9" fmla="*/ 48 h 54"/>
                <a:gd name="T10" fmla="*/ 54 w 66"/>
                <a:gd name="T11" fmla="*/ 54 h 54"/>
                <a:gd name="T12" fmla="*/ 66 w 66"/>
                <a:gd name="T13" fmla="*/ 30 h 54"/>
                <a:gd name="T14" fmla="*/ 36 w 66"/>
                <a:gd name="T15" fmla="*/ 12 h 54"/>
                <a:gd name="T16" fmla="*/ 30 w 66"/>
                <a:gd name="T17" fmla="*/ 6 h 54"/>
                <a:gd name="T18" fmla="*/ 18 w 66"/>
                <a:gd name="T19" fmla="*/ 0 h 54"/>
                <a:gd name="T20" fmla="*/ 0 w 66"/>
                <a:gd name="T21" fmla="*/ 24 h 54"/>
                <a:gd name="T22" fmla="*/ 12 w 66"/>
                <a:gd name="T23" fmla="*/ 30 h 54"/>
                <a:gd name="T24" fmla="*/ 24 w 66"/>
                <a:gd name="T25" fmla="*/ 36 h 54"/>
                <a:gd name="T26" fmla="*/ 36 w 66"/>
                <a:gd name="T27" fmla="*/ 12 h 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6" h="54">
                  <a:moveTo>
                    <a:pt x="66" y="30"/>
                  </a:moveTo>
                  <a:lnTo>
                    <a:pt x="54" y="24"/>
                  </a:lnTo>
                  <a:lnTo>
                    <a:pt x="42" y="18"/>
                  </a:lnTo>
                  <a:lnTo>
                    <a:pt x="30" y="42"/>
                  </a:lnTo>
                  <a:lnTo>
                    <a:pt x="42" y="48"/>
                  </a:lnTo>
                  <a:lnTo>
                    <a:pt x="54" y="54"/>
                  </a:lnTo>
                  <a:lnTo>
                    <a:pt x="66" y="30"/>
                  </a:lnTo>
                  <a:close/>
                  <a:moveTo>
                    <a:pt x="36" y="12"/>
                  </a:moveTo>
                  <a:lnTo>
                    <a:pt x="30" y="6"/>
                  </a:lnTo>
                  <a:lnTo>
                    <a:pt x="18" y="0"/>
                  </a:lnTo>
                  <a:lnTo>
                    <a:pt x="0" y="24"/>
                  </a:lnTo>
                  <a:lnTo>
                    <a:pt x="12" y="30"/>
                  </a:lnTo>
                  <a:lnTo>
                    <a:pt x="24" y="36"/>
                  </a:lnTo>
                  <a:lnTo>
                    <a:pt x="36" y="12"/>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4" name="Freeform 173"/>
            <p:cNvSpPr>
              <a:spLocks noEditPoints="1"/>
            </p:cNvSpPr>
            <p:nvPr/>
          </p:nvSpPr>
          <p:spPr bwMode="auto">
            <a:xfrm>
              <a:off x="3821" y="2073"/>
              <a:ext cx="54" cy="60"/>
            </a:xfrm>
            <a:custGeom>
              <a:avLst/>
              <a:gdLst>
                <a:gd name="T0" fmla="*/ 54 w 54"/>
                <a:gd name="T1" fmla="*/ 36 h 60"/>
                <a:gd name="T2" fmla="*/ 48 w 54"/>
                <a:gd name="T3" fmla="*/ 30 h 60"/>
                <a:gd name="T4" fmla="*/ 36 w 54"/>
                <a:gd name="T5" fmla="*/ 24 h 60"/>
                <a:gd name="T6" fmla="*/ 24 w 54"/>
                <a:gd name="T7" fmla="*/ 42 h 60"/>
                <a:gd name="T8" fmla="*/ 42 w 54"/>
                <a:gd name="T9" fmla="*/ 60 h 60"/>
                <a:gd name="T10" fmla="*/ 54 w 54"/>
                <a:gd name="T11" fmla="*/ 36 h 60"/>
                <a:gd name="T12" fmla="*/ 30 w 54"/>
                <a:gd name="T13" fmla="*/ 18 h 60"/>
                <a:gd name="T14" fmla="*/ 12 w 54"/>
                <a:gd name="T15" fmla="*/ 0 h 60"/>
                <a:gd name="T16" fmla="*/ 0 w 54"/>
                <a:gd name="T17" fmla="*/ 18 h 60"/>
                <a:gd name="T18" fmla="*/ 12 w 54"/>
                <a:gd name="T19" fmla="*/ 36 h 60"/>
                <a:gd name="T20" fmla="*/ 30 w 54"/>
                <a:gd name="T21" fmla="*/ 18 h 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4" h="60">
                  <a:moveTo>
                    <a:pt x="54" y="36"/>
                  </a:moveTo>
                  <a:lnTo>
                    <a:pt x="48" y="30"/>
                  </a:lnTo>
                  <a:lnTo>
                    <a:pt x="36" y="24"/>
                  </a:lnTo>
                  <a:lnTo>
                    <a:pt x="24" y="42"/>
                  </a:lnTo>
                  <a:lnTo>
                    <a:pt x="42" y="60"/>
                  </a:lnTo>
                  <a:lnTo>
                    <a:pt x="54" y="36"/>
                  </a:lnTo>
                  <a:close/>
                  <a:moveTo>
                    <a:pt x="30" y="18"/>
                  </a:moveTo>
                  <a:lnTo>
                    <a:pt x="12" y="0"/>
                  </a:lnTo>
                  <a:lnTo>
                    <a:pt x="0" y="18"/>
                  </a:lnTo>
                  <a:lnTo>
                    <a:pt x="12" y="36"/>
                  </a:lnTo>
                  <a:lnTo>
                    <a:pt x="30" y="18"/>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5" name="Freeform 174"/>
            <p:cNvSpPr>
              <a:spLocks noEditPoints="1"/>
            </p:cNvSpPr>
            <p:nvPr/>
          </p:nvSpPr>
          <p:spPr bwMode="auto">
            <a:xfrm>
              <a:off x="3780" y="2025"/>
              <a:ext cx="47" cy="60"/>
            </a:xfrm>
            <a:custGeom>
              <a:avLst/>
              <a:gdLst>
                <a:gd name="T0" fmla="*/ 47 w 47"/>
                <a:gd name="T1" fmla="*/ 42 h 60"/>
                <a:gd name="T2" fmla="*/ 35 w 47"/>
                <a:gd name="T3" fmla="*/ 24 h 60"/>
                <a:gd name="T4" fmla="*/ 18 w 47"/>
                <a:gd name="T5" fmla="*/ 42 h 60"/>
                <a:gd name="T6" fmla="*/ 29 w 47"/>
                <a:gd name="T7" fmla="*/ 60 h 60"/>
                <a:gd name="T8" fmla="*/ 47 w 47"/>
                <a:gd name="T9" fmla="*/ 42 h 60"/>
                <a:gd name="T10" fmla="*/ 29 w 47"/>
                <a:gd name="T11" fmla="*/ 18 h 60"/>
                <a:gd name="T12" fmla="*/ 24 w 47"/>
                <a:gd name="T13" fmla="*/ 12 h 60"/>
                <a:gd name="T14" fmla="*/ 18 w 47"/>
                <a:gd name="T15" fmla="*/ 0 h 60"/>
                <a:gd name="T16" fmla="*/ 0 w 47"/>
                <a:gd name="T17" fmla="*/ 12 h 60"/>
                <a:gd name="T18" fmla="*/ 6 w 47"/>
                <a:gd name="T19" fmla="*/ 24 h 60"/>
                <a:gd name="T20" fmla="*/ 12 w 47"/>
                <a:gd name="T21" fmla="*/ 30 h 60"/>
                <a:gd name="T22" fmla="*/ 29 w 47"/>
                <a:gd name="T23" fmla="*/ 18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7" h="60">
                  <a:moveTo>
                    <a:pt x="47" y="42"/>
                  </a:moveTo>
                  <a:lnTo>
                    <a:pt x="35" y="24"/>
                  </a:lnTo>
                  <a:lnTo>
                    <a:pt x="18" y="42"/>
                  </a:lnTo>
                  <a:lnTo>
                    <a:pt x="29" y="60"/>
                  </a:lnTo>
                  <a:lnTo>
                    <a:pt x="47" y="42"/>
                  </a:lnTo>
                  <a:close/>
                  <a:moveTo>
                    <a:pt x="29" y="18"/>
                  </a:moveTo>
                  <a:lnTo>
                    <a:pt x="24" y="12"/>
                  </a:lnTo>
                  <a:lnTo>
                    <a:pt x="18" y="0"/>
                  </a:lnTo>
                  <a:lnTo>
                    <a:pt x="0" y="12"/>
                  </a:lnTo>
                  <a:lnTo>
                    <a:pt x="6" y="24"/>
                  </a:lnTo>
                  <a:lnTo>
                    <a:pt x="12" y="30"/>
                  </a:lnTo>
                  <a:lnTo>
                    <a:pt x="29" y="18"/>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6" name="Freeform 175"/>
            <p:cNvSpPr>
              <a:spLocks noEditPoints="1"/>
            </p:cNvSpPr>
            <p:nvPr/>
          </p:nvSpPr>
          <p:spPr bwMode="auto">
            <a:xfrm>
              <a:off x="3762" y="1972"/>
              <a:ext cx="30" cy="53"/>
            </a:xfrm>
            <a:custGeom>
              <a:avLst/>
              <a:gdLst>
                <a:gd name="T0" fmla="*/ 30 w 30"/>
                <a:gd name="T1" fmla="*/ 42 h 53"/>
                <a:gd name="T2" fmla="*/ 30 w 30"/>
                <a:gd name="T3" fmla="*/ 36 h 53"/>
                <a:gd name="T4" fmla="*/ 24 w 30"/>
                <a:gd name="T5" fmla="*/ 24 h 53"/>
                <a:gd name="T6" fmla="*/ 6 w 30"/>
                <a:gd name="T7" fmla="*/ 30 h 53"/>
                <a:gd name="T8" fmla="*/ 6 w 30"/>
                <a:gd name="T9" fmla="*/ 42 h 53"/>
                <a:gd name="T10" fmla="*/ 12 w 30"/>
                <a:gd name="T11" fmla="*/ 53 h 53"/>
                <a:gd name="T12" fmla="*/ 30 w 30"/>
                <a:gd name="T13" fmla="*/ 42 h 53"/>
                <a:gd name="T14" fmla="*/ 24 w 30"/>
                <a:gd name="T15" fmla="*/ 12 h 53"/>
                <a:gd name="T16" fmla="*/ 24 w 30"/>
                <a:gd name="T17" fmla="*/ 0 h 53"/>
                <a:gd name="T18" fmla="*/ 0 w 30"/>
                <a:gd name="T19" fmla="*/ 0 h 53"/>
                <a:gd name="T20" fmla="*/ 0 w 30"/>
                <a:gd name="T21" fmla="*/ 18 h 53"/>
                <a:gd name="T22" fmla="*/ 24 w 30"/>
                <a:gd name="T23" fmla="*/ 12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0" h="53">
                  <a:moveTo>
                    <a:pt x="30" y="42"/>
                  </a:moveTo>
                  <a:lnTo>
                    <a:pt x="30" y="36"/>
                  </a:lnTo>
                  <a:lnTo>
                    <a:pt x="24" y="24"/>
                  </a:lnTo>
                  <a:lnTo>
                    <a:pt x="6" y="30"/>
                  </a:lnTo>
                  <a:lnTo>
                    <a:pt x="6" y="42"/>
                  </a:lnTo>
                  <a:lnTo>
                    <a:pt x="12" y="53"/>
                  </a:lnTo>
                  <a:lnTo>
                    <a:pt x="30" y="42"/>
                  </a:lnTo>
                  <a:close/>
                  <a:moveTo>
                    <a:pt x="24" y="12"/>
                  </a:moveTo>
                  <a:lnTo>
                    <a:pt x="24" y="0"/>
                  </a:lnTo>
                  <a:lnTo>
                    <a:pt x="0" y="0"/>
                  </a:lnTo>
                  <a:lnTo>
                    <a:pt x="0" y="18"/>
                  </a:lnTo>
                  <a:lnTo>
                    <a:pt x="24" y="12"/>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7" name="Freeform 176"/>
            <p:cNvSpPr>
              <a:spLocks noEditPoints="1"/>
            </p:cNvSpPr>
            <p:nvPr/>
          </p:nvSpPr>
          <p:spPr bwMode="auto">
            <a:xfrm>
              <a:off x="3762" y="1966"/>
              <a:ext cx="24" cy="6"/>
            </a:xfrm>
            <a:custGeom>
              <a:avLst/>
              <a:gdLst>
                <a:gd name="T0" fmla="*/ 24 w 24"/>
                <a:gd name="T1" fmla="*/ 6 h 6"/>
                <a:gd name="T2" fmla="*/ 24 w 24"/>
                <a:gd name="T3" fmla="*/ 0 h 6"/>
                <a:gd name="T4" fmla="*/ 0 w 24"/>
                <a:gd name="T5" fmla="*/ 0 h 6"/>
                <a:gd name="T6" fmla="*/ 0 w 24"/>
                <a:gd name="T7" fmla="*/ 6 h 6"/>
                <a:gd name="T8" fmla="*/ 24 w 24"/>
                <a:gd name="T9" fmla="*/ 6 h 6"/>
                <a:gd name="T10" fmla="*/ 0 w 24"/>
                <a:gd name="T11" fmla="*/ 6 h 6"/>
                <a:gd name="T12" fmla="*/ 0 w 24"/>
                <a:gd name="T13" fmla="*/ 6 h 6"/>
                <a:gd name="T14" fmla="*/ 0 w 24"/>
                <a:gd name="T15" fmla="*/ 6 h 6"/>
                <a:gd name="T16" fmla="*/ 12 w 24"/>
                <a:gd name="T17" fmla="*/ 6 h 6"/>
                <a:gd name="T18" fmla="*/ 0 w 24"/>
                <a:gd name="T19" fmla="*/ 6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6">
                  <a:moveTo>
                    <a:pt x="24" y="6"/>
                  </a:moveTo>
                  <a:lnTo>
                    <a:pt x="24" y="0"/>
                  </a:lnTo>
                  <a:lnTo>
                    <a:pt x="0" y="0"/>
                  </a:lnTo>
                  <a:lnTo>
                    <a:pt x="0" y="6"/>
                  </a:lnTo>
                  <a:lnTo>
                    <a:pt x="24" y="6"/>
                  </a:lnTo>
                  <a:close/>
                  <a:moveTo>
                    <a:pt x="0" y="6"/>
                  </a:moveTo>
                  <a:lnTo>
                    <a:pt x="0" y="6"/>
                  </a:lnTo>
                  <a:lnTo>
                    <a:pt x="12" y="6"/>
                  </a:lnTo>
                  <a:lnTo>
                    <a:pt x="0" y="6"/>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8" name="Freeform 177"/>
            <p:cNvSpPr>
              <a:spLocks noEditPoints="1"/>
            </p:cNvSpPr>
            <p:nvPr/>
          </p:nvSpPr>
          <p:spPr bwMode="auto">
            <a:xfrm>
              <a:off x="3762" y="1894"/>
              <a:ext cx="42" cy="60"/>
            </a:xfrm>
            <a:custGeom>
              <a:avLst/>
              <a:gdLst>
                <a:gd name="T0" fmla="*/ 24 w 42"/>
                <a:gd name="T1" fmla="*/ 60 h 60"/>
                <a:gd name="T2" fmla="*/ 30 w 42"/>
                <a:gd name="T3" fmla="*/ 54 h 60"/>
                <a:gd name="T4" fmla="*/ 30 w 42"/>
                <a:gd name="T5" fmla="*/ 42 h 60"/>
                <a:gd name="T6" fmla="*/ 6 w 42"/>
                <a:gd name="T7" fmla="*/ 36 h 60"/>
                <a:gd name="T8" fmla="*/ 6 w 42"/>
                <a:gd name="T9" fmla="*/ 48 h 60"/>
                <a:gd name="T10" fmla="*/ 0 w 42"/>
                <a:gd name="T11" fmla="*/ 60 h 60"/>
                <a:gd name="T12" fmla="*/ 24 w 42"/>
                <a:gd name="T13" fmla="*/ 60 h 60"/>
                <a:gd name="T14" fmla="*/ 36 w 42"/>
                <a:gd name="T15" fmla="*/ 30 h 60"/>
                <a:gd name="T16" fmla="*/ 42 w 42"/>
                <a:gd name="T17" fmla="*/ 24 h 60"/>
                <a:gd name="T18" fmla="*/ 42 w 42"/>
                <a:gd name="T19" fmla="*/ 12 h 60"/>
                <a:gd name="T20" fmla="*/ 24 w 42"/>
                <a:gd name="T21" fmla="*/ 0 h 60"/>
                <a:gd name="T22" fmla="*/ 18 w 42"/>
                <a:gd name="T23" fmla="*/ 12 h 60"/>
                <a:gd name="T24" fmla="*/ 12 w 42"/>
                <a:gd name="T25" fmla="*/ 24 h 60"/>
                <a:gd name="T26" fmla="*/ 36 w 42"/>
                <a:gd name="T27" fmla="*/ 30 h 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2" h="60">
                  <a:moveTo>
                    <a:pt x="24" y="60"/>
                  </a:moveTo>
                  <a:lnTo>
                    <a:pt x="30" y="54"/>
                  </a:lnTo>
                  <a:lnTo>
                    <a:pt x="30" y="42"/>
                  </a:lnTo>
                  <a:lnTo>
                    <a:pt x="6" y="36"/>
                  </a:lnTo>
                  <a:lnTo>
                    <a:pt x="6" y="48"/>
                  </a:lnTo>
                  <a:lnTo>
                    <a:pt x="0" y="60"/>
                  </a:lnTo>
                  <a:lnTo>
                    <a:pt x="24" y="60"/>
                  </a:lnTo>
                  <a:close/>
                  <a:moveTo>
                    <a:pt x="36" y="30"/>
                  </a:moveTo>
                  <a:lnTo>
                    <a:pt x="42" y="24"/>
                  </a:lnTo>
                  <a:lnTo>
                    <a:pt x="42" y="12"/>
                  </a:lnTo>
                  <a:lnTo>
                    <a:pt x="24" y="0"/>
                  </a:lnTo>
                  <a:lnTo>
                    <a:pt x="18" y="12"/>
                  </a:lnTo>
                  <a:lnTo>
                    <a:pt x="12" y="24"/>
                  </a:lnTo>
                  <a:lnTo>
                    <a:pt x="36" y="30"/>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9" name="Freeform 178"/>
            <p:cNvSpPr>
              <a:spLocks noEditPoints="1"/>
            </p:cNvSpPr>
            <p:nvPr/>
          </p:nvSpPr>
          <p:spPr bwMode="auto">
            <a:xfrm>
              <a:off x="3792" y="1840"/>
              <a:ext cx="59" cy="60"/>
            </a:xfrm>
            <a:custGeom>
              <a:avLst/>
              <a:gdLst>
                <a:gd name="T0" fmla="*/ 17 w 59"/>
                <a:gd name="T1" fmla="*/ 60 h 60"/>
                <a:gd name="T2" fmla="*/ 35 w 59"/>
                <a:gd name="T3" fmla="*/ 42 h 60"/>
                <a:gd name="T4" fmla="*/ 17 w 59"/>
                <a:gd name="T5" fmla="*/ 24 h 60"/>
                <a:gd name="T6" fmla="*/ 0 w 59"/>
                <a:gd name="T7" fmla="*/ 42 h 60"/>
                <a:gd name="T8" fmla="*/ 17 w 59"/>
                <a:gd name="T9" fmla="*/ 60 h 60"/>
                <a:gd name="T10" fmla="*/ 41 w 59"/>
                <a:gd name="T11" fmla="*/ 36 h 60"/>
                <a:gd name="T12" fmla="*/ 59 w 59"/>
                <a:gd name="T13" fmla="*/ 18 h 60"/>
                <a:gd name="T14" fmla="*/ 41 w 59"/>
                <a:gd name="T15" fmla="*/ 0 h 60"/>
                <a:gd name="T16" fmla="*/ 23 w 59"/>
                <a:gd name="T17" fmla="*/ 18 h 60"/>
                <a:gd name="T18" fmla="*/ 41 w 59"/>
                <a:gd name="T19" fmla="*/ 36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9" h="60">
                  <a:moveTo>
                    <a:pt x="17" y="60"/>
                  </a:moveTo>
                  <a:lnTo>
                    <a:pt x="35" y="42"/>
                  </a:lnTo>
                  <a:lnTo>
                    <a:pt x="17" y="24"/>
                  </a:lnTo>
                  <a:lnTo>
                    <a:pt x="0" y="42"/>
                  </a:lnTo>
                  <a:lnTo>
                    <a:pt x="17" y="60"/>
                  </a:lnTo>
                  <a:close/>
                  <a:moveTo>
                    <a:pt x="41" y="36"/>
                  </a:moveTo>
                  <a:lnTo>
                    <a:pt x="59" y="18"/>
                  </a:lnTo>
                  <a:lnTo>
                    <a:pt x="41" y="0"/>
                  </a:lnTo>
                  <a:lnTo>
                    <a:pt x="23" y="18"/>
                  </a:lnTo>
                  <a:lnTo>
                    <a:pt x="41" y="36"/>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 name="Freeform 179"/>
            <p:cNvSpPr>
              <a:spLocks noEditPoints="1"/>
            </p:cNvSpPr>
            <p:nvPr/>
          </p:nvSpPr>
          <p:spPr bwMode="auto">
            <a:xfrm>
              <a:off x="3845" y="1805"/>
              <a:ext cx="60" cy="47"/>
            </a:xfrm>
            <a:custGeom>
              <a:avLst/>
              <a:gdLst>
                <a:gd name="T0" fmla="*/ 12 w 60"/>
                <a:gd name="T1" fmla="*/ 47 h 47"/>
                <a:gd name="T2" fmla="*/ 24 w 60"/>
                <a:gd name="T3" fmla="*/ 41 h 47"/>
                <a:gd name="T4" fmla="*/ 30 w 60"/>
                <a:gd name="T5" fmla="*/ 35 h 47"/>
                <a:gd name="T6" fmla="*/ 18 w 60"/>
                <a:gd name="T7" fmla="*/ 17 h 47"/>
                <a:gd name="T8" fmla="*/ 12 w 60"/>
                <a:gd name="T9" fmla="*/ 23 h 47"/>
                <a:gd name="T10" fmla="*/ 0 w 60"/>
                <a:gd name="T11" fmla="*/ 29 h 47"/>
                <a:gd name="T12" fmla="*/ 12 w 60"/>
                <a:gd name="T13" fmla="*/ 47 h 47"/>
                <a:gd name="T14" fmla="*/ 42 w 60"/>
                <a:gd name="T15" fmla="*/ 29 h 47"/>
                <a:gd name="T16" fmla="*/ 54 w 60"/>
                <a:gd name="T17" fmla="*/ 23 h 47"/>
                <a:gd name="T18" fmla="*/ 60 w 60"/>
                <a:gd name="T19" fmla="*/ 17 h 47"/>
                <a:gd name="T20" fmla="*/ 48 w 60"/>
                <a:gd name="T21" fmla="*/ 0 h 47"/>
                <a:gd name="T22" fmla="*/ 42 w 60"/>
                <a:gd name="T23" fmla="*/ 6 h 47"/>
                <a:gd name="T24" fmla="*/ 30 w 60"/>
                <a:gd name="T25" fmla="*/ 11 h 47"/>
                <a:gd name="T26" fmla="*/ 42 w 60"/>
                <a:gd name="T27" fmla="*/ 2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 h="47">
                  <a:moveTo>
                    <a:pt x="12" y="47"/>
                  </a:moveTo>
                  <a:lnTo>
                    <a:pt x="24" y="41"/>
                  </a:lnTo>
                  <a:lnTo>
                    <a:pt x="30" y="35"/>
                  </a:lnTo>
                  <a:lnTo>
                    <a:pt x="18" y="17"/>
                  </a:lnTo>
                  <a:lnTo>
                    <a:pt x="12" y="23"/>
                  </a:lnTo>
                  <a:lnTo>
                    <a:pt x="0" y="29"/>
                  </a:lnTo>
                  <a:lnTo>
                    <a:pt x="12" y="47"/>
                  </a:lnTo>
                  <a:close/>
                  <a:moveTo>
                    <a:pt x="42" y="29"/>
                  </a:moveTo>
                  <a:lnTo>
                    <a:pt x="54" y="23"/>
                  </a:lnTo>
                  <a:lnTo>
                    <a:pt x="60" y="17"/>
                  </a:lnTo>
                  <a:lnTo>
                    <a:pt x="48" y="0"/>
                  </a:lnTo>
                  <a:lnTo>
                    <a:pt x="42" y="6"/>
                  </a:lnTo>
                  <a:lnTo>
                    <a:pt x="30" y="11"/>
                  </a:lnTo>
                  <a:lnTo>
                    <a:pt x="42" y="29"/>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1" name="Freeform 180"/>
            <p:cNvSpPr>
              <a:spLocks noEditPoints="1"/>
            </p:cNvSpPr>
            <p:nvPr/>
          </p:nvSpPr>
          <p:spPr bwMode="auto">
            <a:xfrm>
              <a:off x="3905" y="1775"/>
              <a:ext cx="60" cy="47"/>
            </a:xfrm>
            <a:custGeom>
              <a:avLst/>
              <a:gdLst>
                <a:gd name="T0" fmla="*/ 12 w 60"/>
                <a:gd name="T1" fmla="*/ 47 h 47"/>
                <a:gd name="T2" fmla="*/ 24 w 60"/>
                <a:gd name="T3" fmla="*/ 41 h 47"/>
                <a:gd name="T4" fmla="*/ 30 w 60"/>
                <a:gd name="T5" fmla="*/ 36 h 47"/>
                <a:gd name="T6" fmla="*/ 18 w 60"/>
                <a:gd name="T7" fmla="*/ 12 h 47"/>
                <a:gd name="T8" fmla="*/ 12 w 60"/>
                <a:gd name="T9" fmla="*/ 18 h 47"/>
                <a:gd name="T10" fmla="*/ 0 w 60"/>
                <a:gd name="T11" fmla="*/ 24 h 47"/>
                <a:gd name="T12" fmla="*/ 12 w 60"/>
                <a:gd name="T13" fmla="*/ 47 h 47"/>
                <a:gd name="T14" fmla="*/ 42 w 60"/>
                <a:gd name="T15" fmla="*/ 30 h 47"/>
                <a:gd name="T16" fmla="*/ 54 w 60"/>
                <a:gd name="T17" fmla="*/ 30 h 47"/>
                <a:gd name="T18" fmla="*/ 60 w 60"/>
                <a:gd name="T19" fmla="*/ 24 h 47"/>
                <a:gd name="T20" fmla="*/ 54 w 60"/>
                <a:gd name="T21" fmla="*/ 0 h 47"/>
                <a:gd name="T22" fmla="*/ 42 w 60"/>
                <a:gd name="T23" fmla="*/ 6 h 47"/>
                <a:gd name="T24" fmla="*/ 30 w 60"/>
                <a:gd name="T25" fmla="*/ 12 h 47"/>
                <a:gd name="T26" fmla="*/ 42 w 60"/>
                <a:gd name="T27" fmla="*/ 30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 h="47">
                  <a:moveTo>
                    <a:pt x="12" y="47"/>
                  </a:moveTo>
                  <a:lnTo>
                    <a:pt x="24" y="41"/>
                  </a:lnTo>
                  <a:lnTo>
                    <a:pt x="30" y="36"/>
                  </a:lnTo>
                  <a:lnTo>
                    <a:pt x="18" y="12"/>
                  </a:lnTo>
                  <a:lnTo>
                    <a:pt x="12" y="18"/>
                  </a:lnTo>
                  <a:lnTo>
                    <a:pt x="0" y="24"/>
                  </a:lnTo>
                  <a:lnTo>
                    <a:pt x="12" y="47"/>
                  </a:lnTo>
                  <a:close/>
                  <a:moveTo>
                    <a:pt x="42" y="30"/>
                  </a:moveTo>
                  <a:lnTo>
                    <a:pt x="54" y="30"/>
                  </a:lnTo>
                  <a:lnTo>
                    <a:pt x="60" y="24"/>
                  </a:lnTo>
                  <a:lnTo>
                    <a:pt x="54" y="0"/>
                  </a:lnTo>
                  <a:lnTo>
                    <a:pt x="42" y="6"/>
                  </a:lnTo>
                  <a:lnTo>
                    <a:pt x="30" y="12"/>
                  </a:lnTo>
                  <a:lnTo>
                    <a:pt x="42" y="30"/>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2" name="Freeform 181"/>
            <p:cNvSpPr>
              <a:spLocks noEditPoints="1"/>
            </p:cNvSpPr>
            <p:nvPr/>
          </p:nvSpPr>
          <p:spPr bwMode="auto">
            <a:xfrm>
              <a:off x="3965" y="1751"/>
              <a:ext cx="66" cy="42"/>
            </a:xfrm>
            <a:custGeom>
              <a:avLst/>
              <a:gdLst>
                <a:gd name="T0" fmla="*/ 12 w 66"/>
                <a:gd name="T1" fmla="*/ 42 h 42"/>
                <a:gd name="T2" fmla="*/ 24 w 66"/>
                <a:gd name="T3" fmla="*/ 42 h 42"/>
                <a:gd name="T4" fmla="*/ 30 w 66"/>
                <a:gd name="T5" fmla="*/ 36 h 42"/>
                <a:gd name="T6" fmla="*/ 24 w 66"/>
                <a:gd name="T7" fmla="*/ 12 h 42"/>
                <a:gd name="T8" fmla="*/ 12 w 66"/>
                <a:gd name="T9" fmla="*/ 18 h 42"/>
                <a:gd name="T10" fmla="*/ 0 w 66"/>
                <a:gd name="T11" fmla="*/ 18 h 42"/>
                <a:gd name="T12" fmla="*/ 12 w 66"/>
                <a:gd name="T13" fmla="*/ 42 h 42"/>
                <a:gd name="T14" fmla="*/ 42 w 66"/>
                <a:gd name="T15" fmla="*/ 30 h 42"/>
                <a:gd name="T16" fmla="*/ 54 w 66"/>
                <a:gd name="T17" fmla="*/ 30 h 42"/>
                <a:gd name="T18" fmla="*/ 66 w 66"/>
                <a:gd name="T19" fmla="*/ 24 h 42"/>
                <a:gd name="T20" fmla="*/ 60 w 66"/>
                <a:gd name="T21" fmla="*/ 0 h 42"/>
                <a:gd name="T22" fmla="*/ 48 w 66"/>
                <a:gd name="T23" fmla="*/ 6 h 42"/>
                <a:gd name="T24" fmla="*/ 36 w 66"/>
                <a:gd name="T25" fmla="*/ 12 h 42"/>
                <a:gd name="T26" fmla="*/ 42 w 66"/>
                <a:gd name="T27" fmla="*/ 30 h 4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6" h="42">
                  <a:moveTo>
                    <a:pt x="12" y="42"/>
                  </a:moveTo>
                  <a:lnTo>
                    <a:pt x="24" y="42"/>
                  </a:lnTo>
                  <a:lnTo>
                    <a:pt x="30" y="36"/>
                  </a:lnTo>
                  <a:lnTo>
                    <a:pt x="24" y="12"/>
                  </a:lnTo>
                  <a:lnTo>
                    <a:pt x="12" y="18"/>
                  </a:lnTo>
                  <a:lnTo>
                    <a:pt x="0" y="18"/>
                  </a:lnTo>
                  <a:lnTo>
                    <a:pt x="12" y="42"/>
                  </a:lnTo>
                  <a:close/>
                  <a:moveTo>
                    <a:pt x="42" y="30"/>
                  </a:moveTo>
                  <a:lnTo>
                    <a:pt x="54" y="30"/>
                  </a:lnTo>
                  <a:lnTo>
                    <a:pt x="66" y="24"/>
                  </a:lnTo>
                  <a:lnTo>
                    <a:pt x="60" y="0"/>
                  </a:lnTo>
                  <a:lnTo>
                    <a:pt x="48" y="6"/>
                  </a:lnTo>
                  <a:lnTo>
                    <a:pt x="36" y="12"/>
                  </a:lnTo>
                  <a:lnTo>
                    <a:pt x="42" y="30"/>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3" name="Freeform 182"/>
            <p:cNvSpPr>
              <a:spLocks noEditPoints="1"/>
            </p:cNvSpPr>
            <p:nvPr/>
          </p:nvSpPr>
          <p:spPr bwMode="auto">
            <a:xfrm>
              <a:off x="4037" y="1739"/>
              <a:ext cx="60" cy="36"/>
            </a:xfrm>
            <a:custGeom>
              <a:avLst/>
              <a:gdLst>
                <a:gd name="T0" fmla="*/ 6 w 60"/>
                <a:gd name="T1" fmla="*/ 36 h 36"/>
                <a:gd name="T2" fmla="*/ 18 w 60"/>
                <a:gd name="T3" fmla="*/ 36 h 36"/>
                <a:gd name="T4" fmla="*/ 24 w 60"/>
                <a:gd name="T5" fmla="*/ 30 h 36"/>
                <a:gd name="T6" fmla="*/ 18 w 60"/>
                <a:gd name="T7" fmla="*/ 6 h 36"/>
                <a:gd name="T8" fmla="*/ 12 w 60"/>
                <a:gd name="T9" fmla="*/ 12 h 36"/>
                <a:gd name="T10" fmla="*/ 0 w 60"/>
                <a:gd name="T11" fmla="*/ 12 h 36"/>
                <a:gd name="T12" fmla="*/ 6 w 60"/>
                <a:gd name="T13" fmla="*/ 36 h 36"/>
                <a:gd name="T14" fmla="*/ 36 w 60"/>
                <a:gd name="T15" fmla="*/ 30 h 36"/>
                <a:gd name="T16" fmla="*/ 48 w 60"/>
                <a:gd name="T17" fmla="*/ 24 h 36"/>
                <a:gd name="T18" fmla="*/ 60 w 60"/>
                <a:gd name="T19" fmla="*/ 24 h 36"/>
                <a:gd name="T20" fmla="*/ 54 w 60"/>
                <a:gd name="T21" fmla="*/ 0 h 36"/>
                <a:gd name="T22" fmla="*/ 42 w 60"/>
                <a:gd name="T23" fmla="*/ 0 h 36"/>
                <a:gd name="T24" fmla="*/ 30 w 60"/>
                <a:gd name="T25" fmla="*/ 6 h 36"/>
                <a:gd name="T26" fmla="*/ 36 w 60"/>
                <a:gd name="T27" fmla="*/ 30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 h="36">
                  <a:moveTo>
                    <a:pt x="6" y="36"/>
                  </a:moveTo>
                  <a:lnTo>
                    <a:pt x="18" y="36"/>
                  </a:lnTo>
                  <a:lnTo>
                    <a:pt x="24" y="30"/>
                  </a:lnTo>
                  <a:lnTo>
                    <a:pt x="18" y="6"/>
                  </a:lnTo>
                  <a:lnTo>
                    <a:pt x="12" y="12"/>
                  </a:lnTo>
                  <a:lnTo>
                    <a:pt x="0" y="12"/>
                  </a:lnTo>
                  <a:lnTo>
                    <a:pt x="6" y="36"/>
                  </a:lnTo>
                  <a:close/>
                  <a:moveTo>
                    <a:pt x="36" y="30"/>
                  </a:moveTo>
                  <a:lnTo>
                    <a:pt x="48" y="24"/>
                  </a:lnTo>
                  <a:lnTo>
                    <a:pt x="60" y="24"/>
                  </a:lnTo>
                  <a:lnTo>
                    <a:pt x="54" y="0"/>
                  </a:lnTo>
                  <a:lnTo>
                    <a:pt x="42" y="0"/>
                  </a:lnTo>
                  <a:lnTo>
                    <a:pt x="30" y="6"/>
                  </a:lnTo>
                  <a:lnTo>
                    <a:pt x="36" y="30"/>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 name="Freeform 183"/>
            <p:cNvSpPr>
              <a:spLocks noEditPoints="1"/>
            </p:cNvSpPr>
            <p:nvPr/>
          </p:nvSpPr>
          <p:spPr bwMode="auto">
            <a:xfrm>
              <a:off x="4103" y="1727"/>
              <a:ext cx="59" cy="30"/>
            </a:xfrm>
            <a:custGeom>
              <a:avLst/>
              <a:gdLst>
                <a:gd name="T0" fmla="*/ 0 w 59"/>
                <a:gd name="T1" fmla="*/ 30 h 30"/>
                <a:gd name="T2" fmla="*/ 12 w 59"/>
                <a:gd name="T3" fmla="*/ 30 h 30"/>
                <a:gd name="T4" fmla="*/ 23 w 59"/>
                <a:gd name="T5" fmla="*/ 30 h 30"/>
                <a:gd name="T6" fmla="*/ 23 w 59"/>
                <a:gd name="T7" fmla="*/ 6 h 30"/>
                <a:gd name="T8" fmla="*/ 12 w 59"/>
                <a:gd name="T9" fmla="*/ 6 h 30"/>
                <a:gd name="T10" fmla="*/ 0 w 59"/>
                <a:gd name="T11" fmla="*/ 6 h 30"/>
                <a:gd name="T12" fmla="*/ 0 w 59"/>
                <a:gd name="T13" fmla="*/ 30 h 30"/>
                <a:gd name="T14" fmla="*/ 35 w 59"/>
                <a:gd name="T15" fmla="*/ 24 h 30"/>
                <a:gd name="T16" fmla="*/ 47 w 59"/>
                <a:gd name="T17" fmla="*/ 24 h 30"/>
                <a:gd name="T18" fmla="*/ 59 w 59"/>
                <a:gd name="T19" fmla="*/ 24 h 30"/>
                <a:gd name="T20" fmla="*/ 53 w 59"/>
                <a:gd name="T21" fmla="*/ 0 h 30"/>
                <a:gd name="T22" fmla="*/ 41 w 59"/>
                <a:gd name="T23" fmla="*/ 0 h 30"/>
                <a:gd name="T24" fmla="*/ 29 w 59"/>
                <a:gd name="T25" fmla="*/ 0 h 30"/>
                <a:gd name="T26" fmla="*/ 35 w 59"/>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9" h="30">
                  <a:moveTo>
                    <a:pt x="0" y="30"/>
                  </a:moveTo>
                  <a:lnTo>
                    <a:pt x="12" y="30"/>
                  </a:lnTo>
                  <a:lnTo>
                    <a:pt x="23" y="30"/>
                  </a:lnTo>
                  <a:lnTo>
                    <a:pt x="23" y="6"/>
                  </a:lnTo>
                  <a:lnTo>
                    <a:pt x="12" y="6"/>
                  </a:lnTo>
                  <a:lnTo>
                    <a:pt x="0" y="6"/>
                  </a:lnTo>
                  <a:lnTo>
                    <a:pt x="0" y="30"/>
                  </a:lnTo>
                  <a:close/>
                  <a:moveTo>
                    <a:pt x="35" y="24"/>
                  </a:moveTo>
                  <a:lnTo>
                    <a:pt x="47" y="24"/>
                  </a:lnTo>
                  <a:lnTo>
                    <a:pt x="59" y="24"/>
                  </a:lnTo>
                  <a:lnTo>
                    <a:pt x="53" y="0"/>
                  </a:lnTo>
                  <a:lnTo>
                    <a:pt x="41" y="0"/>
                  </a:lnTo>
                  <a:lnTo>
                    <a:pt x="29" y="0"/>
                  </a:lnTo>
                  <a:lnTo>
                    <a:pt x="35" y="24"/>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5" name="Freeform 184"/>
            <p:cNvSpPr>
              <a:spLocks noEditPoints="1"/>
            </p:cNvSpPr>
            <p:nvPr/>
          </p:nvSpPr>
          <p:spPr bwMode="auto">
            <a:xfrm>
              <a:off x="4168" y="1721"/>
              <a:ext cx="60" cy="30"/>
            </a:xfrm>
            <a:custGeom>
              <a:avLst/>
              <a:gdLst>
                <a:gd name="T0" fmla="*/ 6 w 60"/>
                <a:gd name="T1" fmla="*/ 30 h 30"/>
                <a:gd name="T2" fmla="*/ 18 w 60"/>
                <a:gd name="T3" fmla="*/ 24 h 30"/>
                <a:gd name="T4" fmla="*/ 24 w 60"/>
                <a:gd name="T5" fmla="*/ 24 h 30"/>
                <a:gd name="T6" fmla="*/ 24 w 60"/>
                <a:gd name="T7" fmla="*/ 0 h 30"/>
                <a:gd name="T8" fmla="*/ 12 w 60"/>
                <a:gd name="T9" fmla="*/ 6 h 30"/>
                <a:gd name="T10" fmla="*/ 0 w 60"/>
                <a:gd name="T11" fmla="*/ 6 h 30"/>
                <a:gd name="T12" fmla="*/ 6 w 60"/>
                <a:gd name="T13" fmla="*/ 30 h 30"/>
                <a:gd name="T14" fmla="*/ 36 w 60"/>
                <a:gd name="T15" fmla="*/ 24 h 30"/>
                <a:gd name="T16" fmla="*/ 48 w 60"/>
                <a:gd name="T17" fmla="*/ 24 h 30"/>
                <a:gd name="T18" fmla="*/ 60 w 60"/>
                <a:gd name="T19" fmla="*/ 24 h 30"/>
                <a:gd name="T20" fmla="*/ 60 w 60"/>
                <a:gd name="T21" fmla="*/ 0 h 30"/>
                <a:gd name="T22" fmla="*/ 48 w 60"/>
                <a:gd name="T23" fmla="*/ 0 h 30"/>
                <a:gd name="T24" fmla="*/ 36 w 60"/>
                <a:gd name="T25" fmla="*/ 0 h 30"/>
                <a:gd name="T26" fmla="*/ 36 w 60"/>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 h="30">
                  <a:moveTo>
                    <a:pt x="6" y="30"/>
                  </a:moveTo>
                  <a:lnTo>
                    <a:pt x="18" y="24"/>
                  </a:lnTo>
                  <a:lnTo>
                    <a:pt x="24" y="24"/>
                  </a:lnTo>
                  <a:lnTo>
                    <a:pt x="24" y="0"/>
                  </a:lnTo>
                  <a:lnTo>
                    <a:pt x="12" y="6"/>
                  </a:lnTo>
                  <a:lnTo>
                    <a:pt x="0" y="6"/>
                  </a:lnTo>
                  <a:lnTo>
                    <a:pt x="6" y="30"/>
                  </a:lnTo>
                  <a:close/>
                  <a:moveTo>
                    <a:pt x="36" y="24"/>
                  </a:moveTo>
                  <a:lnTo>
                    <a:pt x="48" y="24"/>
                  </a:lnTo>
                  <a:lnTo>
                    <a:pt x="60" y="24"/>
                  </a:lnTo>
                  <a:lnTo>
                    <a:pt x="60" y="0"/>
                  </a:lnTo>
                  <a:lnTo>
                    <a:pt x="48" y="0"/>
                  </a:lnTo>
                  <a:lnTo>
                    <a:pt x="36" y="0"/>
                  </a:lnTo>
                  <a:lnTo>
                    <a:pt x="36" y="24"/>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6" name="Freeform 185"/>
            <p:cNvSpPr>
              <a:spLocks noEditPoints="1"/>
            </p:cNvSpPr>
            <p:nvPr/>
          </p:nvSpPr>
          <p:spPr bwMode="auto">
            <a:xfrm>
              <a:off x="4240" y="1715"/>
              <a:ext cx="54" cy="30"/>
            </a:xfrm>
            <a:custGeom>
              <a:avLst/>
              <a:gdLst>
                <a:gd name="T0" fmla="*/ 0 w 54"/>
                <a:gd name="T1" fmla="*/ 30 h 30"/>
                <a:gd name="T2" fmla="*/ 12 w 54"/>
                <a:gd name="T3" fmla="*/ 24 h 30"/>
                <a:gd name="T4" fmla="*/ 24 w 54"/>
                <a:gd name="T5" fmla="*/ 24 h 30"/>
                <a:gd name="T6" fmla="*/ 18 w 54"/>
                <a:gd name="T7" fmla="*/ 0 h 30"/>
                <a:gd name="T8" fmla="*/ 12 w 54"/>
                <a:gd name="T9" fmla="*/ 0 h 30"/>
                <a:gd name="T10" fmla="*/ 0 w 54"/>
                <a:gd name="T11" fmla="*/ 6 h 30"/>
                <a:gd name="T12" fmla="*/ 0 w 54"/>
                <a:gd name="T13" fmla="*/ 30 h 30"/>
                <a:gd name="T14" fmla="*/ 30 w 54"/>
                <a:gd name="T15" fmla="*/ 24 h 30"/>
                <a:gd name="T16" fmla="*/ 42 w 54"/>
                <a:gd name="T17" fmla="*/ 24 h 30"/>
                <a:gd name="T18" fmla="*/ 54 w 54"/>
                <a:gd name="T19" fmla="*/ 24 h 30"/>
                <a:gd name="T20" fmla="*/ 54 w 54"/>
                <a:gd name="T21" fmla="*/ 0 h 30"/>
                <a:gd name="T22" fmla="*/ 42 w 54"/>
                <a:gd name="T23" fmla="*/ 0 h 30"/>
                <a:gd name="T24" fmla="*/ 30 w 54"/>
                <a:gd name="T25" fmla="*/ 0 h 30"/>
                <a:gd name="T26" fmla="*/ 30 w 54"/>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 h="30">
                  <a:moveTo>
                    <a:pt x="0" y="30"/>
                  </a:moveTo>
                  <a:lnTo>
                    <a:pt x="12" y="24"/>
                  </a:lnTo>
                  <a:lnTo>
                    <a:pt x="24" y="24"/>
                  </a:lnTo>
                  <a:lnTo>
                    <a:pt x="18" y="0"/>
                  </a:lnTo>
                  <a:lnTo>
                    <a:pt x="12" y="0"/>
                  </a:lnTo>
                  <a:lnTo>
                    <a:pt x="0" y="6"/>
                  </a:lnTo>
                  <a:lnTo>
                    <a:pt x="0" y="30"/>
                  </a:lnTo>
                  <a:close/>
                  <a:moveTo>
                    <a:pt x="30" y="24"/>
                  </a:moveTo>
                  <a:lnTo>
                    <a:pt x="42" y="24"/>
                  </a:lnTo>
                  <a:lnTo>
                    <a:pt x="54" y="24"/>
                  </a:lnTo>
                  <a:lnTo>
                    <a:pt x="54" y="0"/>
                  </a:lnTo>
                  <a:lnTo>
                    <a:pt x="42" y="0"/>
                  </a:lnTo>
                  <a:lnTo>
                    <a:pt x="30" y="0"/>
                  </a:lnTo>
                  <a:lnTo>
                    <a:pt x="30" y="24"/>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7" name="Freeform 186"/>
            <p:cNvSpPr>
              <a:spLocks noEditPoints="1"/>
            </p:cNvSpPr>
            <p:nvPr/>
          </p:nvSpPr>
          <p:spPr bwMode="auto">
            <a:xfrm>
              <a:off x="4306" y="1715"/>
              <a:ext cx="24" cy="24"/>
            </a:xfrm>
            <a:custGeom>
              <a:avLst/>
              <a:gdLst>
                <a:gd name="T0" fmla="*/ 0 w 24"/>
                <a:gd name="T1" fmla="*/ 24 h 24"/>
                <a:gd name="T2" fmla="*/ 18 w 24"/>
                <a:gd name="T3" fmla="*/ 24 h 24"/>
                <a:gd name="T4" fmla="*/ 18 w 24"/>
                <a:gd name="T5" fmla="*/ 0 h 24"/>
                <a:gd name="T6" fmla="*/ 0 w 24"/>
                <a:gd name="T7" fmla="*/ 0 h 24"/>
                <a:gd name="T8" fmla="*/ 0 w 24"/>
                <a:gd name="T9" fmla="*/ 24 h 24"/>
                <a:gd name="T10" fmla="*/ 18 w 24"/>
                <a:gd name="T11" fmla="*/ 24 h 24"/>
                <a:gd name="T12" fmla="*/ 24 w 24"/>
                <a:gd name="T13" fmla="*/ 24 h 24"/>
                <a:gd name="T14" fmla="*/ 24 w 24"/>
                <a:gd name="T15" fmla="*/ 0 h 24"/>
                <a:gd name="T16" fmla="*/ 18 w 24"/>
                <a:gd name="T17" fmla="*/ 0 h 24"/>
                <a:gd name="T18" fmla="*/ 18 w 24"/>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24">
                  <a:moveTo>
                    <a:pt x="0" y="24"/>
                  </a:moveTo>
                  <a:lnTo>
                    <a:pt x="18" y="24"/>
                  </a:lnTo>
                  <a:lnTo>
                    <a:pt x="18" y="0"/>
                  </a:lnTo>
                  <a:lnTo>
                    <a:pt x="0" y="0"/>
                  </a:lnTo>
                  <a:lnTo>
                    <a:pt x="0" y="24"/>
                  </a:lnTo>
                  <a:close/>
                  <a:moveTo>
                    <a:pt x="18" y="24"/>
                  </a:moveTo>
                  <a:lnTo>
                    <a:pt x="24" y="24"/>
                  </a:lnTo>
                  <a:lnTo>
                    <a:pt x="24" y="0"/>
                  </a:lnTo>
                  <a:lnTo>
                    <a:pt x="18" y="0"/>
                  </a:lnTo>
                  <a:lnTo>
                    <a:pt x="18" y="24"/>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8" name="Freeform 187"/>
            <p:cNvSpPr>
              <a:spLocks noEditPoints="1"/>
            </p:cNvSpPr>
            <p:nvPr/>
          </p:nvSpPr>
          <p:spPr bwMode="auto">
            <a:xfrm>
              <a:off x="4324" y="1715"/>
              <a:ext cx="42" cy="24"/>
            </a:xfrm>
            <a:custGeom>
              <a:avLst/>
              <a:gdLst>
                <a:gd name="T0" fmla="*/ 0 w 42"/>
                <a:gd name="T1" fmla="*/ 0 h 24"/>
                <a:gd name="T2" fmla="*/ 0 w 42"/>
                <a:gd name="T3" fmla="*/ 0 h 24"/>
                <a:gd name="T4" fmla="*/ 0 w 42"/>
                <a:gd name="T5" fmla="*/ 0 h 24"/>
                <a:gd name="T6" fmla="*/ 0 w 42"/>
                <a:gd name="T7" fmla="*/ 12 h 24"/>
                <a:gd name="T8" fmla="*/ 0 w 42"/>
                <a:gd name="T9" fmla="*/ 0 h 24"/>
                <a:gd name="T10" fmla="*/ 18 w 42"/>
                <a:gd name="T11" fmla="*/ 24 h 24"/>
                <a:gd name="T12" fmla="*/ 36 w 42"/>
                <a:gd name="T13" fmla="*/ 24 h 24"/>
                <a:gd name="T14" fmla="*/ 42 w 42"/>
                <a:gd name="T15" fmla="*/ 0 h 24"/>
                <a:gd name="T16" fmla="*/ 30 w 42"/>
                <a:gd name="T17" fmla="*/ 0 h 24"/>
                <a:gd name="T18" fmla="*/ 18 w 42"/>
                <a:gd name="T19" fmla="*/ 0 h 24"/>
                <a:gd name="T20" fmla="*/ 18 w 42"/>
                <a:gd name="T21" fmla="*/ 24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 h="24">
                  <a:moveTo>
                    <a:pt x="0" y="0"/>
                  </a:moveTo>
                  <a:lnTo>
                    <a:pt x="0" y="0"/>
                  </a:lnTo>
                  <a:lnTo>
                    <a:pt x="0" y="12"/>
                  </a:lnTo>
                  <a:lnTo>
                    <a:pt x="0" y="0"/>
                  </a:lnTo>
                  <a:close/>
                  <a:moveTo>
                    <a:pt x="18" y="24"/>
                  </a:moveTo>
                  <a:lnTo>
                    <a:pt x="36" y="24"/>
                  </a:lnTo>
                  <a:lnTo>
                    <a:pt x="42" y="0"/>
                  </a:lnTo>
                  <a:lnTo>
                    <a:pt x="30" y="0"/>
                  </a:lnTo>
                  <a:lnTo>
                    <a:pt x="18" y="0"/>
                  </a:lnTo>
                  <a:lnTo>
                    <a:pt x="18" y="24"/>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9" name="Freeform 188"/>
            <p:cNvSpPr>
              <a:spLocks noEditPoints="1"/>
            </p:cNvSpPr>
            <p:nvPr/>
          </p:nvSpPr>
          <p:spPr bwMode="auto">
            <a:xfrm>
              <a:off x="4372" y="1715"/>
              <a:ext cx="60" cy="30"/>
            </a:xfrm>
            <a:custGeom>
              <a:avLst/>
              <a:gdLst>
                <a:gd name="T0" fmla="*/ 0 w 60"/>
                <a:gd name="T1" fmla="*/ 24 h 30"/>
                <a:gd name="T2" fmla="*/ 12 w 60"/>
                <a:gd name="T3" fmla="*/ 24 h 30"/>
                <a:gd name="T4" fmla="*/ 24 w 60"/>
                <a:gd name="T5" fmla="*/ 30 h 30"/>
                <a:gd name="T6" fmla="*/ 24 w 60"/>
                <a:gd name="T7" fmla="*/ 0 h 30"/>
                <a:gd name="T8" fmla="*/ 12 w 60"/>
                <a:gd name="T9" fmla="*/ 0 h 30"/>
                <a:gd name="T10" fmla="*/ 0 w 60"/>
                <a:gd name="T11" fmla="*/ 0 h 30"/>
                <a:gd name="T12" fmla="*/ 0 w 60"/>
                <a:gd name="T13" fmla="*/ 24 h 30"/>
                <a:gd name="T14" fmla="*/ 36 w 60"/>
                <a:gd name="T15" fmla="*/ 30 h 30"/>
                <a:gd name="T16" fmla="*/ 48 w 60"/>
                <a:gd name="T17" fmla="*/ 30 h 30"/>
                <a:gd name="T18" fmla="*/ 60 w 60"/>
                <a:gd name="T19" fmla="*/ 30 h 30"/>
                <a:gd name="T20" fmla="*/ 60 w 60"/>
                <a:gd name="T21" fmla="*/ 6 h 30"/>
                <a:gd name="T22" fmla="*/ 48 w 60"/>
                <a:gd name="T23" fmla="*/ 6 h 30"/>
                <a:gd name="T24" fmla="*/ 36 w 60"/>
                <a:gd name="T25" fmla="*/ 6 h 30"/>
                <a:gd name="T26" fmla="*/ 36 w 60"/>
                <a:gd name="T27" fmla="*/ 30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 h="30">
                  <a:moveTo>
                    <a:pt x="0" y="24"/>
                  </a:moveTo>
                  <a:lnTo>
                    <a:pt x="12" y="24"/>
                  </a:lnTo>
                  <a:lnTo>
                    <a:pt x="24" y="30"/>
                  </a:lnTo>
                  <a:lnTo>
                    <a:pt x="24" y="0"/>
                  </a:lnTo>
                  <a:lnTo>
                    <a:pt x="12" y="0"/>
                  </a:lnTo>
                  <a:lnTo>
                    <a:pt x="0" y="0"/>
                  </a:lnTo>
                  <a:lnTo>
                    <a:pt x="0" y="24"/>
                  </a:lnTo>
                  <a:close/>
                  <a:moveTo>
                    <a:pt x="36" y="30"/>
                  </a:moveTo>
                  <a:lnTo>
                    <a:pt x="48" y="30"/>
                  </a:lnTo>
                  <a:lnTo>
                    <a:pt x="60" y="30"/>
                  </a:lnTo>
                  <a:lnTo>
                    <a:pt x="60" y="6"/>
                  </a:lnTo>
                  <a:lnTo>
                    <a:pt x="48" y="6"/>
                  </a:lnTo>
                  <a:lnTo>
                    <a:pt x="36" y="6"/>
                  </a:lnTo>
                  <a:lnTo>
                    <a:pt x="36" y="30"/>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0" name="Freeform 189"/>
            <p:cNvSpPr>
              <a:spLocks noEditPoints="1"/>
            </p:cNvSpPr>
            <p:nvPr/>
          </p:nvSpPr>
          <p:spPr bwMode="auto">
            <a:xfrm>
              <a:off x="4437" y="1721"/>
              <a:ext cx="60" cy="30"/>
            </a:xfrm>
            <a:custGeom>
              <a:avLst/>
              <a:gdLst>
                <a:gd name="T0" fmla="*/ 0 w 60"/>
                <a:gd name="T1" fmla="*/ 24 h 30"/>
                <a:gd name="T2" fmla="*/ 12 w 60"/>
                <a:gd name="T3" fmla="*/ 24 h 30"/>
                <a:gd name="T4" fmla="*/ 24 w 60"/>
                <a:gd name="T5" fmla="*/ 30 h 30"/>
                <a:gd name="T6" fmla="*/ 30 w 60"/>
                <a:gd name="T7" fmla="*/ 6 h 30"/>
                <a:gd name="T8" fmla="*/ 18 w 60"/>
                <a:gd name="T9" fmla="*/ 0 h 30"/>
                <a:gd name="T10" fmla="*/ 6 w 60"/>
                <a:gd name="T11" fmla="*/ 0 h 30"/>
                <a:gd name="T12" fmla="*/ 0 w 60"/>
                <a:gd name="T13" fmla="*/ 24 h 30"/>
                <a:gd name="T14" fmla="*/ 36 w 60"/>
                <a:gd name="T15" fmla="*/ 30 h 30"/>
                <a:gd name="T16" fmla="*/ 48 w 60"/>
                <a:gd name="T17" fmla="*/ 30 h 30"/>
                <a:gd name="T18" fmla="*/ 60 w 60"/>
                <a:gd name="T19" fmla="*/ 30 h 30"/>
                <a:gd name="T20" fmla="*/ 60 w 60"/>
                <a:gd name="T21" fmla="*/ 6 h 30"/>
                <a:gd name="T22" fmla="*/ 42 w 60"/>
                <a:gd name="T23" fmla="*/ 6 h 30"/>
                <a:gd name="T24" fmla="*/ 36 w 60"/>
                <a:gd name="T25" fmla="*/ 30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0" h="30">
                  <a:moveTo>
                    <a:pt x="0" y="24"/>
                  </a:moveTo>
                  <a:lnTo>
                    <a:pt x="12" y="24"/>
                  </a:lnTo>
                  <a:lnTo>
                    <a:pt x="24" y="30"/>
                  </a:lnTo>
                  <a:lnTo>
                    <a:pt x="30" y="6"/>
                  </a:lnTo>
                  <a:lnTo>
                    <a:pt x="18" y="0"/>
                  </a:lnTo>
                  <a:lnTo>
                    <a:pt x="6" y="0"/>
                  </a:lnTo>
                  <a:lnTo>
                    <a:pt x="0" y="24"/>
                  </a:lnTo>
                  <a:close/>
                  <a:moveTo>
                    <a:pt x="36" y="30"/>
                  </a:moveTo>
                  <a:lnTo>
                    <a:pt x="48" y="30"/>
                  </a:lnTo>
                  <a:lnTo>
                    <a:pt x="60" y="30"/>
                  </a:lnTo>
                  <a:lnTo>
                    <a:pt x="60" y="6"/>
                  </a:lnTo>
                  <a:lnTo>
                    <a:pt x="42" y="6"/>
                  </a:lnTo>
                  <a:lnTo>
                    <a:pt x="36" y="30"/>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1" name="Freeform 190"/>
            <p:cNvSpPr>
              <a:spLocks noEditPoints="1"/>
            </p:cNvSpPr>
            <p:nvPr/>
          </p:nvSpPr>
          <p:spPr bwMode="auto">
            <a:xfrm>
              <a:off x="4503" y="1733"/>
              <a:ext cx="66" cy="36"/>
            </a:xfrm>
            <a:custGeom>
              <a:avLst/>
              <a:gdLst>
                <a:gd name="T0" fmla="*/ 0 w 66"/>
                <a:gd name="T1" fmla="*/ 24 h 36"/>
                <a:gd name="T2" fmla="*/ 12 w 66"/>
                <a:gd name="T3" fmla="*/ 24 h 36"/>
                <a:gd name="T4" fmla="*/ 24 w 66"/>
                <a:gd name="T5" fmla="*/ 24 h 36"/>
                <a:gd name="T6" fmla="*/ 30 w 66"/>
                <a:gd name="T7" fmla="*/ 6 h 36"/>
                <a:gd name="T8" fmla="*/ 18 w 66"/>
                <a:gd name="T9" fmla="*/ 0 h 36"/>
                <a:gd name="T10" fmla="*/ 6 w 66"/>
                <a:gd name="T11" fmla="*/ 0 h 36"/>
                <a:gd name="T12" fmla="*/ 0 w 66"/>
                <a:gd name="T13" fmla="*/ 24 h 36"/>
                <a:gd name="T14" fmla="*/ 36 w 66"/>
                <a:gd name="T15" fmla="*/ 30 h 36"/>
                <a:gd name="T16" fmla="*/ 48 w 66"/>
                <a:gd name="T17" fmla="*/ 30 h 36"/>
                <a:gd name="T18" fmla="*/ 60 w 66"/>
                <a:gd name="T19" fmla="*/ 36 h 36"/>
                <a:gd name="T20" fmla="*/ 66 w 66"/>
                <a:gd name="T21" fmla="*/ 12 h 36"/>
                <a:gd name="T22" fmla="*/ 54 w 66"/>
                <a:gd name="T23" fmla="*/ 6 h 36"/>
                <a:gd name="T24" fmla="*/ 42 w 66"/>
                <a:gd name="T25" fmla="*/ 6 h 36"/>
                <a:gd name="T26" fmla="*/ 36 w 66"/>
                <a:gd name="T27" fmla="*/ 30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6" h="36">
                  <a:moveTo>
                    <a:pt x="0" y="24"/>
                  </a:moveTo>
                  <a:lnTo>
                    <a:pt x="12" y="24"/>
                  </a:lnTo>
                  <a:lnTo>
                    <a:pt x="24" y="24"/>
                  </a:lnTo>
                  <a:lnTo>
                    <a:pt x="30" y="6"/>
                  </a:lnTo>
                  <a:lnTo>
                    <a:pt x="18" y="0"/>
                  </a:lnTo>
                  <a:lnTo>
                    <a:pt x="6" y="0"/>
                  </a:lnTo>
                  <a:lnTo>
                    <a:pt x="0" y="24"/>
                  </a:lnTo>
                  <a:close/>
                  <a:moveTo>
                    <a:pt x="36" y="30"/>
                  </a:moveTo>
                  <a:lnTo>
                    <a:pt x="48" y="30"/>
                  </a:lnTo>
                  <a:lnTo>
                    <a:pt x="60" y="36"/>
                  </a:lnTo>
                  <a:lnTo>
                    <a:pt x="66" y="12"/>
                  </a:lnTo>
                  <a:lnTo>
                    <a:pt x="54" y="6"/>
                  </a:lnTo>
                  <a:lnTo>
                    <a:pt x="42" y="6"/>
                  </a:lnTo>
                  <a:lnTo>
                    <a:pt x="36" y="30"/>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2" name="Freeform 191"/>
            <p:cNvSpPr>
              <a:spLocks noEditPoints="1"/>
            </p:cNvSpPr>
            <p:nvPr/>
          </p:nvSpPr>
          <p:spPr bwMode="auto">
            <a:xfrm>
              <a:off x="4569" y="1745"/>
              <a:ext cx="66" cy="42"/>
            </a:xfrm>
            <a:custGeom>
              <a:avLst/>
              <a:gdLst>
                <a:gd name="T0" fmla="*/ 0 w 66"/>
                <a:gd name="T1" fmla="*/ 24 h 42"/>
                <a:gd name="T2" fmla="*/ 12 w 66"/>
                <a:gd name="T3" fmla="*/ 30 h 42"/>
                <a:gd name="T4" fmla="*/ 24 w 66"/>
                <a:gd name="T5" fmla="*/ 30 h 42"/>
                <a:gd name="T6" fmla="*/ 30 w 66"/>
                <a:gd name="T7" fmla="*/ 6 h 42"/>
                <a:gd name="T8" fmla="*/ 18 w 66"/>
                <a:gd name="T9" fmla="*/ 6 h 42"/>
                <a:gd name="T10" fmla="*/ 6 w 66"/>
                <a:gd name="T11" fmla="*/ 0 h 42"/>
                <a:gd name="T12" fmla="*/ 0 w 66"/>
                <a:gd name="T13" fmla="*/ 24 h 42"/>
                <a:gd name="T14" fmla="*/ 36 w 66"/>
                <a:gd name="T15" fmla="*/ 36 h 42"/>
                <a:gd name="T16" fmla="*/ 48 w 66"/>
                <a:gd name="T17" fmla="*/ 36 h 42"/>
                <a:gd name="T18" fmla="*/ 54 w 66"/>
                <a:gd name="T19" fmla="*/ 42 h 42"/>
                <a:gd name="T20" fmla="*/ 66 w 66"/>
                <a:gd name="T21" fmla="*/ 18 h 42"/>
                <a:gd name="T22" fmla="*/ 54 w 66"/>
                <a:gd name="T23" fmla="*/ 18 h 42"/>
                <a:gd name="T24" fmla="*/ 42 w 66"/>
                <a:gd name="T25" fmla="*/ 12 h 42"/>
                <a:gd name="T26" fmla="*/ 36 w 66"/>
                <a:gd name="T27" fmla="*/ 36 h 4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6" h="42">
                  <a:moveTo>
                    <a:pt x="0" y="24"/>
                  </a:moveTo>
                  <a:lnTo>
                    <a:pt x="12" y="30"/>
                  </a:lnTo>
                  <a:lnTo>
                    <a:pt x="24" y="30"/>
                  </a:lnTo>
                  <a:lnTo>
                    <a:pt x="30" y="6"/>
                  </a:lnTo>
                  <a:lnTo>
                    <a:pt x="18" y="6"/>
                  </a:lnTo>
                  <a:lnTo>
                    <a:pt x="6" y="0"/>
                  </a:lnTo>
                  <a:lnTo>
                    <a:pt x="0" y="24"/>
                  </a:lnTo>
                  <a:close/>
                  <a:moveTo>
                    <a:pt x="36" y="36"/>
                  </a:moveTo>
                  <a:lnTo>
                    <a:pt x="48" y="36"/>
                  </a:lnTo>
                  <a:lnTo>
                    <a:pt x="54" y="42"/>
                  </a:lnTo>
                  <a:lnTo>
                    <a:pt x="66" y="18"/>
                  </a:lnTo>
                  <a:lnTo>
                    <a:pt x="54" y="18"/>
                  </a:lnTo>
                  <a:lnTo>
                    <a:pt x="42" y="12"/>
                  </a:lnTo>
                  <a:lnTo>
                    <a:pt x="36" y="36"/>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3" name="Freeform 192"/>
            <p:cNvSpPr>
              <a:spLocks noEditPoints="1"/>
            </p:cNvSpPr>
            <p:nvPr/>
          </p:nvSpPr>
          <p:spPr bwMode="auto">
            <a:xfrm>
              <a:off x="4635" y="1769"/>
              <a:ext cx="60" cy="42"/>
            </a:xfrm>
            <a:custGeom>
              <a:avLst/>
              <a:gdLst>
                <a:gd name="T0" fmla="*/ 0 w 60"/>
                <a:gd name="T1" fmla="*/ 18 h 42"/>
                <a:gd name="T2" fmla="*/ 12 w 60"/>
                <a:gd name="T3" fmla="*/ 24 h 42"/>
                <a:gd name="T4" fmla="*/ 18 w 60"/>
                <a:gd name="T5" fmla="*/ 30 h 42"/>
                <a:gd name="T6" fmla="*/ 30 w 60"/>
                <a:gd name="T7" fmla="*/ 6 h 42"/>
                <a:gd name="T8" fmla="*/ 18 w 60"/>
                <a:gd name="T9" fmla="*/ 0 h 42"/>
                <a:gd name="T10" fmla="*/ 6 w 60"/>
                <a:gd name="T11" fmla="*/ 0 h 42"/>
                <a:gd name="T12" fmla="*/ 0 w 60"/>
                <a:gd name="T13" fmla="*/ 18 h 42"/>
                <a:gd name="T14" fmla="*/ 30 w 60"/>
                <a:gd name="T15" fmla="*/ 30 h 42"/>
                <a:gd name="T16" fmla="*/ 42 w 60"/>
                <a:gd name="T17" fmla="*/ 36 h 42"/>
                <a:gd name="T18" fmla="*/ 54 w 60"/>
                <a:gd name="T19" fmla="*/ 42 h 42"/>
                <a:gd name="T20" fmla="*/ 60 w 60"/>
                <a:gd name="T21" fmla="*/ 18 h 42"/>
                <a:gd name="T22" fmla="*/ 54 w 60"/>
                <a:gd name="T23" fmla="*/ 18 h 42"/>
                <a:gd name="T24" fmla="*/ 42 w 60"/>
                <a:gd name="T25" fmla="*/ 12 h 42"/>
                <a:gd name="T26" fmla="*/ 30 w 60"/>
                <a:gd name="T27" fmla="*/ 30 h 4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 h="42">
                  <a:moveTo>
                    <a:pt x="0" y="18"/>
                  </a:moveTo>
                  <a:lnTo>
                    <a:pt x="12" y="24"/>
                  </a:lnTo>
                  <a:lnTo>
                    <a:pt x="18" y="30"/>
                  </a:lnTo>
                  <a:lnTo>
                    <a:pt x="30" y="6"/>
                  </a:lnTo>
                  <a:lnTo>
                    <a:pt x="18" y="0"/>
                  </a:lnTo>
                  <a:lnTo>
                    <a:pt x="6" y="0"/>
                  </a:lnTo>
                  <a:lnTo>
                    <a:pt x="0" y="18"/>
                  </a:lnTo>
                  <a:close/>
                  <a:moveTo>
                    <a:pt x="30" y="30"/>
                  </a:moveTo>
                  <a:lnTo>
                    <a:pt x="42" y="36"/>
                  </a:lnTo>
                  <a:lnTo>
                    <a:pt x="54" y="42"/>
                  </a:lnTo>
                  <a:lnTo>
                    <a:pt x="60" y="18"/>
                  </a:lnTo>
                  <a:lnTo>
                    <a:pt x="54" y="18"/>
                  </a:lnTo>
                  <a:lnTo>
                    <a:pt x="42" y="12"/>
                  </a:lnTo>
                  <a:lnTo>
                    <a:pt x="30" y="30"/>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4" name="Freeform 193"/>
            <p:cNvSpPr>
              <a:spLocks noEditPoints="1"/>
            </p:cNvSpPr>
            <p:nvPr/>
          </p:nvSpPr>
          <p:spPr bwMode="auto">
            <a:xfrm>
              <a:off x="4695" y="1793"/>
              <a:ext cx="59" cy="47"/>
            </a:xfrm>
            <a:custGeom>
              <a:avLst/>
              <a:gdLst>
                <a:gd name="T0" fmla="*/ 0 w 59"/>
                <a:gd name="T1" fmla="*/ 23 h 47"/>
                <a:gd name="T2" fmla="*/ 12 w 59"/>
                <a:gd name="T3" fmla="*/ 29 h 47"/>
                <a:gd name="T4" fmla="*/ 18 w 59"/>
                <a:gd name="T5" fmla="*/ 29 h 47"/>
                <a:gd name="T6" fmla="*/ 30 w 59"/>
                <a:gd name="T7" fmla="*/ 12 h 47"/>
                <a:gd name="T8" fmla="*/ 24 w 59"/>
                <a:gd name="T9" fmla="*/ 6 h 47"/>
                <a:gd name="T10" fmla="*/ 12 w 59"/>
                <a:gd name="T11" fmla="*/ 0 h 47"/>
                <a:gd name="T12" fmla="*/ 0 w 59"/>
                <a:gd name="T13" fmla="*/ 23 h 47"/>
                <a:gd name="T14" fmla="*/ 30 w 59"/>
                <a:gd name="T15" fmla="*/ 35 h 47"/>
                <a:gd name="T16" fmla="*/ 42 w 59"/>
                <a:gd name="T17" fmla="*/ 41 h 47"/>
                <a:gd name="T18" fmla="*/ 48 w 59"/>
                <a:gd name="T19" fmla="*/ 47 h 47"/>
                <a:gd name="T20" fmla="*/ 59 w 59"/>
                <a:gd name="T21" fmla="*/ 29 h 47"/>
                <a:gd name="T22" fmla="*/ 54 w 59"/>
                <a:gd name="T23" fmla="*/ 23 h 47"/>
                <a:gd name="T24" fmla="*/ 42 w 59"/>
                <a:gd name="T25" fmla="*/ 18 h 47"/>
                <a:gd name="T26" fmla="*/ 30 w 59"/>
                <a:gd name="T27" fmla="*/ 35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9" h="47">
                  <a:moveTo>
                    <a:pt x="0" y="23"/>
                  </a:moveTo>
                  <a:lnTo>
                    <a:pt x="12" y="29"/>
                  </a:lnTo>
                  <a:lnTo>
                    <a:pt x="18" y="29"/>
                  </a:lnTo>
                  <a:lnTo>
                    <a:pt x="30" y="12"/>
                  </a:lnTo>
                  <a:lnTo>
                    <a:pt x="24" y="6"/>
                  </a:lnTo>
                  <a:lnTo>
                    <a:pt x="12" y="0"/>
                  </a:lnTo>
                  <a:lnTo>
                    <a:pt x="0" y="23"/>
                  </a:lnTo>
                  <a:close/>
                  <a:moveTo>
                    <a:pt x="30" y="35"/>
                  </a:moveTo>
                  <a:lnTo>
                    <a:pt x="42" y="41"/>
                  </a:lnTo>
                  <a:lnTo>
                    <a:pt x="48" y="47"/>
                  </a:lnTo>
                  <a:lnTo>
                    <a:pt x="59" y="29"/>
                  </a:lnTo>
                  <a:lnTo>
                    <a:pt x="54" y="23"/>
                  </a:lnTo>
                  <a:lnTo>
                    <a:pt x="42" y="18"/>
                  </a:lnTo>
                  <a:lnTo>
                    <a:pt x="30" y="35"/>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5" name="Freeform 194"/>
            <p:cNvSpPr>
              <a:spLocks noEditPoints="1"/>
            </p:cNvSpPr>
            <p:nvPr/>
          </p:nvSpPr>
          <p:spPr bwMode="auto">
            <a:xfrm>
              <a:off x="4754" y="1828"/>
              <a:ext cx="54" cy="54"/>
            </a:xfrm>
            <a:custGeom>
              <a:avLst/>
              <a:gdLst>
                <a:gd name="T0" fmla="*/ 0 w 54"/>
                <a:gd name="T1" fmla="*/ 18 h 54"/>
                <a:gd name="T2" fmla="*/ 12 w 54"/>
                <a:gd name="T3" fmla="*/ 24 h 54"/>
                <a:gd name="T4" fmla="*/ 18 w 54"/>
                <a:gd name="T5" fmla="*/ 30 h 54"/>
                <a:gd name="T6" fmla="*/ 30 w 54"/>
                <a:gd name="T7" fmla="*/ 12 h 54"/>
                <a:gd name="T8" fmla="*/ 24 w 54"/>
                <a:gd name="T9" fmla="*/ 6 h 54"/>
                <a:gd name="T10" fmla="*/ 12 w 54"/>
                <a:gd name="T11" fmla="*/ 0 h 54"/>
                <a:gd name="T12" fmla="*/ 0 w 54"/>
                <a:gd name="T13" fmla="*/ 18 h 54"/>
                <a:gd name="T14" fmla="*/ 24 w 54"/>
                <a:gd name="T15" fmla="*/ 36 h 54"/>
                <a:gd name="T16" fmla="*/ 42 w 54"/>
                <a:gd name="T17" fmla="*/ 54 h 54"/>
                <a:gd name="T18" fmla="*/ 54 w 54"/>
                <a:gd name="T19" fmla="*/ 36 h 54"/>
                <a:gd name="T20" fmla="*/ 42 w 54"/>
                <a:gd name="T21" fmla="*/ 18 h 54"/>
                <a:gd name="T22" fmla="*/ 24 w 54"/>
                <a:gd name="T23" fmla="*/ 36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54">
                  <a:moveTo>
                    <a:pt x="0" y="18"/>
                  </a:moveTo>
                  <a:lnTo>
                    <a:pt x="12" y="24"/>
                  </a:lnTo>
                  <a:lnTo>
                    <a:pt x="18" y="30"/>
                  </a:lnTo>
                  <a:lnTo>
                    <a:pt x="30" y="12"/>
                  </a:lnTo>
                  <a:lnTo>
                    <a:pt x="24" y="6"/>
                  </a:lnTo>
                  <a:lnTo>
                    <a:pt x="12" y="0"/>
                  </a:lnTo>
                  <a:lnTo>
                    <a:pt x="0" y="18"/>
                  </a:lnTo>
                  <a:close/>
                  <a:moveTo>
                    <a:pt x="24" y="36"/>
                  </a:moveTo>
                  <a:lnTo>
                    <a:pt x="42" y="54"/>
                  </a:lnTo>
                  <a:lnTo>
                    <a:pt x="54" y="36"/>
                  </a:lnTo>
                  <a:lnTo>
                    <a:pt x="42" y="18"/>
                  </a:lnTo>
                  <a:lnTo>
                    <a:pt x="24" y="36"/>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6" name="Freeform 195"/>
            <p:cNvSpPr>
              <a:spLocks noEditPoints="1"/>
            </p:cNvSpPr>
            <p:nvPr/>
          </p:nvSpPr>
          <p:spPr bwMode="auto">
            <a:xfrm>
              <a:off x="4802" y="1870"/>
              <a:ext cx="54" cy="60"/>
            </a:xfrm>
            <a:custGeom>
              <a:avLst/>
              <a:gdLst>
                <a:gd name="T0" fmla="*/ 0 w 54"/>
                <a:gd name="T1" fmla="*/ 18 h 60"/>
                <a:gd name="T2" fmla="*/ 12 w 54"/>
                <a:gd name="T3" fmla="*/ 36 h 60"/>
                <a:gd name="T4" fmla="*/ 30 w 54"/>
                <a:gd name="T5" fmla="*/ 18 h 60"/>
                <a:gd name="T6" fmla="*/ 18 w 54"/>
                <a:gd name="T7" fmla="*/ 0 h 60"/>
                <a:gd name="T8" fmla="*/ 0 w 54"/>
                <a:gd name="T9" fmla="*/ 18 h 60"/>
                <a:gd name="T10" fmla="*/ 18 w 54"/>
                <a:gd name="T11" fmla="*/ 42 h 60"/>
                <a:gd name="T12" fmla="*/ 24 w 54"/>
                <a:gd name="T13" fmla="*/ 54 h 60"/>
                <a:gd name="T14" fmla="*/ 30 w 54"/>
                <a:gd name="T15" fmla="*/ 60 h 60"/>
                <a:gd name="T16" fmla="*/ 54 w 54"/>
                <a:gd name="T17" fmla="*/ 54 h 60"/>
                <a:gd name="T18" fmla="*/ 48 w 54"/>
                <a:gd name="T19" fmla="*/ 42 h 60"/>
                <a:gd name="T20" fmla="*/ 42 w 54"/>
                <a:gd name="T21" fmla="*/ 30 h 60"/>
                <a:gd name="T22" fmla="*/ 18 w 54"/>
                <a:gd name="T23" fmla="*/ 42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60">
                  <a:moveTo>
                    <a:pt x="0" y="18"/>
                  </a:moveTo>
                  <a:lnTo>
                    <a:pt x="12" y="36"/>
                  </a:lnTo>
                  <a:lnTo>
                    <a:pt x="30" y="18"/>
                  </a:lnTo>
                  <a:lnTo>
                    <a:pt x="18" y="0"/>
                  </a:lnTo>
                  <a:lnTo>
                    <a:pt x="0" y="18"/>
                  </a:lnTo>
                  <a:close/>
                  <a:moveTo>
                    <a:pt x="18" y="42"/>
                  </a:moveTo>
                  <a:lnTo>
                    <a:pt x="24" y="54"/>
                  </a:lnTo>
                  <a:lnTo>
                    <a:pt x="30" y="60"/>
                  </a:lnTo>
                  <a:lnTo>
                    <a:pt x="54" y="54"/>
                  </a:lnTo>
                  <a:lnTo>
                    <a:pt x="48" y="42"/>
                  </a:lnTo>
                  <a:lnTo>
                    <a:pt x="42" y="30"/>
                  </a:lnTo>
                  <a:lnTo>
                    <a:pt x="18" y="42"/>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7" name="Freeform 196"/>
            <p:cNvSpPr>
              <a:spLocks noEditPoints="1"/>
            </p:cNvSpPr>
            <p:nvPr/>
          </p:nvSpPr>
          <p:spPr bwMode="auto">
            <a:xfrm>
              <a:off x="4838" y="1930"/>
              <a:ext cx="30" cy="60"/>
            </a:xfrm>
            <a:custGeom>
              <a:avLst/>
              <a:gdLst>
                <a:gd name="T0" fmla="*/ 0 w 30"/>
                <a:gd name="T1" fmla="*/ 12 h 60"/>
                <a:gd name="T2" fmla="*/ 0 w 30"/>
                <a:gd name="T3" fmla="*/ 24 h 60"/>
                <a:gd name="T4" fmla="*/ 6 w 30"/>
                <a:gd name="T5" fmla="*/ 30 h 60"/>
                <a:gd name="T6" fmla="*/ 30 w 30"/>
                <a:gd name="T7" fmla="*/ 24 h 60"/>
                <a:gd name="T8" fmla="*/ 24 w 30"/>
                <a:gd name="T9" fmla="*/ 12 h 60"/>
                <a:gd name="T10" fmla="*/ 18 w 30"/>
                <a:gd name="T11" fmla="*/ 0 h 60"/>
                <a:gd name="T12" fmla="*/ 0 w 30"/>
                <a:gd name="T13" fmla="*/ 12 h 60"/>
                <a:gd name="T14" fmla="*/ 6 w 30"/>
                <a:gd name="T15" fmla="*/ 42 h 60"/>
                <a:gd name="T16" fmla="*/ 6 w 30"/>
                <a:gd name="T17" fmla="*/ 60 h 60"/>
                <a:gd name="T18" fmla="*/ 30 w 30"/>
                <a:gd name="T19" fmla="*/ 54 h 60"/>
                <a:gd name="T20" fmla="*/ 30 w 30"/>
                <a:gd name="T21" fmla="*/ 36 h 60"/>
                <a:gd name="T22" fmla="*/ 6 w 30"/>
                <a:gd name="T23" fmla="*/ 42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0" h="60">
                  <a:moveTo>
                    <a:pt x="0" y="12"/>
                  </a:moveTo>
                  <a:lnTo>
                    <a:pt x="0" y="24"/>
                  </a:lnTo>
                  <a:lnTo>
                    <a:pt x="6" y="30"/>
                  </a:lnTo>
                  <a:lnTo>
                    <a:pt x="30" y="24"/>
                  </a:lnTo>
                  <a:lnTo>
                    <a:pt x="24" y="12"/>
                  </a:lnTo>
                  <a:lnTo>
                    <a:pt x="18" y="0"/>
                  </a:lnTo>
                  <a:lnTo>
                    <a:pt x="0" y="12"/>
                  </a:lnTo>
                  <a:close/>
                  <a:moveTo>
                    <a:pt x="6" y="42"/>
                  </a:moveTo>
                  <a:lnTo>
                    <a:pt x="6" y="60"/>
                  </a:lnTo>
                  <a:lnTo>
                    <a:pt x="30" y="54"/>
                  </a:lnTo>
                  <a:lnTo>
                    <a:pt x="30" y="36"/>
                  </a:lnTo>
                  <a:lnTo>
                    <a:pt x="6" y="42"/>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8" name="Line 197"/>
            <p:cNvSpPr>
              <a:spLocks noChangeShapeType="1"/>
            </p:cNvSpPr>
            <p:nvPr/>
          </p:nvSpPr>
          <p:spPr bwMode="auto">
            <a:xfrm>
              <a:off x="3774" y="1984"/>
              <a:ext cx="1082" cy="1"/>
            </a:xfrm>
            <a:prstGeom prst="line">
              <a:avLst/>
            </a:prstGeom>
            <a:noFill/>
            <a:ln w="0">
              <a:solidFill>
                <a:srgbClr val="FFFFFF"/>
              </a:solidFill>
              <a:prstDash val="sys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 name="Rectangle 198"/>
            <p:cNvSpPr>
              <a:spLocks noChangeArrowheads="1"/>
            </p:cNvSpPr>
            <p:nvPr/>
          </p:nvSpPr>
          <p:spPr bwMode="auto">
            <a:xfrm>
              <a:off x="3774" y="1978"/>
              <a:ext cx="24" cy="18"/>
            </a:xfrm>
            <a:prstGeom prst="rect">
              <a:avLst/>
            </a:prstGeom>
            <a:solidFill>
              <a:srgbClr val="FF7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0" name="Freeform 199"/>
            <p:cNvSpPr>
              <a:spLocks noEditPoints="1"/>
            </p:cNvSpPr>
            <p:nvPr/>
          </p:nvSpPr>
          <p:spPr bwMode="auto">
            <a:xfrm>
              <a:off x="3809" y="1978"/>
              <a:ext cx="54" cy="18"/>
            </a:xfrm>
            <a:custGeom>
              <a:avLst/>
              <a:gdLst>
                <a:gd name="T0" fmla="*/ 0 w 54"/>
                <a:gd name="T1" fmla="*/ 18 h 18"/>
                <a:gd name="T2" fmla="*/ 18 w 54"/>
                <a:gd name="T3" fmla="*/ 18 h 18"/>
                <a:gd name="T4" fmla="*/ 18 w 54"/>
                <a:gd name="T5" fmla="*/ 0 h 18"/>
                <a:gd name="T6" fmla="*/ 0 w 54"/>
                <a:gd name="T7" fmla="*/ 0 h 18"/>
                <a:gd name="T8" fmla="*/ 0 w 54"/>
                <a:gd name="T9" fmla="*/ 18 h 18"/>
                <a:gd name="T10" fmla="*/ 30 w 54"/>
                <a:gd name="T11" fmla="*/ 18 h 18"/>
                <a:gd name="T12" fmla="*/ 54 w 54"/>
                <a:gd name="T13" fmla="*/ 18 h 18"/>
                <a:gd name="T14" fmla="*/ 54 w 54"/>
                <a:gd name="T15" fmla="*/ 0 h 18"/>
                <a:gd name="T16" fmla="*/ 30 w 54"/>
                <a:gd name="T17" fmla="*/ 0 h 18"/>
                <a:gd name="T18" fmla="*/ 30 w 54"/>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18">
                  <a:moveTo>
                    <a:pt x="0" y="18"/>
                  </a:moveTo>
                  <a:lnTo>
                    <a:pt x="18" y="18"/>
                  </a:lnTo>
                  <a:lnTo>
                    <a:pt x="18" y="0"/>
                  </a:lnTo>
                  <a:lnTo>
                    <a:pt x="0" y="0"/>
                  </a:lnTo>
                  <a:lnTo>
                    <a:pt x="0" y="18"/>
                  </a:lnTo>
                  <a:close/>
                  <a:moveTo>
                    <a:pt x="30" y="18"/>
                  </a:moveTo>
                  <a:lnTo>
                    <a:pt x="54" y="18"/>
                  </a:lnTo>
                  <a:lnTo>
                    <a:pt x="54" y="0"/>
                  </a:lnTo>
                  <a:lnTo>
                    <a:pt x="30" y="0"/>
                  </a:lnTo>
                  <a:lnTo>
                    <a:pt x="30"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1" name="Freeform 200"/>
            <p:cNvSpPr>
              <a:spLocks noEditPoints="1"/>
            </p:cNvSpPr>
            <p:nvPr/>
          </p:nvSpPr>
          <p:spPr bwMode="auto">
            <a:xfrm>
              <a:off x="3875" y="1978"/>
              <a:ext cx="54" cy="18"/>
            </a:xfrm>
            <a:custGeom>
              <a:avLst/>
              <a:gdLst>
                <a:gd name="T0" fmla="*/ 0 w 54"/>
                <a:gd name="T1" fmla="*/ 18 h 18"/>
                <a:gd name="T2" fmla="*/ 24 w 54"/>
                <a:gd name="T3" fmla="*/ 18 h 18"/>
                <a:gd name="T4" fmla="*/ 24 w 54"/>
                <a:gd name="T5" fmla="*/ 0 h 18"/>
                <a:gd name="T6" fmla="*/ 0 w 54"/>
                <a:gd name="T7" fmla="*/ 0 h 18"/>
                <a:gd name="T8" fmla="*/ 0 w 54"/>
                <a:gd name="T9" fmla="*/ 18 h 18"/>
                <a:gd name="T10" fmla="*/ 36 w 54"/>
                <a:gd name="T11" fmla="*/ 18 h 18"/>
                <a:gd name="T12" fmla="*/ 54 w 54"/>
                <a:gd name="T13" fmla="*/ 18 h 18"/>
                <a:gd name="T14" fmla="*/ 54 w 54"/>
                <a:gd name="T15" fmla="*/ 0 h 18"/>
                <a:gd name="T16" fmla="*/ 36 w 54"/>
                <a:gd name="T17" fmla="*/ 0 h 18"/>
                <a:gd name="T18" fmla="*/ 36 w 54"/>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18">
                  <a:moveTo>
                    <a:pt x="0" y="18"/>
                  </a:moveTo>
                  <a:lnTo>
                    <a:pt x="24" y="18"/>
                  </a:lnTo>
                  <a:lnTo>
                    <a:pt x="24" y="0"/>
                  </a:lnTo>
                  <a:lnTo>
                    <a:pt x="0" y="0"/>
                  </a:lnTo>
                  <a:lnTo>
                    <a:pt x="0" y="18"/>
                  </a:lnTo>
                  <a:close/>
                  <a:moveTo>
                    <a:pt x="36" y="18"/>
                  </a:moveTo>
                  <a:lnTo>
                    <a:pt x="54" y="18"/>
                  </a:lnTo>
                  <a:lnTo>
                    <a:pt x="54" y="0"/>
                  </a:lnTo>
                  <a:lnTo>
                    <a:pt x="36" y="0"/>
                  </a:lnTo>
                  <a:lnTo>
                    <a:pt x="36"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2" name="Freeform 201"/>
            <p:cNvSpPr>
              <a:spLocks noEditPoints="1"/>
            </p:cNvSpPr>
            <p:nvPr/>
          </p:nvSpPr>
          <p:spPr bwMode="auto">
            <a:xfrm>
              <a:off x="3941" y="1978"/>
              <a:ext cx="60" cy="18"/>
            </a:xfrm>
            <a:custGeom>
              <a:avLst/>
              <a:gdLst>
                <a:gd name="T0" fmla="*/ 0 w 60"/>
                <a:gd name="T1" fmla="*/ 18 h 18"/>
                <a:gd name="T2" fmla="*/ 24 w 60"/>
                <a:gd name="T3" fmla="*/ 18 h 18"/>
                <a:gd name="T4" fmla="*/ 24 w 60"/>
                <a:gd name="T5" fmla="*/ 0 h 18"/>
                <a:gd name="T6" fmla="*/ 0 w 60"/>
                <a:gd name="T7" fmla="*/ 0 h 18"/>
                <a:gd name="T8" fmla="*/ 0 w 60"/>
                <a:gd name="T9" fmla="*/ 18 h 18"/>
                <a:gd name="T10" fmla="*/ 36 w 60"/>
                <a:gd name="T11" fmla="*/ 18 h 18"/>
                <a:gd name="T12" fmla="*/ 60 w 60"/>
                <a:gd name="T13" fmla="*/ 18 h 18"/>
                <a:gd name="T14" fmla="*/ 60 w 60"/>
                <a:gd name="T15" fmla="*/ 0 h 18"/>
                <a:gd name="T16" fmla="*/ 36 w 60"/>
                <a:gd name="T17" fmla="*/ 0 h 18"/>
                <a:gd name="T18" fmla="*/ 36 w 60"/>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18">
                  <a:moveTo>
                    <a:pt x="0" y="18"/>
                  </a:moveTo>
                  <a:lnTo>
                    <a:pt x="24" y="18"/>
                  </a:lnTo>
                  <a:lnTo>
                    <a:pt x="24" y="0"/>
                  </a:lnTo>
                  <a:lnTo>
                    <a:pt x="0" y="0"/>
                  </a:lnTo>
                  <a:lnTo>
                    <a:pt x="0" y="18"/>
                  </a:lnTo>
                  <a:close/>
                  <a:moveTo>
                    <a:pt x="36" y="18"/>
                  </a:moveTo>
                  <a:lnTo>
                    <a:pt x="60" y="18"/>
                  </a:lnTo>
                  <a:lnTo>
                    <a:pt x="60" y="0"/>
                  </a:lnTo>
                  <a:lnTo>
                    <a:pt x="36" y="0"/>
                  </a:lnTo>
                  <a:lnTo>
                    <a:pt x="36"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3" name="Freeform 202"/>
            <p:cNvSpPr>
              <a:spLocks noEditPoints="1"/>
            </p:cNvSpPr>
            <p:nvPr/>
          </p:nvSpPr>
          <p:spPr bwMode="auto">
            <a:xfrm>
              <a:off x="4013" y="1978"/>
              <a:ext cx="54" cy="18"/>
            </a:xfrm>
            <a:custGeom>
              <a:avLst/>
              <a:gdLst>
                <a:gd name="T0" fmla="*/ 0 w 54"/>
                <a:gd name="T1" fmla="*/ 18 h 18"/>
                <a:gd name="T2" fmla="*/ 18 w 54"/>
                <a:gd name="T3" fmla="*/ 18 h 18"/>
                <a:gd name="T4" fmla="*/ 18 w 54"/>
                <a:gd name="T5" fmla="*/ 0 h 18"/>
                <a:gd name="T6" fmla="*/ 0 w 54"/>
                <a:gd name="T7" fmla="*/ 0 h 18"/>
                <a:gd name="T8" fmla="*/ 0 w 54"/>
                <a:gd name="T9" fmla="*/ 18 h 18"/>
                <a:gd name="T10" fmla="*/ 30 w 54"/>
                <a:gd name="T11" fmla="*/ 18 h 18"/>
                <a:gd name="T12" fmla="*/ 54 w 54"/>
                <a:gd name="T13" fmla="*/ 18 h 18"/>
                <a:gd name="T14" fmla="*/ 54 w 54"/>
                <a:gd name="T15" fmla="*/ 0 h 18"/>
                <a:gd name="T16" fmla="*/ 30 w 54"/>
                <a:gd name="T17" fmla="*/ 0 h 18"/>
                <a:gd name="T18" fmla="*/ 30 w 54"/>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18">
                  <a:moveTo>
                    <a:pt x="0" y="18"/>
                  </a:moveTo>
                  <a:lnTo>
                    <a:pt x="18" y="18"/>
                  </a:lnTo>
                  <a:lnTo>
                    <a:pt x="18" y="0"/>
                  </a:lnTo>
                  <a:lnTo>
                    <a:pt x="0" y="0"/>
                  </a:lnTo>
                  <a:lnTo>
                    <a:pt x="0" y="18"/>
                  </a:lnTo>
                  <a:close/>
                  <a:moveTo>
                    <a:pt x="30" y="18"/>
                  </a:moveTo>
                  <a:lnTo>
                    <a:pt x="54" y="18"/>
                  </a:lnTo>
                  <a:lnTo>
                    <a:pt x="54" y="0"/>
                  </a:lnTo>
                  <a:lnTo>
                    <a:pt x="30" y="0"/>
                  </a:lnTo>
                  <a:lnTo>
                    <a:pt x="30"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4" name="Freeform 203"/>
            <p:cNvSpPr>
              <a:spLocks noEditPoints="1"/>
            </p:cNvSpPr>
            <p:nvPr/>
          </p:nvSpPr>
          <p:spPr bwMode="auto">
            <a:xfrm>
              <a:off x="4079" y="1978"/>
              <a:ext cx="53" cy="18"/>
            </a:xfrm>
            <a:custGeom>
              <a:avLst/>
              <a:gdLst>
                <a:gd name="T0" fmla="*/ 0 w 53"/>
                <a:gd name="T1" fmla="*/ 18 h 18"/>
                <a:gd name="T2" fmla="*/ 24 w 53"/>
                <a:gd name="T3" fmla="*/ 18 h 18"/>
                <a:gd name="T4" fmla="*/ 24 w 53"/>
                <a:gd name="T5" fmla="*/ 0 h 18"/>
                <a:gd name="T6" fmla="*/ 0 w 53"/>
                <a:gd name="T7" fmla="*/ 0 h 18"/>
                <a:gd name="T8" fmla="*/ 0 w 53"/>
                <a:gd name="T9" fmla="*/ 18 h 18"/>
                <a:gd name="T10" fmla="*/ 36 w 53"/>
                <a:gd name="T11" fmla="*/ 18 h 18"/>
                <a:gd name="T12" fmla="*/ 53 w 53"/>
                <a:gd name="T13" fmla="*/ 18 h 18"/>
                <a:gd name="T14" fmla="*/ 53 w 53"/>
                <a:gd name="T15" fmla="*/ 0 h 18"/>
                <a:gd name="T16" fmla="*/ 36 w 53"/>
                <a:gd name="T17" fmla="*/ 0 h 18"/>
                <a:gd name="T18" fmla="*/ 36 w 53"/>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3" h="18">
                  <a:moveTo>
                    <a:pt x="0" y="18"/>
                  </a:moveTo>
                  <a:lnTo>
                    <a:pt x="24" y="18"/>
                  </a:lnTo>
                  <a:lnTo>
                    <a:pt x="24" y="0"/>
                  </a:lnTo>
                  <a:lnTo>
                    <a:pt x="0" y="0"/>
                  </a:lnTo>
                  <a:lnTo>
                    <a:pt x="0" y="18"/>
                  </a:lnTo>
                  <a:close/>
                  <a:moveTo>
                    <a:pt x="36" y="18"/>
                  </a:moveTo>
                  <a:lnTo>
                    <a:pt x="53" y="18"/>
                  </a:lnTo>
                  <a:lnTo>
                    <a:pt x="53" y="0"/>
                  </a:lnTo>
                  <a:lnTo>
                    <a:pt x="36" y="0"/>
                  </a:lnTo>
                  <a:lnTo>
                    <a:pt x="36"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5" name="Freeform 204"/>
            <p:cNvSpPr>
              <a:spLocks noEditPoints="1"/>
            </p:cNvSpPr>
            <p:nvPr/>
          </p:nvSpPr>
          <p:spPr bwMode="auto">
            <a:xfrm>
              <a:off x="4144" y="1978"/>
              <a:ext cx="60" cy="18"/>
            </a:xfrm>
            <a:custGeom>
              <a:avLst/>
              <a:gdLst>
                <a:gd name="T0" fmla="*/ 0 w 60"/>
                <a:gd name="T1" fmla="*/ 18 h 18"/>
                <a:gd name="T2" fmla="*/ 24 w 60"/>
                <a:gd name="T3" fmla="*/ 18 h 18"/>
                <a:gd name="T4" fmla="*/ 24 w 60"/>
                <a:gd name="T5" fmla="*/ 0 h 18"/>
                <a:gd name="T6" fmla="*/ 0 w 60"/>
                <a:gd name="T7" fmla="*/ 0 h 18"/>
                <a:gd name="T8" fmla="*/ 0 w 60"/>
                <a:gd name="T9" fmla="*/ 18 h 18"/>
                <a:gd name="T10" fmla="*/ 36 w 60"/>
                <a:gd name="T11" fmla="*/ 18 h 18"/>
                <a:gd name="T12" fmla="*/ 60 w 60"/>
                <a:gd name="T13" fmla="*/ 18 h 18"/>
                <a:gd name="T14" fmla="*/ 60 w 60"/>
                <a:gd name="T15" fmla="*/ 0 h 18"/>
                <a:gd name="T16" fmla="*/ 36 w 60"/>
                <a:gd name="T17" fmla="*/ 0 h 18"/>
                <a:gd name="T18" fmla="*/ 36 w 60"/>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18">
                  <a:moveTo>
                    <a:pt x="0" y="18"/>
                  </a:moveTo>
                  <a:lnTo>
                    <a:pt x="24" y="18"/>
                  </a:lnTo>
                  <a:lnTo>
                    <a:pt x="24" y="0"/>
                  </a:lnTo>
                  <a:lnTo>
                    <a:pt x="0" y="0"/>
                  </a:lnTo>
                  <a:lnTo>
                    <a:pt x="0" y="18"/>
                  </a:lnTo>
                  <a:close/>
                  <a:moveTo>
                    <a:pt x="36" y="18"/>
                  </a:moveTo>
                  <a:lnTo>
                    <a:pt x="60" y="18"/>
                  </a:lnTo>
                  <a:lnTo>
                    <a:pt x="60" y="0"/>
                  </a:lnTo>
                  <a:lnTo>
                    <a:pt x="36" y="0"/>
                  </a:lnTo>
                  <a:lnTo>
                    <a:pt x="36"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6" name="Freeform 205"/>
            <p:cNvSpPr>
              <a:spLocks noEditPoints="1"/>
            </p:cNvSpPr>
            <p:nvPr/>
          </p:nvSpPr>
          <p:spPr bwMode="auto">
            <a:xfrm>
              <a:off x="4216" y="1978"/>
              <a:ext cx="54" cy="18"/>
            </a:xfrm>
            <a:custGeom>
              <a:avLst/>
              <a:gdLst>
                <a:gd name="T0" fmla="*/ 0 w 54"/>
                <a:gd name="T1" fmla="*/ 18 h 18"/>
                <a:gd name="T2" fmla="*/ 18 w 54"/>
                <a:gd name="T3" fmla="*/ 18 h 18"/>
                <a:gd name="T4" fmla="*/ 18 w 54"/>
                <a:gd name="T5" fmla="*/ 0 h 18"/>
                <a:gd name="T6" fmla="*/ 0 w 54"/>
                <a:gd name="T7" fmla="*/ 0 h 18"/>
                <a:gd name="T8" fmla="*/ 0 w 54"/>
                <a:gd name="T9" fmla="*/ 18 h 18"/>
                <a:gd name="T10" fmla="*/ 30 w 54"/>
                <a:gd name="T11" fmla="*/ 18 h 18"/>
                <a:gd name="T12" fmla="*/ 54 w 54"/>
                <a:gd name="T13" fmla="*/ 18 h 18"/>
                <a:gd name="T14" fmla="*/ 54 w 54"/>
                <a:gd name="T15" fmla="*/ 0 h 18"/>
                <a:gd name="T16" fmla="*/ 30 w 54"/>
                <a:gd name="T17" fmla="*/ 0 h 18"/>
                <a:gd name="T18" fmla="*/ 30 w 54"/>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18">
                  <a:moveTo>
                    <a:pt x="0" y="18"/>
                  </a:moveTo>
                  <a:lnTo>
                    <a:pt x="18" y="18"/>
                  </a:lnTo>
                  <a:lnTo>
                    <a:pt x="18" y="0"/>
                  </a:lnTo>
                  <a:lnTo>
                    <a:pt x="0" y="0"/>
                  </a:lnTo>
                  <a:lnTo>
                    <a:pt x="0" y="18"/>
                  </a:lnTo>
                  <a:close/>
                  <a:moveTo>
                    <a:pt x="30" y="18"/>
                  </a:moveTo>
                  <a:lnTo>
                    <a:pt x="54" y="18"/>
                  </a:lnTo>
                  <a:lnTo>
                    <a:pt x="54" y="0"/>
                  </a:lnTo>
                  <a:lnTo>
                    <a:pt x="30" y="0"/>
                  </a:lnTo>
                  <a:lnTo>
                    <a:pt x="30"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7" name="Freeform 206"/>
            <p:cNvSpPr>
              <a:spLocks noEditPoints="1"/>
            </p:cNvSpPr>
            <p:nvPr/>
          </p:nvSpPr>
          <p:spPr bwMode="auto">
            <a:xfrm>
              <a:off x="4282" y="1978"/>
              <a:ext cx="54" cy="18"/>
            </a:xfrm>
            <a:custGeom>
              <a:avLst/>
              <a:gdLst>
                <a:gd name="T0" fmla="*/ 0 w 54"/>
                <a:gd name="T1" fmla="*/ 18 h 18"/>
                <a:gd name="T2" fmla="*/ 24 w 54"/>
                <a:gd name="T3" fmla="*/ 18 h 18"/>
                <a:gd name="T4" fmla="*/ 24 w 54"/>
                <a:gd name="T5" fmla="*/ 0 h 18"/>
                <a:gd name="T6" fmla="*/ 0 w 54"/>
                <a:gd name="T7" fmla="*/ 0 h 18"/>
                <a:gd name="T8" fmla="*/ 0 w 54"/>
                <a:gd name="T9" fmla="*/ 18 h 18"/>
                <a:gd name="T10" fmla="*/ 36 w 54"/>
                <a:gd name="T11" fmla="*/ 18 h 18"/>
                <a:gd name="T12" fmla="*/ 54 w 54"/>
                <a:gd name="T13" fmla="*/ 18 h 18"/>
                <a:gd name="T14" fmla="*/ 54 w 54"/>
                <a:gd name="T15" fmla="*/ 0 h 18"/>
                <a:gd name="T16" fmla="*/ 36 w 54"/>
                <a:gd name="T17" fmla="*/ 0 h 18"/>
                <a:gd name="T18" fmla="*/ 36 w 54"/>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18">
                  <a:moveTo>
                    <a:pt x="0" y="18"/>
                  </a:moveTo>
                  <a:lnTo>
                    <a:pt x="24" y="18"/>
                  </a:lnTo>
                  <a:lnTo>
                    <a:pt x="24" y="0"/>
                  </a:lnTo>
                  <a:lnTo>
                    <a:pt x="0" y="0"/>
                  </a:lnTo>
                  <a:lnTo>
                    <a:pt x="0" y="18"/>
                  </a:lnTo>
                  <a:close/>
                  <a:moveTo>
                    <a:pt x="36" y="18"/>
                  </a:moveTo>
                  <a:lnTo>
                    <a:pt x="54" y="18"/>
                  </a:lnTo>
                  <a:lnTo>
                    <a:pt x="54" y="0"/>
                  </a:lnTo>
                  <a:lnTo>
                    <a:pt x="36" y="0"/>
                  </a:lnTo>
                  <a:lnTo>
                    <a:pt x="36"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8" name="Freeform 207"/>
            <p:cNvSpPr>
              <a:spLocks noEditPoints="1"/>
            </p:cNvSpPr>
            <p:nvPr/>
          </p:nvSpPr>
          <p:spPr bwMode="auto">
            <a:xfrm>
              <a:off x="4348" y="1978"/>
              <a:ext cx="60" cy="18"/>
            </a:xfrm>
            <a:custGeom>
              <a:avLst/>
              <a:gdLst>
                <a:gd name="T0" fmla="*/ 0 w 60"/>
                <a:gd name="T1" fmla="*/ 18 h 18"/>
                <a:gd name="T2" fmla="*/ 24 w 60"/>
                <a:gd name="T3" fmla="*/ 18 h 18"/>
                <a:gd name="T4" fmla="*/ 24 w 60"/>
                <a:gd name="T5" fmla="*/ 0 h 18"/>
                <a:gd name="T6" fmla="*/ 0 w 60"/>
                <a:gd name="T7" fmla="*/ 0 h 18"/>
                <a:gd name="T8" fmla="*/ 0 w 60"/>
                <a:gd name="T9" fmla="*/ 18 h 18"/>
                <a:gd name="T10" fmla="*/ 36 w 60"/>
                <a:gd name="T11" fmla="*/ 18 h 18"/>
                <a:gd name="T12" fmla="*/ 60 w 60"/>
                <a:gd name="T13" fmla="*/ 18 h 18"/>
                <a:gd name="T14" fmla="*/ 60 w 60"/>
                <a:gd name="T15" fmla="*/ 0 h 18"/>
                <a:gd name="T16" fmla="*/ 36 w 60"/>
                <a:gd name="T17" fmla="*/ 0 h 18"/>
                <a:gd name="T18" fmla="*/ 36 w 60"/>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18">
                  <a:moveTo>
                    <a:pt x="0" y="18"/>
                  </a:moveTo>
                  <a:lnTo>
                    <a:pt x="24" y="18"/>
                  </a:lnTo>
                  <a:lnTo>
                    <a:pt x="24" y="0"/>
                  </a:lnTo>
                  <a:lnTo>
                    <a:pt x="0" y="0"/>
                  </a:lnTo>
                  <a:lnTo>
                    <a:pt x="0" y="18"/>
                  </a:lnTo>
                  <a:close/>
                  <a:moveTo>
                    <a:pt x="36" y="18"/>
                  </a:moveTo>
                  <a:lnTo>
                    <a:pt x="60" y="18"/>
                  </a:lnTo>
                  <a:lnTo>
                    <a:pt x="60" y="0"/>
                  </a:lnTo>
                  <a:lnTo>
                    <a:pt x="36" y="0"/>
                  </a:lnTo>
                  <a:lnTo>
                    <a:pt x="36"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9" name="Freeform 208"/>
            <p:cNvSpPr>
              <a:spLocks noEditPoints="1"/>
            </p:cNvSpPr>
            <p:nvPr/>
          </p:nvSpPr>
          <p:spPr bwMode="auto">
            <a:xfrm>
              <a:off x="4420" y="1978"/>
              <a:ext cx="53" cy="18"/>
            </a:xfrm>
            <a:custGeom>
              <a:avLst/>
              <a:gdLst>
                <a:gd name="T0" fmla="*/ 0 w 53"/>
                <a:gd name="T1" fmla="*/ 18 h 18"/>
                <a:gd name="T2" fmla="*/ 17 w 53"/>
                <a:gd name="T3" fmla="*/ 18 h 18"/>
                <a:gd name="T4" fmla="*/ 17 w 53"/>
                <a:gd name="T5" fmla="*/ 0 h 18"/>
                <a:gd name="T6" fmla="*/ 0 w 53"/>
                <a:gd name="T7" fmla="*/ 0 h 18"/>
                <a:gd name="T8" fmla="*/ 0 w 53"/>
                <a:gd name="T9" fmla="*/ 18 h 18"/>
                <a:gd name="T10" fmla="*/ 29 w 53"/>
                <a:gd name="T11" fmla="*/ 18 h 18"/>
                <a:gd name="T12" fmla="*/ 53 w 53"/>
                <a:gd name="T13" fmla="*/ 18 h 18"/>
                <a:gd name="T14" fmla="*/ 53 w 53"/>
                <a:gd name="T15" fmla="*/ 0 h 18"/>
                <a:gd name="T16" fmla="*/ 29 w 53"/>
                <a:gd name="T17" fmla="*/ 0 h 18"/>
                <a:gd name="T18" fmla="*/ 29 w 53"/>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3" h="18">
                  <a:moveTo>
                    <a:pt x="0" y="18"/>
                  </a:moveTo>
                  <a:lnTo>
                    <a:pt x="17" y="18"/>
                  </a:lnTo>
                  <a:lnTo>
                    <a:pt x="17" y="0"/>
                  </a:lnTo>
                  <a:lnTo>
                    <a:pt x="0" y="0"/>
                  </a:lnTo>
                  <a:lnTo>
                    <a:pt x="0" y="18"/>
                  </a:lnTo>
                  <a:close/>
                  <a:moveTo>
                    <a:pt x="29" y="18"/>
                  </a:moveTo>
                  <a:lnTo>
                    <a:pt x="53" y="18"/>
                  </a:lnTo>
                  <a:lnTo>
                    <a:pt x="53" y="0"/>
                  </a:lnTo>
                  <a:lnTo>
                    <a:pt x="29" y="0"/>
                  </a:lnTo>
                  <a:lnTo>
                    <a:pt x="29"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0" name="Freeform 209"/>
            <p:cNvSpPr>
              <a:spLocks noEditPoints="1"/>
            </p:cNvSpPr>
            <p:nvPr/>
          </p:nvSpPr>
          <p:spPr bwMode="auto">
            <a:xfrm>
              <a:off x="4485" y="1978"/>
              <a:ext cx="54" cy="18"/>
            </a:xfrm>
            <a:custGeom>
              <a:avLst/>
              <a:gdLst>
                <a:gd name="T0" fmla="*/ 0 w 54"/>
                <a:gd name="T1" fmla="*/ 18 h 18"/>
                <a:gd name="T2" fmla="*/ 24 w 54"/>
                <a:gd name="T3" fmla="*/ 18 h 18"/>
                <a:gd name="T4" fmla="*/ 24 w 54"/>
                <a:gd name="T5" fmla="*/ 0 h 18"/>
                <a:gd name="T6" fmla="*/ 0 w 54"/>
                <a:gd name="T7" fmla="*/ 0 h 18"/>
                <a:gd name="T8" fmla="*/ 0 w 54"/>
                <a:gd name="T9" fmla="*/ 18 h 18"/>
                <a:gd name="T10" fmla="*/ 36 w 54"/>
                <a:gd name="T11" fmla="*/ 18 h 18"/>
                <a:gd name="T12" fmla="*/ 54 w 54"/>
                <a:gd name="T13" fmla="*/ 18 h 18"/>
                <a:gd name="T14" fmla="*/ 54 w 54"/>
                <a:gd name="T15" fmla="*/ 0 h 18"/>
                <a:gd name="T16" fmla="*/ 36 w 54"/>
                <a:gd name="T17" fmla="*/ 0 h 18"/>
                <a:gd name="T18" fmla="*/ 36 w 54"/>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18">
                  <a:moveTo>
                    <a:pt x="0" y="18"/>
                  </a:moveTo>
                  <a:lnTo>
                    <a:pt x="24" y="18"/>
                  </a:lnTo>
                  <a:lnTo>
                    <a:pt x="24" y="0"/>
                  </a:lnTo>
                  <a:lnTo>
                    <a:pt x="0" y="0"/>
                  </a:lnTo>
                  <a:lnTo>
                    <a:pt x="0" y="18"/>
                  </a:lnTo>
                  <a:close/>
                  <a:moveTo>
                    <a:pt x="36" y="18"/>
                  </a:moveTo>
                  <a:lnTo>
                    <a:pt x="54" y="18"/>
                  </a:lnTo>
                  <a:lnTo>
                    <a:pt x="54" y="0"/>
                  </a:lnTo>
                  <a:lnTo>
                    <a:pt x="36" y="0"/>
                  </a:lnTo>
                  <a:lnTo>
                    <a:pt x="36"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1" name="Freeform 210"/>
            <p:cNvSpPr>
              <a:spLocks noEditPoints="1"/>
            </p:cNvSpPr>
            <p:nvPr/>
          </p:nvSpPr>
          <p:spPr bwMode="auto">
            <a:xfrm>
              <a:off x="4551" y="1978"/>
              <a:ext cx="60" cy="18"/>
            </a:xfrm>
            <a:custGeom>
              <a:avLst/>
              <a:gdLst>
                <a:gd name="T0" fmla="*/ 0 w 60"/>
                <a:gd name="T1" fmla="*/ 18 h 18"/>
                <a:gd name="T2" fmla="*/ 24 w 60"/>
                <a:gd name="T3" fmla="*/ 18 h 18"/>
                <a:gd name="T4" fmla="*/ 24 w 60"/>
                <a:gd name="T5" fmla="*/ 0 h 18"/>
                <a:gd name="T6" fmla="*/ 0 w 60"/>
                <a:gd name="T7" fmla="*/ 0 h 18"/>
                <a:gd name="T8" fmla="*/ 0 w 60"/>
                <a:gd name="T9" fmla="*/ 18 h 18"/>
                <a:gd name="T10" fmla="*/ 36 w 60"/>
                <a:gd name="T11" fmla="*/ 18 h 18"/>
                <a:gd name="T12" fmla="*/ 60 w 60"/>
                <a:gd name="T13" fmla="*/ 18 h 18"/>
                <a:gd name="T14" fmla="*/ 60 w 60"/>
                <a:gd name="T15" fmla="*/ 0 h 18"/>
                <a:gd name="T16" fmla="*/ 36 w 60"/>
                <a:gd name="T17" fmla="*/ 0 h 18"/>
                <a:gd name="T18" fmla="*/ 36 w 60"/>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18">
                  <a:moveTo>
                    <a:pt x="0" y="18"/>
                  </a:moveTo>
                  <a:lnTo>
                    <a:pt x="24" y="18"/>
                  </a:lnTo>
                  <a:lnTo>
                    <a:pt x="24" y="0"/>
                  </a:lnTo>
                  <a:lnTo>
                    <a:pt x="0" y="0"/>
                  </a:lnTo>
                  <a:lnTo>
                    <a:pt x="0" y="18"/>
                  </a:lnTo>
                  <a:close/>
                  <a:moveTo>
                    <a:pt x="36" y="18"/>
                  </a:moveTo>
                  <a:lnTo>
                    <a:pt x="60" y="18"/>
                  </a:lnTo>
                  <a:lnTo>
                    <a:pt x="60" y="0"/>
                  </a:lnTo>
                  <a:lnTo>
                    <a:pt x="36" y="0"/>
                  </a:lnTo>
                  <a:lnTo>
                    <a:pt x="36"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2" name="Freeform 211"/>
            <p:cNvSpPr>
              <a:spLocks noEditPoints="1"/>
            </p:cNvSpPr>
            <p:nvPr/>
          </p:nvSpPr>
          <p:spPr bwMode="auto">
            <a:xfrm>
              <a:off x="4623" y="1978"/>
              <a:ext cx="54" cy="18"/>
            </a:xfrm>
            <a:custGeom>
              <a:avLst/>
              <a:gdLst>
                <a:gd name="T0" fmla="*/ 0 w 54"/>
                <a:gd name="T1" fmla="*/ 18 h 18"/>
                <a:gd name="T2" fmla="*/ 18 w 54"/>
                <a:gd name="T3" fmla="*/ 18 h 18"/>
                <a:gd name="T4" fmla="*/ 18 w 54"/>
                <a:gd name="T5" fmla="*/ 0 h 18"/>
                <a:gd name="T6" fmla="*/ 0 w 54"/>
                <a:gd name="T7" fmla="*/ 0 h 18"/>
                <a:gd name="T8" fmla="*/ 0 w 54"/>
                <a:gd name="T9" fmla="*/ 18 h 18"/>
                <a:gd name="T10" fmla="*/ 30 w 54"/>
                <a:gd name="T11" fmla="*/ 18 h 18"/>
                <a:gd name="T12" fmla="*/ 54 w 54"/>
                <a:gd name="T13" fmla="*/ 18 h 18"/>
                <a:gd name="T14" fmla="*/ 54 w 54"/>
                <a:gd name="T15" fmla="*/ 0 h 18"/>
                <a:gd name="T16" fmla="*/ 30 w 54"/>
                <a:gd name="T17" fmla="*/ 0 h 18"/>
                <a:gd name="T18" fmla="*/ 30 w 54"/>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18">
                  <a:moveTo>
                    <a:pt x="0" y="18"/>
                  </a:moveTo>
                  <a:lnTo>
                    <a:pt x="18" y="18"/>
                  </a:lnTo>
                  <a:lnTo>
                    <a:pt x="18" y="0"/>
                  </a:lnTo>
                  <a:lnTo>
                    <a:pt x="0" y="0"/>
                  </a:lnTo>
                  <a:lnTo>
                    <a:pt x="0" y="18"/>
                  </a:lnTo>
                  <a:close/>
                  <a:moveTo>
                    <a:pt x="30" y="18"/>
                  </a:moveTo>
                  <a:lnTo>
                    <a:pt x="54" y="18"/>
                  </a:lnTo>
                  <a:lnTo>
                    <a:pt x="54" y="0"/>
                  </a:lnTo>
                  <a:lnTo>
                    <a:pt x="30" y="0"/>
                  </a:lnTo>
                  <a:lnTo>
                    <a:pt x="30"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3" name="Freeform 212"/>
            <p:cNvSpPr>
              <a:spLocks noEditPoints="1"/>
            </p:cNvSpPr>
            <p:nvPr/>
          </p:nvSpPr>
          <p:spPr bwMode="auto">
            <a:xfrm>
              <a:off x="4689" y="1978"/>
              <a:ext cx="54" cy="18"/>
            </a:xfrm>
            <a:custGeom>
              <a:avLst/>
              <a:gdLst>
                <a:gd name="T0" fmla="*/ 0 w 54"/>
                <a:gd name="T1" fmla="*/ 18 h 18"/>
                <a:gd name="T2" fmla="*/ 24 w 54"/>
                <a:gd name="T3" fmla="*/ 18 h 18"/>
                <a:gd name="T4" fmla="*/ 24 w 54"/>
                <a:gd name="T5" fmla="*/ 0 h 18"/>
                <a:gd name="T6" fmla="*/ 0 w 54"/>
                <a:gd name="T7" fmla="*/ 0 h 18"/>
                <a:gd name="T8" fmla="*/ 0 w 54"/>
                <a:gd name="T9" fmla="*/ 18 h 18"/>
                <a:gd name="T10" fmla="*/ 36 w 54"/>
                <a:gd name="T11" fmla="*/ 18 h 18"/>
                <a:gd name="T12" fmla="*/ 54 w 54"/>
                <a:gd name="T13" fmla="*/ 18 h 18"/>
                <a:gd name="T14" fmla="*/ 54 w 54"/>
                <a:gd name="T15" fmla="*/ 0 h 18"/>
                <a:gd name="T16" fmla="*/ 36 w 54"/>
                <a:gd name="T17" fmla="*/ 0 h 18"/>
                <a:gd name="T18" fmla="*/ 36 w 54"/>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18">
                  <a:moveTo>
                    <a:pt x="0" y="18"/>
                  </a:moveTo>
                  <a:lnTo>
                    <a:pt x="24" y="18"/>
                  </a:lnTo>
                  <a:lnTo>
                    <a:pt x="24" y="0"/>
                  </a:lnTo>
                  <a:lnTo>
                    <a:pt x="0" y="0"/>
                  </a:lnTo>
                  <a:lnTo>
                    <a:pt x="0" y="18"/>
                  </a:lnTo>
                  <a:close/>
                  <a:moveTo>
                    <a:pt x="36" y="18"/>
                  </a:moveTo>
                  <a:lnTo>
                    <a:pt x="54" y="18"/>
                  </a:lnTo>
                  <a:lnTo>
                    <a:pt x="54" y="0"/>
                  </a:lnTo>
                  <a:lnTo>
                    <a:pt x="36" y="0"/>
                  </a:lnTo>
                  <a:lnTo>
                    <a:pt x="36"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4" name="Freeform 213"/>
            <p:cNvSpPr>
              <a:spLocks noEditPoints="1"/>
            </p:cNvSpPr>
            <p:nvPr/>
          </p:nvSpPr>
          <p:spPr bwMode="auto">
            <a:xfrm>
              <a:off x="4754" y="1978"/>
              <a:ext cx="60" cy="18"/>
            </a:xfrm>
            <a:custGeom>
              <a:avLst/>
              <a:gdLst>
                <a:gd name="T0" fmla="*/ 0 w 60"/>
                <a:gd name="T1" fmla="*/ 18 h 18"/>
                <a:gd name="T2" fmla="*/ 24 w 60"/>
                <a:gd name="T3" fmla="*/ 18 h 18"/>
                <a:gd name="T4" fmla="*/ 24 w 60"/>
                <a:gd name="T5" fmla="*/ 0 h 18"/>
                <a:gd name="T6" fmla="*/ 0 w 60"/>
                <a:gd name="T7" fmla="*/ 0 h 18"/>
                <a:gd name="T8" fmla="*/ 0 w 60"/>
                <a:gd name="T9" fmla="*/ 18 h 18"/>
                <a:gd name="T10" fmla="*/ 36 w 60"/>
                <a:gd name="T11" fmla="*/ 18 h 18"/>
                <a:gd name="T12" fmla="*/ 60 w 60"/>
                <a:gd name="T13" fmla="*/ 18 h 18"/>
                <a:gd name="T14" fmla="*/ 60 w 60"/>
                <a:gd name="T15" fmla="*/ 0 h 18"/>
                <a:gd name="T16" fmla="*/ 36 w 60"/>
                <a:gd name="T17" fmla="*/ 0 h 18"/>
                <a:gd name="T18" fmla="*/ 36 w 60"/>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18">
                  <a:moveTo>
                    <a:pt x="0" y="18"/>
                  </a:moveTo>
                  <a:lnTo>
                    <a:pt x="24" y="18"/>
                  </a:lnTo>
                  <a:lnTo>
                    <a:pt x="24" y="0"/>
                  </a:lnTo>
                  <a:lnTo>
                    <a:pt x="0" y="0"/>
                  </a:lnTo>
                  <a:lnTo>
                    <a:pt x="0" y="18"/>
                  </a:lnTo>
                  <a:close/>
                  <a:moveTo>
                    <a:pt x="36" y="18"/>
                  </a:moveTo>
                  <a:lnTo>
                    <a:pt x="60" y="18"/>
                  </a:lnTo>
                  <a:lnTo>
                    <a:pt x="60" y="0"/>
                  </a:lnTo>
                  <a:lnTo>
                    <a:pt x="36" y="0"/>
                  </a:lnTo>
                  <a:lnTo>
                    <a:pt x="36"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 name="Rectangle 214"/>
            <p:cNvSpPr>
              <a:spLocks noChangeArrowheads="1"/>
            </p:cNvSpPr>
            <p:nvPr/>
          </p:nvSpPr>
          <p:spPr bwMode="auto">
            <a:xfrm>
              <a:off x="4826" y="1978"/>
              <a:ext cx="18" cy="18"/>
            </a:xfrm>
            <a:prstGeom prst="rect">
              <a:avLst/>
            </a:prstGeom>
            <a:solidFill>
              <a:srgbClr val="FF7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6" name="Freeform 215"/>
            <p:cNvSpPr>
              <a:spLocks/>
            </p:cNvSpPr>
            <p:nvPr/>
          </p:nvSpPr>
          <p:spPr bwMode="auto">
            <a:xfrm>
              <a:off x="3756" y="1966"/>
              <a:ext cx="42" cy="42"/>
            </a:xfrm>
            <a:custGeom>
              <a:avLst/>
              <a:gdLst>
                <a:gd name="T0" fmla="*/ 0 w 42"/>
                <a:gd name="T1" fmla="*/ 18 h 42"/>
                <a:gd name="T2" fmla="*/ 6 w 42"/>
                <a:gd name="T3" fmla="*/ 6 h 42"/>
                <a:gd name="T4" fmla="*/ 18 w 42"/>
                <a:gd name="T5" fmla="*/ 0 h 42"/>
                <a:gd name="T6" fmla="*/ 36 w 42"/>
                <a:gd name="T7" fmla="*/ 6 h 42"/>
                <a:gd name="T8" fmla="*/ 42 w 42"/>
                <a:gd name="T9" fmla="*/ 18 h 42"/>
                <a:gd name="T10" fmla="*/ 36 w 42"/>
                <a:gd name="T11" fmla="*/ 36 h 42"/>
                <a:gd name="T12" fmla="*/ 18 w 42"/>
                <a:gd name="T13" fmla="*/ 42 h 42"/>
                <a:gd name="T14" fmla="*/ 6 w 42"/>
                <a:gd name="T15" fmla="*/ 36 h 42"/>
                <a:gd name="T16" fmla="*/ 0 w 42"/>
                <a:gd name="T17" fmla="*/ 18 h 42"/>
                <a:gd name="T18" fmla="*/ 0 w 42"/>
                <a:gd name="T19" fmla="*/ 18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42">
                  <a:moveTo>
                    <a:pt x="0" y="18"/>
                  </a:moveTo>
                  <a:lnTo>
                    <a:pt x="6" y="6"/>
                  </a:lnTo>
                  <a:lnTo>
                    <a:pt x="18" y="0"/>
                  </a:lnTo>
                  <a:lnTo>
                    <a:pt x="36" y="6"/>
                  </a:lnTo>
                  <a:lnTo>
                    <a:pt x="42" y="18"/>
                  </a:lnTo>
                  <a:lnTo>
                    <a:pt x="36" y="36"/>
                  </a:lnTo>
                  <a:lnTo>
                    <a:pt x="18" y="42"/>
                  </a:lnTo>
                  <a:lnTo>
                    <a:pt x="6" y="36"/>
                  </a:lnTo>
                  <a:lnTo>
                    <a:pt x="0" y="1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7" name="Freeform 216"/>
            <p:cNvSpPr>
              <a:spLocks/>
            </p:cNvSpPr>
            <p:nvPr/>
          </p:nvSpPr>
          <p:spPr bwMode="auto">
            <a:xfrm>
              <a:off x="3756" y="1966"/>
              <a:ext cx="18" cy="18"/>
            </a:xfrm>
            <a:custGeom>
              <a:avLst/>
              <a:gdLst>
                <a:gd name="T0" fmla="*/ 0 w 18"/>
                <a:gd name="T1" fmla="*/ 18 h 18"/>
                <a:gd name="T2" fmla="*/ 6 w 18"/>
                <a:gd name="T3" fmla="*/ 6 h 18"/>
                <a:gd name="T4" fmla="*/ 18 w 18"/>
                <a:gd name="T5" fmla="*/ 0 h 18"/>
                <a:gd name="T6" fmla="*/ 18 w 18"/>
                <a:gd name="T7" fmla="*/ 0 h 18"/>
                <a:gd name="T8" fmla="*/ 6 w 18"/>
                <a:gd name="T9" fmla="*/ 6 h 18"/>
                <a:gd name="T10" fmla="*/ 0 w 18"/>
                <a:gd name="T11" fmla="*/ 18 h 18"/>
                <a:gd name="T12" fmla="*/ 0 w 18"/>
                <a:gd name="T13" fmla="*/ 18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18">
                  <a:moveTo>
                    <a:pt x="0" y="18"/>
                  </a:moveTo>
                  <a:lnTo>
                    <a:pt x="6" y="6"/>
                  </a:lnTo>
                  <a:lnTo>
                    <a:pt x="18" y="0"/>
                  </a:lnTo>
                  <a:lnTo>
                    <a:pt x="6" y="6"/>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8" name="Freeform 217"/>
            <p:cNvSpPr>
              <a:spLocks noEditPoints="1"/>
            </p:cNvSpPr>
            <p:nvPr/>
          </p:nvSpPr>
          <p:spPr bwMode="auto">
            <a:xfrm>
              <a:off x="3774" y="1966"/>
              <a:ext cx="24" cy="18"/>
            </a:xfrm>
            <a:custGeom>
              <a:avLst/>
              <a:gdLst>
                <a:gd name="T0" fmla="*/ 0 w 24"/>
                <a:gd name="T1" fmla="*/ 0 h 18"/>
                <a:gd name="T2" fmla="*/ 18 w 24"/>
                <a:gd name="T3" fmla="*/ 6 h 18"/>
                <a:gd name="T4" fmla="*/ 24 w 24"/>
                <a:gd name="T5" fmla="*/ 18 h 18"/>
                <a:gd name="T6" fmla="*/ 24 w 24"/>
                <a:gd name="T7" fmla="*/ 18 h 18"/>
                <a:gd name="T8" fmla="*/ 18 w 24"/>
                <a:gd name="T9" fmla="*/ 6 h 18"/>
                <a:gd name="T10" fmla="*/ 0 w 24"/>
                <a:gd name="T11" fmla="*/ 0 h 18"/>
                <a:gd name="T12" fmla="*/ 0 w 24"/>
                <a:gd name="T13" fmla="*/ 0 h 18"/>
                <a:gd name="T14" fmla="*/ 0 w 24"/>
                <a:gd name="T15" fmla="*/ 0 h 18"/>
                <a:gd name="T16" fmla="*/ 0 w 24"/>
                <a:gd name="T17" fmla="*/ 0 h 18"/>
                <a:gd name="T18" fmla="*/ 0 w 24"/>
                <a:gd name="T19" fmla="*/ 0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8">
                  <a:moveTo>
                    <a:pt x="0" y="0"/>
                  </a:moveTo>
                  <a:lnTo>
                    <a:pt x="18" y="6"/>
                  </a:lnTo>
                  <a:lnTo>
                    <a:pt x="24" y="18"/>
                  </a:lnTo>
                  <a:lnTo>
                    <a:pt x="18" y="6"/>
                  </a:lnTo>
                  <a:lnTo>
                    <a:pt x="0" y="0"/>
                  </a:lnTo>
                  <a:close/>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9" name="Freeform 218"/>
            <p:cNvSpPr>
              <a:spLocks noEditPoints="1"/>
            </p:cNvSpPr>
            <p:nvPr/>
          </p:nvSpPr>
          <p:spPr bwMode="auto">
            <a:xfrm>
              <a:off x="3774" y="1984"/>
              <a:ext cx="24" cy="24"/>
            </a:xfrm>
            <a:custGeom>
              <a:avLst/>
              <a:gdLst>
                <a:gd name="T0" fmla="*/ 24 w 24"/>
                <a:gd name="T1" fmla="*/ 0 h 24"/>
                <a:gd name="T2" fmla="*/ 18 w 24"/>
                <a:gd name="T3" fmla="*/ 18 h 24"/>
                <a:gd name="T4" fmla="*/ 0 w 24"/>
                <a:gd name="T5" fmla="*/ 24 h 24"/>
                <a:gd name="T6" fmla="*/ 0 w 24"/>
                <a:gd name="T7" fmla="*/ 24 h 24"/>
                <a:gd name="T8" fmla="*/ 18 w 24"/>
                <a:gd name="T9" fmla="*/ 18 h 24"/>
                <a:gd name="T10" fmla="*/ 24 w 24"/>
                <a:gd name="T11" fmla="*/ 0 h 24"/>
                <a:gd name="T12" fmla="*/ 24 w 24"/>
                <a:gd name="T13" fmla="*/ 0 h 24"/>
                <a:gd name="T14" fmla="*/ 24 w 24"/>
                <a:gd name="T15" fmla="*/ 0 h 24"/>
                <a:gd name="T16" fmla="*/ 24 w 24"/>
                <a:gd name="T17" fmla="*/ 0 h 24"/>
                <a:gd name="T18" fmla="*/ 24 w 24"/>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24">
                  <a:moveTo>
                    <a:pt x="24" y="0"/>
                  </a:moveTo>
                  <a:lnTo>
                    <a:pt x="18" y="18"/>
                  </a:lnTo>
                  <a:lnTo>
                    <a:pt x="0" y="24"/>
                  </a:lnTo>
                  <a:lnTo>
                    <a:pt x="18" y="18"/>
                  </a:lnTo>
                  <a:lnTo>
                    <a:pt x="24" y="0"/>
                  </a:lnTo>
                  <a:close/>
                  <a:moveTo>
                    <a:pt x="24" y="0"/>
                  </a:move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0" name="Freeform 219"/>
            <p:cNvSpPr>
              <a:spLocks noEditPoints="1"/>
            </p:cNvSpPr>
            <p:nvPr/>
          </p:nvSpPr>
          <p:spPr bwMode="auto">
            <a:xfrm>
              <a:off x="3756" y="1984"/>
              <a:ext cx="18" cy="24"/>
            </a:xfrm>
            <a:custGeom>
              <a:avLst/>
              <a:gdLst>
                <a:gd name="T0" fmla="*/ 18 w 18"/>
                <a:gd name="T1" fmla="*/ 24 h 24"/>
                <a:gd name="T2" fmla="*/ 6 w 18"/>
                <a:gd name="T3" fmla="*/ 18 h 24"/>
                <a:gd name="T4" fmla="*/ 0 w 18"/>
                <a:gd name="T5" fmla="*/ 0 h 24"/>
                <a:gd name="T6" fmla="*/ 0 w 18"/>
                <a:gd name="T7" fmla="*/ 0 h 24"/>
                <a:gd name="T8" fmla="*/ 6 w 18"/>
                <a:gd name="T9" fmla="*/ 18 h 24"/>
                <a:gd name="T10" fmla="*/ 18 w 18"/>
                <a:gd name="T11" fmla="*/ 24 h 24"/>
                <a:gd name="T12" fmla="*/ 18 w 18"/>
                <a:gd name="T13" fmla="*/ 24 h 24"/>
                <a:gd name="T14" fmla="*/ 18 w 18"/>
                <a:gd name="T15" fmla="*/ 24 h 24"/>
                <a:gd name="T16" fmla="*/ 18 w 18"/>
                <a:gd name="T17" fmla="*/ 24 h 24"/>
                <a:gd name="T18" fmla="*/ 18 w 18"/>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 h="24">
                  <a:moveTo>
                    <a:pt x="18" y="24"/>
                  </a:moveTo>
                  <a:lnTo>
                    <a:pt x="6" y="18"/>
                  </a:lnTo>
                  <a:lnTo>
                    <a:pt x="0" y="0"/>
                  </a:lnTo>
                  <a:lnTo>
                    <a:pt x="6" y="18"/>
                  </a:lnTo>
                  <a:lnTo>
                    <a:pt x="18" y="24"/>
                  </a:lnTo>
                  <a:close/>
                  <a:moveTo>
                    <a:pt x="18" y="24"/>
                  </a:moveTo>
                  <a:lnTo>
                    <a:pt x="18"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1" name="Freeform 220"/>
            <p:cNvSpPr>
              <a:spLocks/>
            </p:cNvSpPr>
            <p:nvPr/>
          </p:nvSpPr>
          <p:spPr bwMode="auto">
            <a:xfrm>
              <a:off x="3756" y="1984"/>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2" name="Line 221"/>
            <p:cNvSpPr>
              <a:spLocks noChangeShapeType="1"/>
            </p:cNvSpPr>
            <p:nvPr/>
          </p:nvSpPr>
          <p:spPr bwMode="auto">
            <a:xfrm flipV="1">
              <a:off x="4013" y="1984"/>
              <a:ext cx="281" cy="227"/>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 name="Freeform 222"/>
            <p:cNvSpPr>
              <a:spLocks/>
            </p:cNvSpPr>
            <p:nvPr/>
          </p:nvSpPr>
          <p:spPr bwMode="auto">
            <a:xfrm>
              <a:off x="4007" y="2187"/>
              <a:ext cx="30" cy="36"/>
            </a:xfrm>
            <a:custGeom>
              <a:avLst/>
              <a:gdLst>
                <a:gd name="T0" fmla="*/ 18 w 30"/>
                <a:gd name="T1" fmla="*/ 36 h 36"/>
                <a:gd name="T2" fmla="*/ 30 w 30"/>
                <a:gd name="T3" fmla="*/ 18 h 36"/>
                <a:gd name="T4" fmla="*/ 18 w 30"/>
                <a:gd name="T5" fmla="*/ 0 h 36"/>
                <a:gd name="T6" fmla="*/ 0 w 30"/>
                <a:gd name="T7" fmla="*/ 18 h 36"/>
                <a:gd name="T8" fmla="*/ 18 w 30"/>
                <a:gd name="T9" fmla="*/ 36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36">
                  <a:moveTo>
                    <a:pt x="18" y="36"/>
                  </a:moveTo>
                  <a:lnTo>
                    <a:pt x="30" y="18"/>
                  </a:lnTo>
                  <a:lnTo>
                    <a:pt x="18" y="0"/>
                  </a:lnTo>
                  <a:lnTo>
                    <a:pt x="0" y="18"/>
                  </a:lnTo>
                  <a:lnTo>
                    <a:pt x="18" y="36"/>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 name="Freeform 223"/>
            <p:cNvSpPr>
              <a:spLocks noEditPoints="1"/>
            </p:cNvSpPr>
            <p:nvPr/>
          </p:nvSpPr>
          <p:spPr bwMode="auto">
            <a:xfrm>
              <a:off x="4031" y="2145"/>
              <a:ext cx="60" cy="54"/>
            </a:xfrm>
            <a:custGeom>
              <a:avLst/>
              <a:gdLst>
                <a:gd name="T0" fmla="*/ 18 w 60"/>
                <a:gd name="T1" fmla="*/ 54 h 54"/>
                <a:gd name="T2" fmla="*/ 36 w 60"/>
                <a:gd name="T3" fmla="*/ 42 h 54"/>
                <a:gd name="T4" fmla="*/ 18 w 60"/>
                <a:gd name="T5" fmla="*/ 24 h 54"/>
                <a:gd name="T6" fmla="*/ 0 w 60"/>
                <a:gd name="T7" fmla="*/ 36 h 54"/>
                <a:gd name="T8" fmla="*/ 18 w 60"/>
                <a:gd name="T9" fmla="*/ 54 h 54"/>
                <a:gd name="T10" fmla="*/ 42 w 60"/>
                <a:gd name="T11" fmla="*/ 36 h 54"/>
                <a:gd name="T12" fmla="*/ 60 w 60"/>
                <a:gd name="T13" fmla="*/ 18 h 54"/>
                <a:gd name="T14" fmla="*/ 48 w 60"/>
                <a:gd name="T15" fmla="*/ 0 h 54"/>
                <a:gd name="T16" fmla="*/ 30 w 60"/>
                <a:gd name="T17" fmla="*/ 12 h 54"/>
                <a:gd name="T18" fmla="*/ 42 w 60"/>
                <a:gd name="T19" fmla="*/ 36 h 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54">
                  <a:moveTo>
                    <a:pt x="18" y="54"/>
                  </a:moveTo>
                  <a:lnTo>
                    <a:pt x="36" y="42"/>
                  </a:lnTo>
                  <a:lnTo>
                    <a:pt x="18" y="24"/>
                  </a:lnTo>
                  <a:lnTo>
                    <a:pt x="0" y="36"/>
                  </a:lnTo>
                  <a:lnTo>
                    <a:pt x="18" y="54"/>
                  </a:lnTo>
                  <a:close/>
                  <a:moveTo>
                    <a:pt x="42" y="36"/>
                  </a:moveTo>
                  <a:lnTo>
                    <a:pt x="60" y="18"/>
                  </a:lnTo>
                  <a:lnTo>
                    <a:pt x="48" y="0"/>
                  </a:lnTo>
                  <a:lnTo>
                    <a:pt x="30" y="12"/>
                  </a:lnTo>
                  <a:lnTo>
                    <a:pt x="42" y="36"/>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5" name="Freeform 224"/>
            <p:cNvSpPr>
              <a:spLocks noEditPoints="1"/>
            </p:cNvSpPr>
            <p:nvPr/>
          </p:nvSpPr>
          <p:spPr bwMode="auto">
            <a:xfrm>
              <a:off x="4085" y="2103"/>
              <a:ext cx="59" cy="54"/>
            </a:xfrm>
            <a:custGeom>
              <a:avLst/>
              <a:gdLst>
                <a:gd name="T0" fmla="*/ 18 w 59"/>
                <a:gd name="T1" fmla="*/ 54 h 54"/>
                <a:gd name="T2" fmla="*/ 36 w 59"/>
                <a:gd name="T3" fmla="*/ 42 h 54"/>
                <a:gd name="T4" fmla="*/ 18 w 59"/>
                <a:gd name="T5" fmla="*/ 18 h 54"/>
                <a:gd name="T6" fmla="*/ 0 w 59"/>
                <a:gd name="T7" fmla="*/ 36 h 54"/>
                <a:gd name="T8" fmla="*/ 18 w 59"/>
                <a:gd name="T9" fmla="*/ 54 h 54"/>
                <a:gd name="T10" fmla="*/ 41 w 59"/>
                <a:gd name="T11" fmla="*/ 30 h 54"/>
                <a:gd name="T12" fmla="*/ 59 w 59"/>
                <a:gd name="T13" fmla="*/ 18 h 54"/>
                <a:gd name="T14" fmla="*/ 47 w 59"/>
                <a:gd name="T15" fmla="*/ 0 h 54"/>
                <a:gd name="T16" fmla="*/ 30 w 59"/>
                <a:gd name="T17" fmla="*/ 12 h 54"/>
                <a:gd name="T18" fmla="*/ 41 w 59"/>
                <a:gd name="T19" fmla="*/ 30 h 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9" h="54">
                  <a:moveTo>
                    <a:pt x="18" y="54"/>
                  </a:moveTo>
                  <a:lnTo>
                    <a:pt x="36" y="42"/>
                  </a:lnTo>
                  <a:lnTo>
                    <a:pt x="18" y="18"/>
                  </a:lnTo>
                  <a:lnTo>
                    <a:pt x="0" y="36"/>
                  </a:lnTo>
                  <a:lnTo>
                    <a:pt x="18" y="54"/>
                  </a:lnTo>
                  <a:close/>
                  <a:moveTo>
                    <a:pt x="41" y="30"/>
                  </a:moveTo>
                  <a:lnTo>
                    <a:pt x="59" y="18"/>
                  </a:lnTo>
                  <a:lnTo>
                    <a:pt x="47" y="0"/>
                  </a:lnTo>
                  <a:lnTo>
                    <a:pt x="30" y="12"/>
                  </a:lnTo>
                  <a:lnTo>
                    <a:pt x="41" y="30"/>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6" name="Freeform 225"/>
            <p:cNvSpPr>
              <a:spLocks noEditPoints="1"/>
            </p:cNvSpPr>
            <p:nvPr/>
          </p:nvSpPr>
          <p:spPr bwMode="auto">
            <a:xfrm>
              <a:off x="4138" y="2061"/>
              <a:ext cx="60" cy="54"/>
            </a:xfrm>
            <a:custGeom>
              <a:avLst/>
              <a:gdLst>
                <a:gd name="T0" fmla="*/ 18 w 60"/>
                <a:gd name="T1" fmla="*/ 54 h 54"/>
                <a:gd name="T2" fmla="*/ 36 w 60"/>
                <a:gd name="T3" fmla="*/ 36 h 54"/>
                <a:gd name="T4" fmla="*/ 18 w 60"/>
                <a:gd name="T5" fmla="*/ 18 h 54"/>
                <a:gd name="T6" fmla="*/ 0 w 60"/>
                <a:gd name="T7" fmla="*/ 36 h 54"/>
                <a:gd name="T8" fmla="*/ 18 w 60"/>
                <a:gd name="T9" fmla="*/ 54 h 54"/>
                <a:gd name="T10" fmla="*/ 42 w 60"/>
                <a:gd name="T11" fmla="*/ 30 h 54"/>
                <a:gd name="T12" fmla="*/ 60 w 60"/>
                <a:gd name="T13" fmla="*/ 18 h 54"/>
                <a:gd name="T14" fmla="*/ 42 w 60"/>
                <a:gd name="T15" fmla="*/ 0 h 54"/>
                <a:gd name="T16" fmla="*/ 24 w 60"/>
                <a:gd name="T17" fmla="*/ 12 h 54"/>
                <a:gd name="T18" fmla="*/ 42 w 60"/>
                <a:gd name="T19" fmla="*/ 30 h 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54">
                  <a:moveTo>
                    <a:pt x="18" y="54"/>
                  </a:moveTo>
                  <a:lnTo>
                    <a:pt x="36" y="36"/>
                  </a:lnTo>
                  <a:lnTo>
                    <a:pt x="18" y="18"/>
                  </a:lnTo>
                  <a:lnTo>
                    <a:pt x="0" y="36"/>
                  </a:lnTo>
                  <a:lnTo>
                    <a:pt x="18" y="54"/>
                  </a:lnTo>
                  <a:close/>
                  <a:moveTo>
                    <a:pt x="42" y="30"/>
                  </a:moveTo>
                  <a:lnTo>
                    <a:pt x="60" y="18"/>
                  </a:lnTo>
                  <a:lnTo>
                    <a:pt x="42" y="0"/>
                  </a:lnTo>
                  <a:lnTo>
                    <a:pt x="24" y="12"/>
                  </a:lnTo>
                  <a:lnTo>
                    <a:pt x="42" y="30"/>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7" name="Freeform 226"/>
            <p:cNvSpPr>
              <a:spLocks noEditPoints="1"/>
            </p:cNvSpPr>
            <p:nvPr/>
          </p:nvSpPr>
          <p:spPr bwMode="auto">
            <a:xfrm>
              <a:off x="4192" y="2020"/>
              <a:ext cx="60" cy="53"/>
            </a:xfrm>
            <a:custGeom>
              <a:avLst/>
              <a:gdLst>
                <a:gd name="T0" fmla="*/ 12 w 60"/>
                <a:gd name="T1" fmla="*/ 53 h 53"/>
                <a:gd name="T2" fmla="*/ 30 w 60"/>
                <a:gd name="T3" fmla="*/ 35 h 53"/>
                <a:gd name="T4" fmla="*/ 18 w 60"/>
                <a:gd name="T5" fmla="*/ 17 h 53"/>
                <a:gd name="T6" fmla="*/ 0 w 60"/>
                <a:gd name="T7" fmla="*/ 35 h 53"/>
                <a:gd name="T8" fmla="*/ 12 w 60"/>
                <a:gd name="T9" fmla="*/ 53 h 53"/>
                <a:gd name="T10" fmla="*/ 42 w 60"/>
                <a:gd name="T11" fmla="*/ 29 h 53"/>
                <a:gd name="T12" fmla="*/ 60 w 60"/>
                <a:gd name="T13" fmla="*/ 17 h 53"/>
                <a:gd name="T14" fmla="*/ 42 w 60"/>
                <a:gd name="T15" fmla="*/ 0 h 53"/>
                <a:gd name="T16" fmla="*/ 24 w 60"/>
                <a:gd name="T17" fmla="*/ 11 h 53"/>
                <a:gd name="T18" fmla="*/ 42 w 60"/>
                <a:gd name="T19" fmla="*/ 29 h 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53">
                  <a:moveTo>
                    <a:pt x="12" y="53"/>
                  </a:moveTo>
                  <a:lnTo>
                    <a:pt x="30" y="35"/>
                  </a:lnTo>
                  <a:lnTo>
                    <a:pt x="18" y="17"/>
                  </a:lnTo>
                  <a:lnTo>
                    <a:pt x="0" y="35"/>
                  </a:lnTo>
                  <a:lnTo>
                    <a:pt x="12" y="53"/>
                  </a:lnTo>
                  <a:close/>
                  <a:moveTo>
                    <a:pt x="42" y="29"/>
                  </a:moveTo>
                  <a:lnTo>
                    <a:pt x="60" y="17"/>
                  </a:lnTo>
                  <a:lnTo>
                    <a:pt x="42" y="0"/>
                  </a:lnTo>
                  <a:lnTo>
                    <a:pt x="24" y="11"/>
                  </a:lnTo>
                  <a:lnTo>
                    <a:pt x="42" y="29"/>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8" name="Freeform 227"/>
            <p:cNvSpPr>
              <a:spLocks noEditPoints="1"/>
            </p:cNvSpPr>
            <p:nvPr/>
          </p:nvSpPr>
          <p:spPr bwMode="auto">
            <a:xfrm>
              <a:off x="4246" y="1978"/>
              <a:ext cx="54" cy="53"/>
            </a:xfrm>
            <a:custGeom>
              <a:avLst/>
              <a:gdLst>
                <a:gd name="T0" fmla="*/ 12 w 54"/>
                <a:gd name="T1" fmla="*/ 53 h 53"/>
                <a:gd name="T2" fmla="*/ 30 w 54"/>
                <a:gd name="T3" fmla="*/ 36 h 53"/>
                <a:gd name="T4" fmla="*/ 18 w 54"/>
                <a:gd name="T5" fmla="*/ 18 h 53"/>
                <a:gd name="T6" fmla="*/ 0 w 54"/>
                <a:gd name="T7" fmla="*/ 30 h 53"/>
                <a:gd name="T8" fmla="*/ 12 w 54"/>
                <a:gd name="T9" fmla="*/ 53 h 53"/>
                <a:gd name="T10" fmla="*/ 42 w 54"/>
                <a:gd name="T11" fmla="*/ 30 h 53"/>
                <a:gd name="T12" fmla="*/ 54 w 54"/>
                <a:gd name="T13" fmla="*/ 18 h 53"/>
                <a:gd name="T14" fmla="*/ 42 w 54"/>
                <a:gd name="T15" fmla="*/ 0 h 53"/>
                <a:gd name="T16" fmla="*/ 24 w 54"/>
                <a:gd name="T17" fmla="*/ 12 h 53"/>
                <a:gd name="T18" fmla="*/ 42 w 54"/>
                <a:gd name="T19" fmla="*/ 30 h 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53">
                  <a:moveTo>
                    <a:pt x="12" y="53"/>
                  </a:moveTo>
                  <a:lnTo>
                    <a:pt x="30" y="36"/>
                  </a:lnTo>
                  <a:lnTo>
                    <a:pt x="18" y="18"/>
                  </a:lnTo>
                  <a:lnTo>
                    <a:pt x="0" y="30"/>
                  </a:lnTo>
                  <a:lnTo>
                    <a:pt x="12" y="53"/>
                  </a:lnTo>
                  <a:close/>
                  <a:moveTo>
                    <a:pt x="42" y="30"/>
                  </a:moveTo>
                  <a:lnTo>
                    <a:pt x="54" y="18"/>
                  </a:lnTo>
                  <a:lnTo>
                    <a:pt x="42" y="0"/>
                  </a:lnTo>
                  <a:lnTo>
                    <a:pt x="24" y="12"/>
                  </a:lnTo>
                  <a:lnTo>
                    <a:pt x="42" y="30"/>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9" name="Freeform 228"/>
            <p:cNvSpPr>
              <a:spLocks/>
            </p:cNvSpPr>
            <p:nvPr/>
          </p:nvSpPr>
          <p:spPr bwMode="auto">
            <a:xfrm>
              <a:off x="4085" y="3208"/>
              <a:ext cx="209" cy="472"/>
            </a:xfrm>
            <a:custGeom>
              <a:avLst/>
              <a:gdLst>
                <a:gd name="T0" fmla="*/ 209 w 209"/>
                <a:gd name="T1" fmla="*/ 448 h 472"/>
                <a:gd name="T2" fmla="*/ 185 w 209"/>
                <a:gd name="T3" fmla="*/ 442 h 472"/>
                <a:gd name="T4" fmla="*/ 155 w 209"/>
                <a:gd name="T5" fmla="*/ 418 h 472"/>
                <a:gd name="T6" fmla="*/ 131 w 209"/>
                <a:gd name="T7" fmla="*/ 376 h 472"/>
                <a:gd name="T8" fmla="*/ 107 w 209"/>
                <a:gd name="T9" fmla="*/ 322 h 472"/>
                <a:gd name="T10" fmla="*/ 83 w 209"/>
                <a:gd name="T11" fmla="*/ 251 h 472"/>
                <a:gd name="T12" fmla="*/ 59 w 209"/>
                <a:gd name="T13" fmla="*/ 173 h 472"/>
                <a:gd name="T14" fmla="*/ 36 w 209"/>
                <a:gd name="T15" fmla="*/ 89 h 472"/>
                <a:gd name="T16" fmla="*/ 18 w 209"/>
                <a:gd name="T17" fmla="*/ 0 h 472"/>
                <a:gd name="T18" fmla="*/ 0 w 209"/>
                <a:gd name="T19" fmla="*/ 6 h 472"/>
                <a:gd name="T20" fmla="*/ 18 w 209"/>
                <a:gd name="T21" fmla="*/ 95 h 472"/>
                <a:gd name="T22" fmla="*/ 41 w 209"/>
                <a:gd name="T23" fmla="*/ 179 h 472"/>
                <a:gd name="T24" fmla="*/ 59 w 209"/>
                <a:gd name="T25" fmla="*/ 257 h 472"/>
                <a:gd name="T26" fmla="*/ 83 w 209"/>
                <a:gd name="T27" fmla="*/ 328 h 472"/>
                <a:gd name="T28" fmla="*/ 107 w 209"/>
                <a:gd name="T29" fmla="*/ 382 h 472"/>
                <a:gd name="T30" fmla="*/ 137 w 209"/>
                <a:gd name="T31" fmla="*/ 430 h 472"/>
                <a:gd name="T32" fmla="*/ 173 w 209"/>
                <a:gd name="T33" fmla="*/ 460 h 472"/>
                <a:gd name="T34" fmla="*/ 209 w 209"/>
                <a:gd name="T35" fmla="*/ 472 h 472"/>
                <a:gd name="T36" fmla="*/ 209 w 209"/>
                <a:gd name="T37" fmla="*/ 448 h 4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09" h="472">
                  <a:moveTo>
                    <a:pt x="209" y="448"/>
                  </a:moveTo>
                  <a:lnTo>
                    <a:pt x="185" y="442"/>
                  </a:lnTo>
                  <a:lnTo>
                    <a:pt x="155" y="418"/>
                  </a:lnTo>
                  <a:lnTo>
                    <a:pt x="131" y="376"/>
                  </a:lnTo>
                  <a:lnTo>
                    <a:pt x="107" y="322"/>
                  </a:lnTo>
                  <a:lnTo>
                    <a:pt x="83" y="251"/>
                  </a:lnTo>
                  <a:lnTo>
                    <a:pt x="59" y="173"/>
                  </a:lnTo>
                  <a:lnTo>
                    <a:pt x="36" y="89"/>
                  </a:lnTo>
                  <a:lnTo>
                    <a:pt x="18" y="0"/>
                  </a:lnTo>
                  <a:lnTo>
                    <a:pt x="0" y="6"/>
                  </a:lnTo>
                  <a:lnTo>
                    <a:pt x="18" y="95"/>
                  </a:lnTo>
                  <a:lnTo>
                    <a:pt x="41" y="179"/>
                  </a:lnTo>
                  <a:lnTo>
                    <a:pt x="59" y="257"/>
                  </a:lnTo>
                  <a:lnTo>
                    <a:pt x="83" y="328"/>
                  </a:lnTo>
                  <a:lnTo>
                    <a:pt x="107" y="382"/>
                  </a:lnTo>
                  <a:lnTo>
                    <a:pt x="137" y="430"/>
                  </a:lnTo>
                  <a:lnTo>
                    <a:pt x="173" y="460"/>
                  </a:lnTo>
                  <a:lnTo>
                    <a:pt x="209" y="472"/>
                  </a:lnTo>
                  <a:lnTo>
                    <a:pt x="209" y="448"/>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0" name="Freeform 229"/>
            <p:cNvSpPr>
              <a:spLocks noEditPoints="1"/>
            </p:cNvSpPr>
            <p:nvPr/>
          </p:nvSpPr>
          <p:spPr bwMode="auto">
            <a:xfrm>
              <a:off x="3959" y="2527"/>
              <a:ext cx="144" cy="687"/>
            </a:xfrm>
            <a:custGeom>
              <a:avLst/>
              <a:gdLst>
                <a:gd name="T0" fmla="*/ 144 w 144"/>
                <a:gd name="T1" fmla="*/ 681 h 687"/>
                <a:gd name="T2" fmla="*/ 108 w 144"/>
                <a:gd name="T3" fmla="*/ 532 h 687"/>
                <a:gd name="T4" fmla="*/ 66 w 144"/>
                <a:gd name="T5" fmla="*/ 376 h 687"/>
                <a:gd name="T6" fmla="*/ 54 w 144"/>
                <a:gd name="T7" fmla="*/ 287 h 687"/>
                <a:gd name="T8" fmla="*/ 36 w 144"/>
                <a:gd name="T9" fmla="*/ 197 h 687"/>
                <a:gd name="T10" fmla="*/ 30 w 144"/>
                <a:gd name="T11" fmla="*/ 102 h 687"/>
                <a:gd name="T12" fmla="*/ 24 w 144"/>
                <a:gd name="T13" fmla="*/ 0 h 687"/>
                <a:gd name="T14" fmla="*/ 0 w 144"/>
                <a:gd name="T15" fmla="*/ 0 h 687"/>
                <a:gd name="T16" fmla="*/ 6 w 144"/>
                <a:gd name="T17" fmla="*/ 102 h 687"/>
                <a:gd name="T18" fmla="*/ 12 w 144"/>
                <a:gd name="T19" fmla="*/ 203 h 687"/>
                <a:gd name="T20" fmla="*/ 30 w 144"/>
                <a:gd name="T21" fmla="*/ 293 h 687"/>
                <a:gd name="T22" fmla="*/ 48 w 144"/>
                <a:gd name="T23" fmla="*/ 376 h 687"/>
                <a:gd name="T24" fmla="*/ 84 w 144"/>
                <a:gd name="T25" fmla="*/ 538 h 687"/>
                <a:gd name="T26" fmla="*/ 126 w 144"/>
                <a:gd name="T27" fmla="*/ 687 h 687"/>
                <a:gd name="T28" fmla="*/ 144 w 144"/>
                <a:gd name="T29" fmla="*/ 681 h 687"/>
                <a:gd name="T30" fmla="*/ 144 w 144"/>
                <a:gd name="T31" fmla="*/ 681 h 687"/>
                <a:gd name="T32" fmla="*/ 144 w 144"/>
                <a:gd name="T33" fmla="*/ 681 h 687"/>
                <a:gd name="T34" fmla="*/ 144 w 144"/>
                <a:gd name="T35" fmla="*/ 681 h 687"/>
                <a:gd name="T36" fmla="*/ 138 w 144"/>
                <a:gd name="T37" fmla="*/ 687 h 687"/>
                <a:gd name="T38" fmla="*/ 144 w 144"/>
                <a:gd name="T39" fmla="*/ 681 h 68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44" h="687">
                  <a:moveTo>
                    <a:pt x="144" y="681"/>
                  </a:moveTo>
                  <a:lnTo>
                    <a:pt x="108" y="532"/>
                  </a:lnTo>
                  <a:lnTo>
                    <a:pt x="66" y="376"/>
                  </a:lnTo>
                  <a:lnTo>
                    <a:pt x="54" y="287"/>
                  </a:lnTo>
                  <a:lnTo>
                    <a:pt x="36" y="197"/>
                  </a:lnTo>
                  <a:lnTo>
                    <a:pt x="30" y="102"/>
                  </a:lnTo>
                  <a:lnTo>
                    <a:pt x="24" y="0"/>
                  </a:lnTo>
                  <a:lnTo>
                    <a:pt x="0" y="0"/>
                  </a:lnTo>
                  <a:lnTo>
                    <a:pt x="6" y="102"/>
                  </a:lnTo>
                  <a:lnTo>
                    <a:pt x="12" y="203"/>
                  </a:lnTo>
                  <a:lnTo>
                    <a:pt x="30" y="293"/>
                  </a:lnTo>
                  <a:lnTo>
                    <a:pt x="48" y="376"/>
                  </a:lnTo>
                  <a:lnTo>
                    <a:pt x="84" y="538"/>
                  </a:lnTo>
                  <a:lnTo>
                    <a:pt x="126" y="687"/>
                  </a:lnTo>
                  <a:lnTo>
                    <a:pt x="144" y="681"/>
                  </a:lnTo>
                  <a:close/>
                  <a:moveTo>
                    <a:pt x="144" y="681"/>
                  </a:moveTo>
                  <a:lnTo>
                    <a:pt x="144" y="681"/>
                  </a:lnTo>
                  <a:lnTo>
                    <a:pt x="138" y="687"/>
                  </a:lnTo>
                  <a:lnTo>
                    <a:pt x="144" y="681"/>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1" name="Freeform 230"/>
            <p:cNvSpPr>
              <a:spLocks noEditPoints="1"/>
            </p:cNvSpPr>
            <p:nvPr/>
          </p:nvSpPr>
          <p:spPr bwMode="auto">
            <a:xfrm>
              <a:off x="3959" y="1972"/>
              <a:ext cx="114" cy="555"/>
            </a:xfrm>
            <a:custGeom>
              <a:avLst/>
              <a:gdLst>
                <a:gd name="T0" fmla="*/ 24 w 114"/>
                <a:gd name="T1" fmla="*/ 555 h 555"/>
                <a:gd name="T2" fmla="*/ 30 w 114"/>
                <a:gd name="T3" fmla="*/ 483 h 555"/>
                <a:gd name="T4" fmla="*/ 36 w 114"/>
                <a:gd name="T5" fmla="*/ 412 h 555"/>
                <a:gd name="T6" fmla="*/ 60 w 114"/>
                <a:gd name="T7" fmla="*/ 268 h 555"/>
                <a:gd name="T8" fmla="*/ 90 w 114"/>
                <a:gd name="T9" fmla="*/ 131 h 555"/>
                <a:gd name="T10" fmla="*/ 114 w 114"/>
                <a:gd name="T11" fmla="*/ 0 h 555"/>
                <a:gd name="T12" fmla="*/ 90 w 114"/>
                <a:gd name="T13" fmla="*/ 0 h 555"/>
                <a:gd name="T14" fmla="*/ 66 w 114"/>
                <a:gd name="T15" fmla="*/ 125 h 555"/>
                <a:gd name="T16" fmla="*/ 36 w 114"/>
                <a:gd name="T17" fmla="*/ 262 h 555"/>
                <a:gd name="T18" fmla="*/ 12 w 114"/>
                <a:gd name="T19" fmla="*/ 406 h 555"/>
                <a:gd name="T20" fmla="*/ 6 w 114"/>
                <a:gd name="T21" fmla="*/ 477 h 555"/>
                <a:gd name="T22" fmla="*/ 0 w 114"/>
                <a:gd name="T23" fmla="*/ 555 h 555"/>
                <a:gd name="T24" fmla="*/ 24 w 114"/>
                <a:gd name="T25" fmla="*/ 555 h 555"/>
                <a:gd name="T26" fmla="*/ 0 w 114"/>
                <a:gd name="T27" fmla="*/ 555 h 555"/>
                <a:gd name="T28" fmla="*/ 0 w 114"/>
                <a:gd name="T29" fmla="*/ 555 h 555"/>
                <a:gd name="T30" fmla="*/ 12 w 114"/>
                <a:gd name="T31" fmla="*/ 555 h 555"/>
                <a:gd name="T32" fmla="*/ 0 w 114"/>
                <a:gd name="T33" fmla="*/ 555 h 5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14" h="555">
                  <a:moveTo>
                    <a:pt x="24" y="555"/>
                  </a:moveTo>
                  <a:lnTo>
                    <a:pt x="30" y="483"/>
                  </a:lnTo>
                  <a:lnTo>
                    <a:pt x="36" y="412"/>
                  </a:lnTo>
                  <a:lnTo>
                    <a:pt x="60" y="268"/>
                  </a:lnTo>
                  <a:lnTo>
                    <a:pt x="90" y="131"/>
                  </a:lnTo>
                  <a:lnTo>
                    <a:pt x="114" y="0"/>
                  </a:lnTo>
                  <a:lnTo>
                    <a:pt x="90" y="0"/>
                  </a:lnTo>
                  <a:lnTo>
                    <a:pt x="66" y="125"/>
                  </a:lnTo>
                  <a:lnTo>
                    <a:pt x="36" y="262"/>
                  </a:lnTo>
                  <a:lnTo>
                    <a:pt x="12" y="406"/>
                  </a:lnTo>
                  <a:lnTo>
                    <a:pt x="6" y="477"/>
                  </a:lnTo>
                  <a:lnTo>
                    <a:pt x="0" y="555"/>
                  </a:lnTo>
                  <a:lnTo>
                    <a:pt x="24" y="555"/>
                  </a:lnTo>
                  <a:close/>
                  <a:moveTo>
                    <a:pt x="0" y="555"/>
                  </a:moveTo>
                  <a:lnTo>
                    <a:pt x="0" y="555"/>
                  </a:lnTo>
                  <a:lnTo>
                    <a:pt x="12" y="555"/>
                  </a:lnTo>
                  <a:lnTo>
                    <a:pt x="0" y="555"/>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2" name="Freeform 231"/>
            <p:cNvSpPr>
              <a:spLocks noEditPoints="1"/>
            </p:cNvSpPr>
            <p:nvPr/>
          </p:nvSpPr>
          <p:spPr bwMode="auto">
            <a:xfrm>
              <a:off x="4049" y="1375"/>
              <a:ext cx="245" cy="597"/>
            </a:xfrm>
            <a:custGeom>
              <a:avLst/>
              <a:gdLst>
                <a:gd name="T0" fmla="*/ 24 w 245"/>
                <a:gd name="T1" fmla="*/ 597 h 597"/>
                <a:gd name="T2" fmla="*/ 48 w 245"/>
                <a:gd name="T3" fmla="*/ 471 h 597"/>
                <a:gd name="T4" fmla="*/ 66 w 245"/>
                <a:gd name="T5" fmla="*/ 358 h 597"/>
                <a:gd name="T6" fmla="*/ 89 w 245"/>
                <a:gd name="T7" fmla="*/ 262 h 597"/>
                <a:gd name="T8" fmla="*/ 119 w 245"/>
                <a:gd name="T9" fmla="*/ 179 h 597"/>
                <a:gd name="T10" fmla="*/ 149 w 245"/>
                <a:gd name="T11" fmla="*/ 107 h 597"/>
                <a:gd name="T12" fmla="*/ 179 w 245"/>
                <a:gd name="T13" fmla="*/ 59 h 597"/>
                <a:gd name="T14" fmla="*/ 209 w 245"/>
                <a:gd name="T15" fmla="*/ 29 h 597"/>
                <a:gd name="T16" fmla="*/ 245 w 245"/>
                <a:gd name="T17" fmla="*/ 23 h 597"/>
                <a:gd name="T18" fmla="*/ 245 w 245"/>
                <a:gd name="T19" fmla="*/ 0 h 597"/>
                <a:gd name="T20" fmla="*/ 197 w 245"/>
                <a:gd name="T21" fmla="*/ 12 h 597"/>
                <a:gd name="T22" fmla="*/ 161 w 245"/>
                <a:gd name="T23" fmla="*/ 47 h 597"/>
                <a:gd name="T24" fmla="*/ 125 w 245"/>
                <a:gd name="T25" fmla="*/ 101 h 597"/>
                <a:gd name="T26" fmla="*/ 95 w 245"/>
                <a:gd name="T27" fmla="*/ 167 h 597"/>
                <a:gd name="T28" fmla="*/ 72 w 245"/>
                <a:gd name="T29" fmla="*/ 256 h 597"/>
                <a:gd name="T30" fmla="*/ 48 w 245"/>
                <a:gd name="T31" fmla="*/ 358 h 597"/>
                <a:gd name="T32" fmla="*/ 24 w 245"/>
                <a:gd name="T33" fmla="*/ 471 h 597"/>
                <a:gd name="T34" fmla="*/ 0 w 245"/>
                <a:gd name="T35" fmla="*/ 597 h 597"/>
                <a:gd name="T36" fmla="*/ 24 w 245"/>
                <a:gd name="T37" fmla="*/ 597 h 597"/>
                <a:gd name="T38" fmla="*/ 0 w 245"/>
                <a:gd name="T39" fmla="*/ 597 h 597"/>
                <a:gd name="T40" fmla="*/ 0 w 245"/>
                <a:gd name="T41" fmla="*/ 597 h 597"/>
                <a:gd name="T42" fmla="*/ 0 w 245"/>
                <a:gd name="T43" fmla="*/ 597 h 597"/>
                <a:gd name="T44" fmla="*/ 12 w 245"/>
                <a:gd name="T45" fmla="*/ 597 h 597"/>
                <a:gd name="T46" fmla="*/ 0 w 245"/>
                <a:gd name="T47" fmla="*/ 597 h 59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45" h="597">
                  <a:moveTo>
                    <a:pt x="24" y="597"/>
                  </a:moveTo>
                  <a:lnTo>
                    <a:pt x="48" y="471"/>
                  </a:lnTo>
                  <a:lnTo>
                    <a:pt x="66" y="358"/>
                  </a:lnTo>
                  <a:lnTo>
                    <a:pt x="89" y="262"/>
                  </a:lnTo>
                  <a:lnTo>
                    <a:pt x="119" y="179"/>
                  </a:lnTo>
                  <a:lnTo>
                    <a:pt x="149" y="107"/>
                  </a:lnTo>
                  <a:lnTo>
                    <a:pt x="179" y="59"/>
                  </a:lnTo>
                  <a:lnTo>
                    <a:pt x="209" y="29"/>
                  </a:lnTo>
                  <a:lnTo>
                    <a:pt x="245" y="23"/>
                  </a:lnTo>
                  <a:lnTo>
                    <a:pt x="245" y="0"/>
                  </a:lnTo>
                  <a:lnTo>
                    <a:pt x="197" y="12"/>
                  </a:lnTo>
                  <a:lnTo>
                    <a:pt x="161" y="47"/>
                  </a:lnTo>
                  <a:lnTo>
                    <a:pt x="125" y="101"/>
                  </a:lnTo>
                  <a:lnTo>
                    <a:pt x="95" y="167"/>
                  </a:lnTo>
                  <a:lnTo>
                    <a:pt x="72" y="256"/>
                  </a:lnTo>
                  <a:lnTo>
                    <a:pt x="48" y="358"/>
                  </a:lnTo>
                  <a:lnTo>
                    <a:pt x="24" y="471"/>
                  </a:lnTo>
                  <a:lnTo>
                    <a:pt x="0" y="597"/>
                  </a:lnTo>
                  <a:lnTo>
                    <a:pt x="24" y="597"/>
                  </a:lnTo>
                  <a:close/>
                  <a:moveTo>
                    <a:pt x="0" y="597"/>
                  </a:moveTo>
                  <a:lnTo>
                    <a:pt x="0" y="597"/>
                  </a:lnTo>
                  <a:lnTo>
                    <a:pt x="12" y="597"/>
                  </a:lnTo>
                  <a:lnTo>
                    <a:pt x="0" y="597"/>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3" name="Freeform 232"/>
            <p:cNvSpPr>
              <a:spLocks/>
            </p:cNvSpPr>
            <p:nvPr/>
          </p:nvSpPr>
          <p:spPr bwMode="auto">
            <a:xfrm>
              <a:off x="4162" y="3489"/>
              <a:ext cx="24" cy="29"/>
            </a:xfrm>
            <a:custGeom>
              <a:avLst/>
              <a:gdLst>
                <a:gd name="T0" fmla="*/ 24 w 24"/>
                <a:gd name="T1" fmla="*/ 5 h 29"/>
                <a:gd name="T2" fmla="*/ 12 w 24"/>
                <a:gd name="T3" fmla="*/ 5 h 29"/>
                <a:gd name="T4" fmla="*/ 0 w 24"/>
                <a:gd name="T5" fmla="*/ 0 h 29"/>
                <a:gd name="T6" fmla="*/ 0 w 24"/>
                <a:gd name="T7" fmla="*/ 23 h 29"/>
                <a:gd name="T8" fmla="*/ 12 w 24"/>
                <a:gd name="T9" fmla="*/ 29 h 29"/>
                <a:gd name="T10" fmla="*/ 18 w 24"/>
                <a:gd name="T11" fmla="*/ 29 h 29"/>
                <a:gd name="T12" fmla="*/ 24 w 24"/>
                <a:gd name="T13" fmla="*/ 5 h 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 h="29">
                  <a:moveTo>
                    <a:pt x="24" y="5"/>
                  </a:moveTo>
                  <a:lnTo>
                    <a:pt x="12" y="5"/>
                  </a:lnTo>
                  <a:lnTo>
                    <a:pt x="0" y="0"/>
                  </a:lnTo>
                  <a:lnTo>
                    <a:pt x="0" y="23"/>
                  </a:lnTo>
                  <a:lnTo>
                    <a:pt x="12" y="29"/>
                  </a:lnTo>
                  <a:lnTo>
                    <a:pt x="18" y="29"/>
                  </a:lnTo>
                  <a:lnTo>
                    <a:pt x="24" y="5"/>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 name="Freeform 233"/>
            <p:cNvSpPr>
              <a:spLocks noEditPoints="1"/>
            </p:cNvSpPr>
            <p:nvPr/>
          </p:nvSpPr>
          <p:spPr bwMode="auto">
            <a:xfrm>
              <a:off x="4091" y="3477"/>
              <a:ext cx="65" cy="35"/>
            </a:xfrm>
            <a:custGeom>
              <a:avLst/>
              <a:gdLst>
                <a:gd name="T0" fmla="*/ 65 w 65"/>
                <a:gd name="T1" fmla="*/ 12 h 35"/>
                <a:gd name="T2" fmla="*/ 53 w 65"/>
                <a:gd name="T3" fmla="*/ 12 h 35"/>
                <a:gd name="T4" fmla="*/ 41 w 65"/>
                <a:gd name="T5" fmla="*/ 6 h 35"/>
                <a:gd name="T6" fmla="*/ 35 w 65"/>
                <a:gd name="T7" fmla="*/ 29 h 35"/>
                <a:gd name="T8" fmla="*/ 47 w 65"/>
                <a:gd name="T9" fmla="*/ 35 h 35"/>
                <a:gd name="T10" fmla="*/ 59 w 65"/>
                <a:gd name="T11" fmla="*/ 35 h 35"/>
                <a:gd name="T12" fmla="*/ 65 w 65"/>
                <a:gd name="T13" fmla="*/ 12 h 35"/>
                <a:gd name="T14" fmla="*/ 30 w 65"/>
                <a:gd name="T15" fmla="*/ 6 h 35"/>
                <a:gd name="T16" fmla="*/ 24 w 65"/>
                <a:gd name="T17" fmla="*/ 0 h 35"/>
                <a:gd name="T18" fmla="*/ 12 w 65"/>
                <a:gd name="T19" fmla="*/ 0 h 35"/>
                <a:gd name="T20" fmla="*/ 0 w 65"/>
                <a:gd name="T21" fmla="*/ 17 h 35"/>
                <a:gd name="T22" fmla="*/ 12 w 65"/>
                <a:gd name="T23" fmla="*/ 23 h 35"/>
                <a:gd name="T24" fmla="*/ 24 w 65"/>
                <a:gd name="T25" fmla="*/ 29 h 35"/>
                <a:gd name="T26" fmla="*/ 30 w 65"/>
                <a:gd name="T27" fmla="*/ 6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5" h="35">
                  <a:moveTo>
                    <a:pt x="65" y="12"/>
                  </a:moveTo>
                  <a:lnTo>
                    <a:pt x="53" y="12"/>
                  </a:lnTo>
                  <a:lnTo>
                    <a:pt x="41" y="6"/>
                  </a:lnTo>
                  <a:lnTo>
                    <a:pt x="35" y="29"/>
                  </a:lnTo>
                  <a:lnTo>
                    <a:pt x="47" y="35"/>
                  </a:lnTo>
                  <a:lnTo>
                    <a:pt x="59" y="35"/>
                  </a:lnTo>
                  <a:lnTo>
                    <a:pt x="65" y="12"/>
                  </a:lnTo>
                  <a:close/>
                  <a:moveTo>
                    <a:pt x="30" y="6"/>
                  </a:moveTo>
                  <a:lnTo>
                    <a:pt x="24" y="0"/>
                  </a:lnTo>
                  <a:lnTo>
                    <a:pt x="12" y="0"/>
                  </a:lnTo>
                  <a:lnTo>
                    <a:pt x="0" y="17"/>
                  </a:lnTo>
                  <a:lnTo>
                    <a:pt x="12" y="23"/>
                  </a:lnTo>
                  <a:lnTo>
                    <a:pt x="24" y="29"/>
                  </a:lnTo>
                  <a:lnTo>
                    <a:pt x="30" y="6"/>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 name="Freeform 234"/>
            <p:cNvSpPr>
              <a:spLocks noEditPoints="1"/>
            </p:cNvSpPr>
            <p:nvPr/>
          </p:nvSpPr>
          <p:spPr bwMode="auto">
            <a:xfrm>
              <a:off x="4031" y="3453"/>
              <a:ext cx="60" cy="41"/>
            </a:xfrm>
            <a:custGeom>
              <a:avLst/>
              <a:gdLst>
                <a:gd name="T0" fmla="*/ 60 w 60"/>
                <a:gd name="T1" fmla="*/ 18 h 41"/>
                <a:gd name="T2" fmla="*/ 48 w 60"/>
                <a:gd name="T3" fmla="*/ 18 h 41"/>
                <a:gd name="T4" fmla="*/ 36 w 60"/>
                <a:gd name="T5" fmla="*/ 12 h 41"/>
                <a:gd name="T6" fmla="*/ 30 w 60"/>
                <a:gd name="T7" fmla="*/ 36 h 41"/>
                <a:gd name="T8" fmla="*/ 42 w 60"/>
                <a:gd name="T9" fmla="*/ 36 h 41"/>
                <a:gd name="T10" fmla="*/ 54 w 60"/>
                <a:gd name="T11" fmla="*/ 41 h 41"/>
                <a:gd name="T12" fmla="*/ 60 w 60"/>
                <a:gd name="T13" fmla="*/ 18 h 41"/>
                <a:gd name="T14" fmla="*/ 30 w 60"/>
                <a:gd name="T15" fmla="*/ 6 h 41"/>
                <a:gd name="T16" fmla="*/ 24 w 60"/>
                <a:gd name="T17" fmla="*/ 6 h 41"/>
                <a:gd name="T18" fmla="*/ 12 w 60"/>
                <a:gd name="T19" fmla="*/ 0 h 41"/>
                <a:gd name="T20" fmla="*/ 0 w 60"/>
                <a:gd name="T21" fmla="*/ 18 h 41"/>
                <a:gd name="T22" fmla="*/ 12 w 60"/>
                <a:gd name="T23" fmla="*/ 24 h 41"/>
                <a:gd name="T24" fmla="*/ 18 w 60"/>
                <a:gd name="T25" fmla="*/ 30 h 41"/>
                <a:gd name="T26" fmla="*/ 30 w 60"/>
                <a:gd name="T27" fmla="*/ 6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 h="41">
                  <a:moveTo>
                    <a:pt x="60" y="18"/>
                  </a:moveTo>
                  <a:lnTo>
                    <a:pt x="48" y="18"/>
                  </a:lnTo>
                  <a:lnTo>
                    <a:pt x="36" y="12"/>
                  </a:lnTo>
                  <a:lnTo>
                    <a:pt x="30" y="36"/>
                  </a:lnTo>
                  <a:lnTo>
                    <a:pt x="42" y="36"/>
                  </a:lnTo>
                  <a:lnTo>
                    <a:pt x="54" y="41"/>
                  </a:lnTo>
                  <a:lnTo>
                    <a:pt x="60" y="18"/>
                  </a:lnTo>
                  <a:close/>
                  <a:moveTo>
                    <a:pt x="30" y="6"/>
                  </a:moveTo>
                  <a:lnTo>
                    <a:pt x="24" y="6"/>
                  </a:lnTo>
                  <a:lnTo>
                    <a:pt x="12" y="0"/>
                  </a:lnTo>
                  <a:lnTo>
                    <a:pt x="0" y="18"/>
                  </a:lnTo>
                  <a:lnTo>
                    <a:pt x="12" y="24"/>
                  </a:lnTo>
                  <a:lnTo>
                    <a:pt x="18" y="30"/>
                  </a:lnTo>
                  <a:lnTo>
                    <a:pt x="30" y="6"/>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 name="Freeform 235"/>
            <p:cNvSpPr>
              <a:spLocks noEditPoints="1"/>
            </p:cNvSpPr>
            <p:nvPr/>
          </p:nvSpPr>
          <p:spPr bwMode="auto">
            <a:xfrm>
              <a:off x="3971" y="3411"/>
              <a:ext cx="60" cy="54"/>
            </a:xfrm>
            <a:custGeom>
              <a:avLst/>
              <a:gdLst>
                <a:gd name="T0" fmla="*/ 60 w 60"/>
                <a:gd name="T1" fmla="*/ 36 h 54"/>
                <a:gd name="T2" fmla="*/ 54 w 60"/>
                <a:gd name="T3" fmla="*/ 30 h 54"/>
                <a:gd name="T4" fmla="*/ 42 w 60"/>
                <a:gd name="T5" fmla="*/ 24 h 54"/>
                <a:gd name="T6" fmla="*/ 30 w 60"/>
                <a:gd name="T7" fmla="*/ 42 h 54"/>
                <a:gd name="T8" fmla="*/ 42 w 60"/>
                <a:gd name="T9" fmla="*/ 48 h 54"/>
                <a:gd name="T10" fmla="*/ 48 w 60"/>
                <a:gd name="T11" fmla="*/ 54 h 54"/>
                <a:gd name="T12" fmla="*/ 60 w 60"/>
                <a:gd name="T13" fmla="*/ 36 h 54"/>
                <a:gd name="T14" fmla="*/ 36 w 60"/>
                <a:gd name="T15" fmla="*/ 18 h 54"/>
                <a:gd name="T16" fmla="*/ 18 w 60"/>
                <a:gd name="T17" fmla="*/ 0 h 54"/>
                <a:gd name="T18" fmla="*/ 0 w 60"/>
                <a:gd name="T19" fmla="*/ 18 h 54"/>
                <a:gd name="T20" fmla="*/ 18 w 60"/>
                <a:gd name="T21" fmla="*/ 36 h 54"/>
                <a:gd name="T22" fmla="*/ 36 w 60"/>
                <a:gd name="T23" fmla="*/ 18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 h="54">
                  <a:moveTo>
                    <a:pt x="60" y="36"/>
                  </a:moveTo>
                  <a:lnTo>
                    <a:pt x="54" y="30"/>
                  </a:lnTo>
                  <a:lnTo>
                    <a:pt x="42" y="24"/>
                  </a:lnTo>
                  <a:lnTo>
                    <a:pt x="30" y="42"/>
                  </a:lnTo>
                  <a:lnTo>
                    <a:pt x="42" y="48"/>
                  </a:lnTo>
                  <a:lnTo>
                    <a:pt x="48" y="54"/>
                  </a:lnTo>
                  <a:lnTo>
                    <a:pt x="60" y="36"/>
                  </a:lnTo>
                  <a:close/>
                  <a:moveTo>
                    <a:pt x="36" y="18"/>
                  </a:moveTo>
                  <a:lnTo>
                    <a:pt x="18" y="0"/>
                  </a:lnTo>
                  <a:lnTo>
                    <a:pt x="0" y="18"/>
                  </a:lnTo>
                  <a:lnTo>
                    <a:pt x="18" y="36"/>
                  </a:lnTo>
                  <a:lnTo>
                    <a:pt x="36"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 name="Freeform 236"/>
            <p:cNvSpPr>
              <a:spLocks noEditPoints="1"/>
            </p:cNvSpPr>
            <p:nvPr/>
          </p:nvSpPr>
          <p:spPr bwMode="auto">
            <a:xfrm>
              <a:off x="3947" y="3375"/>
              <a:ext cx="36" cy="42"/>
            </a:xfrm>
            <a:custGeom>
              <a:avLst/>
              <a:gdLst>
                <a:gd name="T0" fmla="*/ 36 w 36"/>
                <a:gd name="T1" fmla="*/ 30 h 42"/>
                <a:gd name="T2" fmla="*/ 36 w 36"/>
                <a:gd name="T3" fmla="*/ 24 h 42"/>
                <a:gd name="T4" fmla="*/ 30 w 36"/>
                <a:gd name="T5" fmla="*/ 12 h 42"/>
                <a:gd name="T6" fmla="*/ 6 w 36"/>
                <a:gd name="T7" fmla="*/ 24 h 42"/>
                <a:gd name="T8" fmla="*/ 12 w 36"/>
                <a:gd name="T9" fmla="*/ 36 h 42"/>
                <a:gd name="T10" fmla="*/ 18 w 36"/>
                <a:gd name="T11" fmla="*/ 42 h 42"/>
                <a:gd name="T12" fmla="*/ 36 w 36"/>
                <a:gd name="T13" fmla="*/ 30 h 42"/>
                <a:gd name="T14" fmla="*/ 24 w 36"/>
                <a:gd name="T15" fmla="*/ 6 h 42"/>
                <a:gd name="T16" fmla="*/ 24 w 36"/>
                <a:gd name="T17" fmla="*/ 0 h 42"/>
                <a:gd name="T18" fmla="*/ 0 w 36"/>
                <a:gd name="T19" fmla="*/ 0 h 42"/>
                <a:gd name="T20" fmla="*/ 0 w 36"/>
                <a:gd name="T21" fmla="*/ 6 h 42"/>
                <a:gd name="T22" fmla="*/ 24 w 36"/>
                <a:gd name="T23" fmla="*/ 6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6" h="42">
                  <a:moveTo>
                    <a:pt x="36" y="30"/>
                  </a:moveTo>
                  <a:lnTo>
                    <a:pt x="36" y="24"/>
                  </a:lnTo>
                  <a:lnTo>
                    <a:pt x="30" y="12"/>
                  </a:lnTo>
                  <a:lnTo>
                    <a:pt x="6" y="24"/>
                  </a:lnTo>
                  <a:lnTo>
                    <a:pt x="12" y="36"/>
                  </a:lnTo>
                  <a:lnTo>
                    <a:pt x="18" y="42"/>
                  </a:lnTo>
                  <a:lnTo>
                    <a:pt x="36" y="30"/>
                  </a:lnTo>
                  <a:close/>
                  <a:moveTo>
                    <a:pt x="24" y="6"/>
                  </a:moveTo>
                  <a:lnTo>
                    <a:pt x="24" y="0"/>
                  </a:lnTo>
                  <a:lnTo>
                    <a:pt x="0" y="0"/>
                  </a:lnTo>
                  <a:lnTo>
                    <a:pt x="0" y="6"/>
                  </a:lnTo>
                  <a:lnTo>
                    <a:pt x="24" y="6"/>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 name="Freeform 237"/>
            <p:cNvSpPr>
              <a:spLocks noEditPoints="1"/>
            </p:cNvSpPr>
            <p:nvPr/>
          </p:nvSpPr>
          <p:spPr bwMode="auto">
            <a:xfrm>
              <a:off x="3947" y="3357"/>
              <a:ext cx="30" cy="18"/>
            </a:xfrm>
            <a:custGeom>
              <a:avLst/>
              <a:gdLst>
                <a:gd name="T0" fmla="*/ 24 w 30"/>
                <a:gd name="T1" fmla="*/ 18 h 18"/>
                <a:gd name="T2" fmla="*/ 30 w 30"/>
                <a:gd name="T3" fmla="*/ 6 h 18"/>
                <a:gd name="T4" fmla="*/ 6 w 30"/>
                <a:gd name="T5" fmla="*/ 0 h 18"/>
                <a:gd name="T6" fmla="*/ 0 w 30"/>
                <a:gd name="T7" fmla="*/ 18 h 18"/>
                <a:gd name="T8" fmla="*/ 24 w 30"/>
                <a:gd name="T9" fmla="*/ 18 h 18"/>
                <a:gd name="T10" fmla="*/ 0 w 30"/>
                <a:gd name="T11" fmla="*/ 18 h 18"/>
                <a:gd name="T12" fmla="*/ 0 w 30"/>
                <a:gd name="T13" fmla="*/ 18 h 18"/>
                <a:gd name="T14" fmla="*/ 0 w 30"/>
                <a:gd name="T15" fmla="*/ 18 h 18"/>
                <a:gd name="T16" fmla="*/ 12 w 30"/>
                <a:gd name="T17" fmla="*/ 18 h 18"/>
                <a:gd name="T18" fmla="*/ 0 w 30"/>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0" h="18">
                  <a:moveTo>
                    <a:pt x="24" y="18"/>
                  </a:moveTo>
                  <a:lnTo>
                    <a:pt x="30" y="6"/>
                  </a:lnTo>
                  <a:lnTo>
                    <a:pt x="6" y="0"/>
                  </a:lnTo>
                  <a:lnTo>
                    <a:pt x="0" y="18"/>
                  </a:lnTo>
                  <a:lnTo>
                    <a:pt x="24" y="18"/>
                  </a:lnTo>
                  <a:close/>
                  <a:moveTo>
                    <a:pt x="0" y="18"/>
                  </a:moveTo>
                  <a:lnTo>
                    <a:pt x="0" y="18"/>
                  </a:lnTo>
                  <a:lnTo>
                    <a:pt x="12" y="18"/>
                  </a:lnTo>
                  <a:lnTo>
                    <a:pt x="0"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 name="Freeform 238"/>
            <p:cNvSpPr>
              <a:spLocks noEditPoints="1"/>
            </p:cNvSpPr>
            <p:nvPr/>
          </p:nvSpPr>
          <p:spPr bwMode="auto">
            <a:xfrm>
              <a:off x="3959" y="3297"/>
              <a:ext cx="54" cy="54"/>
            </a:xfrm>
            <a:custGeom>
              <a:avLst/>
              <a:gdLst>
                <a:gd name="T0" fmla="*/ 18 w 54"/>
                <a:gd name="T1" fmla="*/ 54 h 54"/>
                <a:gd name="T2" fmla="*/ 24 w 54"/>
                <a:gd name="T3" fmla="*/ 48 h 54"/>
                <a:gd name="T4" fmla="*/ 30 w 54"/>
                <a:gd name="T5" fmla="*/ 42 h 54"/>
                <a:gd name="T6" fmla="*/ 12 w 54"/>
                <a:gd name="T7" fmla="*/ 24 h 54"/>
                <a:gd name="T8" fmla="*/ 6 w 54"/>
                <a:gd name="T9" fmla="*/ 36 h 54"/>
                <a:gd name="T10" fmla="*/ 0 w 54"/>
                <a:gd name="T11" fmla="*/ 48 h 54"/>
                <a:gd name="T12" fmla="*/ 18 w 54"/>
                <a:gd name="T13" fmla="*/ 54 h 54"/>
                <a:gd name="T14" fmla="*/ 36 w 54"/>
                <a:gd name="T15" fmla="*/ 30 h 54"/>
                <a:gd name="T16" fmla="*/ 48 w 54"/>
                <a:gd name="T17" fmla="*/ 24 h 54"/>
                <a:gd name="T18" fmla="*/ 54 w 54"/>
                <a:gd name="T19" fmla="*/ 18 h 54"/>
                <a:gd name="T20" fmla="*/ 42 w 54"/>
                <a:gd name="T21" fmla="*/ 0 h 54"/>
                <a:gd name="T22" fmla="*/ 30 w 54"/>
                <a:gd name="T23" fmla="*/ 12 h 54"/>
                <a:gd name="T24" fmla="*/ 18 w 54"/>
                <a:gd name="T25" fmla="*/ 18 h 54"/>
                <a:gd name="T26" fmla="*/ 36 w 54"/>
                <a:gd name="T27" fmla="*/ 30 h 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 h="54">
                  <a:moveTo>
                    <a:pt x="18" y="54"/>
                  </a:moveTo>
                  <a:lnTo>
                    <a:pt x="24" y="48"/>
                  </a:lnTo>
                  <a:lnTo>
                    <a:pt x="30" y="42"/>
                  </a:lnTo>
                  <a:lnTo>
                    <a:pt x="12" y="24"/>
                  </a:lnTo>
                  <a:lnTo>
                    <a:pt x="6" y="36"/>
                  </a:lnTo>
                  <a:lnTo>
                    <a:pt x="0" y="48"/>
                  </a:lnTo>
                  <a:lnTo>
                    <a:pt x="18" y="54"/>
                  </a:lnTo>
                  <a:close/>
                  <a:moveTo>
                    <a:pt x="36" y="30"/>
                  </a:moveTo>
                  <a:lnTo>
                    <a:pt x="48" y="24"/>
                  </a:lnTo>
                  <a:lnTo>
                    <a:pt x="54" y="18"/>
                  </a:lnTo>
                  <a:lnTo>
                    <a:pt x="42" y="0"/>
                  </a:lnTo>
                  <a:lnTo>
                    <a:pt x="30" y="12"/>
                  </a:lnTo>
                  <a:lnTo>
                    <a:pt x="18" y="18"/>
                  </a:lnTo>
                  <a:lnTo>
                    <a:pt x="36" y="30"/>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 name="Freeform 239"/>
            <p:cNvSpPr>
              <a:spLocks noEditPoints="1"/>
            </p:cNvSpPr>
            <p:nvPr/>
          </p:nvSpPr>
          <p:spPr bwMode="auto">
            <a:xfrm>
              <a:off x="4007" y="3262"/>
              <a:ext cx="66" cy="47"/>
            </a:xfrm>
            <a:custGeom>
              <a:avLst/>
              <a:gdLst>
                <a:gd name="T0" fmla="*/ 12 w 66"/>
                <a:gd name="T1" fmla="*/ 47 h 47"/>
                <a:gd name="T2" fmla="*/ 24 w 66"/>
                <a:gd name="T3" fmla="*/ 41 h 47"/>
                <a:gd name="T4" fmla="*/ 36 w 66"/>
                <a:gd name="T5" fmla="*/ 35 h 47"/>
                <a:gd name="T6" fmla="*/ 24 w 66"/>
                <a:gd name="T7" fmla="*/ 18 h 47"/>
                <a:gd name="T8" fmla="*/ 12 w 66"/>
                <a:gd name="T9" fmla="*/ 23 h 47"/>
                <a:gd name="T10" fmla="*/ 0 w 66"/>
                <a:gd name="T11" fmla="*/ 29 h 47"/>
                <a:gd name="T12" fmla="*/ 12 w 66"/>
                <a:gd name="T13" fmla="*/ 47 h 47"/>
                <a:gd name="T14" fmla="*/ 42 w 66"/>
                <a:gd name="T15" fmla="*/ 29 h 47"/>
                <a:gd name="T16" fmla="*/ 54 w 66"/>
                <a:gd name="T17" fmla="*/ 29 h 47"/>
                <a:gd name="T18" fmla="*/ 66 w 66"/>
                <a:gd name="T19" fmla="*/ 23 h 47"/>
                <a:gd name="T20" fmla="*/ 54 w 66"/>
                <a:gd name="T21" fmla="*/ 0 h 47"/>
                <a:gd name="T22" fmla="*/ 42 w 66"/>
                <a:gd name="T23" fmla="*/ 6 h 47"/>
                <a:gd name="T24" fmla="*/ 30 w 66"/>
                <a:gd name="T25" fmla="*/ 12 h 47"/>
                <a:gd name="T26" fmla="*/ 42 w 66"/>
                <a:gd name="T27" fmla="*/ 2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6" h="47">
                  <a:moveTo>
                    <a:pt x="12" y="47"/>
                  </a:moveTo>
                  <a:lnTo>
                    <a:pt x="24" y="41"/>
                  </a:lnTo>
                  <a:lnTo>
                    <a:pt x="36" y="35"/>
                  </a:lnTo>
                  <a:lnTo>
                    <a:pt x="24" y="18"/>
                  </a:lnTo>
                  <a:lnTo>
                    <a:pt x="12" y="23"/>
                  </a:lnTo>
                  <a:lnTo>
                    <a:pt x="0" y="29"/>
                  </a:lnTo>
                  <a:lnTo>
                    <a:pt x="12" y="47"/>
                  </a:lnTo>
                  <a:close/>
                  <a:moveTo>
                    <a:pt x="42" y="29"/>
                  </a:moveTo>
                  <a:lnTo>
                    <a:pt x="54" y="29"/>
                  </a:lnTo>
                  <a:lnTo>
                    <a:pt x="66" y="23"/>
                  </a:lnTo>
                  <a:lnTo>
                    <a:pt x="54" y="0"/>
                  </a:lnTo>
                  <a:lnTo>
                    <a:pt x="42" y="6"/>
                  </a:lnTo>
                  <a:lnTo>
                    <a:pt x="30" y="12"/>
                  </a:lnTo>
                  <a:lnTo>
                    <a:pt x="42" y="29"/>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1" name="Freeform 240"/>
            <p:cNvSpPr>
              <a:spLocks noEditPoints="1"/>
            </p:cNvSpPr>
            <p:nvPr/>
          </p:nvSpPr>
          <p:spPr bwMode="auto">
            <a:xfrm>
              <a:off x="4073" y="3244"/>
              <a:ext cx="59" cy="36"/>
            </a:xfrm>
            <a:custGeom>
              <a:avLst/>
              <a:gdLst>
                <a:gd name="T0" fmla="*/ 6 w 59"/>
                <a:gd name="T1" fmla="*/ 36 h 36"/>
                <a:gd name="T2" fmla="*/ 18 w 59"/>
                <a:gd name="T3" fmla="*/ 36 h 36"/>
                <a:gd name="T4" fmla="*/ 30 w 59"/>
                <a:gd name="T5" fmla="*/ 30 h 36"/>
                <a:gd name="T6" fmla="*/ 24 w 59"/>
                <a:gd name="T7" fmla="*/ 6 h 36"/>
                <a:gd name="T8" fmla="*/ 12 w 59"/>
                <a:gd name="T9" fmla="*/ 12 h 36"/>
                <a:gd name="T10" fmla="*/ 0 w 59"/>
                <a:gd name="T11" fmla="*/ 18 h 36"/>
                <a:gd name="T12" fmla="*/ 6 w 59"/>
                <a:gd name="T13" fmla="*/ 36 h 36"/>
                <a:gd name="T14" fmla="*/ 42 w 59"/>
                <a:gd name="T15" fmla="*/ 30 h 36"/>
                <a:gd name="T16" fmla="*/ 53 w 59"/>
                <a:gd name="T17" fmla="*/ 24 h 36"/>
                <a:gd name="T18" fmla="*/ 59 w 59"/>
                <a:gd name="T19" fmla="*/ 24 h 36"/>
                <a:gd name="T20" fmla="*/ 53 w 59"/>
                <a:gd name="T21" fmla="*/ 0 h 36"/>
                <a:gd name="T22" fmla="*/ 42 w 59"/>
                <a:gd name="T23" fmla="*/ 0 h 36"/>
                <a:gd name="T24" fmla="*/ 30 w 59"/>
                <a:gd name="T25" fmla="*/ 6 h 36"/>
                <a:gd name="T26" fmla="*/ 42 w 59"/>
                <a:gd name="T27" fmla="*/ 30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9" h="36">
                  <a:moveTo>
                    <a:pt x="6" y="36"/>
                  </a:moveTo>
                  <a:lnTo>
                    <a:pt x="18" y="36"/>
                  </a:lnTo>
                  <a:lnTo>
                    <a:pt x="30" y="30"/>
                  </a:lnTo>
                  <a:lnTo>
                    <a:pt x="24" y="6"/>
                  </a:lnTo>
                  <a:lnTo>
                    <a:pt x="12" y="12"/>
                  </a:lnTo>
                  <a:lnTo>
                    <a:pt x="0" y="18"/>
                  </a:lnTo>
                  <a:lnTo>
                    <a:pt x="6" y="36"/>
                  </a:lnTo>
                  <a:close/>
                  <a:moveTo>
                    <a:pt x="42" y="30"/>
                  </a:moveTo>
                  <a:lnTo>
                    <a:pt x="53" y="24"/>
                  </a:lnTo>
                  <a:lnTo>
                    <a:pt x="59" y="24"/>
                  </a:lnTo>
                  <a:lnTo>
                    <a:pt x="53" y="0"/>
                  </a:lnTo>
                  <a:lnTo>
                    <a:pt x="42" y="0"/>
                  </a:lnTo>
                  <a:lnTo>
                    <a:pt x="30" y="6"/>
                  </a:lnTo>
                  <a:lnTo>
                    <a:pt x="42" y="30"/>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2" name="Freeform 241"/>
            <p:cNvSpPr>
              <a:spLocks noEditPoints="1"/>
            </p:cNvSpPr>
            <p:nvPr/>
          </p:nvSpPr>
          <p:spPr bwMode="auto">
            <a:xfrm>
              <a:off x="4138" y="3226"/>
              <a:ext cx="60" cy="36"/>
            </a:xfrm>
            <a:custGeom>
              <a:avLst/>
              <a:gdLst>
                <a:gd name="T0" fmla="*/ 6 w 60"/>
                <a:gd name="T1" fmla="*/ 36 h 36"/>
                <a:gd name="T2" fmla="*/ 18 w 60"/>
                <a:gd name="T3" fmla="*/ 36 h 36"/>
                <a:gd name="T4" fmla="*/ 30 w 60"/>
                <a:gd name="T5" fmla="*/ 30 h 36"/>
                <a:gd name="T6" fmla="*/ 24 w 60"/>
                <a:gd name="T7" fmla="*/ 6 h 36"/>
                <a:gd name="T8" fmla="*/ 12 w 60"/>
                <a:gd name="T9" fmla="*/ 12 h 36"/>
                <a:gd name="T10" fmla="*/ 0 w 60"/>
                <a:gd name="T11" fmla="*/ 12 h 36"/>
                <a:gd name="T12" fmla="*/ 6 w 60"/>
                <a:gd name="T13" fmla="*/ 36 h 36"/>
                <a:gd name="T14" fmla="*/ 36 w 60"/>
                <a:gd name="T15" fmla="*/ 30 h 36"/>
                <a:gd name="T16" fmla="*/ 48 w 60"/>
                <a:gd name="T17" fmla="*/ 30 h 36"/>
                <a:gd name="T18" fmla="*/ 60 w 60"/>
                <a:gd name="T19" fmla="*/ 24 h 36"/>
                <a:gd name="T20" fmla="*/ 60 w 60"/>
                <a:gd name="T21" fmla="*/ 0 h 36"/>
                <a:gd name="T22" fmla="*/ 48 w 60"/>
                <a:gd name="T23" fmla="*/ 6 h 36"/>
                <a:gd name="T24" fmla="*/ 36 w 60"/>
                <a:gd name="T25" fmla="*/ 6 h 36"/>
                <a:gd name="T26" fmla="*/ 36 w 60"/>
                <a:gd name="T27" fmla="*/ 30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 h="36">
                  <a:moveTo>
                    <a:pt x="6" y="36"/>
                  </a:moveTo>
                  <a:lnTo>
                    <a:pt x="18" y="36"/>
                  </a:lnTo>
                  <a:lnTo>
                    <a:pt x="30" y="30"/>
                  </a:lnTo>
                  <a:lnTo>
                    <a:pt x="24" y="6"/>
                  </a:lnTo>
                  <a:lnTo>
                    <a:pt x="12" y="12"/>
                  </a:lnTo>
                  <a:lnTo>
                    <a:pt x="0" y="12"/>
                  </a:lnTo>
                  <a:lnTo>
                    <a:pt x="6" y="36"/>
                  </a:lnTo>
                  <a:close/>
                  <a:moveTo>
                    <a:pt x="36" y="30"/>
                  </a:moveTo>
                  <a:lnTo>
                    <a:pt x="48" y="30"/>
                  </a:lnTo>
                  <a:lnTo>
                    <a:pt x="60" y="24"/>
                  </a:lnTo>
                  <a:lnTo>
                    <a:pt x="60" y="0"/>
                  </a:lnTo>
                  <a:lnTo>
                    <a:pt x="48" y="6"/>
                  </a:lnTo>
                  <a:lnTo>
                    <a:pt x="36" y="6"/>
                  </a:lnTo>
                  <a:lnTo>
                    <a:pt x="36" y="30"/>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3" name="Freeform 242"/>
            <p:cNvSpPr>
              <a:spLocks noEditPoints="1"/>
            </p:cNvSpPr>
            <p:nvPr/>
          </p:nvSpPr>
          <p:spPr bwMode="auto">
            <a:xfrm>
              <a:off x="4204" y="3220"/>
              <a:ext cx="60" cy="30"/>
            </a:xfrm>
            <a:custGeom>
              <a:avLst/>
              <a:gdLst>
                <a:gd name="T0" fmla="*/ 6 w 60"/>
                <a:gd name="T1" fmla="*/ 30 h 30"/>
                <a:gd name="T2" fmla="*/ 18 w 60"/>
                <a:gd name="T3" fmla="*/ 30 h 30"/>
                <a:gd name="T4" fmla="*/ 30 w 60"/>
                <a:gd name="T5" fmla="*/ 30 h 30"/>
                <a:gd name="T6" fmla="*/ 24 w 60"/>
                <a:gd name="T7" fmla="*/ 6 h 30"/>
                <a:gd name="T8" fmla="*/ 12 w 60"/>
                <a:gd name="T9" fmla="*/ 6 h 30"/>
                <a:gd name="T10" fmla="*/ 0 w 60"/>
                <a:gd name="T11" fmla="*/ 6 h 30"/>
                <a:gd name="T12" fmla="*/ 6 w 60"/>
                <a:gd name="T13" fmla="*/ 30 h 30"/>
                <a:gd name="T14" fmla="*/ 42 w 60"/>
                <a:gd name="T15" fmla="*/ 30 h 30"/>
                <a:gd name="T16" fmla="*/ 54 w 60"/>
                <a:gd name="T17" fmla="*/ 24 h 30"/>
                <a:gd name="T18" fmla="*/ 60 w 60"/>
                <a:gd name="T19" fmla="*/ 24 h 30"/>
                <a:gd name="T20" fmla="*/ 60 w 60"/>
                <a:gd name="T21" fmla="*/ 0 h 30"/>
                <a:gd name="T22" fmla="*/ 48 w 60"/>
                <a:gd name="T23" fmla="*/ 0 h 30"/>
                <a:gd name="T24" fmla="*/ 36 w 60"/>
                <a:gd name="T25" fmla="*/ 6 h 30"/>
                <a:gd name="T26" fmla="*/ 42 w 60"/>
                <a:gd name="T27" fmla="*/ 30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 h="30">
                  <a:moveTo>
                    <a:pt x="6" y="30"/>
                  </a:moveTo>
                  <a:lnTo>
                    <a:pt x="18" y="30"/>
                  </a:lnTo>
                  <a:lnTo>
                    <a:pt x="30" y="30"/>
                  </a:lnTo>
                  <a:lnTo>
                    <a:pt x="24" y="6"/>
                  </a:lnTo>
                  <a:lnTo>
                    <a:pt x="12" y="6"/>
                  </a:lnTo>
                  <a:lnTo>
                    <a:pt x="0" y="6"/>
                  </a:lnTo>
                  <a:lnTo>
                    <a:pt x="6" y="30"/>
                  </a:lnTo>
                  <a:close/>
                  <a:moveTo>
                    <a:pt x="42" y="30"/>
                  </a:moveTo>
                  <a:lnTo>
                    <a:pt x="54" y="24"/>
                  </a:lnTo>
                  <a:lnTo>
                    <a:pt x="60" y="24"/>
                  </a:lnTo>
                  <a:lnTo>
                    <a:pt x="60" y="0"/>
                  </a:lnTo>
                  <a:lnTo>
                    <a:pt x="48" y="0"/>
                  </a:lnTo>
                  <a:lnTo>
                    <a:pt x="36" y="6"/>
                  </a:lnTo>
                  <a:lnTo>
                    <a:pt x="42" y="30"/>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4" name="Freeform 243"/>
            <p:cNvSpPr>
              <a:spLocks noEditPoints="1"/>
            </p:cNvSpPr>
            <p:nvPr/>
          </p:nvSpPr>
          <p:spPr bwMode="auto">
            <a:xfrm>
              <a:off x="4276" y="3220"/>
              <a:ext cx="48" cy="24"/>
            </a:xfrm>
            <a:custGeom>
              <a:avLst/>
              <a:gdLst>
                <a:gd name="T0" fmla="*/ 0 w 48"/>
                <a:gd name="T1" fmla="*/ 24 h 24"/>
                <a:gd name="T2" fmla="*/ 12 w 48"/>
                <a:gd name="T3" fmla="*/ 24 h 24"/>
                <a:gd name="T4" fmla="*/ 24 w 48"/>
                <a:gd name="T5" fmla="*/ 24 h 24"/>
                <a:gd name="T6" fmla="*/ 24 w 48"/>
                <a:gd name="T7" fmla="*/ 0 h 24"/>
                <a:gd name="T8" fmla="*/ 12 w 48"/>
                <a:gd name="T9" fmla="*/ 0 h 24"/>
                <a:gd name="T10" fmla="*/ 0 w 48"/>
                <a:gd name="T11" fmla="*/ 0 h 24"/>
                <a:gd name="T12" fmla="*/ 0 w 48"/>
                <a:gd name="T13" fmla="*/ 24 h 24"/>
                <a:gd name="T14" fmla="*/ 36 w 48"/>
                <a:gd name="T15" fmla="*/ 24 h 24"/>
                <a:gd name="T16" fmla="*/ 48 w 48"/>
                <a:gd name="T17" fmla="*/ 24 h 24"/>
                <a:gd name="T18" fmla="*/ 48 w 48"/>
                <a:gd name="T19" fmla="*/ 0 h 24"/>
                <a:gd name="T20" fmla="*/ 36 w 48"/>
                <a:gd name="T21" fmla="*/ 0 h 24"/>
                <a:gd name="T22" fmla="*/ 36 w 48"/>
                <a:gd name="T23" fmla="*/ 24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8" h="24">
                  <a:moveTo>
                    <a:pt x="0" y="24"/>
                  </a:moveTo>
                  <a:lnTo>
                    <a:pt x="12" y="24"/>
                  </a:lnTo>
                  <a:lnTo>
                    <a:pt x="24" y="24"/>
                  </a:lnTo>
                  <a:lnTo>
                    <a:pt x="24" y="0"/>
                  </a:lnTo>
                  <a:lnTo>
                    <a:pt x="12" y="0"/>
                  </a:lnTo>
                  <a:lnTo>
                    <a:pt x="0" y="0"/>
                  </a:lnTo>
                  <a:lnTo>
                    <a:pt x="0" y="24"/>
                  </a:lnTo>
                  <a:close/>
                  <a:moveTo>
                    <a:pt x="36" y="24"/>
                  </a:moveTo>
                  <a:lnTo>
                    <a:pt x="48" y="24"/>
                  </a:lnTo>
                  <a:lnTo>
                    <a:pt x="48" y="0"/>
                  </a:lnTo>
                  <a:lnTo>
                    <a:pt x="36" y="0"/>
                  </a:lnTo>
                  <a:lnTo>
                    <a:pt x="36" y="24"/>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 name="Freeform 244"/>
            <p:cNvSpPr>
              <a:spLocks noEditPoints="1"/>
            </p:cNvSpPr>
            <p:nvPr/>
          </p:nvSpPr>
          <p:spPr bwMode="auto">
            <a:xfrm>
              <a:off x="4324" y="3220"/>
              <a:ext cx="12" cy="24"/>
            </a:xfrm>
            <a:custGeom>
              <a:avLst/>
              <a:gdLst>
                <a:gd name="T0" fmla="*/ 0 w 12"/>
                <a:gd name="T1" fmla="*/ 24 h 24"/>
                <a:gd name="T2" fmla="*/ 12 w 12"/>
                <a:gd name="T3" fmla="*/ 24 h 24"/>
                <a:gd name="T4" fmla="*/ 12 w 12"/>
                <a:gd name="T5" fmla="*/ 0 h 24"/>
                <a:gd name="T6" fmla="*/ 0 w 12"/>
                <a:gd name="T7" fmla="*/ 0 h 24"/>
                <a:gd name="T8" fmla="*/ 0 w 12"/>
                <a:gd name="T9" fmla="*/ 24 h 24"/>
                <a:gd name="T10" fmla="*/ 0 w 12"/>
                <a:gd name="T11" fmla="*/ 0 h 24"/>
                <a:gd name="T12" fmla="*/ 0 w 12"/>
                <a:gd name="T13" fmla="*/ 0 h 24"/>
                <a:gd name="T14" fmla="*/ 0 w 12"/>
                <a:gd name="T15" fmla="*/ 0 h 24"/>
                <a:gd name="T16" fmla="*/ 0 w 12"/>
                <a:gd name="T17" fmla="*/ 12 h 24"/>
                <a:gd name="T18" fmla="*/ 0 w 12"/>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 h="24">
                  <a:moveTo>
                    <a:pt x="0" y="24"/>
                  </a:moveTo>
                  <a:lnTo>
                    <a:pt x="12" y="24"/>
                  </a:lnTo>
                  <a:lnTo>
                    <a:pt x="12" y="0"/>
                  </a:lnTo>
                  <a:lnTo>
                    <a:pt x="0" y="0"/>
                  </a:lnTo>
                  <a:lnTo>
                    <a:pt x="0" y="24"/>
                  </a:lnTo>
                  <a:close/>
                  <a:moveTo>
                    <a:pt x="0" y="0"/>
                  </a:moveTo>
                  <a:lnTo>
                    <a:pt x="0" y="0"/>
                  </a:lnTo>
                  <a:lnTo>
                    <a:pt x="0" y="12"/>
                  </a:lnTo>
                  <a:lnTo>
                    <a:pt x="0" y="0"/>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 name="Freeform 245"/>
            <p:cNvSpPr>
              <a:spLocks noEditPoints="1"/>
            </p:cNvSpPr>
            <p:nvPr/>
          </p:nvSpPr>
          <p:spPr bwMode="auto">
            <a:xfrm>
              <a:off x="4342" y="3220"/>
              <a:ext cx="60" cy="24"/>
            </a:xfrm>
            <a:custGeom>
              <a:avLst/>
              <a:gdLst>
                <a:gd name="T0" fmla="*/ 0 w 60"/>
                <a:gd name="T1" fmla="*/ 24 h 24"/>
                <a:gd name="T2" fmla="*/ 12 w 60"/>
                <a:gd name="T3" fmla="*/ 24 h 24"/>
                <a:gd name="T4" fmla="*/ 24 w 60"/>
                <a:gd name="T5" fmla="*/ 24 h 24"/>
                <a:gd name="T6" fmla="*/ 24 w 60"/>
                <a:gd name="T7" fmla="*/ 0 h 24"/>
                <a:gd name="T8" fmla="*/ 12 w 60"/>
                <a:gd name="T9" fmla="*/ 0 h 24"/>
                <a:gd name="T10" fmla="*/ 0 w 60"/>
                <a:gd name="T11" fmla="*/ 0 h 24"/>
                <a:gd name="T12" fmla="*/ 0 w 60"/>
                <a:gd name="T13" fmla="*/ 24 h 24"/>
                <a:gd name="T14" fmla="*/ 36 w 60"/>
                <a:gd name="T15" fmla="*/ 24 h 24"/>
                <a:gd name="T16" fmla="*/ 48 w 60"/>
                <a:gd name="T17" fmla="*/ 24 h 24"/>
                <a:gd name="T18" fmla="*/ 60 w 60"/>
                <a:gd name="T19" fmla="*/ 24 h 24"/>
                <a:gd name="T20" fmla="*/ 60 w 60"/>
                <a:gd name="T21" fmla="*/ 0 h 24"/>
                <a:gd name="T22" fmla="*/ 48 w 60"/>
                <a:gd name="T23" fmla="*/ 0 h 24"/>
                <a:gd name="T24" fmla="*/ 36 w 60"/>
                <a:gd name="T25" fmla="*/ 0 h 24"/>
                <a:gd name="T26" fmla="*/ 36 w 60"/>
                <a:gd name="T27" fmla="*/ 24 h 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 h="24">
                  <a:moveTo>
                    <a:pt x="0" y="24"/>
                  </a:moveTo>
                  <a:lnTo>
                    <a:pt x="12" y="24"/>
                  </a:lnTo>
                  <a:lnTo>
                    <a:pt x="24" y="24"/>
                  </a:lnTo>
                  <a:lnTo>
                    <a:pt x="24" y="0"/>
                  </a:lnTo>
                  <a:lnTo>
                    <a:pt x="12" y="0"/>
                  </a:lnTo>
                  <a:lnTo>
                    <a:pt x="0" y="0"/>
                  </a:lnTo>
                  <a:lnTo>
                    <a:pt x="0" y="24"/>
                  </a:lnTo>
                  <a:close/>
                  <a:moveTo>
                    <a:pt x="36" y="24"/>
                  </a:moveTo>
                  <a:lnTo>
                    <a:pt x="48" y="24"/>
                  </a:lnTo>
                  <a:lnTo>
                    <a:pt x="60" y="24"/>
                  </a:lnTo>
                  <a:lnTo>
                    <a:pt x="60" y="0"/>
                  </a:lnTo>
                  <a:lnTo>
                    <a:pt x="48" y="0"/>
                  </a:lnTo>
                  <a:lnTo>
                    <a:pt x="36" y="0"/>
                  </a:lnTo>
                  <a:lnTo>
                    <a:pt x="36" y="24"/>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7" name="Freeform 246"/>
            <p:cNvSpPr>
              <a:spLocks noEditPoints="1"/>
            </p:cNvSpPr>
            <p:nvPr/>
          </p:nvSpPr>
          <p:spPr bwMode="auto">
            <a:xfrm>
              <a:off x="4414" y="3226"/>
              <a:ext cx="53" cy="30"/>
            </a:xfrm>
            <a:custGeom>
              <a:avLst/>
              <a:gdLst>
                <a:gd name="T0" fmla="*/ 0 w 53"/>
                <a:gd name="T1" fmla="*/ 24 h 30"/>
                <a:gd name="T2" fmla="*/ 18 w 53"/>
                <a:gd name="T3" fmla="*/ 24 h 30"/>
                <a:gd name="T4" fmla="*/ 23 w 53"/>
                <a:gd name="T5" fmla="*/ 0 h 30"/>
                <a:gd name="T6" fmla="*/ 12 w 53"/>
                <a:gd name="T7" fmla="*/ 0 h 30"/>
                <a:gd name="T8" fmla="*/ 0 w 53"/>
                <a:gd name="T9" fmla="*/ 0 h 30"/>
                <a:gd name="T10" fmla="*/ 0 w 53"/>
                <a:gd name="T11" fmla="*/ 24 h 30"/>
                <a:gd name="T12" fmla="*/ 29 w 53"/>
                <a:gd name="T13" fmla="*/ 24 h 30"/>
                <a:gd name="T14" fmla="*/ 41 w 53"/>
                <a:gd name="T15" fmla="*/ 30 h 30"/>
                <a:gd name="T16" fmla="*/ 53 w 53"/>
                <a:gd name="T17" fmla="*/ 30 h 30"/>
                <a:gd name="T18" fmla="*/ 53 w 53"/>
                <a:gd name="T19" fmla="*/ 6 h 30"/>
                <a:gd name="T20" fmla="*/ 47 w 53"/>
                <a:gd name="T21" fmla="*/ 6 h 30"/>
                <a:gd name="T22" fmla="*/ 35 w 53"/>
                <a:gd name="T23" fmla="*/ 0 h 30"/>
                <a:gd name="T24" fmla="*/ 29 w 53"/>
                <a:gd name="T25" fmla="*/ 24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3" h="30">
                  <a:moveTo>
                    <a:pt x="0" y="24"/>
                  </a:moveTo>
                  <a:lnTo>
                    <a:pt x="18" y="24"/>
                  </a:lnTo>
                  <a:lnTo>
                    <a:pt x="23" y="0"/>
                  </a:lnTo>
                  <a:lnTo>
                    <a:pt x="12" y="0"/>
                  </a:lnTo>
                  <a:lnTo>
                    <a:pt x="0" y="0"/>
                  </a:lnTo>
                  <a:lnTo>
                    <a:pt x="0" y="24"/>
                  </a:lnTo>
                  <a:close/>
                  <a:moveTo>
                    <a:pt x="29" y="24"/>
                  </a:moveTo>
                  <a:lnTo>
                    <a:pt x="41" y="30"/>
                  </a:lnTo>
                  <a:lnTo>
                    <a:pt x="53" y="30"/>
                  </a:lnTo>
                  <a:lnTo>
                    <a:pt x="53" y="6"/>
                  </a:lnTo>
                  <a:lnTo>
                    <a:pt x="47" y="6"/>
                  </a:lnTo>
                  <a:lnTo>
                    <a:pt x="35" y="0"/>
                  </a:lnTo>
                  <a:lnTo>
                    <a:pt x="29" y="24"/>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8" name="Freeform 247"/>
            <p:cNvSpPr>
              <a:spLocks noEditPoints="1"/>
            </p:cNvSpPr>
            <p:nvPr/>
          </p:nvSpPr>
          <p:spPr bwMode="auto">
            <a:xfrm>
              <a:off x="4479" y="3232"/>
              <a:ext cx="60" cy="36"/>
            </a:xfrm>
            <a:custGeom>
              <a:avLst/>
              <a:gdLst>
                <a:gd name="T0" fmla="*/ 0 w 60"/>
                <a:gd name="T1" fmla="*/ 24 h 36"/>
                <a:gd name="T2" fmla="*/ 12 w 60"/>
                <a:gd name="T3" fmla="*/ 30 h 36"/>
                <a:gd name="T4" fmla="*/ 18 w 60"/>
                <a:gd name="T5" fmla="*/ 30 h 36"/>
                <a:gd name="T6" fmla="*/ 24 w 60"/>
                <a:gd name="T7" fmla="*/ 6 h 36"/>
                <a:gd name="T8" fmla="*/ 12 w 60"/>
                <a:gd name="T9" fmla="*/ 6 h 36"/>
                <a:gd name="T10" fmla="*/ 0 w 60"/>
                <a:gd name="T11" fmla="*/ 0 h 36"/>
                <a:gd name="T12" fmla="*/ 0 w 60"/>
                <a:gd name="T13" fmla="*/ 24 h 36"/>
                <a:gd name="T14" fmla="*/ 30 w 60"/>
                <a:gd name="T15" fmla="*/ 30 h 36"/>
                <a:gd name="T16" fmla="*/ 42 w 60"/>
                <a:gd name="T17" fmla="*/ 36 h 36"/>
                <a:gd name="T18" fmla="*/ 54 w 60"/>
                <a:gd name="T19" fmla="*/ 36 h 36"/>
                <a:gd name="T20" fmla="*/ 60 w 60"/>
                <a:gd name="T21" fmla="*/ 12 h 36"/>
                <a:gd name="T22" fmla="*/ 48 w 60"/>
                <a:gd name="T23" fmla="*/ 12 h 36"/>
                <a:gd name="T24" fmla="*/ 36 w 60"/>
                <a:gd name="T25" fmla="*/ 6 h 36"/>
                <a:gd name="T26" fmla="*/ 30 w 60"/>
                <a:gd name="T27" fmla="*/ 30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 h="36">
                  <a:moveTo>
                    <a:pt x="0" y="24"/>
                  </a:moveTo>
                  <a:lnTo>
                    <a:pt x="12" y="30"/>
                  </a:lnTo>
                  <a:lnTo>
                    <a:pt x="18" y="30"/>
                  </a:lnTo>
                  <a:lnTo>
                    <a:pt x="24" y="6"/>
                  </a:lnTo>
                  <a:lnTo>
                    <a:pt x="12" y="6"/>
                  </a:lnTo>
                  <a:lnTo>
                    <a:pt x="0" y="0"/>
                  </a:lnTo>
                  <a:lnTo>
                    <a:pt x="0" y="24"/>
                  </a:lnTo>
                  <a:close/>
                  <a:moveTo>
                    <a:pt x="30" y="30"/>
                  </a:moveTo>
                  <a:lnTo>
                    <a:pt x="42" y="36"/>
                  </a:lnTo>
                  <a:lnTo>
                    <a:pt x="54" y="36"/>
                  </a:lnTo>
                  <a:lnTo>
                    <a:pt x="60" y="12"/>
                  </a:lnTo>
                  <a:lnTo>
                    <a:pt x="48" y="12"/>
                  </a:lnTo>
                  <a:lnTo>
                    <a:pt x="36" y="6"/>
                  </a:lnTo>
                  <a:lnTo>
                    <a:pt x="30" y="30"/>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9" name="Freeform 248"/>
            <p:cNvSpPr>
              <a:spLocks noEditPoints="1"/>
            </p:cNvSpPr>
            <p:nvPr/>
          </p:nvSpPr>
          <p:spPr bwMode="auto">
            <a:xfrm>
              <a:off x="4539" y="3250"/>
              <a:ext cx="66" cy="41"/>
            </a:xfrm>
            <a:custGeom>
              <a:avLst/>
              <a:gdLst>
                <a:gd name="T0" fmla="*/ 0 w 66"/>
                <a:gd name="T1" fmla="*/ 24 h 41"/>
                <a:gd name="T2" fmla="*/ 12 w 66"/>
                <a:gd name="T3" fmla="*/ 24 h 41"/>
                <a:gd name="T4" fmla="*/ 24 w 66"/>
                <a:gd name="T5" fmla="*/ 30 h 41"/>
                <a:gd name="T6" fmla="*/ 30 w 66"/>
                <a:gd name="T7" fmla="*/ 6 h 41"/>
                <a:gd name="T8" fmla="*/ 18 w 66"/>
                <a:gd name="T9" fmla="*/ 6 h 41"/>
                <a:gd name="T10" fmla="*/ 6 w 66"/>
                <a:gd name="T11" fmla="*/ 0 h 41"/>
                <a:gd name="T12" fmla="*/ 0 w 66"/>
                <a:gd name="T13" fmla="*/ 24 h 41"/>
                <a:gd name="T14" fmla="*/ 36 w 66"/>
                <a:gd name="T15" fmla="*/ 30 h 41"/>
                <a:gd name="T16" fmla="*/ 48 w 66"/>
                <a:gd name="T17" fmla="*/ 35 h 41"/>
                <a:gd name="T18" fmla="*/ 54 w 66"/>
                <a:gd name="T19" fmla="*/ 41 h 41"/>
                <a:gd name="T20" fmla="*/ 66 w 66"/>
                <a:gd name="T21" fmla="*/ 18 h 41"/>
                <a:gd name="T22" fmla="*/ 54 w 66"/>
                <a:gd name="T23" fmla="*/ 18 h 41"/>
                <a:gd name="T24" fmla="*/ 42 w 66"/>
                <a:gd name="T25" fmla="*/ 12 h 41"/>
                <a:gd name="T26" fmla="*/ 36 w 66"/>
                <a:gd name="T27" fmla="*/ 30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6" h="41">
                  <a:moveTo>
                    <a:pt x="0" y="24"/>
                  </a:moveTo>
                  <a:lnTo>
                    <a:pt x="12" y="24"/>
                  </a:lnTo>
                  <a:lnTo>
                    <a:pt x="24" y="30"/>
                  </a:lnTo>
                  <a:lnTo>
                    <a:pt x="30" y="6"/>
                  </a:lnTo>
                  <a:lnTo>
                    <a:pt x="18" y="6"/>
                  </a:lnTo>
                  <a:lnTo>
                    <a:pt x="6" y="0"/>
                  </a:lnTo>
                  <a:lnTo>
                    <a:pt x="0" y="24"/>
                  </a:lnTo>
                  <a:close/>
                  <a:moveTo>
                    <a:pt x="36" y="30"/>
                  </a:moveTo>
                  <a:lnTo>
                    <a:pt x="48" y="35"/>
                  </a:lnTo>
                  <a:lnTo>
                    <a:pt x="54" y="41"/>
                  </a:lnTo>
                  <a:lnTo>
                    <a:pt x="66" y="18"/>
                  </a:lnTo>
                  <a:lnTo>
                    <a:pt x="54" y="18"/>
                  </a:lnTo>
                  <a:lnTo>
                    <a:pt x="42" y="12"/>
                  </a:lnTo>
                  <a:lnTo>
                    <a:pt x="36" y="30"/>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0" name="Freeform 249"/>
            <p:cNvSpPr>
              <a:spLocks noEditPoints="1"/>
            </p:cNvSpPr>
            <p:nvPr/>
          </p:nvSpPr>
          <p:spPr bwMode="auto">
            <a:xfrm>
              <a:off x="4605" y="3274"/>
              <a:ext cx="60" cy="47"/>
            </a:xfrm>
            <a:custGeom>
              <a:avLst/>
              <a:gdLst>
                <a:gd name="T0" fmla="*/ 0 w 60"/>
                <a:gd name="T1" fmla="*/ 17 h 47"/>
                <a:gd name="T2" fmla="*/ 12 w 60"/>
                <a:gd name="T3" fmla="*/ 23 h 47"/>
                <a:gd name="T4" fmla="*/ 18 w 60"/>
                <a:gd name="T5" fmla="*/ 29 h 47"/>
                <a:gd name="T6" fmla="*/ 30 w 60"/>
                <a:gd name="T7" fmla="*/ 11 h 47"/>
                <a:gd name="T8" fmla="*/ 18 w 60"/>
                <a:gd name="T9" fmla="*/ 6 h 47"/>
                <a:gd name="T10" fmla="*/ 6 w 60"/>
                <a:gd name="T11" fmla="*/ 0 h 47"/>
                <a:gd name="T12" fmla="*/ 0 w 60"/>
                <a:gd name="T13" fmla="*/ 17 h 47"/>
                <a:gd name="T14" fmla="*/ 24 w 60"/>
                <a:gd name="T15" fmla="*/ 35 h 47"/>
                <a:gd name="T16" fmla="*/ 36 w 60"/>
                <a:gd name="T17" fmla="*/ 41 h 47"/>
                <a:gd name="T18" fmla="*/ 42 w 60"/>
                <a:gd name="T19" fmla="*/ 47 h 47"/>
                <a:gd name="T20" fmla="*/ 60 w 60"/>
                <a:gd name="T21" fmla="*/ 29 h 47"/>
                <a:gd name="T22" fmla="*/ 48 w 60"/>
                <a:gd name="T23" fmla="*/ 23 h 47"/>
                <a:gd name="T24" fmla="*/ 36 w 60"/>
                <a:gd name="T25" fmla="*/ 17 h 47"/>
                <a:gd name="T26" fmla="*/ 24 w 60"/>
                <a:gd name="T27" fmla="*/ 35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 h="47">
                  <a:moveTo>
                    <a:pt x="0" y="17"/>
                  </a:moveTo>
                  <a:lnTo>
                    <a:pt x="12" y="23"/>
                  </a:lnTo>
                  <a:lnTo>
                    <a:pt x="18" y="29"/>
                  </a:lnTo>
                  <a:lnTo>
                    <a:pt x="30" y="11"/>
                  </a:lnTo>
                  <a:lnTo>
                    <a:pt x="18" y="6"/>
                  </a:lnTo>
                  <a:lnTo>
                    <a:pt x="6" y="0"/>
                  </a:lnTo>
                  <a:lnTo>
                    <a:pt x="0" y="17"/>
                  </a:lnTo>
                  <a:close/>
                  <a:moveTo>
                    <a:pt x="24" y="35"/>
                  </a:moveTo>
                  <a:lnTo>
                    <a:pt x="36" y="41"/>
                  </a:lnTo>
                  <a:lnTo>
                    <a:pt x="42" y="47"/>
                  </a:lnTo>
                  <a:lnTo>
                    <a:pt x="60" y="29"/>
                  </a:lnTo>
                  <a:lnTo>
                    <a:pt x="48" y="23"/>
                  </a:lnTo>
                  <a:lnTo>
                    <a:pt x="36" y="17"/>
                  </a:lnTo>
                  <a:lnTo>
                    <a:pt x="24" y="35"/>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1" name="Freeform 250"/>
            <p:cNvSpPr>
              <a:spLocks noEditPoints="1"/>
            </p:cNvSpPr>
            <p:nvPr/>
          </p:nvSpPr>
          <p:spPr bwMode="auto">
            <a:xfrm>
              <a:off x="4653" y="3309"/>
              <a:ext cx="48" cy="60"/>
            </a:xfrm>
            <a:custGeom>
              <a:avLst/>
              <a:gdLst>
                <a:gd name="T0" fmla="*/ 0 w 48"/>
                <a:gd name="T1" fmla="*/ 18 h 60"/>
                <a:gd name="T2" fmla="*/ 18 w 48"/>
                <a:gd name="T3" fmla="*/ 36 h 60"/>
                <a:gd name="T4" fmla="*/ 36 w 48"/>
                <a:gd name="T5" fmla="*/ 18 h 60"/>
                <a:gd name="T6" fmla="*/ 18 w 48"/>
                <a:gd name="T7" fmla="*/ 0 h 60"/>
                <a:gd name="T8" fmla="*/ 0 w 48"/>
                <a:gd name="T9" fmla="*/ 18 h 60"/>
                <a:gd name="T10" fmla="*/ 18 w 48"/>
                <a:gd name="T11" fmla="*/ 42 h 60"/>
                <a:gd name="T12" fmla="*/ 24 w 48"/>
                <a:gd name="T13" fmla="*/ 54 h 60"/>
                <a:gd name="T14" fmla="*/ 24 w 48"/>
                <a:gd name="T15" fmla="*/ 60 h 60"/>
                <a:gd name="T16" fmla="*/ 48 w 48"/>
                <a:gd name="T17" fmla="*/ 54 h 60"/>
                <a:gd name="T18" fmla="*/ 48 w 48"/>
                <a:gd name="T19" fmla="*/ 42 h 60"/>
                <a:gd name="T20" fmla="*/ 42 w 48"/>
                <a:gd name="T21" fmla="*/ 30 h 60"/>
                <a:gd name="T22" fmla="*/ 18 w 48"/>
                <a:gd name="T23" fmla="*/ 42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8" h="60">
                  <a:moveTo>
                    <a:pt x="0" y="18"/>
                  </a:moveTo>
                  <a:lnTo>
                    <a:pt x="18" y="36"/>
                  </a:lnTo>
                  <a:lnTo>
                    <a:pt x="36" y="18"/>
                  </a:lnTo>
                  <a:lnTo>
                    <a:pt x="18" y="0"/>
                  </a:lnTo>
                  <a:lnTo>
                    <a:pt x="0" y="18"/>
                  </a:lnTo>
                  <a:close/>
                  <a:moveTo>
                    <a:pt x="18" y="42"/>
                  </a:moveTo>
                  <a:lnTo>
                    <a:pt x="24" y="54"/>
                  </a:lnTo>
                  <a:lnTo>
                    <a:pt x="24" y="60"/>
                  </a:lnTo>
                  <a:lnTo>
                    <a:pt x="48" y="54"/>
                  </a:lnTo>
                  <a:lnTo>
                    <a:pt x="48" y="42"/>
                  </a:lnTo>
                  <a:lnTo>
                    <a:pt x="42" y="30"/>
                  </a:lnTo>
                  <a:lnTo>
                    <a:pt x="18" y="42"/>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2" name="Freeform 251"/>
            <p:cNvSpPr>
              <a:spLocks/>
            </p:cNvSpPr>
            <p:nvPr/>
          </p:nvSpPr>
          <p:spPr bwMode="auto">
            <a:xfrm>
              <a:off x="3941" y="3357"/>
              <a:ext cx="42" cy="36"/>
            </a:xfrm>
            <a:custGeom>
              <a:avLst/>
              <a:gdLst>
                <a:gd name="T0" fmla="*/ 0 w 42"/>
                <a:gd name="T1" fmla="*/ 18 h 36"/>
                <a:gd name="T2" fmla="*/ 6 w 42"/>
                <a:gd name="T3" fmla="*/ 6 h 36"/>
                <a:gd name="T4" fmla="*/ 24 w 42"/>
                <a:gd name="T5" fmla="*/ 0 h 36"/>
                <a:gd name="T6" fmla="*/ 36 w 42"/>
                <a:gd name="T7" fmla="*/ 6 h 36"/>
                <a:gd name="T8" fmla="*/ 42 w 42"/>
                <a:gd name="T9" fmla="*/ 18 h 36"/>
                <a:gd name="T10" fmla="*/ 36 w 42"/>
                <a:gd name="T11" fmla="*/ 30 h 36"/>
                <a:gd name="T12" fmla="*/ 24 w 42"/>
                <a:gd name="T13" fmla="*/ 36 h 36"/>
                <a:gd name="T14" fmla="*/ 6 w 42"/>
                <a:gd name="T15" fmla="*/ 30 h 36"/>
                <a:gd name="T16" fmla="*/ 0 w 42"/>
                <a:gd name="T17" fmla="*/ 18 h 36"/>
                <a:gd name="T18" fmla="*/ 0 w 42"/>
                <a:gd name="T19" fmla="*/ 18 h 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36">
                  <a:moveTo>
                    <a:pt x="0" y="18"/>
                  </a:moveTo>
                  <a:lnTo>
                    <a:pt x="6" y="6"/>
                  </a:lnTo>
                  <a:lnTo>
                    <a:pt x="24" y="0"/>
                  </a:lnTo>
                  <a:lnTo>
                    <a:pt x="36" y="6"/>
                  </a:lnTo>
                  <a:lnTo>
                    <a:pt x="42" y="18"/>
                  </a:lnTo>
                  <a:lnTo>
                    <a:pt x="36" y="30"/>
                  </a:lnTo>
                  <a:lnTo>
                    <a:pt x="24" y="36"/>
                  </a:lnTo>
                  <a:lnTo>
                    <a:pt x="6" y="30"/>
                  </a:lnTo>
                  <a:lnTo>
                    <a:pt x="0" y="1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3" name="Freeform 252"/>
            <p:cNvSpPr>
              <a:spLocks/>
            </p:cNvSpPr>
            <p:nvPr/>
          </p:nvSpPr>
          <p:spPr bwMode="auto">
            <a:xfrm>
              <a:off x="3941" y="3357"/>
              <a:ext cx="24" cy="18"/>
            </a:xfrm>
            <a:custGeom>
              <a:avLst/>
              <a:gdLst>
                <a:gd name="T0" fmla="*/ 0 w 24"/>
                <a:gd name="T1" fmla="*/ 18 h 18"/>
                <a:gd name="T2" fmla="*/ 6 w 24"/>
                <a:gd name="T3" fmla="*/ 6 h 18"/>
                <a:gd name="T4" fmla="*/ 24 w 24"/>
                <a:gd name="T5" fmla="*/ 0 h 18"/>
                <a:gd name="T6" fmla="*/ 24 w 24"/>
                <a:gd name="T7" fmla="*/ 0 h 18"/>
                <a:gd name="T8" fmla="*/ 6 w 24"/>
                <a:gd name="T9" fmla="*/ 6 h 18"/>
                <a:gd name="T10" fmla="*/ 0 w 24"/>
                <a:gd name="T11" fmla="*/ 18 h 18"/>
                <a:gd name="T12" fmla="*/ 0 w 24"/>
                <a:gd name="T13" fmla="*/ 18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 h="18">
                  <a:moveTo>
                    <a:pt x="0" y="18"/>
                  </a:moveTo>
                  <a:lnTo>
                    <a:pt x="6" y="6"/>
                  </a:lnTo>
                  <a:lnTo>
                    <a:pt x="24" y="0"/>
                  </a:lnTo>
                  <a:lnTo>
                    <a:pt x="6" y="6"/>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4" name="Freeform 253"/>
            <p:cNvSpPr>
              <a:spLocks noEditPoints="1"/>
            </p:cNvSpPr>
            <p:nvPr/>
          </p:nvSpPr>
          <p:spPr bwMode="auto">
            <a:xfrm>
              <a:off x="3965" y="3357"/>
              <a:ext cx="18" cy="18"/>
            </a:xfrm>
            <a:custGeom>
              <a:avLst/>
              <a:gdLst>
                <a:gd name="T0" fmla="*/ 0 w 18"/>
                <a:gd name="T1" fmla="*/ 0 h 18"/>
                <a:gd name="T2" fmla="*/ 12 w 18"/>
                <a:gd name="T3" fmla="*/ 6 h 18"/>
                <a:gd name="T4" fmla="*/ 18 w 18"/>
                <a:gd name="T5" fmla="*/ 18 h 18"/>
                <a:gd name="T6" fmla="*/ 18 w 18"/>
                <a:gd name="T7" fmla="*/ 18 h 18"/>
                <a:gd name="T8" fmla="*/ 12 w 18"/>
                <a:gd name="T9" fmla="*/ 6 h 18"/>
                <a:gd name="T10" fmla="*/ 0 w 18"/>
                <a:gd name="T11" fmla="*/ 0 h 18"/>
                <a:gd name="T12" fmla="*/ 0 w 18"/>
                <a:gd name="T13" fmla="*/ 0 h 18"/>
                <a:gd name="T14" fmla="*/ 0 w 18"/>
                <a:gd name="T15" fmla="*/ 0 h 18"/>
                <a:gd name="T16" fmla="*/ 0 w 18"/>
                <a:gd name="T17" fmla="*/ 0 h 18"/>
                <a:gd name="T18" fmla="*/ 0 w 18"/>
                <a:gd name="T19" fmla="*/ 0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 h="18">
                  <a:moveTo>
                    <a:pt x="0" y="0"/>
                  </a:moveTo>
                  <a:lnTo>
                    <a:pt x="12" y="6"/>
                  </a:lnTo>
                  <a:lnTo>
                    <a:pt x="18" y="18"/>
                  </a:lnTo>
                  <a:lnTo>
                    <a:pt x="12" y="6"/>
                  </a:lnTo>
                  <a:lnTo>
                    <a:pt x="0" y="0"/>
                  </a:lnTo>
                  <a:close/>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5" name="Freeform 254"/>
            <p:cNvSpPr>
              <a:spLocks noEditPoints="1"/>
            </p:cNvSpPr>
            <p:nvPr/>
          </p:nvSpPr>
          <p:spPr bwMode="auto">
            <a:xfrm>
              <a:off x="3965" y="3375"/>
              <a:ext cx="18" cy="18"/>
            </a:xfrm>
            <a:custGeom>
              <a:avLst/>
              <a:gdLst>
                <a:gd name="T0" fmla="*/ 18 w 18"/>
                <a:gd name="T1" fmla="*/ 0 h 18"/>
                <a:gd name="T2" fmla="*/ 12 w 18"/>
                <a:gd name="T3" fmla="*/ 12 h 18"/>
                <a:gd name="T4" fmla="*/ 0 w 18"/>
                <a:gd name="T5" fmla="*/ 18 h 18"/>
                <a:gd name="T6" fmla="*/ 0 w 18"/>
                <a:gd name="T7" fmla="*/ 18 h 18"/>
                <a:gd name="T8" fmla="*/ 12 w 18"/>
                <a:gd name="T9" fmla="*/ 12 h 18"/>
                <a:gd name="T10" fmla="*/ 18 w 18"/>
                <a:gd name="T11" fmla="*/ 0 h 18"/>
                <a:gd name="T12" fmla="*/ 18 w 18"/>
                <a:gd name="T13" fmla="*/ 0 h 18"/>
                <a:gd name="T14" fmla="*/ 18 w 18"/>
                <a:gd name="T15" fmla="*/ 0 h 18"/>
                <a:gd name="T16" fmla="*/ 18 w 18"/>
                <a:gd name="T17" fmla="*/ 0 h 18"/>
                <a:gd name="T18" fmla="*/ 18 w 18"/>
                <a:gd name="T19" fmla="*/ 0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 h="18">
                  <a:moveTo>
                    <a:pt x="18" y="0"/>
                  </a:moveTo>
                  <a:lnTo>
                    <a:pt x="12" y="12"/>
                  </a:lnTo>
                  <a:lnTo>
                    <a:pt x="0" y="18"/>
                  </a:lnTo>
                  <a:lnTo>
                    <a:pt x="12" y="12"/>
                  </a:lnTo>
                  <a:lnTo>
                    <a:pt x="18" y="0"/>
                  </a:lnTo>
                  <a:close/>
                  <a:moveTo>
                    <a:pt x="18" y="0"/>
                  </a:move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 name="Freeform 255"/>
            <p:cNvSpPr>
              <a:spLocks noEditPoints="1"/>
            </p:cNvSpPr>
            <p:nvPr/>
          </p:nvSpPr>
          <p:spPr bwMode="auto">
            <a:xfrm>
              <a:off x="3941" y="3375"/>
              <a:ext cx="24" cy="18"/>
            </a:xfrm>
            <a:custGeom>
              <a:avLst/>
              <a:gdLst>
                <a:gd name="T0" fmla="*/ 24 w 24"/>
                <a:gd name="T1" fmla="*/ 18 h 18"/>
                <a:gd name="T2" fmla="*/ 6 w 24"/>
                <a:gd name="T3" fmla="*/ 12 h 18"/>
                <a:gd name="T4" fmla="*/ 0 w 24"/>
                <a:gd name="T5" fmla="*/ 0 h 18"/>
                <a:gd name="T6" fmla="*/ 0 w 24"/>
                <a:gd name="T7" fmla="*/ 0 h 18"/>
                <a:gd name="T8" fmla="*/ 6 w 24"/>
                <a:gd name="T9" fmla="*/ 12 h 18"/>
                <a:gd name="T10" fmla="*/ 24 w 24"/>
                <a:gd name="T11" fmla="*/ 18 h 18"/>
                <a:gd name="T12" fmla="*/ 24 w 24"/>
                <a:gd name="T13" fmla="*/ 18 h 18"/>
                <a:gd name="T14" fmla="*/ 24 w 24"/>
                <a:gd name="T15" fmla="*/ 18 h 18"/>
                <a:gd name="T16" fmla="*/ 24 w 24"/>
                <a:gd name="T17" fmla="*/ 18 h 18"/>
                <a:gd name="T18" fmla="*/ 24 w 24"/>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8">
                  <a:moveTo>
                    <a:pt x="24" y="18"/>
                  </a:moveTo>
                  <a:lnTo>
                    <a:pt x="6" y="12"/>
                  </a:lnTo>
                  <a:lnTo>
                    <a:pt x="0" y="0"/>
                  </a:lnTo>
                  <a:lnTo>
                    <a:pt x="6" y="12"/>
                  </a:lnTo>
                  <a:lnTo>
                    <a:pt x="24" y="18"/>
                  </a:lnTo>
                  <a:close/>
                  <a:moveTo>
                    <a:pt x="24" y="18"/>
                  </a:moveTo>
                  <a:lnTo>
                    <a:pt x="24"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 name="Freeform 256"/>
            <p:cNvSpPr>
              <a:spLocks/>
            </p:cNvSpPr>
            <p:nvPr/>
          </p:nvSpPr>
          <p:spPr bwMode="auto">
            <a:xfrm>
              <a:off x="3941" y="3375"/>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 name="Line 257"/>
            <p:cNvSpPr>
              <a:spLocks noChangeShapeType="1"/>
            </p:cNvSpPr>
            <p:nvPr/>
          </p:nvSpPr>
          <p:spPr bwMode="auto">
            <a:xfrm>
              <a:off x="3983" y="3375"/>
              <a:ext cx="724" cy="1"/>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9" name="Rectangle 258"/>
            <p:cNvSpPr>
              <a:spLocks noChangeArrowheads="1"/>
            </p:cNvSpPr>
            <p:nvPr/>
          </p:nvSpPr>
          <p:spPr bwMode="auto">
            <a:xfrm>
              <a:off x="3983" y="3363"/>
              <a:ext cx="24" cy="24"/>
            </a:xfrm>
            <a:prstGeom prst="rect">
              <a:avLst/>
            </a:prstGeom>
            <a:solidFill>
              <a:srgbClr val="FF7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0" name="Freeform 259"/>
            <p:cNvSpPr>
              <a:spLocks noEditPoints="1"/>
            </p:cNvSpPr>
            <p:nvPr/>
          </p:nvSpPr>
          <p:spPr bwMode="auto">
            <a:xfrm>
              <a:off x="4019" y="3363"/>
              <a:ext cx="54" cy="24"/>
            </a:xfrm>
            <a:custGeom>
              <a:avLst/>
              <a:gdLst>
                <a:gd name="T0" fmla="*/ 0 w 54"/>
                <a:gd name="T1" fmla="*/ 24 h 24"/>
                <a:gd name="T2" fmla="*/ 24 w 54"/>
                <a:gd name="T3" fmla="*/ 24 h 24"/>
                <a:gd name="T4" fmla="*/ 24 w 54"/>
                <a:gd name="T5" fmla="*/ 0 h 24"/>
                <a:gd name="T6" fmla="*/ 0 w 54"/>
                <a:gd name="T7" fmla="*/ 0 h 24"/>
                <a:gd name="T8" fmla="*/ 0 w 54"/>
                <a:gd name="T9" fmla="*/ 24 h 24"/>
                <a:gd name="T10" fmla="*/ 36 w 54"/>
                <a:gd name="T11" fmla="*/ 24 h 24"/>
                <a:gd name="T12" fmla="*/ 54 w 54"/>
                <a:gd name="T13" fmla="*/ 24 h 24"/>
                <a:gd name="T14" fmla="*/ 54 w 54"/>
                <a:gd name="T15" fmla="*/ 0 h 24"/>
                <a:gd name="T16" fmla="*/ 36 w 54"/>
                <a:gd name="T17" fmla="*/ 0 h 24"/>
                <a:gd name="T18" fmla="*/ 36 w 54"/>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24">
                  <a:moveTo>
                    <a:pt x="0" y="24"/>
                  </a:moveTo>
                  <a:lnTo>
                    <a:pt x="24" y="24"/>
                  </a:lnTo>
                  <a:lnTo>
                    <a:pt x="24" y="0"/>
                  </a:lnTo>
                  <a:lnTo>
                    <a:pt x="0" y="0"/>
                  </a:lnTo>
                  <a:lnTo>
                    <a:pt x="0" y="24"/>
                  </a:lnTo>
                  <a:close/>
                  <a:moveTo>
                    <a:pt x="36" y="24"/>
                  </a:moveTo>
                  <a:lnTo>
                    <a:pt x="54" y="24"/>
                  </a:lnTo>
                  <a:lnTo>
                    <a:pt x="54" y="0"/>
                  </a:lnTo>
                  <a:lnTo>
                    <a:pt x="36" y="0"/>
                  </a:lnTo>
                  <a:lnTo>
                    <a:pt x="36" y="24"/>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 name="Freeform 260"/>
            <p:cNvSpPr>
              <a:spLocks noEditPoints="1"/>
            </p:cNvSpPr>
            <p:nvPr/>
          </p:nvSpPr>
          <p:spPr bwMode="auto">
            <a:xfrm>
              <a:off x="4085" y="3363"/>
              <a:ext cx="59" cy="24"/>
            </a:xfrm>
            <a:custGeom>
              <a:avLst/>
              <a:gdLst>
                <a:gd name="T0" fmla="*/ 0 w 59"/>
                <a:gd name="T1" fmla="*/ 24 h 24"/>
                <a:gd name="T2" fmla="*/ 24 w 59"/>
                <a:gd name="T3" fmla="*/ 24 h 24"/>
                <a:gd name="T4" fmla="*/ 24 w 59"/>
                <a:gd name="T5" fmla="*/ 0 h 24"/>
                <a:gd name="T6" fmla="*/ 0 w 59"/>
                <a:gd name="T7" fmla="*/ 0 h 24"/>
                <a:gd name="T8" fmla="*/ 0 w 59"/>
                <a:gd name="T9" fmla="*/ 24 h 24"/>
                <a:gd name="T10" fmla="*/ 36 w 59"/>
                <a:gd name="T11" fmla="*/ 24 h 24"/>
                <a:gd name="T12" fmla="*/ 59 w 59"/>
                <a:gd name="T13" fmla="*/ 24 h 24"/>
                <a:gd name="T14" fmla="*/ 59 w 59"/>
                <a:gd name="T15" fmla="*/ 0 h 24"/>
                <a:gd name="T16" fmla="*/ 36 w 59"/>
                <a:gd name="T17" fmla="*/ 0 h 24"/>
                <a:gd name="T18" fmla="*/ 36 w 59"/>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9" h="24">
                  <a:moveTo>
                    <a:pt x="0" y="24"/>
                  </a:moveTo>
                  <a:lnTo>
                    <a:pt x="24" y="24"/>
                  </a:lnTo>
                  <a:lnTo>
                    <a:pt x="24" y="0"/>
                  </a:lnTo>
                  <a:lnTo>
                    <a:pt x="0" y="0"/>
                  </a:lnTo>
                  <a:lnTo>
                    <a:pt x="0" y="24"/>
                  </a:lnTo>
                  <a:close/>
                  <a:moveTo>
                    <a:pt x="36" y="24"/>
                  </a:moveTo>
                  <a:lnTo>
                    <a:pt x="59" y="24"/>
                  </a:lnTo>
                  <a:lnTo>
                    <a:pt x="59" y="0"/>
                  </a:lnTo>
                  <a:lnTo>
                    <a:pt x="36" y="0"/>
                  </a:lnTo>
                  <a:lnTo>
                    <a:pt x="36" y="24"/>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2" name="Freeform 261"/>
            <p:cNvSpPr>
              <a:spLocks noEditPoints="1"/>
            </p:cNvSpPr>
            <p:nvPr/>
          </p:nvSpPr>
          <p:spPr bwMode="auto">
            <a:xfrm>
              <a:off x="4156" y="3363"/>
              <a:ext cx="54" cy="24"/>
            </a:xfrm>
            <a:custGeom>
              <a:avLst/>
              <a:gdLst>
                <a:gd name="T0" fmla="*/ 0 w 54"/>
                <a:gd name="T1" fmla="*/ 24 h 24"/>
                <a:gd name="T2" fmla="*/ 18 w 54"/>
                <a:gd name="T3" fmla="*/ 24 h 24"/>
                <a:gd name="T4" fmla="*/ 18 w 54"/>
                <a:gd name="T5" fmla="*/ 0 h 24"/>
                <a:gd name="T6" fmla="*/ 0 w 54"/>
                <a:gd name="T7" fmla="*/ 0 h 24"/>
                <a:gd name="T8" fmla="*/ 0 w 54"/>
                <a:gd name="T9" fmla="*/ 24 h 24"/>
                <a:gd name="T10" fmla="*/ 30 w 54"/>
                <a:gd name="T11" fmla="*/ 24 h 24"/>
                <a:gd name="T12" fmla="*/ 54 w 54"/>
                <a:gd name="T13" fmla="*/ 24 h 24"/>
                <a:gd name="T14" fmla="*/ 54 w 54"/>
                <a:gd name="T15" fmla="*/ 0 h 24"/>
                <a:gd name="T16" fmla="*/ 30 w 54"/>
                <a:gd name="T17" fmla="*/ 0 h 24"/>
                <a:gd name="T18" fmla="*/ 30 w 54"/>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24">
                  <a:moveTo>
                    <a:pt x="0" y="24"/>
                  </a:moveTo>
                  <a:lnTo>
                    <a:pt x="18" y="24"/>
                  </a:lnTo>
                  <a:lnTo>
                    <a:pt x="18" y="0"/>
                  </a:lnTo>
                  <a:lnTo>
                    <a:pt x="0" y="0"/>
                  </a:lnTo>
                  <a:lnTo>
                    <a:pt x="0" y="24"/>
                  </a:lnTo>
                  <a:close/>
                  <a:moveTo>
                    <a:pt x="30" y="24"/>
                  </a:moveTo>
                  <a:lnTo>
                    <a:pt x="54" y="24"/>
                  </a:lnTo>
                  <a:lnTo>
                    <a:pt x="54" y="0"/>
                  </a:lnTo>
                  <a:lnTo>
                    <a:pt x="30" y="0"/>
                  </a:lnTo>
                  <a:lnTo>
                    <a:pt x="30" y="24"/>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3" name="Freeform 262"/>
            <p:cNvSpPr>
              <a:spLocks noEditPoints="1"/>
            </p:cNvSpPr>
            <p:nvPr/>
          </p:nvSpPr>
          <p:spPr bwMode="auto">
            <a:xfrm>
              <a:off x="4222" y="3363"/>
              <a:ext cx="54" cy="24"/>
            </a:xfrm>
            <a:custGeom>
              <a:avLst/>
              <a:gdLst>
                <a:gd name="T0" fmla="*/ 0 w 54"/>
                <a:gd name="T1" fmla="*/ 24 h 24"/>
                <a:gd name="T2" fmla="*/ 24 w 54"/>
                <a:gd name="T3" fmla="*/ 24 h 24"/>
                <a:gd name="T4" fmla="*/ 24 w 54"/>
                <a:gd name="T5" fmla="*/ 0 h 24"/>
                <a:gd name="T6" fmla="*/ 0 w 54"/>
                <a:gd name="T7" fmla="*/ 0 h 24"/>
                <a:gd name="T8" fmla="*/ 0 w 54"/>
                <a:gd name="T9" fmla="*/ 24 h 24"/>
                <a:gd name="T10" fmla="*/ 36 w 54"/>
                <a:gd name="T11" fmla="*/ 24 h 24"/>
                <a:gd name="T12" fmla="*/ 54 w 54"/>
                <a:gd name="T13" fmla="*/ 24 h 24"/>
                <a:gd name="T14" fmla="*/ 54 w 54"/>
                <a:gd name="T15" fmla="*/ 0 h 24"/>
                <a:gd name="T16" fmla="*/ 36 w 54"/>
                <a:gd name="T17" fmla="*/ 0 h 24"/>
                <a:gd name="T18" fmla="*/ 36 w 54"/>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24">
                  <a:moveTo>
                    <a:pt x="0" y="24"/>
                  </a:moveTo>
                  <a:lnTo>
                    <a:pt x="24" y="24"/>
                  </a:lnTo>
                  <a:lnTo>
                    <a:pt x="24" y="0"/>
                  </a:lnTo>
                  <a:lnTo>
                    <a:pt x="0" y="0"/>
                  </a:lnTo>
                  <a:lnTo>
                    <a:pt x="0" y="24"/>
                  </a:lnTo>
                  <a:close/>
                  <a:moveTo>
                    <a:pt x="36" y="24"/>
                  </a:moveTo>
                  <a:lnTo>
                    <a:pt x="54" y="24"/>
                  </a:lnTo>
                  <a:lnTo>
                    <a:pt x="54" y="0"/>
                  </a:lnTo>
                  <a:lnTo>
                    <a:pt x="36" y="0"/>
                  </a:lnTo>
                  <a:lnTo>
                    <a:pt x="36" y="24"/>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 name="Freeform 263"/>
            <p:cNvSpPr>
              <a:spLocks noEditPoints="1"/>
            </p:cNvSpPr>
            <p:nvPr/>
          </p:nvSpPr>
          <p:spPr bwMode="auto">
            <a:xfrm>
              <a:off x="4288" y="3363"/>
              <a:ext cx="60" cy="24"/>
            </a:xfrm>
            <a:custGeom>
              <a:avLst/>
              <a:gdLst>
                <a:gd name="T0" fmla="*/ 0 w 60"/>
                <a:gd name="T1" fmla="*/ 24 h 24"/>
                <a:gd name="T2" fmla="*/ 24 w 60"/>
                <a:gd name="T3" fmla="*/ 24 h 24"/>
                <a:gd name="T4" fmla="*/ 24 w 60"/>
                <a:gd name="T5" fmla="*/ 0 h 24"/>
                <a:gd name="T6" fmla="*/ 0 w 60"/>
                <a:gd name="T7" fmla="*/ 0 h 24"/>
                <a:gd name="T8" fmla="*/ 0 w 60"/>
                <a:gd name="T9" fmla="*/ 24 h 24"/>
                <a:gd name="T10" fmla="*/ 36 w 60"/>
                <a:gd name="T11" fmla="*/ 24 h 24"/>
                <a:gd name="T12" fmla="*/ 60 w 60"/>
                <a:gd name="T13" fmla="*/ 24 h 24"/>
                <a:gd name="T14" fmla="*/ 60 w 60"/>
                <a:gd name="T15" fmla="*/ 0 h 24"/>
                <a:gd name="T16" fmla="*/ 36 w 60"/>
                <a:gd name="T17" fmla="*/ 0 h 24"/>
                <a:gd name="T18" fmla="*/ 36 w 60"/>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24">
                  <a:moveTo>
                    <a:pt x="0" y="24"/>
                  </a:moveTo>
                  <a:lnTo>
                    <a:pt x="24" y="24"/>
                  </a:lnTo>
                  <a:lnTo>
                    <a:pt x="24" y="0"/>
                  </a:lnTo>
                  <a:lnTo>
                    <a:pt x="0" y="0"/>
                  </a:lnTo>
                  <a:lnTo>
                    <a:pt x="0" y="24"/>
                  </a:lnTo>
                  <a:close/>
                  <a:moveTo>
                    <a:pt x="36" y="24"/>
                  </a:moveTo>
                  <a:lnTo>
                    <a:pt x="60" y="24"/>
                  </a:lnTo>
                  <a:lnTo>
                    <a:pt x="60" y="0"/>
                  </a:lnTo>
                  <a:lnTo>
                    <a:pt x="36" y="0"/>
                  </a:lnTo>
                  <a:lnTo>
                    <a:pt x="36" y="24"/>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 name="Freeform 264"/>
            <p:cNvSpPr>
              <a:spLocks noEditPoints="1"/>
            </p:cNvSpPr>
            <p:nvPr/>
          </p:nvSpPr>
          <p:spPr bwMode="auto">
            <a:xfrm>
              <a:off x="4360" y="3363"/>
              <a:ext cx="54" cy="24"/>
            </a:xfrm>
            <a:custGeom>
              <a:avLst/>
              <a:gdLst>
                <a:gd name="T0" fmla="*/ 0 w 54"/>
                <a:gd name="T1" fmla="*/ 24 h 24"/>
                <a:gd name="T2" fmla="*/ 18 w 54"/>
                <a:gd name="T3" fmla="*/ 24 h 24"/>
                <a:gd name="T4" fmla="*/ 18 w 54"/>
                <a:gd name="T5" fmla="*/ 0 h 24"/>
                <a:gd name="T6" fmla="*/ 0 w 54"/>
                <a:gd name="T7" fmla="*/ 0 h 24"/>
                <a:gd name="T8" fmla="*/ 0 w 54"/>
                <a:gd name="T9" fmla="*/ 24 h 24"/>
                <a:gd name="T10" fmla="*/ 30 w 54"/>
                <a:gd name="T11" fmla="*/ 24 h 24"/>
                <a:gd name="T12" fmla="*/ 54 w 54"/>
                <a:gd name="T13" fmla="*/ 24 h 24"/>
                <a:gd name="T14" fmla="*/ 54 w 54"/>
                <a:gd name="T15" fmla="*/ 0 h 24"/>
                <a:gd name="T16" fmla="*/ 30 w 54"/>
                <a:gd name="T17" fmla="*/ 0 h 24"/>
                <a:gd name="T18" fmla="*/ 30 w 54"/>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24">
                  <a:moveTo>
                    <a:pt x="0" y="24"/>
                  </a:moveTo>
                  <a:lnTo>
                    <a:pt x="18" y="24"/>
                  </a:lnTo>
                  <a:lnTo>
                    <a:pt x="18" y="0"/>
                  </a:lnTo>
                  <a:lnTo>
                    <a:pt x="0" y="0"/>
                  </a:lnTo>
                  <a:lnTo>
                    <a:pt x="0" y="24"/>
                  </a:lnTo>
                  <a:close/>
                  <a:moveTo>
                    <a:pt x="30" y="24"/>
                  </a:moveTo>
                  <a:lnTo>
                    <a:pt x="54" y="24"/>
                  </a:lnTo>
                  <a:lnTo>
                    <a:pt x="54" y="0"/>
                  </a:lnTo>
                  <a:lnTo>
                    <a:pt x="30" y="0"/>
                  </a:lnTo>
                  <a:lnTo>
                    <a:pt x="30" y="24"/>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 name="Freeform 265"/>
            <p:cNvSpPr>
              <a:spLocks noEditPoints="1"/>
            </p:cNvSpPr>
            <p:nvPr/>
          </p:nvSpPr>
          <p:spPr bwMode="auto">
            <a:xfrm>
              <a:off x="4426" y="3363"/>
              <a:ext cx="53" cy="24"/>
            </a:xfrm>
            <a:custGeom>
              <a:avLst/>
              <a:gdLst>
                <a:gd name="T0" fmla="*/ 0 w 53"/>
                <a:gd name="T1" fmla="*/ 24 h 24"/>
                <a:gd name="T2" fmla="*/ 23 w 53"/>
                <a:gd name="T3" fmla="*/ 24 h 24"/>
                <a:gd name="T4" fmla="*/ 23 w 53"/>
                <a:gd name="T5" fmla="*/ 0 h 24"/>
                <a:gd name="T6" fmla="*/ 0 w 53"/>
                <a:gd name="T7" fmla="*/ 0 h 24"/>
                <a:gd name="T8" fmla="*/ 0 w 53"/>
                <a:gd name="T9" fmla="*/ 24 h 24"/>
                <a:gd name="T10" fmla="*/ 35 w 53"/>
                <a:gd name="T11" fmla="*/ 24 h 24"/>
                <a:gd name="T12" fmla="*/ 53 w 53"/>
                <a:gd name="T13" fmla="*/ 24 h 24"/>
                <a:gd name="T14" fmla="*/ 53 w 53"/>
                <a:gd name="T15" fmla="*/ 0 h 24"/>
                <a:gd name="T16" fmla="*/ 35 w 53"/>
                <a:gd name="T17" fmla="*/ 0 h 24"/>
                <a:gd name="T18" fmla="*/ 35 w 53"/>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3" h="24">
                  <a:moveTo>
                    <a:pt x="0" y="24"/>
                  </a:moveTo>
                  <a:lnTo>
                    <a:pt x="23" y="24"/>
                  </a:lnTo>
                  <a:lnTo>
                    <a:pt x="23" y="0"/>
                  </a:lnTo>
                  <a:lnTo>
                    <a:pt x="0" y="0"/>
                  </a:lnTo>
                  <a:lnTo>
                    <a:pt x="0" y="24"/>
                  </a:lnTo>
                  <a:close/>
                  <a:moveTo>
                    <a:pt x="35" y="24"/>
                  </a:moveTo>
                  <a:lnTo>
                    <a:pt x="53" y="24"/>
                  </a:lnTo>
                  <a:lnTo>
                    <a:pt x="53" y="0"/>
                  </a:lnTo>
                  <a:lnTo>
                    <a:pt x="35" y="0"/>
                  </a:lnTo>
                  <a:lnTo>
                    <a:pt x="35" y="24"/>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7" name="Freeform 266"/>
            <p:cNvSpPr>
              <a:spLocks noEditPoints="1"/>
            </p:cNvSpPr>
            <p:nvPr/>
          </p:nvSpPr>
          <p:spPr bwMode="auto">
            <a:xfrm>
              <a:off x="4491" y="3363"/>
              <a:ext cx="60" cy="24"/>
            </a:xfrm>
            <a:custGeom>
              <a:avLst/>
              <a:gdLst>
                <a:gd name="T0" fmla="*/ 0 w 60"/>
                <a:gd name="T1" fmla="*/ 24 h 24"/>
                <a:gd name="T2" fmla="*/ 24 w 60"/>
                <a:gd name="T3" fmla="*/ 24 h 24"/>
                <a:gd name="T4" fmla="*/ 24 w 60"/>
                <a:gd name="T5" fmla="*/ 0 h 24"/>
                <a:gd name="T6" fmla="*/ 0 w 60"/>
                <a:gd name="T7" fmla="*/ 0 h 24"/>
                <a:gd name="T8" fmla="*/ 0 w 60"/>
                <a:gd name="T9" fmla="*/ 24 h 24"/>
                <a:gd name="T10" fmla="*/ 36 w 60"/>
                <a:gd name="T11" fmla="*/ 24 h 24"/>
                <a:gd name="T12" fmla="*/ 60 w 60"/>
                <a:gd name="T13" fmla="*/ 24 h 24"/>
                <a:gd name="T14" fmla="*/ 60 w 60"/>
                <a:gd name="T15" fmla="*/ 0 h 24"/>
                <a:gd name="T16" fmla="*/ 36 w 60"/>
                <a:gd name="T17" fmla="*/ 0 h 24"/>
                <a:gd name="T18" fmla="*/ 36 w 60"/>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24">
                  <a:moveTo>
                    <a:pt x="0" y="24"/>
                  </a:moveTo>
                  <a:lnTo>
                    <a:pt x="24" y="24"/>
                  </a:lnTo>
                  <a:lnTo>
                    <a:pt x="24" y="0"/>
                  </a:lnTo>
                  <a:lnTo>
                    <a:pt x="0" y="0"/>
                  </a:lnTo>
                  <a:lnTo>
                    <a:pt x="0" y="24"/>
                  </a:lnTo>
                  <a:close/>
                  <a:moveTo>
                    <a:pt x="36" y="24"/>
                  </a:moveTo>
                  <a:lnTo>
                    <a:pt x="60" y="24"/>
                  </a:lnTo>
                  <a:lnTo>
                    <a:pt x="60" y="0"/>
                  </a:lnTo>
                  <a:lnTo>
                    <a:pt x="36" y="0"/>
                  </a:lnTo>
                  <a:lnTo>
                    <a:pt x="36" y="24"/>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8" name="Freeform 267"/>
            <p:cNvSpPr>
              <a:spLocks noEditPoints="1"/>
            </p:cNvSpPr>
            <p:nvPr/>
          </p:nvSpPr>
          <p:spPr bwMode="auto">
            <a:xfrm>
              <a:off x="4563" y="3363"/>
              <a:ext cx="54" cy="24"/>
            </a:xfrm>
            <a:custGeom>
              <a:avLst/>
              <a:gdLst>
                <a:gd name="T0" fmla="*/ 0 w 54"/>
                <a:gd name="T1" fmla="*/ 24 h 24"/>
                <a:gd name="T2" fmla="*/ 18 w 54"/>
                <a:gd name="T3" fmla="*/ 24 h 24"/>
                <a:gd name="T4" fmla="*/ 18 w 54"/>
                <a:gd name="T5" fmla="*/ 0 h 24"/>
                <a:gd name="T6" fmla="*/ 0 w 54"/>
                <a:gd name="T7" fmla="*/ 0 h 24"/>
                <a:gd name="T8" fmla="*/ 0 w 54"/>
                <a:gd name="T9" fmla="*/ 24 h 24"/>
                <a:gd name="T10" fmla="*/ 30 w 54"/>
                <a:gd name="T11" fmla="*/ 24 h 24"/>
                <a:gd name="T12" fmla="*/ 54 w 54"/>
                <a:gd name="T13" fmla="*/ 24 h 24"/>
                <a:gd name="T14" fmla="*/ 54 w 54"/>
                <a:gd name="T15" fmla="*/ 0 h 24"/>
                <a:gd name="T16" fmla="*/ 30 w 54"/>
                <a:gd name="T17" fmla="*/ 0 h 24"/>
                <a:gd name="T18" fmla="*/ 30 w 54"/>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24">
                  <a:moveTo>
                    <a:pt x="0" y="24"/>
                  </a:moveTo>
                  <a:lnTo>
                    <a:pt x="18" y="24"/>
                  </a:lnTo>
                  <a:lnTo>
                    <a:pt x="18" y="0"/>
                  </a:lnTo>
                  <a:lnTo>
                    <a:pt x="0" y="0"/>
                  </a:lnTo>
                  <a:lnTo>
                    <a:pt x="0" y="24"/>
                  </a:lnTo>
                  <a:close/>
                  <a:moveTo>
                    <a:pt x="30" y="24"/>
                  </a:moveTo>
                  <a:lnTo>
                    <a:pt x="54" y="24"/>
                  </a:lnTo>
                  <a:lnTo>
                    <a:pt x="54" y="0"/>
                  </a:lnTo>
                  <a:lnTo>
                    <a:pt x="30" y="0"/>
                  </a:lnTo>
                  <a:lnTo>
                    <a:pt x="30" y="24"/>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9" name="Freeform 268"/>
            <p:cNvSpPr>
              <a:spLocks noEditPoints="1"/>
            </p:cNvSpPr>
            <p:nvPr/>
          </p:nvSpPr>
          <p:spPr bwMode="auto">
            <a:xfrm>
              <a:off x="4629" y="3363"/>
              <a:ext cx="54" cy="24"/>
            </a:xfrm>
            <a:custGeom>
              <a:avLst/>
              <a:gdLst>
                <a:gd name="T0" fmla="*/ 0 w 54"/>
                <a:gd name="T1" fmla="*/ 24 h 24"/>
                <a:gd name="T2" fmla="*/ 24 w 54"/>
                <a:gd name="T3" fmla="*/ 24 h 24"/>
                <a:gd name="T4" fmla="*/ 24 w 54"/>
                <a:gd name="T5" fmla="*/ 0 h 24"/>
                <a:gd name="T6" fmla="*/ 0 w 54"/>
                <a:gd name="T7" fmla="*/ 0 h 24"/>
                <a:gd name="T8" fmla="*/ 0 w 54"/>
                <a:gd name="T9" fmla="*/ 24 h 24"/>
                <a:gd name="T10" fmla="*/ 36 w 54"/>
                <a:gd name="T11" fmla="*/ 24 h 24"/>
                <a:gd name="T12" fmla="*/ 54 w 54"/>
                <a:gd name="T13" fmla="*/ 24 h 24"/>
                <a:gd name="T14" fmla="*/ 54 w 54"/>
                <a:gd name="T15" fmla="*/ 0 h 24"/>
                <a:gd name="T16" fmla="*/ 36 w 54"/>
                <a:gd name="T17" fmla="*/ 0 h 24"/>
                <a:gd name="T18" fmla="*/ 36 w 54"/>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24">
                  <a:moveTo>
                    <a:pt x="0" y="24"/>
                  </a:moveTo>
                  <a:lnTo>
                    <a:pt x="24" y="24"/>
                  </a:lnTo>
                  <a:lnTo>
                    <a:pt x="24" y="0"/>
                  </a:lnTo>
                  <a:lnTo>
                    <a:pt x="0" y="0"/>
                  </a:lnTo>
                  <a:lnTo>
                    <a:pt x="0" y="24"/>
                  </a:lnTo>
                  <a:close/>
                  <a:moveTo>
                    <a:pt x="36" y="24"/>
                  </a:moveTo>
                  <a:lnTo>
                    <a:pt x="54" y="24"/>
                  </a:lnTo>
                  <a:lnTo>
                    <a:pt x="54" y="0"/>
                  </a:lnTo>
                  <a:lnTo>
                    <a:pt x="36" y="0"/>
                  </a:lnTo>
                  <a:lnTo>
                    <a:pt x="36" y="24"/>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0" name="Rectangle 269"/>
            <p:cNvSpPr>
              <a:spLocks noChangeArrowheads="1"/>
            </p:cNvSpPr>
            <p:nvPr/>
          </p:nvSpPr>
          <p:spPr bwMode="auto">
            <a:xfrm>
              <a:off x="4695" y="3363"/>
              <a:ext cx="12" cy="24"/>
            </a:xfrm>
            <a:prstGeom prst="rect">
              <a:avLst/>
            </a:prstGeom>
            <a:solidFill>
              <a:srgbClr val="FF7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1" name="Line 270"/>
            <p:cNvSpPr>
              <a:spLocks noChangeShapeType="1"/>
            </p:cNvSpPr>
            <p:nvPr/>
          </p:nvSpPr>
          <p:spPr bwMode="auto">
            <a:xfrm flipV="1">
              <a:off x="4174" y="3375"/>
              <a:ext cx="120" cy="131"/>
            </a:xfrm>
            <a:prstGeom prst="line">
              <a:avLst/>
            </a:prstGeom>
            <a:noFill/>
            <a:ln w="0">
              <a:solidFill>
                <a:srgbClr val="FFFFFF"/>
              </a:solidFill>
              <a:prstDash val="sys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2" name="Freeform 271"/>
            <p:cNvSpPr>
              <a:spLocks/>
            </p:cNvSpPr>
            <p:nvPr/>
          </p:nvSpPr>
          <p:spPr bwMode="auto">
            <a:xfrm>
              <a:off x="4168" y="3483"/>
              <a:ext cx="30" cy="29"/>
            </a:xfrm>
            <a:custGeom>
              <a:avLst/>
              <a:gdLst>
                <a:gd name="T0" fmla="*/ 18 w 30"/>
                <a:gd name="T1" fmla="*/ 29 h 29"/>
                <a:gd name="T2" fmla="*/ 30 w 30"/>
                <a:gd name="T3" fmla="*/ 17 h 29"/>
                <a:gd name="T4" fmla="*/ 12 w 30"/>
                <a:gd name="T5" fmla="*/ 0 h 29"/>
                <a:gd name="T6" fmla="*/ 0 w 30"/>
                <a:gd name="T7" fmla="*/ 17 h 29"/>
                <a:gd name="T8" fmla="*/ 18 w 30"/>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29">
                  <a:moveTo>
                    <a:pt x="18" y="29"/>
                  </a:moveTo>
                  <a:lnTo>
                    <a:pt x="30" y="17"/>
                  </a:lnTo>
                  <a:lnTo>
                    <a:pt x="12" y="0"/>
                  </a:lnTo>
                  <a:lnTo>
                    <a:pt x="0" y="17"/>
                  </a:lnTo>
                  <a:lnTo>
                    <a:pt x="18" y="29"/>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3" name="Freeform 272"/>
            <p:cNvSpPr>
              <a:spLocks noEditPoints="1"/>
            </p:cNvSpPr>
            <p:nvPr/>
          </p:nvSpPr>
          <p:spPr bwMode="auto">
            <a:xfrm>
              <a:off x="4186" y="3429"/>
              <a:ext cx="60" cy="60"/>
            </a:xfrm>
            <a:custGeom>
              <a:avLst/>
              <a:gdLst>
                <a:gd name="T0" fmla="*/ 18 w 60"/>
                <a:gd name="T1" fmla="*/ 60 h 60"/>
                <a:gd name="T2" fmla="*/ 36 w 60"/>
                <a:gd name="T3" fmla="*/ 42 h 60"/>
                <a:gd name="T4" fmla="*/ 18 w 60"/>
                <a:gd name="T5" fmla="*/ 30 h 60"/>
                <a:gd name="T6" fmla="*/ 0 w 60"/>
                <a:gd name="T7" fmla="*/ 48 h 60"/>
                <a:gd name="T8" fmla="*/ 18 w 60"/>
                <a:gd name="T9" fmla="*/ 60 h 60"/>
                <a:gd name="T10" fmla="*/ 42 w 60"/>
                <a:gd name="T11" fmla="*/ 36 h 60"/>
                <a:gd name="T12" fmla="*/ 60 w 60"/>
                <a:gd name="T13" fmla="*/ 18 h 60"/>
                <a:gd name="T14" fmla="*/ 42 w 60"/>
                <a:gd name="T15" fmla="*/ 0 h 60"/>
                <a:gd name="T16" fmla="*/ 24 w 60"/>
                <a:gd name="T17" fmla="*/ 18 h 60"/>
                <a:gd name="T18" fmla="*/ 42 w 60"/>
                <a:gd name="T19" fmla="*/ 36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60">
                  <a:moveTo>
                    <a:pt x="18" y="60"/>
                  </a:moveTo>
                  <a:lnTo>
                    <a:pt x="36" y="42"/>
                  </a:lnTo>
                  <a:lnTo>
                    <a:pt x="18" y="30"/>
                  </a:lnTo>
                  <a:lnTo>
                    <a:pt x="0" y="48"/>
                  </a:lnTo>
                  <a:lnTo>
                    <a:pt x="18" y="60"/>
                  </a:lnTo>
                  <a:close/>
                  <a:moveTo>
                    <a:pt x="42" y="36"/>
                  </a:moveTo>
                  <a:lnTo>
                    <a:pt x="60" y="18"/>
                  </a:lnTo>
                  <a:lnTo>
                    <a:pt x="42" y="0"/>
                  </a:lnTo>
                  <a:lnTo>
                    <a:pt x="24" y="18"/>
                  </a:lnTo>
                  <a:lnTo>
                    <a:pt x="42" y="36"/>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4" name="Freeform 273"/>
            <p:cNvSpPr>
              <a:spLocks noEditPoints="1"/>
            </p:cNvSpPr>
            <p:nvPr/>
          </p:nvSpPr>
          <p:spPr bwMode="auto">
            <a:xfrm>
              <a:off x="4234" y="3381"/>
              <a:ext cx="54" cy="60"/>
            </a:xfrm>
            <a:custGeom>
              <a:avLst/>
              <a:gdLst>
                <a:gd name="T0" fmla="*/ 18 w 54"/>
                <a:gd name="T1" fmla="*/ 60 h 60"/>
                <a:gd name="T2" fmla="*/ 30 w 54"/>
                <a:gd name="T3" fmla="*/ 42 h 60"/>
                <a:gd name="T4" fmla="*/ 12 w 54"/>
                <a:gd name="T5" fmla="*/ 24 h 60"/>
                <a:gd name="T6" fmla="*/ 0 w 54"/>
                <a:gd name="T7" fmla="*/ 42 h 60"/>
                <a:gd name="T8" fmla="*/ 18 w 54"/>
                <a:gd name="T9" fmla="*/ 60 h 60"/>
                <a:gd name="T10" fmla="*/ 42 w 54"/>
                <a:gd name="T11" fmla="*/ 30 h 60"/>
                <a:gd name="T12" fmla="*/ 54 w 54"/>
                <a:gd name="T13" fmla="*/ 18 h 60"/>
                <a:gd name="T14" fmla="*/ 36 w 54"/>
                <a:gd name="T15" fmla="*/ 0 h 60"/>
                <a:gd name="T16" fmla="*/ 24 w 54"/>
                <a:gd name="T17" fmla="*/ 18 h 60"/>
                <a:gd name="T18" fmla="*/ 42 w 54"/>
                <a:gd name="T19" fmla="*/ 3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60">
                  <a:moveTo>
                    <a:pt x="18" y="60"/>
                  </a:moveTo>
                  <a:lnTo>
                    <a:pt x="30" y="42"/>
                  </a:lnTo>
                  <a:lnTo>
                    <a:pt x="12" y="24"/>
                  </a:lnTo>
                  <a:lnTo>
                    <a:pt x="0" y="42"/>
                  </a:lnTo>
                  <a:lnTo>
                    <a:pt x="18" y="60"/>
                  </a:lnTo>
                  <a:close/>
                  <a:moveTo>
                    <a:pt x="42" y="30"/>
                  </a:moveTo>
                  <a:lnTo>
                    <a:pt x="54" y="18"/>
                  </a:lnTo>
                  <a:lnTo>
                    <a:pt x="36" y="0"/>
                  </a:lnTo>
                  <a:lnTo>
                    <a:pt x="24" y="18"/>
                  </a:lnTo>
                  <a:lnTo>
                    <a:pt x="42" y="30"/>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5" name="Freeform 274"/>
            <p:cNvSpPr>
              <a:spLocks/>
            </p:cNvSpPr>
            <p:nvPr/>
          </p:nvSpPr>
          <p:spPr bwMode="auto">
            <a:xfrm>
              <a:off x="4276" y="3369"/>
              <a:ext cx="24" cy="18"/>
            </a:xfrm>
            <a:custGeom>
              <a:avLst/>
              <a:gdLst>
                <a:gd name="T0" fmla="*/ 18 w 24"/>
                <a:gd name="T1" fmla="*/ 18 h 18"/>
                <a:gd name="T2" fmla="*/ 24 w 24"/>
                <a:gd name="T3" fmla="*/ 12 h 18"/>
                <a:gd name="T4" fmla="*/ 6 w 24"/>
                <a:gd name="T5" fmla="*/ 0 h 18"/>
                <a:gd name="T6" fmla="*/ 0 w 24"/>
                <a:gd name="T7" fmla="*/ 6 h 18"/>
                <a:gd name="T8" fmla="*/ 18 w 2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18">
                  <a:moveTo>
                    <a:pt x="18" y="18"/>
                  </a:moveTo>
                  <a:lnTo>
                    <a:pt x="24" y="12"/>
                  </a:lnTo>
                  <a:lnTo>
                    <a:pt x="6" y="0"/>
                  </a:lnTo>
                  <a:lnTo>
                    <a:pt x="0" y="6"/>
                  </a:lnTo>
                  <a:lnTo>
                    <a:pt x="18" y="18"/>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 name="Freeform 275"/>
            <p:cNvSpPr>
              <a:spLocks/>
            </p:cNvSpPr>
            <p:nvPr/>
          </p:nvSpPr>
          <p:spPr bwMode="auto">
            <a:xfrm>
              <a:off x="4348" y="551"/>
              <a:ext cx="72" cy="59"/>
            </a:xfrm>
            <a:custGeom>
              <a:avLst/>
              <a:gdLst>
                <a:gd name="T0" fmla="*/ 0 w 72"/>
                <a:gd name="T1" fmla="*/ 17 h 59"/>
                <a:gd name="T2" fmla="*/ 36 w 72"/>
                <a:gd name="T3" fmla="*/ 41 h 59"/>
                <a:gd name="T4" fmla="*/ 42 w 72"/>
                <a:gd name="T5" fmla="*/ 47 h 59"/>
                <a:gd name="T6" fmla="*/ 48 w 72"/>
                <a:gd name="T7" fmla="*/ 59 h 59"/>
                <a:gd name="T8" fmla="*/ 72 w 72"/>
                <a:gd name="T9" fmla="*/ 59 h 59"/>
                <a:gd name="T10" fmla="*/ 66 w 72"/>
                <a:gd name="T11" fmla="*/ 41 h 59"/>
                <a:gd name="T12" fmla="*/ 54 w 72"/>
                <a:gd name="T13" fmla="*/ 23 h 59"/>
                <a:gd name="T14" fmla="*/ 12 w 72"/>
                <a:gd name="T15" fmla="*/ 0 h 59"/>
                <a:gd name="T16" fmla="*/ 0 w 72"/>
                <a:gd name="T17" fmla="*/ 17 h 5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59">
                  <a:moveTo>
                    <a:pt x="0" y="17"/>
                  </a:moveTo>
                  <a:lnTo>
                    <a:pt x="36" y="41"/>
                  </a:lnTo>
                  <a:lnTo>
                    <a:pt x="42" y="47"/>
                  </a:lnTo>
                  <a:lnTo>
                    <a:pt x="48" y="59"/>
                  </a:lnTo>
                  <a:lnTo>
                    <a:pt x="72" y="59"/>
                  </a:lnTo>
                  <a:lnTo>
                    <a:pt x="66" y="41"/>
                  </a:lnTo>
                  <a:lnTo>
                    <a:pt x="54" y="23"/>
                  </a:lnTo>
                  <a:lnTo>
                    <a:pt x="12" y="0"/>
                  </a:lnTo>
                  <a:lnTo>
                    <a:pt x="0" y="17"/>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 name="Freeform 276"/>
            <p:cNvSpPr>
              <a:spLocks noEditPoints="1"/>
            </p:cNvSpPr>
            <p:nvPr/>
          </p:nvSpPr>
          <p:spPr bwMode="auto">
            <a:xfrm>
              <a:off x="4294" y="610"/>
              <a:ext cx="126" cy="78"/>
            </a:xfrm>
            <a:custGeom>
              <a:avLst/>
              <a:gdLst>
                <a:gd name="T0" fmla="*/ 102 w 126"/>
                <a:gd name="T1" fmla="*/ 0 h 78"/>
                <a:gd name="T2" fmla="*/ 96 w 126"/>
                <a:gd name="T3" fmla="*/ 18 h 78"/>
                <a:gd name="T4" fmla="*/ 72 w 126"/>
                <a:gd name="T5" fmla="*/ 36 h 78"/>
                <a:gd name="T6" fmla="*/ 42 w 126"/>
                <a:gd name="T7" fmla="*/ 48 h 78"/>
                <a:gd name="T8" fmla="*/ 0 w 126"/>
                <a:gd name="T9" fmla="*/ 54 h 78"/>
                <a:gd name="T10" fmla="*/ 0 w 126"/>
                <a:gd name="T11" fmla="*/ 78 h 78"/>
                <a:gd name="T12" fmla="*/ 48 w 126"/>
                <a:gd name="T13" fmla="*/ 72 h 78"/>
                <a:gd name="T14" fmla="*/ 84 w 126"/>
                <a:gd name="T15" fmla="*/ 60 h 78"/>
                <a:gd name="T16" fmla="*/ 114 w 126"/>
                <a:gd name="T17" fmla="*/ 30 h 78"/>
                <a:gd name="T18" fmla="*/ 126 w 126"/>
                <a:gd name="T19" fmla="*/ 0 h 78"/>
                <a:gd name="T20" fmla="*/ 102 w 126"/>
                <a:gd name="T21" fmla="*/ 0 h 78"/>
                <a:gd name="T22" fmla="*/ 126 w 126"/>
                <a:gd name="T23" fmla="*/ 0 h 78"/>
                <a:gd name="T24" fmla="*/ 126 w 126"/>
                <a:gd name="T25" fmla="*/ 0 h 78"/>
                <a:gd name="T26" fmla="*/ 114 w 126"/>
                <a:gd name="T27" fmla="*/ 0 h 78"/>
                <a:gd name="T28" fmla="*/ 126 w 126"/>
                <a:gd name="T29" fmla="*/ 0 h 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6" h="78">
                  <a:moveTo>
                    <a:pt x="102" y="0"/>
                  </a:moveTo>
                  <a:lnTo>
                    <a:pt x="96" y="18"/>
                  </a:lnTo>
                  <a:lnTo>
                    <a:pt x="72" y="36"/>
                  </a:lnTo>
                  <a:lnTo>
                    <a:pt x="42" y="48"/>
                  </a:lnTo>
                  <a:lnTo>
                    <a:pt x="0" y="54"/>
                  </a:lnTo>
                  <a:lnTo>
                    <a:pt x="0" y="78"/>
                  </a:lnTo>
                  <a:lnTo>
                    <a:pt x="48" y="72"/>
                  </a:lnTo>
                  <a:lnTo>
                    <a:pt x="84" y="60"/>
                  </a:lnTo>
                  <a:lnTo>
                    <a:pt x="114" y="30"/>
                  </a:lnTo>
                  <a:lnTo>
                    <a:pt x="126" y="0"/>
                  </a:lnTo>
                  <a:lnTo>
                    <a:pt x="102" y="0"/>
                  </a:lnTo>
                  <a:close/>
                  <a:moveTo>
                    <a:pt x="126" y="0"/>
                  </a:moveTo>
                  <a:lnTo>
                    <a:pt x="126" y="0"/>
                  </a:lnTo>
                  <a:lnTo>
                    <a:pt x="114" y="0"/>
                  </a:lnTo>
                  <a:lnTo>
                    <a:pt x="126" y="0"/>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8" name="Freeform 277"/>
            <p:cNvSpPr>
              <a:spLocks noEditPoints="1"/>
            </p:cNvSpPr>
            <p:nvPr/>
          </p:nvSpPr>
          <p:spPr bwMode="auto">
            <a:xfrm>
              <a:off x="4168" y="610"/>
              <a:ext cx="126" cy="78"/>
            </a:xfrm>
            <a:custGeom>
              <a:avLst/>
              <a:gdLst>
                <a:gd name="T0" fmla="*/ 126 w 126"/>
                <a:gd name="T1" fmla="*/ 54 h 78"/>
                <a:gd name="T2" fmla="*/ 84 w 126"/>
                <a:gd name="T3" fmla="*/ 48 h 78"/>
                <a:gd name="T4" fmla="*/ 54 w 126"/>
                <a:gd name="T5" fmla="*/ 36 h 78"/>
                <a:gd name="T6" fmla="*/ 30 w 126"/>
                <a:gd name="T7" fmla="*/ 18 h 78"/>
                <a:gd name="T8" fmla="*/ 24 w 126"/>
                <a:gd name="T9" fmla="*/ 0 h 78"/>
                <a:gd name="T10" fmla="*/ 0 w 126"/>
                <a:gd name="T11" fmla="*/ 0 h 78"/>
                <a:gd name="T12" fmla="*/ 12 w 126"/>
                <a:gd name="T13" fmla="*/ 30 h 78"/>
                <a:gd name="T14" fmla="*/ 36 w 126"/>
                <a:gd name="T15" fmla="*/ 60 h 78"/>
                <a:gd name="T16" fmla="*/ 78 w 126"/>
                <a:gd name="T17" fmla="*/ 72 h 78"/>
                <a:gd name="T18" fmla="*/ 126 w 126"/>
                <a:gd name="T19" fmla="*/ 78 h 78"/>
                <a:gd name="T20" fmla="*/ 126 w 126"/>
                <a:gd name="T21" fmla="*/ 54 h 78"/>
                <a:gd name="T22" fmla="*/ 126 w 126"/>
                <a:gd name="T23" fmla="*/ 78 h 78"/>
                <a:gd name="T24" fmla="*/ 126 w 126"/>
                <a:gd name="T25" fmla="*/ 78 h 78"/>
                <a:gd name="T26" fmla="*/ 126 w 126"/>
                <a:gd name="T27" fmla="*/ 66 h 78"/>
                <a:gd name="T28" fmla="*/ 126 w 126"/>
                <a:gd name="T29" fmla="*/ 78 h 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6" h="78">
                  <a:moveTo>
                    <a:pt x="126" y="54"/>
                  </a:moveTo>
                  <a:lnTo>
                    <a:pt x="84" y="48"/>
                  </a:lnTo>
                  <a:lnTo>
                    <a:pt x="54" y="36"/>
                  </a:lnTo>
                  <a:lnTo>
                    <a:pt x="30" y="18"/>
                  </a:lnTo>
                  <a:lnTo>
                    <a:pt x="24" y="0"/>
                  </a:lnTo>
                  <a:lnTo>
                    <a:pt x="0" y="0"/>
                  </a:lnTo>
                  <a:lnTo>
                    <a:pt x="12" y="30"/>
                  </a:lnTo>
                  <a:lnTo>
                    <a:pt x="36" y="60"/>
                  </a:lnTo>
                  <a:lnTo>
                    <a:pt x="78" y="72"/>
                  </a:lnTo>
                  <a:lnTo>
                    <a:pt x="126" y="78"/>
                  </a:lnTo>
                  <a:lnTo>
                    <a:pt x="126" y="54"/>
                  </a:lnTo>
                  <a:close/>
                  <a:moveTo>
                    <a:pt x="126" y="78"/>
                  </a:moveTo>
                  <a:lnTo>
                    <a:pt x="126" y="78"/>
                  </a:lnTo>
                  <a:lnTo>
                    <a:pt x="126" y="66"/>
                  </a:lnTo>
                  <a:lnTo>
                    <a:pt x="126" y="78"/>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9" name="Freeform 278"/>
            <p:cNvSpPr>
              <a:spLocks noEditPoints="1"/>
            </p:cNvSpPr>
            <p:nvPr/>
          </p:nvSpPr>
          <p:spPr bwMode="auto">
            <a:xfrm>
              <a:off x="4168" y="551"/>
              <a:ext cx="66" cy="59"/>
            </a:xfrm>
            <a:custGeom>
              <a:avLst/>
              <a:gdLst>
                <a:gd name="T0" fmla="*/ 24 w 66"/>
                <a:gd name="T1" fmla="*/ 59 h 59"/>
                <a:gd name="T2" fmla="*/ 36 w 66"/>
                <a:gd name="T3" fmla="*/ 41 h 59"/>
                <a:gd name="T4" fmla="*/ 48 w 66"/>
                <a:gd name="T5" fmla="*/ 29 h 59"/>
                <a:gd name="T6" fmla="*/ 66 w 66"/>
                <a:gd name="T7" fmla="*/ 23 h 59"/>
                <a:gd name="T8" fmla="*/ 60 w 66"/>
                <a:gd name="T9" fmla="*/ 0 h 59"/>
                <a:gd name="T10" fmla="*/ 36 w 66"/>
                <a:gd name="T11" fmla="*/ 11 h 59"/>
                <a:gd name="T12" fmla="*/ 18 w 66"/>
                <a:gd name="T13" fmla="*/ 23 h 59"/>
                <a:gd name="T14" fmla="*/ 6 w 66"/>
                <a:gd name="T15" fmla="*/ 41 h 59"/>
                <a:gd name="T16" fmla="*/ 0 w 66"/>
                <a:gd name="T17" fmla="*/ 59 h 59"/>
                <a:gd name="T18" fmla="*/ 24 w 66"/>
                <a:gd name="T19" fmla="*/ 59 h 59"/>
                <a:gd name="T20" fmla="*/ 0 w 66"/>
                <a:gd name="T21" fmla="*/ 59 h 59"/>
                <a:gd name="T22" fmla="*/ 0 w 66"/>
                <a:gd name="T23" fmla="*/ 59 h 59"/>
                <a:gd name="T24" fmla="*/ 12 w 66"/>
                <a:gd name="T25" fmla="*/ 59 h 59"/>
                <a:gd name="T26" fmla="*/ 0 w 66"/>
                <a:gd name="T27" fmla="*/ 59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6" h="59">
                  <a:moveTo>
                    <a:pt x="24" y="59"/>
                  </a:moveTo>
                  <a:lnTo>
                    <a:pt x="36" y="41"/>
                  </a:lnTo>
                  <a:lnTo>
                    <a:pt x="48" y="29"/>
                  </a:lnTo>
                  <a:lnTo>
                    <a:pt x="66" y="23"/>
                  </a:lnTo>
                  <a:lnTo>
                    <a:pt x="60" y="0"/>
                  </a:lnTo>
                  <a:lnTo>
                    <a:pt x="36" y="11"/>
                  </a:lnTo>
                  <a:lnTo>
                    <a:pt x="18" y="23"/>
                  </a:lnTo>
                  <a:lnTo>
                    <a:pt x="6" y="41"/>
                  </a:lnTo>
                  <a:lnTo>
                    <a:pt x="0" y="59"/>
                  </a:lnTo>
                  <a:lnTo>
                    <a:pt x="24" y="59"/>
                  </a:lnTo>
                  <a:close/>
                  <a:moveTo>
                    <a:pt x="0" y="59"/>
                  </a:moveTo>
                  <a:lnTo>
                    <a:pt x="0" y="59"/>
                  </a:lnTo>
                  <a:lnTo>
                    <a:pt x="12" y="59"/>
                  </a:lnTo>
                  <a:lnTo>
                    <a:pt x="0" y="59"/>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0" name="Freeform 279"/>
            <p:cNvSpPr>
              <a:spLocks/>
            </p:cNvSpPr>
            <p:nvPr/>
          </p:nvSpPr>
          <p:spPr bwMode="auto">
            <a:xfrm>
              <a:off x="4354" y="562"/>
              <a:ext cx="42" cy="24"/>
            </a:xfrm>
            <a:custGeom>
              <a:avLst/>
              <a:gdLst>
                <a:gd name="T0" fmla="*/ 18 w 42"/>
                <a:gd name="T1" fmla="*/ 12 h 24"/>
                <a:gd name="T2" fmla="*/ 24 w 42"/>
                <a:gd name="T3" fmla="*/ 18 h 24"/>
                <a:gd name="T4" fmla="*/ 30 w 42"/>
                <a:gd name="T5" fmla="*/ 24 h 24"/>
                <a:gd name="T6" fmla="*/ 42 w 42"/>
                <a:gd name="T7" fmla="*/ 6 h 24"/>
                <a:gd name="T8" fmla="*/ 30 w 42"/>
                <a:gd name="T9" fmla="*/ 6 h 24"/>
                <a:gd name="T10" fmla="*/ 18 w 42"/>
                <a:gd name="T11" fmla="*/ 0 h 24"/>
                <a:gd name="T12" fmla="*/ 0 w 42"/>
                <a:gd name="T13" fmla="*/ 0 h 24"/>
                <a:gd name="T14" fmla="*/ 12 w 42"/>
                <a:gd name="T15" fmla="*/ 6 h 24"/>
                <a:gd name="T16" fmla="*/ 18 w 42"/>
                <a:gd name="T17" fmla="*/ 12 h 24"/>
                <a:gd name="T18" fmla="*/ 18 w 42"/>
                <a:gd name="T19" fmla="*/ 12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24">
                  <a:moveTo>
                    <a:pt x="18" y="12"/>
                  </a:moveTo>
                  <a:lnTo>
                    <a:pt x="24" y="18"/>
                  </a:lnTo>
                  <a:lnTo>
                    <a:pt x="30" y="24"/>
                  </a:lnTo>
                  <a:lnTo>
                    <a:pt x="42" y="6"/>
                  </a:lnTo>
                  <a:lnTo>
                    <a:pt x="30" y="6"/>
                  </a:lnTo>
                  <a:lnTo>
                    <a:pt x="18" y="0"/>
                  </a:lnTo>
                  <a:lnTo>
                    <a:pt x="0" y="0"/>
                  </a:lnTo>
                  <a:lnTo>
                    <a:pt x="12" y="6"/>
                  </a:lnTo>
                  <a:lnTo>
                    <a:pt x="1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1" name="Freeform 280"/>
            <p:cNvSpPr>
              <a:spLocks/>
            </p:cNvSpPr>
            <p:nvPr/>
          </p:nvSpPr>
          <p:spPr bwMode="auto">
            <a:xfrm>
              <a:off x="4372" y="574"/>
              <a:ext cx="12" cy="12"/>
            </a:xfrm>
            <a:custGeom>
              <a:avLst/>
              <a:gdLst>
                <a:gd name="T0" fmla="*/ 0 w 12"/>
                <a:gd name="T1" fmla="*/ 0 h 12"/>
                <a:gd name="T2" fmla="*/ 6 w 12"/>
                <a:gd name="T3" fmla="*/ 6 h 12"/>
                <a:gd name="T4" fmla="*/ 12 w 12"/>
                <a:gd name="T5" fmla="*/ 12 h 12"/>
                <a:gd name="T6" fmla="*/ 12 w 12"/>
                <a:gd name="T7" fmla="*/ 12 h 12"/>
                <a:gd name="T8" fmla="*/ 6 w 12"/>
                <a:gd name="T9" fmla="*/ 6 h 12"/>
                <a:gd name="T10" fmla="*/ 0 w 12"/>
                <a:gd name="T11" fmla="*/ 0 h 12"/>
                <a:gd name="T12" fmla="*/ 0 w 12"/>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 h="12">
                  <a:moveTo>
                    <a:pt x="0" y="0"/>
                  </a:moveTo>
                  <a:lnTo>
                    <a:pt x="6" y="6"/>
                  </a:lnTo>
                  <a:lnTo>
                    <a:pt x="12" y="12"/>
                  </a:lnTo>
                  <a:lnTo>
                    <a:pt x="6" y="6"/>
                  </a:lnTo>
                  <a:lnTo>
                    <a:pt x="0" y="0"/>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2" name="Freeform 281"/>
            <p:cNvSpPr>
              <a:spLocks noEditPoints="1"/>
            </p:cNvSpPr>
            <p:nvPr/>
          </p:nvSpPr>
          <p:spPr bwMode="auto">
            <a:xfrm>
              <a:off x="4384" y="568"/>
              <a:ext cx="12" cy="18"/>
            </a:xfrm>
            <a:custGeom>
              <a:avLst/>
              <a:gdLst>
                <a:gd name="T0" fmla="*/ 0 w 12"/>
                <a:gd name="T1" fmla="*/ 18 h 18"/>
                <a:gd name="T2" fmla="*/ 12 w 12"/>
                <a:gd name="T3" fmla="*/ 0 h 18"/>
                <a:gd name="T4" fmla="*/ 0 w 12"/>
                <a:gd name="T5" fmla="*/ 18 h 18"/>
                <a:gd name="T6" fmla="*/ 0 w 12"/>
                <a:gd name="T7" fmla="*/ 18 h 18"/>
                <a:gd name="T8" fmla="*/ 0 w 12"/>
                <a:gd name="T9" fmla="*/ 18 h 18"/>
                <a:gd name="T10" fmla="*/ 0 w 12"/>
                <a:gd name="T11" fmla="*/ 18 h 18"/>
                <a:gd name="T12" fmla="*/ 0 w 12"/>
                <a:gd name="T13" fmla="*/ 18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 h="18">
                  <a:moveTo>
                    <a:pt x="0" y="18"/>
                  </a:moveTo>
                  <a:lnTo>
                    <a:pt x="12" y="0"/>
                  </a:lnTo>
                  <a:lnTo>
                    <a:pt x="0" y="18"/>
                  </a:lnTo>
                  <a:close/>
                  <a:moveTo>
                    <a:pt x="0" y="18"/>
                  </a:moveTo>
                  <a:lnTo>
                    <a:pt x="0" y="18"/>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3" name="Freeform 282"/>
            <p:cNvSpPr>
              <a:spLocks noEditPoints="1"/>
            </p:cNvSpPr>
            <p:nvPr/>
          </p:nvSpPr>
          <p:spPr bwMode="auto">
            <a:xfrm>
              <a:off x="4372" y="562"/>
              <a:ext cx="24" cy="6"/>
            </a:xfrm>
            <a:custGeom>
              <a:avLst/>
              <a:gdLst>
                <a:gd name="T0" fmla="*/ 24 w 24"/>
                <a:gd name="T1" fmla="*/ 6 h 6"/>
                <a:gd name="T2" fmla="*/ 12 w 24"/>
                <a:gd name="T3" fmla="*/ 6 h 6"/>
                <a:gd name="T4" fmla="*/ 0 w 24"/>
                <a:gd name="T5" fmla="*/ 0 h 6"/>
                <a:gd name="T6" fmla="*/ 0 w 24"/>
                <a:gd name="T7" fmla="*/ 0 h 6"/>
                <a:gd name="T8" fmla="*/ 12 w 24"/>
                <a:gd name="T9" fmla="*/ 6 h 6"/>
                <a:gd name="T10" fmla="*/ 24 w 24"/>
                <a:gd name="T11" fmla="*/ 6 h 6"/>
                <a:gd name="T12" fmla="*/ 24 w 24"/>
                <a:gd name="T13" fmla="*/ 6 h 6"/>
                <a:gd name="T14" fmla="*/ 24 w 24"/>
                <a:gd name="T15" fmla="*/ 6 h 6"/>
                <a:gd name="T16" fmla="*/ 24 w 24"/>
                <a:gd name="T17" fmla="*/ 6 h 6"/>
                <a:gd name="T18" fmla="*/ 24 w 24"/>
                <a:gd name="T19" fmla="*/ 6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6">
                  <a:moveTo>
                    <a:pt x="24" y="6"/>
                  </a:moveTo>
                  <a:lnTo>
                    <a:pt x="12" y="6"/>
                  </a:lnTo>
                  <a:lnTo>
                    <a:pt x="0" y="0"/>
                  </a:lnTo>
                  <a:lnTo>
                    <a:pt x="12" y="6"/>
                  </a:lnTo>
                  <a:lnTo>
                    <a:pt x="24" y="6"/>
                  </a:lnTo>
                  <a:close/>
                  <a:moveTo>
                    <a:pt x="24" y="6"/>
                  </a:moveTo>
                  <a:lnTo>
                    <a:pt x="24" y="6"/>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4" name="Freeform 283"/>
            <p:cNvSpPr>
              <a:spLocks noEditPoints="1"/>
            </p:cNvSpPr>
            <p:nvPr/>
          </p:nvSpPr>
          <p:spPr bwMode="auto">
            <a:xfrm>
              <a:off x="4354" y="562"/>
              <a:ext cx="18" cy="1"/>
            </a:xfrm>
            <a:custGeom>
              <a:avLst/>
              <a:gdLst>
                <a:gd name="T0" fmla="*/ 18 w 18"/>
                <a:gd name="T1" fmla="*/ 0 h 1"/>
                <a:gd name="T2" fmla="*/ 0 w 18"/>
                <a:gd name="T3" fmla="*/ 0 h 1"/>
                <a:gd name="T4" fmla="*/ 0 w 18"/>
                <a:gd name="T5" fmla="*/ 0 h 1"/>
                <a:gd name="T6" fmla="*/ 18 w 18"/>
                <a:gd name="T7" fmla="*/ 0 h 1"/>
                <a:gd name="T8" fmla="*/ 18 w 18"/>
                <a:gd name="T9" fmla="*/ 0 h 1"/>
                <a:gd name="T10" fmla="*/ 18 w 18"/>
                <a:gd name="T11" fmla="*/ 0 h 1"/>
                <a:gd name="T12" fmla="*/ 18 w 18"/>
                <a:gd name="T13" fmla="*/ 0 h 1"/>
                <a:gd name="T14" fmla="*/ 18 w 18"/>
                <a:gd name="T15" fmla="*/ 0 h 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1">
                  <a:moveTo>
                    <a:pt x="18" y="0"/>
                  </a:moveTo>
                  <a:lnTo>
                    <a:pt x="0" y="0"/>
                  </a:lnTo>
                  <a:lnTo>
                    <a:pt x="18" y="0"/>
                  </a:lnTo>
                  <a:close/>
                  <a:moveTo>
                    <a:pt x="18" y="0"/>
                  </a:moveTo>
                  <a:lnTo>
                    <a:pt x="18" y="0"/>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5" name="Freeform 284"/>
            <p:cNvSpPr>
              <a:spLocks noEditPoints="1"/>
            </p:cNvSpPr>
            <p:nvPr/>
          </p:nvSpPr>
          <p:spPr bwMode="auto">
            <a:xfrm>
              <a:off x="4354" y="562"/>
              <a:ext cx="18" cy="12"/>
            </a:xfrm>
            <a:custGeom>
              <a:avLst/>
              <a:gdLst>
                <a:gd name="T0" fmla="*/ 0 w 18"/>
                <a:gd name="T1" fmla="*/ 0 h 12"/>
                <a:gd name="T2" fmla="*/ 12 w 18"/>
                <a:gd name="T3" fmla="*/ 6 h 12"/>
                <a:gd name="T4" fmla="*/ 18 w 18"/>
                <a:gd name="T5" fmla="*/ 12 h 12"/>
                <a:gd name="T6" fmla="*/ 18 w 18"/>
                <a:gd name="T7" fmla="*/ 12 h 12"/>
                <a:gd name="T8" fmla="*/ 12 w 18"/>
                <a:gd name="T9" fmla="*/ 6 h 12"/>
                <a:gd name="T10" fmla="*/ 0 w 18"/>
                <a:gd name="T11" fmla="*/ 0 h 12"/>
                <a:gd name="T12" fmla="*/ 0 w 18"/>
                <a:gd name="T13" fmla="*/ 0 h 12"/>
                <a:gd name="T14" fmla="*/ 0 w 18"/>
                <a:gd name="T15" fmla="*/ 0 h 12"/>
                <a:gd name="T16" fmla="*/ 0 w 18"/>
                <a:gd name="T17" fmla="*/ 0 h 12"/>
                <a:gd name="T18" fmla="*/ 0 w 18"/>
                <a:gd name="T19" fmla="*/ 0 h 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 h="12">
                  <a:moveTo>
                    <a:pt x="0" y="0"/>
                  </a:moveTo>
                  <a:lnTo>
                    <a:pt x="12" y="6"/>
                  </a:lnTo>
                  <a:lnTo>
                    <a:pt x="18" y="12"/>
                  </a:lnTo>
                  <a:lnTo>
                    <a:pt x="12" y="6"/>
                  </a:lnTo>
                  <a:lnTo>
                    <a:pt x="0" y="0"/>
                  </a:lnTo>
                  <a:close/>
                  <a:moveTo>
                    <a:pt x="0" y="0"/>
                  </a:moveTo>
                  <a:lnTo>
                    <a:pt x="0" y="0"/>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6" name="Freeform 285"/>
            <p:cNvSpPr>
              <a:spLocks/>
            </p:cNvSpPr>
            <p:nvPr/>
          </p:nvSpPr>
          <p:spPr bwMode="auto">
            <a:xfrm>
              <a:off x="4372" y="574"/>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409D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7" name="Freeform 286"/>
            <p:cNvSpPr>
              <a:spLocks/>
            </p:cNvSpPr>
            <p:nvPr/>
          </p:nvSpPr>
          <p:spPr bwMode="auto">
            <a:xfrm>
              <a:off x="4324" y="3375"/>
              <a:ext cx="377" cy="155"/>
            </a:xfrm>
            <a:custGeom>
              <a:avLst/>
              <a:gdLst>
                <a:gd name="T0" fmla="*/ 353 w 377"/>
                <a:gd name="T1" fmla="*/ 0 h 155"/>
                <a:gd name="T2" fmla="*/ 347 w 377"/>
                <a:gd name="T3" fmla="*/ 24 h 155"/>
                <a:gd name="T4" fmla="*/ 329 w 377"/>
                <a:gd name="T5" fmla="*/ 48 h 155"/>
                <a:gd name="T6" fmla="*/ 299 w 377"/>
                <a:gd name="T7" fmla="*/ 66 h 155"/>
                <a:gd name="T8" fmla="*/ 257 w 377"/>
                <a:gd name="T9" fmla="*/ 90 h 155"/>
                <a:gd name="T10" fmla="*/ 203 w 377"/>
                <a:gd name="T11" fmla="*/ 108 h 155"/>
                <a:gd name="T12" fmla="*/ 143 w 377"/>
                <a:gd name="T13" fmla="*/ 119 h 155"/>
                <a:gd name="T14" fmla="*/ 72 w 377"/>
                <a:gd name="T15" fmla="*/ 125 h 155"/>
                <a:gd name="T16" fmla="*/ 0 w 377"/>
                <a:gd name="T17" fmla="*/ 131 h 155"/>
                <a:gd name="T18" fmla="*/ 0 w 377"/>
                <a:gd name="T19" fmla="*/ 155 h 155"/>
                <a:gd name="T20" fmla="*/ 72 w 377"/>
                <a:gd name="T21" fmla="*/ 155 h 155"/>
                <a:gd name="T22" fmla="*/ 143 w 377"/>
                <a:gd name="T23" fmla="*/ 143 h 155"/>
                <a:gd name="T24" fmla="*/ 209 w 377"/>
                <a:gd name="T25" fmla="*/ 131 h 155"/>
                <a:gd name="T26" fmla="*/ 263 w 377"/>
                <a:gd name="T27" fmla="*/ 114 h 155"/>
                <a:gd name="T28" fmla="*/ 311 w 377"/>
                <a:gd name="T29" fmla="*/ 90 h 155"/>
                <a:gd name="T30" fmla="*/ 347 w 377"/>
                <a:gd name="T31" fmla="*/ 66 h 155"/>
                <a:gd name="T32" fmla="*/ 365 w 377"/>
                <a:gd name="T33" fmla="*/ 36 h 155"/>
                <a:gd name="T34" fmla="*/ 377 w 377"/>
                <a:gd name="T35" fmla="*/ 0 h 155"/>
                <a:gd name="T36" fmla="*/ 353 w 377"/>
                <a:gd name="T37" fmla="*/ 0 h 1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77" h="155">
                  <a:moveTo>
                    <a:pt x="353" y="0"/>
                  </a:moveTo>
                  <a:lnTo>
                    <a:pt x="347" y="24"/>
                  </a:lnTo>
                  <a:lnTo>
                    <a:pt x="329" y="48"/>
                  </a:lnTo>
                  <a:lnTo>
                    <a:pt x="299" y="66"/>
                  </a:lnTo>
                  <a:lnTo>
                    <a:pt x="257" y="90"/>
                  </a:lnTo>
                  <a:lnTo>
                    <a:pt x="203" y="108"/>
                  </a:lnTo>
                  <a:lnTo>
                    <a:pt x="143" y="119"/>
                  </a:lnTo>
                  <a:lnTo>
                    <a:pt x="72" y="125"/>
                  </a:lnTo>
                  <a:lnTo>
                    <a:pt x="0" y="131"/>
                  </a:lnTo>
                  <a:lnTo>
                    <a:pt x="0" y="155"/>
                  </a:lnTo>
                  <a:lnTo>
                    <a:pt x="72" y="155"/>
                  </a:lnTo>
                  <a:lnTo>
                    <a:pt x="143" y="143"/>
                  </a:lnTo>
                  <a:lnTo>
                    <a:pt x="209" y="131"/>
                  </a:lnTo>
                  <a:lnTo>
                    <a:pt x="263" y="114"/>
                  </a:lnTo>
                  <a:lnTo>
                    <a:pt x="311" y="90"/>
                  </a:lnTo>
                  <a:lnTo>
                    <a:pt x="347" y="66"/>
                  </a:lnTo>
                  <a:lnTo>
                    <a:pt x="365" y="36"/>
                  </a:lnTo>
                  <a:lnTo>
                    <a:pt x="377" y="0"/>
                  </a:lnTo>
                  <a:lnTo>
                    <a:pt x="353" y="0"/>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8" name="Freeform 287"/>
            <p:cNvSpPr>
              <a:spLocks noEditPoints="1"/>
            </p:cNvSpPr>
            <p:nvPr/>
          </p:nvSpPr>
          <p:spPr bwMode="auto">
            <a:xfrm>
              <a:off x="4180" y="3494"/>
              <a:ext cx="144" cy="36"/>
            </a:xfrm>
            <a:custGeom>
              <a:avLst/>
              <a:gdLst>
                <a:gd name="T0" fmla="*/ 144 w 144"/>
                <a:gd name="T1" fmla="*/ 12 h 36"/>
                <a:gd name="T2" fmla="*/ 72 w 144"/>
                <a:gd name="T3" fmla="*/ 6 h 36"/>
                <a:gd name="T4" fmla="*/ 6 w 144"/>
                <a:gd name="T5" fmla="*/ 0 h 36"/>
                <a:gd name="T6" fmla="*/ 0 w 144"/>
                <a:gd name="T7" fmla="*/ 24 h 36"/>
                <a:gd name="T8" fmla="*/ 72 w 144"/>
                <a:gd name="T9" fmla="*/ 30 h 36"/>
                <a:gd name="T10" fmla="*/ 144 w 144"/>
                <a:gd name="T11" fmla="*/ 36 h 36"/>
                <a:gd name="T12" fmla="*/ 144 w 144"/>
                <a:gd name="T13" fmla="*/ 12 h 36"/>
                <a:gd name="T14" fmla="*/ 144 w 144"/>
                <a:gd name="T15" fmla="*/ 36 h 36"/>
                <a:gd name="T16" fmla="*/ 144 w 144"/>
                <a:gd name="T17" fmla="*/ 36 h 36"/>
                <a:gd name="T18" fmla="*/ 144 w 144"/>
                <a:gd name="T19" fmla="*/ 24 h 36"/>
                <a:gd name="T20" fmla="*/ 144 w 144"/>
                <a:gd name="T21" fmla="*/ 36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4" h="36">
                  <a:moveTo>
                    <a:pt x="144" y="12"/>
                  </a:moveTo>
                  <a:lnTo>
                    <a:pt x="72" y="6"/>
                  </a:lnTo>
                  <a:lnTo>
                    <a:pt x="6" y="0"/>
                  </a:lnTo>
                  <a:lnTo>
                    <a:pt x="0" y="24"/>
                  </a:lnTo>
                  <a:lnTo>
                    <a:pt x="72" y="30"/>
                  </a:lnTo>
                  <a:lnTo>
                    <a:pt x="144" y="36"/>
                  </a:lnTo>
                  <a:lnTo>
                    <a:pt x="144" y="12"/>
                  </a:lnTo>
                  <a:close/>
                  <a:moveTo>
                    <a:pt x="144" y="36"/>
                  </a:moveTo>
                  <a:lnTo>
                    <a:pt x="144" y="36"/>
                  </a:lnTo>
                  <a:lnTo>
                    <a:pt x="144" y="24"/>
                  </a:lnTo>
                  <a:lnTo>
                    <a:pt x="144" y="36"/>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9" name="Freeform 288"/>
            <p:cNvSpPr>
              <a:spLocks/>
            </p:cNvSpPr>
            <p:nvPr/>
          </p:nvSpPr>
          <p:spPr bwMode="auto">
            <a:xfrm>
              <a:off x="4324" y="1984"/>
              <a:ext cx="544" cy="274"/>
            </a:xfrm>
            <a:custGeom>
              <a:avLst/>
              <a:gdLst>
                <a:gd name="T0" fmla="*/ 520 w 544"/>
                <a:gd name="T1" fmla="*/ 0 h 274"/>
                <a:gd name="T2" fmla="*/ 514 w 544"/>
                <a:gd name="T3" fmla="*/ 47 h 274"/>
                <a:gd name="T4" fmla="*/ 484 w 544"/>
                <a:gd name="T5" fmla="*/ 95 h 274"/>
                <a:gd name="T6" fmla="*/ 436 w 544"/>
                <a:gd name="T7" fmla="*/ 137 h 274"/>
                <a:gd name="T8" fmla="*/ 371 w 544"/>
                <a:gd name="T9" fmla="*/ 173 h 274"/>
                <a:gd name="T10" fmla="*/ 293 w 544"/>
                <a:gd name="T11" fmla="*/ 209 h 274"/>
                <a:gd name="T12" fmla="*/ 203 w 544"/>
                <a:gd name="T13" fmla="*/ 233 h 274"/>
                <a:gd name="T14" fmla="*/ 108 w 544"/>
                <a:gd name="T15" fmla="*/ 245 h 274"/>
                <a:gd name="T16" fmla="*/ 0 w 544"/>
                <a:gd name="T17" fmla="*/ 250 h 274"/>
                <a:gd name="T18" fmla="*/ 0 w 544"/>
                <a:gd name="T19" fmla="*/ 274 h 274"/>
                <a:gd name="T20" fmla="*/ 108 w 544"/>
                <a:gd name="T21" fmla="*/ 268 h 274"/>
                <a:gd name="T22" fmla="*/ 209 w 544"/>
                <a:gd name="T23" fmla="*/ 256 h 274"/>
                <a:gd name="T24" fmla="*/ 305 w 544"/>
                <a:gd name="T25" fmla="*/ 233 h 274"/>
                <a:gd name="T26" fmla="*/ 383 w 544"/>
                <a:gd name="T27" fmla="*/ 197 h 274"/>
                <a:gd name="T28" fmla="*/ 448 w 544"/>
                <a:gd name="T29" fmla="*/ 155 h 274"/>
                <a:gd name="T30" fmla="*/ 496 w 544"/>
                <a:gd name="T31" fmla="*/ 113 h 274"/>
                <a:gd name="T32" fmla="*/ 532 w 544"/>
                <a:gd name="T33" fmla="*/ 59 h 274"/>
                <a:gd name="T34" fmla="*/ 544 w 544"/>
                <a:gd name="T35" fmla="*/ 0 h 274"/>
                <a:gd name="T36" fmla="*/ 520 w 544"/>
                <a:gd name="T37" fmla="*/ 0 h 27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44" h="274">
                  <a:moveTo>
                    <a:pt x="520" y="0"/>
                  </a:moveTo>
                  <a:lnTo>
                    <a:pt x="514" y="47"/>
                  </a:lnTo>
                  <a:lnTo>
                    <a:pt x="484" y="95"/>
                  </a:lnTo>
                  <a:lnTo>
                    <a:pt x="436" y="137"/>
                  </a:lnTo>
                  <a:lnTo>
                    <a:pt x="371" y="173"/>
                  </a:lnTo>
                  <a:lnTo>
                    <a:pt x="293" y="209"/>
                  </a:lnTo>
                  <a:lnTo>
                    <a:pt x="203" y="233"/>
                  </a:lnTo>
                  <a:lnTo>
                    <a:pt x="108" y="245"/>
                  </a:lnTo>
                  <a:lnTo>
                    <a:pt x="0" y="250"/>
                  </a:lnTo>
                  <a:lnTo>
                    <a:pt x="0" y="274"/>
                  </a:lnTo>
                  <a:lnTo>
                    <a:pt x="108" y="268"/>
                  </a:lnTo>
                  <a:lnTo>
                    <a:pt x="209" y="256"/>
                  </a:lnTo>
                  <a:lnTo>
                    <a:pt x="305" y="233"/>
                  </a:lnTo>
                  <a:lnTo>
                    <a:pt x="383" y="197"/>
                  </a:lnTo>
                  <a:lnTo>
                    <a:pt x="448" y="155"/>
                  </a:lnTo>
                  <a:lnTo>
                    <a:pt x="496" y="113"/>
                  </a:lnTo>
                  <a:lnTo>
                    <a:pt x="532" y="59"/>
                  </a:lnTo>
                  <a:lnTo>
                    <a:pt x="544" y="0"/>
                  </a:lnTo>
                  <a:lnTo>
                    <a:pt x="520" y="0"/>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0" name="Freeform 289"/>
            <p:cNvSpPr>
              <a:spLocks noEditPoints="1"/>
            </p:cNvSpPr>
            <p:nvPr/>
          </p:nvSpPr>
          <p:spPr bwMode="auto">
            <a:xfrm>
              <a:off x="4013" y="2187"/>
              <a:ext cx="311" cy="71"/>
            </a:xfrm>
            <a:custGeom>
              <a:avLst/>
              <a:gdLst>
                <a:gd name="T0" fmla="*/ 311 w 311"/>
                <a:gd name="T1" fmla="*/ 47 h 71"/>
                <a:gd name="T2" fmla="*/ 233 w 311"/>
                <a:gd name="T3" fmla="*/ 42 h 71"/>
                <a:gd name="T4" fmla="*/ 155 w 311"/>
                <a:gd name="T5" fmla="*/ 36 h 71"/>
                <a:gd name="T6" fmla="*/ 78 w 311"/>
                <a:gd name="T7" fmla="*/ 18 h 71"/>
                <a:gd name="T8" fmla="*/ 12 w 311"/>
                <a:gd name="T9" fmla="*/ 0 h 71"/>
                <a:gd name="T10" fmla="*/ 0 w 311"/>
                <a:gd name="T11" fmla="*/ 24 h 71"/>
                <a:gd name="T12" fmla="*/ 72 w 311"/>
                <a:gd name="T13" fmla="*/ 42 h 71"/>
                <a:gd name="T14" fmla="*/ 149 w 311"/>
                <a:gd name="T15" fmla="*/ 59 h 71"/>
                <a:gd name="T16" fmla="*/ 227 w 311"/>
                <a:gd name="T17" fmla="*/ 65 h 71"/>
                <a:gd name="T18" fmla="*/ 311 w 311"/>
                <a:gd name="T19" fmla="*/ 71 h 71"/>
                <a:gd name="T20" fmla="*/ 311 w 311"/>
                <a:gd name="T21" fmla="*/ 47 h 71"/>
                <a:gd name="T22" fmla="*/ 311 w 311"/>
                <a:gd name="T23" fmla="*/ 71 h 71"/>
                <a:gd name="T24" fmla="*/ 311 w 311"/>
                <a:gd name="T25" fmla="*/ 71 h 71"/>
                <a:gd name="T26" fmla="*/ 311 w 311"/>
                <a:gd name="T27" fmla="*/ 59 h 71"/>
                <a:gd name="T28" fmla="*/ 311 w 311"/>
                <a:gd name="T29" fmla="*/ 71 h 7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11" h="71">
                  <a:moveTo>
                    <a:pt x="311" y="47"/>
                  </a:moveTo>
                  <a:lnTo>
                    <a:pt x="233" y="42"/>
                  </a:lnTo>
                  <a:lnTo>
                    <a:pt x="155" y="36"/>
                  </a:lnTo>
                  <a:lnTo>
                    <a:pt x="78" y="18"/>
                  </a:lnTo>
                  <a:lnTo>
                    <a:pt x="12" y="0"/>
                  </a:lnTo>
                  <a:lnTo>
                    <a:pt x="0" y="24"/>
                  </a:lnTo>
                  <a:lnTo>
                    <a:pt x="72" y="42"/>
                  </a:lnTo>
                  <a:lnTo>
                    <a:pt x="149" y="59"/>
                  </a:lnTo>
                  <a:lnTo>
                    <a:pt x="227" y="65"/>
                  </a:lnTo>
                  <a:lnTo>
                    <a:pt x="311" y="71"/>
                  </a:lnTo>
                  <a:lnTo>
                    <a:pt x="311" y="47"/>
                  </a:lnTo>
                  <a:close/>
                  <a:moveTo>
                    <a:pt x="311" y="71"/>
                  </a:moveTo>
                  <a:lnTo>
                    <a:pt x="311" y="71"/>
                  </a:lnTo>
                  <a:lnTo>
                    <a:pt x="311" y="59"/>
                  </a:lnTo>
                  <a:lnTo>
                    <a:pt x="311" y="71"/>
                  </a:lnTo>
                  <a:close/>
                </a:path>
              </a:pathLst>
            </a:custGeom>
            <a:solidFill>
              <a:srgbClr val="34AA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1" name="Freeform 290"/>
            <p:cNvSpPr>
              <a:spLocks/>
            </p:cNvSpPr>
            <p:nvPr/>
          </p:nvSpPr>
          <p:spPr bwMode="auto">
            <a:xfrm>
              <a:off x="4150" y="3489"/>
              <a:ext cx="42" cy="41"/>
            </a:xfrm>
            <a:custGeom>
              <a:avLst/>
              <a:gdLst>
                <a:gd name="T0" fmla="*/ 0 w 42"/>
                <a:gd name="T1" fmla="*/ 17 h 41"/>
                <a:gd name="T2" fmla="*/ 6 w 42"/>
                <a:gd name="T3" fmla="*/ 5 h 41"/>
                <a:gd name="T4" fmla="*/ 24 w 42"/>
                <a:gd name="T5" fmla="*/ 0 h 41"/>
                <a:gd name="T6" fmla="*/ 36 w 42"/>
                <a:gd name="T7" fmla="*/ 5 h 41"/>
                <a:gd name="T8" fmla="*/ 42 w 42"/>
                <a:gd name="T9" fmla="*/ 17 h 41"/>
                <a:gd name="T10" fmla="*/ 36 w 42"/>
                <a:gd name="T11" fmla="*/ 35 h 41"/>
                <a:gd name="T12" fmla="*/ 24 w 42"/>
                <a:gd name="T13" fmla="*/ 41 h 41"/>
                <a:gd name="T14" fmla="*/ 6 w 42"/>
                <a:gd name="T15" fmla="*/ 35 h 41"/>
                <a:gd name="T16" fmla="*/ 0 w 42"/>
                <a:gd name="T17" fmla="*/ 17 h 41"/>
                <a:gd name="T18" fmla="*/ 0 w 42"/>
                <a:gd name="T19" fmla="*/ 17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41">
                  <a:moveTo>
                    <a:pt x="0" y="17"/>
                  </a:moveTo>
                  <a:lnTo>
                    <a:pt x="6" y="5"/>
                  </a:lnTo>
                  <a:lnTo>
                    <a:pt x="24" y="0"/>
                  </a:lnTo>
                  <a:lnTo>
                    <a:pt x="36" y="5"/>
                  </a:lnTo>
                  <a:lnTo>
                    <a:pt x="42" y="17"/>
                  </a:lnTo>
                  <a:lnTo>
                    <a:pt x="36" y="35"/>
                  </a:lnTo>
                  <a:lnTo>
                    <a:pt x="24" y="41"/>
                  </a:lnTo>
                  <a:lnTo>
                    <a:pt x="6" y="35"/>
                  </a:lnTo>
                  <a:lnTo>
                    <a:pt x="0"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2" name="Freeform 291"/>
            <p:cNvSpPr>
              <a:spLocks/>
            </p:cNvSpPr>
            <p:nvPr/>
          </p:nvSpPr>
          <p:spPr bwMode="auto">
            <a:xfrm>
              <a:off x="4150" y="3489"/>
              <a:ext cx="24" cy="17"/>
            </a:xfrm>
            <a:custGeom>
              <a:avLst/>
              <a:gdLst>
                <a:gd name="T0" fmla="*/ 0 w 24"/>
                <a:gd name="T1" fmla="*/ 17 h 17"/>
                <a:gd name="T2" fmla="*/ 6 w 24"/>
                <a:gd name="T3" fmla="*/ 5 h 17"/>
                <a:gd name="T4" fmla="*/ 24 w 24"/>
                <a:gd name="T5" fmla="*/ 0 h 17"/>
                <a:gd name="T6" fmla="*/ 24 w 24"/>
                <a:gd name="T7" fmla="*/ 0 h 17"/>
                <a:gd name="T8" fmla="*/ 6 w 24"/>
                <a:gd name="T9" fmla="*/ 5 h 17"/>
                <a:gd name="T10" fmla="*/ 0 w 24"/>
                <a:gd name="T11" fmla="*/ 17 h 17"/>
                <a:gd name="T12" fmla="*/ 0 w 24"/>
                <a:gd name="T13" fmla="*/ 17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 h="17">
                  <a:moveTo>
                    <a:pt x="0" y="17"/>
                  </a:moveTo>
                  <a:lnTo>
                    <a:pt x="6" y="5"/>
                  </a:lnTo>
                  <a:lnTo>
                    <a:pt x="24" y="0"/>
                  </a:lnTo>
                  <a:lnTo>
                    <a:pt x="6" y="5"/>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3" name="Freeform 292"/>
            <p:cNvSpPr>
              <a:spLocks noEditPoints="1"/>
            </p:cNvSpPr>
            <p:nvPr/>
          </p:nvSpPr>
          <p:spPr bwMode="auto">
            <a:xfrm>
              <a:off x="4174" y="3489"/>
              <a:ext cx="18" cy="17"/>
            </a:xfrm>
            <a:custGeom>
              <a:avLst/>
              <a:gdLst>
                <a:gd name="T0" fmla="*/ 0 w 18"/>
                <a:gd name="T1" fmla="*/ 0 h 17"/>
                <a:gd name="T2" fmla="*/ 12 w 18"/>
                <a:gd name="T3" fmla="*/ 5 h 17"/>
                <a:gd name="T4" fmla="*/ 18 w 18"/>
                <a:gd name="T5" fmla="*/ 17 h 17"/>
                <a:gd name="T6" fmla="*/ 18 w 18"/>
                <a:gd name="T7" fmla="*/ 17 h 17"/>
                <a:gd name="T8" fmla="*/ 12 w 18"/>
                <a:gd name="T9" fmla="*/ 5 h 17"/>
                <a:gd name="T10" fmla="*/ 0 w 18"/>
                <a:gd name="T11" fmla="*/ 0 h 17"/>
                <a:gd name="T12" fmla="*/ 0 w 18"/>
                <a:gd name="T13" fmla="*/ 0 h 17"/>
                <a:gd name="T14" fmla="*/ 0 w 18"/>
                <a:gd name="T15" fmla="*/ 0 h 17"/>
                <a:gd name="T16" fmla="*/ 0 w 18"/>
                <a:gd name="T17" fmla="*/ 0 h 17"/>
                <a:gd name="T18" fmla="*/ 0 w 18"/>
                <a:gd name="T19" fmla="*/ 0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 h="17">
                  <a:moveTo>
                    <a:pt x="0" y="0"/>
                  </a:moveTo>
                  <a:lnTo>
                    <a:pt x="12" y="5"/>
                  </a:lnTo>
                  <a:lnTo>
                    <a:pt x="18" y="17"/>
                  </a:lnTo>
                  <a:lnTo>
                    <a:pt x="12" y="5"/>
                  </a:lnTo>
                  <a:lnTo>
                    <a:pt x="0" y="0"/>
                  </a:lnTo>
                  <a:close/>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4" name="Freeform 293"/>
            <p:cNvSpPr>
              <a:spLocks noEditPoints="1"/>
            </p:cNvSpPr>
            <p:nvPr/>
          </p:nvSpPr>
          <p:spPr bwMode="auto">
            <a:xfrm>
              <a:off x="4174" y="3506"/>
              <a:ext cx="18" cy="24"/>
            </a:xfrm>
            <a:custGeom>
              <a:avLst/>
              <a:gdLst>
                <a:gd name="T0" fmla="*/ 18 w 18"/>
                <a:gd name="T1" fmla="*/ 0 h 24"/>
                <a:gd name="T2" fmla="*/ 12 w 18"/>
                <a:gd name="T3" fmla="*/ 18 h 24"/>
                <a:gd name="T4" fmla="*/ 0 w 18"/>
                <a:gd name="T5" fmla="*/ 24 h 24"/>
                <a:gd name="T6" fmla="*/ 0 w 18"/>
                <a:gd name="T7" fmla="*/ 24 h 24"/>
                <a:gd name="T8" fmla="*/ 12 w 18"/>
                <a:gd name="T9" fmla="*/ 18 h 24"/>
                <a:gd name="T10" fmla="*/ 18 w 18"/>
                <a:gd name="T11" fmla="*/ 0 h 24"/>
                <a:gd name="T12" fmla="*/ 18 w 18"/>
                <a:gd name="T13" fmla="*/ 0 h 24"/>
                <a:gd name="T14" fmla="*/ 18 w 18"/>
                <a:gd name="T15" fmla="*/ 0 h 24"/>
                <a:gd name="T16" fmla="*/ 18 w 18"/>
                <a:gd name="T17" fmla="*/ 0 h 24"/>
                <a:gd name="T18" fmla="*/ 18 w 18"/>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 h="24">
                  <a:moveTo>
                    <a:pt x="18" y="0"/>
                  </a:moveTo>
                  <a:lnTo>
                    <a:pt x="12" y="18"/>
                  </a:lnTo>
                  <a:lnTo>
                    <a:pt x="0" y="24"/>
                  </a:lnTo>
                  <a:lnTo>
                    <a:pt x="12" y="18"/>
                  </a:lnTo>
                  <a:lnTo>
                    <a:pt x="18" y="0"/>
                  </a:lnTo>
                  <a:close/>
                  <a:moveTo>
                    <a:pt x="18" y="0"/>
                  </a:move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5" name="Freeform 294"/>
            <p:cNvSpPr>
              <a:spLocks noEditPoints="1"/>
            </p:cNvSpPr>
            <p:nvPr/>
          </p:nvSpPr>
          <p:spPr bwMode="auto">
            <a:xfrm>
              <a:off x="4150" y="3506"/>
              <a:ext cx="24" cy="24"/>
            </a:xfrm>
            <a:custGeom>
              <a:avLst/>
              <a:gdLst>
                <a:gd name="T0" fmla="*/ 24 w 24"/>
                <a:gd name="T1" fmla="*/ 24 h 24"/>
                <a:gd name="T2" fmla="*/ 6 w 24"/>
                <a:gd name="T3" fmla="*/ 18 h 24"/>
                <a:gd name="T4" fmla="*/ 0 w 24"/>
                <a:gd name="T5" fmla="*/ 0 h 24"/>
                <a:gd name="T6" fmla="*/ 0 w 24"/>
                <a:gd name="T7" fmla="*/ 0 h 24"/>
                <a:gd name="T8" fmla="*/ 6 w 24"/>
                <a:gd name="T9" fmla="*/ 18 h 24"/>
                <a:gd name="T10" fmla="*/ 24 w 24"/>
                <a:gd name="T11" fmla="*/ 24 h 24"/>
                <a:gd name="T12" fmla="*/ 24 w 24"/>
                <a:gd name="T13" fmla="*/ 24 h 24"/>
                <a:gd name="T14" fmla="*/ 24 w 24"/>
                <a:gd name="T15" fmla="*/ 24 h 24"/>
                <a:gd name="T16" fmla="*/ 24 w 24"/>
                <a:gd name="T17" fmla="*/ 24 h 24"/>
                <a:gd name="T18" fmla="*/ 24 w 24"/>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24">
                  <a:moveTo>
                    <a:pt x="24" y="24"/>
                  </a:moveTo>
                  <a:lnTo>
                    <a:pt x="6" y="18"/>
                  </a:lnTo>
                  <a:lnTo>
                    <a:pt x="0" y="0"/>
                  </a:lnTo>
                  <a:lnTo>
                    <a:pt x="6" y="18"/>
                  </a:lnTo>
                  <a:lnTo>
                    <a:pt x="24" y="24"/>
                  </a:lnTo>
                  <a:close/>
                  <a:moveTo>
                    <a:pt x="24" y="24"/>
                  </a:moveTo>
                  <a:lnTo>
                    <a:pt x="24"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6" name="Freeform 295"/>
            <p:cNvSpPr>
              <a:spLocks/>
            </p:cNvSpPr>
            <p:nvPr/>
          </p:nvSpPr>
          <p:spPr bwMode="auto">
            <a:xfrm>
              <a:off x="4150" y="3506"/>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7" name="Freeform 296"/>
            <p:cNvSpPr>
              <a:spLocks/>
            </p:cNvSpPr>
            <p:nvPr/>
          </p:nvSpPr>
          <p:spPr bwMode="auto">
            <a:xfrm>
              <a:off x="4832" y="1966"/>
              <a:ext cx="42" cy="42"/>
            </a:xfrm>
            <a:custGeom>
              <a:avLst/>
              <a:gdLst>
                <a:gd name="T0" fmla="*/ 0 w 42"/>
                <a:gd name="T1" fmla="*/ 18 h 42"/>
                <a:gd name="T2" fmla="*/ 6 w 42"/>
                <a:gd name="T3" fmla="*/ 6 h 42"/>
                <a:gd name="T4" fmla="*/ 24 w 42"/>
                <a:gd name="T5" fmla="*/ 0 h 42"/>
                <a:gd name="T6" fmla="*/ 36 w 42"/>
                <a:gd name="T7" fmla="*/ 6 h 42"/>
                <a:gd name="T8" fmla="*/ 42 w 42"/>
                <a:gd name="T9" fmla="*/ 18 h 42"/>
                <a:gd name="T10" fmla="*/ 36 w 42"/>
                <a:gd name="T11" fmla="*/ 36 h 42"/>
                <a:gd name="T12" fmla="*/ 24 w 42"/>
                <a:gd name="T13" fmla="*/ 42 h 42"/>
                <a:gd name="T14" fmla="*/ 6 w 42"/>
                <a:gd name="T15" fmla="*/ 36 h 42"/>
                <a:gd name="T16" fmla="*/ 0 w 42"/>
                <a:gd name="T17" fmla="*/ 18 h 42"/>
                <a:gd name="T18" fmla="*/ 0 w 42"/>
                <a:gd name="T19" fmla="*/ 18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42">
                  <a:moveTo>
                    <a:pt x="0" y="18"/>
                  </a:moveTo>
                  <a:lnTo>
                    <a:pt x="6" y="6"/>
                  </a:lnTo>
                  <a:lnTo>
                    <a:pt x="24" y="0"/>
                  </a:lnTo>
                  <a:lnTo>
                    <a:pt x="36" y="6"/>
                  </a:lnTo>
                  <a:lnTo>
                    <a:pt x="42" y="18"/>
                  </a:lnTo>
                  <a:lnTo>
                    <a:pt x="36" y="36"/>
                  </a:lnTo>
                  <a:lnTo>
                    <a:pt x="24" y="42"/>
                  </a:lnTo>
                  <a:lnTo>
                    <a:pt x="6" y="36"/>
                  </a:lnTo>
                  <a:lnTo>
                    <a:pt x="0" y="1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8" name="Freeform 297"/>
            <p:cNvSpPr>
              <a:spLocks/>
            </p:cNvSpPr>
            <p:nvPr/>
          </p:nvSpPr>
          <p:spPr bwMode="auto">
            <a:xfrm>
              <a:off x="4832" y="1966"/>
              <a:ext cx="24" cy="18"/>
            </a:xfrm>
            <a:custGeom>
              <a:avLst/>
              <a:gdLst>
                <a:gd name="T0" fmla="*/ 0 w 24"/>
                <a:gd name="T1" fmla="*/ 18 h 18"/>
                <a:gd name="T2" fmla="*/ 6 w 24"/>
                <a:gd name="T3" fmla="*/ 6 h 18"/>
                <a:gd name="T4" fmla="*/ 24 w 24"/>
                <a:gd name="T5" fmla="*/ 0 h 18"/>
                <a:gd name="T6" fmla="*/ 24 w 24"/>
                <a:gd name="T7" fmla="*/ 0 h 18"/>
                <a:gd name="T8" fmla="*/ 6 w 24"/>
                <a:gd name="T9" fmla="*/ 6 h 18"/>
                <a:gd name="T10" fmla="*/ 0 w 24"/>
                <a:gd name="T11" fmla="*/ 18 h 18"/>
                <a:gd name="T12" fmla="*/ 0 w 24"/>
                <a:gd name="T13" fmla="*/ 18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 h="18">
                  <a:moveTo>
                    <a:pt x="0" y="18"/>
                  </a:moveTo>
                  <a:lnTo>
                    <a:pt x="6" y="6"/>
                  </a:lnTo>
                  <a:lnTo>
                    <a:pt x="24" y="0"/>
                  </a:lnTo>
                  <a:lnTo>
                    <a:pt x="6" y="6"/>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9" name="Freeform 298"/>
            <p:cNvSpPr>
              <a:spLocks noEditPoints="1"/>
            </p:cNvSpPr>
            <p:nvPr/>
          </p:nvSpPr>
          <p:spPr bwMode="auto">
            <a:xfrm>
              <a:off x="4856" y="1966"/>
              <a:ext cx="18" cy="18"/>
            </a:xfrm>
            <a:custGeom>
              <a:avLst/>
              <a:gdLst>
                <a:gd name="T0" fmla="*/ 0 w 18"/>
                <a:gd name="T1" fmla="*/ 0 h 18"/>
                <a:gd name="T2" fmla="*/ 12 w 18"/>
                <a:gd name="T3" fmla="*/ 6 h 18"/>
                <a:gd name="T4" fmla="*/ 18 w 18"/>
                <a:gd name="T5" fmla="*/ 18 h 18"/>
                <a:gd name="T6" fmla="*/ 18 w 18"/>
                <a:gd name="T7" fmla="*/ 18 h 18"/>
                <a:gd name="T8" fmla="*/ 12 w 18"/>
                <a:gd name="T9" fmla="*/ 6 h 18"/>
                <a:gd name="T10" fmla="*/ 0 w 18"/>
                <a:gd name="T11" fmla="*/ 0 h 18"/>
                <a:gd name="T12" fmla="*/ 0 w 18"/>
                <a:gd name="T13" fmla="*/ 0 h 18"/>
                <a:gd name="T14" fmla="*/ 0 w 18"/>
                <a:gd name="T15" fmla="*/ 0 h 18"/>
                <a:gd name="T16" fmla="*/ 0 w 18"/>
                <a:gd name="T17" fmla="*/ 0 h 18"/>
                <a:gd name="T18" fmla="*/ 0 w 18"/>
                <a:gd name="T19" fmla="*/ 0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 h="18">
                  <a:moveTo>
                    <a:pt x="0" y="0"/>
                  </a:moveTo>
                  <a:lnTo>
                    <a:pt x="12" y="6"/>
                  </a:lnTo>
                  <a:lnTo>
                    <a:pt x="18" y="18"/>
                  </a:lnTo>
                  <a:lnTo>
                    <a:pt x="12" y="6"/>
                  </a:lnTo>
                  <a:lnTo>
                    <a:pt x="0" y="0"/>
                  </a:lnTo>
                  <a:close/>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0" name="Freeform 299"/>
            <p:cNvSpPr>
              <a:spLocks noEditPoints="1"/>
            </p:cNvSpPr>
            <p:nvPr/>
          </p:nvSpPr>
          <p:spPr bwMode="auto">
            <a:xfrm>
              <a:off x="4856" y="1984"/>
              <a:ext cx="18" cy="24"/>
            </a:xfrm>
            <a:custGeom>
              <a:avLst/>
              <a:gdLst>
                <a:gd name="T0" fmla="*/ 18 w 18"/>
                <a:gd name="T1" fmla="*/ 0 h 24"/>
                <a:gd name="T2" fmla="*/ 12 w 18"/>
                <a:gd name="T3" fmla="*/ 18 h 24"/>
                <a:gd name="T4" fmla="*/ 0 w 18"/>
                <a:gd name="T5" fmla="*/ 24 h 24"/>
                <a:gd name="T6" fmla="*/ 0 w 18"/>
                <a:gd name="T7" fmla="*/ 24 h 24"/>
                <a:gd name="T8" fmla="*/ 12 w 18"/>
                <a:gd name="T9" fmla="*/ 18 h 24"/>
                <a:gd name="T10" fmla="*/ 18 w 18"/>
                <a:gd name="T11" fmla="*/ 0 h 24"/>
                <a:gd name="T12" fmla="*/ 18 w 18"/>
                <a:gd name="T13" fmla="*/ 0 h 24"/>
                <a:gd name="T14" fmla="*/ 18 w 18"/>
                <a:gd name="T15" fmla="*/ 0 h 24"/>
                <a:gd name="T16" fmla="*/ 18 w 18"/>
                <a:gd name="T17" fmla="*/ 0 h 24"/>
                <a:gd name="T18" fmla="*/ 18 w 18"/>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 h="24">
                  <a:moveTo>
                    <a:pt x="18" y="0"/>
                  </a:moveTo>
                  <a:lnTo>
                    <a:pt x="12" y="18"/>
                  </a:lnTo>
                  <a:lnTo>
                    <a:pt x="0" y="24"/>
                  </a:lnTo>
                  <a:lnTo>
                    <a:pt x="12" y="18"/>
                  </a:lnTo>
                  <a:lnTo>
                    <a:pt x="18" y="0"/>
                  </a:lnTo>
                  <a:close/>
                  <a:moveTo>
                    <a:pt x="18" y="0"/>
                  </a:move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1" name="Freeform 300"/>
            <p:cNvSpPr>
              <a:spLocks noEditPoints="1"/>
            </p:cNvSpPr>
            <p:nvPr/>
          </p:nvSpPr>
          <p:spPr bwMode="auto">
            <a:xfrm>
              <a:off x="4832" y="1984"/>
              <a:ext cx="24" cy="24"/>
            </a:xfrm>
            <a:custGeom>
              <a:avLst/>
              <a:gdLst>
                <a:gd name="T0" fmla="*/ 24 w 24"/>
                <a:gd name="T1" fmla="*/ 24 h 24"/>
                <a:gd name="T2" fmla="*/ 6 w 24"/>
                <a:gd name="T3" fmla="*/ 18 h 24"/>
                <a:gd name="T4" fmla="*/ 0 w 24"/>
                <a:gd name="T5" fmla="*/ 0 h 24"/>
                <a:gd name="T6" fmla="*/ 0 w 24"/>
                <a:gd name="T7" fmla="*/ 0 h 24"/>
                <a:gd name="T8" fmla="*/ 6 w 24"/>
                <a:gd name="T9" fmla="*/ 18 h 24"/>
                <a:gd name="T10" fmla="*/ 24 w 24"/>
                <a:gd name="T11" fmla="*/ 24 h 24"/>
                <a:gd name="T12" fmla="*/ 24 w 24"/>
                <a:gd name="T13" fmla="*/ 24 h 24"/>
                <a:gd name="T14" fmla="*/ 24 w 24"/>
                <a:gd name="T15" fmla="*/ 24 h 24"/>
                <a:gd name="T16" fmla="*/ 24 w 24"/>
                <a:gd name="T17" fmla="*/ 24 h 24"/>
                <a:gd name="T18" fmla="*/ 24 w 24"/>
                <a:gd name="T19" fmla="*/ 24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24">
                  <a:moveTo>
                    <a:pt x="24" y="24"/>
                  </a:moveTo>
                  <a:lnTo>
                    <a:pt x="6" y="18"/>
                  </a:lnTo>
                  <a:lnTo>
                    <a:pt x="0" y="0"/>
                  </a:lnTo>
                  <a:lnTo>
                    <a:pt x="6" y="18"/>
                  </a:lnTo>
                  <a:lnTo>
                    <a:pt x="24" y="24"/>
                  </a:lnTo>
                  <a:close/>
                  <a:moveTo>
                    <a:pt x="24" y="24"/>
                  </a:moveTo>
                  <a:lnTo>
                    <a:pt x="24"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 name="Freeform 301"/>
            <p:cNvSpPr>
              <a:spLocks/>
            </p:cNvSpPr>
            <p:nvPr/>
          </p:nvSpPr>
          <p:spPr bwMode="auto">
            <a:xfrm>
              <a:off x="4832" y="1984"/>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3" name="Freeform 302"/>
            <p:cNvSpPr>
              <a:spLocks/>
            </p:cNvSpPr>
            <p:nvPr/>
          </p:nvSpPr>
          <p:spPr bwMode="auto">
            <a:xfrm>
              <a:off x="3995" y="2181"/>
              <a:ext cx="42" cy="36"/>
            </a:xfrm>
            <a:custGeom>
              <a:avLst/>
              <a:gdLst>
                <a:gd name="T0" fmla="*/ 0 w 42"/>
                <a:gd name="T1" fmla="*/ 18 h 36"/>
                <a:gd name="T2" fmla="*/ 6 w 42"/>
                <a:gd name="T3" fmla="*/ 6 h 36"/>
                <a:gd name="T4" fmla="*/ 24 w 42"/>
                <a:gd name="T5" fmla="*/ 0 h 36"/>
                <a:gd name="T6" fmla="*/ 36 w 42"/>
                <a:gd name="T7" fmla="*/ 6 h 36"/>
                <a:gd name="T8" fmla="*/ 42 w 42"/>
                <a:gd name="T9" fmla="*/ 18 h 36"/>
                <a:gd name="T10" fmla="*/ 36 w 42"/>
                <a:gd name="T11" fmla="*/ 30 h 36"/>
                <a:gd name="T12" fmla="*/ 24 w 42"/>
                <a:gd name="T13" fmla="*/ 36 h 36"/>
                <a:gd name="T14" fmla="*/ 6 w 42"/>
                <a:gd name="T15" fmla="*/ 30 h 36"/>
                <a:gd name="T16" fmla="*/ 0 w 42"/>
                <a:gd name="T17" fmla="*/ 18 h 36"/>
                <a:gd name="T18" fmla="*/ 0 w 42"/>
                <a:gd name="T19" fmla="*/ 18 h 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36">
                  <a:moveTo>
                    <a:pt x="0" y="18"/>
                  </a:moveTo>
                  <a:lnTo>
                    <a:pt x="6" y="6"/>
                  </a:lnTo>
                  <a:lnTo>
                    <a:pt x="24" y="0"/>
                  </a:lnTo>
                  <a:lnTo>
                    <a:pt x="36" y="6"/>
                  </a:lnTo>
                  <a:lnTo>
                    <a:pt x="42" y="18"/>
                  </a:lnTo>
                  <a:lnTo>
                    <a:pt x="36" y="30"/>
                  </a:lnTo>
                  <a:lnTo>
                    <a:pt x="24" y="36"/>
                  </a:lnTo>
                  <a:lnTo>
                    <a:pt x="6" y="30"/>
                  </a:lnTo>
                  <a:lnTo>
                    <a:pt x="0" y="1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4" name="Freeform 303"/>
            <p:cNvSpPr>
              <a:spLocks/>
            </p:cNvSpPr>
            <p:nvPr/>
          </p:nvSpPr>
          <p:spPr bwMode="auto">
            <a:xfrm>
              <a:off x="3995" y="2181"/>
              <a:ext cx="24" cy="18"/>
            </a:xfrm>
            <a:custGeom>
              <a:avLst/>
              <a:gdLst>
                <a:gd name="T0" fmla="*/ 0 w 24"/>
                <a:gd name="T1" fmla="*/ 18 h 18"/>
                <a:gd name="T2" fmla="*/ 6 w 24"/>
                <a:gd name="T3" fmla="*/ 6 h 18"/>
                <a:gd name="T4" fmla="*/ 24 w 24"/>
                <a:gd name="T5" fmla="*/ 0 h 18"/>
                <a:gd name="T6" fmla="*/ 24 w 24"/>
                <a:gd name="T7" fmla="*/ 0 h 18"/>
                <a:gd name="T8" fmla="*/ 6 w 24"/>
                <a:gd name="T9" fmla="*/ 6 h 18"/>
                <a:gd name="T10" fmla="*/ 0 w 24"/>
                <a:gd name="T11" fmla="*/ 18 h 18"/>
                <a:gd name="T12" fmla="*/ 0 w 24"/>
                <a:gd name="T13" fmla="*/ 18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 h="18">
                  <a:moveTo>
                    <a:pt x="0" y="18"/>
                  </a:moveTo>
                  <a:lnTo>
                    <a:pt x="6" y="6"/>
                  </a:lnTo>
                  <a:lnTo>
                    <a:pt x="24" y="0"/>
                  </a:lnTo>
                  <a:lnTo>
                    <a:pt x="6" y="6"/>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5" name="Freeform 304"/>
            <p:cNvSpPr>
              <a:spLocks noEditPoints="1"/>
            </p:cNvSpPr>
            <p:nvPr/>
          </p:nvSpPr>
          <p:spPr bwMode="auto">
            <a:xfrm>
              <a:off x="4019" y="2181"/>
              <a:ext cx="18" cy="18"/>
            </a:xfrm>
            <a:custGeom>
              <a:avLst/>
              <a:gdLst>
                <a:gd name="T0" fmla="*/ 0 w 18"/>
                <a:gd name="T1" fmla="*/ 0 h 18"/>
                <a:gd name="T2" fmla="*/ 12 w 18"/>
                <a:gd name="T3" fmla="*/ 6 h 18"/>
                <a:gd name="T4" fmla="*/ 18 w 18"/>
                <a:gd name="T5" fmla="*/ 18 h 18"/>
                <a:gd name="T6" fmla="*/ 18 w 18"/>
                <a:gd name="T7" fmla="*/ 18 h 18"/>
                <a:gd name="T8" fmla="*/ 12 w 18"/>
                <a:gd name="T9" fmla="*/ 6 h 18"/>
                <a:gd name="T10" fmla="*/ 0 w 18"/>
                <a:gd name="T11" fmla="*/ 0 h 18"/>
                <a:gd name="T12" fmla="*/ 0 w 18"/>
                <a:gd name="T13" fmla="*/ 0 h 18"/>
                <a:gd name="T14" fmla="*/ 0 w 18"/>
                <a:gd name="T15" fmla="*/ 0 h 18"/>
                <a:gd name="T16" fmla="*/ 0 w 18"/>
                <a:gd name="T17" fmla="*/ 0 h 18"/>
                <a:gd name="T18" fmla="*/ 0 w 18"/>
                <a:gd name="T19" fmla="*/ 0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 h="18">
                  <a:moveTo>
                    <a:pt x="0" y="0"/>
                  </a:moveTo>
                  <a:lnTo>
                    <a:pt x="12" y="6"/>
                  </a:lnTo>
                  <a:lnTo>
                    <a:pt x="18" y="18"/>
                  </a:lnTo>
                  <a:lnTo>
                    <a:pt x="12" y="6"/>
                  </a:lnTo>
                  <a:lnTo>
                    <a:pt x="0" y="0"/>
                  </a:lnTo>
                  <a:close/>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6" name="Freeform 305"/>
            <p:cNvSpPr>
              <a:spLocks noEditPoints="1"/>
            </p:cNvSpPr>
            <p:nvPr/>
          </p:nvSpPr>
          <p:spPr bwMode="auto">
            <a:xfrm>
              <a:off x="4019" y="2199"/>
              <a:ext cx="18" cy="18"/>
            </a:xfrm>
            <a:custGeom>
              <a:avLst/>
              <a:gdLst>
                <a:gd name="T0" fmla="*/ 18 w 18"/>
                <a:gd name="T1" fmla="*/ 0 h 18"/>
                <a:gd name="T2" fmla="*/ 12 w 18"/>
                <a:gd name="T3" fmla="*/ 12 h 18"/>
                <a:gd name="T4" fmla="*/ 0 w 18"/>
                <a:gd name="T5" fmla="*/ 18 h 18"/>
                <a:gd name="T6" fmla="*/ 0 w 18"/>
                <a:gd name="T7" fmla="*/ 18 h 18"/>
                <a:gd name="T8" fmla="*/ 12 w 18"/>
                <a:gd name="T9" fmla="*/ 12 h 18"/>
                <a:gd name="T10" fmla="*/ 18 w 18"/>
                <a:gd name="T11" fmla="*/ 0 h 18"/>
                <a:gd name="T12" fmla="*/ 18 w 18"/>
                <a:gd name="T13" fmla="*/ 0 h 18"/>
                <a:gd name="T14" fmla="*/ 18 w 18"/>
                <a:gd name="T15" fmla="*/ 0 h 18"/>
                <a:gd name="T16" fmla="*/ 18 w 18"/>
                <a:gd name="T17" fmla="*/ 0 h 18"/>
                <a:gd name="T18" fmla="*/ 18 w 18"/>
                <a:gd name="T19" fmla="*/ 0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 h="18">
                  <a:moveTo>
                    <a:pt x="18" y="0"/>
                  </a:moveTo>
                  <a:lnTo>
                    <a:pt x="12" y="12"/>
                  </a:lnTo>
                  <a:lnTo>
                    <a:pt x="0" y="18"/>
                  </a:lnTo>
                  <a:lnTo>
                    <a:pt x="12" y="12"/>
                  </a:lnTo>
                  <a:lnTo>
                    <a:pt x="18" y="0"/>
                  </a:lnTo>
                  <a:close/>
                  <a:moveTo>
                    <a:pt x="18" y="0"/>
                  </a:move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7" name="Freeform 306"/>
            <p:cNvSpPr>
              <a:spLocks noEditPoints="1"/>
            </p:cNvSpPr>
            <p:nvPr/>
          </p:nvSpPr>
          <p:spPr bwMode="auto">
            <a:xfrm>
              <a:off x="3995" y="2199"/>
              <a:ext cx="24" cy="18"/>
            </a:xfrm>
            <a:custGeom>
              <a:avLst/>
              <a:gdLst>
                <a:gd name="T0" fmla="*/ 24 w 24"/>
                <a:gd name="T1" fmla="*/ 18 h 18"/>
                <a:gd name="T2" fmla="*/ 6 w 24"/>
                <a:gd name="T3" fmla="*/ 12 h 18"/>
                <a:gd name="T4" fmla="*/ 0 w 24"/>
                <a:gd name="T5" fmla="*/ 0 h 18"/>
                <a:gd name="T6" fmla="*/ 0 w 24"/>
                <a:gd name="T7" fmla="*/ 0 h 18"/>
                <a:gd name="T8" fmla="*/ 6 w 24"/>
                <a:gd name="T9" fmla="*/ 12 h 18"/>
                <a:gd name="T10" fmla="*/ 24 w 24"/>
                <a:gd name="T11" fmla="*/ 18 h 18"/>
                <a:gd name="T12" fmla="*/ 24 w 24"/>
                <a:gd name="T13" fmla="*/ 18 h 18"/>
                <a:gd name="T14" fmla="*/ 24 w 24"/>
                <a:gd name="T15" fmla="*/ 18 h 18"/>
                <a:gd name="T16" fmla="*/ 24 w 24"/>
                <a:gd name="T17" fmla="*/ 18 h 18"/>
                <a:gd name="T18" fmla="*/ 24 w 24"/>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8">
                  <a:moveTo>
                    <a:pt x="24" y="18"/>
                  </a:moveTo>
                  <a:lnTo>
                    <a:pt x="6" y="12"/>
                  </a:lnTo>
                  <a:lnTo>
                    <a:pt x="0" y="0"/>
                  </a:lnTo>
                  <a:lnTo>
                    <a:pt x="6" y="12"/>
                  </a:lnTo>
                  <a:lnTo>
                    <a:pt x="24" y="18"/>
                  </a:lnTo>
                  <a:close/>
                  <a:moveTo>
                    <a:pt x="24" y="18"/>
                  </a:moveTo>
                  <a:lnTo>
                    <a:pt x="24"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8" name="Freeform 307"/>
            <p:cNvSpPr>
              <a:spLocks/>
            </p:cNvSpPr>
            <p:nvPr/>
          </p:nvSpPr>
          <p:spPr bwMode="auto">
            <a:xfrm>
              <a:off x="3995" y="2199"/>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9" name="Freeform 308"/>
            <p:cNvSpPr>
              <a:spLocks/>
            </p:cNvSpPr>
            <p:nvPr/>
          </p:nvSpPr>
          <p:spPr bwMode="auto">
            <a:xfrm>
              <a:off x="4144" y="1990"/>
              <a:ext cx="42" cy="89"/>
            </a:xfrm>
            <a:custGeom>
              <a:avLst/>
              <a:gdLst>
                <a:gd name="T0" fmla="*/ 6 w 42"/>
                <a:gd name="T1" fmla="*/ 0 h 89"/>
                <a:gd name="T2" fmla="*/ 0 w 42"/>
                <a:gd name="T3" fmla="*/ 6 h 89"/>
                <a:gd name="T4" fmla="*/ 0 w 42"/>
                <a:gd name="T5" fmla="*/ 30 h 89"/>
                <a:gd name="T6" fmla="*/ 6 w 42"/>
                <a:gd name="T7" fmla="*/ 59 h 89"/>
                <a:gd name="T8" fmla="*/ 18 w 42"/>
                <a:gd name="T9" fmla="*/ 71 h 89"/>
                <a:gd name="T10" fmla="*/ 30 w 42"/>
                <a:gd name="T11" fmla="*/ 89 h 89"/>
                <a:gd name="T12" fmla="*/ 42 w 42"/>
                <a:gd name="T13" fmla="*/ 77 h 89"/>
                <a:gd name="T14" fmla="*/ 24 w 42"/>
                <a:gd name="T15" fmla="*/ 53 h 89"/>
                <a:gd name="T16" fmla="*/ 18 w 42"/>
                <a:gd name="T17" fmla="*/ 30 h 89"/>
                <a:gd name="T18" fmla="*/ 18 w 42"/>
                <a:gd name="T19" fmla="*/ 12 h 89"/>
                <a:gd name="T20" fmla="*/ 18 w 42"/>
                <a:gd name="T21" fmla="*/ 6 h 89"/>
                <a:gd name="T22" fmla="*/ 6 w 42"/>
                <a:gd name="T23" fmla="*/ 0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2" h="89">
                  <a:moveTo>
                    <a:pt x="6" y="0"/>
                  </a:moveTo>
                  <a:lnTo>
                    <a:pt x="0" y="6"/>
                  </a:lnTo>
                  <a:lnTo>
                    <a:pt x="0" y="30"/>
                  </a:lnTo>
                  <a:lnTo>
                    <a:pt x="6" y="59"/>
                  </a:lnTo>
                  <a:lnTo>
                    <a:pt x="18" y="71"/>
                  </a:lnTo>
                  <a:lnTo>
                    <a:pt x="30" y="89"/>
                  </a:lnTo>
                  <a:lnTo>
                    <a:pt x="42" y="77"/>
                  </a:lnTo>
                  <a:lnTo>
                    <a:pt x="24" y="53"/>
                  </a:lnTo>
                  <a:lnTo>
                    <a:pt x="18" y="30"/>
                  </a:lnTo>
                  <a:lnTo>
                    <a:pt x="18" y="12"/>
                  </a:lnTo>
                  <a:lnTo>
                    <a:pt x="18" y="6"/>
                  </a:lnTo>
                  <a:lnTo>
                    <a:pt x="6" y="0"/>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 name="Freeform 309"/>
            <p:cNvSpPr>
              <a:spLocks/>
            </p:cNvSpPr>
            <p:nvPr/>
          </p:nvSpPr>
          <p:spPr bwMode="auto">
            <a:xfrm>
              <a:off x="4665" y="3357"/>
              <a:ext cx="42" cy="36"/>
            </a:xfrm>
            <a:custGeom>
              <a:avLst/>
              <a:gdLst>
                <a:gd name="T0" fmla="*/ 0 w 42"/>
                <a:gd name="T1" fmla="*/ 18 h 36"/>
                <a:gd name="T2" fmla="*/ 6 w 42"/>
                <a:gd name="T3" fmla="*/ 6 h 36"/>
                <a:gd name="T4" fmla="*/ 24 w 42"/>
                <a:gd name="T5" fmla="*/ 0 h 36"/>
                <a:gd name="T6" fmla="*/ 36 w 42"/>
                <a:gd name="T7" fmla="*/ 6 h 36"/>
                <a:gd name="T8" fmla="*/ 42 w 42"/>
                <a:gd name="T9" fmla="*/ 18 h 36"/>
                <a:gd name="T10" fmla="*/ 36 w 42"/>
                <a:gd name="T11" fmla="*/ 30 h 36"/>
                <a:gd name="T12" fmla="*/ 24 w 42"/>
                <a:gd name="T13" fmla="*/ 36 h 36"/>
                <a:gd name="T14" fmla="*/ 6 w 42"/>
                <a:gd name="T15" fmla="*/ 30 h 36"/>
                <a:gd name="T16" fmla="*/ 0 w 42"/>
                <a:gd name="T17" fmla="*/ 18 h 36"/>
                <a:gd name="T18" fmla="*/ 0 w 42"/>
                <a:gd name="T19" fmla="*/ 18 h 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36">
                  <a:moveTo>
                    <a:pt x="0" y="18"/>
                  </a:moveTo>
                  <a:lnTo>
                    <a:pt x="6" y="6"/>
                  </a:lnTo>
                  <a:lnTo>
                    <a:pt x="24" y="0"/>
                  </a:lnTo>
                  <a:lnTo>
                    <a:pt x="36" y="6"/>
                  </a:lnTo>
                  <a:lnTo>
                    <a:pt x="42" y="18"/>
                  </a:lnTo>
                  <a:lnTo>
                    <a:pt x="36" y="30"/>
                  </a:lnTo>
                  <a:lnTo>
                    <a:pt x="24" y="36"/>
                  </a:lnTo>
                  <a:lnTo>
                    <a:pt x="6" y="30"/>
                  </a:lnTo>
                  <a:lnTo>
                    <a:pt x="0" y="1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1" name="Freeform 310"/>
            <p:cNvSpPr>
              <a:spLocks/>
            </p:cNvSpPr>
            <p:nvPr/>
          </p:nvSpPr>
          <p:spPr bwMode="auto">
            <a:xfrm>
              <a:off x="4665" y="3357"/>
              <a:ext cx="24" cy="18"/>
            </a:xfrm>
            <a:custGeom>
              <a:avLst/>
              <a:gdLst>
                <a:gd name="T0" fmla="*/ 0 w 24"/>
                <a:gd name="T1" fmla="*/ 18 h 18"/>
                <a:gd name="T2" fmla="*/ 6 w 24"/>
                <a:gd name="T3" fmla="*/ 6 h 18"/>
                <a:gd name="T4" fmla="*/ 24 w 24"/>
                <a:gd name="T5" fmla="*/ 0 h 18"/>
                <a:gd name="T6" fmla="*/ 24 w 24"/>
                <a:gd name="T7" fmla="*/ 0 h 18"/>
                <a:gd name="T8" fmla="*/ 6 w 24"/>
                <a:gd name="T9" fmla="*/ 6 h 18"/>
                <a:gd name="T10" fmla="*/ 0 w 24"/>
                <a:gd name="T11" fmla="*/ 18 h 18"/>
                <a:gd name="T12" fmla="*/ 0 w 24"/>
                <a:gd name="T13" fmla="*/ 18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 h="18">
                  <a:moveTo>
                    <a:pt x="0" y="18"/>
                  </a:moveTo>
                  <a:lnTo>
                    <a:pt x="6" y="6"/>
                  </a:lnTo>
                  <a:lnTo>
                    <a:pt x="24" y="0"/>
                  </a:lnTo>
                  <a:lnTo>
                    <a:pt x="6" y="6"/>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2" name="Freeform 311"/>
            <p:cNvSpPr>
              <a:spLocks noEditPoints="1"/>
            </p:cNvSpPr>
            <p:nvPr/>
          </p:nvSpPr>
          <p:spPr bwMode="auto">
            <a:xfrm>
              <a:off x="4689" y="3357"/>
              <a:ext cx="18" cy="18"/>
            </a:xfrm>
            <a:custGeom>
              <a:avLst/>
              <a:gdLst>
                <a:gd name="T0" fmla="*/ 0 w 18"/>
                <a:gd name="T1" fmla="*/ 0 h 18"/>
                <a:gd name="T2" fmla="*/ 12 w 18"/>
                <a:gd name="T3" fmla="*/ 6 h 18"/>
                <a:gd name="T4" fmla="*/ 18 w 18"/>
                <a:gd name="T5" fmla="*/ 18 h 18"/>
                <a:gd name="T6" fmla="*/ 18 w 18"/>
                <a:gd name="T7" fmla="*/ 18 h 18"/>
                <a:gd name="T8" fmla="*/ 12 w 18"/>
                <a:gd name="T9" fmla="*/ 6 h 18"/>
                <a:gd name="T10" fmla="*/ 0 w 18"/>
                <a:gd name="T11" fmla="*/ 0 h 18"/>
                <a:gd name="T12" fmla="*/ 0 w 18"/>
                <a:gd name="T13" fmla="*/ 0 h 18"/>
                <a:gd name="T14" fmla="*/ 0 w 18"/>
                <a:gd name="T15" fmla="*/ 0 h 18"/>
                <a:gd name="T16" fmla="*/ 0 w 18"/>
                <a:gd name="T17" fmla="*/ 0 h 18"/>
                <a:gd name="T18" fmla="*/ 0 w 18"/>
                <a:gd name="T19" fmla="*/ 0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 h="18">
                  <a:moveTo>
                    <a:pt x="0" y="0"/>
                  </a:moveTo>
                  <a:lnTo>
                    <a:pt x="12" y="6"/>
                  </a:lnTo>
                  <a:lnTo>
                    <a:pt x="18" y="18"/>
                  </a:lnTo>
                  <a:lnTo>
                    <a:pt x="12" y="6"/>
                  </a:lnTo>
                  <a:lnTo>
                    <a:pt x="0" y="0"/>
                  </a:lnTo>
                  <a:close/>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3" name="Freeform 312"/>
            <p:cNvSpPr>
              <a:spLocks noEditPoints="1"/>
            </p:cNvSpPr>
            <p:nvPr/>
          </p:nvSpPr>
          <p:spPr bwMode="auto">
            <a:xfrm>
              <a:off x="4689" y="3375"/>
              <a:ext cx="18" cy="18"/>
            </a:xfrm>
            <a:custGeom>
              <a:avLst/>
              <a:gdLst>
                <a:gd name="T0" fmla="*/ 18 w 18"/>
                <a:gd name="T1" fmla="*/ 0 h 18"/>
                <a:gd name="T2" fmla="*/ 12 w 18"/>
                <a:gd name="T3" fmla="*/ 12 h 18"/>
                <a:gd name="T4" fmla="*/ 0 w 18"/>
                <a:gd name="T5" fmla="*/ 18 h 18"/>
                <a:gd name="T6" fmla="*/ 0 w 18"/>
                <a:gd name="T7" fmla="*/ 18 h 18"/>
                <a:gd name="T8" fmla="*/ 12 w 18"/>
                <a:gd name="T9" fmla="*/ 12 h 18"/>
                <a:gd name="T10" fmla="*/ 18 w 18"/>
                <a:gd name="T11" fmla="*/ 0 h 18"/>
                <a:gd name="T12" fmla="*/ 18 w 18"/>
                <a:gd name="T13" fmla="*/ 0 h 18"/>
                <a:gd name="T14" fmla="*/ 18 w 18"/>
                <a:gd name="T15" fmla="*/ 0 h 18"/>
                <a:gd name="T16" fmla="*/ 18 w 18"/>
                <a:gd name="T17" fmla="*/ 0 h 18"/>
                <a:gd name="T18" fmla="*/ 18 w 18"/>
                <a:gd name="T19" fmla="*/ 0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 h="18">
                  <a:moveTo>
                    <a:pt x="18" y="0"/>
                  </a:moveTo>
                  <a:lnTo>
                    <a:pt x="12" y="12"/>
                  </a:lnTo>
                  <a:lnTo>
                    <a:pt x="0" y="18"/>
                  </a:lnTo>
                  <a:lnTo>
                    <a:pt x="12" y="12"/>
                  </a:lnTo>
                  <a:lnTo>
                    <a:pt x="18" y="0"/>
                  </a:lnTo>
                  <a:close/>
                  <a:moveTo>
                    <a:pt x="18" y="0"/>
                  </a:move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4" name="Freeform 313"/>
            <p:cNvSpPr>
              <a:spLocks noEditPoints="1"/>
            </p:cNvSpPr>
            <p:nvPr/>
          </p:nvSpPr>
          <p:spPr bwMode="auto">
            <a:xfrm>
              <a:off x="4665" y="3375"/>
              <a:ext cx="24" cy="18"/>
            </a:xfrm>
            <a:custGeom>
              <a:avLst/>
              <a:gdLst>
                <a:gd name="T0" fmla="*/ 24 w 24"/>
                <a:gd name="T1" fmla="*/ 18 h 18"/>
                <a:gd name="T2" fmla="*/ 6 w 24"/>
                <a:gd name="T3" fmla="*/ 12 h 18"/>
                <a:gd name="T4" fmla="*/ 0 w 24"/>
                <a:gd name="T5" fmla="*/ 0 h 18"/>
                <a:gd name="T6" fmla="*/ 0 w 24"/>
                <a:gd name="T7" fmla="*/ 0 h 18"/>
                <a:gd name="T8" fmla="*/ 6 w 24"/>
                <a:gd name="T9" fmla="*/ 12 h 18"/>
                <a:gd name="T10" fmla="*/ 24 w 24"/>
                <a:gd name="T11" fmla="*/ 18 h 18"/>
                <a:gd name="T12" fmla="*/ 24 w 24"/>
                <a:gd name="T13" fmla="*/ 18 h 18"/>
                <a:gd name="T14" fmla="*/ 24 w 24"/>
                <a:gd name="T15" fmla="*/ 18 h 18"/>
                <a:gd name="T16" fmla="*/ 24 w 24"/>
                <a:gd name="T17" fmla="*/ 18 h 18"/>
                <a:gd name="T18" fmla="*/ 24 w 24"/>
                <a:gd name="T19" fmla="*/ 1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18">
                  <a:moveTo>
                    <a:pt x="24" y="18"/>
                  </a:moveTo>
                  <a:lnTo>
                    <a:pt x="6" y="12"/>
                  </a:lnTo>
                  <a:lnTo>
                    <a:pt x="0" y="0"/>
                  </a:lnTo>
                  <a:lnTo>
                    <a:pt x="6" y="12"/>
                  </a:lnTo>
                  <a:lnTo>
                    <a:pt x="24" y="18"/>
                  </a:lnTo>
                  <a:close/>
                  <a:moveTo>
                    <a:pt x="24" y="18"/>
                  </a:moveTo>
                  <a:lnTo>
                    <a:pt x="24"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5" name="Freeform 314"/>
            <p:cNvSpPr>
              <a:spLocks/>
            </p:cNvSpPr>
            <p:nvPr/>
          </p:nvSpPr>
          <p:spPr bwMode="auto">
            <a:xfrm>
              <a:off x="4665" y="3375"/>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6" name="Rectangle 316"/>
          <p:cNvSpPr>
            <a:spLocks noChangeArrowheads="1"/>
          </p:cNvSpPr>
          <p:nvPr/>
        </p:nvSpPr>
        <p:spPr bwMode="auto">
          <a:xfrm>
            <a:off x="7488247" y="4595614"/>
            <a:ext cx="457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just" eaLnBrk="0" hangingPunct="0"/>
            <a:r>
              <a:rPr lang="en-US" altLang="zh-CN" sz="2400" b="1" i="1">
                <a:solidFill>
                  <a:srgbClr val="FFFF00"/>
                </a:solidFill>
                <a:latin typeface="Times New Roman" pitchFamily="18" charset="0"/>
              </a:rPr>
              <a:t>M</a:t>
            </a:r>
          </a:p>
        </p:txBody>
      </p:sp>
      <p:sp>
        <p:nvSpPr>
          <p:cNvPr id="317" name="Rectangle 317"/>
          <p:cNvSpPr>
            <a:spLocks noChangeArrowheads="1"/>
          </p:cNvSpPr>
          <p:nvPr/>
        </p:nvSpPr>
        <p:spPr bwMode="auto">
          <a:xfrm>
            <a:off x="6570672" y="1988939"/>
            <a:ext cx="304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just" eaLnBrk="0" hangingPunct="0"/>
            <a:r>
              <a:rPr lang="en-US" altLang="zh-CN" sz="2400" b="1" i="1">
                <a:solidFill>
                  <a:srgbClr val="FFFF00"/>
                </a:solidFill>
                <a:latin typeface="Times New Roman" pitchFamily="18" charset="0"/>
              </a:rPr>
              <a:t>I</a:t>
            </a:r>
          </a:p>
        </p:txBody>
      </p:sp>
      <p:sp>
        <p:nvSpPr>
          <p:cNvPr id="318" name="Rectangle 318"/>
          <p:cNvSpPr>
            <a:spLocks noChangeArrowheads="1"/>
          </p:cNvSpPr>
          <p:nvPr/>
        </p:nvSpPr>
        <p:spPr bwMode="auto">
          <a:xfrm>
            <a:off x="6973897" y="4317802"/>
            <a:ext cx="5492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0" hangingPunct="0"/>
            <a:r>
              <a:rPr lang="en-US" altLang="zh-CN" sz="2400" b="1" i="1">
                <a:solidFill>
                  <a:srgbClr val="FFFF00"/>
                </a:solidFill>
                <a:latin typeface="宋体" pitchFamily="2" charset="-122"/>
              </a:rPr>
              <a:t>II</a:t>
            </a:r>
          </a:p>
        </p:txBody>
      </p:sp>
      <p:sp>
        <p:nvSpPr>
          <p:cNvPr id="319" name="Rectangle 319"/>
          <p:cNvSpPr>
            <a:spLocks noChangeArrowheads="1"/>
          </p:cNvSpPr>
          <p:nvPr/>
        </p:nvSpPr>
        <p:spPr bwMode="auto">
          <a:xfrm>
            <a:off x="7107247" y="2387402"/>
            <a:ext cx="342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just" eaLnBrk="0" hangingPunct="0"/>
            <a:r>
              <a:rPr lang="en-US" altLang="zh-CN" sz="2400" b="1">
                <a:solidFill>
                  <a:srgbClr val="FFFF00"/>
                </a:solidFill>
                <a:latin typeface="Times New Roman" pitchFamily="18" charset="0"/>
                <a:sym typeface="Symbol" pitchFamily="18" charset="2"/>
              </a:rPr>
              <a:t></a:t>
            </a:r>
            <a:endParaRPr lang="en-US" altLang="zh-CN" sz="2400" b="1">
              <a:solidFill>
                <a:srgbClr val="FFFF00"/>
              </a:solidFill>
              <a:latin typeface="Times New Roman" pitchFamily="18" charset="0"/>
            </a:endParaRPr>
          </a:p>
        </p:txBody>
      </p:sp>
      <p:sp>
        <p:nvSpPr>
          <p:cNvPr id="320" name="Text Box 320"/>
          <p:cNvSpPr txBox="1">
            <a:spLocks noChangeArrowheads="1"/>
          </p:cNvSpPr>
          <p:nvPr/>
        </p:nvSpPr>
        <p:spPr bwMode="auto">
          <a:xfrm>
            <a:off x="6545272" y="3579614"/>
            <a:ext cx="5334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3200" b="1" i="1">
                <a:solidFill>
                  <a:srgbClr val="66FF33"/>
                </a:solidFill>
                <a:latin typeface="Times New Roman" pitchFamily="18" charset="0"/>
              </a:rPr>
              <a:t>P</a:t>
            </a:r>
            <a:endParaRPr lang="en-US" altLang="zh-CN" sz="2400" b="1" i="1">
              <a:latin typeface="Times New Roman" pitchFamily="18" charset="0"/>
            </a:endParaRPr>
          </a:p>
        </p:txBody>
      </p:sp>
      <p:sp>
        <p:nvSpPr>
          <p:cNvPr id="321" name="AutoShape 329"/>
          <p:cNvSpPr>
            <a:spLocks noChangeArrowheads="1"/>
          </p:cNvSpPr>
          <p:nvPr/>
        </p:nvSpPr>
        <p:spPr bwMode="auto">
          <a:xfrm rot="16225073" flipV="1">
            <a:off x="5743584" y="3165277"/>
            <a:ext cx="3241675" cy="647700"/>
          </a:xfrm>
          <a:prstGeom prst="parallelogram">
            <a:avLst>
              <a:gd name="adj" fmla="val 124817"/>
            </a:avLst>
          </a:prstGeom>
          <a:gradFill rotWithShape="1">
            <a:gsLst>
              <a:gs pos="0">
                <a:schemeClr val="accent1">
                  <a:gamma/>
                  <a:shade val="46275"/>
                  <a:invGamma/>
                  <a:alpha val="32001"/>
                </a:schemeClr>
              </a:gs>
              <a:gs pos="100000">
                <a:schemeClr val="accent1">
                  <a:alpha val="32001"/>
                </a:schemeClr>
              </a:gs>
            </a:gsLst>
            <a:lin ang="0" scaled="1"/>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sp>
        <p:nvSpPr>
          <p:cNvPr id="322" name="TextBox 321"/>
          <p:cNvSpPr txBox="1">
            <a:spLocks noChangeArrowheads="1"/>
          </p:cNvSpPr>
          <p:nvPr/>
        </p:nvSpPr>
        <p:spPr bwMode="auto">
          <a:xfrm>
            <a:off x="418959" y="4784568"/>
            <a:ext cx="4826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chemeClr val="bg1"/>
                </a:solidFill>
              </a:rPr>
              <a:t>这是刚体绕定轴转动的运动学方程</a:t>
            </a:r>
          </a:p>
        </p:txBody>
      </p:sp>
    </p:spTree>
    <p:extLst>
      <p:ext uri="{BB962C8B-B14F-4D97-AF65-F5344CB8AC3E}">
        <p14:creationId xmlns:p14="http://schemas.microsoft.com/office/powerpoint/2010/main" val="398881383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6"/>
                                        </p:tgtEl>
                                        <p:attrNameLst>
                                          <p:attrName>style.visibility</p:attrName>
                                        </p:attrNameLst>
                                      </p:cBhvr>
                                      <p:to>
                                        <p:strVal val="visible"/>
                                      </p:to>
                                    </p:set>
                                    <p:animEffect transition="in" filter="wipe(left)">
                                      <p:cBhvr>
                                        <p:cTn id="12" dur="500"/>
                                        <p:tgtEl>
                                          <p:spTgt spid="3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17"/>
                                        </p:tgtEl>
                                        <p:attrNameLst>
                                          <p:attrName>style.visibility</p:attrName>
                                        </p:attrNameLst>
                                      </p:cBhvr>
                                      <p:to>
                                        <p:strVal val="visible"/>
                                      </p:to>
                                    </p:set>
                                    <p:animEffect transition="in" filter="wipe(left)">
                                      <p:cBhvr>
                                        <p:cTn id="22" dur="500"/>
                                        <p:tgtEl>
                                          <p:spTgt spid="3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0"/>
                                        </p:tgtEl>
                                        <p:attrNameLst>
                                          <p:attrName>style.visibility</p:attrName>
                                        </p:attrNameLst>
                                      </p:cBhvr>
                                      <p:to>
                                        <p:strVal val="visible"/>
                                      </p:to>
                                    </p:set>
                                    <p:animEffect transition="in" filter="wipe(left)">
                                      <p:cBhvr>
                                        <p:cTn id="27" dur="500"/>
                                        <p:tgtEl>
                                          <p:spTgt spid="3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321"/>
                                        </p:tgtEl>
                                        <p:attrNameLst>
                                          <p:attrName>style.visibility</p:attrName>
                                        </p:attrNameLst>
                                      </p:cBhvr>
                                      <p:to>
                                        <p:strVal val="visible"/>
                                      </p:to>
                                    </p:set>
                                    <p:animEffect transition="in" filter="wipe(right)">
                                      <p:cBhvr>
                                        <p:cTn id="32" dur="500"/>
                                        <p:tgtEl>
                                          <p:spTgt spid="3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18"/>
                                        </p:tgtEl>
                                        <p:attrNameLst>
                                          <p:attrName>style.visibility</p:attrName>
                                        </p:attrNameLst>
                                      </p:cBhvr>
                                      <p:to>
                                        <p:strVal val="visible"/>
                                      </p:to>
                                    </p:set>
                                    <p:animEffect transition="in" filter="wipe(left)">
                                      <p:cBhvr>
                                        <p:cTn id="37" dur="500"/>
                                        <p:tgtEl>
                                          <p:spTgt spid="3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19"/>
                                        </p:tgtEl>
                                        <p:attrNameLst>
                                          <p:attrName>style.visibility</p:attrName>
                                        </p:attrNameLst>
                                      </p:cBhvr>
                                      <p:to>
                                        <p:strVal val="visible"/>
                                      </p:to>
                                    </p:set>
                                    <p:animEffect transition="in" filter="wipe(left)">
                                      <p:cBhvr>
                                        <p:cTn id="42" dur="500"/>
                                        <p:tgtEl>
                                          <p:spTgt spid="319"/>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wipe(left)">
                                      <p:cBhvr>
                                        <p:cTn id="53" dur="500"/>
                                        <p:tgtEl>
                                          <p:spTgt spid="5"/>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16" grpId="0" autoUpdateAnimBg="0"/>
      <p:bldP spid="317" grpId="0" autoUpdateAnimBg="0"/>
      <p:bldP spid="318" grpId="0" autoUpdateAnimBg="0"/>
      <p:bldP spid="319" grpId="0" autoUpdateAnimBg="0"/>
      <p:bldP spid="320" grpId="0" autoUpdateAnimBg="0"/>
      <p:bldP spid="321" grpId="0" animBg="1"/>
      <p:bldP spid="3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a:grpSpLocks/>
          </p:cNvGrpSpPr>
          <p:nvPr/>
        </p:nvGrpSpPr>
        <p:grpSpPr bwMode="auto">
          <a:xfrm>
            <a:off x="368300" y="579438"/>
            <a:ext cx="8550275" cy="1316037"/>
            <a:chOff x="401044" y="117370"/>
            <a:chExt cx="8550415" cy="1315595"/>
          </a:xfrm>
        </p:grpSpPr>
        <p:graphicFrame>
          <p:nvGraphicFramePr>
            <p:cNvPr id="8202" name="Object 4"/>
            <p:cNvGraphicFramePr>
              <a:graphicFrameLocks/>
            </p:cNvGraphicFramePr>
            <p:nvPr/>
          </p:nvGraphicFramePr>
          <p:xfrm>
            <a:off x="5517149" y="690015"/>
            <a:ext cx="1930400" cy="742950"/>
          </p:xfrm>
          <a:graphic>
            <a:graphicData uri="http://schemas.openxmlformats.org/presentationml/2006/ole">
              <mc:AlternateContent xmlns:mc="http://schemas.openxmlformats.org/markup-compatibility/2006">
                <mc:Choice xmlns:v="urn:schemas-microsoft-com:vml" Requires="v">
                  <p:oleObj spid="_x0000_s3092" name="Equation" r:id="rId3" imgW="2057489" imgH="733410" progId="Equation.3">
                    <p:embed/>
                  </p:oleObj>
                </mc:Choice>
                <mc:Fallback>
                  <p:oleObj name="Equation" r:id="rId3" imgW="2057489" imgH="733410" progId="Equation.3">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7149" y="690015"/>
                          <a:ext cx="19304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3" name="矩形 327"/>
            <p:cNvSpPr>
              <a:spLocks noChangeArrowheads="1"/>
            </p:cNvSpPr>
            <p:nvPr/>
          </p:nvSpPr>
          <p:spPr bwMode="auto">
            <a:xfrm>
              <a:off x="401044" y="117370"/>
              <a:ext cx="855041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b="1">
                  <a:solidFill>
                    <a:schemeClr val="bg1"/>
                  </a:solidFill>
                  <a:latin typeface="+mn-lt"/>
                </a:rPr>
                <a:t>角速度：描述刚体转动快慢的物理量。单位：</a:t>
              </a:r>
              <a:r>
                <a:rPr lang="en-US" altLang="zh-CN" sz="2400" b="1">
                  <a:solidFill>
                    <a:schemeClr val="bg1"/>
                  </a:solidFill>
                  <a:latin typeface="+mn-lt"/>
                </a:rPr>
                <a:t>rad/s  </a:t>
              </a:r>
              <a:r>
                <a:rPr lang="zh-CN" altLang="zh-CN" sz="2400" b="1">
                  <a:solidFill>
                    <a:schemeClr val="bg1"/>
                  </a:solidFill>
                  <a:latin typeface="+mn-lt"/>
                </a:rPr>
                <a:t>（弧度</a:t>
              </a:r>
              <a:r>
                <a:rPr lang="en-US" altLang="zh-CN" sz="2400" b="1">
                  <a:solidFill>
                    <a:schemeClr val="bg1"/>
                  </a:solidFill>
                  <a:latin typeface="+mn-lt"/>
                </a:rPr>
                <a:t>/</a:t>
              </a:r>
              <a:r>
                <a:rPr lang="zh-CN" altLang="zh-CN" sz="2400" b="1">
                  <a:solidFill>
                    <a:schemeClr val="bg1"/>
                  </a:solidFill>
                  <a:latin typeface="+mn-lt"/>
                </a:rPr>
                <a:t>秒） ；方向：右手定则</a:t>
              </a:r>
              <a:endParaRPr lang="en-US" altLang="zh-CN" sz="2400" b="1">
                <a:solidFill>
                  <a:schemeClr val="bg1"/>
                </a:solidFill>
                <a:latin typeface="+mn-lt"/>
              </a:endParaRPr>
            </a:p>
            <a:p>
              <a:r>
                <a:rPr lang="zh-CN" altLang="en-US" sz="2400" b="1">
                  <a:solidFill>
                    <a:schemeClr val="bg1"/>
                  </a:solidFill>
                  <a:latin typeface="+mn-lt"/>
                </a:rPr>
                <a:t>角速度是角位移随时间的变化率</a:t>
              </a:r>
              <a:endParaRPr lang="zh-CN" altLang="zh-CN" sz="2400" b="1">
                <a:solidFill>
                  <a:schemeClr val="bg1"/>
                </a:solidFill>
                <a:latin typeface="+mn-lt"/>
              </a:endParaRPr>
            </a:p>
          </p:txBody>
        </p:sp>
      </p:grpSp>
      <p:grpSp>
        <p:nvGrpSpPr>
          <p:cNvPr id="14" name="组合 13"/>
          <p:cNvGrpSpPr>
            <a:grpSpLocks/>
          </p:cNvGrpSpPr>
          <p:nvPr/>
        </p:nvGrpSpPr>
        <p:grpSpPr bwMode="auto">
          <a:xfrm>
            <a:off x="341313" y="3011488"/>
            <a:ext cx="8528050" cy="1384300"/>
            <a:chOff x="424145" y="1556792"/>
            <a:chExt cx="8527314" cy="1384389"/>
          </a:xfrm>
        </p:grpSpPr>
        <p:graphicFrame>
          <p:nvGraphicFramePr>
            <p:cNvPr id="8200" name="Object 5"/>
            <p:cNvGraphicFramePr>
              <a:graphicFrameLocks/>
            </p:cNvGraphicFramePr>
            <p:nvPr/>
          </p:nvGraphicFramePr>
          <p:xfrm>
            <a:off x="5580112" y="2156956"/>
            <a:ext cx="2835275" cy="784225"/>
          </p:xfrm>
          <a:graphic>
            <a:graphicData uri="http://schemas.openxmlformats.org/presentationml/2006/ole">
              <mc:AlternateContent xmlns:mc="http://schemas.openxmlformats.org/markup-compatibility/2006">
                <mc:Choice xmlns:v="urn:schemas-microsoft-com:vml" Requires="v">
                  <p:oleObj spid="_x0000_s3093" name="Equation" r:id="rId5" imgW="3057620" imgH="790635" progId="Equation.3">
                    <p:embed/>
                  </p:oleObj>
                </mc:Choice>
                <mc:Fallback>
                  <p:oleObj name="Equation" r:id="rId5" imgW="3057620" imgH="790635" progId="Equation.3">
                    <p:embed/>
                    <p:pic>
                      <p:nvPicPr>
                        <p:cNvPr id="0"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0112" y="2156956"/>
                          <a:ext cx="2835275"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1" name="矩形 328"/>
            <p:cNvSpPr>
              <a:spLocks noChangeArrowheads="1"/>
            </p:cNvSpPr>
            <p:nvPr/>
          </p:nvSpPr>
          <p:spPr bwMode="auto">
            <a:xfrm>
              <a:off x="424145" y="1556792"/>
              <a:ext cx="852731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b="1">
                  <a:solidFill>
                    <a:schemeClr val="bg1"/>
                  </a:solidFill>
                  <a:latin typeface="+mn-lt"/>
                </a:rPr>
                <a:t>角加速度：描述刚体角速度变化快慢的物理量。单位：</a:t>
              </a:r>
              <a:r>
                <a:rPr lang="en-US" altLang="zh-CN" sz="2400" b="1">
                  <a:solidFill>
                    <a:schemeClr val="bg1"/>
                  </a:solidFill>
                  <a:latin typeface="+mn-lt"/>
                </a:rPr>
                <a:t>rad/s</a:t>
              </a:r>
              <a:r>
                <a:rPr lang="en-US" altLang="zh-CN" sz="2400" b="1" baseline="30000">
                  <a:solidFill>
                    <a:schemeClr val="bg1"/>
                  </a:solidFill>
                  <a:latin typeface="+mn-lt"/>
                </a:rPr>
                <a:t>2</a:t>
              </a:r>
              <a:r>
                <a:rPr lang="en-US" altLang="zh-CN" sz="2400" b="1">
                  <a:solidFill>
                    <a:schemeClr val="bg1"/>
                  </a:solidFill>
                  <a:latin typeface="+mn-lt"/>
                </a:rPr>
                <a:t> </a:t>
              </a:r>
              <a:r>
                <a:rPr lang="zh-CN" altLang="zh-CN" sz="2400" b="1">
                  <a:solidFill>
                    <a:schemeClr val="bg1"/>
                  </a:solidFill>
                  <a:latin typeface="+mn-lt"/>
                </a:rPr>
                <a:t>（弧度</a:t>
              </a:r>
              <a:r>
                <a:rPr lang="en-US" altLang="zh-CN" sz="2400" b="1">
                  <a:solidFill>
                    <a:schemeClr val="bg1"/>
                  </a:solidFill>
                  <a:latin typeface="+mn-lt"/>
                </a:rPr>
                <a:t>/</a:t>
              </a:r>
              <a:r>
                <a:rPr lang="zh-CN" altLang="zh-CN" sz="2400" b="1">
                  <a:solidFill>
                    <a:schemeClr val="bg1"/>
                  </a:solidFill>
                  <a:latin typeface="+mn-lt"/>
                </a:rPr>
                <a:t>秒</a:t>
              </a:r>
              <a:r>
                <a:rPr lang="en-US" altLang="zh-CN" sz="2400" b="1" baseline="30000">
                  <a:solidFill>
                    <a:schemeClr val="bg1"/>
                  </a:solidFill>
                  <a:latin typeface="+mn-lt"/>
                </a:rPr>
                <a:t>2</a:t>
              </a:r>
              <a:r>
                <a:rPr lang="zh-CN" altLang="zh-CN" sz="2400" b="1">
                  <a:solidFill>
                    <a:schemeClr val="bg1"/>
                  </a:solidFill>
                  <a:latin typeface="+mn-lt"/>
                </a:rPr>
                <a:t>）；方向：右手定则</a:t>
              </a:r>
            </a:p>
            <a:p>
              <a:r>
                <a:rPr lang="zh-CN" altLang="zh-CN" sz="2400" b="1">
                  <a:solidFill>
                    <a:schemeClr val="bg1"/>
                  </a:solidFill>
                  <a:latin typeface="+mn-lt"/>
                </a:rPr>
                <a:t>角加速度是角速度随时间的变化率</a:t>
              </a:r>
              <a:endParaRPr lang="zh-CN" altLang="en-US" sz="2400" b="1">
                <a:solidFill>
                  <a:schemeClr val="bg1"/>
                </a:solidFill>
                <a:latin typeface="+mn-lt"/>
              </a:endParaRPr>
            </a:p>
          </p:txBody>
        </p:sp>
      </p:grpSp>
      <p:grpSp>
        <p:nvGrpSpPr>
          <p:cNvPr id="5" name="组合 4"/>
          <p:cNvGrpSpPr>
            <a:grpSpLocks/>
          </p:cNvGrpSpPr>
          <p:nvPr/>
        </p:nvGrpSpPr>
        <p:grpSpPr bwMode="auto">
          <a:xfrm>
            <a:off x="2030413" y="1909763"/>
            <a:ext cx="4027487" cy="792162"/>
            <a:chOff x="2063169" y="1448779"/>
            <a:chExt cx="4027896" cy="792088"/>
          </a:xfrm>
        </p:grpSpPr>
        <p:graphicFrame>
          <p:nvGraphicFramePr>
            <p:cNvPr id="8198" name="对象 1"/>
            <p:cNvGraphicFramePr>
              <a:graphicFrameLocks noChangeAspect="1"/>
            </p:cNvGraphicFramePr>
            <p:nvPr/>
          </p:nvGraphicFramePr>
          <p:xfrm>
            <a:off x="2063169" y="1448779"/>
            <a:ext cx="1022049" cy="792088"/>
          </p:xfrm>
          <a:graphic>
            <a:graphicData uri="http://schemas.openxmlformats.org/presentationml/2006/ole">
              <mc:AlternateContent xmlns:mc="http://schemas.openxmlformats.org/markup-compatibility/2006">
                <mc:Choice xmlns:v="urn:schemas-microsoft-com:vml" Requires="v">
                  <p:oleObj spid="_x0000_s3094" name="Equation" r:id="rId7" imgW="507780" imgH="393529" progId="Equation.DSMT4">
                    <p:embed/>
                  </p:oleObj>
                </mc:Choice>
                <mc:Fallback>
                  <p:oleObj name="Equation" r:id="rId7" imgW="507780" imgH="393529" progId="Equation.DSMT4">
                    <p:embed/>
                    <p:pic>
                      <p:nvPicPr>
                        <p:cNvPr id="0" name="对象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3169" y="1448779"/>
                          <a:ext cx="1022049"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9" name="TextBox 3"/>
            <p:cNvSpPr txBox="1">
              <a:spLocks noChangeArrowheads="1"/>
            </p:cNvSpPr>
            <p:nvPr/>
          </p:nvSpPr>
          <p:spPr bwMode="auto">
            <a:xfrm>
              <a:off x="3420141" y="1613991"/>
              <a:ext cx="26709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b="1" i="1">
                  <a:solidFill>
                    <a:schemeClr val="bg1"/>
                  </a:solidFill>
                  <a:latin typeface="+mn-lt"/>
                </a:rPr>
                <a:t>n</a:t>
              </a:r>
              <a:r>
                <a:rPr lang="zh-CN" altLang="en-US" sz="2400" b="1">
                  <a:solidFill>
                    <a:schemeClr val="bg1"/>
                  </a:solidFill>
                  <a:latin typeface="+mn-lt"/>
                </a:rPr>
                <a:t>称为转数，</a:t>
              </a:r>
              <a:r>
                <a:rPr lang="en-US" altLang="zh-CN" sz="2400" b="1">
                  <a:solidFill>
                    <a:schemeClr val="bg1"/>
                  </a:solidFill>
                  <a:latin typeface="+mn-lt"/>
                </a:rPr>
                <a:t>r/min</a:t>
              </a:r>
              <a:endParaRPr lang="zh-CN" altLang="en-US" sz="2400" b="1">
                <a:solidFill>
                  <a:schemeClr val="bg1"/>
                </a:solidFill>
                <a:latin typeface="+mn-lt"/>
              </a:endParaRPr>
            </a:p>
          </p:txBody>
        </p:sp>
      </p:grpSp>
      <p:sp>
        <p:nvSpPr>
          <p:cNvPr id="6" name="TextBox 5"/>
          <p:cNvSpPr txBox="1">
            <a:spLocks noChangeArrowheads="1"/>
          </p:cNvSpPr>
          <p:nvPr/>
        </p:nvSpPr>
        <p:spPr bwMode="auto">
          <a:xfrm>
            <a:off x="579438" y="5153025"/>
            <a:ext cx="63722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a:solidFill>
                  <a:schemeClr val="bg1"/>
                </a:solidFill>
                <a:latin typeface="+mn-lt"/>
              </a:rPr>
              <a:t>任意时刻，刚体的角速度和角加速度是唯一的</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176213" y="404813"/>
            <a:ext cx="6754812"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a:solidFill>
                  <a:srgbClr val="FFFF00"/>
                </a:solidFill>
                <a:latin typeface="Times New Roman" pitchFamily="18" charset="0"/>
              </a:rPr>
              <a:t> 2. </a:t>
            </a:r>
            <a:r>
              <a:rPr lang="zh-CN" altLang="en-US" sz="2400" b="1">
                <a:solidFill>
                  <a:srgbClr val="FFFF00"/>
                </a:solidFill>
                <a:latin typeface="Times New Roman" pitchFamily="18" charset="0"/>
              </a:rPr>
              <a:t>定轴转动刚体上各点的速度和加速度</a:t>
            </a:r>
            <a:endParaRPr lang="en-US" altLang="zh-CN" sz="2400" b="1">
              <a:solidFill>
                <a:srgbClr val="FFFF00"/>
              </a:solidFill>
              <a:latin typeface="Times New Roman" pitchFamily="18" charset="0"/>
            </a:endParaRPr>
          </a:p>
          <a:p>
            <a:r>
              <a:rPr lang="en-US" altLang="zh-CN" sz="2400" b="1">
                <a:solidFill>
                  <a:srgbClr val="FFFF00"/>
                </a:solidFill>
                <a:latin typeface="Times New Roman" pitchFamily="18" charset="0"/>
              </a:rPr>
              <a:t>——</a:t>
            </a:r>
            <a:r>
              <a:rPr lang="zh-CN" altLang="en-US" sz="2400" b="1">
                <a:solidFill>
                  <a:srgbClr val="FFFF00"/>
                </a:solidFill>
                <a:latin typeface="Times New Roman" pitchFamily="18" charset="0"/>
              </a:rPr>
              <a:t>角量与线量的关系</a:t>
            </a:r>
          </a:p>
        </p:txBody>
      </p:sp>
      <p:graphicFrame>
        <p:nvGraphicFramePr>
          <p:cNvPr id="14339" name="Object 3"/>
          <p:cNvGraphicFramePr>
            <a:graphicFrameLocks/>
          </p:cNvGraphicFramePr>
          <p:nvPr/>
        </p:nvGraphicFramePr>
        <p:xfrm>
          <a:off x="1450975" y="2755900"/>
          <a:ext cx="993775" cy="285750"/>
        </p:xfrm>
        <a:graphic>
          <a:graphicData uri="http://schemas.openxmlformats.org/presentationml/2006/ole">
            <mc:AlternateContent xmlns:mc="http://schemas.openxmlformats.org/markup-compatibility/2006">
              <mc:Choice xmlns:v="urn:schemas-microsoft-com:vml" Requires="v">
                <p:oleObj spid="_x0000_s4128" name="公式" r:id="rId3" imgW="1019297" imgH="228634" progId="Equation.3">
                  <p:embed/>
                </p:oleObj>
              </mc:Choice>
              <mc:Fallback>
                <p:oleObj name="公式" r:id="rId3" imgW="1019297" imgH="228634" progId="Equation.3">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0975" y="2755900"/>
                        <a:ext cx="993775" cy="2857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0" name="Object 4"/>
          <p:cNvGraphicFramePr>
            <a:graphicFrameLocks/>
          </p:cNvGraphicFramePr>
          <p:nvPr/>
        </p:nvGraphicFramePr>
        <p:xfrm>
          <a:off x="1331913" y="3148013"/>
          <a:ext cx="1211262" cy="433387"/>
        </p:xfrm>
        <a:graphic>
          <a:graphicData uri="http://schemas.openxmlformats.org/presentationml/2006/ole">
            <mc:AlternateContent xmlns:mc="http://schemas.openxmlformats.org/markup-compatibility/2006">
              <mc:Choice xmlns:v="urn:schemas-microsoft-com:vml" Requires="v">
                <p:oleObj spid="_x0000_s4129" name="Equation" r:id="rId5" imgW="1257385" imgH="390594" progId="Equation.3">
                  <p:embed/>
                </p:oleObj>
              </mc:Choice>
              <mc:Fallback>
                <p:oleObj name="Equation" r:id="rId5" imgW="1257385" imgH="390594"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3148013"/>
                        <a:ext cx="1211262" cy="43338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1" name="Object 5"/>
          <p:cNvGraphicFramePr>
            <a:graphicFrameLocks/>
          </p:cNvGraphicFramePr>
          <p:nvPr/>
        </p:nvGraphicFramePr>
        <p:xfrm>
          <a:off x="1331913" y="3568700"/>
          <a:ext cx="1828800" cy="742950"/>
        </p:xfrm>
        <a:graphic>
          <a:graphicData uri="http://schemas.openxmlformats.org/presentationml/2006/ole">
            <mc:AlternateContent xmlns:mc="http://schemas.openxmlformats.org/markup-compatibility/2006">
              <mc:Choice xmlns:v="urn:schemas-microsoft-com:vml" Requires="v">
                <p:oleObj spid="_x0000_s4130" name="公式" r:id="rId7" imgW="1943034" imgH="733410" progId="Equation.3">
                  <p:embed/>
                </p:oleObj>
              </mc:Choice>
              <mc:Fallback>
                <p:oleObj name="公式" r:id="rId7" imgW="1943034" imgH="733410" progId="Equation.3">
                  <p:embed/>
                  <p:pic>
                    <p:nvPicPr>
                      <p:cNvPr id="0" name="Object 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913" y="3568700"/>
                        <a:ext cx="1828800" cy="7429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6" name="Text Box 10"/>
          <p:cNvSpPr txBox="1">
            <a:spLocks noChangeArrowheads="1"/>
          </p:cNvSpPr>
          <p:nvPr/>
        </p:nvSpPr>
        <p:spPr bwMode="auto">
          <a:xfrm>
            <a:off x="7640638" y="4164013"/>
            <a:ext cx="990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zh-CN" altLang="en-US" sz="2000" b="1">
                <a:solidFill>
                  <a:schemeClr val="bg1"/>
                </a:solidFill>
                <a:latin typeface="Times New Roman" pitchFamily="18" charset="0"/>
                <a:ea typeface="楷体_GB2312" pitchFamily="49" charset="-122"/>
              </a:rPr>
              <a:t>定轴</a:t>
            </a:r>
          </a:p>
        </p:txBody>
      </p:sp>
      <p:sp>
        <p:nvSpPr>
          <p:cNvPr id="14347" name="Text Box 11"/>
          <p:cNvSpPr txBox="1">
            <a:spLocks noChangeArrowheads="1"/>
          </p:cNvSpPr>
          <p:nvPr/>
        </p:nvSpPr>
        <p:spPr bwMode="auto">
          <a:xfrm>
            <a:off x="7796213" y="1720850"/>
            <a:ext cx="558800"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FF00FF"/>
                </a:solidFill>
                <a:latin typeface="Times New Roman" pitchFamily="18" charset="0"/>
              </a:rPr>
              <a:t>M</a:t>
            </a:r>
          </a:p>
        </p:txBody>
      </p:sp>
      <p:sp>
        <p:nvSpPr>
          <p:cNvPr id="14348" name="Text Box 12"/>
          <p:cNvSpPr txBox="1">
            <a:spLocks noChangeArrowheads="1"/>
          </p:cNvSpPr>
          <p:nvPr/>
        </p:nvSpPr>
        <p:spPr bwMode="auto">
          <a:xfrm>
            <a:off x="6675438" y="3155950"/>
            <a:ext cx="847725"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a:solidFill>
                  <a:schemeClr val="bg1"/>
                </a:solidFill>
                <a:latin typeface="宋体" pitchFamily="2" charset="-122"/>
              </a:rPr>
              <a:t>×</a:t>
            </a:r>
            <a:endParaRPr lang="en-US" altLang="zh-CN" sz="2400" b="1">
              <a:solidFill>
                <a:schemeClr val="bg1"/>
              </a:solidFill>
              <a:latin typeface="Times New Roman" pitchFamily="18" charset="0"/>
            </a:endParaRPr>
          </a:p>
        </p:txBody>
      </p:sp>
      <p:sp>
        <p:nvSpPr>
          <p:cNvPr id="14349" name="Text Box 13"/>
          <p:cNvSpPr txBox="1">
            <a:spLocks noChangeArrowheads="1"/>
          </p:cNvSpPr>
          <p:nvPr/>
        </p:nvSpPr>
        <p:spPr bwMode="auto">
          <a:xfrm>
            <a:off x="7031038" y="665163"/>
            <a:ext cx="10191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ω,</a:t>
            </a:r>
            <a:r>
              <a:rPr lang="en-US" altLang="zh-CN" sz="2400" i="1">
                <a:solidFill>
                  <a:srgbClr val="FFFF00"/>
                </a:solidFill>
                <a:latin typeface="Times New Roman" pitchFamily="18" charset="0"/>
                <a:sym typeface="Symbol" pitchFamily="18" charset="2"/>
              </a:rPr>
              <a:t></a:t>
            </a:r>
            <a:endParaRPr lang="en-US" altLang="zh-CN" sz="2400" i="1">
              <a:solidFill>
                <a:srgbClr val="FFFF00"/>
              </a:solidFill>
              <a:latin typeface="Times New Roman" pitchFamily="18" charset="0"/>
            </a:endParaRPr>
          </a:p>
        </p:txBody>
      </p:sp>
      <p:sp>
        <p:nvSpPr>
          <p:cNvPr id="14350" name="Line 14"/>
          <p:cNvSpPr>
            <a:spLocks noChangeShapeType="1"/>
          </p:cNvSpPr>
          <p:nvPr/>
        </p:nvSpPr>
        <p:spPr bwMode="auto">
          <a:xfrm flipV="1">
            <a:off x="6929438" y="2046288"/>
            <a:ext cx="790575" cy="1355725"/>
          </a:xfrm>
          <a:prstGeom prst="line">
            <a:avLst/>
          </a:prstGeom>
          <a:noFill/>
          <a:ln w="3810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4351" name="Line 15"/>
          <p:cNvSpPr>
            <a:spLocks noChangeShapeType="1"/>
          </p:cNvSpPr>
          <p:nvPr/>
        </p:nvSpPr>
        <p:spPr bwMode="auto">
          <a:xfrm rot="1503001" flipH="1" flipV="1">
            <a:off x="6059488" y="935038"/>
            <a:ext cx="1730375" cy="3581400"/>
          </a:xfrm>
          <a:prstGeom prst="line">
            <a:avLst/>
          </a:prstGeom>
          <a:noFill/>
          <a:ln w="28575">
            <a:solidFill>
              <a:srgbClr val="FFFF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2" name="Oval 16"/>
          <p:cNvSpPr>
            <a:spLocks noChangeArrowheads="1"/>
          </p:cNvSpPr>
          <p:nvPr/>
        </p:nvSpPr>
        <p:spPr bwMode="auto">
          <a:xfrm rot="6145">
            <a:off x="5932488" y="1801813"/>
            <a:ext cx="1987550" cy="998537"/>
          </a:xfrm>
          <a:prstGeom prst="ellipse">
            <a:avLst/>
          </a:prstGeom>
          <a:noFill/>
          <a:ln w="28575">
            <a:solidFill>
              <a:schemeClr val="accent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53" name="Freeform 17"/>
          <p:cNvSpPr>
            <a:spLocks/>
          </p:cNvSpPr>
          <p:nvPr/>
        </p:nvSpPr>
        <p:spPr bwMode="auto">
          <a:xfrm>
            <a:off x="5456238" y="1528763"/>
            <a:ext cx="3270250" cy="2527300"/>
          </a:xfrm>
          <a:custGeom>
            <a:avLst/>
            <a:gdLst>
              <a:gd name="T0" fmla="*/ 2147483647 w 2059"/>
              <a:gd name="T1" fmla="*/ 2147483647 h 1592"/>
              <a:gd name="T2" fmla="*/ 2147483647 w 2059"/>
              <a:gd name="T3" fmla="*/ 2147483647 h 1592"/>
              <a:gd name="T4" fmla="*/ 2147483647 w 2059"/>
              <a:gd name="T5" fmla="*/ 2147483647 h 1592"/>
              <a:gd name="T6" fmla="*/ 2147483647 w 2059"/>
              <a:gd name="T7" fmla="*/ 2147483647 h 1592"/>
              <a:gd name="T8" fmla="*/ 2147483647 w 2059"/>
              <a:gd name="T9" fmla="*/ 2147483647 h 1592"/>
              <a:gd name="T10" fmla="*/ 2147483647 w 2059"/>
              <a:gd name="T11" fmla="*/ 2147483647 h 1592"/>
              <a:gd name="T12" fmla="*/ 2147483647 w 2059"/>
              <a:gd name="T13" fmla="*/ 2147483647 h 1592"/>
              <a:gd name="T14" fmla="*/ 2147483647 w 2059"/>
              <a:gd name="T15" fmla="*/ 2147483647 h 1592"/>
              <a:gd name="T16" fmla="*/ 2147483647 w 2059"/>
              <a:gd name="T17" fmla="*/ 2147483647 h 1592"/>
              <a:gd name="T18" fmla="*/ 2147483647 w 2059"/>
              <a:gd name="T19" fmla="*/ 2147483647 h 1592"/>
              <a:gd name="T20" fmla="*/ 2147483647 w 2059"/>
              <a:gd name="T21" fmla="*/ 2147483647 h 1592"/>
              <a:gd name="T22" fmla="*/ 2147483647 w 2059"/>
              <a:gd name="T23" fmla="*/ 2147483647 h 1592"/>
              <a:gd name="T24" fmla="*/ 2147483647 w 2059"/>
              <a:gd name="T25" fmla="*/ 2147483647 h 15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59" h="1592">
                <a:moveTo>
                  <a:pt x="811" y="1444"/>
                </a:moveTo>
                <a:cubicBezTo>
                  <a:pt x="657" y="1386"/>
                  <a:pt x="354" y="1358"/>
                  <a:pt x="222" y="1235"/>
                </a:cubicBezTo>
                <a:cubicBezTo>
                  <a:pt x="89" y="1114"/>
                  <a:pt x="29" y="890"/>
                  <a:pt x="15" y="712"/>
                </a:cubicBezTo>
                <a:cubicBezTo>
                  <a:pt x="1" y="534"/>
                  <a:pt x="0" y="278"/>
                  <a:pt x="135" y="167"/>
                </a:cubicBezTo>
                <a:cubicBezTo>
                  <a:pt x="270" y="56"/>
                  <a:pt x="652" y="67"/>
                  <a:pt x="827" y="44"/>
                </a:cubicBezTo>
                <a:cubicBezTo>
                  <a:pt x="1002" y="21"/>
                  <a:pt x="1029" y="0"/>
                  <a:pt x="1186" y="31"/>
                </a:cubicBezTo>
                <a:cubicBezTo>
                  <a:pt x="1344" y="62"/>
                  <a:pt x="1632" y="133"/>
                  <a:pt x="1771" y="228"/>
                </a:cubicBezTo>
                <a:cubicBezTo>
                  <a:pt x="1911" y="324"/>
                  <a:pt x="1994" y="503"/>
                  <a:pt x="2027" y="605"/>
                </a:cubicBezTo>
                <a:cubicBezTo>
                  <a:pt x="2059" y="706"/>
                  <a:pt x="2022" y="778"/>
                  <a:pt x="1965" y="842"/>
                </a:cubicBezTo>
                <a:cubicBezTo>
                  <a:pt x="1908" y="906"/>
                  <a:pt x="1760" y="892"/>
                  <a:pt x="1683" y="986"/>
                </a:cubicBezTo>
                <a:cubicBezTo>
                  <a:pt x="1605" y="1080"/>
                  <a:pt x="1586" y="1304"/>
                  <a:pt x="1496" y="1403"/>
                </a:cubicBezTo>
                <a:cubicBezTo>
                  <a:pt x="1408" y="1502"/>
                  <a:pt x="1265" y="1573"/>
                  <a:pt x="1149" y="1583"/>
                </a:cubicBezTo>
                <a:cubicBezTo>
                  <a:pt x="1032" y="1592"/>
                  <a:pt x="965" y="1502"/>
                  <a:pt x="811" y="1444"/>
                </a:cubicBezTo>
                <a:close/>
              </a:path>
            </a:pathLst>
          </a:custGeom>
          <a:noFill/>
          <a:ln w="38100" cmpd="sng">
            <a:solidFill>
              <a:srgbClr val="00FF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54" name="Line 18"/>
          <p:cNvSpPr>
            <a:spLocks noChangeShapeType="1"/>
          </p:cNvSpPr>
          <p:nvPr/>
        </p:nvSpPr>
        <p:spPr bwMode="auto">
          <a:xfrm rot="1505116" flipV="1">
            <a:off x="7002463" y="1876425"/>
            <a:ext cx="673100" cy="619125"/>
          </a:xfrm>
          <a:prstGeom prst="line">
            <a:avLst/>
          </a:prstGeom>
          <a:noFill/>
          <a:ln w="28575">
            <a:solidFill>
              <a:schemeClr val="accent1"/>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355" name="Line 19"/>
          <p:cNvSpPr>
            <a:spLocks noChangeShapeType="1"/>
          </p:cNvSpPr>
          <p:nvPr/>
        </p:nvSpPr>
        <p:spPr bwMode="auto">
          <a:xfrm rot="1499590" flipH="1" flipV="1">
            <a:off x="7132638" y="1527175"/>
            <a:ext cx="758825" cy="382588"/>
          </a:xfrm>
          <a:prstGeom prst="line">
            <a:avLst/>
          </a:prstGeom>
          <a:noFill/>
          <a:ln w="38100">
            <a:solidFill>
              <a:schemeClr val="bg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4356" name="Text Box 20"/>
          <p:cNvSpPr txBox="1">
            <a:spLocks noChangeArrowheads="1"/>
          </p:cNvSpPr>
          <p:nvPr/>
        </p:nvSpPr>
        <p:spPr bwMode="auto">
          <a:xfrm>
            <a:off x="5691188" y="2908300"/>
            <a:ext cx="9112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zh-CN" altLang="en-US" sz="2000" b="1">
                <a:solidFill>
                  <a:srgbClr val="00FF00"/>
                </a:solidFill>
                <a:latin typeface="Times New Roman" pitchFamily="18" charset="0"/>
                <a:ea typeface="楷体_GB2312" pitchFamily="49" charset="-122"/>
              </a:rPr>
              <a:t>刚体</a:t>
            </a:r>
          </a:p>
        </p:txBody>
      </p:sp>
      <p:sp>
        <p:nvSpPr>
          <p:cNvPr id="14357" name="Text Box 21"/>
          <p:cNvSpPr txBox="1">
            <a:spLocks noChangeArrowheads="1"/>
          </p:cNvSpPr>
          <p:nvPr/>
        </p:nvSpPr>
        <p:spPr bwMode="auto">
          <a:xfrm>
            <a:off x="7548563" y="1784350"/>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FFFF00"/>
                </a:solidFill>
                <a:latin typeface="Times New Roman" pitchFamily="18" charset="0"/>
                <a:sym typeface="Symbol" pitchFamily="18" charset="2"/>
              </a:rPr>
              <a:t></a:t>
            </a:r>
            <a:endParaRPr lang="en-US" altLang="zh-CN" sz="2400" b="1" i="1">
              <a:solidFill>
                <a:srgbClr val="FF00FF"/>
              </a:solidFill>
              <a:latin typeface="Times New Roman" pitchFamily="18" charset="0"/>
            </a:endParaRPr>
          </a:p>
        </p:txBody>
      </p:sp>
      <p:sp>
        <p:nvSpPr>
          <p:cNvPr id="14358" name="Line 22"/>
          <p:cNvSpPr>
            <a:spLocks noChangeShapeType="1"/>
          </p:cNvSpPr>
          <p:nvPr/>
        </p:nvSpPr>
        <p:spPr bwMode="auto">
          <a:xfrm>
            <a:off x="6907213" y="2344738"/>
            <a:ext cx="1625600" cy="479425"/>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9" name="Freeform 23"/>
          <p:cNvSpPr>
            <a:spLocks/>
          </p:cNvSpPr>
          <p:nvPr/>
        </p:nvSpPr>
        <p:spPr bwMode="auto">
          <a:xfrm>
            <a:off x="7231063" y="2222500"/>
            <a:ext cx="44450" cy="190500"/>
          </a:xfrm>
          <a:custGeom>
            <a:avLst/>
            <a:gdLst>
              <a:gd name="T0" fmla="*/ 0 w 47"/>
              <a:gd name="T1" fmla="*/ 0 h 210"/>
              <a:gd name="T2" fmla="*/ 2147483647 w 47"/>
              <a:gd name="T3" fmla="*/ 2147483647 h 210"/>
              <a:gd name="T4" fmla="*/ 2147483647 w 47"/>
              <a:gd name="T5" fmla="*/ 2147483647 h 210"/>
              <a:gd name="T6" fmla="*/ 0 60000 65536"/>
              <a:gd name="T7" fmla="*/ 0 60000 65536"/>
              <a:gd name="T8" fmla="*/ 0 60000 65536"/>
            </a:gdLst>
            <a:ahLst/>
            <a:cxnLst>
              <a:cxn ang="T6">
                <a:pos x="T0" y="T1"/>
              </a:cxn>
              <a:cxn ang="T7">
                <a:pos x="T2" y="T3"/>
              </a:cxn>
              <a:cxn ang="T8">
                <a:pos x="T4" y="T5"/>
              </a:cxn>
            </a:cxnLst>
            <a:rect l="0" t="0" r="r" b="b"/>
            <a:pathLst>
              <a:path w="47" h="210">
                <a:moveTo>
                  <a:pt x="0" y="0"/>
                </a:moveTo>
                <a:cubicBezTo>
                  <a:pt x="21" y="35"/>
                  <a:pt x="43" y="70"/>
                  <a:pt x="45" y="105"/>
                </a:cubicBezTo>
                <a:cubicBezTo>
                  <a:pt x="47" y="140"/>
                  <a:pt x="31" y="175"/>
                  <a:pt x="15" y="210"/>
                </a:cubicBezTo>
              </a:path>
            </a:pathLst>
          </a:custGeom>
          <a:noFill/>
          <a:ln w="19050" cmpd="sng">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60" name="Text Box 24"/>
          <p:cNvSpPr txBox="1">
            <a:spLocks noChangeArrowheads="1"/>
          </p:cNvSpPr>
          <p:nvPr/>
        </p:nvSpPr>
        <p:spPr bwMode="auto">
          <a:xfrm>
            <a:off x="8215313" y="3114675"/>
            <a:ext cx="5334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zh-CN" altLang="en-US" sz="2000" b="1">
                <a:solidFill>
                  <a:srgbClr val="00FF00"/>
                </a:solidFill>
                <a:latin typeface="Times New Roman" pitchFamily="18" charset="0"/>
                <a:ea typeface="楷体_GB2312" pitchFamily="49" charset="-122"/>
              </a:rPr>
              <a:t>参考方向</a:t>
            </a:r>
          </a:p>
        </p:txBody>
      </p:sp>
      <p:sp>
        <p:nvSpPr>
          <p:cNvPr id="14361" name="Text Box 25"/>
          <p:cNvSpPr txBox="1">
            <a:spLocks noChangeArrowheads="1"/>
          </p:cNvSpPr>
          <p:nvPr/>
        </p:nvSpPr>
        <p:spPr bwMode="auto">
          <a:xfrm>
            <a:off x="7107238" y="2112963"/>
            <a:ext cx="581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chemeClr val="bg1"/>
                </a:solidFill>
                <a:latin typeface="宋体" pitchFamily="2" charset="-122"/>
              </a:rPr>
              <a:t>θ</a:t>
            </a:r>
            <a:endParaRPr lang="en-US" altLang="zh-CN" sz="2400" b="1" i="1">
              <a:solidFill>
                <a:schemeClr val="accent1"/>
              </a:solidFill>
              <a:latin typeface="Times New Roman" pitchFamily="18" charset="0"/>
            </a:endParaRPr>
          </a:p>
        </p:txBody>
      </p:sp>
      <p:sp>
        <p:nvSpPr>
          <p:cNvPr id="14362" name="Text Box 26"/>
          <p:cNvSpPr txBox="1">
            <a:spLocks noChangeArrowheads="1"/>
          </p:cNvSpPr>
          <p:nvPr/>
        </p:nvSpPr>
        <p:spPr bwMode="auto">
          <a:xfrm>
            <a:off x="6611938" y="487363"/>
            <a:ext cx="5778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FFFF00"/>
                </a:solidFill>
                <a:latin typeface="Times New Roman" pitchFamily="18" charset="0"/>
              </a:rPr>
              <a:t>z</a:t>
            </a:r>
            <a:endParaRPr lang="en-US" altLang="zh-CN" sz="2400" b="1" i="1">
              <a:solidFill>
                <a:schemeClr val="accent2"/>
              </a:solidFill>
              <a:latin typeface="Times New Roman" pitchFamily="18" charset="0"/>
            </a:endParaRPr>
          </a:p>
        </p:txBody>
      </p:sp>
      <p:sp>
        <p:nvSpPr>
          <p:cNvPr id="14363" name="Line 27"/>
          <p:cNvSpPr>
            <a:spLocks noChangeShapeType="1"/>
          </p:cNvSpPr>
          <p:nvPr/>
        </p:nvSpPr>
        <p:spPr bwMode="auto">
          <a:xfrm flipV="1">
            <a:off x="6904038" y="525463"/>
            <a:ext cx="0" cy="1042987"/>
          </a:xfrm>
          <a:prstGeom prst="line">
            <a:avLst/>
          </a:prstGeom>
          <a:noFill/>
          <a:ln w="444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364" name="Text Box 28"/>
          <p:cNvSpPr txBox="1">
            <a:spLocks noChangeArrowheads="1"/>
          </p:cNvSpPr>
          <p:nvPr/>
        </p:nvSpPr>
        <p:spPr bwMode="auto">
          <a:xfrm>
            <a:off x="6443663" y="2049463"/>
            <a:ext cx="40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i="1">
                <a:solidFill>
                  <a:srgbClr val="FFFF00"/>
                </a:solidFill>
                <a:latin typeface="Times New Roman" pitchFamily="18" charset="0"/>
              </a:rPr>
              <a:t>O</a:t>
            </a:r>
          </a:p>
        </p:txBody>
      </p:sp>
      <p:sp>
        <p:nvSpPr>
          <p:cNvPr id="14365" name="Text Box 29"/>
          <p:cNvSpPr txBox="1">
            <a:spLocks noChangeArrowheads="1"/>
          </p:cNvSpPr>
          <p:nvPr/>
        </p:nvSpPr>
        <p:spPr bwMode="auto">
          <a:xfrm>
            <a:off x="7031038" y="1808163"/>
            <a:ext cx="368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i="1">
                <a:solidFill>
                  <a:srgbClr val="FFFF00"/>
                </a:solidFill>
                <a:latin typeface="Times New Roman" pitchFamily="18" charset="0"/>
              </a:rPr>
              <a:t>r'</a:t>
            </a:r>
          </a:p>
        </p:txBody>
      </p:sp>
      <p:sp>
        <p:nvSpPr>
          <p:cNvPr id="14366" name="Rectangle 30"/>
          <p:cNvSpPr>
            <a:spLocks noChangeArrowheads="1"/>
          </p:cNvSpPr>
          <p:nvPr/>
        </p:nvSpPr>
        <p:spPr bwMode="auto">
          <a:xfrm>
            <a:off x="6954838" y="3287713"/>
            <a:ext cx="825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000" b="1">
                <a:solidFill>
                  <a:srgbClr val="FFFF00"/>
                </a:solidFill>
                <a:latin typeface="楷体_GB2312" pitchFamily="49" charset="-122"/>
                <a:ea typeface="楷体_GB2312" pitchFamily="49" charset="-122"/>
              </a:rPr>
              <a:t>基点</a:t>
            </a:r>
            <a:r>
              <a:rPr lang="en-US" altLang="zh-CN" sz="2000" b="1" i="1">
                <a:solidFill>
                  <a:srgbClr val="FFFF00"/>
                </a:solidFill>
                <a:latin typeface="楷体_GB2312" pitchFamily="49" charset="-122"/>
                <a:ea typeface="楷体_GB2312" pitchFamily="49" charset="-122"/>
              </a:rPr>
              <a:t>O</a:t>
            </a:r>
          </a:p>
        </p:txBody>
      </p:sp>
      <p:sp>
        <p:nvSpPr>
          <p:cNvPr id="14368" name="AutoShape 32"/>
          <p:cNvSpPr>
            <a:spLocks noChangeArrowheads="1"/>
          </p:cNvSpPr>
          <p:nvPr/>
        </p:nvSpPr>
        <p:spPr bwMode="auto">
          <a:xfrm>
            <a:off x="7107238" y="4221163"/>
            <a:ext cx="533400" cy="304800"/>
          </a:xfrm>
          <a:prstGeom prst="rightArrow">
            <a:avLst>
              <a:gd name="adj1" fmla="val 50000"/>
              <a:gd name="adj2" fmla="val 437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zh-CN" sz="2400">
              <a:solidFill>
                <a:srgbClr val="FF0000"/>
              </a:solidFill>
              <a:latin typeface="Times New Roman" pitchFamily="18" charset="0"/>
            </a:endParaRPr>
          </a:p>
        </p:txBody>
      </p:sp>
      <p:sp>
        <p:nvSpPr>
          <p:cNvPr id="14369" name="Text Box 33"/>
          <p:cNvSpPr txBox="1">
            <a:spLocks noChangeArrowheads="1"/>
          </p:cNvSpPr>
          <p:nvPr/>
        </p:nvSpPr>
        <p:spPr bwMode="auto">
          <a:xfrm>
            <a:off x="323850" y="1457325"/>
            <a:ext cx="4535488"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zh-CN" altLang="en-US" sz="2400" b="1">
                <a:solidFill>
                  <a:schemeClr val="bg1"/>
                </a:solidFill>
                <a:latin typeface="Times New Roman" pitchFamily="18" charset="0"/>
              </a:rPr>
              <a:t>任意点都绕同一轴作圆周运动</a:t>
            </a:r>
            <a:r>
              <a:rPr lang="en-US" altLang="zh-CN" sz="2400" b="1">
                <a:solidFill>
                  <a:schemeClr val="bg1"/>
                </a:solidFill>
                <a:latin typeface="Times New Roman" pitchFamily="18" charset="0"/>
              </a:rPr>
              <a:t>, </a:t>
            </a:r>
            <a:r>
              <a:rPr lang="zh-CN" altLang="en-US" sz="2400" b="1">
                <a:solidFill>
                  <a:schemeClr val="bg1"/>
                </a:solidFill>
              </a:rPr>
              <a:t>且 </a:t>
            </a:r>
            <a:r>
              <a:rPr lang="zh-CN" altLang="en-US" sz="2400" b="1" i="1">
                <a:solidFill>
                  <a:srgbClr val="66FFFF"/>
                </a:solidFill>
                <a:sym typeface="Symbol" pitchFamily="18" charset="2"/>
              </a:rPr>
              <a:t></a:t>
            </a:r>
            <a:r>
              <a:rPr lang="zh-CN" altLang="en-US" sz="2400" b="1" i="1">
                <a:solidFill>
                  <a:schemeClr val="bg1"/>
                </a:solidFill>
              </a:rPr>
              <a:t>，</a:t>
            </a:r>
            <a:r>
              <a:rPr lang="zh-CN" altLang="en-US" sz="2400" b="1" i="1">
                <a:solidFill>
                  <a:srgbClr val="66FFFF"/>
                </a:solidFill>
                <a:sym typeface="Symbol" pitchFamily="18" charset="2"/>
              </a:rPr>
              <a:t> </a:t>
            </a:r>
            <a:r>
              <a:rPr lang="zh-CN" altLang="en-US" sz="2400" b="1">
                <a:solidFill>
                  <a:srgbClr val="66FFFF"/>
                </a:solidFill>
              </a:rPr>
              <a:t> </a:t>
            </a:r>
            <a:r>
              <a:rPr lang="zh-CN" altLang="en-US" sz="2400" b="1">
                <a:solidFill>
                  <a:schemeClr val="bg1"/>
                </a:solidFill>
              </a:rPr>
              <a:t>都相同</a:t>
            </a:r>
            <a:endParaRPr lang="zh-CN" altLang="en-US" sz="2400">
              <a:solidFill>
                <a:schemeClr val="bg1"/>
              </a:solidFill>
            </a:endParaRPr>
          </a:p>
        </p:txBody>
      </p:sp>
      <p:sp>
        <p:nvSpPr>
          <p:cNvPr id="14371" name="Rectangle 35"/>
          <p:cNvSpPr>
            <a:spLocks noChangeArrowheads="1"/>
          </p:cNvSpPr>
          <p:nvPr/>
        </p:nvSpPr>
        <p:spPr bwMode="auto">
          <a:xfrm>
            <a:off x="1187450" y="2649538"/>
            <a:ext cx="2160588" cy="176371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72" name="Object 36"/>
          <p:cNvGraphicFramePr>
            <a:graphicFrameLocks noChangeAspect="1"/>
          </p:cNvGraphicFramePr>
          <p:nvPr/>
        </p:nvGraphicFramePr>
        <p:xfrm>
          <a:off x="7313613" y="2846388"/>
          <a:ext cx="215900" cy="293687"/>
        </p:xfrm>
        <a:graphic>
          <a:graphicData uri="http://schemas.openxmlformats.org/presentationml/2006/ole">
            <mc:AlternateContent xmlns:mc="http://schemas.openxmlformats.org/markup-compatibility/2006">
              <mc:Choice xmlns:v="urn:schemas-microsoft-com:vml" Requires="v">
                <p:oleObj spid="_x0000_s4131" name="Equation" r:id="rId9" imgW="123903" imgH="200021" progId="Equation.3">
                  <p:embed/>
                </p:oleObj>
              </mc:Choice>
              <mc:Fallback>
                <p:oleObj name="Equation" r:id="rId9" imgW="123903" imgH="200021" progId="Equation.3">
                  <p:embed/>
                  <p:pic>
                    <p:nvPicPr>
                      <p:cNvPr id="0" name="Object 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13613" y="2846388"/>
                        <a:ext cx="215900" cy="29368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3" name="Object 37"/>
          <p:cNvGraphicFramePr>
            <a:graphicFrameLocks noChangeAspect="1"/>
          </p:cNvGraphicFramePr>
          <p:nvPr/>
        </p:nvGraphicFramePr>
        <p:xfrm>
          <a:off x="7383463" y="1111250"/>
          <a:ext cx="228600" cy="306388"/>
        </p:xfrm>
        <a:graphic>
          <a:graphicData uri="http://schemas.openxmlformats.org/presentationml/2006/ole">
            <mc:AlternateContent xmlns:mc="http://schemas.openxmlformats.org/markup-compatibility/2006">
              <mc:Choice xmlns:v="urn:schemas-microsoft-com:vml" Requires="v">
                <p:oleObj spid="_x0000_s4132" name="公式" r:id="rId11" imgW="133351" imgH="219186" progId="Equation.3">
                  <p:embed/>
                </p:oleObj>
              </mc:Choice>
              <mc:Fallback>
                <p:oleObj name="公式" r:id="rId11" imgW="133351" imgH="219186" progId="Equation.3">
                  <p:embed/>
                  <p:pic>
                    <p:nvPicPr>
                      <p:cNvPr id="0" name="Object 3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83463" y="1111250"/>
                        <a:ext cx="228600" cy="30638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74" name="Arc 38"/>
          <p:cNvSpPr>
            <a:spLocks/>
          </p:cNvSpPr>
          <p:nvPr/>
        </p:nvSpPr>
        <p:spPr bwMode="auto">
          <a:xfrm flipH="1">
            <a:off x="6659563" y="1169988"/>
            <a:ext cx="479425" cy="215900"/>
          </a:xfrm>
          <a:custGeom>
            <a:avLst/>
            <a:gdLst>
              <a:gd name="T0" fmla="*/ 2147483647 w 43200"/>
              <a:gd name="T1" fmla="*/ 0 h 38804"/>
              <a:gd name="T2" fmla="*/ 2147483647 w 43200"/>
              <a:gd name="T3" fmla="*/ 1395066676 h 38804"/>
              <a:gd name="T4" fmla="*/ 2147483647 w 43200"/>
              <a:gd name="T5" fmla="*/ 2147483647 h 38804"/>
              <a:gd name="T6" fmla="*/ 0 60000 65536"/>
              <a:gd name="T7" fmla="*/ 0 60000 65536"/>
              <a:gd name="T8" fmla="*/ 0 60000 65536"/>
            </a:gdLst>
            <a:ahLst/>
            <a:cxnLst>
              <a:cxn ang="T6">
                <a:pos x="T0" y="T1"/>
              </a:cxn>
              <a:cxn ang="T7">
                <a:pos x="T2" y="T3"/>
              </a:cxn>
              <a:cxn ang="T8">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lnTo>
                  <a:pt x="34660" y="0"/>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矩形 1"/>
          <p:cNvSpPr>
            <a:spLocks noChangeArrowheads="1"/>
          </p:cNvSpPr>
          <p:nvPr/>
        </p:nvSpPr>
        <p:spPr bwMode="auto">
          <a:xfrm>
            <a:off x="7556500" y="1106488"/>
            <a:ext cx="142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a:solidFill>
                  <a:srgbClr val="FFC000"/>
                </a:solidFill>
              </a:rPr>
              <a:t>右手定则</a:t>
            </a:r>
            <a:endParaRPr lang="zh-CN" altLang="en-US" sz="2400" b="1">
              <a:solidFill>
                <a:srgbClr val="FFC000"/>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53"/>
                                        </p:tgtEl>
                                        <p:attrNameLst>
                                          <p:attrName>style.visibility</p:attrName>
                                        </p:attrNameLst>
                                      </p:cBhvr>
                                      <p:to>
                                        <p:strVal val="visible"/>
                                      </p:to>
                                    </p:set>
                                    <p:animEffect transition="in" filter="wipe(left)">
                                      <p:cBhvr>
                                        <p:cTn id="7" dur="500"/>
                                        <p:tgtEl>
                                          <p:spTgt spid="143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56"/>
                                        </p:tgtEl>
                                        <p:attrNameLst>
                                          <p:attrName>style.visibility</p:attrName>
                                        </p:attrNameLst>
                                      </p:cBhvr>
                                      <p:to>
                                        <p:strVal val="visible"/>
                                      </p:to>
                                    </p:set>
                                    <p:animEffect transition="in" filter="wipe(left)">
                                      <p:cBhvr>
                                        <p:cTn id="12" dur="500"/>
                                        <p:tgtEl>
                                          <p:spTgt spid="143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51"/>
                                        </p:tgtEl>
                                        <p:attrNameLst>
                                          <p:attrName>style.visibility</p:attrName>
                                        </p:attrNameLst>
                                      </p:cBhvr>
                                      <p:to>
                                        <p:strVal val="visible"/>
                                      </p:to>
                                    </p:set>
                                    <p:animEffect transition="in" filter="wipe(left)">
                                      <p:cBhvr>
                                        <p:cTn id="17" dur="500"/>
                                        <p:tgtEl>
                                          <p:spTgt spid="143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362"/>
                                        </p:tgtEl>
                                        <p:attrNameLst>
                                          <p:attrName>style.visibility</p:attrName>
                                        </p:attrNameLst>
                                      </p:cBhvr>
                                      <p:to>
                                        <p:strVal val="visible"/>
                                      </p:to>
                                    </p:set>
                                    <p:animEffect transition="in" filter="wipe(left)">
                                      <p:cBhvr>
                                        <p:cTn id="22" dur="500"/>
                                        <p:tgtEl>
                                          <p:spTgt spid="143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4374"/>
                                        </p:tgtEl>
                                        <p:attrNameLst>
                                          <p:attrName>style.visibility</p:attrName>
                                        </p:attrNameLst>
                                      </p:cBhvr>
                                      <p:to>
                                        <p:strVal val="visible"/>
                                      </p:to>
                                    </p:set>
                                    <p:animEffect transition="in" filter="wipe(down)">
                                      <p:cBhvr>
                                        <p:cTn id="27" dur="500"/>
                                        <p:tgtEl>
                                          <p:spTgt spid="1437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369"/>
                                        </p:tgtEl>
                                        <p:attrNameLst>
                                          <p:attrName>style.visibility</p:attrName>
                                        </p:attrNameLst>
                                      </p:cBhvr>
                                      <p:to>
                                        <p:strVal val="visible"/>
                                      </p:to>
                                    </p:set>
                                    <p:animEffect transition="in" filter="wipe(left)">
                                      <p:cBhvr>
                                        <p:cTn id="32" dur="500"/>
                                        <p:tgtEl>
                                          <p:spTgt spid="1436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363"/>
                                        </p:tgtEl>
                                        <p:attrNameLst>
                                          <p:attrName>style.visibility</p:attrName>
                                        </p:attrNameLst>
                                      </p:cBhvr>
                                      <p:to>
                                        <p:strVal val="visible"/>
                                      </p:to>
                                    </p:set>
                                    <p:animEffect transition="in" filter="wipe(left)">
                                      <p:cBhvr>
                                        <p:cTn id="37" dur="500"/>
                                        <p:tgtEl>
                                          <p:spTgt spid="1436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349"/>
                                        </p:tgtEl>
                                        <p:attrNameLst>
                                          <p:attrName>style.visibility</p:attrName>
                                        </p:attrNameLst>
                                      </p:cBhvr>
                                      <p:to>
                                        <p:strVal val="visible"/>
                                      </p:to>
                                    </p:set>
                                    <p:animEffect transition="in" filter="wipe(left)">
                                      <p:cBhvr>
                                        <p:cTn id="42" dur="500"/>
                                        <p:tgtEl>
                                          <p:spTgt spid="1434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348"/>
                                        </p:tgtEl>
                                        <p:attrNameLst>
                                          <p:attrName>style.visibility</p:attrName>
                                        </p:attrNameLst>
                                      </p:cBhvr>
                                      <p:to>
                                        <p:strVal val="visible"/>
                                      </p:to>
                                    </p:set>
                                    <p:animEffect transition="in" filter="wipe(left)">
                                      <p:cBhvr>
                                        <p:cTn id="47" dur="500"/>
                                        <p:tgtEl>
                                          <p:spTgt spid="1434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4366"/>
                                        </p:tgtEl>
                                        <p:attrNameLst>
                                          <p:attrName>style.visibility</p:attrName>
                                        </p:attrNameLst>
                                      </p:cBhvr>
                                      <p:to>
                                        <p:strVal val="visible"/>
                                      </p:to>
                                    </p:set>
                                    <p:animEffect transition="in" filter="wipe(left)">
                                      <p:cBhvr>
                                        <p:cTn id="52" dur="500"/>
                                        <p:tgtEl>
                                          <p:spTgt spid="1436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357"/>
                                        </p:tgtEl>
                                        <p:attrNameLst>
                                          <p:attrName>style.visibility</p:attrName>
                                        </p:attrNameLst>
                                      </p:cBhvr>
                                      <p:to>
                                        <p:strVal val="visible"/>
                                      </p:to>
                                    </p:set>
                                    <p:animEffect transition="in" filter="wipe(left)">
                                      <p:cBhvr>
                                        <p:cTn id="57" dur="500"/>
                                        <p:tgtEl>
                                          <p:spTgt spid="1435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4347"/>
                                        </p:tgtEl>
                                        <p:attrNameLst>
                                          <p:attrName>style.visibility</p:attrName>
                                        </p:attrNameLst>
                                      </p:cBhvr>
                                      <p:to>
                                        <p:strVal val="visible"/>
                                      </p:to>
                                    </p:set>
                                    <p:animEffect transition="in" filter="wipe(left)">
                                      <p:cBhvr>
                                        <p:cTn id="62" dur="500"/>
                                        <p:tgtEl>
                                          <p:spTgt spid="1434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4350"/>
                                        </p:tgtEl>
                                        <p:attrNameLst>
                                          <p:attrName>style.visibility</p:attrName>
                                        </p:attrNameLst>
                                      </p:cBhvr>
                                      <p:to>
                                        <p:strVal val="visible"/>
                                      </p:to>
                                    </p:set>
                                    <p:animEffect transition="in" filter="wipe(left)">
                                      <p:cBhvr>
                                        <p:cTn id="67" dur="500"/>
                                        <p:tgtEl>
                                          <p:spTgt spid="1435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14372"/>
                                        </p:tgtEl>
                                        <p:attrNameLst>
                                          <p:attrName>style.visibility</p:attrName>
                                        </p:attrNameLst>
                                      </p:cBhvr>
                                      <p:to>
                                        <p:strVal val="visible"/>
                                      </p:to>
                                    </p:set>
                                    <p:animEffect transition="in" filter="wipe(left)">
                                      <p:cBhvr>
                                        <p:cTn id="72" dur="500"/>
                                        <p:tgtEl>
                                          <p:spTgt spid="1437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2" fill="hold" grpId="0" nodeType="clickEffect">
                                  <p:stCondLst>
                                    <p:cond delay="0"/>
                                  </p:stCondLst>
                                  <p:childTnLst>
                                    <p:set>
                                      <p:cBhvr>
                                        <p:cTn id="76" dur="1" fill="hold">
                                          <p:stCondLst>
                                            <p:cond delay="0"/>
                                          </p:stCondLst>
                                        </p:cTn>
                                        <p:tgtEl>
                                          <p:spTgt spid="14355"/>
                                        </p:tgtEl>
                                        <p:attrNameLst>
                                          <p:attrName>style.visibility</p:attrName>
                                        </p:attrNameLst>
                                      </p:cBhvr>
                                      <p:to>
                                        <p:strVal val="visible"/>
                                      </p:to>
                                    </p:set>
                                    <p:animEffect transition="in" filter="wipe(right)">
                                      <p:cBhvr>
                                        <p:cTn id="77" dur="500"/>
                                        <p:tgtEl>
                                          <p:spTgt spid="1435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4373"/>
                                        </p:tgtEl>
                                        <p:attrNameLst>
                                          <p:attrName>style.visibility</p:attrName>
                                        </p:attrNameLst>
                                      </p:cBhvr>
                                      <p:to>
                                        <p:strVal val="visible"/>
                                      </p:to>
                                    </p:set>
                                    <p:animEffect transition="in" filter="wipe(left)">
                                      <p:cBhvr>
                                        <p:cTn id="82" dur="500"/>
                                        <p:tgtEl>
                                          <p:spTgt spid="1437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4" presetClass="entr" presetSubtype="32" fill="hold" grpId="0" nodeType="clickEffect">
                                  <p:stCondLst>
                                    <p:cond delay="0"/>
                                  </p:stCondLst>
                                  <p:childTnLst>
                                    <p:set>
                                      <p:cBhvr>
                                        <p:cTn id="86" dur="1" fill="hold">
                                          <p:stCondLst>
                                            <p:cond delay="0"/>
                                          </p:stCondLst>
                                        </p:cTn>
                                        <p:tgtEl>
                                          <p:spTgt spid="14352"/>
                                        </p:tgtEl>
                                        <p:attrNameLst>
                                          <p:attrName>style.visibility</p:attrName>
                                        </p:attrNameLst>
                                      </p:cBhvr>
                                      <p:to>
                                        <p:strVal val="visible"/>
                                      </p:to>
                                    </p:set>
                                    <p:animEffect transition="in" filter="box(out)">
                                      <p:cBhvr>
                                        <p:cTn id="87" dur="500"/>
                                        <p:tgtEl>
                                          <p:spTgt spid="14352"/>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4364"/>
                                        </p:tgtEl>
                                        <p:attrNameLst>
                                          <p:attrName>style.visibility</p:attrName>
                                        </p:attrNameLst>
                                      </p:cBhvr>
                                      <p:to>
                                        <p:strVal val="visible"/>
                                      </p:to>
                                    </p:set>
                                    <p:animEffect transition="in" filter="wipe(left)">
                                      <p:cBhvr>
                                        <p:cTn id="92" dur="500"/>
                                        <p:tgtEl>
                                          <p:spTgt spid="1436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4354"/>
                                        </p:tgtEl>
                                        <p:attrNameLst>
                                          <p:attrName>style.visibility</p:attrName>
                                        </p:attrNameLst>
                                      </p:cBhvr>
                                      <p:to>
                                        <p:strVal val="visible"/>
                                      </p:to>
                                    </p:set>
                                    <p:animEffect transition="in" filter="wipe(left)">
                                      <p:cBhvr>
                                        <p:cTn id="97" dur="500"/>
                                        <p:tgtEl>
                                          <p:spTgt spid="14354"/>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4365"/>
                                        </p:tgtEl>
                                        <p:attrNameLst>
                                          <p:attrName>style.visibility</p:attrName>
                                        </p:attrNameLst>
                                      </p:cBhvr>
                                      <p:to>
                                        <p:strVal val="visible"/>
                                      </p:to>
                                    </p:set>
                                    <p:animEffect transition="in" filter="wipe(left)">
                                      <p:cBhvr>
                                        <p:cTn id="102" dur="500"/>
                                        <p:tgtEl>
                                          <p:spTgt spid="14365"/>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14358"/>
                                        </p:tgtEl>
                                        <p:attrNameLst>
                                          <p:attrName>style.visibility</p:attrName>
                                        </p:attrNameLst>
                                      </p:cBhvr>
                                      <p:to>
                                        <p:strVal val="visible"/>
                                      </p:to>
                                    </p:set>
                                    <p:animEffect transition="in" filter="wipe(left)">
                                      <p:cBhvr>
                                        <p:cTn id="107" dur="500"/>
                                        <p:tgtEl>
                                          <p:spTgt spid="14358"/>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4360"/>
                                        </p:tgtEl>
                                        <p:attrNameLst>
                                          <p:attrName>style.visibility</p:attrName>
                                        </p:attrNameLst>
                                      </p:cBhvr>
                                      <p:to>
                                        <p:strVal val="visible"/>
                                      </p:to>
                                    </p:set>
                                    <p:animEffect transition="in" filter="wipe(left)">
                                      <p:cBhvr>
                                        <p:cTn id="112" dur="500"/>
                                        <p:tgtEl>
                                          <p:spTgt spid="14360"/>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4359"/>
                                        </p:tgtEl>
                                        <p:attrNameLst>
                                          <p:attrName>style.visibility</p:attrName>
                                        </p:attrNameLst>
                                      </p:cBhvr>
                                      <p:to>
                                        <p:strVal val="visible"/>
                                      </p:to>
                                    </p:set>
                                    <p:animEffect transition="in" filter="wipe(left)">
                                      <p:cBhvr>
                                        <p:cTn id="117" dur="500"/>
                                        <p:tgtEl>
                                          <p:spTgt spid="14359"/>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14361"/>
                                        </p:tgtEl>
                                        <p:attrNameLst>
                                          <p:attrName>style.visibility</p:attrName>
                                        </p:attrNameLst>
                                      </p:cBhvr>
                                      <p:to>
                                        <p:strVal val="visible"/>
                                      </p:to>
                                    </p:set>
                                    <p:animEffect transition="in" filter="wipe(left)">
                                      <p:cBhvr>
                                        <p:cTn id="122" dur="500"/>
                                        <p:tgtEl>
                                          <p:spTgt spid="14361"/>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14368"/>
                                        </p:tgtEl>
                                        <p:attrNameLst>
                                          <p:attrName>style.visibility</p:attrName>
                                        </p:attrNameLst>
                                      </p:cBhvr>
                                      <p:to>
                                        <p:strVal val="visible"/>
                                      </p:to>
                                    </p:set>
                                    <p:animEffect transition="in" filter="wipe(left)">
                                      <p:cBhvr>
                                        <p:cTn id="127" dur="500"/>
                                        <p:tgtEl>
                                          <p:spTgt spid="14368"/>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14346"/>
                                        </p:tgtEl>
                                        <p:attrNameLst>
                                          <p:attrName>style.visibility</p:attrName>
                                        </p:attrNameLst>
                                      </p:cBhvr>
                                      <p:to>
                                        <p:strVal val="visible"/>
                                      </p:to>
                                    </p:set>
                                    <p:animEffect transition="in" filter="wipe(left)">
                                      <p:cBhvr>
                                        <p:cTn id="132" dur="500"/>
                                        <p:tgtEl>
                                          <p:spTgt spid="14346"/>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2"/>
                                        </p:tgtEl>
                                        <p:attrNameLst>
                                          <p:attrName>style.visibility</p:attrName>
                                        </p:attrNameLst>
                                      </p:cBhvr>
                                      <p:to>
                                        <p:strVal val="visible"/>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14371"/>
                                        </p:tgtEl>
                                        <p:attrNameLst>
                                          <p:attrName>style.visibility</p:attrName>
                                        </p:attrNameLst>
                                      </p:cBhvr>
                                      <p:to>
                                        <p:strVal val="visible"/>
                                      </p:to>
                                    </p:set>
                                    <p:animEffect transition="in" filter="wipe(left)">
                                      <p:cBhvr>
                                        <p:cTn id="141" dur="500"/>
                                        <p:tgtEl>
                                          <p:spTgt spid="14371"/>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8" fill="hold" nodeType="clickEffect">
                                  <p:stCondLst>
                                    <p:cond delay="0"/>
                                  </p:stCondLst>
                                  <p:childTnLst>
                                    <p:set>
                                      <p:cBhvr>
                                        <p:cTn id="145" dur="1" fill="hold">
                                          <p:stCondLst>
                                            <p:cond delay="0"/>
                                          </p:stCondLst>
                                        </p:cTn>
                                        <p:tgtEl>
                                          <p:spTgt spid="14339"/>
                                        </p:tgtEl>
                                        <p:attrNameLst>
                                          <p:attrName>style.visibility</p:attrName>
                                        </p:attrNameLst>
                                      </p:cBhvr>
                                      <p:to>
                                        <p:strVal val="visible"/>
                                      </p:to>
                                    </p:set>
                                    <p:animEffect transition="in" filter="wipe(left)">
                                      <p:cBhvr>
                                        <p:cTn id="146" dur="500"/>
                                        <p:tgtEl>
                                          <p:spTgt spid="14339"/>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8" fill="hold" nodeType="clickEffect">
                                  <p:stCondLst>
                                    <p:cond delay="0"/>
                                  </p:stCondLst>
                                  <p:childTnLst>
                                    <p:set>
                                      <p:cBhvr>
                                        <p:cTn id="150" dur="1" fill="hold">
                                          <p:stCondLst>
                                            <p:cond delay="0"/>
                                          </p:stCondLst>
                                        </p:cTn>
                                        <p:tgtEl>
                                          <p:spTgt spid="14340"/>
                                        </p:tgtEl>
                                        <p:attrNameLst>
                                          <p:attrName>style.visibility</p:attrName>
                                        </p:attrNameLst>
                                      </p:cBhvr>
                                      <p:to>
                                        <p:strVal val="visible"/>
                                      </p:to>
                                    </p:set>
                                    <p:animEffect transition="in" filter="wipe(left)">
                                      <p:cBhvr>
                                        <p:cTn id="151" dur="500"/>
                                        <p:tgtEl>
                                          <p:spTgt spid="14340"/>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22" presetClass="entr" presetSubtype="8" fill="hold" nodeType="clickEffect">
                                  <p:stCondLst>
                                    <p:cond delay="0"/>
                                  </p:stCondLst>
                                  <p:childTnLst>
                                    <p:set>
                                      <p:cBhvr>
                                        <p:cTn id="155" dur="1" fill="hold">
                                          <p:stCondLst>
                                            <p:cond delay="0"/>
                                          </p:stCondLst>
                                        </p:cTn>
                                        <p:tgtEl>
                                          <p:spTgt spid="14341"/>
                                        </p:tgtEl>
                                        <p:attrNameLst>
                                          <p:attrName>style.visibility</p:attrName>
                                        </p:attrNameLst>
                                      </p:cBhvr>
                                      <p:to>
                                        <p:strVal val="visible"/>
                                      </p:to>
                                    </p:set>
                                    <p:animEffect transition="in" filter="wipe(left)">
                                      <p:cBhvr>
                                        <p:cTn id="156" dur="500"/>
                                        <p:tgtEl>
                                          <p:spTgt spid="14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6" grpId="0" autoUpdateAnimBg="0"/>
      <p:bldP spid="14347" grpId="0" autoUpdateAnimBg="0"/>
      <p:bldP spid="14348" grpId="0" autoUpdateAnimBg="0"/>
      <p:bldP spid="14349" grpId="0" autoUpdateAnimBg="0"/>
      <p:bldP spid="14350" grpId="0" animBg="1"/>
      <p:bldP spid="14351" grpId="0" animBg="1"/>
      <p:bldP spid="14352" grpId="0" animBg="1"/>
      <p:bldP spid="14353" grpId="0" animBg="1"/>
      <p:bldP spid="14354" grpId="0" animBg="1"/>
      <p:bldP spid="14355" grpId="0" animBg="1"/>
      <p:bldP spid="14356" grpId="0" autoUpdateAnimBg="0"/>
      <p:bldP spid="14357" grpId="0" autoUpdateAnimBg="0"/>
      <p:bldP spid="14358" grpId="0" animBg="1"/>
      <p:bldP spid="14359" grpId="0" animBg="1"/>
      <p:bldP spid="14360" grpId="0" autoUpdateAnimBg="0"/>
      <p:bldP spid="14361" grpId="0" autoUpdateAnimBg="0"/>
      <p:bldP spid="14362" grpId="0" autoUpdateAnimBg="0"/>
      <p:bldP spid="14363" grpId="0" animBg="1"/>
      <p:bldP spid="14364" grpId="0"/>
      <p:bldP spid="14365" grpId="0"/>
      <p:bldP spid="14366" grpId="0" autoUpdateAnimBg="0"/>
      <p:bldP spid="14368" grpId="0" animBg="1" autoUpdateAnimBg="0"/>
      <p:bldP spid="14369" grpId="0" autoUpdateAnimBg="0"/>
      <p:bldP spid="14371" grpId="0" animBg="1"/>
      <p:bldP spid="14374" grpId="0" animBg="1"/>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组合 34"/>
          <p:cNvGrpSpPr>
            <a:grpSpLocks/>
          </p:cNvGrpSpPr>
          <p:nvPr/>
        </p:nvGrpSpPr>
        <p:grpSpPr bwMode="auto">
          <a:xfrm>
            <a:off x="5456238" y="487363"/>
            <a:ext cx="3522662" cy="4210050"/>
            <a:chOff x="5456238" y="487363"/>
            <a:chExt cx="3522662" cy="4210050"/>
          </a:xfrm>
        </p:grpSpPr>
        <p:sp>
          <p:nvSpPr>
            <p:cNvPr id="11276" name="Text Box 10"/>
            <p:cNvSpPr txBox="1">
              <a:spLocks noChangeArrowheads="1"/>
            </p:cNvSpPr>
            <p:nvPr/>
          </p:nvSpPr>
          <p:spPr bwMode="auto">
            <a:xfrm>
              <a:off x="7640638" y="4164013"/>
              <a:ext cx="990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zh-CN" altLang="en-US" sz="2000" b="1">
                  <a:solidFill>
                    <a:schemeClr val="bg1"/>
                  </a:solidFill>
                  <a:latin typeface="Times New Roman" pitchFamily="18" charset="0"/>
                  <a:ea typeface="楷体_GB2312" pitchFamily="49" charset="-122"/>
                </a:rPr>
                <a:t>定轴</a:t>
              </a:r>
            </a:p>
          </p:txBody>
        </p:sp>
        <p:sp>
          <p:nvSpPr>
            <p:cNvPr id="11277" name="Text Box 11"/>
            <p:cNvSpPr txBox="1">
              <a:spLocks noChangeArrowheads="1"/>
            </p:cNvSpPr>
            <p:nvPr/>
          </p:nvSpPr>
          <p:spPr bwMode="auto">
            <a:xfrm>
              <a:off x="7796213" y="1720850"/>
              <a:ext cx="558800"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FF00FF"/>
                  </a:solidFill>
                  <a:latin typeface="Times New Roman" pitchFamily="18" charset="0"/>
                </a:rPr>
                <a:t>M</a:t>
              </a:r>
            </a:p>
          </p:txBody>
        </p:sp>
        <p:sp>
          <p:nvSpPr>
            <p:cNvPr id="11278" name="Text Box 12"/>
            <p:cNvSpPr txBox="1">
              <a:spLocks noChangeArrowheads="1"/>
            </p:cNvSpPr>
            <p:nvPr/>
          </p:nvSpPr>
          <p:spPr bwMode="auto">
            <a:xfrm>
              <a:off x="6675438" y="3155950"/>
              <a:ext cx="847725"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a:solidFill>
                    <a:schemeClr val="bg1"/>
                  </a:solidFill>
                  <a:latin typeface="宋体" pitchFamily="2" charset="-122"/>
                </a:rPr>
                <a:t>×</a:t>
              </a:r>
              <a:endParaRPr lang="en-US" altLang="zh-CN" sz="2400" b="1">
                <a:solidFill>
                  <a:schemeClr val="bg1"/>
                </a:solidFill>
                <a:latin typeface="Times New Roman" pitchFamily="18" charset="0"/>
              </a:endParaRPr>
            </a:p>
          </p:txBody>
        </p:sp>
        <p:sp>
          <p:nvSpPr>
            <p:cNvPr id="11279" name="Text Box 13"/>
            <p:cNvSpPr txBox="1">
              <a:spLocks noChangeArrowheads="1"/>
            </p:cNvSpPr>
            <p:nvPr/>
          </p:nvSpPr>
          <p:spPr bwMode="auto">
            <a:xfrm>
              <a:off x="7031038" y="665163"/>
              <a:ext cx="10191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ω,</a:t>
              </a:r>
              <a:r>
                <a:rPr lang="en-US" altLang="zh-CN" sz="2400" i="1">
                  <a:solidFill>
                    <a:srgbClr val="FFFF00"/>
                  </a:solidFill>
                  <a:latin typeface="Times New Roman" pitchFamily="18" charset="0"/>
                  <a:sym typeface="Symbol" pitchFamily="18" charset="2"/>
                </a:rPr>
                <a:t></a:t>
              </a:r>
              <a:endParaRPr lang="en-US" altLang="zh-CN" sz="2400" i="1">
                <a:solidFill>
                  <a:srgbClr val="FFFF00"/>
                </a:solidFill>
                <a:latin typeface="Times New Roman" pitchFamily="18" charset="0"/>
              </a:endParaRPr>
            </a:p>
          </p:txBody>
        </p:sp>
        <p:sp>
          <p:nvSpPr>
            <p:cNvPr id="11280" name="Line 14"/>
            <p:cNvSpPr>
              <a:spLocks noChangeShapeType="1"/>
            </p:cNvSpPr>
            <p:nvPr/>
          </p:nvSpPr>
          <p:spPr bwMode="auto">
            <a:xfrm flipV="1">
              <a:off x="6929438" y="2046288"/>
              <a:ext cx="790575" cy="1355725"/>
            </a:xfrm>
            <a:prstGeom prst="line">
              <a:avLst/>
            </a:prstGeom>
            <a:noFill/>
            <a:ln w="3810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1281" name="Line 15"/>
            <p:cNvSpPr>
              <a:spLocks noChangeShapeType="1"/>
            </p:cNvSpPr>
            <p:nvPr/>
          </p:nvSpPr>
          <p:spPr bwMode="auto">
            <a:xfrm rot="1503001" flipH="1" flipV="1">
              <a:off x="6059488" y="935038"/>
              <a:ext cx="1730375" cy="3581400"/>
            </a:xfrm>
            <a:prstGeom prst="line">
              <a:avLst/>
            </a:prstGeom>
            <a:noFill/>
            <a:ln w="28575">
              <a:solidFill>
                <a:srgbClr val="FFFF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2" name="Oval 16"/>
            <p:cNvSpPr>
              <a:spLocks noChangeArrowheads="1"/>
            </p:cNvSpPr>
            <p:nvPr/>
          </p:nvSpPr>
          <p:spPr bwMode="auto">
            <a:xfrm rot="6145">
              <a:off x="5932488" y="1801813"/>
              <a:ext cx="1987550" cy="998537"/>
            </a:xfrm>
            <a:prstGeom prst="ellipse">
              <a:avLst/>
            </a:prstGeom>
            <a:noFill/>
            <a:ln w="28575">
              <a:solidFill>
                <a:schemeClr val="accent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83" name="Freeform 17"/>
            <p:cNvSpPr>
              <a:spLocks/>
            </p:cNvSpPr>
            <p:nvPr/>
          </p:nvSpPr>
          <p:spPr bwMode="auto">
            <a:xfrm>
              <a:off x="5456238" y="1528763"/>
              <a:ext cx="3270250" cy="2527300"/>
            </a:xfrm>
            <a:custGeom>
              <a:avLst/>
              <a:gdLst>
                <a:gd name="T0" fmla="*/ 2147483647 w 2059"/>
                <a:gd name="T1" fmla="*/ 2147483647 h 1592"/>
                <a:gd name="T2" fmla="*/ 2147483647 w 2059"/>
                <a:gd name="T3" fmla="*/ 2147483647 h 1592"/>
                <a:gd name="T4" fmla="*/ 2147483647 w 2059"/>
                <a:gd name="T5" fmla="*/ 2147483647 h 1592"/>
                <a:gd name="T6" fmla="*/ 2147483647 w 2059"/>
                <a:gd name="T7" fmla="*/ 2147483647 h 1592"/>
                <a:gd name="T8" fmla="*/ 2147483647 w 2059"/>
                <a:gd name="T9" fmla="*/ 2147483647 h 1592"/>
                <a:gd name="T10" fmla="*/ 2147483647 w 2059"/>
                <a:gd name="T11" fmla="*/ 2147483647 h 1592"/>
                <a:gd name="T12" fmla="*/ 2147483647 w 2059"/>
                <a:gd name="T13" fmla="*/ 2147483647 h 1592"/>
                <a:gd name="T14" fmla="*/ 2147483647 w 2059"/>
                <a:gd name="T15" fmla="*/ 2147483647 h 1592"/>
                <a:gd name="T16" fmla="*/ 2147483647 w 2059"/>
                <a:gd name="T17" fmla="*/ 2147483647 h 1592"/>
                <a:gd name="T18" fmla="*/ 2147483647 w 2059"/>
                <a:gd name="T19" fmla="*/ 2147483647 h 1592"/>
                <a:gd name="T20" fmla="*/ 2147483647 w 2059"/>
                <a:gd name="T21" fmla="*/ 2147483647 h 1592"/>
                <a:gd name="T22" fmla="*/ 2147483647 w 2059"/>
                <a:gd name="T23" fmla="*/ 2147483647 h 1592"/>
                <a:gd name="T24" fmla="*/ 2147483647 w 2059"/>
                <a:gd name="T25" fmla="*/ 2147483647 h 15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59" h="1592">
                  <a:moveTo>
                    <a:pt x="811" y="1444"/>
                  </a:moveTo>
                  <a:cubicBezTo>
                    <a:pt x="657" y="1386"/>
                    <a:pt x="354" y="1358"/>
                    <a:pt x="222" y="1235"/>
                  </a:cubicBezTo>
                  <a:cubicBezTo>
                    <a:pt x="89" y="1114"/>
                    <a:pt x="29" y="890"/>
                    <a:pt x="15" y="712"/>
                  </a:cubicBezTo>
                  <a:cubicBezTo>
                    <a:pt x="1" y="534"/>
                    <a:pt x="0" y="278"/>
                    <a:pt x="135" y="167"/>
                  </a:cubicBezTo>
                  <a:cubicBezTo>
                    <a:pt x="270" y="56"/>
                    <a:pt x="652" y="67"/>
                    <a:pt x="827" y="44"/>
                  </a:cubicBezTo>
                  <a:cubicBezTo>
                    <a:pt x="1002" y="21"/>
                    <a:pt x="1029" y="0"/>
                    <a:pt x="1186" y="31"/>
                  </a:cubicBezTo>
                  <a:cubicBezTo>
                    <a:pt x="1344" y="62"/>
                    <a:pt x="1632" y="133"/>
                    <a:pt x="1771" y="228"/>
                  </a:cubicBezTo>
                  <a:cubicBezTo>
                    <a:pt x="1911" y="324"/>
                    <a:pt x="1994" y="503"/>
                    <a:pt x="2027" y="605"/>
                  </a:cubicBezTo>
                  <a:cubicBezTo>
                    <a:pt x="2059" y="706"/>
                    <a:pt x="2022" y="778"/>
                    <a:pt x="1965" y="842"/>
                  </a:cubicBezTo>
                  <a:cubicBezTo>
                    <a:pt x="1908" y="906"/>
                    <a:pt x="1760" y="892"/>
                    <a:pt x="1683" y="986"/>
                  </a:cubicBezTo>
                  <a:cubicBezTo>
                    <a:pt x="1605" y="1080"/>
                    <a:pt x="1586" y="1304"/>
                    <a:pt x="1496" y="1403"/>
                  </a:cubicBezTo>
                  <a:cubicBezTo>
                    <a:pt x="1408" y="1502"/>
                    <a:pt x="1265" y="1573"/>
                    <a:pt x="1149" y="1583"/>
                  </a:cubicBezTo>
                  <a:cubicBezTo>
                    <a:pt x="1032" y="1592"/>
                    <a:pt x="965" y="1502"/>
                    <a:pt x="811" y="1444"/>
                  </a:cubicBezTo>
                  <a:close/>
                </a:path>
              </a:pathLst>
            </a:custGeom>
            <a:noFill/>
            <a:ln w="38100" cmpd="sng">
              <a:solidFill>
                <a:srgbClr val="00FF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84" name="Line 18"/>
            <p:cNvSpPr>
              <a:spLocks noChangeShapeType="1"/>
            </p:cNvSpPr>
            <p:nvPr/>
          </p:nvSpPr>
          <p:spPr bwMode="auto">
            <a:xfrm rot="1505116" flipV="1">
              <a:off x="7002463" y="1876425"/>
              <a:ext cx="673100" cy="619125"/>
            </a:xfrm>
            <a:prstGeom prst="line">
              <a:avLst/>
            </a:prstGeom>
            <a:noFill/>
            <a:ln w="28575">
              <a:solidFill>
                <a:schemeClr val="accent1"/>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1285" name="Line 19"/>
            <p:cNvSpPr>
              <a:spLocks noChangeShapeType="1"/>
            </p:cNvSpPr>
            <p:nvPr/>
          </p:nvSpPr>
          <p:spPr bwMode="auto">
            <a:xfrm rot="1499590" flipH="1" flipV="1">
              <a:off x="7132638" y="1527175"/>
              <a:ext cx="758825" cy="382588"/>
            </a:xfrm>
            <a:prstGeom prst="line">
              <a:avLst/>
            </a:prstGeom>
            <a:noFill/>
            <a:ln w="38100">
              <a:solidFill>
                <a:schemeClr val="bg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286" name="Text Box 20"/>
            <p:cNvSpPr txBox="1">
              <a:spLocks noChangeArrowheads="1"/>
            </p:cNvSpPr>
            <p:nvPr/>
          </p:nvSpPr>
          <p:spPr bwMode="auto">
            <a:xfrm>
              <a:off x="5691188" y="2908300"/>
              <a:ext cx="9112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zh-CN" altLang="en-US" sz="2000" b="1">
                  <a:solidFill>
                    <a:srgbClr val="00FF00"/>
                  </a:solidFill>
                  <a:latin typeface="Times New Roman" pitchFamily="18" charset="0"/>
                  <a:ea typeface="楷体_GB2312" pitchFamily="49" charset="-122"/>
                </a:rPr>
                <a:t>刚体</a:t>
              </a:r>
            </a:p>
          </p:txBody>
        </p:sp>
        <p:sp>
          <p:nvSpPr>
            <p:cNvPr id="11287" name="Text Box 21"/>
            <p:cNvSpPr txBox="1">
              <a:spLocks noChangeArrowheads="1"/>
            </p:cNvSpPr>
            <p:nvPr/>
          </p:nvSpPr>
          <p:spPr bwMode="auto">
            <a:xfrm>
              <a:off x="7548563" y="1784350"/>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FFFF00"/>
                  </a:solidFill>
                  <a:latin typeface="Times New Roman" pitchFamily="18" charset="0"/>
                  <a:sym typeface="Symbol" pitchFamily="18" charset="2"/>
                </a:rPr>
                <a:t></a:t>
              </a:r>
              <a:endParaRPr lang="en-US" altLang="zh-CN" sz="2400" b="1" i="1">
                <a:solidFill>
                  <a:srgbClr val="FF00FF"/>
                </a:solidFill>
                <a:latin typeface="Times New Roman" pitchFamily="18" charset="0"/>
              </a:endParaRPr>
            </a:p>
          </p:txBody>
        </p:sp>
        <p:sp>
          <p:nvSpPr>
            <p:cNvPr id="11288" name="Line 22"/>
            <p:cNvSpPr>
              <a:spLocks noChangeShapeType="1"/>
            </p:cNvSpPr>
            <p:nvPr/>
          </p:nvSpPr>
          <p:spPr bwMode="auto">
            <a:xfrm>
              <a:off x="6907213" y="2344738"/>
              <a:ext cx="1625600" cy="479425"/>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9" name="Freeform 23"/>
            <p:cNvSpPr>
              <a:spLocks/>
            </p:cNvSpPr>
            <p:nvPr/>
          </p:nvSpPr>
          <p:spPr bwMode="auto">
            <a:xfrm>
              <a:off x="7231063" y="2222500"/>
              <a:ext cx="44450" cy="190500"/>
            </a:xfrm>
            <a:custGeom>
              <a:avLst/>
              <a:gdLst>
                <a:gd name="T0" fmla="*/ 0 w 47"/>
                <a:gd name="T1" fmla="*/ 0 h 210"/>
                <a:gd name="T2" fmla="*/ 2147483647 w 47"/>
                <a:gd name="T3" fmla="*/ 2147483647 h 210"/>
                <a:gd name="T4" fmla="*/ 2147483647 w 47"/>
                <a:gd name="T5" fmla="*/ 2147483647 h 210"/>
                <a:gd name="T6" fmla="*/ 0 60000 65536"/>
                <a:gd name="T7" fmla="*/ 0 60000 65536"/>
                <a:gd name="T8" fmla="*/ 0 60000 65536"/>
              </a:gdLst>
              <a:ahLst/>
              <a:cxnLst>
                <a:cxn ang="T6">
                  <a:pos x="T0" y="T1"/>
                </a:cxn>
                <a:cxn ang="T7">
                  <a:pos x="T2" y="T3"/>
                </a:cxn>
                <a:cxn ang="T8">
                  <a:pos x="T4" y="T5"/>
                </a:cxn>
              </a:cxnLst>
              <a:rect l="0" t="0" r="r" b="b"/>
              <a:pathLst>
                <a:path w="47" h="210">
                  <a:moveTo>
                    <a:pt x="0" y="0"/>
                  </a:moveTo>
                  <a:cubicBezTo>
                    <a:pt x="21" y="35"/>
                    <a:pt x="43" y="70"/>
                    <a:pt x="45" y="105"/>
                  </a:cubicBezTo>
                  <a:cubicBezTo>
                    <a:pt x="47" y="140"/>
                    <a:pt x="31" y="175"/>
                    <a:pt x="15" y="210"/>
                  </a:cubicBezTo>
                </a:path>
              </a:pathLst>
            </a:custGeom>
            <a:noFill/>
            <a:ln w="19050" cmpd="sng">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90" name="Text Box 24"/>
            <p:cNvSpPr txBox="1">
              <a:spLocks noChangeArrowheads="1"/>
            </p:cNvSpPr>
            <p:nvPr/>
          </p:nvSpPr>
          <p:spPr bwMode="auto">
            <a:xfrm>
              <a:off x="8215313" y="3114675"/>
              <a:ext cx="5334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zh-CN" altLang="en-US" sz="2000" b="1">
                  <a:solidFill>
                    <a:srgbClr val="00FF00"/>
                  </a:solidFill>
                  <a:latin typeface="Times New Roman" pitchFamily="18" charset="0"/>
                  <a:ea typeface="楷体_GB2312" pitchFamily="49" charset="-122"/>
                </a:rPr>
                <a:t>参考方向</a:t>
              </a:r>
            </a:p>
          </p:txBody>
        </p:sp>
        <p:sp>
          <p:nvSpPr>
            <p:cNvPr id="11291" name="Text Box 25"/>
            <p:cNvSpPr txBox="1">
              <a:spLocks noChangeArrowheads="1"/>
            </p:cNvSpPr>
            <p:nvPr/>
          </p:nvSpPr>
          <p:spPr bwMode="auto">
            <a:xfrm>
              <a:off x="7107238" y="2112963"/>
              <a:ext cx="581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chemeClr val="bg1"/>
                  </a:solidFill>
                  <a:latin typeface="宋体" pitchFamily="2" charset="-122"/>
                </a:rPr>
                <a:t>θ</a:t>
              </a:r>
              <a:endParaRPr lang="en-US" altLang="zh-CN" sz="2400" b="1" i="1">
                <a:solidFill>
                  <a:schemeClr val="accent1"/>
                </a:solidFill>
                <a:latin typeface="Times New Roman" pitchFamily="18" charset="0"/>
              </a:endParaRPr>
            </a:p>
          </p:txBody>
        </p:sp>
        <p:sp>
          <p:nvSpPr>
            <p:cNvPr id="11292" name="Text Box 26"/>
            <p:cNvSpPr txBox="1">
              <a:spLocks noChangeArrowheads="1"/>
            </p:cNvSpPr>
            <p:nvPr/>
          </p:nvSpPr>
          <p:spPr bwMode="auto">
            <a:xfrm>
              <a:off x="6611938" y="487363"/>
              <a:ext cx="5778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FFFF00"/>
                  </a:solidFill>
                  <a:latin typeface="Times New Roman" pitchFamily="18" charset="0"/>
                </a:rPr>
                <a:t>z</a:t>
              </a:r>
              <a:endParaRPr lang="en-US" altLang="zh-CN" sz="2400" b="1" i="1">
                <a:solidFill>
                  <a:schemeClr val="accent2"/>
                </a:solidFill>
                <a:latin typeface="Times New Roman" pitchFamily="18" charset="0"/>
              </a:endParaRPr>
            </a:p>
          </p:txBody>
        </p:sp>
        <p:sp>
          <p:nvSpPr>
            <p:cNvPr id="11293" name="Line 27"/>
            <p:cNvSpPr>
              <a:spLocks noChangeShapeType="1"/>
            </p:cNvSpPr>
            <p:nvPr/>
          </p:nvSpPr>
          <p:spPr bwMode="auto">
            <a:xfrm flipV="1">
              <a:off x="6904038" y="525463"/>
              <a:ext cx="0" cy="1042987"/>
            </a:xfrm>
            <a:prstGeom prst="line">
              <a:avLst/>
            </a:prstGeom>
            <a:noFill/>
            <a:ln w="444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294" name="Text Box 28"/>
            <p:cNvSpPr txBox="1">
              <a:spLocks noChangeArrowheads="1"/>
            </p:cNvSpPr>
            <p:nvPr/>
          </p:nvSpPr>
          <p:spPr bwMode="auto">
            <a:xfrm>
              <a:off x="6443663" y="2049463"/>
              <a:ext cx="40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i="1">
                  <a:solidFill>
                    <a:srgbClr val="FFFF00"/>
                  </a:solidFill>
                  <a:latin typeface="Times New Roman" pitchFamily="18" charset="0"/>
                </a:rPr>
                <a:t>O</a:t>
              </a:r>
            </a:p>
          </p:txBody>
        </p:sp>
        <p:sp>
          <p:nvSpPr>
            <p:cNvPr id="11295" name="Text Box 29"/>
            <p:cNvSpPr txBox="1">
              <a:spLocks noChangeArrowheads="1"/>
            </p:cNvSpPr>
            <p:nvPr/>
          </p:nvSpPr>
          <p:spPr bwMode="auto">
            <a:xfrm>
              <a:off x="7031038" y="1808163"/>
              <a:ext cx="368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i="1">
                  <a:solidFill>
                    <a:srgbClr val="FFFF00"/>
                  </a:solidFill>
                  <a:latin typeface="Times New Roman" pitchFamily="18" charset="0"/>
                </a:rPr>
                <a:t>r'</a:t>
              </a:r>
            </a:p>
          </p:txBody>
        </p:sp>
        <p:sp>
          <p:nvSpPr>
            <p:cNvPr id="11296" name="Rectangle 30"/>
            <p:cNvSpPr>
              <a:spLocks noChangeArrowheads="1"/>
            </p:cNvSpPr>
            <p:nvPr/>
          </p:nvSpPr>
          <p:spPr bwMode="auto">
            <a:xfrm>
              <a:off x="6954838" y="3287713"/>
              <a:ext cx="825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000" b="1">
                  <a:solidFill>
                    <a:srgbClr val="FFFF00"/>
                  </a:solidFill>
                  <a:latin typeface="楷体_GB2312" pitchFamily="49" charset="-122"/>
                  <a:ea typeface="楷体_GB2312" pitchFamily="49" charset="-122"/>
                </a:rPr>
                <a:t>基点</a:t>
              </a:r>
              <a:r>
                <a:rPr lang="en-US" altLang="zh-CN" sz="2000" b="1" i="1">
                  <a:solidFill>
                    <a:srgbClr val="FFFF00"/>
                  </a:solidFill>
                  <a:latin typeface="楷体_GB2312" pitchFamily="49" charset="-122"/>
                  <a:ea typeface="楷体_GB2312" pitchFamily="49" charset="-122"/>
                </a:rPr>
                <a:t>O</a:t>
              </a:r>
            </a:p>
          </p:txBody>
        </p:sp>
        <p:sp>
          <p:nvSpPr>
            <p:cNvPr id="11298" name="AutoShape 32"/>
            <p:cNvSpPr>
              <a:spLocks noChangeArrowheads="1"/>
            </p:cNvSpPr>
            <p:nvPr/>
          </p:nvSpPr>
          <p:spPr bwMode="auto">
            <a:xfrm>
              <a:off x="7107238" y="4221163"/>
              <a:ext cx="533400" cy="304800"/>
            </a:xfrm>
            <a:prstGeom prst="rightArrow">
              <a:avLst>
                <a:gd name="adj1" fmla="val 50000"/>
                <a:gd name="adj2" fmla="val 437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zh-CN" sz="2400">
                <a:solidFill>
                  <a:srgbClr val="FF0000"/>
                </a:solidFill>
                <a:latin typeface="Times New Roman" pitchFamily="18" charset="0"/>
              </a:endParaRPr>
            </a:p>
          </p:txBody>
        </p:sp>
        <p:graphicFrame>
          <p:nvGraphicFramePr>
            <p:cNvPr id="11299" name="Object 36"/>
            <p:cNvGraphicFramePr>
              <a:graphicFrameLocks noChangeAspect="1"/>
            </p:cNvGraphicFramePr>
            <p:nvPr/>
          </p:nvGraphicFramePr>
          <p:xfrm>
            <a:off x="7313613" y="2846388"/>
            <a:ext cx="215900" cy="293687"/>
          </p:xfrm>
          <a:graphic>
            <a:graphicData uri="http://schemas.openxmlformats.org/presentationml/2006/ole">
              <mc:AlternateContent xmlns:mc="http://schemas.openxmlformats.org/markup-compatibility/2006">
                <mc:Choice xmlns:v="urn:schemas-microsoft-com:vml" Requires="v">
                  <p:oleObj spid="_x0000_s5152" name="Equation" r:id="rId3" imgW="123903" imgH="200021" progId="Equation.3">
                    <p:embed/>
                  </p:oleObj>
                </mc:Choice>
                <mc:Fallback>
                  <p:oleObj name="Equation" r:id="rId3" imgW="123903" imgH="200021" progId="Equation.3">
                    <p:embed/>
                    <p:pic>
                      <p:nvPicPr>
                        <p:cNvPr id="0" name="Object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3613" y="2846388"/>
                          <a:ext cx="215900" cy="29368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00" name="Object 37"/>
            <p:cNvGraphicFramePr>
              <a:graphicFrameLocks noChangeAspect="1"/>
            </p:cNvGraphicFramePr>
            <p:nvPr/>
          </p:nvGraphicFramePr>
          <p:xfrm>
            <a:off x="7383463" y="1111250"/>
            <a:ext cx="228600" cy="306388"/>
          </p:xfrm>
          <a:graphic>
            <a:graphicData uri="http://schemas.openxmlformats.org/presentationml/2006/ole">
              <mc:AlternateContent xmlns:mc="http://schemas.openxmlformats.org/markup-compatibility/2006">
                <mc:Choice xmlns:v="urn:schemas-microsoft-com:vml" Requires="v">
                  <p:oleObj spid="_x0000_s5153" name="公式" r:id="rId5" imgW="133351" imgH="219186" progId="Equation.3">
                    <p:embed/>
                  </p:oleObj>
                </mc:Choice>
                <mc:Fallback>
                  <p:oleObj name="公式" r:id="rId5" imgW="133351" imgH="219186" progId="Equation.3">
                    <p:embed/>
                    <p:pic>
                      <p:nvPicPr>
                        <p:cNvPr id="0" name="Object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83463" y="1111250"/>
                          <a:ext cx="228600" cy="30638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01" name="Arc 38"/>
            <p:cNvSpPr>
              <a:spLocks/>
            </p:cNvSpPr>
            <p:nvPr/>
          </p:nvSpPr>
          <p:spPr bwMode="auto">
            <a:xfrm flipH="1">
              <a:off x="6659563" y="1169988"/>
              <a:ext cx="479425" cy="215900"/>
            </a:xfrm>
            <a:custGeom>
              <a:avLst/>
              <a:gdLst>
                <a:gd name="T0" fmla="*/ 2147483647 w 43200"/>
                <a:gd name="T1" fmla="*/ 0 h 38804"/>
                <a:gd name="T2" fmla="*/ 2147483647 w 43200"/>
                <a:gd name="T3" fmla="*/ 1395066676 h 38804"/>
                <a:gd name="T4" fmla="*/ 2147483647 w 43200"/>
                <a:gd name="T5" fmla="*/ 2147483647 h 38804"/>
                <a:gd name="T6" fmla="*/ 0 60000 65536"/>
                <a:gd name="T7" fmla="*/ 0 60000 65536"/>
                <a:gd name="T8" fmla="*/ 0 60000 65536"/>
              </a:gdLst>
              <a:ahLst/>
              <a:cxnLst>
                <a:cxn ang="T6">
                  <a:pos x="T0" y="T1"/>
                </a:cxn>
                <a:cxn ang="T7">
                  <a:pos x="T2" y="T3"/>
                </a:cxn>
                <a:cxn ang="T8">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lnTo>
                    <a:pt x="34660" y="0"/>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2" name="矩形 29"/>
            <p:cNvSpPr>
              <a:spLocks noChangeArrowheads="1"/>
            </p:cNvSpPr>
            <p:nvPr/>
          </p:nvSpPr>
          <p:spPr bwMode="auto">
            <a:xfrm>
              <a:off x="7556500" y="1106488"/>
              <a:ext cx="142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a:solidFill>
                    <a:srgbClr val="FFC000"/>
                  </a:solidFill>
                </a:rPr>
                <a:t>右手定则</a:t>
              </a:r>
              <a:endParaRPr lang="zh-CN" altLang="en-US" sz="2400" b="1">
                <a:solidFill>
                  <a:srgbClr val="FFC000"/>
                </a:solidFill>
              </a:endParaRPr>
            </a:p>
          </p:txBody>
        </p:sp>
      </p:grpSp>
      <p:grpSp>
        <p:nvGrpSpPr>
          <p:cNvPr id="39" name="组合 38"/>
          <p:cNvGrpSpPr>
            <a:grpSpLocks/>
          </p:cNvGrpSpPr>
          <p:nvPr/>
        </p:nvGrpSpPr>
        <p:grpSpPr bwMode="auto">
          <a:xfrm>
            <a:off x="482040" y="203411"/>
            <a:ext cx="3369880" cy="1604752"/>
            <a:chOff x="482463" y="203709"/>
            <a:chExt cx="3369172" cy="1604454"/>
          </a:xfrm>
        </p:grpSpPr>
        <p:graphicFrame>
          <p:nvGraphicFramePr>
            <p:cNvPr id="11274" name="对象 30"/>
            <p:cNvGraphicFramePr>
              <a:graphicFrameLocks noChangeAspect="1"/>
            </p:cNvGraphicFramePr>
            <p:nvPr>
              <p:extLst>
                <p:ext uri="{D42A27DB-BD31-4B8C-83A1-F6EECF244321}">
                  <p14:modId xmlns:p14="http://schemas.microsoft.com/office/powerpoint/2010/main" val="3351538838"/>
                </p:ext>
              </p:extLst>
            </p:nvPr>
          </p:nvGraphicFramePr>
          <p:xfrm>
            <a:off x="1293553" y="1115977"/>
            <a:ext cx="2558082" cy="692186"/>
          </p:xfrm>
          <a:graphic>
            <a:graphicData uri="http://schemas.openxmlformats.org/presentationml/2006/ole">
              <mc:AlternateContent xmlns:mc="http://schemas.openxmlformats.org/markup-compatibility/2006">
                <mc:Choice xmlns:v="urn:schemas-microsoft-com:vml" Requires="v">
                  <p:oleObj spid="_x0000_s5154" name="Equation" r:id="rId7" imgW="1079032" imgH="291973" progId="Equation.DSMT4">
                    <p:embed/>
                  </p:oleObj>
                </mc:Choice>
                <mc:Fallback>
                  <p:oleObj name="Equation" r:id="rId7" imgW="1079032" imgH="291973" progId="Equation.DSMT4">
                    <p:embed/>
                    <p:pic>
                      <p:nvPicPr>
                        <p:cNvPr id="0" name="对象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3553" y="1115977"/>
                          <a:ext cx="2558082" cy="692186"/>
                        </a:xfrm>
                        <a:prstGeom prst="rect">
                          <a:avLst/>
                        </a:prstGeom>
                        <a:noFill/>
                        <a:ln>
                          <a:noFill/>
                        </a:ln>
                      </p:spPr>
                    </p:pic>
                  </p:oleObj>
                </mc:Fallback>
              </mc:AlternateContent>
            </a:graphicData>
          </a:graphic>
        </p:graphicFrame>
        <p:sp>
          <p:nvSpPr>
            <p:cNvPr id="11275" name="TextBox 32"/>
            <p:cNvSpPr txBox="1">
              <a:spLocks noChangeArrowheads="1"/>
            </p:cNvSpPr>
            <p:nvPr/>
          </p:nvSpPr>
          <p:spPr bwMode="auto">
            <a:xfrm>
              <a:off x="482463" y="203709"/>
              <a:ext cx="2777741" cy="461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b="1">
                  <a:solidFill>
                    <a:schemeClr val="bg1"/>
                  </a:solidFill>
                </a:rPr>
                <a:t>M</a:t>
              </a:r>
              <a:r>
                <a:rPr lang="zh-CN" altLang="en-US" sz="2400" b="1">
                  <a:solidFill>
                    <a:schemeClr val="bg1"/>
                  </a:solidFill>
                </a:rPr>
                <a:t>点加速度</a:t>
              </a:r>
              <a:r>
                <a:rPr lang="en-US" altLang="zh-CN" sz="2400" b="1" i="1">
                  <a:solidFill>
                    <a:schemeClr val="bg1"/>
                  </a:solidFill>
                </a:rPr>
                <a:t>a</a:t>
              </a:r>
              <a:r>
                <a:rPr lang="zh-CN" altLang="en-US" sz="2400" b="1">
                  <a:solidFill>
                    <a:schemeClr val="bg1"/>
                  </a:solidFill>
                </a:rPr>
                <a:t>的大小</a:t>
              </a:r>
            </a:p>
          </p:txBody>
        </p:sp>
      </p:grpSp>
      <p:grpSp>
        <p:nvGrpSpPr>
          <p:cNvPr id="40" name="组合 39"/>
          <p:cNvGrpSpPr>
            <a:grpSpLocks/>
          </p:cNvGrpSpPr>
          <p:nvPr/>
        </p:nvGrpSpPr>
        <p:grpSpPr bwMode="auto">
          <a:xfrm>
            <a:off x="476814" y="2413000"/>
            <a:ext cx="4229100" cy="2212975"/>
            <a:chOff x="12665" y="2428421"/>
            <a:chExt cx="4228662" cy="2213430"/>
          </a:xfrm>
        </p:grpSpPr>
        <p:graphicFrame>
          <p:nvGraphicFramePr>
            <p:cNvPr id="11272" name="对象 31"/>
            <p:cNvGraphicFramePr>
              <a:graphicFrameLocks noChangeAspect="1"/>
            </p:cNvGraphicFramePr>
            <p:nvPr>
              <p:extLst>
                <p:ext uri="{D42A27DB-BD31-4B8C-83A1-F6EECF244321}">
                  <p14:modId xmlns:p14="http://schemas.microsoft.com/office/powerpoint/2010/main" val="902662887"/>
                </p:ext>
              </p:extLst>
            </p:nvPr>
          </p:nvGraphicFramePr>
          <p:xfrm>
            <a:off x="1293553" y="3544452"/>
            <a:ext cx="2525871" cy="1097399"/>
          </p:xfrm>
          <a:graphic>
            <a:graphicData uri="http://schemas.openxmlformats.org/presentationml/2006/ole">
              <mc:AlternateContent xmlns:mc="http://schemas.openxmlformats.org/markup-compatibility/2006">
                <mc:Choice xmlns:v="urn:schemas-microsoft-com:vml" Requires="v">
                  <p:oleObj spid="_x0000_s5155" name="Equation" r:id="rId9" imgW="1079500" imgH="469900" progId="Equation.DSMT4">
                    <p:embed/>
                  </p:oleObj>
                </mc:Choice>
                <mc:Fallback>
                  <p:oleObj name="Equation" r:id="rId9" imgW="1079500" imgH="469900" progId="Equation.DSMT4">
                    <p:embed/>
                    <p:pic>
                      <p:nvPicPr>
                        <p:cNvPr id="0" name="对象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93553" y="3544452"/>
                          <a:ext cx="2525871" cy="1097399"/>
                        </a:xfrm>
                        <a:prstGeom prst="rect">
                          <a:avLst/>
                        </a:prstGeom>
                        <a:noFill/>
                        <a:ln>
                          <a:noFill/>
                        </a:ln>
                      </p:spPr>
                    </p:pic>
                  </p:oleObj>
                </mc:Fallback>
              </mc:AlternateContent>
            </a:graphicData>
          </a:graphic>
        </p:graphicFrame>
        <p:sp>
          <p:nvSpPr>
            <p:cNvPr id="11273" name="TextBox 33"/>
            <p:cNvSpPr txBox="1">
              <a:spLocks noChangeArrowheads="1"/>
            </p:cNvSpPr>
            <p:nvPr/>
          </p:nvSpPr>
          <p:spPr bwMode="auto">
            <a:xfrm>
              <a:off x="12665" y="2428421"/>
              <a:ext cx="42286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b="1">
                  <a:solidFill>
                    <a:schemeClr val="bg1"/>
                  </a:solidFill>
                </a:rPr>
                <a:t>M</a:t>
              </a:r>
              <a:r>
                <a:rPr lang="zh-CN" altLang="en-US" sz="2400" b="1">
                  <a:solidFill>
                    <a:schemeClr val="bg1"/>
                  </a:solidFill>
                </a:rPr>
                <a:t>点加速度的方向由</a:t>
              </a:r>
              <a:r>
                <a:rPr lang="en-US" altLang="zh-CN" sz="2400" b="1" i="1">
                  <a:solidFill>
                    <a:schemeClr val="bg1"/>
                  </a:solidFill>
                </a:rPr>
                <a:t>a</a:t>
              </a:r>
              <a:r>
                <a:rPr lang="zh-CN" altLang="en-US" sz="2400" b="1">
                  <a:solidFill>
                    <a:schemeClr val="bg1"/>
                  </a:solidFill>
                </a:rPr>
                <a:t>与半径</a:t>
              </a:r>
              <a:r>
                <a:rPr lang="en-US" altLang="zh-CN" sz="2400" b="1">
                  <a:solidFill>
                    <a:schemeClr val="bg1"/>
                  </a:solidFill>
                </a:rPr>
                <a:t>OM</a:t>
              </a:r>
              <a:r>
                <a:rPr lang="zh-CN" altLang="en-US" sz="2400" b="1">
                  <a:solidFill>
                    <a:schemeClr val="bg1"/>
                  </a:solidFill>
                </a:rPr>
                <a:t>的夹角来确定</a:t>
              </a:r>
            </a:p>
          </p:txBody>
        </p:sp>
      </p:grpSp>
      <p:grpSp>
        <p:nvGrpSpPr>
          <p:cNvPr id="38" name="组合 37"/>
          <p:cNvGrpSpPr>
            <a:grpSpLocks/>
          </p:cNvGrpSpPr>
          <p:nvPr/>
        </p:nvGrpSpPr>
        <p:grpSpPr bwMode="auto">
          <a:xfrm>
            <a:off x="242888" y="4941888"/>
            <a:ext cx="8367712" cy="1200150"/>
            <a:chOff x="165065" y="4941168"/>
            <a:chExt cx="8367748" cy="1200329"/>
          </a:xfrm>
        </p:grpSpPr>
        <p:sp>
          <p:nvSpPr>
            <p:cNvPr id="11270" name="TextBox 35"/>
            <p:cNvSpPr txBox="1">
              <a:spLocks noChangeArrowheads="1"/>
            </p:cNvSpPr>
            <p:nvPr/>
          </p:nvSpPr>
          <p:spPr bwMode="auto">
            <a:xfrm>
              <a:off x="165065" y="4941168"/>
              <a:ext cx="836774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a:solidFill>
                    <a:schemeClr val="bg1"/>
                  </a:solidFill>
                </a:rPr>
                <a:t>在确定时刻，（</a:t>
              </a:r>
              <a:r>
                <a:rPr lang="en-US" altLang="zh-CN" sz="2400" b="1">
                  <a:solidFill>
                    <a:schemeClr val="bg1"/>
                  </a:solidFill>
                </a:rPr>
                <a:t>1</a:t>
              </a:r>
              <a:r>
                <a:rPr lang="zh-CN" altLang="en-US" sz="2400" b="1">
                  <a:solidFill>
                    <a:schemeClr val="bg1"/>
                  </a:solidFill>
                </a:rPr>
                <a:t>）转动刚体上的各点速度和加速度大小都与该点到转轴的距离成正比；（</a:t>
              </a:r>
              <a:r>
                <a:rPr lang="en-US" altLang="zh-CN" sz="2400" b="1">
                  <a:solidFill>
                    <a:schemeClr val="bg1"/>
                  </a:solidFill>
                </a:rPr>
                <a:t>2</a:t>
              </a:r>
              <a:r>
                <a:rPr lang="zh-CN" altLang="en-US" sz="2400" b="1">
                  <a:solidFill>
                    <a:schemeClr val="bg1"/>
                  </a:solidFill>
                </a:rPr>
                <a:t>）     角对刚体内所有各点都相同</a:t>
              </a:r>
            </a:p>
          </p:txBody>
        </p:sp>
        <p:graphicFrame>
          <p:nvGraphicFramePr>
            <p:cNvPr id="11271" name="对象 36"/>
            <p:cNvGraphicFramePr>
              <a:graphicFrameLocks noChangeAspect="1"/>
            </p:cNvGraphicFramePr>
            <p:nvPr>
              <p:extLst>
                <p:ext uri="{D42A27DB-BD31-4B8C-83A1-F6EECF244321}">
                  <p14:modId xmlns:p14="http://schemas.microsoft.com/office/powerpoint/2010/main" val="2656554817"/>
                </p:ext>
              </p:extLst>
            </p:nvPr>
          </p:nvGraphicFramePr>
          <p:xfrm>
            <a:off x="4710221" y="5376314"/>
            <a:ext cx="360040" cy="330036"/>
          </p:xfrm>
          <a:graphic>
            <a:graphicData uri="http://schemas.openxmlformats.org/presentationml/2006/ole">
              <mc:AlternateContent xmlns:mc="http://schemas.openxmlformats.org/markup-compatibility/2006">
                <mc:Choice xmlns:v="urn:schemas-microsoft-com:vml" Requires="v">
                  <p:oleObj spid="_x0000_s5156" name="Equation" r:id="rId11" imgW="152334" imgH="139639" progId="Equation.DSMT4">
                    <p:embed/>
                  </p:oleObj>
                </mc:Choice>
                <mc:Fallback>
                  <p:oleObj name="Equation" r:id="rId11" imgW="152334" imgH="139639" progId="Equation.DSMT4">
                    <p:embed/>
                    <p:pic>
                      <p:nvPicPr>
                        <p:cNvPr id="0" name="对象 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10221" y="5376314"/>
                          <a:ext cx="360040" cy="330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2" name="Object 2"/>
          <p:cNvGraphicFramePr>
            <a:graphicFrameLocks/>
          </p:cNvGraphicFramePr>
          <p:nvPr/>
        </p:nvGraphicFramePr>
        <p:xfrm>
          <a:off x="858838" y="5594350"/>
          <a:ext cx="1325562" cy="411163"/>
        </p:xfrm>
        <a:graphic>
          <a:graphicData uri="http://schemas.openxmlformats.org/presentationml/2006/ole">
            <mc:AlternateContent xmlns:mc="http://schemas.openxmlformats.org/markup-compatibility/2006">
              <mc:Choice xmlns:v="urn:schemas-microsoft-com:vml" Requires="v">
                <p:oleObj spid="_x0000_s6194" name="公式" r:id="rId3" imgW="1381017" imgH="361981" progId="Equation.3">
                  <p:embed/>
                </p:oleObj>
              </mc:Choice>
              <mc:Fallback>
                <p:oleObj name="公式" r:id="rId3" imgW="1381017" imgH="361981" progId="Equation.3">
                  <p:embed/>
                  <p:pic>
                    <p:nvPicPr>
                      <p:cNvPr id="0" name="Object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838" y="5594350"/>
                        <a:ext cx="1325562"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3" name="Object 3"/>
          <p:cNvGraphicFramePr>
            <a:graphicFrameLocks/>
          </p:cNvGraphicFramePr>
          <p:nvPr/>
        </p:nvGraphicFramePr>
        <p:xfrm>
          <a:off x="2732088" y="5667375"/>
          <a:ext cx="1314450" cy="388938"/>
        </p:xfrm>
        <a:graphic>
          <a:graphicData uri="http://schemas.openxmlformats.org/presentationml/2006/ole">
            <mc:AlternateContent xmlns:mc="http://schemas.openxmlformats.org/markup-compatibility/2006">
              <mc:Choice xmlns:v="urn:schemas-microsoft-com:vml" Requires="v">
                <p:oleObj spid="_x0000_s6195" name="公式" r:id="rId5" imgW="1371570" imgH="342816" progId="Equation.3">
                  <p:embed/>
                </p:oleObj>
              </mc:Choice>
              <mc:Fallback>
                <p:oleObj name="公式" r:id="rId5" imgW="1371570" imgH="342816" progId="Equation.3">
                  <p:embed/>
                  <p:pic>
                    <p:nvPicPr>
                      <p:cNvPr id="0" name="Object 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32088" y="5667375"/>
                        <a:ext cx="1314450"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4" name="Object 4"/>
          <p:cNvGraphicFramePr>
            <a:graphicFrameLocks noChangeAspect="1"/>
          </p:cNvGraphicFramePr>
          <p:nvPr/>
        </p:nvGraphicFramePr>
        <p:xfrm>
          <a:off x="1435100" y="1571625"/>
          <a:ext cx="1828800" cy="742950"/>
        </p:xfrm>
        <a:graphic>
          <a:graphicData uri="http://schemas.openxmlformats.org/presentationml/2006/ole">
            <mc:AlternateContent xmlns:mc="http://schemas.openxmlformats.org/markup-compatibility/2006">
              <mc:Choice xmlns:v="urn:schemas-microsoft-com:vml" Requires="v">
                <p:oleObj spid="_x0000_s6196" name="公式" r:id="rId7" imgW="1943034" imgH="733410" progId="Equation.3">
                  <p:embed/>
                </p:oleObj>
              </mc:Choice>
              <mc:Fallback>
                <p:oleObj name="公式" r:id="rId7" imgW="1943034" imgH="73341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35100" y="1571625"/>
                        <a:ext cx="1828800" cy="7429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5" name="Text Box 5"/>
          <p:cNvSpPr txBox="1">
            <a:spLocks noChangeArrowheads="1"/>
          </p:cNvSpPr>
          <p:nvPr/>
        </p:nvSpPr>
        <p:spPr bwMode="auto">
          <a:xfrm>
            <a:off x="522288" y="887413"/>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400" b="1">
                <a:solidFill>
                  <a:schemeClr val="bg1"/>
                </a:solidFill>
                <a:latin typeface="Times New Roman" pitchFamily="18" charset="0"/>
                <a:sym typeface="Symbol" pitchFamily="18" charset="2"/>
              </a:rPr>
              <a:t> </a:t>
            </a:r>
            <a:r>
              <a:rPr kumimoji="1" lang="zh-CN" altLang="en-US" sz="2400" b="1">
                <a:solidFill>
                  <a:schemeClr val="bg1"/>
                </a:solidFill>
                <a:latin typeface="宋体" pitchFamily="2" charset="-122"/>
                <a:sym typeface="Symbol" pitchFamily="18" charset="2"/>
              </a:rPr>
              <a:t>速度与角速度的矢量关系式</a:t>
            </a:r>
          </a:p>
        </p:txBody>
      </p:sp>
      <p:graphicFrame>
        <p:nvGraphicFramePr>
          <p:cNvPr id="15366" name="Object 6"/>
          <p:cNvGraphicFramePr>
            <a:graphicFrameLocks noChangeAspect="1"/>
          </p:cNvGraphicFramePr>
          <p:nvPr/>
        </p:nvGraphicFramePr>
        <p:xfrm>
          <a:off x="1370013" y="3151188"/>
          <a:ext cx="2455862" cy="1622425"/>
        </p:xfrm>
        <a:graphic>
          <a:graphicData uri="http://schemas.openxmlformats.org/presentationml/2006/ole">
            <mc:AlternateContent xmlns:mc="http://schemas.openxmlformats.org/markup-compatibility/2006">
              <mc:Choice xmlns:v="urn:schemas-microsoft-com:vml" Requires="v">
                <p:oleObj spid="_x0000_s6197" name="公式" r:id="rId9" imgW="2638402" imgH="1714618" progId="Equation.3">
                  <p:embed/>
                </p:oleObj>
              </mc:Choice>
              <mc:Fallback>
                <p:oleObj name="公式" r:id="rId9" imgW="2638402" imgH="1714618"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0013" y="3151188"/>
                        <a:ext cx="2455862" cy="16224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7" name="Text Box 7"/>
          <p:cNvSpPr txBox="1">
            <a:spLocks noChangeArrowheads="1"/>
          </p:cNvSpPr>
          <p:nvPr/>
        </p:nvSpPr>
        <p:spPr bwMode="auto">
          <a:xfrm>
            <a:off x="612775" y="2509838"/>
            <a:ext cx="502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2400" b="1">
                <a:solidFill>
                  <a:schemeClr val="bg1"/>
                </a:solidFill>
                <a:latin typeface="宋体" pitchFamily="2" charset="-122"/>
                <a:sym typeface="Symbol" pitchFamily="18" charset="2"/>
              </a:rPr>
              <a:t>加速度与角加速度的矢量关系式</a:t>
            </a:r>
          </a:p>
        </p:txBody>
      </p:sp>
      <p:graphicFrame>
        <p:nvGraphicFramePr>
          <p:cNvPr id="15368" name="Object 8"/>
          <p:cNvGraphicFramePr>
            <a:graphicFrameLocks noChangeAspect="1"/>
          </p:cNvGraphicFramePr>
          <p:nvPr/>
        </p:nvGraphicFramePr>
        <p:xfrm>
          <a:off x="1651000" y="4891088"/>
          <a:ext cx="1804988" cy="319087"/>
        </p:xfrm>
        <a:graphic>
          <a:graphicData uri="http://schemas.openxmlformats.org/presentationml/2006/ole">
            <mc:AlternateContent xmlns:mc="http://schemas.openxmlformats.org/markup-compatibility/2006">
              <mc:Choice xmlns:v="urn:schemas-microsoft-com:vml" Requires="v">
                <p:oleObj spid="_x0000_s6198" name="Equation" r:id="rId11" imgW="1914421" imgH="266694" progId="Equation.3">
                  <p:embed/>
                </p:oleObj>
              </mc:Choice>
              <mc:Fallback>
                <p:oleObj name="Equation" r:id="rId11" imgW="1914421" imgH="266694"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51000" y="4891088"/>
                        <a:ext cx="1804988" cy="31908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7" name="Text Box 9"/>
          <p:cNvSpPr txBox="1">
            <a:spLocks noChangeArrowheads="1"/>
          </p:cNvSpPr>
          <p:nvPr/>
        </p:nvSpPr>
        <p:spPr bwMode="auto">
          <a:xfrm>
            <a:off x="7473950" y="5056188"/>
            <a:ext cx="990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zh-CN" altLang="en-US" sz="2000" b="1">
                <a:solidFill>
                  <a:schemeClr val="bg1"/>
                </a:solidFill>
                <a:latin typeface="Times New Roman" pitchFamily="18" charset="0"/>
                <a:ea typeface="楷体_GB2312" pitchFamily="49" charset="-122"/>
              </a:rPr>
              <a:t>定轴</a:t>
            </a:r>
          </a:p>
        </p:txBody>
      </p:sp>
      <p:sp>
        <p:nvSpPr>
          <p:cNvPr id="12298" name="Text Box 10"/>
          <p:cNvSpPr txBox="1">
            <a:spLocks noChangeArrowheads="1"/>
          </p:cNvSpPr>
          <p:nvPr/>
        </p:nvSpPr>
        <p:spPr bwMode="auto">
          <a:xfrm>
            <a:off x="7629525" y="2670175"/>
            <a:ext cx="558800"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a:solidFill>
                  <a:srgbClr val="FFFF99"/>
                </a:solidFill>
                <a:latin typeface="Times New Roman" pitchFamily="18" charset="0"/>
              </a:rPr>
              <a:t>P</a:t>
            </a:r>
            <a:endParaRPr lang="en-US" altLang="zh-CN" sz="2400" b="1">
              <a:solidFill>
                <a:srgbClr val="FF00FF"/>
              </a:solidFill>
              <a:latin typeface="Times New Roman" pitchFamily="18" charset="0"/>
            </a:endParaRPr>
          </a:p>
        </p:txBody>
      </p:sp>
      <p:sp>
        <p:nvSpPr>
          <p:cNvPr id="12299" name="Text Box 11"/>
          <p:cNvSpPr txBox="1">
            <a:spLocks noChangeArrowheads="1"/>
          </p:cNvSpPr>
          <p:nvPr/>
        </p:nvSpPr>
        <p:spPr bwMode="auto">
          <a:xfrm>
            <a:off x="6507163" y="4105275"/>
            <a:ext cx="847725"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a:solidFill>
                  <a:schemeClr val="bg1"/>
                </a:solidFill>
                <a:latin typeface="宋体" pitchFamily="2" charset="-122"/>
              </a:rPr>
              <a:t>×</a:t>
            </a:r>
            <a:endParaRPr lang="en-US" altLang="zh-CN" sz="2400" b="1">
              <a:solidFill>
                <a:schemeClr val="bg1"/>
              </a:solidFill>
              <a:latin typeface="Times New Roman" pitchFamily="18" charset="0"/>
            </a:endParaRPr>
          </a:p>
        </p:txBody>
      </p:sp>
      <p:sp>
        <p:nvSpPr>
          <p:cNvPr id="12300" name="Text Box 12"/>
          <p:cNvSpPr txBox="1">
            <a:spLocks noChangeArrowheads="1"/>
          </p:cNvSpPr>
          <p:nvPr/>
        </p:nvSpPr>
        <p:spPr bwMode="auto">
          <a:xfrm>
            <a:off x="6864350" y="1614488"/>
            <a:ext cx="10191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ω,</a:t>
            </a:r>
            <a:r>
              <a:rPr lang="en-US" altLang="zh-CN" sz="2400" i="1">
                <a:solidFill>
                  <a:srgbClr val="FFFF00"/>
                </a:solidFill>
                <a:latin typeface="Times New Roman" pitchFamily="18" charset="0"/>
                <a:sym typeface="Symbol" pitchFamily="18" charset="2"/>
              </a:rPr>
              <a:t></a:t>
            </a:r>
            <a:endParaRPr lang="en-US" altLang="zh-CN" sz="2400" i="1">
              <a:solidFill>
                <a:srgbClr val="FFFF00"/>
              </a:solidFill>
              <a:latin typeface="Times New Roman" pitchFamily="18" charset="0"/>
            </a:endParaRPr>
          </a:p>
        </p:txBody>
      </p:sp>
      <p:sp>
        <p:nvSpPr>
          <p:cNvPr id="12301" name="Line 13"/>
          <p:cNvSpPr>
            <a:spLocks noChangeShapeType="1"/>
          </p:cNvSpPr>
          <p:nvPr/>
        </p:nvSpPr>
        <p:spPr bwMode="auto">
          <a:xfrm flipV="1">
            <a:off x="6764338" y="2995613"/>
            <a:ext cx="835025" cy="1344612"/>
          </a:xfrm>
          <a:prstGeom prst="line">
            <a:avLst/>
          </a:prstGeom>
          <a:noFill/>
          <a:ln w="3810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2302" name="Line 14"/>
          <p:cNvSpPr>
            <a:spLocks noChangeShapeType="1"/>
          </p:cNvSpPr>
          <p:nvPr/>
        </p:nvSpPr>
        <p:spPr bwMode="auto">
          <a:xfrm rot="1503001" flipH="1" flipV="1">
            <a:off x="5891213" y="1884363"/>
            <a:ext cx="1730375" cy="3581400"/>
          </a:xfrm>
          <a:prstGeom prst="line">
            <a:avLst/>
          </a:prstGeom>
          <a:noFill/>
          <a:ln w="28575">
            <a:solidFill>
              <a:srgbClr val="FFFF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3" name="Oval 15"/>
          <p:cNvSpPr>
            <a:spLocks noChangeArrowheads="1"/>
          </p:cNvSpPr>
          <p:nvPr/>
        </p:nvSpPr>
        <p:spPr bwMode="auto">
          <a:xfrm rot="6145">
            <a:off x="5765800" y="2751138"/>
            <a:ext cx="1987550" cy="998537"/>
          </a:xfrm>
          <a:prstGeom prst="ellipse">
            <a:avLst/>
          </a:prstGeom>
          <a:noFill/>
          <a:ln w="28575">
            <a:solidFill>
              <a:schemeClr val="accent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304" name="Freeform 16"/>
          <p:cNvSpPr>
            <a:spLocks/>
          </p:cNvSpPr>
          <p:nvPr/>
        </p:nvSpPr>
        <p:spPr bwMode="auto">
          <a:xfrm rot="1502169">
            <a:off x="5292725" y="2338388"/>
            <a:ext cx="3084513" cy="2619375"/>
          </a:xfrm>
          <a:custGeom>
            <a:avLst/>
            <a:gdLst>
              <a:gd name="T0" fmla="*/ 2147483647 w 3279"/>
              <a:gd name="T1" fmla="*/ 2147483647 h 2872"/>
              <a:gd name="T2" fmla="*/ 2147483647 w 3279"/>
              <a:gd name="T3" fmla="*/ 2147483647 h 2872"/>
              <a:gd name="T4" fmla="*/ 2147483647 w 3279"/>
              <a:gd name="T5" fmla="*/ 2147483647 h 2872"/>
              <a:gd name="T6" fmla="*/ 2147483647 w 3279"/>
              <a:gd name="T7" fmla="*/ 2147483647 h 2872"/>
              <a:gd name="T8" fmla="*/ 2147483647 w 3279"/>
              <a:gd name="T9" fmla="*/ 2147483647 h 2872"/>
              <a:gd name="T10" fmla="*/ 2147483647 w 3279"/>
              <a:gd name="T11" fmla="*/ 2147483647 h 2872"/>
              <a:gd name="T12" fmla="*/ 2147483647 w 3279"/>
              <a:gd name="T13" fmla="*/ 2147483647 h 2872"/>
              <a:gd name="T14" fmla="*/ 2147483647 w 3279"/>
              <a:gd name="T15" fmla="*/ 2147483647 h 2872"/>
              <a:gd name="T16" fmla="*/ 2147483647 w 3279"/>
              <a:gd name="T17" fmla="*/ 2147483647 h 2872"/>
              <a:gd name="T18" fmla="*/ 2147483647 w 3279"/>
              <a:gd name="T19" fmla="*/ 2147483647 h 2872"/>
              <a:gd name="T20" fmla="*/ 2147483647 w 3279"/>
              <a:gd name="T21" fmla="*/ 2147483647 h 2872"/>
              <a:gd name="T22" fmla="*/ 2147483647 w 3279"/>
              <a:gd name="T23" fmla="*/ 2147483647 h 2872"/>
              <a:gd name="T24" fmla="*/ 2147483647 w 3279"/>
              <a:gd name="T25" fmla="*/ 2147483647 h 28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279" h="2872">
                <a:moveTo>
                  <a:pt x="1897" y="2672"/>
                </a:moveTo>
                <a:cubicBezTo>
                  <a:pt x="1620" y="2694"/>
                  <a:pt x="1137" y="2872"/>
                  <a:pt x="847" y="2777"/>
                </a:cubicBezTo>
                <a:cubicBezTo>
                  <a:pt x="557" y="2682"/>
                  <a:pt x="277" y="2419"/>
                  <a:pt x="157" y="2102"/>
                </a:cubicBezTo>
                <a:cubicBezTo>
                  <a:pt x="37" y="1785"/>
                  <a:pt x="0" y="1147"/>
                  <a:pt x="127" y="872"/>
                </a:cubicBezTo>
                <a:cubicBezTo>
                  <a:pt x="254" y="597"/>
                  <a:pt x="700" y="569"/>
                  <a:pt x="922" y="452"/>
                </a:cubicBezTo>
                <a:cubicBezTo>
                  <a:pt x="1144" y="335"/>
                  <a:pt x="1200" y="234"/>
                  <a:pt x="1462" y="167"/>
                </a:cubicBezTo>
                <a:cubicBezTo>
                  <a:pt x="1724" y="100"/>
                  <a:pt x="2215" y="0"/>
                  <a:pt x="2497" y="47"/>
                </a:cubicBezTo>
                <a:cubicBezTo>
                  <a:pt x="2779" y="94"/>
                  <a:pt x="3035" y="315"/>
                  <a:pt x="3157" y="452"/>
                </a:cubicBezTo>
                <a:cubicBezTo>
                  <a:pt x="3279" y="589"/>
                  <a:pt x="3274" y="730"/>
                  <a:pt x="3232" y="872"/>
                </a:cubicBezTo>
                <a:cubicBezTo>
                  <a:pt x="3190" y="1014"/>
                  <a:pt x="2954" y="1102"/>
                  <a:pt x="2902" y="1307"/>
                </a:cubicBezTo>
                <a:cubicBezTo>
                  <a:pt x="2850" y="1512"/>
                  <a:pt x="2982" y="1880"/>
                  <a:pt x="2917" y="2102"/>
                </a:cubicBezTo>
                <a:cubicBezTo>
                  <a:pt x="2852" y="2324"/>
                  <a:pt x="2684" y="2542"/>
                  <a:pt x="2512" y="2642"/>
                </a:cubicBezTo>
                <a:cubicBezTo>
                  <a:pt x="2340" y="2742"/>
                  <a:pt x="2174" y="2650"/>
                  <a:pt x="1897" y="2672"/>
                </a:cubicBezTo>
                <a:close/>
              </a:path>
            </a:pathLst>
          </a:custGeom>
          <a:noFill/>
          <a:ln w="38100" cmpd="sng">
            <a:solidFill>
              <a:srgbClr val="00FF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305" name="Line 17"/>
          <p:cNvSpPr>
            <a:spLocks noChangeShapeType="1"/>
          </p:cNvSpPr>
          <p:nvPr/>
        </p:nvSpPr>
        <p:spPr bwMode="auto">
          <a:xfrm rot="1505116" flipV="1">
            <a:off x="6835775" y="2825750"/>
            <a:ext cx="671513" cy="619125"/>
          </a:xfrm>
          <a:prstGeom prst="line">
            <a:avLst/>
          </a:prstGeom>
          <a:noFill/>
          <a:ln w="28575">
            <a:solidFill>
              <a:schemeClr val="accent1"/>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2306" name="Line 18"/>
          <p:cNvSpPr>
            <a:spLocks noChangeShapeType="1"/>
          </p:cNvSpPr>
          <p:nvPr/>
        </p:nvSpPr>
        <p:spPr bwMode="auto">
          <a:xfrm rot="1499590" flipH="1" flipV="1">
            <a:off x="6964363" y="2476500"/>
            <a:ext cx="760412" cy="382588"/>
          </a:xfrm>
          <a:prstGeom prst="line">
            <a:avLst/>
          </a:prstGeom>
          <a:noFill/>
          <a:ln w="38100">
            <a:solidFill>
              <a:schemeClr val="bg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07" name="Text Box 19"/>
          <p:cNvSpPr txBox="1">
            <a:spLocks noChangeArrowheads="1"/>
          </p:cNvSpPr>
          <p:nvPr/>
        </p:nvSpPr>
        <p:spPr bwMode="auto">
          <a:xfrm>
            <a:off x="5524500" y="3857625"/>
            <a:ext cx="9112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zh-CN" altLang="en-US" sz="2000" b="1">
                <a:solidFill>
                  <a:srgbClr val="00FF00"/>
                </a:solidFill>
                <a:latin typeface="Times New Roman" pitchFamily="18" charset="0"/>
                <a:ea typeface="楷体_GB2312" pitchFamily="49" charset="-122"/>
              </a:rPr>
              <a:t>刚体</a:t>
            </a:r>
          </a:p>
        </p:txBody>
      </p:sp>
      <p:sp>
        <p:nvSpPr>
          <p:cNvPr id="12308" name="Text Box 20"/>
          <p:cNvSpPr txBox="1">
            <a:spLocks noChangeArrowheads="1"/>
          </p:cNvSpPr>
          <p:nvPr/>
        </p:nvSpPr>
        <p:spPr bwMode="auto">
          <a:xfrm>
            <a:off x="7394575" y="2747963"/>
            <a:ext cx="5937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FFFF00"/>
                </a:solidFill>
                <a:latin typeface="Times New Roman" pitchFamily="18" charset="0"/>
                <a:sym typeface="Symbol" pitchFamily="18" charset="2"/>
              </a:rPr>
              <a:t></a:t>
            </a:r>
            <a:endParaRPr lang="en-US" altLang="zh-CN" sz="2400" b="1" i="1">
              <a:solidFill>
                <a:srgbClr val="FF00FF"/>
              </a:solidFill>
              <a:latin typeface="Times New Roman" pitchFamily="18" charset="0"/>
            </a:endParaRPr>
          </a:p>
        </p:txBody>
      </p:sp>
      <p:sp>
        <p:nvSpPr>
          <p:cNvPr id="12309" name="Line 21"/>
          <p:cNvSpPr>
            <a:spLocks noChangeShapeType="1"/>
          </p:cNvSpPr>
          <p:nvPr/>
        </p:nvSpPr>
        <p:spPr bwMode="auto">
          <a:xfrm>
            <a:off x="6738938" y="3294063"/>
            <a:ext cx="1625600" cy="479425"/>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0" name="Freeform 22"/>
          <p:cNvSpPr>
            <a:spLocks/>
          </p:cNvSpPr>
          <p:nvPr/>
        </p:nvSpPr>
        <p:spPr bwMode="auto">
          <a:xfrm>
            <a:off x="7062788" y="3171825"/>
            <a:ext cx="44450" cy="190500"/>
          </a:xfrm>
          <a:custGeom>
            <a:avLst/>
            <a:gdLst>
              <a:gd name="T0" fmla="*/ 0 w 47"/>
              <a:gd name="T1" fmla="*/ 0 h 210"/>
              <a:gd name="T2" fmla="*/ 2147483647 w 47"/>
              <a:gd name="T3" fmla="*/ 2147483647 h 210"/>
              <a:gd name="T4" fmla="*/ 2147483647 w 47"/>
              <a:gd name="T5" fmla="*/ 2147483647 h 210"/>
              <a:gd name="T6" fmla="*/ 0 60000 65536"/>
              <a:gd name="T7" fmla="*/ 0 60000 65536"/>
              <a:gd name="T8" fmla="*/ 0 60000 65536"/>
            </a:gdLst>
            <a:ahLst/>
            <a:cxnLst>
              <a:cxn ang="T6">
                <a:pos x="T0" y="T1"/>
              </a:cxn>
              <a:cxn ang="T7">
                <a:pos x="T2" y="T3"/>
              </a:cxn>
              <a:cxn ang="T8">
                <a:pos x="T4" y="T5"/>
              </a:cxn>
            </a:cxnLst>
            <a:rect l="0" t="0" r="r" b="b"/>
            <a:pathLst>
              <a:path w="47" h="210">
                <a:moveTo>
                  <a:pt x="0" y="0"/>
                </a:moveTo>
                <a:cubicBezTo>
                  <a:pt x="21" y="35"/>
                  <a:pt x="43" y="70"/>
                  <a:pt x="45" y="105"/>
                </a:cubicBezTo>
                <a:cubicBezTo>
                  <a:pt x="47" y="140"/>
                  <a:pt x="31" y="175"/>
                  <a:pt x="15" y="210"/>
                </a:cubicBezTo>
              </a:path>
            </a:pathLst>
          </a:custGeom>
          <a:noFill/>
          <a:ln w="19050" cmpd="sng">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311" name="Text Box 23"/>
          <p:cNvSpPr txBox="1">
            <a:spLocks noChangeArrowheads="1"/>
          </p:cNvSpPr>
          <p:nvPr/>
        </p:nvSpPr>
        <p:spPr bwMode="auto">
          <a:xfrm>
            <a:off x="8077200" y="3965575"/>
            <a:ext cx="5334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zh-CN" altLang="en-US" sz="2000" b="1">
                <a:solidFill>
                  <a:srgbClr val="00FF00"/>
                </a:solidFill>
                <a:latin typeface="Times New Roman" pitchFamily="18" charset="0"/>
                <a:ea typeface="楷体_GB2312" pitchFamily="49" charset="-122"/>
              </a:rPr>
              <a:t>参考方向</a:t>
            </a:r>
          </a:p>
        </p:txBody>
      </p:sp>
      <p:sp>
        <p:nvSpPr>
          <p:cNvPr id="12312" name="Text Box 24"/>
          <p:cNvSpPr txBox="1">
            <a:spLocks noChangeArrowheads="1"/>
          </p:cNvSpPr>
          <p:nvPr/>
        </p:nvSpPr>
        <p:spPr bwMode="auto">
          <a:xfrm>
            <a:off x="6940550" y="3062288"/>
            <a:ext cx="579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chemeClr val="bg1"/>
                </a:solidFill>
                <a:latin typeface="宋体" pitchFamily="2" charset="-122"/>
              </a:rPr>
              <a:t>θ</a:t>
            </a:r>
            <a:endParaRPr lang="en-US" altLang="zh-CN" sz="2400" b="1" i="1">
              <a:solidFill>
                <a:schemeClr val="accent1"/>
              </a:solidFill>
              <a:latin typeface="Times New Roman" pitchFamily="18" charset="0"/>
            </a:endParaRPr>
          </a:p>
        </p:txBody>
      </p:sp>
      <p:sp>
        <p:nvSpPr>
          <p:cNvPr id="12313" name="Text Box 25"/>
          <p:cNvSpPr txBox="1">
            <a:spLocks noChangeArrowheads="1"/>
          </p:cNvSpPr>
          <p:nvPr/>
        </p:nvSpPr>
        <p:spPr bwMode="auto">
          <a:xfrm>
            <a:off x="6443663" y="1436688"/>
            <a:ext cx="5778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FFFF00"/>
                </a:solidFill>
                <a:latin typeface="Times New Roman" pitchFamily="18" charset="0"/>
              </a:rPr>
              <a:t>z</a:t>
            </a:r>
            <a:endParaRPr lang="en-US" altLang="zh-CN" sz="2400" b="1" i="1">
              <a:solidFill>
                <a:schemeClr val="accent2"/>
              </a:solidFill>
              <a:latin typeface="Times New Roman" pitchFamily="18" charset="0"/>
            </a:endParaRPr>
          </a:p>
        </p:txBody>
      </p:sp>
      <p:sp>
        <p:nvSpPr>
          <p:cNvPr id="12314" name="Line 26"/>
          <p:cNvSpPr>
            <a:spLocks noChangeShapeType="1"/>
          </p:cNvSpPr>
          <p:nvPr/>
        </p:nvSpPr>
        <p:spPr bwMode="auto">
          <a:xfrm flipV="1">
            <a:off x="6735763" y="1474788"/>
            <a:ext cx="0" cy="1042987"/>
          </a:xfrm>
          <a:prstGeom prst="line">
            <a:avLst/>
          </a:prstGeom>
          <a:noFill/>
          <a:ln w="444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2315" name="Text Box 27"/>
          <p:cNvSpPr txBox="1">
            <a:spLocks noChangeArrowheads="1"/>
          </p:cNvSpPr>
          <p:nvPr/>
        </p:nvSpPr>
        <p:spPr bwMode="auto">
          <a:xfrm>
            <a:off x="6276975" y="2998788"/>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i="1">
                <a:solidFill>
                  <a:srgbClr val="FFFF00"/>
                </a:solidFill>
                <a:latin typeface="Times New Roman" pitchFamily="18" charset="0"/>
              </a:rPr>
              <a:t>O</a:t>
            </a:r>
          </a:p>
        </p:txBody>
      </p:sp>
      <p:sp>
        <p:nvSpPr>
          <p:cNvPr id="12316" name="Text Box 28"/>
          <p:cNvSpPr txBox="1">
            <a:spLocks noChangeArrowheads="1"/>
          </p:cNvSpPr>
          <p:nvPr/>
        </p:nvSpPr>
        <p:spPr bwMode="auto">
          <a:xfrm>
            <a:off x="6864350" y="2757488"/>
            <a:ext cx="368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i="1">
                <a:solidFill>
                  <a:srgbClr val="FFFF00"/>
                </a:solidFill>
                <a:latin typeface="Times New Roman" pitchFamily="18" charset="0"/>
              </a:rPr>
              <a:t>r'</a:t>
            </a:r>
          </a:p>
        </p:txBody>
      </p:sp>
      <p:sp>
        <p:nvSpPr>
          <p:cNvPr id="12317" name="Rectangle 29"/>
          <p:cNvSpPr>
            <a:spLocks noChangeArrowheads="1"/>
          </p:cNvSpPr>
          <p:nvPr/>
        </p:nvSpPr>
        <p:spPr bwMode="auto">
          <a:xfrm>
            <a:off x="6788150" y="4205288"/>
            <a:ext cx="912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000" b="1">
                <a:solidFill>
                  <a:srgbClr val="FFFF00"/>
                </a:solidFill>
                <a:latin typeface="Times New Roman" pitchFamily="18" charset="0"/>
                <a:ea typeface="楷体_GB2312" pitchFamily="49" charset="-122"/>
              </a:rPr>
              <a:t>基点</a:t>
            </a:r>
            <a:r>
              <a:rPr lang="en-US" altLang="zh-CN" sz="2400" b="1" i="1">
                <a:solidFill>
                  <a:srgbClr val="FFFF00"/>
                </a:solidFill>
                <a:latin typeface="Times New Roman" pitchFamily="18" charset="0"/>
              </a:rPr>
              <a:t>O</a:t>
            </a:r>
          </a:p>
        </p:txBody>
      </p:sp>
      <p:sp>
        <p:nvSpPr>
          <p:cNvPr id="12319" name="AutoShape 31"/>
          <p:cNvSpPr>
            <a:spLocks noChangeArrowheads="1"/>
          </p:cNvSpPr>
          <p:nvPr/>
        </p:nvSpPr>
        <p:spPr bwMode="auto">
          <a:xfrm>
            <a:off x="6940550" y="5132388"/>
            <a:ext cx="533400" cy="304800"/>
          </a:xfrm>
          <a:prstGeom prst="rightArrow">
            <a:avLst>
              <a:gd name="adj1" fmla="val 50000"/>
              <a:gd name="adj2" fmla="val 437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zh-CN" sz="2400">
              <a:solidFill>
                <a:srgbClr val="FF0000"/>
              </a:solidFill>
              <a:latin typeface="Times New Roman" pitchFamily="18" charset="0"/>
            </a:endParaRPr>
          </a:p>
        </p:txBody>
      </p:sp>
      <p:graphicFrame>
        <p:nvGraphicFramePr>
          <p:cNvPr id="12320" name="Object 32"/>
          <p:cNvGraphicFramePr>
            <a:graphicFrameLocks noChangeAspect="1"/>
          </p:cNvGraphicFramePr>
          <p:nvPr/>
        </p:nvGraphicFramePr>
        <p:xfrm>
          <a:off x="7145338" y="3795713"/>
          <a:ext cx="217487" cy="293687"/>
        </p:xfrm>
        <a:graphic>
          <a:graphicData uri="http://schemas.openxmlformats.org/presentationml/2006/ole">
            <mc:AlternateContent xmlns:mc="http://schemas.openxmlformats.org/markup-compatibility/2006">
              <mc:Choice xmlns:v="urn:schemas-microsoft-com:vml" Requires="v">
                <p:oleObj spid="_x0000_s6199" name="Equation" r:id="rId13" imgW="123903" imgH="200021" progId="Equation.3">
                  <p:embed/>
                </p:oleObj>
              </mc:Choice>
              <mc:Fallback>
                <p:oleObj name="Equation" r:id="rId13" imgW="123903" imgH="200021" progId="Equation.3">
                  <p:embed/>
                  <p:pic>
                    <p:nvPicPr>
                      <p:cNvPr id="0"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45338" y="3795713"/>
                        <a:ext cx="217487" cy="29368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21" name="Object 33"/>
          <p:cNvGraphicFramePr>
            <a:graphicFrameLocks noChangeAspect="1"/>
          </p:cNvGraphicFramePr>
          <p:nvPr/>
        </p:nvGraphicFramePr>
        <p:xfrm>
          <a:off x="7215188" y="2060575"/>
          <a:ext cx="230187" cy="306388"/>
        </p:xfrm>
        <a:graphic>
          <a:graphicData uri="http://schemas.openxmlformats.org/presentationml/2006/ole">
            <mc:AlternateContent xmlns:mc="http://schemas.openxmlformats.org/markup-compatibility/2006">
              <mc:Choice xmlns:v="urn:schemas-microsoft-com:vml" Requires="v">
                <p:oleObj spid="_x0000_s6200" name="公式" r:id="rId15" imgW="133351" imgH="219186" progId="Equation.3">
                  <p:embed/>
                </p:oleObj>
              </mc:Choice>
              <mc:Fallback>
                <p:oleObj name="公式" r:id="rId15" imgW="133351" imgH="219186" progId="Equation.3">
                  <p:embed/>
                  <p:pic>
                    <p:nvPicPr>
                      <p:cNvPr id="0" name="Object 3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15188" y="2060575"/>
                        <a:ext cx="230187" cy="30638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22" name="Arc 34"/>
          <p:cNvSpPr>
            <a:spLocks/>
          </p:cNvSpPr>
          <p:nvPr/>
        </p:nvSpPr>
        <p:spPr bwMode="auto">
          <a:xfrm flipH="1">
            <a:off x="6491288" y="1989138"/>
            <a:ext cx="469900" cy="217487"/>
          </a:xfrm>
          <a:custGeom>
            <a:avLst/>
            <a:gdLst>
              <a:gd name="T0" fmla="*/ 2147483647 w 43200"/>
              <a:gd name="T1" fmla="*/ 0 h 38804"/>
              <a:gd name="T2" fmla="*/ 2147483647 w 43200"/>
              <a:gd name="T3" fmla="*/ 1500575730 h 38804"/>
              <a:gd name="T4" fmla="*/ 2147483647 w 43200"/>
              <a:gd name="T5" fmla="*/ 2147483647 h 38804"/>
              <a:gd name="T6" fmla="*/ 0 60000 65536"/>
              <a:gd name="T7" fmla="*/ 0 60000 65536"/>
              <a:gd name="T8" fmla="*/ 0 60000 65536"/>
            </a:gdLst>
            <a:ahLst/>
            <a:cxnLst>
              <a:cxn ang="T6">
                <a:pos x="T0" y="T1"/>
              </a:cxn>
              <a:cxn ang="T7">
                <a:pos x="T2" y="T3"/>
              </a:cxn>
              <a:cxn ang="T8">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lnTo>
                  <a:pt x="34660" y="0"/>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2"/>
          <p:cNvSpPr>
            <a:spLocks noChangeArrowheads="1"/>
          </p:cNvSpPr>
          <p:nvPr/>
        </p:nvSpPr>
        <p:spPr bwMode="auto">
          <a:xfrm>
            <a:off x="490538" y="260350"/>
            <a:ext cx="67389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b="1">
                <a:solidFill>
                  <a:schemeClr val="bg1"/>
                </a:solidFill>
              </a:rPr>
              <a:t>考虑方向后</a:t>
            </a:r>
            <a:r>
              <a:rPr lang="zh-CN" altLang="en-US" sz="2400" b="1">
                <a:solidFill>
                  <a:schemeClr val="bg1"/>
                </a:solidFill>
              </a:rPr>
              <a:t>，位移与角位移的关系</a:t>
            </a:r>
            <a:r>
              <a:rPr lang="zh-CN" altLang="zh-CN" sz="2400" b="1">
                <a:solidFill>
                  <a:schemeClr val="bg1"/>
                </a:solidFill>
              </a:rPr>
              <a:t>：</a:t>
            </a:r>
          </a:p>
        </p:txBody>
      </p:sp>
      <p:graphicFrame>
        <p:nvGraphicFramePr>
          <p:cNvPr id="4" name="对象 3"/>
          <p:cNvGraphicFramePr>
            <a:graphicFrameLocks noChangeAspect="1"/>
          </p:cNvGraphicFramePr>
          <p:nvPr/>
        </p:nvGraphicFramePr>
        <p:xfrm>
          <a:off x="5773738" y="301625"/>
          <a:ext cx="1339850" cy="420688"/>
        </p:xfrm>
        <a:graphic>
          <a:graphicData uri="http://schemas.openxmlformats.org/presentationml/2006/ole">
            <mc:AlternateContent xmlns:mc="http://schemas.openxmlformats.org/markup-compatibility/2006">
              <mc:Choice xmlns:v="urn:schemas-microsoft-com:vml" Requires="v">
                <p:oleObj spid="_x0000_s6201" name="Equation" r:id="rId17" imgW="485894" imgH="95287" progId="Equation.DSMT4">
                  <p:embed/>
                </p:oleObj>
              </mc:Choice>
              <mc:Fallback>
                <p:oleObj name="Equation" r:id="rId17" imgW="485894" imgH="95287" progId="Equation.DSMT4">
                  <p:embed/>
                  <p:pic>
                    <p:nvPicPr>
                      <p:cNvPr id="0" name="对象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73738" y="301625"/>
                        <a:ext cx="133985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3" presetClass="entr" presetSubtype="16"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5"/>
                                        </p:tgtEl>
                                        <p:attrNameLst>
                                          <p:attrName>style.visibility</p:attrName>
                                        </p:attrNameLst>
                                      </p:cBhvr>
                                      <p:to>
                                        <p:strVal val="visible"/>
                                      </p:to>
                                    </p:set>
                                    <p:animEffect transition="in" filter="wipe(left)">
                                      <p:cBhvr>
                                        <p:cTn id="17" dur="500"/>
                                        <p:tgtEl>
                                          <p:spTgt spid="153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nodeType="clickEffect">
                                  <p:stCondLst>
                                    <p:cond delay="0"/>
                                  </p:stCondLst>
                                  <p:childTnLst>
                                    <p:set>
                                      <p:cBhvr>
                                        <p:cTn id="21" dur="1" fill="hold">
                                          <p:stCondLst>
                                            <p:cond delay="0"/>
                                          </p:stCondLst>
                                        </p:cTn>
                                        <p:tgtEl>
                                          <p:spTgt spid="15364"/>
                                        </p:tgtEl>
                                        <p:attrNameLst>
                                          <p:attrName>style.visibility</p:attrName>
                                        </p:attrNameLst>
                                      </p:cBhvr>
                                      <p:to>
                                        <p:strVal val="visible"/>
                                      </p:to>
                                    </p:set>
                                    <p:anim calcmode="lin" valueType="num">
                                      <p:cBhvr>
                                        <p:cTn id="22" dur="500" fill="hold"/>
                                        <p:tgtEl>
                                          <p:spTgt spid="15364"/>
                                        </p:tgtEl>
                                        <p:attrNameLst>
                                          <p:attrName>ppt_w</p:attrName>
                                        </p:attrNameLst>
                                      </p:cBhvr>
                                      <p:tavLst>
                                        <p:tav tm="0">
                                          <p:val>
                                            <p:fltVal val="0"/>
                                          </p:val>
                                        </p:tav>
                                        <p:tav tm="100000">
                                          <p:val>
                                            <p:strVal val="#ppt_w"/>
                                          </p:val>
                                        </p:tav>
                                      </p:tavLst>
                                    </p:anim>
                                    <p:anim calcmode="lin" valueType="num">
                                      <p:cBhvr>
                                        <p:cTn id="23" dur="500" fill="hold"/>
                                        <p:tgtEl>
                                          <p:spTgt spid="15364"/>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367"/>
                                        </p:tgtEl>
                                        <p:attrNameLst>
                                          <p:attrName>style.visibility</p:attrName>
                                        </p:attrNameLst>
                                      </p:cBhvr>
                                      <p:to>
                                        <p:strVal val="visible"/>
                                      </p:to>
                                    </p:set>
                                    <p:animEffect transition="in" filter="wipe(left)">
                                      <p:cBhvr>
                                        <p:cTn id="28" dur="500"/>
                                        <p:tgtEl>
                                          <p:spTgt spid="1536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5366"/>
                                        </p:tgtEl>
                                        <p:attrNameLst>
                                          <p:attrName>style.visibility</p:attrName>
                                        </p:attrNameLst>
                                      </p:cBhvr>
                                      <p:to>
                                        <p:strVal val="visible"/>
                                      </p:to>
                                    </p:set>
                                    <p:animEffect transition="in" filter="wipe(left)">
                                      <p:cBhvr>
                                        <p:cTn id="33" dur="500"/>
                                        <p:tgtEl>
                                          <p:spTgt spid="1536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15368"/>
                                        </p:tgtEl>
                                        <p:attrNameLst>
                                          <p:attrName>style.visibility</p:attrName>
                                        </p:attrNameLst>
                                      </p:cBhvr>
                                      <p:to>
                                        <p:strVal val="visible"/>
                                      </p:to>
                                    </p:set>
                                    <p:animEffect transition="in" filter="wipe(left)">
                                      <p:cBhvr>
                                        <p:cTn id="38" dur="500"/>
                                        <p:tgtEl>
                                          <p:spTgt spid="1536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5362"/>
                                        </p:tgtEl>
                                        <p:attrNameLst>
                                          <p:attrName>style.visibility</p:attrName>
                                        </p:attrNameLst>
                                      </p:cBhvr>
                                      <p:to>
                                        <p:strVal val="visible"/>
                                      </p:to>
                                    </p:set>
                                    <p:animEffect transition="in" filter="wipe(left)">
                                      <p:cBhvr>
                                        <p:cTn id="43" dur="500"/>
                                        <p:tgtEl>
                                          <p:spTgt spid="1536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5363"/>
                                        </p:tgtEl>
                                        <p:attrNameLst>
                                          <p:attrName>style.visibility</p:attrName>
                                        </p:attrNameLst>
                                      </p:cBhvr>
                                      <p:to>
                                        <p:strVal val="visible"/>
                                      </p:to>
                                    </p:set>
                                    <p:animEffect transition="in" filter="wipe(left)">
                                      <p:cBhvr>
                                        <p:cTn id="48" dur="500"/>
                                        <p:tgtEl>
                                          <p:spTgt spid="15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autoUpdateAnimBg="0"/>
      <p:bldP spid="15367"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1295400" y="328613"/>
            <a:ext cx="70135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3200" b="1" dirty="0">
                <a:solidFill>
                  <a:srgbClr val="66FF33"/>
                </a:solidFill>
                <a:latin typeface="Times New Roman" pitchFamily="18" charset="0"/>
                <a:ea typeface="黑体" pitchFamily="49" charset="-122"/>
              </a:rPr>
              <a:t>6.2  </a:t>
            </a:r>
            <a:r>
              <a:rPr lang="zh-CN" altLang="en-US" sz="3200" b="1" dirty="0">
                <a:solidFill>
                  <a:srgbClr val="66FF33"/>
                </a:solidFill>
                <a:latin typeface="Times New Roman" pitchFamily="18" charset="0"/>
                <a:ea typeface="黑体" pitchFamily="49" charset="-122"/>
              </a:rPr>
              <a:t>力矩    刚体绕定轴转动的转动定律</a:t>
            </a:r>
          </a:p>
        </p:txBody>
      </p:sp>
      <p:sp>
        <p:nvSpPr>
          <p:cNvPr id="17411" name="Text Box 3"/>
          <p:cNvSpPr txBox="1">
            <a:spLocks noChangeArrowheads="1"/>
          </p:cNvSpPr>
          <p:nvPr/>
        </p:nvSpPr>
        <p:spPr bwMode="auto">
          <a:xfrm>
            <a:off x="179388" y="914400"/>
            <a:ext cx="32404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800" b="1" dirty="0">
                <a:solidFill>
                  <a:srgbClr val="FFFF00"/>
                </a:solidFill>
                <a:latin typeface="Times New Roman" pitchFamily="18" charset="0"/>
              </a:rPr>
              <a:t>一</a:t>
            </a:r>
            <a:r>
              <a:rPr lang="en-US" altLang="zh-CN" sz="2800" b="1" dirty="0">
                <a:solidFill>
                  <a:srgbClr val="FFFF00"/>
                </a:solidFill>
                <a:latin typeface="Times New Roman" pitchFamily="18" charset="0"/>
              </a:rPr>
              <a:t>. </a:t>
            </a:r>
            <a:r>
              <a:rPr lang="zh-CN" altLang="en-US" sz="2800" b="1" dirty="0">
                <a:solidFill>
                  <a:srgbClr val="FFFF00"/>
                </a:solidFill>
                <a:latin typeface="Times New Roman" pitchFamily="18" charset="0"/>
              </a:rPr>
              <a:t>刚体的力矩</a:t>
            </a:r>
          </a:p>
        </p:txBody>
      </p:sp>
      <p:sp>
        <p:nvSpPr>
          <p:cNvPr id="17412" name="Text Box 4"/>
          <p:cNvSpPr txBox="1">
            <a:spLocks noChangeArrowheads="1"/>
          </p:cNvSpPr>
          <p:nvPr/>
        </p:nvSpPr>
        <p:spPr bwMode="auto">
          <a:xfrm>
            <a:off x="1169988" y="1516063"/>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66FFFF"/>
                </a:solidFill>
                <a:latin typeface="Times New Roman" pitchFamily="18" charset="0"/>
              </a:rPr>
              <a:t>力</a:t>
            </a:r>
          </a:p>
        </p:txBody>
      </p:sp>
      <p:sp>
        <p:nvSpPr>
          <p:cNvPr id="17413" name="Text Box 5"/>
          <p:cNvSpPr txBox="1">
            <a:spLocks noChangeArrowheads="1"/>
          </p:cNvSpPr>
          <p:nvPr/>
        </p:nvSpPr>
        <p:spPr bwMode="auto">
          <a:xfrm>
            <a:off x="2216150" y="2295525"/>
            <a:ext cx="2998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FFFFFF"/>
                </a:solidFill>
                <a:latin typeface="Times New Roman" pitchFamily="18" charset="0"/>
              </a:rPr>
              <a:t>改变刚体的转动状态</a:t>
            </a:r>
            <a:r>
              <a:rPr lang="zh-CN" altLang="en-US" sz="2400" b="1">
                <a:solidFill>
                  <a:schemeClr val="hlink"/>
                </a:solidFill>
                <a:latin typeface="Times New Roman" pitchFamily="18" charset="0"/>
              </a:rPr>
              <a:t> </a:t>
            </a:r>
          </a:p>
        </p:txBody>
      </p:sp>
      <p:sp>
        <p:nvSpPr>
          <p:cNvPr id="17414" name="Text Box 6"/>
          <p:cNvSpPr txBox="1">
            <a:spLocks noChangeArrowheads="1"/>
          </p:cNvSpPr>
          <p:nvPr/>
        </p:nvSpPr>
        <p:spPr bwMode="auto">
          <a:xfrm>
            <a:off x="5708650" y="2249488"/>
            <a:ext cx="2617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66FFFF"/>
                </a:solidFill>
                <a:latin typeface="Times New Roman" pitchFamily="18" charset="0"/>
              </a:rPr>
              <a:t>刚体获得角加速度</a:t>
            </a:r>
          </a:p>
        </p:txBody>
      </p:sp>
      <p:sp>
        <p:nvSpPr>
          <p:cNvPr id="17415" name="Text Box 7"/>
          <p:cNvSpPr txBox="1">
            <a:spLocks noChangeArrowheads="1"/>
          </p:cNvSpPr>
          <p:nvPr/>
        </p:nvSpPr>
        <p:spPr bwMode="auto">
          <a:xfrm>
            <a:off x="611188" y="3068638"/>
            <a:ext cx="2716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a:solidFill>
                  <a:schemeClr val="bg1"/>
                </a:solidFill>
                <a:latin typeface="Times New Roman" pitchFamily="18" charset="0"/>
              </a:rPr>
              <a:t>  </a:t>
            </a:r>
            <a:r>
              <a:rPr lang="zh-CN" altLang="en-US" sz="2400" b="1">
                <a:solidFill>
                  <a:schemeClr val="bg1"/>
                </a:solidFill>
                <a:latin typeface="Times New Roman" pitchFamily="18" charset="0"/>
              </a:rPr>
              <a:t>力 </a:t>
            </a:r>
            <a:r>
              <a:rPr lang="en-US" altLang="zh-CN" sz="2400" b="1" i="1">
                <a:solidFill>
                  <a:srgbClr val="66FFFF"/>
                </a:solidFill>
                <a:latin typeface="Times New Roman" pitchFamily="18" charset="0"/>
              </a:rPr>
              <a:t>F</a:t>
            </a:r>
            <a:r>
              <a:rPr lang="en-US" altLang="zh-CN" sz="2400" b="1" i="1">
                <a:solidFill>
                  <a:schemeClr val="bg1"/>
                </a:solidFill>
                <a:latin typeface="Times New Roman" pitchFamily="18" charset="0"/>
              </a:rPr>
              <a:t> </a:t>
            </a:r>
            <a:r>
              <a:rPr lang="zh-CN" altLang="en-US" sz="2400" b="1">
                <a:solidFill>
                  <a:schemeClr val="bg1"/>
                </a:solidFill>
                <a:latin typeface="Times New Roman" pitchFamily="18" charset="0"/>
              </a:rPr>
              <a:t>对</a:t>
            </a:r>
            <a:r>
              <a:rPr lang="en-US" altLang="zh-CN" sz="2400" b="1" i="1">
                <a:solidFill>
                  <a:srgbClr val="66FFFF"/>
                </a:solidFill>
                <a:latin typeface="Times New Roman" pitchFamily="18" charset="0"/>
              </a:rPr>
              <a:t>z</a:t>
            </a:r>
            <a:r>
              <a:rPr lang="en-US" altLang="zh-CN" sz="2400" b="1" i="1">
                <a:solidFill>
                  <a:schemeClr val="bg1"/>
                </a:solidFill>
                <a:latin typeface="Times New Roman" pitchFamily="18" charset="0"/>
              </a:rPr>
              <a:t> </a:t>
            </a:r>
            <a:r>
              <a:rPr lang="zh-CN" altLang="en-US" sz="2400" b="1">
                <a:solidFill>
                  <a:schemeClr val="bg1"/>
                </a:solidFill>
                <a:latin typeface="Times New Roman" pitchFamily="18" charset="0"/>
              </a:rPr>
              <a:t>轴的力矩</a:t>
            </a:r>
            <a:endParaRPr lang="zh-CN" altLang="en-US" sz="2400" b="1" i="1">
              <a:solidFill>
                <a:schemeClr val="bg1"/>
              </a:solidFill>
              <a:latin typeface="Times New Roman" pitchFamily="18" charset="0"/>
            </a:endParaRPr>
          </a:p>
        </p:txBody>
      </p:sp>
      <p:graphicFrame>
        <p:nvGraphicFramePr>
          <p:cNvPr id="17416" name="Object 8"/>
          <p:cNvGraphicFramePr>
            <a:graphicFrameLocks/>
          </p:cNvGraphicFramePr>
          <p:nvPr/>
        </p:nvGraphicFramePr>
        <p:xfrm>
          <a:off x="920750" y="3790950"/>
          <a:ext cx="2755900" cy="431800"/>
        </p:xfrm>
        <a:graphic>
          <a:graphicData uri="http://schemas.openxmlformats.org/presentationml/2006/ole">
            <mc:AlternateContent xmlns:mc="http://schemas.openxmlformats.org/markup-compatibility/2006">
              <mc:Choice xmlns:v="urn:schemas-microsoft-com:vml" Requires="v">
                <p:oleObj spid="_x0000_s7218" name="公式" r:id="rId4" imgW="2667016" imgH="342816" progId="Equation.3">
                  <p:embed/>
                </p:oleObj>
              </mc:Choice>
              <mc:Fallback>
                <p:oleObj name="公式" r:id="rId4" imgW="2667016" imgH="342816" progId="Equation.3">
                  <p:embed/>
                  <p:pic>
                    <p:nvPicPr>
                      <p:cNvPr id="0" name="Object 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0750" y="3790950"/>
                        <a:ext cx="27559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7" name="Text Box 9"/>
          <p:cNvSpPr txBox="1">
            <a:spLocks noChangeArrowheads="1"/>
          </p:cNvSpPr>
          <p:nvPr/>
        </p:nvSpPr>
        <p:spPr bwMode="auto">
          <a:xfrm>
            <a:off x="1003300" y="4541838"/>
            <a:ext cx="35877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zh-CN" altLang="en-US" sz="2400" b="1">
                <a:solidFill>
                  <a:srgbClr val="66FFFF"/>
                </a:solidFill>
                <a:latin typeface="Times New Roman" pitchFamily="18" charset="0"/>
              </a:rPr>
              <a:t>力矩取决于力的大小、方向和作用点</a:t>
            </a:r>
          </a:p>
        </p:txBody>
      </p:sp>
      <p:sp>
        <p:nvSpPr>
          <p:cNvPr id="17418" name="Text Box 10"/>
          <p:cNvSpPr txBox="1">
            <a:spLocks noChangeArrowheads="1"/>
          </p:cNvSpPr>
          <p:nvPr/>
        </p:nvSpPr>
        <p:spPr bwMode="auto">
          <a:xfrm>
            <a:off x="1023938" y="5702300"/>
            <a:ext cx="43053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dirty="0">
                <a:solidFill>
                  <a:srgbClr val="66FFFF"/>
                </a:solidFill>
                <a:latin typeface="Times New Roman" pitchFamily="18" charset="0"/>
              </a:rPr>
              <a:t>在刚体的定轴转动中，力矩只有两个指向 （</a:t>
            </a:r>
            <a:r>
              <a:rPr lang="en-US" altLang="zh-CN" sz="2400" b="1" dirty="0">
                <a:solidFill>
                  <a:srgbClr val="66FFFF"/>
                </a:solidFill>
                <a:latin typeface="Times New Roman" pitchFamily="18" charset="0"/>
              </a:rPr>
              <a:t>+ -</a:t>
            </a:r>
            <a:r>
              <a:rPr lang="zh-CN" altLang="en-US" sz="2400" b="1" dirty="0">
                <a:solidFill>
                  <a:srgbClr val="66FFFF"/>
                </a:solidFill>
                <a:latin typeface="Times New Roman" pitchFamily="18" charset="0"/>
              </a:rPr>
              <a:t>）</a:t>
            </a:r>
          </a:p>
        </p:txBody>
      </p:sp>
      <p:sp>
        <p:nvSpPr>
          <p:cNvPr id="17419" name="Rectangle 11"/>
          <p:cNvSpPr>
            <a:spLocks noChangeArrowheads="1"/>
          </p:cNvSpPr>
          <p:nvPr/>
        </p:nvSpPr>
        <p:spPr bwMode="auto">
          <a:xfrm>
            <a:off x="757238" y="1412875"/>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4000" b="1">
                <a:solidFill>
                  <a:srgbClr val="FFFF66"/>
                </a:solidFill>
                <a:latin typeface="Times New Roman" pitchFamily="18" charset="0"/>
              </a:rPr>
              <a:t>•</a:t>
            </a:r>
          </a:p>
        </p:txBody>
      </p:sp>
      <p:sp>
        <p:nvSpPr>
          <p:cNvPr id="17420" name="Rectangle 12"/>
          <p:cNvSpPr>
            <a:spLocks noChangeArrowheads="1"/>
          </p:cNvSpPr>
          <p:nvPr/>
        </p:nvSpPr>
        <p:spPr bwMode="auto">
          <a:xfrm>
            <a:off x="739775" y="2151063"/>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4000" b="1">
                <a:solidFill>
                  <a:srgbClr val="FFFF66"/>
                </a:solidFill>
                <a:latin typeface="Times New Roman" pitchFamily="18" charset="0"/>
              </a:rPr>
              <a:t>•</a:t>
            </a:r>
          </a:p>
        </p:txBody>
      </p:sp>
      <p:sp>
        <p:nvSpPr>
          <p:cNvPr id="17421" name="Rectangle 13"/>
          <p:cNvSpPr>
            <a:spLocks noChangeArrowheads="1"/>
          </p:cNvSpPr>
          <p:nvPr/>
        </p:nvSpPr>
        <p:spPr bwMode="auto">
          <a:xfrm>
            <a:off x="730250" y="4508500"/>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4000" b="1">
                <a:solidFill>
                  <a:srgbClr val="FFFF66"/>
                </a:solidFill>
                <a:latin typeface="Times New Roman" pitchFamily="18" charset="0"/>
              </a:rPr>
              <a:t>•</a:t>
            </a:r>
          </a:p>
        </p:txBody>
      </p:sp>
      <p:sp>
        <p:nvSpPr>
          <p:cNvPr id="17422" name="Rectangle 14"/>
          <p:cNvSpPr>
            <a:spLocks noChangeArrowheads="1"/>
          </p:cNvSpPr>
          <p:nvPr/>
        </p:nvSpPr>
        <p:spPr bwMode="auto">
          <a:xfrm>
            <a:off x="738188" y="5599113"/>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4000" b="1">
                <a:solidFill>
                  <a:srgbClr val="FFFF66"/>
                </a:solidFill>
                <a:latin typeface="Times New Roman" pitchFamily="18" charset="0"/>
              </a:rPr>
              <a:t>•</a:t>
            </a:r>
          </a:p>
        </p:txBody>
      </p:sp>
      <p:sp>
        <p:nvSpPr>
          <p:cNvPr id="17423" name="Text Box 15"/>
          <p:cNvSpPr txBox="1">
            <a:spLocks noChangeArrowheads="1"/>
          </p:cNvSpPr>
          <p:nvPr/>
        </p:nvSpPr>
        <p:spPr bwMode="auto">
          <a:xfrm>
            <a:off x="5724525" y="1531938"/>
            <a:ext cx="2312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66FFFF"/>
                </a:solidFill>
                <a:latin typeface="Times New Roman" pitchFamily="18" charset="0"/>
              </a:rPr>
              <a:t>质点获得加速度</a:t>
            </a:r>
          </a:p>
        </p:txBody>
      </p:sp>
      <p:sp>
        <p:nvSpPr>
          <p:cNvPr id="17424" name="Text Box 16"/>
          <p:cNvSpPr txBox="1">
            <a:spLocks noChangeArrowheads="1"/>
          </p:cNvSpPr>
          <p:nvPr/>
        </p:nvSpPr>
        <p:spPr bwMode="auto">
          <a:xfrm>
            <a:off x="2195513" y="1528763"/>
            <a:ext cx="29225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chemeClr val="bg1"/>
                </a:solidFill>
                <a:latin typeface="Times New Roman" pitchFamily="18" charset="0"/>
              </a:rPr>
              <a:t>改变质点的运动状态</a:t>
            </a:r>
            <a:endParaRPr lang="zh-CN" altLang="en-US" sz="2400" b="1">
              <a:solidFill>
                <a:srgbClr val="66FFFF"/>
              </a:solidFill>
              <a:latin typeface="Times New Roman" pitchFamily="18" charset="0"/>
            </a:endParaRPr>
          </a:p>
        </p:txBody>
      </p:sp>
      <p:sp>
        <p:nvSpPr>
          <p:cNvPr id="17425" name="AutoShape 17"/>
          <p:cNvSpPr>
            <a:spLocks noChangeArrowheads="1"/>
          </p:cNvSpPr>
          <p:nvPr/>
        </p:nvSpPr>
        <p:spPr bwMode="auto">
          <a:xfrm>
            <a:off x="1763713" y="1679575"/>
            <a:ext cx="504825" cy="215900"/>
          </a:xfrm>
          <a:prstGeom prst="rightArrow">
            <a:avLst>
              <a:gd name="adj1" fmla="val 50000"/>
              <a:gd name="adj2" fmla="val 58456"/>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6" name="WordArt 18"/>
          <p:cNvSpPr>
            <a:spLocks noChangeArrowheads="1" noChangeShapeType="1" noTextEdit="1"/>
          </p:cNvSpPr>
          <p:nvPr/>
        </p:nvSpPr>
        <p:spPr bwMode="auto">
          <a:xfrm>
            <a:off x="1169988" y="2360613"/>
            <a:ext cx="500709" cy="311150"/>
          </a:xfrm>
          <a:prstGeom prst="rect">
            <a:avLst/>
          </a:prstGeom>
        </p:spPr>
        <p:txBody>
          <a:bodyPr vert="horz" wrap="none" fromWordArt="1">
            <a:prstTxWarp prst="textPlain">
              <a:avLst>
                <a:gd name="adj" fmla="val 50000"/>
              </a:avLst>
            </a:prstTxWarp>
          </a:bodyPr>
          <a:lstStyle/>
          <a:p>
            <a:pPr algn="ctr" fontAlgn="auto"/>
            <a:r>
              <a:rPr lang="zh-CN" altLang="en-US" sz="1200" kern="10" dirty="0">
                <a:ln w="9525">
                  <a:solidFill>
                    <a:srgbClr val="66FFFF"/>
                  </a:solidFill>
                  <a:round/>
                  <a:headEnd/>
                  <a:tailEnd/>
                </a:ln>
                <a:solidFill>
                  <a:srgbClr val="66FFFF"/>
                </a:solidFill>
                <a:latin typeface="宋体"/>
                <a:ea typeface="宋体"/>
              </a:rPr>
              <a:t>力矩</a:t>
            </a:r>
            <a:endParaRPr lang="zh-CN" altLang="en-US" sz="2800" kern="10" dirty="0">
              <a:ln w="9525">
                <a:solidFill>
                  <a:srgbClr val="66FFFF"/>
                </a:solidFill>
                <a:round/>
                <a:headEnd/>
                <a:tailEnd/>
              </a:ln>
              <a:solidFill>
                <a:srgbClr val="66FFFF"/>
              </a:solidFill>
              <a:latin typeface="宋体"/>
              <a:ea typeface="宋体"/>
            </a:endParaRPr>
          </a:p>
        </p:txBody>
      </p:sp>
      <p:sp>
        <p:nvSpPr>
          <p:cNvPr id="17427" name="Line 19"/>
          <p:cNvSpPr>
            <a:spLocks noChangeShapeType="1"/>
          </p:cNvSpPr>
          <p:nvPr/>
        </p:nvSpPr>
        <p:spPr bwMode="auto">
          <a:xfrm flipH="1">
            <a:off x="6462713" y="5397500"/>
            <a:ext cx="1587" cy="695325"/>
          </a:xfrm>
          <a:prstGeom prst="line">
            <a:avLst/>
          </a:prstGeom>
          <a:noFill/>
          <a:ln w="508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8" name="Freeform 20"/>
          <p:cNvSpPr>
            <a:spLocks/>
          </p:cNvSpPr>
          <p:nvPr/>
        </p:nvSpPr>
        <p:spPr bwMode="auto">
          <a:xfrm>
            <a:off x="4716463" y="3140075"/>
            <a:ext cx="3744912" cy="2663825"/>
          </a:xfrm>
          <a:custGeom>
            <a:avLst/>
            <a:gdLst>
              <a:gd name="T0" fmla="*/ 2147483647 w 1761"/>
              <a:gd name="T1" fmla="*/ 2147483647 h 1074"/>
              <a:gd name="T2" fmla="*/ 2147483647 w 1761"/>
              <a:gd name="T3" fmla="*/ 2147483647 h 1074"/>
              <a:gd name="T4" fmla="*/ 2147483647 w 1761"/>
              <a:gd name="T5" fmla="*/ 2147483647 h 1074"/>
              <a:gd name="T6" fmla="*/ 2147483647 w 1761"/>
              <a:gd name="T7" fmla="*/ 2147483647 h 1074"/>
              <a:gd name="T8" fmla="*/ 2147483647 w 1761"/>
              <a:gd name="T9" fmla="*/ 2147483647 h 1074"/>
              <a:gd name="T10" fmla="*/ 2147483647 w 1761"/>
              <a:gd name="T11" fmla="*/ 2147483647 h 1074"/>
              <a:gd name="T12" fmla="*/ 2147483647 w 1761"/>
              <a:gd name="T13" fmla="*/ 2147483647 h 1074"/>
              <a:gd name="T14" fmla="*/ 2147483647 w 1761"/>
              <a:gd name="T15" fmla="*/ 2147483647 h 1074"/>
              <a:gd name="T16" fmla="*/ 2147483647 w 1761"/>
              <a:gd name="T17" fmla="*/ 2147483647 h 1074"/>
              <a:gd name="T18" fmla="*/ 2147483647 w 1761"/>
              <a:gd name="T19" fmla="*/ 2147483647 h 10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339966"/>
          </a:solidFill>
          <a:ln w="9525">
            <a:round/>
            <a:headEnd/>
            <a:tailEnd/>
          </a:ln>
          <a:effectLst/>
          <a:scene3d>
            <a:camera prst="legacyPerspectiveFront">
              <a:rot lat="18000000" lon="0" rev="0"/>
            </a:camera>
            <a:lightRig rig="legacyFlat2" dir="t"/>
          </a:scene3d>
          <a:sp3d extrusionH="430200" prstMaterial="legacyMatte">
            <a:bevelT w="13500" h="13500" prst="angle"/>
            <a:bevelB w="13500" h="13500" prst="angle"/>
            <a:extrusionClr>
              <a:srgbClr val="339966"/>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17429" name="Oval 21"/>
          <p:cNvSpPr>
            <a:spLocks noChangeArrowheads="1"/>
          </p:cNvSpPr>
          <p:nvPr/>
        </p:nvSpPr>
        <p:spPr bwMode="auto">
          <a:xfrm>
            <a:off x="6391275" y="4414838"/>
            <a:ext cx="142875" cy="7143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7430" name="Object 22"/>
          <p:cNvGraphicFramePr>
            <a:graphicFrameLocks/>
          </p:cNvGraphicFramePr>
          <p:nvPr/>
        </p:nvGraphicFramePr>
        <p:xfrm>
          <a:off x="6791325" y="4295775"/>
          <a:ext cx="212725" cy="293688"/>
        </p:xfrm>
        <a:graphic>
          <a:graphicData uri="http://schemas.openxmlformats.org/presentationml/2006/ole">
            <mc:AlternateContent xmlns:mc="http://schemas.openxmlformats.org/markup-compatibility/2006">
              <mc:Choice xmlns:v="urn:schemas-microsoft-com:vml" Requires="v">
                <p:oleObj spid="_x0000_s7219" name="公式" r:id="rId6" imgW="123903" imgH="200021" progId="Equation.3">
                  <p:embed/>
                </p:oleObj>
              </mc:Choice>
              <mc:Fallback>
                <p:oleObj name="公式" r:id="rId6" imgW="123903" imgH="200021" progId="Equation.3">
                  <p:embed/>
                  <p:pic>
                    <p:nvPicPr>
                      <p:cNvPr id="0" name="Object 2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1325" y="4295775"/>
                        <a:ext cx="212725"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1" name="Line 23"/>
          <p:cNvSpPr>
            <a:spLocks noChangeShapeType="1"/>
          </p:cNvSpPr>
          <p:nvPr/>
        </p:nvSpPr>
        <p:spPr bwMode="auto">
          <a:xfrm flipV="1">
            <a:off x="7183438" y="3524250"/>
            <a:ext cx="1060450" cy="1293813"/>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2" name="Oval 24"/>
          <p:cNvSpPr>
            <a:spLocks noChangeArrowheads="1"/>
          </p:cNvSpPr>
          <p:nvPr/>
        </p:nvSpPr>
        <p:spPr bwMode="auto">
          <a:xfrm>
            <a:off x="5240338" y="4027488"/>
            <a:ext cx="2447925" cy="865187"/>
          </a:xfrm>
          <a:prstGeom prst="ellipse">
            <a:avLst/>
          </a:prstGeom>
          <a:noFill/>
          <a:ln w="12700">
            <a:solidFill>
              <a:srgbClr val="0000CC"/>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3" name="Line 25"/>
          <p:cNvSpPr>
            <a:spLocks noChangeShapeType="1"/>
          </p:cNvSpPr>
          <p:nvPr/>
        </p:nvSpPr>
        <p:spPr bwMode="auto">
          <a:xfrm>
            <a:off x="6443663" y="3379788"/>
            <a:ext cx="20637" cy="1082675"/>
          </a:xfrm>
          <a:prstGeom prst="line">
            <a:avLst/>
          </a:prstGeom>
          <a:noFill/>
          <a:ln w="50800">
            <a:solidFill>
              <a:schemeClr val="fo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4" name="Line 26"/>
          <p:cNvSpPr>
            <a:spLocks noChangeShapeType="1"/>
          </p:cNvSpPr>
          <p:nvPr/>
        </p:nvSpPr>
        <p:spPr bwMode="auto">
          <a:xfrm>
            <a:off x="8243888" y="3524250"/>
            <a:ext cx="19050" cy="1439863"/>
          </a:xfrm>
          <a:prstGeom prst="line">
            <a:avLst/>
          </a:prstGeom>
          <a:noFill/>
          <a:ln w="28575">
            <a:solidFill>
              <a:schemeClr val="hlink"/>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5" name="Line 27"/>
          <p:cNvSpPr>
            <a:spLocks noChangeShapeType="1"/>
          </p:cNvSpPr>
          <p:nvPr/>
        </p:nvSpPr>
        <p:spPr bwMode="auto">
          <a:xfrm flipV="1">
            <a:off x="7183438" y="3370263"/>
            <a:ext cx="0" cy="140335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6" name="Line 28"/>
          <p:cNvSpPr>
            <a:spLocks noChangeShapeType="1"/>
          </p:cNvSpPr>
          <p:nvPr/>
        </p:nvSpPr>
        <p:spPr bwMode="auto">
          <a:xfrm>
            <a:off x="6462713" y="4459288"/>
            <a:ext cx="720725" cy="360362"/>
          </a:xfrm>
          <a:prstGeom prst="line">
            <a:avLst/>
          </a:prstGeom>
          <a:noFill/>
          <a:ln w="9525">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7437" name="Object 29"/>
          <p:cNvGraphicFramePr>
            <a:graphicFrameLocks/>
          </p:cNvGraphicFramePr>
          <p:nvPr/>
        </p:nvGraphicFramePr>
        <p:xfrm>
          <a:off x="8262938" y="4748213"/>
          <a:ext cx="341312" cy="409575"/>
        </p:xfrm>
        <a:graphic>
          <a:graphicData uri="http://schemas.openxmlformats.org/presentationml/2006/ole">
            <mc:AlternateContent xmlns:mc="http://schemas.openxmlformats.org/markup-compatibility/2006">
              <mc:Choice xmlns:v="urn:schemas-microsoft-com:vml" Requires="v">
                <p:oleObj spid="_x0000_s7220" name="公式" r:id="rId8" imgW="295315" imgH="361981" progId="Equation.3">
                  <p:embed/>
                </p:oleObj>
              </mc:Choice>
              <mc:Fallback>
                <p:oleObj name="公式" r:id="rId8" imgW="295315" imgH="361981" progId="Equation.3">
                  <p:embed/>
                  <p:pic>
                    <p:nvPicPr>
                      <p:cNvPr id="0" name="Object 2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62938" y="4748213"/>
                        <a:ext cx="341312"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8" name="Object 30"/>
          <p:cNvGraphicFramePr>
            <a:graphicFrameLocks/>
          </p:cNvGraphicFramePr>
          <p:nvPr/>
        </p:nvGraphicFramePr>
        <p:xfrm>
          <a:off x="7092950" y="2876550"/>
          <a:ext cx="341313" cy="420688"/>
        </p:xfrm>
        <a:graphic>
          <a:graphicData uri="http://schemas.openxmlformats.org/presentationml/2006/ole">
            <mc:AlternateContent xmlns:mc="http://schemas.openxmlformats.org/markup-compatibility/2006">
              <mc:Choice xmlns:v="urn:schemas-microsoft-com:vml" Requires="v">
                <p:oleObj spid="_x0000_s7221" name="公式" r:id="rId10" imgW="295315" imgH="380876" progId="Equation.3">
                  <p:embed/>
                </p:oleObj>
              </mc:Choice>
              <mc:Fallback>
                <p:oleObj name="公式" r:id="rId10" imgW="295315" imgH="380876" progId="Equation.3">
                  <p:embed/>
                  <p:pic>
                    <p:nvPicPr>
                      <p:cNvPr id="0" name="Object 3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92950" y="2876550"/>
                        <a:ext cx="341313"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9" name="Object 31"/>
          <p:cNvGraphicFramePr>
            <a:graphicFrameLocks/>
          </p:cNvGraphicFramePr>
          <p:nvPr/>
        </p:nvGraphicFramePr>
        <p:xfrm>
          <a:off x="7596188" y="5108575"/>
          <a:ext cx="319087" cy="420688"/>
        </p:xfrm>
        <a:graphic>
          <a:graphicData uri="http://schemas.openxmlformats.org/presentationml/2006/ole">
            <mc:AlternateContent xmlns:mc="http://schemas.openxmlformats.org/markup-compatibility/2006">
              <mc:Choice xmlns:v="urn:schemas-microsoft-com:vml" Requires="v">
                <p:oleObj spid="_x0000_s7222" name="公式" r:id="rId12" imgW="266702" imgH="380876" progId="Equation.3">
                  <p:embed/>
                </p:oleObj>
              </mc:Choice>
              <mc:Fallback>
                <p:oleObj name="公式" r:id="rId12" imgW="266702" imgH="380876" progId="Equation.3">
                  <p:embed/>
                  <p:pic>
                    <p:nvPicPr>
                      <p:cNvPr id="0" name="Object 3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96188" y="5108575"/>
                        <a:ext cx="319087"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40" name="Object 32"/>
          <p:cNvGraphicFramePr>
            <a:graphicFrameLocks/>
          </p:cNvGraphicFramePr>
          <p:nvPr/>
        </p:nvGraphicFramePr>
        <p:xfrm>
          <a:off x="7740650" y="4327525"/>
          <a:ext cx="306388" cy="420688"/>
        </p:xfrm>
        <a:graphic>
          <a:graphicData uri="http://schemas.openxmlformats.org/presentationml/2006/ole">
            <mc:AlternateContent xmlns:mc="http://schemas.openxmlformats.org/markup-compatibility/2006">
              <mc:Choice xmlns:v="urn:schemas-microsoft-com:vml" Requires="v">
                <p:oleObj spid="_x0000_s7223" name="公式" r:id="rId14" imgW="257254" imgH="380876" progId="Equation.3">
                  <p:embed/>
                </p:oleObj>
              </mc:Choice>
              <mc:Fallback>
                <p:oleObj name="公式" r:id="rId14" imgW="257254" imgH="380876" progId="Equation.3">
                  <p:embed/>
                  <p:pic>
                    <p:nvPicPr>
                      <p:cNvPr id="0" name="Object 3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740650" y="4327525"/>
                        <a:ext cx="306388"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41" name="Line 33"/>
          <p:cNvSpPr>
            <a:spLocks noChangeShapeType="1"/>
          </p:cNvSpPr>
          <p:nvPr/>
        </p:nvSpPr>
        <p:spPr bwMode="auto">
          <a:xfrm>
            <a:off x="7183438" y="3378200"/>
            <a:ext cx="1079500" cy="146050"/>
          </a:xfrm>
          <a:prstGeom prst="line">
            <a:avLst/>
          </a:prstGeom>
          <a:noFill/>
          <a:ln w="28575">
            <a:solidFill>
              <a:schemeClr val="hlink"/>
            </a:solidFill>
            <a:prstDash val="sysDot"/>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2" name="Line 34"/>
          <p:cNvSpPr>
            <a:spLocks noChangeShapeType="1"/>
          </p:cNvSpPr>
          <p:nvPr/>
        </p:nvSpPr>
        <p:spPr bwMode="auto">
          <a:xfrm>
            <a:off x="7688263" y="4675188"/>
            <a:ext cx="431800" cy="219075"/>
          </a:xfrm>
          <a:prstGeom prst="line">
            <a:avLst/>
          </a:prstGeom>
          <a:noFill/>
          <a:ln w="28575" cap="rnd">
            <a:solidFill>
              <a:srgbClr val="FFCC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3" name="Line 35"/>
          <p:cNvSpPr>
            <a:spLocks noChangeShapeType="1"/>
          </p:cNvSpPr>
          <p:nvPr/>
        </p:nvSpPr>
        <p:spPr bwMode="auto">
          <a:xfrm flipV="1">
            <a:off x="7688263" y="4965700"/>
            <a:ext cx="503237" cy="142875"/>
          </a:xfrm>
          <a:prstGeom prst="line">
            <a:avLst/>
          </a:prstGeom>
          <a:noFill/>
          <a:ln w="28575" cap="rnd">
            <a:solidFill>
              <a:srgbClr val="FFCC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4" name="Line 36"/>
          <p:cNvSpPr>
            <a:spLocks noChangeShapeType="1"/>
          </p:cNvSpPr>
          <p:nvPr/>
        </p:nvSpPr>
        <p:spPr bwMode="auto">
          <a:xfrm>
            <a:off x="7183438" y="4805363"/>
            <a:ext cx="1079500" cy="14605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5" name="Line 37"/>
          <p:cNvSpPr>
            <a:spLocks noChangeShapeType="1"/>
          </p:cNvSpPr>
          <p:nvPr/>
        </p:nvSpPr>
        <p:spPr bwMode="auto">
          <a:xfrm>
            <a:off x="7183438" y="4818063"/>
            <a:ext cx="576262" cy="290512"/>
          </a:xfrm>
          <a:prstGeom prst="line">
            <a:avLst/>
          </a:prstGeom>
          <a:noFill/>
          <a:ln w="38100">
            <a:solidFill>
              <a:srgbClr val="FFCC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6" name="Line 38"/>
          <p:cNvSpPr>
            <a:spLocks noChangeShapeType="1"/>
          </p:cNvSpPr>
          <p:nvPr/>
        </p:nvSpPr>
        <p:spPr bwMode="auto">
          <a:xfrm flipV="1">
            <a:off x="7183438" y="4675188"/>
            <a:ext cx="504825" cy="142875"/>
          </a:xfrm>
          <a:prstGeom prst="line">
            <a:avLst/>
          </a:prstGeom>
          <a:noFill/>
          <a:ln w="38100">
            <a:solidFill>
              <a:srgbClr val="FFCC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7" name="Line 39"/>
          <p:cNvSpPr>
            <a:spLocks noChangeShapeType="1"/>
          </p:cNvSpPr>
          <p:nvPr/>
        </p:nvSpPr>
        <p:spPr bwMode="auto">
          <a:xfrm flipH="1">
            <a:off x="6300788" y="4459288"/>
            <a:ext cx="142875" cy="215900"/>
          </a:xfrm>
          <a:prstGeom prst="line">
            <a:avLst/>
          </a:prstGeom>
          <a:noFill/>
          <a:ln w="9525">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8" name="Text Box 40"/>
          <p:cNvSpPr txBox="1">
            <a:spLocks noChangeArrowheads="1"/>
          </p:cNvSpPr>
          <p:nvPr/>
        </p:nvSpPr>
        <p:spPr bwMode="auto">
          <a:xfrm>
            <a:off x="5946775" y="424338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i="1">
                <a:solidFill>
                  <a:srgbClr val="66FFFF"/>
                </a:solidFill>
                <a:latin typeface="Times New Roman" pitchFamily="18" charset="0"/>
              </a:rPr>
              <a:t>h</a:t>
            </a:r>
          </a:p>
        </p:txBody>
      </p:sp>
      <p:grpSp>
        <p:nvGrpSpPr>
          <p:cNvPr id="17449" name="Group 41"/>
          <p:cNvGrpSpPr>
            <a:grpSpLocks/>
          </p:cNvGrpSpPr>
          <p:nvPr/>
        </p:nvGrpSpPr>
        <p:grpSpPr bwMode="auto">
          <a:xfrm>
            <a:off x="6362700" y="4589463"/>
            <a:ext cx="71438" cy="107950"/>
            <a:chOff x="4014" y="2296"/>
            <a:chExt cx="45" cy="45"/>
          </a:xfrm>
        </p:grpSpPr>
        <p:sp>
          <p:nvSpPr>
            <p:cNvPr id="13365" name="Line 42"/>
            <p:cNvSpPr>
              <a:spLocks noChangeShapeType="1"/>
            </p:cNvSpPr>
            <p:nvPr/>
          </p:nvSpPr>
          <p:spPr bwMode="auto">
            <a:xfrm>
              <a:off x="4014" y="2296"/>
              <a:ext cx="45"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6" name="Line 43"/>
            <p:cNvSpPr>
              <a:spLocks noChangeShapeType="1"/>
            </p:cNvSpPr>
            <p:nvPr/>
          </p:nvSpPr>
          <p:spPr bwMode="auto">
            <a:xfrm flipH="1">
              <a:off x="4014" y="2296"/>
              <a:ext cx="45" cy="45"/>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452" name="Line 44"/>
          <p:cNvSpPr>
            <a:spLocks noChangeShapeType="1"/>
          </p:cNvSpPr>
          <p:nvPr/>
        </p:nvSpPr>
        <p:spPr bwMode="auto">
          <a:xfrm>
            <a:off x="6156325" y="4673600"/>
            <a:ext cx="1079500" cy="146050"/>
          </a:xfrm>
          <a:prstGeom prst="line">
            <a:avLst/>
          </a:prstGeom>
          <a:noFill/>
          <a:ln w="28575">
            <a:solidFill>
              <a:schemeClr val="hlink"/>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3" name="Oval 45"/>
          <p:cNvSpPr>
            <a:spLocks noChangeArrowheads="1"/>
          </p:cNvSpPr>
          <p:nvPr/>
        </p:nvSpPr>
        <p:spPr bwMode="auto">
          <a:xfrm>
            <a:off x="7146925" y="4772025"/>
            <a:ext cx="73025" cy="71438"/>
          </a:xfrm>
          <a:prstGeom prst="ellipse">
            <a:avLst/>
          </a:prstGeom>
          <a:solidFill>
            <a:srgbClr val="FF7C80"/>
          </a:solidFill>
          <a:ln w="38100">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b="1">
              <a:solidFill>
                <a:srgbClr val="FFFFFF"/>
              </a:solidFill>
              <a:latin typeface="Times New Roman" pitchFamily="18" charset="0"/>
            </a:endParaRPr>
          </a:p>
        </p:txBody>
      </p:sp>
      <p:graphicFrame>
        <p:nvGraphicFramePr>
          <p:cNvPr id="17454" name="Object 46"/>
          <p:cNvGraphicFramePr>
            <a:graphicFrameLocks/>
          </p:cNvGraphicFramePr>
          <p:nvPr/>
        </p:nvGraphicFramePr>
        <p:xfrm>
          <a:off x="8170863" y="3121025"/>
          <a:ext cx="273050" cy="330200"/>
        </p:xfrm>
        <a:graphic>
          <a:graphicData uri="http://schemas.openxmlformats.org/presentationml/2006/ole">
            <mc:AlternateContent xmlns:mc="http://schemas.openxmlformats.org/markup-compatibility/2006">
              <mc:Choice xmlns:v="urn:schemas-microsoft-com:vml" Requires="v">
                <p:oleObj spid="_x0000_s7224" name="公式" r:id="rId16" imgW="219192" imgH="276142" progId="Equation.3">
                  <p:embed/>
                </p:oleObj>
              </mc:Choice>
              <mc:Fallback>
                <p:oleObj name="公式" r:id="rId16" imgW="219192" imgH="276142" progId="Equation.3">
                  <p:embed/>
                  <p:pic>
                    <p:nvPicPr>
                      <p:cNvPr id="0" name="Object 4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70863" y="3121025"/>
                        <a:ext cx="273050"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55" name="Text Box 47"/>
          <p:cNvSpPr txBox="1">
            <a:spLocks noChangeArrowheads="1"/>
          </p:cNvSpPr>
          <p:nvPr/>
        </p:nvSpPr>
        <p:spPr bwMode="auto">
          <a:xfrm>
            <a:off x="6919913" y="481965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i="1">
                <a:solidFill>
                  <a:schemeClr val="bg1"/>
                </a:solidFill>
                <a:latin typeface="Times New Roman" pitchFamily="18" charset="0"/>
              </a:rPr>
              <a:t>A</a:t>
            </a:r>
          </a:p>
        </p:txBody>
      </p:sp>
      <p:graphicFrame>
        <p:nvGraphicFramePr>
          <p:cNvPr id="17456" name="Object 48"/>
          <p:cNvGraphicFramePr>
            <a:graphicFrameLocks/>
          </p:cNvGraphicFramePr>
          <p:nvPr/>
        </p:nvGraphicFramePr>
        <p:xfrm>
          <a:off x="6372225" y="3068638"/>
          <a:ext cx="201613" cy="215900"/>
        </p:xfrm>
        <a:graphic>
          <a:graphicData uri="http://schemas.openxmlformats.org/presentationml/2006/ole">
            <mc:AlternateContent xmlns:mc="http://schemas.openxmlformats.org/markup-compatibility/2006">
              <mc:Choice xmlns:v="urn:schemas-microsoft-com:vml" Requires="v">
                <p:oleObj spid="_x0000_s7225" name="公式" r:id="rId18" imgW="114185" imgH="123900" progId="Equation.3">
                  <p:embed/>
                </p:oleObj>
              </mc:Choice>
              <mc:Fallback>
                <p:oleObj name="公式" r:id="rId18" imgW="114185" imgH="123900" progId="Equation.3">
                  <p:embed/>
                  <p:pic>
                    <p:nvPicPr>
                      <p:cNvPr id="0" name="Object 48"/>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372225" y="3068638"/>
                        <a:ext cx="201613"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57" name="AutoShape 49"/>
          <p:cNvSpPr>
            <a:spLocks noChangeArrowheads="1"/>
          </p:cNvSpPr>
          <p:nvPr/>
        </p:nvSpPr>
        <p:spPr bwMode="auto">
          <a:xfrm>
            <a:off x="1763713" y="2408238"/>
            <a:ext cx="504825" cy="215900"/>
          </a:xfrm>
          <a:prstGeom prst="rightArrow">
            <a:avLst>
              <a:gd name="adj1" fmla="val 50000"/>
              <a:gd name="adj2" fmla="val 58456"/>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8" name="AutoShape 50"/>
          <p:cNvSpPr>
            <a:spLocks noChangeArrowheads="1"/>
          </p:cNvSpPr>
          <p:nvPr/>
        </p:nvSpPr>
        <p:spPr bwMode="auto">
          <a:xfrm>
            <a:off x="5172075" y="2395538"/>
            <a:ext cx="504825" cy="215900"/>
          </a:xfrm>
          <a:prstGeom prst="rightArrow">
            <a:avLst>
              <a:gd name="adj1" fmla="val 50000"/>
              <a:gd name="adj2" fmla="val 58456"/>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9" name="AutoShape 51"/>
          <p:cNvSpPr>
            <a:spLocks noChangeArrowheads="1"/>
          </p:cNvSpPr>
          <p:nvPr/>
        </p:nvSpPr>
        <p:spPr bwMode="auto">
          <a:xfrm>
            <a:off x="5172075" y="1692275"/>
            <a:ext cx="504825" cy="215900"/>
          </a:xfrm>
          <a:prstGeom prst="rightArrow">
            <a:avLst>
              <a:gd name="adj1" fmla="val 50000"/>
              <a:gd name="adj2" fmla="val 58456"/>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60" name="Group 52"/>
          <p:cNvGrpSpPr>
            <a:grpSpLocks/>
          </p:cNvGrpSpPr>
          <p:nvPr/>
        </p:nvGrpSpPr>
        <p:grpSpPr bwMode="auto">
          <a:xfrm>
            <a:off x="6588125" y="4681538"/>
            <a:ext cx="612775" cy="457200"/>
            <a:chOff x="4016" y="2870"/>
            <a:chExt cx="386" cy="288"/>
          </a:xfrm>
        </p:grpSpPr>
        <p:sp>
          <p:nvSpPr>
            <p:cNvPr id="13363" name="Text Box 53"/>
            <p:cNvSpPr txBox="1">
              <a:spLocks noChangeArrowheads="1"/>
            </p:cNvSpPr>
            <p:nvPr/>
          </p:nvSpPr>
          <p:spPr bwMode="auto">
            <a:xfrm>
              <a:off x="4016" y="2870"/>
              <a:ext cx="2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dirty="0">
                  <a:solidFill>
                    <a:srgbClr val="66FFFF"/>
                  </a:solidFill>
                  <a:latin typeface="Times New Roman" pitchFamily="18" charset="0"/>
                  <a:sym typeface="Symbol" pitchFamily="18" charset="2"/>
                </a:rPr>
                <a:t></a:t>
              </a:r>
            </a:p>
          </p:txBody>
        </p:sp>
        <p:sp>
          <p:nvSpPr>
            <p:cNvPr id="13364" name="Arc 54"/>
            <p:cNvSpPr>
              <a:spLocks/>
            </p:cNvSpPr>
            <p:nvPr/>
          </p:nvSpPr>
          <p:spPr bwMode="auto">
            <a:xfrm rot="7529080">
              <a:off x="4240" y="2821"/>
              <a:ext cx="100" cy="224"/>
            </a:xfrm>
            <a:custGeom>
              <a:avLst/>
              <a:gdLst>
                <a:gd name="T0" fmla="*/ 0 w 9420"/>
                <a:gd name="T1" fmla="*/ 0 h 21344"/>
                <a:gd name="T2" fmla="*/ 0 w 9420"/>
                <a:gd name="T3" fmla="*/ 0 h 21344"/>
                <a:gd name="T4" fmla="*/ 0 w 9420"/>
                <a:gd name="T5" fmla="*/ 0 h 21344"/>
                <a:gd name="T6" fmla="*/ 0 60000 65536"/>
                <a:gd name="T7" fmla="*/ 0 60000 65536"/>
                <a:gd name="T8" fmla="*/ 0 60000 65536"/>
              </a:gdLst>
              <a:ahLst/>
              <a:cxnLst>
                <a:cxn ang="T6">
                  <a:pos x="T0" y="T1"/>
                </a:cxn>
                <a:cxn ang="T7">
                  <a:pos x="T2" y="T3"/>
                </a:cxn>
                <a:cxn ang="T8">
                  <a:pos x="T4" y="T5"/>
                </a:cxn>
              </a:cxnLst>
              <a:rect l="0" t="0" r="r" b="b"/>
              <a:pathLst>
                <a:path w="9420" h="21344" fill="none" extrusionOk="0">
                  <a:moveTo>
                    <a:pt x="9419" y="19437"/>
                  </a:moveTo>
                  <a:cubicBezTo>
                    <a:pt x="7491" y="20372"/>
                    <a:pt x="5435" y="21014"/>
                    <a:pt x="3317" y="21343"/>
                  </a:cubicBezTo>
                </a:path>
                <a:path w="9420" h="21344" stroke="0" extrusionOk="0">
                  <a:moveTo>
                    <a:pt x="9419" y="19437"/>
                  </a:moveTo>
                  <a:cubicBezTo>
                    <a:pt x="7491" y="20372"/>
                    <a:pt x="5435" y="21014"/>
                    <a:pt x="3317" y="21343"/>
                  </a:cubicBezTo>
                  <a:lnTo>
                    <a:pt x="0" y="0"/>
                  </a:lnTo>
                  <a:lnTo>
                    <a:pt x="9419" y="19437"/>
                  </a:lnTo>
                  <a:close/>
                </a:path>
              </a:pathLst>
            </a:cu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ipe(left)">
                                      <p:cBhvr>
                                        <p:cTn id="7" dur="500"/>
                                        <p:tgtEl>
                                          <p:spTgt spid="174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11"/>
                                        </p:tgtEl>
                                        <p:attrNameLst>
                                          <p:attrName>style.visibility</p:attrName>
                                        </p:attrNameLst>
                                      </p:cBhvr>
                                      <p:to>
                                        <p:strVal val="visible"/>
                                      </p:to>
                                    </p:set>
                                    <p:animEffect transition="in" filter="wipe(left)">
                                      <p:cBhvr>
                                        <p:cTn id="12" dur="500"/>
                                        <p:tgtEl>
                                          <p:spTgt spid="174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19"/>
                                        </p:tgtEl>
                                        <p:attrNameLst>
                                          <p:attrName>style.visibility</p:attrName>
                                        </p:attrNameLst>
                                      </p:cBhvr>
                                      <p:to>
                                        <p:strVal val="visible"/>
                                      </p:to>
                                    </p:set>
                                    <p:animEffect transition="in" filter="wipe(left)">
                                      <p:cBhvr>
                                        <p:cTn id="17" dur="500"/>
                                        <p:tgtEl>
                                          <p:spTgt spid="174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412"/>
                                        </p:tgtEl>
                                        <p:attrNameLst>
                                          <p:attrName>style.visibility</p:attrName>
                                        </p:attrNameLst>
                                      </p:cBhvr>
                                      <p:to>
                                        <p:strVal val="visible"/>
                                      </p:to>
                                    </p:set>
                                    <p:animEffect transition="in" filter="wipe(left)">
                                      <p:cBhvr>
                                        <p:cTn id="22" dur="500"/>
                                        <p:tgtEl>
                                          <p:spTgt spid="174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425"/>
                                        </p:tgtEl>
                                        <p:attrNameLst>
                                          <p:attrName>style.visibility</p:attrName>
                                        </p:attrNameLst>
                                      </p:cBhvr>
                                      <p:to>
                                        <p:strVal val="visible"/>
                                      </p:to>
                                    </p:set>
                                    <p:animEffect transition="in" filter="wipe(left)">
                                      <p:cBhvr>
                                        <p:cTn id="27" dur="500"/>
                                        <p:tgtEl>
                                          <p:spTgt spid="1742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424"/>
                                        </p:tgtEl>
                                        <p:attrNameLst>
                                          <p:attrName>style.visibility</p:attrName>
                                        </p:attrNameLst>
                                      </p:cBhvr>
                                      <p:to>
                                        <p:strVal val="visible"/>
                                      </p:to>
                                    </p:set>
                                    <p:animEffect transition="in" filter="wipe(left)">
                                      <p:cBhvr>
                                        <p:cTn id="32" dur="500"/>
                                        <p:tgtEl>
                                          <p:spTgt spid="1742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459"/>
                                        </p:tgtEl>
                                        <p:attrNameLst>
                                          <p:attrName>style.visibility</p:attrName>
                                        </p:attrNameLst>
                                      </p:cBhvr>
                                      <p:to>
                                        <p:strVal val="visible"/>
                                      </p:to>
                                    </p:set>
                                    <p:animEffect transition="in" filter="wipe(left)">
                                      <p:cBhvr>
                                        <p:cTn id="37" dur="500"/>
                                        <p:tgtEl>
                                          <p:spTgt spid="1745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423"/>
                                        </p:tgtEl>
                                        <p:attrNameLst>
                                          <p:attrName>style.visibility</p:attrName>
                                        </p:attrNameLst>
                                      </p:cBhvr>
                                      <p:to>
                                        <p:strVal val="visible"/>
                                      </p:to>
                                    </p:set>
                                    <p:animEffect transition="in" filter="wipe(left)">
                                      <p:cBhvr>
                                        <p:cTn id="42" dur="500"/>
                                        <p:tgtEl>
                                          <p:spTgt spid="1742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420"/>
                                        </p:tgtEl>
                                        <p:attrNameLst>
                                          <p:attrName>style.visibility</p:attrName>
                                        </p:attrNameLst>
                                      </p:cBhvr>
                                      <p:to>
                                        <p:strVal val="visible"/>
                                      </p:to>
                                    </p:set>
                                    <p:animEffect transition="in" filter="wipe(left)">
                                      <p:cBhvr>
                                        <p:cTn id="47" dur="500"/>
                                        <p:tgtEl>
                                          <p:spTgt spid="1742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413"/>
                                        </p:tgtEl>
                                        <p:attrNameLst>
                                          <p:attrName>style.visibility</p:attrName>
                                        </p:attrNameLst>
                                      </p:cBhvr>
                                      <p:to>
                                        <p:strVal val="visible"/>
                                      </p:to>
                                    </p:set>
                                    <p:animEffect transition="in" filter="wipe(left)">
                                      <p:cBhvr>
                                        <p:cTn id="52" dur="500"/>
                                        <p:tgtEl>
                                          <p:spTgt spid="1741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7458"/>
                                        </p:tgtEl>
                                        <p:attrNameLst>
                                          <p:attrName>style.visibility</p:attrName>
                                        </p:attrNameLst>
                                      </p:cBhvr>
                                      <p:to>
                                        <p:strVal val="visible"/>
                                      </p:to>
                                    </p:set>
                                    <p:animEffect transition="in" filter="wipe(left)">
                                      <p:cBhvr>
                                        <p:cTn id="57" dur="500"/>
                                        <p:tgtEl>
                                          <p:spTgt spid="1745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7414"/>
                                        </p:tgtEl>
                                        <p:attrNameLst>
                                          <p:attrName>style.visibility</p:attrName>
                                        </p:attrNameLst>
                                      </p:cBhvr>
                                      <p:to>
                                        <p:strVal val="visible"/>
                                      </p:to>
                                    </p:set>
                                    <p:animEffect transition="in" filter="wipe(left)">
                                      <p:cBhvr>
                                        <p:cTn id="62" dur="500"/>
                                        <p:tgtEl>
                                          <p:spTgt spid="1741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7457"/>
                                        </p:tgtEl>
                                        <p:attrNameLst>
                                          <p:attrName>style.visibility</p:attrName>
                                        </p:attrNameLst>
                                      </p:cBhvr>
                                      <p:to>
                                        <p:strVal val="visible"/>
                                      </p:to>
                                    </p:set>
                                    <p:animEffect transition="in" filter="wipe(left)">
                                      <p:cBhvr>
                                        <p:cTn id="67" dur="500"/>
                                        <p:tgtEl>
                                          <p:spTgt spid="1745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9" presetClass="entr" presetSubtype="10" fill="hold" grpId="0" nodeType="clickEffect">
                                  <p:stCondLst>
                                    <p:cond delay="0"/>
                                  </p:stCondLst>
                                  <p:childTnLst>
                                    <p:set>
                                      <p:cBhvr>
                                        <p:cTn id="71" dur="1" fill="hold">
                                          <p:stCondLst>
                                            <p:cond delay="0"/>
                                          </p:stCondLst>
                                        </p:cTn>
                                        <p:tgtEl>
                                          <p:spTgt spid="17426"/>
                                        </p:tgtEl>
                                        <p:attrNameLst>
                                          <p:attrName>style.visibility</p:attrName>
                                        </p:attrNameLst>
                                      </p:cBhvr>
                                      <p:to>
                                        <p:strVal val="visible"/>
                                      </p:to>
                                    </p:set>
                                    <p:anim calcmode="lin" valueType="num">
                                      <p:cBhvr>
                                        <p:cTn id="72" dur="500" fill="hold"/>
                                        <p:tgtEl>
                                          <p:spTgt spid="17426"/>
                                        </p:tgtEl>
                                        <p:attrNameLst>
                                          <p:attrName>ppt_w</p:attrName>
                                        </p:attrNameLst>
                                      </p:cBhvr>
                                      <p:tavLst>
                                        <p:tav tm="0" fmla="#ppt_w*sin(2.5*pi*$)">
                                          <p:val>
                                            <p:fltVal val="0"/>
                                          </p:val>
                                        </p:tav>
                                        <p:tav tm="100000">
                                          <p:val>
                                            <p:fltVal val="1"/>
                                          </p:val>
                                        </p:tav>
                                      </p:tavLst>
                                    </p:anim>
                                    <p:anim calcmode="lin" valueType="num">
                                      <p:cBhvr>
                                        <p:cTn id="73" dur="500" fill="hold"/>
                                        <p:tgtEl>
                                          <p:spTgt spid="17426"/>
                                        </p:tgtEl>
                                        <p:attrNameLst>
                                          <p:attrName>ppt_h</p:attrName>
                                        </p:attrNameLst>
                                      </p:cBhvr>
                                      <p:tavLst>
                                        <p:tav tm="0">
                                          <p:val>
                                            <p:strVal val="#ppt_h"/>
                                          </p:val>
                                        </p:tav>
                                        <p:tav tm="100000">
                                          <p:val>
                                            <p:strVal val="#ppt_h"/>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23" presetClass="entr" presetSubtype="16" fill="hold" grpId="0" nodeType="clickEffect">
                                  <p:stCondLst>
                                    <p:cond delay="0"/>
                                  </p:stCondLst>
                                  <p:childTnLst>
                                    <p:set>
                                      <p:cBhvr>
                                        <p:cTn id="77" dur="1" fill="hold">
                                          <p:stCondLst>
                                            <p:cond delay="0"/>
                                          </p:stCondLst>
                                        </p:cTn>
                                        <p:tgtEl>
                                          <p:spTgt spid="17428"/>
                                        </p:tgtEl>
                                        <p:attrNameLst>
                                          <p:attrName>style.visibility</p:attrName>
                                        </p:attrNameLst>
                                      </p:cBhvr>
                                      <p:to>
                                        <p:strVal val="visible"/>
                                      </p:to>
                                    </p:set>
                                    <p:anim calcmode="lin" valueType="num">
                                      <p:cBhvr>
                                        <p:cTn id="78" dur="500" fill="hold"/>
                                        <p:tgtEl>
                                          <p:spTgt spid="17428"/>
                                        </p:tgtEl>
                                        <p:attrNameLst>
                                          <p:attrName>ppt_w</p:attrName>
                                        </p:attrNameLst>
                                      </p:cBhvr>
                                      <p:tavLst>
                                        <p:tav tm="0">
                                          <p:val>
                                            <p:fltVal val="0"/>
                                          </p:val>
                                        </p:tav>
                                        <p:tav tm="100000">
                                          <p:val>
                                            <p:strVal val="#ppt_w"/>
                                          </p:val>
                                        </p:tav>
                                      </p:tavLst>
                                    </p:anim>
                                    <p:anim calcmode="lin" valueType="num">
                                      <p:cBhvr>
                                        <p:cTn id="79" dur="500" fill="hold"/>
                                        <p:tgtEl>
                                          <p:spTgt spid="17428"/>
                                        </p:tgtEl>
                                        <p:attrNameLst>
                                          <p:attrName>ppt_h</p:attrName>
                                        </p:attrNameLst>
                                      </p:cBhvr>
                                      <p:tavLst>
                                        <p:tav tm="0">
                                          <p:val>
                                            <p:fltVal val="0"/>
                                          </p:val>
                                        </p:tav>
                                        <p:tav tm="100000">
                                          <p:val>
                                            <p:strVal val="#ppt_h"/>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23" presetClass="entr" presetSubtype="16" fill="hold" grpId="0" nodeType="clickEffect">
                                  <p:stCondLst>
                                    <p:cond delay="0"/>
                                  </p:stCondLst>
                                  <p:childTnLst>
                                    <p:set>
                                      <p:cBhvr>
                                        <p:cTn id="83" dur="1" fill="hold">
                                          <p:stCondLst>
                                            <p:cond delay="0"/>
                                          </p:stCondLst>
                                        </p:cTn>
                                        <p:tgtEl>
                                          <p:spTgt spid="17429"/>
                                        </p:tgtEl>
                                        <p:attrNameLst>
                                          <p:attrName>style.visibility</p:attrName>
                                        </p:attrNameLst>
                                      </p:cBhvr>
                                      <p:to>
                                        <p:strVal val="visible"/>
                                      </p:to>
                                    </p:set>
                                    <p:anim calcmode="lin" valueType="num">
                                      <p:cBhvr>
                                        <p:cTn id="84" dur="500" fill="hold"/>
                                        <p:tgtEl>
                                          <p:spTgt spid="17429"/>
                                        </p:tgtEl>
                                        <p:attrNameLst>
                                          <p:attrName>ppt_w</p:attrName>
                                        </p:attrNameLst>
                                      </p:cBhvr>
                                      <p:tavLst>
                                        <p:tav tm="0">
                                          <p:val>
                                            <p:fltVal val="0"/>
                                          </p:val>
                                        </p:tav>
                                        <p:tav tm="100000">
                                          <p:val>
                                            <p:strVal val="#ppt_w"/>
                                          </p:val>
                                        </p:tav>
                                      </p:tavLst>
                                    </p:anim>
                                    <p:anim calcmode="lin" valueType="num">
                                      <p:cBhvr>
                                        <p:cTn id="85" dur="500" fill="hold"/>
                                        <p:tgtEl>
                                          <p:spTgt spid="17429"/>
                                        </p:tgtEl>
                                        <p:attrNameLst>
                                          <p:attrName>ppt_h</p:attrName>
                                        </p:attrNameLst>
                                      </p:cBhvr>
                                      <p:tavLst>
                                        <p:tav tm="0">
                                          <p:val>
                                            <p:fltVal val="0"/>
                                          </p:val>
                                        </p:tav>
                                        <p:tav tm="100000">
                                          <p:val>
                                            <p:strVal val="#ppt_h"/>
                                          </p:val>
                                        </p:tav>
                                      </p:tavLst>
                                    </p:anim>
                                  </p:childTnLst>
                                </p:cTn>
                              </p:par>
                            </p:childTnLst>
                          </p:cTn>
                        </p:par>
                        <p:par>
                          <p:cTn id="86" fill="hold" nodeType="afterGroup">
                            <p:stCondLst>
                              <p:cond delay="500"/>
                            </p:stCondLst>
                            <p:childTnLst>
                              <p:par>
                                <p:cTn id="87" presetID="22" presetClass="entr" presetSubtype="4" fill="hold" grpId="0" nodeType="afterEffect">
                                  <p:stCondLst>
                                    <p:cond delay="0"/>
                                  </p:stCondLst>
                                  <p:childTnLst>
                                    <p:set>
                                      <p:cBhvr>
                                        <p:cTn id="88" dur="1" fill="hold">
                                          <p:stCondLst>
                                            <p:cond delay="0"/>
                                          </p:stCondLst>
                                        </p:cTn>
                                        <p:tgtEl>
                                          <p:spTgt spid="17427"/>
                                        </p:tgtEl>
                                        <p:attrNameLst>
                                          <p:attrName>style.visibility</p:attrName>
                                        </p:attrNameLst>
                                      </p:cBhvr>
                                      <p:to>
                                        <p:strVal val="visible"/>
                                      </p:to>
                                    </p:set>
                                    <p:animEffect transition="in" filter="wipe(down)">
                                      <p:cBhvr>
                                        <p:cTn id="89" dur="500"/>
                                        <p:tgtEl>
                                          <p:spTgt spid="17427"/>
                                        </p:tgtEl>
                                      </p:cBhvr>
                                    </p:animEffect>
                                  </p:childTnLst>
                                </p:cTn>
                              </p:par>
                            </p:childTnLst>
                          </p:cTn>
                        </p:par>
                        <p:par>
                          <p:cTn id="90" fill="hold" nodeType="afterGroup">
                            <p:stCondLst>
                              <p:cond delay="1000"/>
                            </p:stCondLst>
                            <p:childTnLst>
                              <p:par>
                                <p:cTn id="91" presetID="22" presetClass="entr" presetSubtype="4" fill="hold" grpId="0" nodeType="afterEffect">
                                  <p:stCondLst>
                                    <p:cond delay="0"/>
                                  </p:stCondLst>
                                  <p:childTnLst>
                                    <p:set>
                                      <p:cBhvr>
                                        <p:cTn id="92" dur="1" fill="hold">
                                          <p:stCondLst>
                                            <p:cond delay="0"/>
                                          </p:stCondLst>
                                        </p:cTn>
                                        <p:tgtEl>
                                          <p:spTgt spid="17433"/>
                                        </p:tgtEl>
                                        <p:attrNameLst>
                                          <p:attrName>style.visibility</p:attrName>
                                        </p:attrNameLst>
                                      </p:cBhvr>
                                      <p:to>
                                        <p:strVal val="visible"/>
                                      </p:to>
                                    </p:set>
                                    <p:animEffect transition="in" filter="wipe(down)">
                                      <p:cBhvr>
                                        <p:cTn id="93" dur="500"/>
                                        <p:tgtEl>
                                          <p:spTgt spid="17433"/>
                                        </p:tgtEl>
                                      </p:cBhvr>
                                    </p:animEffect>
                                  </p:childTnLst>
                                </p:cTn>
                              </p:par>
                            </p:childTnLst>
                          </p:cTn>
                        </p:par>
                        <p:par>
                          <p:cTn id="94" fill="hold" nodeType="afterGroup">
                            <p:stCondLst>
                              <p:cond delay="1500"/>
                            </p:stCondLst>
                            <p:childTnLst>
                              <p:par>
                                <p:cTn id="95" presetID="22" presetClass="entr" presetSubtype="4" fill="hold" nodeType="afterEffect">
                                  <p:stCondLst>
                                    <p:cond delay="0"/>
                                  </p:stCondLst>
                                  <p:childTnLst>
                                    <p:set>
                                      <p:cBhvr>
                                        <p:cTn id="96" dur="1" fill="hold">
                                          <p:stCondLst>
                                            <p:cond delay="0"/>
                                          </p:stCondLst>
                                        </p:cTn>
                                        <p:tgtEl>
                                          <p:spTgt spid="17456"/>
                                        </p:tgtEl>
                                        <p:attrNameLst>
                                          <p:attrName>style.visibility</p:attrName>
                                        </p:attrNameLst>
                                      </p:cBhvr>
                                      <p:to>
                                        <p:strVal val="visible"/>
                                      </p:to>
                                    </p:set>
                                    <p:animEffect transition="in" filter="wipe(down)">
                                      <p:cBhvr>
                                        <p:cTn id="97" dur="500"/>
                                        <p:tgtEl>
                                          <p:spTgt spid="17456"/>
                                        </p:tgtEl>
                                      </p:cBhvr>
                                    </p:animEffect>
                                  </p:childTnLst>
                                </p:cTn>
                              </p:par>
                            </p:childTnLst>
                          </p:cTn>
                        </p:par>
                        <p:par>
                          <p:cTn id="98" fill="hold" nodeType="afterGroup">
                            <p:stCondLst>
                              <p:cond delay="2000"/>
                            </p:stCondLst>
                            <p:childTnLst>
                              <p:par>
                                <p:cTn id="99" presetID="23" presetClass="entr" presetSubtype="16" fill="hold" grpId="0" nodeType="afterEffect">
                                  <p:stCondLst>
                                    <p:cond delay="0"/>
                                  </p:stCondLst>
                                  <p:childTnLst>
                                    <p:set>
                                      <p:cBhvr>
                                        <p:cTn id="100" dur="1" fill="hold">
                                          <p:stCondLst>
                                            <p:cond delay="0"/>
                                          </p:stCondLst>
                                        </p:cTn>
                                        <p:tgtEl>
                                          <p:spTgt spid="17453"/>
                                        </p:tgtEl>
                                        <p:attrNameLst>
                                          <p:attrName>style.visibility</p:attrName>
                                        </p:attrNameLst>
                                      </p:cBhvr>
                                      <p:to>
                                        <p:strVal val="visible"/>
                                      </p:to>
                                    </p:set>
                                    <p:anim calcmode="lin" valueType="num">
                                      <p:cBhvr>
                                        <p:cTn id="101" dur="500" fill="hold"/>
                                        <p:tgtEl>
                                          <p:spTgt spid="17453"/>
                                        </p:tgtEl>
                                        <p:attrNameLst>
                                          <p:attrName>ppt_w</p:attrName>
                                        </p:attrNameLst>
                                      </p:cBhvr>
                                      <p:tavLst>
                                        <p:tav tm="0">
                                          <p:val>
                                            <p:fltVal val="0"/>
                                          </p:val>
                                        </p:tav>
                                        <p:tav tm="100000">
                                          <p:val>
                                            <p:strVal val="#ppt_w"/>
                                          </p:val>
                                        </p:tav>
                                      </p:tavLst>
                                    </p:anim>
                                    <p:anim calcmode="lin" valueType="num">
                                      <p:cBhvr>
                                        <p:cTn id="102" dur="500" fill="hold"/>
                                        <p:tgtEl>
                                          <p:spTgt spid="17453"/>
                                        </p:tgtEl>
                                        <p:attrNameLst>
                                          <p:attrName>ppt_h</p:attrName>
                                        </p:attrNameLst>
                                      </p:cBhvr>
                                      <p:tavLst>
                                        <p:tav tm="0">
                                          <p:val>
                                            <p:fltVal val="0"/>
                                          </p:val>
                                        </p:tav>
                                        <p:tav tm="100000">
                                          <p:val>
                                            <p:strVal val="#ppt_h"/>
                                          </p:val>
                                        </p:tav>
                                      </p:tavLst>
                                    </p:anim>
                                  </p:childTnLst>
                                </p:cTn>
                              </p:par>
                            </p:childTnLst>
                          </p:cTn>
                        </p:par>
                        <p:par>
                          <p:cTn id="103" fill="hold" nodeType="afterGroup">
                            <p:stCondLst>
                              <p:cond delay="2500"/>
                            </p:stCondLst>
                            <p:childTnLst>
                              <p:par>
                                <p:cTn id="104" presetID="23" presetClass="entr" presetSubtype="16" fill="hold" grpId="0" nodeType="afterEffect">
                                  <p:stCondLst>
                                    <p:cond delay="0"/>
                                  </p:stCondLst>
                                  <p:childTnLst>
                                    <p:set>
                                      <p:cBhvr>
                                        <p:cTn id="105" dur="1" fill="hold">
                                          <p:stCondLst>
                                            <p:cond delay="0"/>
                                          </p:stCondLst>
                                        </p:cTn>
                                        <p:tgtEl>
                                          <p:spTgt spid="17455"/>
                                        </p:tgtEl>
                                        <p:attrNameLst>
                                          <p:attrName>style.visibility</p:attrName>
                                        </p:attrNameLst>
                                      </p:cBhvr>
                                      <p:to>
                                        <p:strVal val="visible"/>
                                      </p:to>
                                    </p:set>
                                    <p:anim calcmode="lin" valueType="num">
                                      <p:cBhvr>
                                        <p:cTn id="106" dur="500" fill="hold"/>
                                        <p:tgtEl>
                                          <p:spTgt spid="17455"/>
                                        </p:tgtEl>
                                        <p:attrNameLst>
                                          <p:attrName>ppt_w</p:attrName>
                                        </p:attrNameLst>
                                      </p:cBhvr>
                                      <p:tavLst>
                                        <p:tav tm="0">
                                          <p:val>
                                            <p:fltVal val="0"/>
                                          </p:val>
                                        </p:tav>
                                        <p:tav tm="100000">
                                          <p:val>
                                            <p:strVal val="#ppt_w"/>
                                          </p:val>
                                        </p:tav>
                                      </p:tavLst>
                                    </p:anim>
                                    <p:anim calcmode="lin" valueType="num">
                                      <p:cBhvr>
                                        <p:cTn id="107" dur="500" fill="hold"/>
                                        <p:tgtEl>
                                          <p:spTgt spid="17455"/>
                                        </p:tgtEl>
                                        <p:attrNameLst>
                                          <p:attrName>ppt_h</p:attrName>
                                        </p:attrNameLst>
                                      </p:cBhvr>
                                      <p:tavLst>
                                        <p:tav tm="0">
                                          <p:val>
                                            <p:fltVal val="0"/>
                                          </p:val>
                                        </p:tav>
                                        <p:tav tm="100000">
                                          <p:val>
                                            <p:strVal val="#ppt_h"/>
                                          </p:val>
                                        </p:tav>
                                      </p:tavLst>
                                    </p:anim>
                                  </p:childTnLst>
                                </p:cTn>
                              </p:par>
                            </p:childTnLst>
                          </p:cTn>
                        </p:par>
                        <p:par>
                          <p:cTn id="108" fill="hold" nodeType="afterGroup">
                            <p:stCondLst>
                              <p:cond delay="3000"/>
                            </p:stCondLst>
                            <p:childTnLst>
                              <p:par>
                                <p:cTn id="109" presetID="22" presetClass="entr" presetSubtype="8" fill="hold" grpId="0" nodeType="afterEffect">
                                  <p:stCondLst>
                                    <p:cond delay="0"/>
                                  </p:stCondLst>
                                  <p:childTnLst>
                                    <p:set>
                                      <p:cBhvr>
                                        <p:cTn id="110" dur="1" fill="hold">
                                          <p:stCondLst>
                                            <p:cond delay="0"/>
                                          </p:stCondLst>
                                        </p:cTn>
                                        <p:tgtEl>
                                          <p:spTgt spid="17436"/>
                                        </p:tgtEl>
                                        <p:attrNameLst>
                                          <p:attrName>style.visibility</p:attrName>
                                        </p:attrNameLst>
                                      </p:cBhvr>
                                      <p:to>
                                        <p:strVal val="visible"/>
                                      </p:to>
                                    </p:set>
                                    <p:animEffect transition="in" filter="wipe(left)">
                                      <p:cBhvr>
                                        <p:cTn id="111" dur="500"/>
                                        <p:tgtEl>
                                          <p:spTgt spid="17436"/>
                                        </p:tgtEl>
                                      </p:cBhvr>
                                    </p:animEffect>
                                  </p:childTnLst>
                                </p:cTn>
                              </p:par>
                            </p:childTnLst>
                          </p:cTn>
                        </p:par>
                        <p:par>
                          <p:cTn id="112" fill="hold" nodeType="afterGroup">
                            <p:stCondLst>
                              <p:cond delay="3500"/>
                            </p:stCondLst>
                            <p:childTnLst>
                              <p:par>
                                <p:cTn id="113" presetID="22" presetClass="entr" presetSubtype="4" fill="hold" nodeType="afterEffect">
                                  <p:stCondLst>
                                    <p:cond delay="0"/>
                                  </p:stCondLst>
                                  <p:childTnLst>
                                    <p:set>
                                      <p:cBhvr>
                                        <p:cTn id="114" dur="1" fill="hold">
                                          <p:stCondLst>
                                            <p:cond delay="0"/>
                                          </p:stCondLst>
                                        </p:cTn>
                                        <p:tgtEl>
                                          <p:spTgt spid="17430"/>
                                        </p:tgtEl>
                                        <p:attrNameLst>
                                          <p:attrName>style.visibility</p:attrName>
                                        </p:attrNameLst>
                                      </p:cBhvr>
                                      <p:to>
                                        <p:strVal val="visible"/>
                                      </p:to>
                                    </p:set>
                                    <p:animEffect transition="in" filter="wipe(down)">
                                      <p:cBhvr>
                                        <p:cTn id="115" dur="500"/>
                                        <p:tgtEl>
                                          <p:spTgt spid="17430"/>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8" presetClass="entr" presetSubtype="3" fill="hold" grpId="0" nodeType="clickEffect">
                                  <p:stCondLst>
                                    <p:cond delay="0"/>
                                  </p:stCondLst>
                                  <p:childTnLst>
                                    <p:set>
                                      <p:cBhvr>
                                        <p:cTn id="119" dur="1" fill="hold">
                                          <p:stCondLst>
                                            <p:cond delay="0"/>
                                          </p:stCondLst>
                                        </p:cTn>
                                        <p:tgtEl>
                                          <p:spTgt spid="17431"/>
                                        </p:tgtEl>
                                        <p:attrNameLst>
                                          <p:attrName>style.visibility</p:attrName>
                                        </p:attrNameLst>
                                      </p:cBhvr>
                                      <p:to>
                                        <p:strVal val="visible"/>
                                      </p:to>
                                    </p:set>
                                    <p:animEffect transition="in" filter="strips(upRight)">
                                      <p:cBhvr>
                                        <p:cTn id="120" dur="500"/>
                                        <p:tgtEl>
                                          <p:spTgt spid="17431"/>
                                        </p:tgtEl>
                                      </p:cBhvr>
                                    </p:animEffect>
                                  </p:childTnLst>
                                </p:cTn>
                              </p:par>
                            </p:childTnLst>
                          </p:cTn>
                        </p:par>
                        <p:par>
                          <p:cTn id="121" fill="hold" nodeType="afterGroup">
                            <p:stCondLst>
                              <p:cond delay="500"/>
                            </p:stCondLst>
                            <p:childTnLst>
                              <p:par>
                                <p:cTn id="122" presetID="1" presetClass="entr" presetSubtype="0" fill="hold" nodeType="afterEffect">
                                  <p:stCondLst>
                                    <p:cond delay="0"/>
                                  </p:stCondLst>
                                  <p:childTnLst>
                                    <p:set>
                                      <p:cBhvr>
                                        <p:cTn id="123" dur="1" fill="hold">
                                          <p:stCondLst>
                                            <p:cond delay="0"/>
                                          </p:stCondLst>
                                        </p:cTn>
                                        <p:tgtEl>
                                          <p:spTgt spid="17454"/>
                                        </p:tgtEl>
                                        <p:attrNameLst>
                                          <p:attrName>style.visibility</p:attrName>
                                        </p:attrNameLst>
                                      </p:cBhvr>
                                      <p:to>
                                        <p:strVal val="visible"/>
                                      </p:to>
                                    </p:se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7415"/>
                                        </p:tgtEl>
                                        <p:attrNameLst>
                                          <p:attrName>style.visibility</p:attrName>
                                        </p:attrNameLst>
                                      </p:cBhvr>
                                      <p:to>
                                        <p:strVal val="visible"/>
                                      </p:to>
                                    </p:set>
                                    <p:animEffect transition="in" filter="wipe(left)">
                                      <p:cBhvr>
                                        <p:cTn id="128" dur="500"/>
                                        <p:tgtEl>
                                          <p:spTgt spid="17415"/>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3" presetClass="entr" presetSubtype="16" fill="hold" grpId="0" nodeType="clickEffect">
                                  <p:stCondLst>
                                    <p:cond delay="0"/>
                                  </p:stCondLst>
                                  <p:childTnLst>
                                    <p:set>
                                      <p:cBhvr>
                                        <p:cTn id="132" dur="1" fill="hold">
                                          <p:stCondLst>
                                            <p:cond delay="0"/>
                                          </p:stCondLst>
                                        </p:cTn>
                                        <p:tgtEl>
                                          <p:spTgt spid="17432"/>
                                        </p:tgtEl>
                                        <p:attrNameLst>
                                          <p:attrName>style.visibility</p:attrName>
                                        </p:attrNameLst>
                                      </p:cBhvr>
                                      <p:to>
                                        <p:strVal val="visible"/>
                                      </p:to>
                                    </p:set>
                                    <p:anim calcmode="lin" valueType="num">
                                      <p:cBhvr>
                                        <p:cTn id="133" dur="500" fill="hold"/>
                                        <p:tgtEl>
                                          <p:spTgt spid="17432"/>
                                        </p:tgtEl>
                                        <p:attrNameLst>
                                          <p:attrName>ppt_w</p:attrName>
                                        </p:attrNameLst>
                                      </p:cBhvr>
                                      <p:tavLst>
                                        <p:tav tm="0">
                                          <p:val>
                                            <p:fltVal val="0"/>
                                          </p:val>
                                        </p:tav>
                                        <p:tav tm="100000">
                                          <p:val>
                                            <p:strVal val="#ppt_w"/>
                                          </p:val>
                                        </p:tav>
                                      </p:tavLst>
                                    </p:anim>
                                    <p:anim calcmode="lin" valueType="num">
                                      <p:cBhvr>
                                        <p:cTn id="134" dur="500" fill="hold"/>
                                        <p:tgtEl>
                                          <p:spTgt spid="17432"/>
                                        </p:tgtEl>
                                        <p:attrNameLst>
                                          <p:attrName>ppt_h</p:attrName>
                                        </p:attrNameLst>
                                      </p:cBhvr>
                                      <p:tavLst>
                                        <p:tav tm="0">
                                          <p:val>
                                            <p:fltVal val="0"/>
                                          </p:val>
                                        </p:tav>
                                        <p:tav tm="100000">
                                          <p:val>
                                            <p:strVal val="#ppt_h"/>
                                          </p:val>
                                        </p:tav>
                                      </p:tavLst>
                                    </p:anim>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4" fill="hold" grpId="0" nodeType="clickEffect">
                                  <p:stCondLst>
                                    <p:cond delay="0"/>
                                  </p:stCondLst>
                                  <p:childTnLst>
                                    <p:set>
                                      <p:cBhvr>
                                        <p:cTn id="138" dur="1" fill="hold">
                                          <p:stCondLst>
                                            <p:cond delay="0"/>
                                          </p:stCondLst>
                                        </p:cTn>
                                        <p:tgtEl>
                                          <p:spTgt spid="17435"/>
                                        </p:tgtEl>
                                        <p:attrNameLst>
                                          <p:attrName>style.visibility</p:attrName>
                                        </p:attrNameLst>
                                      </p:cBhvr>
                                      <p:to>
                                        <p:strVal val="visible"/>
                                      </p:to>
                                    </p:set>
                                    <p:animEffect transition="in" filter="wipe(down)">
                                      <p:cBhvr>
                                        <p:cTn id="139" dur="500"/>
                                        <p:tgtEl>
                                          <p:spTgt spid="17435"/>
                                        </p:tgtEl>
                                      </p:cBhvr>
                                    </p:animEffect>
                                  </p:childTnLst>
                                </p:cTn>
                              </p:par>
                              <p:par>
                                <p:cTn id="140" presetID="22" presetClass="entr" presetSubtype="8" fill="hold" grpId="0" nodeType="withEffect">
                                  <p:stCondLst>
                                    <p:cond delay="0"/>
                                  </p:stCondLst>
                                  <p:childTnLst>
                                    <p:set>
                                      <p:cBhvr>
                                        <p:cTn id="141" dur="1" fill="hold">
                                          <p:stCondLst>
                                            <p:cond delay="0"/>
                                          </p:stCondLst>
                                        </p:cTn>
                                        <p:tgtEl>
                                          <p:spTgt spid="17444"/>
                                        </p:tgtEl>
                                        <p:attrNameLst>
                                          <p:attrName>style.visibility</p:attrName>
                                        </p:attrNameLst>
                                      </p:cBhvr>
                                      <p:to>
                                        <p:strVal val="visible"/>
                                      </p:to>
                                    </p:set>
                                    <p:animEffect transition="in" filter="wipe(left)">
                                      <p:cBhvr>
                                        <p:cTn id="142" dur="500"/>
                                        <p:tgtEl>
                                          <p:spTgt spid="17444"/>
                                        </p:tgtEl>
                                      </p:cBhvr>
                                    </p:animEffect>
                                  </p:childTnLst>
                                </p:cTn>
                              </p:par>
                              <p:par>
                                <p:cTn id="143" presetID="9" presetClass="entr" presetSubtype="0" fill="hold" grpId="0" nodeType="withEffect">
                                  <p:stCondLst>
                                    <p:cond delay="0"/>
                                  </p:stCondLst>
                                  <p:childTnLst>
                                    <p:set>
                                      <p:cBhvr>
                                        <p:cTn id="144" dur="1" fill="hold">
                                          <p:stCondLst>
                                            <p:cond delay="0"/>
                                          </p:stCondLst>
                                        </p:cTn>
                                        <p:tgtEl>
                                          <p:spTgt spid="17441"/>
                                        </p:tgtEl>
                                        <p:attrNameLst>
                                          <p:attrName>style.visibility</p:attrName>
                                        </p:attrNameLst>
                                      </p:cBhvr>
                                      <p:to>
                                        <p:strVal val="visible"/>
                                      </p:to>
                                    </p:set>
                                    <p:animEffect transition="in" filter="dissolve">
                                      <p:cBhvr>
                                        <p:cTn id="145" dur="500"/>
                                        <p:tgtEl>
                                          <p:spTgt spid="17441"/>
                                        </p:tgtEl>
                                      </p:cBhvr>
                                    </p:animEffect>
                                  </p:childTnLst>
                                </p:cTn>
                              </p:par>
                              <p:par>
                                <p:cTn id="146" presetID="9" presetClass="entr" presetSubtype="0" fill="hold" grpId="0" nodeType="withEffect">
                                  <p:stCondLst>
                                    <p:cond delay="0"/>
                                  </p:stCondLst>
                                  <p:childTnLst>
                                    <p:set>
                                      <p:cBhvr>
                                        <p:cTn id="147" dur="1" fill="hold">
                                          <p:stCondLst>
                                            <p:cond delay="0"/>
                                          </p:stCondLst>
                                        </p:cTn>
                                        <p:tgtEl>
                                          <p:spTgt spid="17434"/>
                                        </p:tgtEl>
                                        <p:attrNameLst>
                                          <p:attrName>style.visibility</p:attrName>
                                        </p:attrNameLst>
                                      </p:cBhvr>
                                      <p:to>
                                        <p:strVal val="visible"/>
                                      </p:to>
                                    </p:set>
                                    <p:animEffect transition="in" filter="dissolve">
                                      <p:cBhvr>
                                        <p:cTn id="148" dur="500"/>
                                        <p:tgtEl>
                                          <p:spTgt spid="17434"/>
                                        </p:tgtEl>
                                      </p:cBhvr>
                                    </p:animEffect>
                                  </p:childTnLst>
                                </p:cTn>
                              </p:par>
                            </p:childTnLst>
                          </p:cTn>
                        </p:par>
                        <p:par>
                          <p:cTn id="149" fill="hold" nodeType="afterGroup">
                            <p:stCondLst>
                              <p:cond delay="500"/>
                            </p:stCondLst>
                            <p:childTnLst>
                              <p:par>
                                <p:cTn id="150" presetID="22" presetClass="entr" presetSubtype="8" fill="hold" nodeType="afterEffect">
                                  <p:stCondLst>
                                    <p:cond delay="0"/>
                                  </p:stCondLst>
                                  <p:childTnLst>
                                    <p:set>
                                      <p:cBhvr>
                                        <p:cTn id="151" dur="1" fill="hold">
                                          <p:stCondLst>
                                            <p:cond delay="0"/>
                                          </p:stCondLst>
                                        </p:cTn>
                                        <p:tgtEl>
                                          <p:spTgt spid="17438"/>
                                        </p:tgtEl>
                                        <p:attrNameLst>
                                          <p:attrName>style.visibility</p:attrName>
                                        </p:attrNameLst>
                                      </p:cBhvr>
                                      <p:to>
                                        <p:strVal val="visible"/>
                                      </p:to>
                                    </p:set>
                                    <p:animEffect transition="in" filter="wipe(left)">
                                      <p:cBhvr>
                                        <p:cTn id="152" dur="500"/>
                                        <p:tgtEl>
                                          <p:spTgt spid="17438"/>
                                        </p:tgtEl>
                                      </p:cBhvr>
                                    </p:animEffect>
                                  </p:childTnLst>
                                </p:cTn>
                              </p:par>
                              <p:par>
                                <p:cTn id="153" presetID="22" presetClass="entr" presetSubtype="8" fill="hold" nodeType="withEffect">
                                  <p:stCondLst>
                                    <p:cond delay="0"/>
                                  </p:stCondLst>
                                  <p:childTnLst>
                                    <p:set>
                                      <p:cBhvr>
                                        <p:cTn id="154" dur="1" fill="hold">
                                          <p:stCondLst>
                                            <p:cond delay="0"/>
                                          </p:stCondLst>
                                        </p:cTn>
                                        <p:tgtEl>
                                          <p:spTgt spid="17437"/>
                                        </p:tgtEl>
                                        <p:attrNameLst>
                                          <p:attrName>style.visibility</p:attrName>
                                        </p:attrNameLst>
                                      </p:cBhvr>
                                      <p:to>
                                        <p:strVal val="visible"/>
                                      </p:to>
                                    </p:set>
                                    <p:animEffect transition="in" filter="wipe(left)">
                                      <p:cBhvr>
                                        <p:cTn id="155" dur="500"/>
                                        <p:tgtEl>
                                          <p:spTgt spid="17437"/>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2" presetClass="entr" presetSubtype="2" fill="hold" grpId="0" nodeType="clickEffect">
                                  <p:stCondLst>
                                    <p:cond delay="0"/>
                                  </p:stCondLst>
                                  <p:childTnLst>
                                    <p:set>
                                      <p:cBhvr>
                                        <p:cTn id="159" dur="1" fill="hold">
                                          <p:stCondLst>
                                            <p:cond delay="0"/>
                                          </p:stCondLst>
                                        </p:cTn>
                                        <p:tgtEl>
                                          <p:spTgt spid="17447"/>
                                        </p:tgtEl>
                                        <p:attrNameLst>
                                          <p:attrName>style.visibility</p:attrName>
                                        </p:attrNameLst>
                                      </p:cBhvr>
                                      <p:to>
                                        <p:strVal val="visible"/>
                                      </p:to>
                                    </p:set>
                                    <p:animEffect transition="in" filter="wipe(right)">
                                      <p:cBhvr>
                                        <p:cTn id="160" dur="500"/>
                                        <p:tgtEl>
                                          <p:spTgt spid="17447"/>
                                        </p:tgtEl>
                                      </p:cBhvr>
                                    </p:animEffect>
                                  </p:childTnLst>
                                </p:cTn>
                              </p:par>
                              <p:par>
                                <p:cTn id="161" presetID="22" presetClass="entr" presetSubtype="2" fill="hold" nodeType="withEffect">
                                  <p:stCondLst>
                                    <p:cond delay="0"/>
                                  </p:stCondLst>
                                  <p:childTnLst>
                                    <p:set>
                                      <p:cBhvr>
                                        <p:cTn id="162" dur="1" fill="hold">
                                          <p:stCondLst>
                                            <p:cond delay="0"/>
                                          </p:stCondLst>
                                        </p:cTn>
                                        <p:tgtEl>
                                          <p:spTgt spid="17449"/>
                                        </p:tgtEl>
                                        <p:attrNameLst>
                                          <p:attrName>style.visibility</p:attrName>
                                        </p:attrNameLst>
                                      </p:cBhvr>
                                      <p:to>
                                        <p:strVal val="visible"/>
                                      </p:to>
                                    </p:set>
                                    <p:animEffect transition="in" filter="wipe(right)">
                                      <p:cBhvr>
                                        <p:cTn id="163" dur="500"/>
                                        <p:tgtEl>
                                          <p:spTgt spid="17449"/>
                                        </p:tgtEl>
                                      </p:cBhvr>
                                    </p:animEffect>
                                  </p:childTnLst>
                                </p:cTn>
                              </p:par>
                              <p:par>
                                <p:cTn id="164" presetID="22" presetClass="entr" presetSubtype="2" fill="hold" grpId="0" nodeType="withEffect">
                                  <p:stCondLst>
                                    <p:cond delay="0"/>
                                  </p:stCondLst>
                                  <p:childTnLst>
                                    <p:set>
                                      <p:cBhvr>
                                        <p:cTn id="165" dur="1" fill="hold">
                                          <p:stCondLst>
                                            <p:cond delay="0"/>
                                          </p:stCondLst>
                                        </p:cTn>
                                        <p:tgtEl>
                                          <p:spTgt spid="17452"/>
                                        </p:tgtEl>
                                        <p:attrNameLst>
                                          <p:attrName>style.visibility</p:attrName>
                                        </p:attrNameLst>
                                      </p:cBhvr>
                                      <p:to>
                                        <p:strVal val="visible"/>
                                      </p:to>
                                    </p:set>
                                    <p:animEffect transition="in" filter="wipe(right)">
                                      <p:cBhvr>
                                        <p:cTn id="166" dur="500"/>
                                        <p:tgtEl>
                                          <p:spTgt spid="17452"/>
                                        </p:tgtEl>
                                      </p:cBhvr>
                                    </p:animEffect>
                                  </p:childTnLst>
                                </p:cTn>
                              </p:par>
                            </p:childTnLst>
                          </p:cTn>
                        </p:par>
                        <p:par>
                          <p:cTn id="167" fill="hold" nodeType="afterGroup">
                            <p:stCondLst>
                              <p:cond delay="500"/>
                            </p:stCondLst>
                            <p:childTnLst>
                              <p:par>
                                <p:cTn id="168" presetID="9" presetClass="entr" presetSubtype="0" fill="hold" grpId="0" nodeType="afterEffect">
                                  <p:stCondLst>
                                    <p:cond delay="0"/>
                                  </p:stCondLst>
                                  <p:childTnLst>
                                    <p:set>
                                      <p:cBhvr>
                                        <p:cTn id="169" dur="1" fill="hold">
                                          <p:stCondLst>
                                            <p:cond delay="0"/>
                                          </p:stCondLst>
                                        </p:cTn>
                                        <p:tgtEl>
                                          <p:spTgt spid="17448"/>
                                        </p:tgtEl>
                                        <p:attrNameLst>
                                          <p:attrName>style.visibility</p:attrName>
                                        </p:attrNameLst>
                                      </p:cBhvr>
                                      <p:to>
                                        <p:strVal val="visible"/>
                                      </p:to>
                                    </p:set>
                                    <p:animEffect transition="in" filter="dissolve">
                                      <p:cBhvr>
                                        <p:cTn id="170" dur="500"/>
                                        <p:tgtEl>
                                          <p:spTgt spid="17448"/>
                                        </p:tgtEl>
                                      </p:cBhvr>
                                    </p:animEffect>
                                  </p:childTnLst>
                                </p:cTn>
                              </p:par>
                            </p:childTnLst>
                          </p:cTn>
                        </p:par>
                        <p:par>
                          <p:cTn id="171" fill="hold" nodeType="afterGroup">
                            <p:stCondLst>
                              <p:cond delay="1000"/>
                            </p:stCondLst>
                            <p:childTnLst>
                              <p:par>
                                <p:cTn id="172" presetID="9" presetClass="entr" presetSubtype="0" fill="hold" nodeType="afterEffect">
                                  <p:stCondLst>
                                    <p:cond delay="0"/>
                                  </p:stCondLst>
                                  <p:childTnLst>
                                    <p:set>
                                      <p:cBhvr>
                                        <p:cTn id="173" dur="1" fill="hold">
                                          <p:stCondLst>
                                            <p:cond delay="0"/>
                                          </p:stCondLst>
                                        </p:cTn>
                                        <p:tgtEl>
                                          <p:spTgt spid="17460"/>
                                        </p:tgtEl>
                                        <p:attrNameLst>
                                          <p:attrName>style.visibility</p:attrName>
                                        </p:attrNameLst>
                                      </p:cBhvr>
                                      <p:to>
                                        <p:strVal val="visible"/>
                                      </p:to>
                                    </p:set>
                                    <p:animEffect transition="in" filter="dissolve">
                                      <p:cBhvr>
                                        <p:cTn id="174" dur="500"/>
                                        <p:tgtEl>
                                          <p:spTgt spid="17460"/>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18" presetClass="entr" presetSubtype="3" fill="hold" grpId="0" nodeType="clickEffect">
                                  <p:stCondLst>
                                    <p:cond delay="0"/>
                                  </p:stCondLst>
                                  <p:childTnLst>
                                    <p:set>
                                      <p:cBhvr>
                                        <p:cTn id="178" dur="1" fill="hold">
                                          <p:stCondLst>
                                            <p:cond delay="0"/>
                                          </p:stCondLst>
                                        </p:cTn>
                                        <p:tgtEl>
                                          <p:spTgt spid="17446"/>
                                        </p:tgtEl>
                                        <p:attrNameLst>
                                          <p:attrName>style.visibility</p:attrName>
                                        </p:attrNameLst>
                                      </p:cBhvr>
                                      <p:to>
                                        <p:strVal val="visible"/>
                                      </p:to>
                                    </p:set>
                                    <p:animEffect transition="in" filter="strips(upRight)">
                                      <p:cBhvr>
                                        <p:cTn id="179" dur="500"/>
                                        <p:tgtEl>
                                          <p:spTgt spid="17446"/>
                                        </p:tgtEl>
                                      </p:cBhvr>
                                    </p:animEffect>
                                  </p:childTnLst>
                                </p:cTn>
                              </p:par>
                              <p:par>
                                <p:cTn id="180" presetID="18" presetClass="entr" presetSubtype="6" fill="hold" grpId="0" nodeType="withEffect">
                                  <p:stCondLst>
                                    <p:cond delay="0"/>
                                  </p:stCondLst>
                                  <p:childTnLst>
                                    <p:set>
                                      <p:cBhvr>
                                        <p:cTn id="181" dur="1" fill="hold">
                                          <p:stCondLst>
                                            <p:cond delay="0"/>
                                          </p:stCondLst>
                                        </p:cTn>
                                        <p:tgtEl>
                                          <p:spTgt spid="17445"/>
                                        </p:tgtEl>
                                        <p:attrNameLst>
                                          <p:attrName>style.visibility</p:attrName>
                                        </p:attrNameLst>
                                      </p:cBhvr>
                                      <p:to>
                                        <p:strVal val="visible"/>
                                      </p:to>
                                    </p:set>
                                    <p:animEffect transition="in" filter="strips(downRight)">
                                      <p:cBhvr>
                                        <p:cTn id="182" dur="500"/>
                                        <p:tgtEl>
                                          <p:spTgt spid="17445"/>
                                        </p:tgtEl>
                                      </p:cBhvr>
                                    </p:animEffect>
                                  </p:childTnLst>
                                </p:cTn>
                              </p:par>
                            </p:childTnLst>
                          </p:cTn>
                        </p:par>
                        <p:par>
                          <p:cTn id="183" fill="hold" nodeType="afterGroup">
                            <p:stCondLst>
                              <p:cond delay="500"/>
                            </p:stCondLst>
                            <p:childTnLst>
                              <p:par>
                                <p:cTn id="184" presetID="9" presetClass="entr" presetSubtype="0" fill="hold" grpId="0" nodeType="afterEffect">
                                  <p:stCondLst>
                                    <p:cond delay="0"/>
                                  </p:stCondLst>
                                  <p:childTnLst>
                                    <p:set>
                                      <p:cBhvr>
                                        <p:cTn id="185" dur="1" fill="hold">
                                          <p:stCondLst>
                                            <p:cond delay="0"/>
                                          </p:stCondLst>
                                        </p:cTn>
                                        <p:tgtEl>
                                          <p:spTgt spid="17442"/>
                                        </p:tgtEl>
                                        <p:attrNameLst>
                                          <p:attrName>style.visibility</p:attrName>
                                        </p:attrNameLst>
                                      </p:cBhvr>
                                      <p:to>
                                        <p:strVal val="visible"/>
                                      </p:to>
                                    </p:set>
                                    <p:animEffect transition="in" filter="dissolve">
                                      <p:cBhvr>
                                        <p:cTn id="186" dur="500"/>
                                        <p:tgtEl>
                                          <p:spTgt spid="17442"/>
                                        </p:tgtEl>
                                      </p:cBhvr>
                                    </p:animEffect>
                                  </p:childTnLst>
                                </p:cTn>
                              </p:par>
                              <p:par>
                                <p:cTn id="187" presetID="9" presetClass="entr" presetSubtype="0" fill="hold" grpId="0" nodeType="withEffect">
                                  <p:stCondLst>
                                    <p:cond delay="0"/>
                                  </p:stCondLst>
                                  <p:childTnLst>
                                    <p:set>
                                      <p:cBhvr>
                                        <p:cTn id="188" dur="1" fill="hold">
                                          <p:stCondLst>
                                            <p:cond delay="0"/>
                                          </p:stCondLst>
                                        </p:cTn>
                                        <p:tgtEl>
                                          <p:spTgt spid="17443"/>
                                        </p:tgtEl>
                                        <p:attrNameLst>
                                          <p:attrName>style.visibility</p:attrName>
                                        </p:attrNameLst>
                                      </p:cBhvr>
                                      <p:to>
                                        <p:strVal val="visible"/>
                                      </p:to>
                                    </p:set>
                                    <p:animEffect transition="in" filter="dissolve">
                                      <p:cBhvr>
                                        <p:cTn id="189" dur="500"/>
                                        <p:tgtEl>
                                          <p:spTgt spid="17443"/>
                                        </p:tgtEl>
                                      </p:cBhvr>
                                    </p:animEffect>
                                  </p:childTnLst>
                                </p:cTn>
                              </p:par>
                            </p:childTnLst>
                          </p:cTn>
                        </p:par>
                        <p:par>
                          <p:cTn id="190" fill="hold" nodeType="afterGroup">
                            <p:stCondLst>
                              <p:cond delay="1000"/>
                            </p:stCondLst>
                            <p:childTnLst>
                              <p:par>
                                <p:cTn id="191" presetID="1" presetClass="entr" presetSubtype="0" fill="hold" nodeType="afterEffect">
                                  <p:stCondLst>
                                    <p:cond delay="0"/>
                                  </p:stCondLst>
                                  <p:childTnLst>
                                    <p:set>
                                      <p:cBhvr>
                                        <p:cTn id="192" dur="1" fill="hold">
                                          <p:stCondLst>
                                            <p:cond delay="0"/>
                                          </p:stCondLst>
                                        </p:cTn>
                                        <p:tgtEl>
                                          <p:spTgt spid="17439"/>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17440"/>
                                        </p:tgtEl>
                                        <p:attrNameLst>
                                          <p:attrName>style.visibility</p:attrName>
                                        </p:attrNameLst>
                                      </p:cBhvr>
                                      <p:to>
                                        <p:strVal val="visible"/>
                                      </p:to>
                                    </p:set>
                                  </p:childTnLst>
                                </p:cTn>
                              </p:par>
                            </p:childTnLst>
                          </p:cTn>
                        </p:par>
                      </p:childTnLst>
                    </p:cTn>
                  </p:par>
                  <p:par>
                    <p:cTn id="195" fill="hold" nodeType="clickPar">
                      <p:stCondLst>
                        <p:cond delay="indefinite"/>
                      </p:stCondLst>
                      <p:childTnLst>
                        <p:par>
                          <p:cTn id="196" fill="hold" nodeType="withGroup">
                            <p:stCondLst>
                              <p:cond delay="0"/>
                            </p:stCondLst>
                            <p:childTnLst>
                              <p:par>
                                <p:cTn id="197" presetID="32" presetClass="emph" presetSubtype="0" fill="hold" grpId="1" nodeType="clickEffect">
                                  <p:stCondLst>
                                    <p:cond delay="0"/>
                                  </p:stCondLst>
                                  <p:childTnLst>
                                    <p:animClr clrSpc="rgb" dir="cw">
                                      <p:cBhvr override="childStyle">
                                        <p:cTn id="198" dur="100" fill="hold"/>
                                        <p:tgtEl>
                                          <p:spTgt spid="17446"/>
                                        </p:tgtEl>
                                        <p:attrNameLst>
                                          <p:attrName>style.color</p:attrName>
                                        </p:attrNameLst>
                                      </p:cBhvr>
                                      <p:to>
                                        <a:schemeClr val="accent2"/>
                                      </p:to>
                                    </p:animClr>
                                    <p:animClr clrSpc="rgb" dir="cw">
                                      <p:cBhvr>
                                        <p:cTn id="199" dur="100" fill="hold"/>
                                        <p:tgtEl>
                                          <p:spTgt spid="17446"/>
                                        </p:tgtEl>
                                        <p:attrNameLst>
                                          <p:attrName>fillcolor</p:attrName>
                                        </p:attrNameLst>
                                      </p:cBhvr>
                                      <p:to>
                                        <a:schemeClr val="accent2"/>
                                      </p:to>
                                    </p:animClr>
                                    <p:set>
                                      <p:cBhvr>
                                        <p:cTn id="200" dur="100" fill="hold"/>
                                        <p:tgtEl>
                                          <p:spTgt spid="17446"/>
                                        </p:tgtEl>
                                        <p:attrNameLst>
                                          <p:attrName>fill.type</p:attrName>
                                        </p:attrNameLst>
                                      </p:cBhvr>
                                      <p:to>
                                        <p:strVal val="solid"/>
                                      </p:to>
                                    </p:set>
                                    <p:set>
                                      <p:cBhvr>
                                        <p:cTn id="201" dur="100" fill="hold"/>
                                        <p:tgtEl>
                                          <p:spTgt spid="17446"/>
                                        </p:tgtEl>
                                        <p:attrNameLst>
                                          <p:attrName>fill.on</p:attrName>
                                        </p:attrNameLst>
                                      </p:cBhvr>
                                      <p:to>
                                        <p:strVal val="true"/>
                                      </p:to>
                                    </p:set>
                                    <p:animRot by="120000">
                                      <p:cBhvr>
                                        <p:cTn id="202" dur="100" fill="hold">
                                          <p:stCondLst>
                                            <p:cond delay="0"/>
                                          </p:stCondLst>
                                        </p:cTn>
                                        <p:tgtEl>
                                          <p:spTgt spid="17446"/>
                                        </p:tgtEl>
                                        <p:attrNameLst>
                                          <p:attrName>r</p:attrName>
                                        </p:attrNameLst>
                                      </p:cBhvr>
                                    </p:animRot>
                                    <p:animRot by="-240000">
                                      <p:cBhvr>
                                        <p:cTn id="203" dur="200" fill="hold">
                                          <p:stCondLst>
                                            <p:cond delay="200"/>
                                          </p:stCondLst>
                                        </p:cTn>
                                        <p:tgtEl>
                                          <p:spTgt spid="17446"/>
                                        </p:tgtEl>
                                        <p:attrNameLst>
                                          <p:attrName>r</p:attrName>
                                        </p:attrNameLst>
                                      </p:cBhvr>
                                    </p:animRot>
                                    <p:animRot by="240000">
                                      <p:cBhvr>
                                        <p:cTn id="204" dur="200" fill="hold">
                                          <p:stCondLst>
                                            <p:cond delay="400"/>
                                          </p:stCondLst>
                                        </p:cTn>
                                        <p:tgtEl>
                                          <p:spTgt spid="17446"/>
                                        </p:tgtEl>
                                        <p:attrNameLst>
                                          <p:attrName>r</p:attrName>
                                        </p:attrNameLst>
                                      </p:cBhvr>
                                    </p:animRot>
                                    <p:animRot by="-240000">
                                      <p:cBhvr>
                                        <p:cTn id="205" dur="200" fill="hold">
                                          <p:stCondLst>
                                            <p:cond delay="600"/>
                                          </p:stCondLst>
                                        </p:cTn>
                                        <p:tgtEl>
                                          <p:spTgt spid="17446"/>
                                        </p:tgtEl>
                                        <p:attrNameLst>
                                          <p:attrName>r</p:attrName>
                                        </p:attrNameLst>
                                      </p:cBhvr>
                                    </p:animRot>
                                    <p:animRot by="120000">
                                      <p:cBhvr>
                                        <p:cTn id="206" dur="200" fill="hold">
                                          <p:stCondLst>
                                            <p:cond delay="800"/>
                                          </p:stCondLst>
                                        </p:cTn>
                                        <p:tgtEl>
                                          <p:spTgt spid="17446"/>
                                        </p:tgtEl>
                                        <p:attrNameLst>
                                          <p:attrName>r</p:attrName>
                                        </p:attrNameLst>
                                      </p:cBhvr>
                                    </p:animRot>
                                  </p:childTnLst>
                                </p:cTn>
                              </p:par>
                            </p:childTnLst>
                          </p:cTn>
                        </p:par>
                        <p:par>
                          <p:cTn id="207" fill="hold" nodeType="afterGroup">
                            <p:stCondLst>
                              <p:cond delay="1000"/>
                            </p:stCondLst>
                            <p:childTnLst>
                              <p:par>
                                <p:cTn id="208" presetID="22" presetClass="entr" presetSubtype="8" fill="hold" nodeType="afterEffect">
                                  <p:stCondLst>
                                    <p:cond delay="0"/>
                                  </p:stCondLst>
                                  <p:childTnLst>
                                    <p:set>
                                      <p:cBhvr>
                                        <p:cTn id="209" dur="1" fill="hold">
                                          <p:stCondLst>
                                            <p:cond delay="0"/>
                                          </p:stCondLst>
                                        </p:cTn>
                                        <p:tgtEl>
                                          <p:spTgt spid="17456"/>
                                        </p:tgtEl>
                                        <p:attrNameLst>
                                          <p:attrName>style.visibility</p:attrName>
                                        </p:attrNameLst>
                                      </p:cBhvr>
                                      <p:to>
                                        <p:strVal val="visible"/>
                                      </p:to>
                                    </p:set>
                                    <p:animEffect transition="in" filter="wipe(left)">
                                      <p:cBhvr>
                                        <p:cTn id="210" dur="500"/>
                                        <p:tgtEl>
                                          <p:spTgt spid="17456"/>
                                        </p:tgtEl>
                                      </p:cBhvr>
                                    </p:animEffect>
                                  </p:childTnLst>
                                </p:cTn>
                              </p:par>
                            </p:childTnLst>
                          </p:cTn>
                        </p:par>
                      </p:childTnLst>
                    </p:cTn>
                  </p:par>
                  <p:par>
                    <p:cTn id="211" fill="hold" nodeType="clickPar">
                      <p:stCondLst>
                        <p:cond delay="indefinite"/>
                      </p:stCondLst>
                      <p:childTnLst>
                        <p:par>
                          <p:cTn id="212" fill="hold" nodeType="withGroup">
                            <p:stCondLst>
                              <p:cond delay="0"/>
                            </p:stCondLst>
                            <p:childTnLst>
                              <p:par>
                                <p:cTn id="213" presetID="22" presetClass="entr" presetSubtype="8" fill="hold" nodeType="clickEffect">
                                  <p:stCondLst>
                                    <p:cond delay="0"/>
                                  </p:stCondLst>
                                  <p:childTnLst>
                                    <p:set>
                                      <p:cBhvr>
                                        <p:cTn id="214" dur="1" fill="hold">
                                          <p:stCondLst>
                                            <p:cond delay="0"/>
                                          </p:stCondLst>
                                        </p:cTn>
                                        <p:tgtEl>
                                          <p:spTgt spid="17416"/>
                                        </p:tgtEl>
                                        <p:attrNameLst>
                                          <p:attrName>style.visibility</p:attrName>
                                        </p:attrNameLst>
                                      </p:cBhvr>
                                      <p:to>
                                        <p:strVal val="visible"/>
                                      </p:to>
                                    </p:set>
                                    <p:animEffect transition="in" filter="wipe(left)">
                                      <p:cBhvr>
                                        <p:cTn id="215" dur="500"/>
                                        <p:tgtEl>
                                          <p:spTgt spid="17416"/>
                                        </p:tgtEl>
                                      </p:cBhvr>
                                    </p:animEffect>
                                  </p:childTnLst>
                                </p:cTn>
                              </p:par>
                            </p:childTnLst>
                          </p:cTn>
                        </p:par>
                      </p:childTnLst>
                    </p:cTn>
                  </p:par>
                  <p:par>
                    <p:cTn id="216" fill="hold" nodeType="clickPar">
                      <p:stCondLst>
                        <p:cond delay="indefinite"/>
                      </p:stCondLst>
                      <p:childTnLst>
                        <p:par>
                          <p:cTn id="217" fill="hold" nodeType="withGroup">
                            <p:stCondLst>
                              <p:cond delay="0"/>
                            </p:stCondLst>
                            <p:childTnLst>
                              <p:par>
                                <p:cTn id="218" presetID="22" presetClass="entr" presetSubtype="8" fill="hold" grpId="0" nodeType="clickEffect">
                                  <p:stCondLst>
                                    <p:cond delay="0"/>
                                  </p:stCondLst>
                                  <p:childTnLst>
                                    <p:set>
                                      <p:cBhvr>
                                        <p:cTn id="219" dur="1" fill="hold">
                                          <p:stCondLst>
                                            <p:cond delay="0"/>
                                          </p:stCondLst>
                                        </p:cTn>
                                        <p:tgtEl>
                                          <p:spTgt spid="17421"/>
                                        </p:tgtEl>
                                        <p:attrNameLst>
                                          <p:attrName>style.visibility</p:attrName>
                                        </p:attrNameLst>
                                      </p:cBhvr>
                                      <p:to>
                                        <p:strVal val="visible"/>
                                      </p:to>
                                    </p:set>
                                    <p:animEffect transition="in" filter="wipe(left)">
                                      <p:cBhvr>
                                        <p:cTn id="220" dur="500"/>
                                        <p:tgtEl>
                                          <p:spTgt spid="17421"/>
                                        </p:tgtEl>
                                      </p:cBhvr>
                                    </p:animEffect>
                                  </p:childTnLst>
                                </p:cTn>
                              </p:par>
                            </p:childTnLst>
                          </p:cTn>
                        </p:par>
                        <p:par>
                          <p:cTn id="221" fill="hold" nodeType="afterGroup">
                            <p:stCondLst>
                              <p:cond delay="500"/>
                            </p:stCondLst>
                            <p:childTnLst>
                              <p:par>
                                <p:cTn id="222" presetID="22" presetClass="entr" presetSubtype="8" fill="hold" grpId="0" nodeType="afterEffect">
                                  <p:stCondLst>
                                    <p:cond delay="0"/>
                                  </p:stCondLst>
                                  <p:childTnLst>
                                    <p:set>
                                      <p:cBhvr>
                                        <p:cTn id="223" dur="1" fill="hold">
                                          <p:stCondLst>
                                            <p:cond delay="0"/>
                                          </p:stCondLst>
                                        </p:cTn>
                                        <p:tgtEl>
                                          <p:spTgt spid="17417"/>
                                        </p:tgtEl>
                                        <p:attrNameLst>
                                          <p:attrName>style.visibility</p:attrName>
                                        </p:attrNameLst>
                                      </p:cBhvr>
                                      <p:to>
                                        <p:strVal val="visible"/>
                                      </p:to>
                                    </p:set>
                                    <p:animEffect transition="in" filter="wipe(left)">
                                      <p:cBhvr>
                                        <p:cTn id="224" dur="500"/>
                                        <p:tgtEl>
                                          <p:spTgt spid="17417"/>
                                        </p:tgtEl>
                                      </p:cBhvr>
                                    </p:animEffect>
                                  </p:childTnLst>
                                </p:cTn>
                              </p:par>
                            </p:childTnLst>
                          </p:cTn>
                        </p:par>
                      </p:childTnLst>
                    </p:cTn>
                  </p:par>
                  <p:par>
                    <p:cTn id="225" fill="hold" nodeType="clickPar">
                      <p:stCondLst>
                        <p:cond delay="indefinite"/>
                      </p:stCondLst>
                      <p:childTnLst>
                        <p:par>
                          <p:cTn id="226" fill="hold" nodeType="withGroup">
                            <p:stCondLst>
                              <p:cond delay="0"/>
                            </p:stCondLst>
                            <p:childTnLst>
                              <p:par>
                                <p:cTn id="227" presetID="22" presetClass="entr" presetSubtype="8" fill="hold" grpId="0" nodeType="clickEffect">
                                  <p:stCondLst>
                                    <p:cond delay="0"/>
                                  </p:stCondLst>
                                  <p:childTnLst>
                                    <p:set>
                                      <p:cBhvr>
                                        <p:cTn id="228" dur="1" fill="hold">
                                          <p:stCondLst>
                                            <p:cond delay="0"/>
                                          </p:stCondLst>
                                        </p:cTn>
                                        <p:tgtEl>
                                          <p:spTgt spid="17422"/>
                                        </p:tgtEl>
                                        <p:attrNameLst>
                                          <p:attrName>style.visibility</p:attrName>
                                        </p:attrNameLst>
                                      </p:cBhvr>
                                      <p:to>
                                        <p:strVal val="visible"/>
                                      </p:to>
                                    </p:set>
                                    <p:animEffect transition="in" filter="wipe(left)">
                                      <p:cBhvr>
                                        <p:cTn id="229" dur="500"/>
                                        <p:tgtEl>
                                          <p:spTgt spid="17422"/>
                                        </p:tgtEl>
                                      </p:cBhvr>
                                    </p:animEffect>
                                  </p:childTnLst>
                                </p:cTn>
                              </p:par>
                            </p:childTnLst>
                          </p:cTn>
                        </p:par>
                        <p:par>
                          <p:cTn id="230" fill="hold" nodeType="afterGroup">
                            <p:stCondLst>
                              <p:cond delay="500"/>
                            </p:stCondLst>
                            <p:childTnLst>
                              <p:par>
                                <p:cTn id="231" presetID="22" presetClass="entr" presetSubtype="8" fill="hold" grpId="0" nodeType="afterEffect">
                                  <p:stCondLst>
                                    <p:cond delay="0"/>
                                  </p:stCondLst>
                                  <p:childTnLst>
                                    <p:set>
                                      <p:cBhvr>
                                        <p:cTn id="232" dur="1" fill="hold">
                                          <p:stCondLst>
                                            <p:cond delay="0"/>
                                          </p:stCondLst>
                                        </p:cTn>
                                        <p:tgtEl>
                                          <p:spTgt spid="17418"/>
                                        </p:tgtEl>
                                        <p:attrNameLst>
                                          <p:attrName>style.visibility</p:attrName>
                                        </p:attrNameLst>
                                      </p:cBhvr>
                                      <p:to>
                                        <p:strVal val="visible"/>
                                      </p:to>
                                    </p:set>
                                    <p:animEffect transition="in" filter="wipe(left)">
                                      <p:cBhvr>
                                        <p:cTn id="233" dur="500"/>
                                        <p:tgtEl>
                                          <p:spTgt spid="17418"/>
                                        </p:tgtEl>
                                      </p:cBhvr>
                                    </p:animEffect>
                                  </p:childTnLst>
                                  <p:subTnLst>
                                    <p:audio>
                                      <p:cMediaNode>
                                        <p:cTn display="0" masterRel="sameClick">
                                          <p:stCondLst>
                                            <p:cond evt="begin" delay="0">
                                              <p:tn val="231"/>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utoUpdateAnimBg="0"/>
      <p:bldP spid="17411" grpId="0" autoUpdateAnimBg="0"/>
      <p:bldP spid="17412" grpId="0" autoUpdateAnimBg="0"/>
      <p:bldP spid="17413" grpId="0" autoUpdateAnimBg="0"/>
      <p:bldP spid="17414" grpId="0" autoUpdateAnimBg="0"/>
      <p:bldP spid="17415" grpId="0" autoUpdateAnimBg="0"/>
      <p:bldP spid="17417" grpId="0" autoUpdateAnimBg="0"/>
      <p:bldP spid="17418" grpId="0" autoUpdateAnimBg="0"/>
      <p:bldP spid="17419" grpId="0"/>
      <p:bldP spid="17420" grpId="0"/>
      <p:bldP spid="17421" grpId="0"/>
      <p:bldP spid="17422" grpId="0"/>
      <p:bldP spid="17423" grpId="0" autoUpdateAnimBg="0"/>
      <p:bldP spid="17424" grpId="0"/>
      <p:bldP spid="17425" grpId="0" animBg="1"/>
      <p:bldP spid="17426" grpId="0" animBg="1"/>
      <p:bldP spid="17427" grpId="0" animBg="1"/>
      <p:bldP spid="17428" grpId="0" animBg="1"/>
      <p:bldP spid="17429" grpId="0" animBg="1"/>
      <p:bldP spid="17431" grpId="0" animBg="1"/>
      <p:bldP spid="17432" grpId="0" animBg="1"/>
      <p:bldP spid="17433" grpId="0" animBg="1"/>
      <p:bldP spid="17434" grpId="0" animBg="1"/>
      <p:bldP spid="17435" grpId="0" animBg="1"/>
      <p:bldP spid="17436" grpId="0" animBg="1"/>
      <p:bldP spid="17441" grpId="0" animBg="1"/>
      <p:bldP spid="17442" grpId="0" animBg="1"/>
      <p:bldP spid="17443" grpId="0" animBg="1"/>
      <p:bldP spid="17444" grpId="0" animBg="1"/>
      <p:bldP spid="17445" grpId="0" animBg="1"/>
      <p:bldP spid="17446" grpId="0" animBg="1"/>
      <p:bldP spid="17446" grpId="1" animBg="1"/>
      <p:bldP spid="17447" grpId="0" animBg="1"/>
      <p:bldP spid="17448" grpId="0"/>
      <p:bldP spid="17452" grpId="0" animBg="1"/>
      <p:bldP spid="17453" grpId="0" animBg="1"/>
      <p:bldP spid="17455" grpId="0"/>
      <p:bldP spid="17457" grpId="0" animBg="1"/>
      <p:bldP spid="17458" grpId="0" animBg="1"/>
      <p:bldP spid="1745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827584" y="919100"/>
            <a:ext cx="335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dirty="0">
                <a:solidFill>
                  <a:schemeClr val="bg1"/>
                </a:solidFill>
                <a:latin typeface="楷体_GB2312" pitchFamily="49" charset="-122"/>
                <a:ea typeface="楷体_GB2312" pitchFamily="49" charset="-122"/>
              </a:rPr>
              <a:t>(1)</a:t>
            </a:r>
            <a:r>
              <a:rPr lang="en-US" altLang="zh-CN" sz="2400" b="1" dirty="0">
                <a:solidFill>
                  <a:schemeClr val="bg1"/>
                </a:solidFill>
                <a:latin typeface="Times New Roman" pitchFamily="18" charset="0"/>
                <a:ea typeface="楷体_GB2312" pitchFamily="49" charset="-122"/>
              </a:rPr>
              <a:t> </a:t>
            </a:r>
            <a:r>
              <a:rPr lang="zh-CN" altLang="en-US" sz="2400" b="1" dirty="0">
                <a:solidFill>
                  <a:schemeClr val="bg1"/>
                </a:solidFill>
                <a:latin typeface="楷体_GB2312" pitchFamily="49" charset="-122"/>
                <a:ea typeface="楷体_GB2312" pitchFamily="49" charset="-122"/>
              </a:rPr>
              <a:t>力对点的力矩</a:t>
            </a:r>
            <a:endParaRPr lang="zh-CN" altLang="en-US" sz="2400" b="1" i="1" dirty="0">
              <a:solidFill>
                <a:schemeClr val="bg1"/>
              </a:solidFill>
              <a:latin typeface="楷体_GB2312" pitchFamily="49" charset="-122"/>
              <a:ea typeface="楷体_GB2312" pitchFamily="49" charset="-122"/>
            </a:endParaRPr>
          </a:p>
        </p:txBody>
      </p:sp>
      <p:sp>
        <p:nvSpPr>
          <p:cNvPr id="18435" name="Line 3"/>
          <p:cNvSpPr>
            <a:spLocks noChangeShapeType="1"/>
          </p:cNvSpPr>
          <p:nvPr/>
        </p:nvSpPr>
        <p:spPr bwMode="auto">
          <a:xfrm>
            <a:off x="5707063" y="2319338"/>
            <a:ext cx="1219200" cy="457200"/>
          </a:xfrm>
          <a:prstGeom prst="line">
            <a:avLst/>
          </a:prstGeom>
          <a:noFill/>
          <a:ln w="381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6" name="Line 4"/>
          <p:cNvSpPr>
            <a:spLocks noChangeShapeType="1"/>
          </p:cNvSpPr>
          <p:nvPr/>
        </p:nvSpPr>
        <p:spPr bwMode="auto">
          <a:xfrm flipV="1">
            <a:off x="6926263" y="1709738"/>
            <a:ext cx="1447800" cy="10668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7" name="Line 5"/>
          <p:cNvSpPr>
            <a:spLocks noChangeShapeType="1"/>
          </p:cNvSpPr>
          <p:nvPr/>
        </p:nvSpPr>
        <p:spPr bwMode="auto">
          <a:xfrm flipV="1">
            <a:off x="5707063" y="1709738"/>
            <a:ext cx="2667000" cy="609600"/>
          </a:xfrm>
          <a:prstGeom prst="line">
            <a:avLst/>
          </a:prstGeom>
          <a:noFill/>
          <a:ln w="222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8" name="Line 6"/>
          <p:cNvSpPr>
            <a:spLocks noChangeShapeType="1"/>
          </p:cNvSpPr>
          <p:nvPr/>
        </p:nvSpPr>
        <p:spPr bwMode="auto">
          <a:xfrm flipH="1" flipV="1">
            <a:off x="5326063" y="871538"/>
            <a:ext cx="381000" cy="1447800"/>
          </a:xfrm>
          <a:prstGeom prst="line">
            <a:avLst/>
          </a:prstGeom>
          <a:noFill/>
          <a:ln w="3810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9" name="Line 7"/>
          <p:cNvSpPr>
            <a:spLocks noChangeShapeType="1"/>
          </p:cNvSpPr>
          <p:nvPr/>
        </p:nvSpPr>
        <p:spPr bwMode="auto">
          <a:xfrm flipV="1">
            <a:off x="5707063" y="871538"/>
            <a:ext cx="0" cy="1439862"/>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0" name="Line 8"/>
          <p:cNvSpPr>
            <a:spLocks noChangeShapeType="1"/>
          </p:cNvSpPr>
          <p:nvPr/>
        </p:nvSpPr>
        <p:spPr bwMode="auto">
          <a:xfrm flipH="1">
            <a:off x="5021263" y="2319338"/>
            <a:ext cx="685800" cy="533400"/>
          </a:xfrm>
          <a:prstGeom prst="line">
            <a:avLst/>
          </a:prstGeom>
          <a:noFill/>
          <a:ln w="1905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1" name="Line 9"/>
          <p:cNvSpPr>
            <a:spLocks noChangeShapeType="1"/>
          </p:cNvSpPr>
          <p:nvPr/>
        </p:nvSpPr>
        <p:spPr bwMode="auto">
          <a:xfrm>
            <a:off x="5707063" y="2319338"/>
            <a:ext cx="2673350" cy="1587"/>
          </a:xfrm>
          <a:prstGeom prst="line">
            <a:avLst/>
          </a:prstGeom>
          <a:noFill/>
          <a:ln w="1905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2" name="Text Box 10"/>
          <p:cNvSpPr txBox="1">
            <a:spLocks noChangeArrowheads="1"/>
          </p:cNvSpPr>
          <p:nvPr/>
        </p:nvSpPr>
        <p:spPr bwMode="auto">
          <a:xfrm>
            <a:off x="5260975" y="2014538"/>
            <a:ext cx="938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O</a:t>
            </a:r>
            <a:r>
              <a:rPr lang="en-US" altLang="zh-CN" sz="2400" b="1">
                <a:solidFill>
                  <a:srgbClr val="FFFF00"/>
                </a:solidFill>
                <a:latin typeface="Times New Roman" pitchFamily="18" charset="0"/>
              </a:rPr>
              <a:t>  .</a:t>
            </a:r>
            <a:endParaRPr lang="en-US" altLang="zh-CN" sz="2400" b="1">
              <a:solidFill>
                <a:schemeClr val="accent2"/>
              </a:solidFill>
              <a:latin typeface="Times New Roman" pitchFamily="18" charset="0"/>
            </a:endParaRPr>
          </a:p>
        </p:txBody>
      </p:sp>
      <p:graphicFrame>
        <p:nvGraphicFramePr>
          <p:cNvPr id="18443" name="Object 11"/>
          <p:cNvGraphicFramePr>
            <a:graphicFrameLocks/>
          </p:cNvGraphicFramePr>
          <p:nvPr>
            <p:extLst>
              <p:ext uri="{D42A27DB-BD31-4B8C-83A1-F6EECF244321}">
                <p14:modId xmlns:p14="http://schemas.microsoft.com/office/powerpoint/2010/main" val="2707149073"/>
              </p:ext>
            </p:extLst>
          </p:nvPr>
        </p:nvGraphicFramePr>
        <p:xfrm>
          <a:off x="1681895" y="1552178"/>
          <a:ext cx="1668463" cy="468312"/>
        </p:xfrm>
        <a:graphic>
          <a:graphicData uri="http://schemas.openxmlformats.org/presentationml/2006/ole">
            <mc:AlternateContent xmlns:mc="http://schemas.openxmlformats.org/markup-compatibility/2006">
              <mc:Choice xmlns:v="urn:schemas-microsoft-com:vml" Requires="v">
                <p:oleObj spid="_x0000_s8272" name="公式" r:id="rId3" imgW="1590762" imgH="380876" progId="Equation.3">
                  <p:embed/>
                </p:oleObj>
              </mc:Choice>
              <mc:Fallback>
                <p:oleObj name="公式" r:id="rId3" imgW="1590762" imgH="380876" progId="Equation.3">
                  <p:embed/>
                  <p:pic>
                    <p:nvPicPr>
                      <p:cNvPr id="0" name="Object 1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1895" y="1552178"/>
                        <a:ext cx="1668463"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4" name="Text Box 12"/>
          <p:cNvSpPr txBox="1">
            <a:spLocks noChangeArrowheads="1"/>
          </p:cNvSpPr>
          <p:nvPr/>
        </p:nvSpPr>
        <p:spPr bwMode="auto">
          <a:xfrm>
            <a:off x="684213" y="2492375"/>
            <a:ext cx="53276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a:solidFill>
                  <a:schemeClr val="bg1"/>
                </a:solidFill>
                <a:latin typeface="楷体_GB2312" pitchFamily="49" charset="-122"/>
                <a:ea typeface="楷体_GB2312" pitchFamily="49" charset="-122"/>
              </a:rPr>
              <a:t>(2)</a:t>
            </a:r>
            <a:r>
              <a:rPr lang="en-US" altLang="zh-CN" sz="2400" b="1">
                <a:solidFill>
                  <a:schemeClr val="bg1"/>
                </a:solidFill>
                <a:latin typeface="Times New Roman" pitchFamily="18" charset="0"/>
                <a:ea typeface="楷体_GB2312" pitchFamily="49" charset="-122"/>
              </a:rPr>
              <a:t> </a:t>
            </a:r>
            <a:r>
              <a:rPr lang="zh-CN" altLang="en-US" sz="2400" b="1">
                <a:solidFill>
                  <a:schemeClr val="bg1"/>
                </a:solidFill>
                <a:latin typeface="楷体_GB2312" pitchFamily="49" charset="-122"/>
                <a:ea typeface="楷体_GB2312" pitchFamily="49" charset="-122"/>
              </a:rPr>
              <a:t>力对定轴力矩的矢量形式</a:t>
            </a:r>
          </a:p>
        </p:txBody>
      </p:sp>
      <p:sp>
        <p:nvSpPr>
          <p:cNvPr id="18445" name="Rectangle 13"/>
          <p:cNvSpPr>
            <a:spLocks noChangeArrowheads="1"/>
          </p:cNvSpPr>
          <p:nvPr/>
        </p:nvSpPr>
        <p:spPr bwMode="auto">
          <a:xfrm>
            <a:off x="1160463" y="3692525"/>
            <a:ext cx="477996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r>
              <a:rPr lang="zh-CN" altLang="en-US" sz="2400" b="1" dirty="0">
                <a:solidFill>
                  <a:schemeClr val="bg1"/>
                </a:solidFill>
                <a:latin typeface="Times New Roman" pitchFamily="18" charset="0"/>
                <a:ea typeface="楷体_GB2312" pitchFamily="49" charset="-122"/>
              </a:rPr>
              <a:t>力矩的方向由</a:t>
            </a:r>
            <a:r>
              <a:rPr lang="zh-CN" altLang="en-US" sz="2400" b="1" dirty="0">
                <a:solidFill>
                  <a:srgbClr val="66FFFF"/>
                </a:solidFill>
                <a:latin typeface="Times New Roman" pitchFamily="18" charset="0"/>
                <a:ea typeface="楷体_GB2312" pitchFamily="49" charset="-122"/>
              </a:rPr>
              <a:t>右螺旋法则</a:t>
            </a:r>
            <a:r>
              <a:rPr lang="zh-CN" altLang="en-US" sz="2400" b="1" dirty="0">
                <a:solidFill>
                  <a:schemeClr val="bg1"/>
                </a:solidFill>
                <a:latin typeface="Times New Roman" pitchFamily="18" charset="0"/>
                <a:ea typeface="楷体_GB2312" pitchFamily="49" charset="-122"/>
              </a:rPr>
              <a:t>确定</a:t>
            </a:r>
            <a:endParaRPr lang="zh-CN" altLang="en-US" sz="2400" dirty="0">
              <a:solidFill>
                <a:schemeClr val="bg1"/>
              </a:solidFill>
              <a:latin typeface="Times New Roman" pitchFamily="18" charset="0"/>
              <a:ea typeface="楷体_GB2312" pitchFamily="49" charset="-122"/>
            </a:endParaRPr>
          </a:p>
        </p:txBody>
      </p:sp>
      <p:graphicFrame>
        <p:nvGraphicFramePr>
          <p:cNvPr id="18446" name="Object 14"/>
          <p:cNvGraphicFramePr>
            <a:graphicFrameLocks/>
          </p:cNvGraphicFramePr>
          <p:nvPr/>
        </p:nvGraphicFramePr>
        <p:xfrm>
          <a:off x="1619250" y="3141663"/>
          <a:ext cx="1749425" cy="457200"/>
        </p:xfrm>
        <a:graphic>
          <a:graphicData uri="http://schemas.openxmlformats.org/presentationml/2006/ole">
            <mc:AlternateContent xmlns:mc="http://schemas.openxmlformats.org/markup-compatibility/2006">
              <mc:Choice xmlns:v="urn:schemas-microsoft-com:vml" Requires="v">
                <p:oleObj spid="_x0000_s8273" name="公式" r:id="rId5" imgW="1666885" imgH="361981" progId="Equation.3">
                  <p:embed/>
                </p:oleObj>
              </mc:Choice>
              <mc:Fallback>
                <p:oleObj name="公式" r:id="rId5" imgW="1666885" imgH="361981" progId="Equation.3">
                  <p:embed/>
                  <p:pic>
                    <p:nvPicPr>
                      <p:cNvPr id="0" name="Object 1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3141663"/>
                        <a:ext cx="17494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7" name="Text Box 15"/>
          <p:cNvSpPr txBox="1">
            <a:spLocks noChangeArrowheads="1"/>
          </p:cNvSpPr>
          <p:nvPr/>
        </p:nvSpPr>
        <p:spPr bwMode="auto">
          <a:xfrm>
            <a:off x="684213" y="4237038"/>
            <a:ext cx="38735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4988" indent="-534988"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en-US" altLang="zh-CN" sz="2400" b="1">
                <a:solidFill>
                  <a:schemeClr val="bg1"/>
                </a:solidFill>
                <a:latin typeface="楷体_GB2312" pitchFamily="49" charset="-122"/>
                <a:ea typeface="楷体_GB2312" pitchFamily="49" charset="-122"/>
              </a:rPr>
              <a:t>(3)</a:t>
            </a:r>
            <a:r>
              <a:rPr lang="zh-CN" altLang="en-US" sz="2400" b="1">
                <a:solidFill>
                  <a:schemeClr val="bg1"/>
                </a:solidFill>
                <a:latin typeface="Times New Roman" pitchFamily="18" charset="0"/>
                <a:ea typeface="楷体_GB2312" pitchFamily="49" charset="-122"/>
              </a:rPr>
              <a:t>力对任意点的力矩，在通过该点的任一轴上的投影，等于该力对该轴   的力矩</a:t>
            </a:r>
          </a:p>
        </p:txBody>
      </p:sp>
      <p:graphicFrame>
        <p:nvGraphicFramePr>
          <p:cNvPr id="18449" name="Object 17"/>
          <p:cNvGraphicFramePr>
            <a:graphicFrameLocks/>
          </p:cNvGraphicFramePr>
          <p:nvPr/>
        </p:nvGraphicFramePr>
        <p:xfrm>
          <a:off x="7980363" y="1296988"/>
          <a:ext cx="306387" cy="366712"/>
        </p:xfrm>
        <a:graphic>
          <a:graphicData uri="http://schemas.openxmlformats.org/presentationml/2006/ole">
            <mc:AlternateContent xmlns:mc="http://schemas.openxmlformats.org/markup-compatibility/2006">
              <mc:Choice xmlns:v="urn:schemas-microsoft-com:vml" Requires="v">
                <p:oleObj spid="_x0000_s8274" name="公式" r:id="rId7" imgW="219192" imgH="276142" progId="Equation.3">
                  <p:embed/>
                </p:oleObj>
              </mc:Choice>
              <mc:Fallback>
                <p:oleObj name="公式" r:id="rId7" imgW="219192" imgH="276142" progId="Equation.3">
                  <p:embed/>
                  <p:pic>
                    <p:nvPicPr>
                      <p:cNvPr id="0" name="Object 1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80363" y="1296988"/>
                        <a:ext cx="306387"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0" name="Object 18"/>
          <p:cNvGraphicFramePr>
            <a:graphicFrameLocks/>
          </p:cNvGraphicFramePr>
          <p:nvPr/>
        </p:nvGraphicFramePr>
        <p:xfrm>
          <a:off x="5983288" y="2520950"/>
          <a:ext cx="215900" cy="292100"/>
        </p:xfrm>
        <a:graphic>
          <a:graphicData uri="http://schemas.openxmlformats.org/presentationml/2006/ole">
            <mc:AlternateContent xmlns:mc="http://schemas.openxmlformats.org/markup-compatibility/2006">
              <mc:Choice xmlns:v="urn:schemas-microsoft-com:vml" Requires="v">
                <p:oleObj spid="_x0000_s8275" name="公式" r:id="rId9" imgW="123903" imgH="200021" progId="Equation.3">
                  <p:embed/>
                </p:oleObj>
              </mc:Choice>
              <mc:Fallback>
                <p:oleObj name="公式" r:id="rId9" imgW="123903" imgH="200021" progId="Equation.3">
                  <p:embed/>
                  <p:pic>
                    <p:nvPicPr>
                      <p:cNvPr id="0" name="Object 1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83288" y="2520950"/>
                        <a:ext cx="2159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1" name="Object 19"/>
          <p:cNvGraphicFramePr>
            <a:graphicFrameLocks/>
          </p:cNvGraphicFramePr>
          <p:nvPr/>
        </p:nvGraphicFramePr>
        <p:xfrm>
          <a:off x="4859338" y="814388"/>
          <a:ext cx="484187" cy="468312"/>
        </p:xfrm>
        <a:graphic>
          <a:graphicData uri="http://schemas.openxmlformats.org/presentationml/2006/ole">
            <mc:AlternateContent xmlns:mc="http://schemas.openxmlformats.org/markup-compatibility/2006">
              <mc:Choice xmlns:v="urn:schemas-microsoft-com:vml" Requires="v">
                <p:oleObj spid="_x0000_s8276" name="公式" r:id="rId11" imgW="390604" imgH="380876" progId="Equation.3">
                  <p:embed/>
                </p:oleObj>
              </mc:Choice>
              <mc:Fallback>
                <p:oleObj name="公式" r:id="rId11" imgW="390604" imgH="380876" progId="Equation.3">
                  <p:embed/>
                  <p:pic>
                    <p:nvPicPr>
                      <p:cNvPr id="0" name="Object 19"/>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59338" y="814388"/>
                        <a:ext cx="484187"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2" name="Line 20"/>
          <p:cNvSpPr>
            <a:spLocks noChangeShapeType="1"/>
          </p:cNvSpPr>
          <p:nvPr/>
        </p:nvSpPr>
        <p:spPr bwMode="auto">
          <a:xfrm flipH="1">
            <a:off x="6659563" y="1825625"/>
            <a:ext cx="1228725" cy="86360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3" name="Line 21"/>
          <p:cNvSpPr>
            <a:spLocks noChangeShapeType="1"/>
          </p:cNvSpPr>
          <p:nvPr/>
        </p:nvSpPr>
        <p:spPr bwMode="auto">
          <a:xfrm flipH="1">
            <a:off x="6429375" y="1989138"/>
            <a:ext cx="863600" cy="576262"/>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4" name="Line 22"/>
          <p:cNvSpPr>
            <a:spLocks noChangeShapeType="1"/>
          </p:cNvSpPr>
          <p:nvPr/>
        </p:nvSpPr>
        <p:spPr bwMode="auto">
          <a:xfrm flipH="1">
            <a:off x="6186488" y="2060575"/>
            <a:ext cx="617537" cy="43180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5" name="Line 23"/>
          <p:cNvSpPr>
            <a:spLocks noChangeShapeType="1"/>
          </p:cNvSpPr>
          <p:nvPr/>
        </p:nvSpPr>
        <p:spPr bwMode="auto">
          <a:xfrm flipH="1">
            <a:off x="5940425" y="2205038"/>
            <a:ext cx="287338" cy="21590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7" name="Arc 25"/>
          <p:cNvSpPr>
            <a:spLocks/>
          </p:cNvSpPr>
          <p:nvPr/>
        </p:nvSpPr>
        <p:spPr bwMode="auto">
          <a:xfrm rot="20973885" flipH="1">
            <a:off x="5262563" y="1260475"/>
            <a:ext cx="387350" cy="258763"/>
          </a:xfrm>
          <a:custGeom>
            <a:avLst/>
            <a:gdLst>
              <a:gd name="T0" fmla="*/ 2147483647 w 43200"/>
              <a:gd name="T1" fmla="*/ 0 h 38804"/>
              <a:gd name="T2" fmla="*/ 2147483647 w 43200"/>
              <a:gd name="T3" fmla="*/ 2147483647 h 38804"/>
              <a:gd name="T4" fmla="*/ 2147483647 w 43200"/>
              <a:gd name="T5" fmla="*/ 2147483647 h 38804"/>
              <a:gd name="T6" fmla="*/ 0 60000 65536"/>
              <a:gd name="T7" fmla="*/ 0 60000 65536"/>
              <a:gd name="T8" fmla="*/ 0 60000 65536"/>
            </a:gdLst>
            <a:ahLst/>
            <a:cxnLst>
              <a:cxn ang="T6">
                <a:pos x="T0" y="T1"/>
              </a:cxn>
              <a:cxn ang="T7">
                <a:pos x="T2" y="T3"/>
              </a:cxn>
              <a:cxn ang="T8">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lnTo>
                  <a:pt x="34660" y="0"/>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8458" name="Group 26"/>
          <p:cNvGrpSpPr>
            <a:grpSpLocks/>
          </p:cNvGrpSpPr>
          <p:nvPr/>
        </p:nvGrpSpPr>
        <p:grpSpPr bwMode="auto">
          <a:xfrm>
            <a:off x="4716463" y="3192463"/>
            <a:ext cx="3887787" cy="3216275"/>
            <a:chOff x="3153" y="2011"/>
            <a:chExt cx="2449" cy="2026"/>
          </a:xfrm>
        </p:grpSpPr>
        <p:sp>
          <p:nvSpPr>
            <p:cNvPr id="14364" name="Line 27"/>
            <p:cNvSpPr>
              <a:spLocks noChangeShapeType="1"/>
            </p:cNvSpPr>
            <p:nvPr/>
          </p:nvSpPr>
          <p:spPr bwMode="auto">
            <a:xfrm flipH="1">
              <a:off x="4253" y="3599"/>
              <a:ext cx="1" cy="438"/>
            </a:xfrm>
            <a:prstGeom prst="line">
              <a:avLst/>
            </a:prstGeom>
            <a:noFill/>
            <a:ln w="508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5" name="Freeform 28"/>
            <p:cNvSpPr>
              <a:spLocks/>
            </p:cNvSpPr>
            <p:nvPr/>
          </p:nvSpPr>
          <p:spPr bwMode="auto">
            <a:xfrm>
              <a:off x="3153" y="2177"/>
              <a:ext cx="2359" cy="1678"/>
            </a:xfrm>
            <a:custGeom>
              <a:avLst/>
              <a:gdLst>
                <a:gd name="T0" fmla="*/ 18851 w 1761"/>
                <a:gd name="T1" fmla="*/ 678 h 1074"/>
                <a:gd name="T2" fmla="*/ 6194 w 1761"/>
                <a:gd name="T3" fmla="*/ 8593 h 1074"/>
                <a:gd name="T4" fmla="*/ 276 w 1761"/>
                <a:gd name="T5" fmla="*/ 36075 h 1074"/>
                <a:gd name="T6" fmla="*/ 4496 w 1761"/>
                <a:gd name="T7" fmla="*/ 71518 h 1074"/>
                <a:gd name="T8" fmla="*/ 12946 w 1761"/>
                <a:gd name="T9" fmla="*/ 87192 h 1074"/>
                <a:gd name="T10" fmla="*/ 19688 w 1761"/>
                <a:gd name="T11" fmla="*/ 83278 h 1074"/>
                <a:gd name="T12" fmla="*/ 26447 w 1761"/>
                <a:gd name="T13" fmla="*/ 91085 h 1074"/>
                <a:gd name="T14" fmla="*/ 31502 w 1761"/>
                <a:gd name="T15" fmla="*/ 71518 h 1074"/>
                <a:gd name="T16" fmla="*/ 30666 w 1761"/>
                <a:gd name="T17" fmla="*/ 12493 h 1074"/>
                <a:gd name="T18" fmla="*/ 18851 w 1761"/>
                <a:gd name="T19" fmla="*/ 678 h 10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339966"/>
            </a:solidFill>
            <a:ln w="9525">
              <a:round/>
              <a:headEnd/>
              <a:tailEnd/>
            </a:ln>
            <a:effectLst/>
            <a:scene3d>
              <a:camera prst="legacyPerspectiveFront">
                <a:rot lat="18000000" lon="0" rev="0"/>
              </a:camera>
              <a:lightRig rig="legacyFlat2" dir="t"/>
            </a:scene3d>
            <a:sp3d extrusionH="430200" prstMaterial="legacyMatte">
              <a:bevelT w="13500" h="13500" prst="angle"/>
              <a:bevelB w="13500" h="13500" prst="angle"/>
              <a:extrusionClr>
                <a:srgbClr val="339966"/>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14366" name="Oval 29"/>
            <p:cNvSpPr>
              <a:spLocks noChangeArrowheads="1"/>
            </p:cNvSpPr>
            <p:nvPr/>
          </p:nvSpPr>
          <p:spPr bwMode="auto">
            <a:xfrm>
              <a:off x="4208" y="2980"/>
              <a:ext cx="90" cy="4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67" name="Object 30"/>
            <p:cNvGraphicFramePr>
              <a:graphicFrameLocks/>
            </p:cNvGraphicFramePr>
            <p:nvPr/>
          </p:nvGraphicFramePr>
          <p:xfrm>
            <a:off x="4460" y="2905"/>
            <a:ext cx="134" cy="185"/>
          </p:xfrm>
          <a:graphic>
            <a:graphicData uri="http://schemas.openxmlformats.org/presentationml/2006/ole">
              <mc:AlternateContent xmlns:mc="http://schemas.openxmlformats.org/markup-compatibility/2006">
                <mc:Choice xmlns:v="urn:schemas-microsoft-com:vml" Requires="v">
                  <p:oleObj spid="_x0000_s8277" name="公式" r:id="rId13" imgW="123903" imgH="200021" progId="Equation.3">
                    <p:embed/>
                  </p:oleObj>
                </mc:Choice>
                <mc:Fallback>
                  <p:oleObj name="公式" r:id="rId13" imgW="123903" imgH="200021" progId="Equation.3">
                    <p:embed/>
                    <p:pic>
                      <p:nvPicPr>
                        <p:cNvPr id="0" name="Object 30"/>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60" y="2905"/>
                          <a:ext cx="134"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68" name="Line 31"/>
            <p:cNvSpPr>
              <a:spLocks noChangeShapeType="1"/>
            </p:cNvSpPr>
            <p:nvPr/>
          </p:nvSpPr>
          <p:spPr bwMode="auto">
            <a:xfrm flipV="1">
              <a:off x="4707" y="2419"/>
              <a:ext cx="668" cy="815"/>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9" name="Oval 32"/>
            <p:cNvSpPr>
              <a:spLocks noChangeArrowheads="1"/>
            </p:cNvSpPr>
            <p:nvPr/>
          </p:nvSpPr>
          <p:spPr bwMode="auto">
            <a:xfrm>
              <a:off x="3483" y="2736"/>
              <a:ext cx="1542" cy="545"/>
            </a:xfrm>
            <a:prstGeom prst="ellipse">
              <a:avLst/>
            </a:prstGeom>
            <a:noFill/>
            <a:ln w="12700">
              <a:solidFill>
                <a:srgbClr val="0000CC"/>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0" name="Line 33"/>
            <p:cNvSpPr>
              <a:spLocks noChangeShapeType="1"/>
            </p:cNvSpPr>
            <p:nvPr/>
          </p:nvSpPr>
          <p:spPr bwMode="auto">
            <a:xfrm>
              <a:off x="4241" y="2328"/>
              <a:ext cx="13" cy="682"/>
            </a:xfrm>
            <a:prstGeom prst="line">
              <a:avLst/>
            </a:prstGeom>
            <a:noFill/>
            <a:ln w="50800">
              <a:solidFill>
                <a:schemeClr val="fo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1" name="Line 34"/>
            <p:cNvSpPr>
              <a:spLocks noChangeShapeType="1"/>
            </p:cNvSpPr>
            <p:nvPr/>
          </p:nvSpPr>
          <p:spPr bwMode="auto">
            <a:xfrm>
              <a:off x="5375" y="2419"/>
              <a:ext cx="12" cy="907"/>
            </a:xfrm>
            <a:prstGeom prst="line">
              <a:avLst/>
            </a:prstGeom>
            <a:noFill/>
            <a:ln w="28575">
              <a:solidFill>
                <a:schemeClr val="hlink"/>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2" name="Line 35"/>
            <p:cNvSpPr>
              <a:spLocks noChangeShapeType="1"/>
            </p:cNvSpPr>
            <p:nvPr/>
          </p:nvSpPr>
          <p:spPr bwMode="auto">
            <a:xfrm flipV="1">
              <a:off x="4707" y="2322"/>
              <a:ext cx="0" cy="884"/>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3" name="Line 36"/>
            <p:cNvSpPr>
              <a:spLocks noChangeShapeType="1"/>
            </p:cNvSpPr>
            <p:nvPr/>
          </p:nvSpPr>
          <p:spPr bwMode="auto">
            <a:xfrm>
              <a:off x="4253" y="3008"/>
              <a:ext cx="454" cy="227"/>
            </a:xfrm>
            <a:prstGeom prst="line">
              <a:avLst/>
            </a:prstGeom>
            <a:noFill/>
            <a:ln w="9525">
              <a:solidFill>
                <a:srgbClr val="66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74" name="Object 37"/>
            <p:cNvGraphicFramePr>
              <a:graphicFrameLocks/>
            </p:cNvGraphicFramePr>
            <p:nvPr/>
          </p:nvGraphicFramePr>
          <p:xfrm>
            <a:off x="5387" y="3190"/>
            <a:ext cx="215" cy="258"/>
          </p:xfrm>
          <a:graphic>
            <a:graphicData uri="http://schemas.openxmlformats.org/presentationml/2006/ole">
              <mc:AlternateContent xmlns:mc="http://schemas.openxmlformats.org/markup-compatibility/2006">
                <mc:Choice xmlns:v="urn:schemas-microsoft-com:vml" Requires="v">
                  <p:oleObj spid="_x0000_s8278" name="公式" r:id="rId15" imgW="295315" imgH="361981" progId="Equation.3">
                    <p:embed/>
                  </p:oleObj>
                </mc:Choice>
                <mc:Fallback>
                  <p:oleObj name="公式" r:id="rId15" imgW="295315" imgH="361981" progId="Equation.3">
                    <p:embed/>
                    <p:pic>
                      <p:nvPicPr>
                        <p:cNvPr id="0" name="Object 37"/>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87" y="3190"/>
                          <a:ext cx="215"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5" name="Object 38"/>
            <p:cNvGraphicFramePr>
              <a:graphicFrameLocks/>
            </p:cNvGraphicFramePr>
            <p:nvPr/>
          </p:nvGraphicFramePr>
          <p:xfrm>
            <a:off x="4650" y="2011"/>
            <a:ext cx="215" cy="265"/>
          </p:xfrm>
          <a:graphic>
            <a:graphicData uri="http://schemas.openxmlformats.org/presentationml/2006/ole">
              <mc:AlternateContent xmlns:mc="http://schemas.openxmlformats.org/markup-compatibility/2006">
                <mc:Choice xmlns:v="urn:schemas-microsoft-com:vml" Requires="v">
                  <p:oleObj spid="_x0000_s8279" name="公式" r:id="rId17" imgW="295315" imgH="380876" progId="Equation.3">
                    <p:embed/>
                  </p:oleObj>
                </mc:Choice>
                <mc:Fallback>
                  <p:oleObj name="公式" r:id="rId17" imgW="295315" imgH="380876" progId="Equation.3">
                    <p:embed/>
                    <p:pic>
                      <p:nvPicPr>
                        <p:cNvPr id="0" name="Object 38"/>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50" y="2011"/>
                          <a:ext cx="215"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6" name="Object 39"/>
            <p:cNvGraphicFramePr>
              <a:graphicFrameLocks/>
            </p:cNvGraphicFramePr>
            <p:nvPr/>
          </p:nvGraphicFramePr>
          <p:xfrm>
            <a:off x="4967" y="3417"/>
            <a:ext cx="201" cy="265"/>
          </p:xfrm>
          <a:graphic>
            <a:graphicData uri="http://schemas.openxmlformats.org/presentationml/2006/ole">
              <mc:AlternateContent xmlns:mc="http://schemas.openxmlformats.org/markup-compatibility/2006">
                <mc:Choice xmlns:v="urn:schemas-microsoft-com:vml" Requires="v">
                  <p:oleObj spid="_x0000_s8280" name="公式" r:id="rId19" imgW="266702" imgH="380876" progId="Equation.3">
                    <p:embed/>
                  </p:oleObj>
                </mc:Choice>
                <mc:Fallback>
                  <p:oleObj name="公式" r:id="rId19" imgW="266702" imgH="380876" progId="Equation.3">
                    <p:embed/>
                    <p:pic>
                      <p:nvPicPr>
                        <p:cNvPr id="0" name="Object 39"/>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67" y="3417"/>
                          <a:ext cx="201"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7" name="Object 40"/>
            <p:cNvGraphicFramePr>
              <a:graphicFrameLocks/>
            </p:cNvGraphicFramePr>
            <p:nvPr/>
          </p:nvGraphicFramePr>
          <p:xfrm>
            <a:off x="5058" y="2925"/>
            <a:ext cx="193" cy="265"/>
          </p:xfrm>
          <a:graphic>
            <a:graphicData uri="http://schemas.openxmlformats.org/presentationml/2006/ole">
              <mc:AlternateContent xmlns:mc="http://schemas.openxmlformats.org/markup-compatibility/2006">
                <mc:Choice xmlns:v="urn:schemas-microsoft-com:vml" Requires="v">
                  <p:oleObj spid="_x0000_s8281" name="公式" r:id="rId21" imgW="257254" imgH="380876" progId="Equation.3">
                    <p:embed/>
                  </p:oleObj>
                </mc:Choice>
                <mc:Fallback>
                  <p:oleObj name="公式" r:id="rId21" imgW="257254" imgH="380876" progId="Equation.3">
                    <p:embed/>
                    <p:pic>
                      <p:nvPicPr>
                        <p:cNvPr id="0" name="Object 40"/>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58" y="2925"/>
                          <a:ext cx="193"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78" name="Line 41"/>
            <p:cNvSpPr>
              <a:spLocks noChangeShapeType="1"/>
            </p:cNvSpPr>
            <p:nvPr/>
          </p:nvSpPr>
          <p:spPr bwMode="auto">
            <a:xfrm>
              <a:off x="4707" y="2327"/>
              <a:ext cx="680" cy="92"/>
            </a:xfrm>
            <a:prstGeom prst="line">
              <a:avLst/>
            </a:prstGeom>
            <a:noFill/>
            <a:ln w="28575">
              <a:solidFill>
                <a:schemeClr val="hlink"/>
              </a:solidFill>
              <a:prstDash val="sysDot"/>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9" name="Line 42"/>
            <p:cNvSpPr>
              <a:spLocks noChangeShapeType="1"/>
            </p:cNvSpPr>
            <p:nvPr/>
          </p:nvSpPr>
          <p:spPr bwMode="auto">
            <a:xfrm>
              <a:off x="5025" y="3144"/>
              <a:ext cx="272" cy="138"/>
            </a:xfrm>
            <a:prstGeom prst="line">
              <a:avLst/>
            </a:prstGeom>
            <a:noFill/>
            <a:ln w="28575" cap="rnd">
              <a:solidFill>
                <a:srgbClr val="FFCC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0" name="Line 43"/>
            <p:cNvSpPr>
              <a:spLocks noChangeShapeType="1"/>
            </p:cNvSpPr>
            <p:nvPr/>
          </p:nvSpPr>
          <p:spPr bwMode="auto">
            <a:xfrm flipV="1">
              <a:off x="5025" y="3327"/>
              <a:ext cx="317" cy="90"/>
            </a:xfrm>
            <a:prstGeom prst="line">
              <a:avLst/>
            </a:prstGeom>
            <a:noFill/>
            <a:ln w="28575" cap="rnd">
              <a:solidFill>
                <a:srgbClr val="FFCC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1" name="Line 44"/>
            <p:cNvSpPr>
              <a:spLocks noChangeShapeType="1"/>
            </p:cNvSpPr>
            <p:nvPr/>
          </p:nvSpPr>
          <p:spPr bwMode="auto">
            <a:xfrm>
              <a:off x="4707" y="3226"/>
              <a:ext cx="680" cy="92"/>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2" name="Line 45"/>
            <p:cNvSpPr>
              <a:spLocks noChangeShapeType="1"/>
            </p:cNvSpPr>
            <p:nvPr/>
          </p:nvSpPr>
          <p:spPr bwMode="auto">
            <a:xfrm>
              <a:off x="4707" y="3234"/>
              <a:ext cx="363" cy="183"/>
            </a:xfrm>
            <a:prstGeom prst="line">
              <a:avLst/>
            </a:prstGeom>
            <a:noFill/>
            <a:ln w="38100">
              <a:solidFill>
                <a:srgbClr val="FFCC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3" name="Line 46"/>
            <p:cNvSpPr>
              <a:spLocks noChangeShapeType="1"/>
            </p:cNvSpPr>
            <p:nvPr/>
          </p:nvSpPr>
          <p:spPr bwMode="auto">
            <a:xfrm flipV="1">
              <a:off x="4707" y="3144"/>
              <a:ext cx="318" cy="90"/>
            </a:xfrm>
            <a:prstGeom prst="line">
              <a:avLst/>
            </a:prstGeom>
            <a:noFill/>
            <a:ln w="38100">
              <a:solidFill>
                <a:srgbClr val="FFCC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4" name="Line 47"/>
            <p:cNvSpPr>
              <a:spLocks noChangeShapeType="1"/>
            </p:cNvSpPr>
            <p:nvPr/>
          </p:nvSpPr>
          <p:spPr bwMode="auto">
            <a:xfrm flipH="1">
              <a:off x="4151" y="3008"/>
              <a:ext cx="90" cy="136"/>
            </a:xfrm>
            <a:prstGeom prst="line">
              <a:avLst/>
            </a:prstGeom>
            <a:noFill/>
            <a:ln w="9525">
              <a:solidFill>
                <a:srgbClr val="66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5" name="Text Box 48"/>
            <p:cNvSpPr txBox="1">
              <a:spLocks noChangeArrowheads="1"/>
            </p:cNvSpPr>
            <p:nvPr/>
          </p:nvSpPr>
          <p:spPr bwMode="auto">
            <a:xfrm>
              <a:off x="3928" y="287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i="1">
                  <a:solidFill>
                    <a:srgbClr val="66FFFF"/>
                  </a:solidFill>
                  <a:latin typeface="Times New Roman" pitchFamily="18" charset="0"/>
                </a:rPr>
                <a:t>h</a:t>
              </a:r>
            </a:p>
          </p:txBody>
        </p:sp>
        <p:grpSp>
          <p:nvGrpSpPr>
            <p:cNvPr id="14386" name="Group 49"/>
            <p:cNvGrpSpPr>
              <a:grpSpLocks/>
            </p:cNvGrpSpPr>
            <p:nvPr/>
          </p:nvGrpSpPr>
          <p:grpSpPr bwMode="auto">
            <a:xfrm>
              <a:off x="4190" y="3090"/>
              <a:ext cx="45" cy="68"/>
              <a:chOff x="4014" y="2296"/>
              <a:chExt cx="45" cy="45"/>
            </a:xfrm>
          </p:grpSpPr>
          <p:sp>
            <p:nvSpPr>
              <p:cNvPr id="14395" name="Line 50"/>
              <p:cNvSpPr>
                <a:spLocks noChangeShapeType="1"/>
              </p:cNvSpPr>
              <p:nvPr/>
            </p:nvSpPr>
            <p:spPr bwMode="auto">
              <a:xfrm>
                <a:off x="4014" y="2296"/>
                <a:ext cx="45"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6" name="Line 51"/>
              <p:cNvSpPr>
                <a:spLocks noChangeShapeType="1"/>
              </p:cNvSpPr>
              <p:nvPr/>
            </p:nvSpPr>
            <p:spPr bwMode="auto">
              <a:xfrm flipH="1">
                <a:off x="4014" y="2296"/>
                <a:ext cx="45" cy="45"/>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87" name="Line 52"/>
            <p:cNvSpPr>
              <a:spLocks noChangeShapeType="1"/>
            </p:cNvSpPr>
            <p:nvPr/>
          </p:nvSpPr>
          <p:spPr bwMode="auto">
            <a:xfrm>
              <a:off x="4060" y="3143"/>
              <a:ext cx="680" cy="92"/>
            </a:xfrm>
            <a:prstGeom prst="line">
              <a:avLst/>
            </a:prstGeom>
            <a:noFill/>
            <a:ln w="28575">
              <a:solidFill>
                <a:schemeClr val="hlink"/>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8" name="Oval 53"/>
            <p:cNvSpPr>
              <a:spLocks noChangeArrowheads="1"/>
            </p:cNvSpPr>
            <p:nvPr/>
          </p:nvSpPr>
          <p:spPr bwMode="auto">
            <a:xfrm>
              <a:off x="4684" y="3205"/>
              <a:ext cx="46" cy="45"/>
            </a:xfrm>
            <a:prstGeom prst="ellipse">
              <a:avLst/>
            </a:prstGeom>
            <a:solidFill>
              <a:srgbClr val="FF7C80"/>
            </a:solidFill>
            <a:ln w="38100">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b="1">
                <a:solidFill>
                  <a:srgbClr val="FFFFFF"/>
                </a:solidFill>
                <a:latin typeface="Times New Roman" pitchFamily="18" charset="0"/>
              </a:endParaRPr>
            </a:p>
          </p:txBody>
        </p:sp>
        <p:graphicFrame>
          <p:nvGraphicFramePr>
            <p:cNvPr id="14389" name="Object 54"/>
            <p:cNvGraphicFramePr>
              <a:graphicFrameLocks/>
            </p:cNvGraphicFramePr>
            <p:nvPr/>
          </p:nvGraphicFramePr>
          <p:xfrm>
            <a:off x="5329" y="2165"/>
            <a:ext cx="172" cy="208"/>
          </p:xfrm>
          <a:graphic>
            <a:graphicData uri="http://schemas.openxmlformats.org/presentationml/2006/ole">
              <mc:AlternateContent xmlns:mc="http://schemas.openxmlformats.org/markup-compatibility/2006">
                <mc:Choice xmlns:v="urn:schemas-microsoft-com:vml" Requires="v">
                  <p:oleObj spid="_x0000_s8282" name="公式" r:id="rId23" imgW="219192" imgH="276142" progId="Equation.3">
                    <p:embed/>
                  </p:oleObj>
                </mc:Choice>
                <mc:Fallback>
                  <p:oleObj name="公式" r:id="rId23" imgW="219192" imgH="276142" progId="Equation.3">
                    <p:embed/>
                    <p:pic>
                      <p:nvPicPr>
                        <p:cNvPr id="0" name="Object 54"/>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329" y="2165"/>
                          <a:ext cx="172"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90" name="Text Box 55"/>
            <p:cNvSpPr txBox="1">
              <a:spLocks noChangeArrowheads="1"/>
            </p:cNvSpPr>
            <p:nvPr/>
          </p:nvSpPr>
          <p:spPr bwMode="auto">
            <a:xfrm>
              <a:off x="4541" y="3235"/>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i="1">
                  <a:solidFill>
                    <a:schemeClr val="bg1"/>
                  </a:solidFill>
                  <a:latin typeface="Times New Roman" pitchFamily="18" charset="0"/>
                </a:rPr>
                <a:t>A</a:t>
              </a:r>
            </a:p>
          </p:txBody>
        </p:sp>
        <p:graphicFrame>
          <p:nvGraphicFramePr>
            <p:cNvPr id="14391" name="Object 56"/>
            <p:cNvGraphicFramePr>
              <a:graphicFrameLocks/>
            </p:cNvGraphicFramePr>
            <p:nvPr/>
          </p:nvGraphicFramePr>
          <p:xfrm>
            <a:off x="4196" y="2132"/>
            <a:ext cx="127" cy="136"/>
          </p:xfrm>
          <a:graphic>
            <a:graphicData uri="http://schemas.openxmlformats.org/presentationml/2006/ole">
              <mc:AlternateContent xmlns:mc="http://schemas.openxmlformats.org/markup-compatibility/2006">
                <mc:Choice xmlns:v="urn:schemas-microsoft-com:vml" Requires="v">
                  <p:oleObj spid="_x0000_s8283" name="公式" r:id="rId25" imgW="114185" imgH="123900" progId="Equation.3">
                    <p:embed/>
                  </p:oleObj>
                </mc:Choice>
                <mc:Fallback>
                  <p:oleObj name="公式" r:id="rId25" imgW="114185" imgH="123900" progId="Equation.3">
                    <p:embed/>
                    <p:pic>
                      <p:nvPicPr>
                        <p:cNvPr id="0" name="Object 56"/>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196" y="2132"/>
                          <a:ext cx="127"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92" name="Group 57"/>
            <p:cNvGrpSpPr>
              <a:grpSpLocks/>
            </p:cNvGrpSpPr>
            <p:nvPr/>
          </p:nvGrpSpPr>
          <p:grpSpPr bwMode="auto">
            <a:xfrm>
              <a:off x="4334" y="3159"/>
              <a:ext cx="386" cy="288"/>
              <a:chOff x="4016" y="2870"/>
              <a:chExt cx="386" cy="288"/>
            </a:xfrm>
          </p:grpSpPr>
          <p:sp>
            <p:nvSpPr>
              <p:cNvPr id="14393" name="Text Box 58"/>
              <p:cNvSpPr txBox="1">
                <a:spLocks noChangeArrowheads="1"/>
              </p:cNvSpPr>
              <p:nvPr/>
            </p:nvSpPr>
            <p:spPr bwMode="auto">
              <a:xfrm>
                <a:off x="4016" y="2870"/>
                <a:ext cx="2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a:solidFill>
                      <a:srgbClr val="66FFFF"/>
                    </a:solidFill>
                    <a:latin typeface="Times New Roman" pitchFamily="18" charset="0"/>
                    <a:sym typeface="Symbol" pitchFamily="18" charset="2"/>
                  </a:rPr>
                  <a:t></a:t>
                </a:r>
              </a:p>
            </p:txBody>
          </p:sp>
          <p:sp>
            <p:nvSpPr>
              <p:cNvPr id="14394" name="Arc 59"/>
              <p:cNvSpPr>
                <a:spLocks/>
              </p:cNvSpPr>
              <p:nvPr/>
            </p:nvSpPr>
            <p:spPr bwMode="auto">
              <a:xfrm rot="7529080">
                <a:off x="4240" y="2821"/>
                <a:ext cx="100" cy="224"/>
              </a:xfrm>
              <a:custGeom>
                <a:avLst/>
                <a:gdLst>
                  <a:gd name="T0" fmla="*/ 0 w 9420"/>
                  <a:gd name="T1" fmla="*/ 0 h 21344"/>
                  <a:gd name="T2" fmla="*/ 0 w 9420"/>
                  <a:gd name="T3" fmla="*/ 0 h 21344"/>
                  <a:gd name="T4" fmla="*/ 0 w 9420"/>
                  <a:gd name="T5" fmla="*/ 0 h 21344"/>
                  <a:gd name="T6" fmla="*/ 0 60000 65536"/>
                  <a:gd name="T7" fmla="*/ 0 60000 65536"/>
                  <a:gd name="T8" fmla="*/ 0 60000 65536"/>
                </a:gdLst>
                <a:ahLst/>
                <a:cxnLst>
                  <a:cxn ang="T6">
                    <a:pos x="T0" y="T1"/>
                  </a:cxn>
                  <a:cxn ang="T7">
                    <a:pos x="T2" y="T3"/>
                  </a:cxn>
                  <a:cxn ang="T8">
                    <a:pos x="T4" y="T5"/>
                  </a:cxn>
                </a:cxnLst>
                <a:rect l="0" t="0" r="r" b="b"/>
                <a:pathLst>
                  <a:path w="9420" h="21344" fill="none" extrusionOk="0">
                    <a:moveTo>
                      <a:pt x="9419" y="19437"/>
                    </a:moveTo>
                    <a:cubicBezTo>
                      <a:pt x="7491" y="20372"/>
                      <a:pt x="5435" y="21014"/>
                      <a:pt x="3317" y="21343"/>
                    </a:cubicBezTo>
                  </a:path>
                  <a:path w="9420" h="21344" stroke="0" extrusionOk="0">
                    <a:moveTo>
                      <a:pt x="9419" y="19437"/>
                    </a:moveTo>
                    <a:cubicBezTo>
                      <a:pt x="7491" y="20372"/>
                      <a:pt x="5435" y="21014"/>
                      <a:pt x="3317" y="21343"/>
                    </a:cubicBezTo>
                    <a:lnTo>
                      <a:pt x="0" y="0"/>
                    </a:lnTo>
                    <a:lnTo>
                      <a:pt x="9419" y="19437"/>
                    </a:lnTo>
                    <a:close/>
                  </a:path>
                </a:pathLst>
              </a:cu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3" name="矩形 2"/>
          <p:cNvSpPr>
            <a:spLocks noChangeArrowheads="1"/>
          </p:cNvSpPr>
          <p:nvPr/>
        </p:nvSpPr>
        <p:spPr bwMode="auto">
          <a:xfrm>
            <a:off x="5451051" y="1389856"/>
            <a:ext cx="2313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b="1" i="1" dirty="0">
                <a:solidFill>
                  <a:srgbClr val="FFC000"/>
                </a:solidFill>
              </a:rPr>
              <a:t>α</a:t>
            </a:r>
            <a:endParaRPr lang="zh-CN" altLang="en-US" sz="2000" b="1" dirty="0"/>
          </a:p>
        </p:txBody>
      </p:sp>
      <p:sp>
        <p:nvSpPr>
          <p:cNvPr id="4" name="矩形 3"/>
          <p:cNvSpPr>
            <a:spLocks noChangeArrowheads="1"/>
          </p:cNvSpPr>
          <p:nvPr/>
        </p:nvSpPr>
        <p:spPr bwMode="auto">
          <a:xfrm>
            <a:off x="349250" y="71438"/>
            <a:ext cx="80248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b="1" dirty="0">
                <a:solidFill>
                  <a:schemeClr val="bg1"/>
                </a:solidFill>
              </a:rPr>
              <a:t>力矩并不局限于定轴转动，在一般情况下，力矩是空间矢量。力也是空间矢量。</a:t>
            </a:r>
          </a:p>
        </p:txBody>
      </p:sp>
      <p:graphicFrame>
        <p:nvGraphicFramePr>
          <p:cNvPr id="5" name="对象 4"/>
          <p:cNvGraphicFramePr>
            <a:graphicFrameLocks/>
          </p:cNvGraphicFramePr>
          <p:nvPr>
            <p:extLst>
              <p:ext uri="{D42A27DB-BD31-4B8C-83A1-F6EECF244321}">
                <p14:modId xmlns:p14="http://schemas.microsoft.com/office/powerpoint/2010/main" val="1021907069"/>
              </p:ext>
            </p:extLst>
          </p:nvPr>
        </p:nvGraphicFramePr>
        <p:xfrm>
          <a:off x="2522240" y="5664573"/>
          <a:ext cx="1658144" cy="986680"/>
        </p:xfrm>
        <a:graphic>
          <a:graphicData uri="http://schemas.openxmlformats.org/presentationml/2006/ole">
            <mc:AlternateContent xmlns:mc="http://schemas.openxmlformats.org/markup-compatibility/2006">
              <mc:Choice xmlns:v="urn:schemas-microsoft-com:vml" Requires="v">
                <p:oleObj spid="_x0000_s8284" name="Equation" r:id="rId27" imgW="965160" imgH="507960" progId="Equation.DSMT4">
                  <p:embed/>
                </p:oleObj>
              </mc:Choice>
              <mc:Fallback>
                <p:oleObj name="Equation" r:id="rId27" imgW="965160" imgH="507960" progId="Equation.DSMT4">
                  <p:embed/>
                  <p:pic>
                    <p:nvPicPr>
                      <p:cNvPr id="0" name="Object 14"/>
                      <p:cNvPicPr>
                        <a:picLocks noChangeArrowheads="1"/>
                      </p:cNvPicPr>
                      <p:nvPr/>
                    </p:nvPicPr>
                    <p:blipFill>
                      <a:blip r:embed="rId28"/>
                      <a:srcRect/>
                      <a:stretch>
                        <a:fillRect/>
                      </a:stretch>
                    </p:blipFill>
                    <p:spPr bwMode="auto">
                      <a:xfrm>
                        <a:off x="2522240" y="5664573"/>
                        <a:ext cx="1658144" cy="986680"/>
                      </a:xfrm>
                      <a:prstGeom prst="rect">
                        <a:avLst/>
                      </a:prstGeom>
                      <a:noFill/>
                      <a:ln>
                        <a:noFill/>
                      </a:ln>
                      <a:effectLst/>
                    </p:spPr>
                  </p:pic>
                </p:oleObj>
              </mc:Fallback>
            </mc:AlternateContent>
          </a:graphicData>
        </a:graphic>
      </p:graphicFrame>
      <p:sp>
        <p:nvSpPr>
          <p:cNvPr id="62" name="矩形 61"/>
          <p:cNvSpPr>
            <a:spLocks noChangeArrowheads="1"/>
          </p:cNvSpPr>
          <p:nvPr/>
        </p:nvSpPr>
        <p:spPr bwMode="auto">
          <a:xfrm>
            <a:off x="7292975" y="4771043"/>
            <a:ext cx="231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i="1" dirty="0">
                <a:solidFill>
                  <a:srgbClr val="FF0000"/>
                </a:solidFill>
              </a:rPr>
              <a:t>α</a:t>
            </a:r>
            <a:endParaRPr lang="zh-CN" altLang="en-US" sz="2400" dirty="0">
              <a:solidFill>
                <a:srgbClr val="FF0000"/>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8434"/>
                                        </p:tgtEl>
                                        <p:attrNameLst>
                                          <p:attrName>style.visibility</p:attrName>
                                        </p:attrNameLst>
                                      </p:cBhvr>
                                      <p:to>
                                        <p:strVal val="visible"/>
                                      </p:to>
                                    </p:set>
                                    <p:animEffect transition="in" filter="wipe(left)">
                                      <p:cBhvr>
                                        <p:cTn id="11" dur="500"/>
                                        <p:tgtEl>
                                          <p:spTgt spid="1843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8442"/>
                                        </p:tgtEl>
                                        <p:attrNameLst>
                                          <p:attrName>style.visibility</p:attrName>
                                        </p:attrNameLst>
                                      </p:cBhvr>
                                      <p:to>
                                        <p:strVal val="visible"/>
                                      </p:to>
                                    </p:set>
                                    <p:animEffect transition="in" filter="wipe(left)">
                                      <p:cBhvr>
                                        <p:cTn id="16" dur="500"/>
                                        <p:tgtEl>
                                          <p:spTgt spid="1844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8436"/>
                                        </p:tgtEl>
                                        <p:attrNameLst>
                                          <p:attrName>style.visibility</p:attrName>
                                        </p:attrNameLst>
                                      </p:cBhvr>
                                      <p:to>
                                        <p:strVal val="visible"/>
                                      </p:to>
                                    </p:set>
                                    <p:animEffect transition="in" filter="wipe(left)">
                                      <p:cBhvr>
                                        <p:cTn id="21" dur="500"/>
                                        <p:tgtEl>
                                          <p:spTgt spid="1843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8449"/>
                                        </p:tgtEl>
                                        <p:attrNameLst>
                                          <p:attrName>style.visibility</p:attrName>
                                        </p:attrNameLst>
                                      </p:cBhvr>
                                      <p:to>
                                        <p:strVal val="visible"/>
                                      </p:to>
                                    </p:set>
                                    <p:animEffect transition="in" filter="wipe(left)">
                                      <p:cBhvr>
                                        <p:cTn id="26" dur="500"/>
                                        <p:tgtEl>
                                          <p:spTgt spid="1844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8435"/>
                                        </p:tgtEl>
                                        <p:attrNameLst>
                                          <p:attrName>style.visibility</p:attrName>
                                        </p:attrNameLst>
                                      </p:cBhvr>
                                      <p:to>
                                        <p:strVal val="visible"/>
                                      </p:to>
                                    </p:set>
                                    <p:animEffect transition="in" filter="wipe(left)">
                                      <p:cBhvr>
                                        <p:cTn id="31" dur="500"/>
                                        <p:tgtEl>
                                          <p:spTgt spid="18435"/>
                                        </p:tgtEl>
                                      </p:cBhvr>
                                    </p:animEffect>
                                  </p:childTnLst>
                                </p:cTn>
                              </p:par>
                            </p:childTnLst>
                          </p:cTn>
                        </p:par>
                        <p:par>
                          <p:cTn id="32" fill="hold" nodeType="afterGroup">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8440"/>
                                        </p:tgtEl>
                                        <p:attrNameLst>
                                          <p:attrName>style.visibility</p:attrName>
                                        </p:attrNameLst>
                                      </p:cBhvr>
                                      <p:to>
                                        <p:strVal val="visible"/>
                                      </p:to>
                                    </p:set>
                                    <p:animEffect transition="in" filter="wipe(left)">
                                      <p:cBhvr>
                                        <p:cTn id="35" dur="500"/>
                                        <p:tgtEl>
                                          <p:spTgt spid="1844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8450"/>
                                        </p:tgtEl>
                                        <p:attrNameLst>
                                          <p:attrName>style.visibility</p:attrName>
                                        </p:attrNameLst>
                                      </p:cBhvr>
                                      <p:to>
                                        <p:strVal val="visible"/>
                                      </p:to>
                                    </p:set>
                                    <p:animEffect transition="in" filter="wipe(left)">
                                      <p:cBhvr>
                                        <p:cTn id="40" dur="500"/>
                                        <p:tgtEl>
                                          <p:spTgt spid="18450"/>
                                        </p:tgtEl>
                                      </p:cBhvr>
                                    </p:animEffect>
                                  </p:childTnLst>
                                </p:cTn>
                              </p:par>
                            </p:childTnLst>
                          </p:cTn>
                        </p:par>
                        <p:par>
                          <p:cTn id="41" fill="hold" nodeType="afterGroup">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8441"/>
                                        </p:tgtEl>
                                        <p:attrNameLst>
                                          <p:attrName>style.visibility</p:attrName>
                                        </p:attrNameLst>
                                      </p:cBhvr>
                                      <p:to>
                                        <p:strVal val="visible"/>
                                      </p:to>
                                    </p:set>
                                    <p:animEffect transition="in" filter="wipe(left)">
                                      <p:cBhvr>
                                        <p:cTn id="44" dur="500"/>
                                        <p:tgtEl>
                                          <p:spTgt spid="18441"/>
                                        </p:tgtEl>
                                      </p:cBhvr>
                                    </p:animEffect>
                                  </p:childTnLst>
                                </p:cTn>
                              </p:par>
                            </p:childTnLst>
                          </p:cTn>
                        </p:par>
                        <p:par>
                          <p:cTn id="45" fill="hold" nodeType="afterGroup">
                            <p:stCondLst>
                              <p:cond delay="1000"/>
                            </p:stCondLst>
                            <p:childTnLst>
                              <p:par>
                                <p:cTn id="46" presetID="22" presetClass="entr" presetSubtype="8" fill="hold" grpId="0" nodeType="afterEffect">
                                  <p:stCondLst>
                                    <p:cond delay="0"/>
                                  </p:stCondLst>
                                  <p:childTnLst>
                                    <p:set>
                                      <p:cBhvr>
                                        <p:cTn id="47" dur="1" fill="hold">
                                          <p:stCondLst>
                                            <p:cond delay="0"/>
                                          </p:stCondLst>
                                        </p:cTn>
                                        <p:tgtEl>
                                          <p:spTgt spid="18439"/>
                                        </p:tgtEl>
                                        <p:attrNameLst>
                                          <p:attrName>style.visibility</p:attrName>
                                        </p:attrNameLst>
                                      </p:cBhvr>
                                      <p:to>
                                        <p:strVal val="visible"/>
                                      </p:to>
                                    </p:set>
                                    <p:animEffect transition="in" filter="wipe(left)">
                                      <p:cBhvr>
                                        <p:cTn id="48" dur="500"/>
                                        <p:tgtEl>
                                          <p:spTgt spid="18439"/>
                                        </p:tgtEl>
                                      </p:cBhvr>
                                    </p:animEffect>
                                  </p:childTnLst>
                                </p:cTn>
                              </p:par>
                            </p:childTnLst>
                          </p:cTn>
                        </p:par>
                        <p:par>
                          <p:cTn id="49" fill="hold" nodeType="afterGroup">
                            <p:stCondLst>
                              <p:cond delay="1500"/>
                            </p:stCondLst>
                            <p:childTnLst>
                              <p:par>
                                <p:cTn id="50" presetID="22" presetClass="entr" presetSubtype="8" fill="hold" grpId="0" nodeType="afterEffect">
                                  <p:stCondLst>
                                    <p:cond delay="0"/>
                                  </p:stCondLst>
                                  <p:childTnLst>
                                    <p:set>
                                      <p:cBhvr>
                                        <p:cTn id="51" dur="1" fill="hold">
                                          <p:stCondLst>
                                            <p:cond delay="0"/>
                                          </p:stCondLst>
                                        </p:cTn>
                                        <p:tgtEl>
                                          <p:spTgt spid="18437"/>
                                        </p:tgtEl>
                                        <p:attrNameLst>
                                          <p:attrName>style.visibility</p:attrName>
                                        </p:attrNameLst>
                                      </p:cBhvr>
                                      <p:to>
                                        <p:strVal val="visible"/>
                                      </p:to>
                                    </p:set>
                                    <p:animEffect transition="in" filter="wipe(left)">
                                      <p:cBhvr>
                                        <p:cTn id="52" dur="500"/>
                                        <p:tgtEl>
                                          <p:spTgt spid="1843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8452"/>
                                        </p:tgtEl>
                                        <p:attrNameLst>
                                          <p:attrName>style.visibility</p:attrName>
                                        </p:attrNameLst>
                                      </p:cBhvr>
                                      <p:to>
                                        <p:strVal val="visible"/>
                                      </p:to>
                                    </p:set>
                                    <p:animEffect transition="in" filter="wipe(up)">
                                      <p:cBhvr>
                                        <p:cTn id="57" dur="500"/>
                                        <p:tgtEl>
                                          <p:spTgt spid="18452"/>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8453"/>
                                        </p:tgtEl>
                                        <p:attrNameLst>
                                          <p:attrName>style.visibility</p:attrName>
                                        </p:attrNameLst>
                                      </p:cBhvr>
                                      <p:to>
                                        <p:strVal val="visible"/>
                                      </p:to>
                                    </p:set>
                                    <p:animEffect transition="in" filter="wipe(up)">
                                      <p:cBhvr>
                                        <p:cTn id="60" dur="500"/>
                                        <p:tgtEl>
                                          <p:spTgt spid="18453"/>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18454"/>
                                        </p:tgtEl>
                                        <p:attrNameLst>
                                          <p:attrName>style.visibility</p:attrName>
                                        </p:attrNameLst>
                                      </p:cBhvr>
                                      <p:to>
                                        <p:strVal val="visible"/>
                                      </p:to>
                                    </p:set>
                                    <p:animEffect transition="in" filter="wipe(up)">
                                      <p:cBhvr>
                                        <p:cTn id="63" dur="500"/>
                                        <p:tgtEl>
                                          <p:spTgt spid="18454"/>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18455"/>
                                        </p:tgtEl>
                                        <p:attrNameLst>
                                          <p:attrName>style.visibility</p:attrName>
                                        </p:attrNameLst>
                                      </p:cBhvr>
                                      <p:to>
                                        <p:strVal val="visible"/>
                                      </p:to>
                                    </p:set>
                                    <p:animEffect transition="in" filter="wipe(up)">
                                      <p:cBhvr>
                                        <p:cTn id="66" dur="500"/>
                                        <p:tgtEl>
                                          <p:spTgt spid="18455"/>
                                        </p:tgtEl>
                                      </p:cBhvr>
                                    </p:animEffect>
                                  </p:childTnLst>
                                </p:cTn>
                              </p:par>
                              <p:par>
                                <p:cTn id="67" presetID="1" presetClass="entr" presetSubtype="0" fill="hold" grpId="0" nodeType="withEffect">
                                  <p:stCondLst>
                                    <p:cond delay="0"/>
                                  </p:stCondLst>
                                  <p:childTnLst>
                                    <p:set>
                                      <p:cBhvr>
                                        <p:cTn id="68" dur="1" fill="hold">
                                          <p:stCondLst>
                                            <p:cond delay="0"/>
                                          </p:stCondLst>
                                        </p:cTn>
                                        <p:tgtEl>
                                          <p:spTgt spid="3"/>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18438"/>
                                        </p:tgtEl>
                                        <p:attrNameLst>
                                          <p:attrName>style.visibility</p:attrName>
                                        </p:attrNameLst>
                                      </p:cBhvr>
                                      <p:to>
                                        <p:strVal val="visible"/>
                                      </p:to>
                                    </p:set>
                                    <p:animEffect transition="in" filter="wipe(down)">
                                      <p:cBhvr>
                                        <p:cTn id="73" dur="500"/>
                                        <p:tgtEl>
                                          <p:spTgt spid="18438"/>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18451"/>
                                        </p:tgtEl>
                                        <p:attrNameLst>
                                          <p:attrName>style.visibility</p:attrName>
                                        </p:attrNameLst>
                                      </p:cBhvr>
                                      <p:to>
                                        <p:strVal val="visible"/>
                                      </p:to>
                                    </p:set>
                                    <p:animEffect transition="in" filter="wipe(left)">
                                      <p:cBhvr>
                                        <p:cTn id="78" dur="500"/>
                                        <p:tgtEl>
                                          <p:spTgt spid="18451"/>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18457"/>
                                        </p:tgtEl>
                                        <p:attrNameLst>
                                          <p:attrName>style.visibility</p:attrName>
                                        </p:attrNameLst>
                                      </p:cBhvr>
                                      <p:to>
                                        <p:strVal val="visible"/>
                                      </p:to>
                                    </p:set>
                                    <p:animEffect transition="in" filter="wipe(down)">
                                      <p:cBhvr>
                                        <p:cTn id="83" dur="500"/>
                                        <p:tgtEl>
                                          <p:spTgt spid="18457"/>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18443"/>
                                        </p:tgtEl>
                                        <p:attrNameLst>
                                          <p:attrName>style.visibility</p:attrName>
                                        </p:attrNameLst>
                                      </p:cBhvr>
                                      <p:to>
                                        <p:strVal val="visible"/>
                                      </p:to>
                                    </p:set>
                                    <p:animEffect transition="in" filter="wipe(left)">
                                      <p:cBhvr>
                                        <p:cTn id="88" dur="500"/>
                                        <p:tgtEl>
                                          <p:spTgt spid="18443"/>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8444"/>
                                        </p:tgtEl>
                                        <p:attrNameLst>
                                          <p:attrName>style.visibility</p:attrName>
                                        </p:attrNameLst>
                                      </p:cBhvr>
                                      <p:to>
                                        <p:strVal val="visible"/>
                                      </p:to>
                                    </p:set>
                                    <p:animEffect transition="in" filter="wipe(left)">
                                      <p:cBhvr>
                                        <p:cTn id="93" dur="500"/>
                                        <p:tgtEl>
                                          <p:spTgt spid="18444"/>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3" presetClass="entr" presetSubtype="16" fill="hold" nodeType="clickEffect">
                                  <p:stCondLst>
                                    <p:cond delay="0"/>
                                  </p:stCondLst>
                                  <p:childTnLst>
                                    <p:set>
                                      <p:cBhvr>
                                        <p:cTn id="97" dur="1" fill="hold">
                                          <p:stCondLst>
                                            <p:cond delay="0"/>
                                          </p:stCondLst>
                                        </p:cTn>
                                        <p:tgtEl>
                                          <p:spTgt spid="18458"/>
                                        </p:tgtEl>
                                        <p:attrNameLst>
                                          <p:attrName>style.visibility</p:attrName>
                                        </p:attrNameLst>
                                      </p:cBhvr>
                                      <p:to>
                                        <p:strVal val="visible"/>
                                      </p:to>
                                    </p:set>
                                    <p:anim calcmode="lin" valueType="num">
                                      <p:cBhvr>
                                        <p:cTn id="98" dur="500" fill="hold"/>
                                        <p:tgtEl>
                                          <p:spTgt spid="18458"/>
                                        </p:tgtEl>
                                        <p:attrNameLst>
                                          <p:attrName>ppt_w</p:attrName>
                                        </p:attrNameLst>
                                      </p:cBhvr>
                                      <p:tavLst>
                                        <p:tav tm="0">
                                          <p:val>
                                            <p:fltVal val="0"/>
                                          </p:val>
                                        </p:tav>
                                        <p:tav tm="100000">
                                          <p:val>
                                            <p:strVal val="#ppt_w"/>
                                          </p:val>
                                        </p:tav>
                                      </p:tavLst>
                                    </p:anim>
                                    <p:anim calcmode="lin" valueType="num">
                                      <p:cBhvr>
                                        <p:cTn id="99" dur="500" fill="hold"/>
                                        <p:tgtEl>
                                          <p:spTgt spid="18458"/>
                                        </p:tgtEl>
                                        <p:attrNameLst>
                                          <p:attrName>ppt_h</p:attrName>
                                        </p:attrNameLst>
                                      </p:cBhvr>
                                      <p:tavLst>
                                        <p:tav tm="0">
                                          <p:val>
                                            <p:fltVal val="0"/>
                                          </p:val>
                                        </p:tav>
                                        <p:tav tm="100000">
                                          <p:val>
                                            <p:strVal val="#ppt_h"/>
                                          </p:val>
                                        </p:tav>
                                      </p:tavLst>
                                    </p:anim>
                                  </p:childTnLst>
                                </p:cTn>
                              </p:par>
                            </p:childTnLst>
                          </p:cTn>
                        </p:par>
                        <p:par>
                          <p:cTn id="100" fill="hold" nodeType="afterGroup">
                            <p:stCondLst>
                              <p:cond delay="500"/>
                            </p:stCondLst>
                            <p:childTnLst>
                              <p:par>
                                <p:cTn id="101" presetID="22" presetClass="entr" presetSubtype="8" fill="hold" nodeType="afterEffect">
                                  <p:stCondLst>
                                    <p:cond delay="0"/>
                                  </p:stCondLst>
                                  <p:childTnLst>
                                    <p:set>
                                      <p:cBhvr>
                                        <p:cTn id="102" dur="1" fill="hold">
                                          <p:stCondLst>
                                            <p:cond delay="0"/>
                                          </p:stCondLst>
                                        </p:cTn>
                                        <p:tgtEl>
                                          <p:spTgt spid="18446"/>
                                        </p:tgtEl>
                                        <p:attrNameLst>
                                          <p:attrName>style.visibility</p:attrName>
                                        </p:attrNameLst>
                                      </p:cBhvr>
                                      <p:to>
                                        <p:strVal val="visible"/>
                                      </p:to>
                                    </p:set>
                                    <p:animEffect transition="in" filter="wipe(left)">
                                      <p:cBhvr>
                                        <p:cTn id="103" dur="500"/>
                                        <p:tgtEl>
                                          <p:spTgt spid="18446"/>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8445"/>
                                        </p:tgtEl>
                                        <p:attrNameLst>
                                          <p:attrName>style.visibility</p:attrName>
                                        </p:attrNameLst>
                                      </p:cBhvr>
                                      <p:to>
                                        <p:strVal val="visible"/>
                                      </p:to>
                                    </p:set>
                                    <p:animEffect transition="in" filter="wipe(left)">
                                      <p:cBhvr>
                                        <p:cTn id="108" dur="500"/>
                                        <p:tgtEl>
                                          <p:spTgt spid="18445"/>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18447"/>
                                        </p:tgtEl>
                                        <p:attrNameLst>
                                          <p:attrName>style.visibility</p:attrName>
                                        </p:attrNameLst>
                                      </p:cBhvr>
                                      <p:to>
                                        <p:strVal val="visible"/>
                                      </p:to>
                                    </p:set>
                                    <p:animEffect transition="in" filter="wipe(left)">
                                      <p:cBhvr>
                                        <p:cTn id="113" dur="500"/>
                                        <p:tgtEl>
                                          <p:spTgt spid="18447"/>
                                        </p:tgtEl>
                                      </p:cBhvr>
                                    </p:animEffect>
                                  </p:childTnLst>
                                </p:cTn>
                              </p:par>
                            </p:childTnLst>
                          </p:cTn>
                        </p:par>
                        <p:par>
                          <p:cTn id="114" fill="hold">
                            <p:stCondLst>
                              <p:cond delay="500"/>
                            </p:stCondLst>
                            <p:childTnLst>
                              <p:par>
                                <p:cTn id="115" presetID="22" presetClass="entr" presetSubtype="8" fill="hold" nodeType="afterEffect">
                                  <p:stCondLst>
                                    <p:cond delay="0"/>
                                  </p:stCondLst>
                                  <p:childTnLst>
                                    <p:set>
                                      <p:cBhvr>
                                        <p:cTn id="116" dur="1" fill="hold">
                                          <p:stCondLst>
                                            <p:cond delay="0"/>
                                          </p:stCondLst>
                                        </p:cTn>
                                        <p:tgtEl>
                                          <p:spTgt spid="5"/>
                                        </p:tgtEl>
                                        <p:attrNameLst>
                                          <p:attrName>style.visibility</p:attrName>
                                        </p:attrNameLst>
                                      </p:cBhvr>
                                      <p:to>
                                        <p:strVal val="visible"/>
                                      </p:to>
                                    </p:set>
                                    <p:animEffect transition="in" filter="wipe(left)">
                                      <p:cBhvr>
                                        <p:cTn id="117" dur="500"/>
                                        <p:tgtEl>
                                          <p:spTgt spid="5"/>
                                        </p:tgtEl>
                                      </p:cBhvr>
                                    </p:animEffect>
                                  </p:childTnLst>
                                </p:cTn>
                              </p:par>
                              <p:par>
                                <p:cTn id="118" presetID="1" presetClass="entr" presetSubtype="0" fill="hold" grpId="0" nodeType="withEffect">
                                  <p:stCondLst>
                                    <p:cond delay="0"/>
                                  </p:stCondLst>
                                  <p:childTnLst>
                                    <p:set>
                                      <p:cBhvr>
                                        <p:cTn id="119"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5" grpId="0" animBg="1"/>
      <p:bldP spid="18436" grpId="0" animBg="1"/>
      <p:bldP spid="18437" grpId="0" animBg="1"/>
      <p:bldP spid="18438" grpId="0" animBg="1"/>
      <p:bldP spid="18439" grpId="0" animBg="1"/>
      <p:bldP spid="18440" grpId="0" animBg="1"/>
      <p:bldP spid="18441" grpId="0" animBg="1"/>
      <p:bldP spid="18442" grpId="0" autoUpdateAnimBg="0"/>
      <p:bldP spid="18444" grpId="0" autoUpdateAnimBg="0"/>
      <p:bldP spid="18445" grpId="0" autoUpdateAnimBg="0"/>
      <p:bldP spid="18447" grpId="0" autoUpdateAnimBg="0"/>
      <p:bldP spid="18452" grpId="0" animBg="1"/>
      <p:bldP spid="18453" grpId="0" animBg="1"/>
      <p:bldP spid="18454" grpId="0" animBg="1"/>
      <p:bldP spid="18455" grpId="0" animBg="1"/>
      <p:bldP spid="18457" grpId="0" animBg="1"/>
      <p:bldP spid="3" grpId="0"/>
      <p:bldP spid="6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4498" y="67747"/>
            <a:ext cx="5655715" cy="461665"/>
          </a:xfrm>
          <a:prstGeom prst="rect">
            <a:avLst/>
          </a:prstGeom>
        </p:spPr>
        <p:txBody>
          <a:bodyPr wrap="none">
            <a:spAutoFit/>
          </a:bodyPr>
          <a:lstStyle/>
          <a:p>
            <a:r>
              <a:rPr lang="en-US" altLang="zh-CN" sz="2400" b="1" dirty="0">
                <a:solidFill>
                  <a:schemeClr val="bg1"/>
                </a:solidFill>
              </a:rPr>
              <a:t>1. </a:t>
            </a:r>
            <a:r>
              <a:rPr lang="zh-CN" altLang="en-US" sz="2400" b="1" dirty="0">
                <a:solidFill>
                  <a:schemeClr val="bg1"/>
                </a:solidFill>
              </a:rPr>
              <a:t>力矩求和只能对同一参考点</a:t>
            </a:r>
            <a:r>
              <a:rPr lang="en-US" altLang="zh-CN" sz="2400" b="1" dirty="0">
                <a:solidFill>
                  <a:schemeClr val="bg1"/>
                </a:solidFill>
              </a:rPr>
              <a:t>(</a:t>
            </a:r>
            <a:r>
              <a:rPr lang="zh-CN" altLang="en-US" sz="2400" b="1" dirty="0">
                <a:solidFill>
                  <a:schemeClr val="bg1"/>
                </a:solidFill>
              </a:rPr>
              <a:t>或轴</a:t>
            </a:r>
            <a:r>
              <a:rPr lang="en-US" altLang="zh-CN" sz="2400" b="1" dirty="0">
                <a:solidFill>
                  <a:schemeClr val="bg1"/>
                </a:solidFill>
              </a:rPr>
              <a:t>)</a:t>
            </a:r>
            <a:r>
              <a:rPr lang="zh-CN" altLang="en-US" sz="2400" b="1" dirty="0">
                <a:solidFill>
                  <a:schemeClr val="bg1"/>
                </a:solidFill>
              </a:rPr>
              <a:t>进行</a:t>
            </a:r>
          </a:p>
        </p:txBody>
      </p:sp>
      <p:pic>
        <p:nvPicPr>
          <p:cNvPr id="655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643811"/>
            <a:ext cx="4430229" cy="1068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53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2348880"/>
            <a:ext cx="8156064" cy="19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222919" y="1853138"/>
            <a:ext cx="7675499" cy="461665"/>
          </a:xfrm>
          <a:prstGeom prst="rect">
            <a:avLst/>
          </a:prstGeom>
          <a:noFill/>
        </p:spPr>
        <p:txBody>
          <a:bodyPr wrap="none" rtlCol="0">
            <a:spAutoFit/>
          </a:bodyPr>
          <a:lstStyle/>
          <a:p>
            <a:r>
              <a:rPr lang="en-US" altLang="zh-CN" sz="2400" b="1" dirty="0">
                <a:solidFill>
                  <a:schemeClr val="bg1"/>
                </a:solidFill>
              </a:rPr>
              <a:t>2.</a:t>
            </a:r>
            <a:r>
              <a:rPr lang="zh-CN" altLang="en-US" sz="2400" b="1" dirty="0">
                <a:solidFill>
                  <a:schemeClr val="bg1"/>
                </a:solidFill>
              </a:rPr>
              <a:t>一个刚体所受合外力为</a:t>
            </a:r>
            <a:r>
              <a:rPr lang="en-US" altLang="zh-CN" sz="2400" b="1" dirty="0">
                <a:solidFill>
                  <a:schemeClr val="bg1"/>
                </a:solidFill>
              </a:rPr>
              <a:t>0</a:t>
            </a:r>
            <a:r>
              <a:rPr lang="zh-CN" altLang="en-US" sz="2400" b="1" dirty="0">
                <a:solidFill>
                  <a:schemeClr val="bg1"/>
                </a:solidFill>
              </a:rPr>
              <a:t>与所受合力矩为</a:t>
            </a:r>
            <a:r>
              <a:rPr lang="en-US" altLang="zh-CN" sz="2400" b="1" dirty="0">
                <a:solidFill>
                  <a:schemeClr val="bg1"/>
                </a:solidFill>
              </a:rPr>
              <a:t>0</a:t>
            </a:r>
            <a:r>
              <a:rPr lang="zh-CN" altLang="en-US" sz="2400" b="1" dirty="0">
                <a:solidFill>
                  <a:schemeClr val="bg1"/>
                </a:solidFill>
              </a:rPr>
              <a:t>是不等价的</a:t>
            </a:r>
            <a:r>
              <a:rPr lang="en-US" altLang="zh-CN" sz="2400" b="1" dirty="0">
                <a:solidFill>
                  <a:schemeClr val="bg1"/>
                </a:solidFill>
              </a:rPr>
              <a:t> </a:t>
            </a:r>
            <a:endParaRPr lang="zh-CN" altLang="en-US" sz="2400" b="1" dirty="0">
              <a:solidFill>
                <a:schemeClr val="bg1"/>
              </a:solidFill>
            </a:endParaRPr>
          </a:p>
        </p:txBody>
      </p:sp>
      <p:sp>
        <p:nvSpPr>
          <p:cNvPr id="4" name="矩形 3"/>
          <p:cNvSpPr/>
          <p:nvPr/>
        </p:nvSpPr>
        <p:spPr>
          <a:xfrm>
            <a:off x="323528" y="4488997"/>
            <a:ext cx="3172663" cy="461665"/>
          </a:xfrm>
          <a:prstGeom prst="rect">
            <a:avLst/>
          </a:prstGeom>
        </p:spPr>
        <p:txBody>
          <a:bodyPr wrap="none">
            <a:spAutoFit/>
          </a:bodyPr>
          <a:lstStyle/>
          <a:p>
            <a:r>
              <a:rPr lang="en-US" altLang="zh-CN" sz="2400" b="1" dirty="0">
                <a:solidFill>
                  <a:schemeClr val="bg1"/>
                </a:solidFill>
              </a:rPr>
              <a:t>3. </a:t>
            </a:r>
            <a:r>
              <a:rPr lang="zh-CN" altLang="en-US" sz="2400" b="1" dirty="0">
                <a:solidFill>
                  <a:schemeClr val="bg1"/>
                </a:solidFill>
              </a:rPr>
              <a:t>刚体的合内力矩为</a:t>
            </a:r>
            <a:r>
              <a:rPr lang="en-US" altLang="zh-CN" sz="2400" b="1" dirty="0">
                <a:solidFill>
                  <a:schemeClr val="bg1"/>
                </a:solidFill>
              </a:rPr>
              <a:t>0</a:t>
            </a:r>
            <a:endParaRPr lang="zh-CN" altLang="en-US" sz="2400" b="1" dirty="0">
              <a:solidFill>
                <a:schemeClr val="bg1"/>
              </a:solidFill>
            </a:endParaRPr>
          </a:p>
        </p:txBody>
      </p:sp>
      <p:pic>
        <p:nvPicPr>
          <p:cNvPr id="6554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1920" y="4482304"/>
            <a:ext cx="4464496" cy="2138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对象 5"/>
          <p:cNvGraphicFramePr>
            <a:graphicFrameLocks noChangeAspect="1"/>
          </p:cNvGraphicFramePr>
          <p:nvPr>
            <p:extLst>
              <p:ext uri="{D42A27DB-BD31-4B8C-83A1-F6EECF244321}">
                <p14:modId xmlns:p14="http://schemas.microsoft.com/office/powerpoint/2010/main" val="1307068541"/>
              </p:ext>
            </p:extLst>
          </p:nvPr>
        </p:nvGraphicFramePr>
        <p:xfrm>
          <a:off x="1108274" y="5157193"/>
          <a:ext cx="1864081" cy="1008112"/>
        </p:xfrm>
        <a:graphic>
          <a:graphicData uri="http://schemas.openxmlformats.org/presentationml/2006/ole">
            <mc:AlternateContent xmlns:mc="http://schemas.openxmlformats.org/markup-compatibility/2006">
              <mc:Choice xmlns:v="urn:schemas-microsoft-com:vml" Requires="v">
                <p:oleObj spid="_x0000_s9224" name="Equation" r:id="rId6" imgW="647640" imgH="355320" progId="Equation.DSMT4">
                  <p:embed/>
                </p:oleObj>
              </mc:Choice>
              <mc:Fallback>
                <p:oleObj name="Equation" r:id="rId6" imgW="647640" imgH="355320" progId="Equation.DSMT4">
                  <p:embed/>
                  <p:pic>
                    <p:nvPicPr>
                      <p:cNvPr id="0" name=""/>
                      <p:cNvPicPr/>
                      <p:nvPr/>
                    </p:nvPicPr>
                    <p:blipFill>
                      <a:blip r:embed="rId7"/>
                      <a:stretch>
                        <a:fillRect/>
                      </a:stretch>
                    </p:blipFill>
                    <p:spPr>
                      <a:xfrm>
                        <a:off x="1108274" y="5157193"/>
                        <a:ext cx="1864081" cy="1008112"/>
                      </a:xfrm>
                      <a:prstGeom prst="rect">
                        <a:avLst/>
                      </a:prstGeom>
                    </p:spPr>
                  </p:pic>
                </p:oleObj>
              </mc:Fallback>
            </mc:AlternateContent>
          </a:graphicData>
        </a:graphic>
      </p:graphicFrame>
    </p:spTree>
    <p:extLst>
      <p:ext uri="{BB962C8B-B14F-4D97-AF65-F5344CB8AC3E}">
        <p14:creationId xmlns:p14="http://schemas.microsoft.com/office/powerpoint/2010/main" val="3674355814"/>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55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54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Group 2"/>
          <p:cNvGrpSpPr>
            <a:grpSpLocks/>
          </p:cNvGrpSpPr>
          <p:nvPr/>
        </p:nvGrpSpPr>
        <p:grpSpPr bwMode="auto">
          <a:xfrm>
            <a:off x="5478463" y="742950"/>
            <a:ext cx="3352800" cy="2214563"/>
            <a:chOff x="3451" y="468"/>
            <a:chExt cx="2112" cy="1395"/>
          </a:xfrm>
        </p:grpSpPr>
        <p:grpSp>
          <p:nvGrpSpPr>
            <p:cNvPr id="15403" name="Group 3"/>
            <p:cNvGrpSpPr>
              <a:grpSpLocks/>
            </p:cNvGrpSpPr>
            <p:nvPr/>
          </p:nvGrpSpPr>
          <p:grpSpPr bwMode="auto">
            <a:xfrm>
              <a:off x="3451" y="596"/>
              <a:ext cx="2112" cy="1267"/>
              <a:chOff x="3451" y="596"/>
              <a:chExt cx="2112" cy="1267"/>
            </a:xfrm>
          </p:grpSpPr>
          <p:sp>
            <p:nvSpPr>
              <p:cNvPr id="15405" name="Text Box 4"/>
              <p:cNvSpPr txBox="1">
                <a:spLocks noChangeArrowheads="1"/>
              </p:cNvSpPr>
              <p:nvPr/>
            </p:nvSpPr>
            <p:spPr bwMode="auto">
              <a:xfrm>
                <a:off x="5275" y="1239"/>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800" i="1">
                    <a:solidFill>
                      <a:srgbClr val="FFFF00"/>
                    </a:solidFill>
                    <a:latin typeface="Times New Roman" pitchFamily="18" charset="0"/>
                  </a:rPr>
                  <a:t>x</a:t>
                </a:r>
                <a:endParaRPr lang="en-US" altLang="zh-CN" sz="2400" i="1">
                  <a:solidFill>
                    <a:schemeClr val="accent2"/>
                  </a:solidFill>
                  <a:latin typeface="Times New Roman" pitchFamily="18" charset="0"/>
                </a:endParaRPr>
              </a:p>
            </p:txBody>
          </p:sp>
          <p:sp>
            <p:nvSpPr>
              <p:cNvPr id="15406" name="Line 5"/>
              <p:cNvSpPr>
                <a:spLocks noChangeShapeType="1"/>
              </p:cNvSpPr>
              <p:nvPr/>
            </p:nvSpPr>
            <p:spPr bwMode="auto">
              <a:xfrm>
                <a:off x="3787" y="615"/>
                <a:ext cx="0" cy="1248"/>
              </a:xfrm>
              <a:prstGeom prst="line">
                <a:avLst/>
              </a:prstGeom>
              <a:noFill/>
              <a:ln w="28575">
                <a:solidFill>
                  <a:schemeClr val="bg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7" name="Rectangle 6"/>
              <p:cNvSpPr>
                <a:spLocks noChangeArrowheads="1"/>
              </p:cNvSpPr>
              <p:nvPr/>
            </p:nvSpPr>
            <p:spPr bwMode="auto">
              <a:xfrm>
                <a:off x="3787" y="1335"/>
                <a:ext cx="1440" cy="9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8" name="Text Box 7"/>
              <p:cNvSpPr txBox="1">
                <a:spLocks noChangeArrowheads="1"/>
              </p:cNvSpPr>
              <p:nvPr/>
            </p:nvSpPr>
            <p:spPr bwMode="auto">
              <a:xfrm>
                <a:off x="4411" y="999"/>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chemeClr val="accent1"/>
                    </a:solidFill>
                    <a:latin typeface="Times New Roman" pitchFamily="18" charset="0"/>
                  </a:rPr>
                  <a:t>L</a:t>
                </a:r>
                <a:endParaRPr lang="en-US" altLang="zh-CN" sz="2400" i="1">
                  <a:solidFill>
                    <a:schemeClr val="accent2"/>
                  </a:solidFill>
                  <a:latin typeface="Times New Roman" pitchFamily="18" charset="0"/>
                </a:endParaRPr>
              </a:p>
            </p:txBody>
          </p:sp>
          <p:sp>
            <p:nvSpPr>
              <p:cNvPr id="15409" name="Text Box 8"/>
              <p:cNvSpPr txBox="1">
                <a:spLocks noChangeArrowheads="1"/>
              </p:cNvSpPr>
              <p:nvPr/>
            </p:nvSpPr>
            <p:spPr bwMode="auto">
              <a:xfrm>
                <a:off x="3748" y="59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800" i="1">
                    <a:solidFill>
                      <a:srgbClr val="FFFF00"/>
                    </a:solidFill>
                    <a:latin typeface="Times New Roman" pitchFamily="18" charset="0"/>
                    <a:sym typeface="Symbol" pitchFamily="18" charset="2"/>
                  </a:rPr>
                  <a:t></a:t>
                </a:r>
                <a:endParaRPr lang="en-US" altLang="zh-CN" sz="2800" i="1">
                  <a:solidFill>
                    <a:srgbClr val="FFFF00"/>
                  </a:solidFill>
                  <a:latin typeface="Times New Roman" pitchFamily="18" charset="0"/>
                </a:endParaRPr>
              </a:p>
            </p:txBody>
          </p:sp>
          <p:sp>
            <p:nvSpPr>
              <p:cNvPr id="15410" name="Text Box 9"/>
              <p:cNvSpPr txBox="1">
                <a:spLocks noChangeArrowheads="1"/>
              </p:cNvSpPr>
              <p:nvPr/>
            </p:nvSpPr>
            <p:spPr bwMode="auto">
              <a:xfrm>
                <a:off x="3451" y="1335"/>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800" i="1">
                    <a:solidFill>
                      <a:srgbClr val="FFFF00"/>
                    </a:solidFill>
                    <a:latin typeface="Times New Roman" pitchFamily="18" charset="0"/>
                  </a:rPr>
                  <a:t>O</a:t>
                </a:r>
                <a:endParaRPr lang="en-US" altLang="zh-CN" sz="2800" i="1">
                  <a:solidFill>
                    <a:schemeClr val="accent2"/>
                  </a:solidFill>
                  <a:latin typeface="Times New Roman" pitchFamily="18" charset="0"/>
                </a:endParaRPr>
              </a:p>
            </p:txBody>
          </p:sp>
          <p:sp>
            <p:nvSpPr>
              <p:cNvPr id="15411" name="Line 10"/>
              <p:cNvSpPr>
                <a:spLocks noChangeShapeType="1"/>
              </p:cNvSpPr>
              <p:nvPr/>
            </p:nvSpPr>
            <p:spPr bwMode="auto">
              <a:xfrm>
                <a:off x="3787" y="1527"/>
                <a:ext cx="1728"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2" name="Text Box 11"/>
              <p:cNvSpPr txBox="1">
                <a:spLocks noChangeArrowheads="1"/>
              </p:cNvSpPr>
              <p:nvPr/>
            </p:nvSpPr>
            <p:spPr bwMode="auto">
              <a:xfrm>
                <a:off x="4075" y="999"/>
                <a:ext cx="3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chemeClr val="accent1"/>
                    </a:solidFill>
                    <a:latin typeface="Times New Roman" pitchFamily="18" charset="0"/>
                  </a:rPr>
                  <a:t>M</a:t>
                </a:r>
                <a:endParaRPr lang="en-US" altLang="zh-CN" sz="2400" i="1">
                  <a:solidFill>
                    <a:schemeClr val="accent2"/>
                  </a:solidFill>
                  <a:latin typeface="Times New Roman" pitchFamily="18" charset="0"/>
                </a:endParaRPr>
              </a:p>
            </p:txBody>
          </p:sp>
          <p:sp>
            <p:nvSpPr>
              <p:cNvPr id="15413" name="Arc 12"/>
              <p:cNvSpPr>
                <a:spLocks/>
              </p:cNvSpPr>
              <p:nvPr/>
            </p:nvSpPr>
            <p:spPr bwMode="auto">
              <a:xfrm rot="107392" flipH="1">
                <a:off x="3658" y="979"/>
                <a:ext cx="256" cy="122"/>
              </a:xfrm>
              <a:custGeom>
                <a:avLst/>
                <a:gdLst>
                  <a:gd name="T0" fmla="*/ 0 w 43200"/>
                  <a:gd name="T1" fmla="*/ 0 h 38804"/>
                  <a:gd name="T2" fmla="*/ 0 w 43200"/>
                  <a:gd name="T3" fmla="*/ 0 h 38804"/>
                  <a:gd name="T4" fmla="*/ 0 w 43200"/>
                  <a:gd name="T5" fmla="*/ 0 h 38804"/>
                  <a:gd name="T6" fmla="*/ 0 60000 65536"/>
                  <a:gd name="T7" fmla="*/ 0 60000 65536"/>
                  <a:gd name="T8" fmla="*/ 0 60000 65536"/>
                </a:gdLst>
                <a:ahLst/>
                <a:cxnLst>
                  <a:cxn ang="T6">
                    <a:pos x="T0" y="T1"/>
                  </a:cxn>
                  <a:cxn ang="T7">
                    <a:pos x="T2" y="T3"/>
                  </a:cxn>
                  <a:cxn ang="T8">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lnTo>
                      <a:pt x="34660" y="0"/>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404" name="Text Box 13"/>
            <p:cNvSpPr txBox="1">
              <a:spLocks noChangeArrowheads="1"/>
            </p:cNvSpPr>
            <p:nvPr/>
          </p:nvSpPr>
          <p:spPr bwMode="auto">
            <a:xfrm>
              <a:off x="3574" y="46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800" i="1">
                  <a:solidFill>
                    <a:srgbClr val="FFFF00"/>
                  </a:solidFill>
                  <a:latin typeface="Times New Roman" pitchFamily="18" charset="0"/>
                </a:rPr>
                <a:t>y</a:t>
              </a:r>
              <a:endParaRPr lang="en-US" altLang="zh-CN" sz="2400" i="1">
                <a:solidFill>
                  <a:schemeClr val="accent2"/>
                </a:solidFill>
                <a:latin typeface="Times New Roman" pitchFamily="18" charset="0"/>
              </a:endParaRPr>
            </a:p>
          </p:txBody>
        </p:sp>
      </p:grpSp>
      <p:sp>
        <p:nvSpPr>
          <p:cNvPr id="19470" name="Text Box 14"/>
          <p:cNvSpPr txBox="1">
            <a:spLocks noChangeArrowheads="1"/>
          </p:cNvSpPr>
          <p:nvPr/>
        </p:nvSpPr>
        <p:spPr bwMode="auto">
          <a:xfrm>
            <a:off x="250825" y="363538"/>
            <a:ext cx="492125" cy="457200"/>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400" b="1">
                <a:solidFill>
                  <a:srgbClr val="FFFF00"/>
                </a:solidFill>
                <a:latin typeface="宋体" pitchFamily="2" charset="-122"/>
              </a:rPr>
              <a:t>例</a:t>
            </a:r>
            <a:endParaRPr lang="zh-CN" altLang="en-US" sz="2400">
              <a:solidFill>
                <a:srgbClr val="00FF00"/>
              </a:solidFill>
              <a:latin typeface="Times New Roman" pitchFamily="18" charset="0"/>
            </a:endParaRPr>
          </a:p>
        </p:txBody>
      </p:sp>
      <p:sp>
        <p:nvSpPr>
          <p:cNvPr id="19471" name="Text Box 15"/>
          <p:cNvSpPr txBox="1">
            <a:spLocks noChangeArrowheads="1"/>
          </p:cNvSpPr>
          <p:nvPr/>
        </p:nvSpPr>
        <p:spPr bwMode="auto">
          <a:xfrm>
            <a:off x="684213" y="298450"/>
            <a:ext cx="8459787" cy="549275"/>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defTabSz="249238" eaLnBrk="0" hangingPunct="0">
              <a:defRPr>
                <a:solidFill>
                  <a:schemeClr val="tx1"/>
                </a:solidFill>
                <a:latin typeface="Arial" charset="0"/>
                <a:ea typeface="宋体" pitchFamily="2" charset="-122"/>
              </a:defRPr>
            </a:lvl1pPr>
            <a:lvl2pPr marL="742950" indent="-285750" defTabSz="249238" eaLnBrk="0" hangingPunct="0">
              <a:defRPr>
                <a:solidFill>
                  <a:schemeClr val="tx1"/>
                </a:solidFill>
                <a:latin typeface="Arial" charset="0"/>
                <a:ea typeface="宋体" pitchFamily="2" charset="-122"/>
              </a:defRPr>
            </a:lvl2pPr>
            <a:lvl3pPr marL="1143000" indent="-228600" defTabSz="249238" eaLnBrk="0" hangingPunct="0">
              <a:defRPr>
                <a:solidFill>
                  <a:schemeClr val="tx1"/>
                </a:solidFill>
                <a:latin typeface="Arial" charset="0"/>
                <a:ea typeface="宋体" pitchFamily="2" charset="-122"/>
              </a:defRPr>
            </a:lvl3pPr>
            <a:lvl4pPr marL="1600200" indent="-228600" defTabSz="249238" eaLnBrk="0" hangingPunct="0">
              <a:defRPr>
                <a:solidFill>
                  <a:schemeClr val="tx1"/>
                </a:solidFill>
                <a:latin typeface="Arial" charset="0"/>
                <a:ea typeface="宋体" pitchFamily="2" charset="-122"/>
              </a:defRPr>
            </a:lvl4pPr>
            <a:lvl5pPr marL="2057400" indent="-228600" defTabSz="249238" eaLnBrk="0" hangingPunct="0">
              <a:defRPr>
                <a:solidFill>
                  <a:schemeClr val="tx1"/>
                </a:solidFill>
                <a:latin typeface="Arial" charset="0"/>
                <a:ea typeface="宋体" pitchFamily="2" charset="-122"/>
              </a:defRPr>
            </a:lvl5pPr>
            <a:lvl6pPr marL="2514600" indent="-228600" defTabSz="249238" eaLnBrk="0" fontAlgn="base" hangingPunct="0">
              <a:spcBef>
                <a:spcPct val="0"/>
              </a:spcBef>
              <a:spcAft>
                <a:spcPct val="0"/>
              </a:spcAft>
              <a:defRPr>
                <a:solidFill>
                  <a:schemeClr val="tx1"/>
                </a:solidFill>
                <a:latin typeface="Arial" charset="0"/>
                <a:ea typeface="宋体" pitchFamily="2" charset="-122"/>
              </a:defRPr>
            </a:lvl6pPr>
            <a:lvl7pPr marL="2971800" indent="-228600" defTabSz="249238" eaLnBrk="0" fontAlgn="base" hangingPunct="0">
              <a:spcBef>
                <a:spcPct val="0"/>
              </a:spcBef>
              <a:spcAft>
                <a:spcPct val="0"/>
              </a:spcAft>
              <a:defRPr>
                <a:solidFill>
                  <a:schemeClr val="tx1"/>
                </a:solidFill>
                <a:latin typeface="Arial" charset="0"/>
                <a:ea typeface="宋体" pitchFamily="2" charset="-122"/>
              </a:defRPr>
            </a:lvl7pPr>
            <a:lvl8pPr marL="3429000" indent="-228600" defTabSz="249238" eaLnBrk="0" fontAlgn="base" hangingPunct="0">
              <a:spcBef>
                <a:spcPct val="0"/>
              </a:spcBef>
              <a:spcAft>
                <a:spcPct val="0"/>
              </a:spcAft>
              <a:defRPr>
                <a:solidFill>
                  <a:schemeClr val="tx1"/>
                </a:solidFill>
                <a:latin typeface="Arial" charset="0"/>
                <a:ea typeface="宋体" pitchFamily="2" charset="-122"/>
              </a:defRPr>
            </a:lvl8pPr>
            <a:lvl9pPr marL="3886200" indent="-228600" defTabSz="249238"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zh-CN" altLang="en-US" sz="2400" b="1">
                <a:solidFill>
                  <a:schemeClr val="bg1"/>
                </a:solidFill>
                <a:latin typeface="Times New Roman" pitchFamily="18" charset="0"/>
              </a:rPr>
              <a:t>已知棒长 </a:t>
            </a:r>
            <a:r>
              <a:rPr lang="en-US" altLang="zh-CN" sz="2400" b="1" i="1">
                <a:solidFill>
                  <a:srgbClr val="66FFFF"/>
                </a:solidFill>
                <a:latin typeface="Times New Roman" pitchFamily="18" charset="0"/>
              </a:rPr>
              <a:t>L</a:t>
            </a:r>
            <a:r>
              <a:rPr lang="en-US" altLang="zh-CN" sz="2400" b="1">
                <a:solidFill>
                  <a:schemeClr val="bg1"/>
                </a:solidFill>
                <a:latin typeface="Times New Roman" pitchFamily="18" charset="0"/>
              </a:rPr>
              <a:t> ,</a:t>
            </a:r>
            <a:r>
              <a:rPr lang="zh-CN" altLang="en-US" sz="2400" b="1">
                <a:solidFill>
                  <a:schemeClr val="bg1"/>
                </a:solidFill>
                <a:latin typeface="Times New Roman" pitchFamily="18" charset="0"/>
              </a:rPr>
              <a:t>质量 </a:t>
            </a:r>
            <a:r>
              <a:rPr lang="en-US" altLang="zh-CN" sz="2400" b="1" i="1">
                <a:solidFill>
                  <a:srgbClr val="66FFFF"/>
                </a:solidFill>
                <a:latin typeface="Times New Roman" pitchFamily="18" charset="0"/>
              </a:rPr>
              <a:t>M</a:t>
            </a:r>
            <a:r>
              <a:rPr lang="en-US" altLang="zh-CN" sz="2400" b="1">
                <a:solidFill>
                  <a:schemeClr val="bg1"/>
                </a:solidFill>
                <a:latin typeface="Times New Roman" pitchFamily="18" charset="0"/>
              </a:rPr>
              <a:t> </a:t>
            </a:r>
            <a:r>
              <a:rPr lang="zh-CN" altLang="en-US" sz="2400" b="1">
                <a:solidFill>
                  <a:schemeClr val="bg1"/>
                </a:solidFill>
                <a:latin typeface="Times New Roman" pitchFamily="18" charset="0"/>
              </a:rPr>
              <a:t>，在摩擦系数为</a:t>
            </a:r>
            <a:r>
              <a:rPr lang="zh-CN" altLang="en-US" sz="2400" b="1">
                <a:solidFill>
                  <a:srgbClr val="66FFFF"/>
                </a:solidFill>
                <a:latin typeface="Times New Roman" pitchFamily="18" charset="0"/>
              </a:rPr>
              <a:t>  </a:t>
            </a:r>
            <a:r>
              <a:rPr lang="zh-CN" altLang="en-US" sz="2400" b="1" i="1">
                <a:solidFill>
                  <a:srgbClr val="66FFFF"/>
                </a:solidFill>
                <a:latin typeface="Times New Roman" pitchFamily="18" charset="0"/>
                <a:sym typeface="Symbol" pitchFamily="18" charset="2"/>
              </a:rPr>
              <a:t> </a:t>
            </a:r>
            <a:r>
              <a:rPr lang="zh-CN" altLang="en-US" sz="2400" b="1">
                <a:solidFill>
                  <a:srgbClr val="66FFFF"/>
                </a:solidFill>
                <a:latin typeface="Times New Roman" pitchFamily="18" charset="0"/>
                <a:sym typeface="Symbol" pitchFamily="18" charset="2"/>
              </a:rPr>
              <a:t> </a:t>
            </a:r>
            <a:r>
              <a:rPr lang="zh-CN" altLang="en-US" sz="2400" b="1">
                <a:solidFill>
                  <a:schemeClr val="bg1"/>
                </a:solidFill>
                <a:latin typeface="Times New Roman" pitchFamily="18" charset="0"/>
                <a:sym typeface="Symbol" pitchFamily="18" charset="2"/>
              </a:rPr>
              <a:t>的桌面转动 </a:t>
            </a:r>
            <a:r>
              <a:rPr lang="en-US" altLang="zh-CN" sz="2400" b="1">
                <a:solidFill>
                  <a:schemeClr val="bg1"/>
                </a:solidFill>
                <a:latin typeface="Times New Roman" pitchFamily="18" charset="0"/>
                <a:sym typeface="Symbol" pitchFamily="18" charset="2"/>
              </a:rPr>
              <a:t>(</a:t>
            </a:r>
            <a:r>
              <a:rPr lang="zh-CN" altLang="en-US" sz="2400" b="1">
                <a:solidFill>
                  <a:schemeClr val="bg1"/>
                </a:solidFill>
                <a:latin typeface="Times New Roman" pitchFamily="18" charset="0"/>
                <a:sym typeface="Symbol" pitchFamily="18" charset="2"/>
              </a:rPr>
              <a:t>如图</a:t>
            </a:r>
            <a:r>
              <a:rPr lang="en-US" altLang="zh-CN" sz="2400" b="1">
                <a:solidFill>
                  <a:schemeClr val="bg1"/>
                </a:solidFill>
                <a:latin typeface="Times New Roman" pitchFamily="18" charset="0"/>
                <a:sym typeface="Symbol" pitchFamily="18" charset="2"/>
              </a:rPr>
              <a:t>)</a:t>
            </a:r>
            <a:endParaRPr lang="en-US" altLang="zh-CN" sz="2400" b="1">
              <a:solidFill>
                <a:schemeClr val="bg1"/>
              </a:solidFill>
              <a:latin typeface="Times New Roman" pitchFamily="18" charset="0"/>
            </a:endParaRPr>
          </a:p>
        </p:txBody>
      </p:sp>
      <p:sp>
        <p:nvSpPr>
          <p:cNvPr id="19472" name="Rectangle 16"/>
          <p:cNvSpPr>
            <a:spLocks noChangeArrowheads="1"/>
          </p:cNvSpPr>
          <p:nvPr/>
        </p:nvSpPr>
        <p:spPr bwMode="auto">
          <a:xfrm>
            <a:off x="269875" y="1603375"/>
            <a:ext cx="492125" cy="457200"/>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0" hangingPunct="0"/>
            <a:r>
              <a:rPr lang="zh-CN" altLang="en-US" sz="2400" b="1">
                <a:solidFill>
                  <a:srgbClr val="FFFF00"/>
                </a:solidFill>
                <a:latin typeface="Times New Roman" pitchFamily="18" charset="0"/>
              </a:rPr>
              <a:t>解</a:t>
            </a:r>
          </a:p>
        </p:txBody>
      </p:sp>
      <p:graphicFrame>
        <p:nvGraphicFramePr>
          <p:cNvPr id="19473" name="Object 17"/>
          <p:cNvGraphicFramePr>
            <a:graphicFrameLocks/>
          </p:cNvGraphicFramePr>
          <p:nvPr/>
        </p:nvGraphicFramePr>
        <p:xfrm>
          <a:off x="1181100" y="1533525"/>
          <a:ext cx="1428750" cy="742950"/>
        </p:xfrm>
        <a:graphic>
          <a:graphicData uri="http://schemas.openxmlformats.org/presentationml/2006/ole">
            <mc:AlternateContent xmlns:mc="http://schemas.openxmlformats.org/markup-compatibility/2006">
              <mc:Choice xmlns:v="urn:schemas-microsoft-com:vml" Requires="v">
                <p:oleObj spid="_x0000_s10278" name="Equation" r:id="rId3" imgW="1495472" imgH="733410" progId="Equation.3">
                  <p:embed/>
                </p:oleObj>
              </mc:Choice>
              <mc:Fallback>
                <p:oleObj name="Equation" r:id="rId3" imgW="1495472" imgH="733410" progId="Equation.3">
                  <p:embed/>
                  <p:pic>
                    <p:nvPicPr>
                      <p:cNvPr id="0" name="Object 1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1100" y="1533525"/>
                        <a:ext cx="1428750"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74" name="Object 18"/>
          <p:cNvGraphicFramePr>
            <a:graphicFrameLocks/>
          </p:cNvGraphicFramePr>
          <p:nvPr/>
        </p:nvGraphicFramePr>
        <p:xfrm>
          <a:off x="3254375" y="1746250"/>
          <a:ext cx="1633538" cy="354013"/>
        </p:xfrm>
        <a:graphic>
          <a:graphicData uri="http://schemas.openxmlformats.org/presentationml/2006/ole">
            <mc:AlternateContent xmlns:mc="http://schemas.openxmlformats.org/markup-compatibility/2006">
              <mc:Choice xmlns:v="urn:schemas-microsoft-com:vml" Requires="v">
                <p:oleObj spid="_x0000_s10279" name="Equation" r:id="rId5" imgW="1724112" imgH="304755" progId="Equation.3">
                  <p:embed/>
                </p:oleObj>
              </mc:Choice>
              <mc:Fallback>
                <p:oleObj name="Equation" r:id="rId5" imgW="1724112" imgH="304755" progId="Equation.3">
                  <p:embed/>
                  <p:pic>
                    <p:nvPicPr>
                      <p:cNvPr id="0" name="Object 1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54375" y="1746250"/>
                        <a:ext cx="1633538" cy="354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75" name="Text Box 19"/>
          <p:cNvSpPr txBox="1">
            <a:spLocks noChangeArrowheads="1"/>
          </p:cNvSpPr>
          <p:nvPr/>
        </p:nvSpPr>
        <p:spPr bwMode="auto">
          <a:xfrm>
            <a:off x="742950" y="2324100"/>
            <a:ext cx="1403350" cy="457200"/>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400" b="1">
                <a:solidFill>
                  <a:schemeClr val="bg1"/>
                </a:solidFill>
                <a:latin typeface="Times New Roman" pitchFamily="18" charset="0"/>
              </a:rPr>
              <a:t>根据力矩</a:t>
            </a:r>
            <a:endParaRPr lang="zh-CN" altLang="en-US" sz="2400">
              <a:solidFill>
                <a:schemeClr val="bg1"/>
              </a:solidFill>
              <a:latin typeface="Times New Roman" pitchFamily="18" charset="0"/>
            </a:endParaRPr>
          </a:p>
        </p:txBody>
      </p:sp>
      <p:graphicFrame>
        <p:nvGraphicFramePr>
          <p:cNvPr id="19476" name="Object 20"/>
          <p:cNvGraphicFramePr>
            <a:graphicFrameLocks/>
          </p:cNvGraphicFramePr>
          <p:nvPr/>
        </p:nvGraphicFramePr>
        <p:xfrm>
          <a:off x="2430463" y="2247900"/>
          <a:ext cx="2479675" cy="742950"/>
        </p:xfrm>
        <a:graphic>
          <a:graphicData uri="http://schemas.openxmlformats.org/presentationml/2006/ole">
            <mc:AlternateContent xmlns:mc="http://schemas.openxmlformats.org/markup-compatibility/2006">
              <mc:Choice xmlns:v="urn:schemas-microsoft-com:vml" Requires="v">
                <p:oleObj spid="_x0000_s10280" name="公式" r:id="rId7" imgW="2667016" imgH="733410" progId="Equation.3">
                  <p:embed/>
                </p:oleObj>
              </mc:Choice>
              <mc:Fallback>
                <p:oleObj name="公式" r:id="rId7" imgW="2667016" imgH="733410" progId="Equation.3">
                  <p:embed/>
                  <p:pic>
                    <p:nvPicPr>
                      <p:cNvPr id="0" name="Object 2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0463" y="2247900"/>
                        <a:ext cx="2479675"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77" name="Object 21"/>
          <p:cNvGraphicFramePr>
            <a:graphicFrameLocks/>
          </p:cNvGraphicFramePr>
          <p:nvPr/>
        </p:nvGraphicFramePr>
        <p:xfrm>
          <a:off x="1570038" y="3068638"/>
          <a:ext cx="4227512" cy="742950"/>
        </p:xfrm>
        <a:graphic>
          <a:graphicData uri="http://schemas.openxmlformats.org/presentationml/2006/ole">
            <mc:AlternateContent xmlns:mc="http://schemas.openxmlformats.org/markup-compatibility/2006">
              <mc:Choice xmlns:v="urn:schemas-microsoft-com:vml" Requires="v">
                <p:oleObj spid="_x0000_s10281" name="公式" r:id="rId9" imgW="4610050" imgH="733410" progId="Equation.3">
                  <p:embed/>
                </p:oleObj>
              </mc:Choice>
              <mc:Fallback>
                <p:oleObj name="公式" r:id="rId9" imgW="4610050" imgH="733410" progId="Equation.3">
                  <p:embed/>
                  <p:pic>
                    <p:nvPicPr>
                      <p:cNvPr id="0" name="Object 2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70038" y="3068638"/>
                        <a:ext cx="4227512"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478" name="Group 22"/>
          <p:cNvGrpSpPr>
            <a:grpSpLocks/>
          </p:cNvGrpSpPr>
          <p:nvPr/>
        </p:nvGrpSpPr>
        <p:grpSpPr bwMode="auto">
          <a:xfrm>
            <a:off x="6019800" y="2257425"/>
            <a:ext cx="1524000" cy="595313"/>
            <a:chOff x="3984" y="2688"/>
            <a:chExt cx="960" cy="375"/>
          </a:xfrm>
        </p:grpSpPr>
        <p:sp>
          <p:nvSpPr>
            <p:cNvPr id="15397" name="Line 23"/>
            <p:cNvSpPr>
              <a:spLocks noChangeShapeType="1"/>
            </p:cNvSpPr>
            <p:nvPr/>
          </p:nvSpPr>
          <p:spPr bwMode="auto">
            <a:xfrm>
              <a:off x="4560" y="2688"/>
              <a:ext cx="0"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398" name="Line 24"/>
            <p:cNvSpPr>
              <a:spLocks noChangeShapeType="1"/>
            </p:cNvSpPr>
            <p:nvPr/>
          </p:nvSpPr>
          <p:spPr bwMode="auto">
            <a:xfrm>
              <a:off x="4752" y="2688"/>
              <a:ext cx="0"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399" name="Rectangle 25"/>
            <p:cNvSpPr>
              <a:spLocks noChangeArrowheads="1"/>
            </p:cNvSpPr>
            <p:nvPr/>
          </p:nvSpPr>
          <p:spPr bwMode="auto">
            <a:xfrm>
              <a:off x="4182" y="2736"/>
              <a:ext cx="215" cy="327"/>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1905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0" hangingPunct="0"/>
              <a:r>
                <a:rPr lang="en-US" altLang="zh-CN" sz="2800" i="1">
                  <a:solidFill>
                    <a:srgbClr val="FFFF00"/>
                  </a:solidFill>
                  <a:latin typeface="Times New Roman" pitchFamily="18" charset="0"/>
                </a:rPr>
                <a:t>x</a:t>
              </a:r>
            </a:p>
          </p:txBody>
        </p:sp>
        <p:sp>
          <p:nvSpPr>
            <p:cNvPr id="15400" name="Line 26"/>
            <p:cNvSpPr>
              <a:spLocks noChangeShapeType="1"/>
            </p:cNvSpPr>
            <p:nvPr/>
          </p:nvSpPr>
          <p:spPr bwMode="auto">
            <a:xfrm flipH="1">
              <a:off x="3984" y="2928"/>
              <a:ext cx="192" cy="0"/>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401" name="Line 27"/>
            <p:cNvSpPr>
              <a:spLocks noChangeShapeType="1"/>
            </p:cNvSpPr>
            <p:nvPr/>
          </p:nvSpPr>
          <p:spPr bwMode="auto">
            <a:xfrm>
              <a:off x="4368" y="2928"/>
              <a:ext cx="192" cy="0"/>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402" name="Line 28"/>
            <p:cNvSpPr>
              <a:spLocks noChangeShapeType="1"/>
            </p:cNvSpPr>
            <p:nvPr/>
          </p:nvSpPr>
          <p:spPr bwMode="auto">
            <a:xfrm flipH="1">
              <a:off x="4752" y="2928"/>
              <a:ext cx="192" cy="0"/>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19485" name="AutoShape 29"/>
          <p:cNvSpPr>
            <a:spLocks noChangeArrowheads="1"/>
          </p:cNvSpPr>
          <p:nvPr/>
        </p:nvSpPr>
        <p:spPr bwMode="auto">
          <a:xfrm>
            <a:off x="6732588" y="2997200"/>
            <a:ext cx="533400" cy="533400"/>
          </a:xfrm>
          <a:prstGeom prst="wedgeRectCallout">
            <a:avLst>
              <a:gd name="adj1" fmla="val 16370"/>
              <a:gd name="adj2" fmla="val -175597"/>
            </a:avLst>
          </a:prstGeom>
          <a:solidFill>
            <a:srgbClr val="66FFCC">
              <a:alpha val="25882"/>
            </a:srgbClr>
          </a:solidFill>
          <a:ln w="9525">
            <a:solidFill>
              <a:srgbClr val="0099CC">
                <a:alpha val="65881"/>
              </a:srgb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solidFill>
                  <a:srgbClr val="FFFF00"/>
                </a:solidFill>
                <a:latin typeface="Times New Roman" pitchFamily="18" charset="0"/>
              </a:rPr>
              <a:t>d</a:t>
            </a:r>
            <a:r>
              <a:rPr lang="en-US" altLang="zh-CN" sz="2800" i="1">
                <a:solidFill>
                  <a:srgbClr val="FFFF00"/>
                </a:solidFill>
                <a:latin typeface="Times New Roman" pitchFamily="18" charset="0"/>
              </a:rPr>
              <a:t>x</a:t>
            </a:r>
          </a:p>
        </p:txBody>
      </p:sp>
      <p:grpSp>
        <p:nvGrpSpPr>
          <p:cNvPr id="19486" name="Group 30"/>
          <p:cNvGrpSpPr>
            <a:grpSpLocks/>
          </p:cNvGrpSpPr>
          <p:nvPr/>
        </p:nvGrpSpPr>
        <p:grpSpPr bwMode="auto">
          <a:xfrm>
            <a:off x="5634038" y="4402138"/>
            <a:ext cx="2538412" cy="2122487"/>
            <a:chOff x="2405" y="2721"/>
            <a:chExt cx="1599" cy="1337"/>
          </a:xfrm>
        </p:grpSpPr>
        <p:graphicFrame>
          <p:nvGraphicFramePr>
            <p:cNvPr id="15388" name="Object 31"/>
            <p:cNvGraphicFramePr>
              <a:graphicFrameLocks/>
            </p:cNvGraphicFramePr>
            <p:nvPr/>
          </p:nvGraphicFramePr>
          <p:xfrm>
            <a:off x="2449" y="3738"/>
            <a:ext cx="1555" cy="320"/>
          </p:xfrm>
          <a:graphic>
            <a:graphicData uri="http://schemas.openxmlformats.org/presentationml/2006/ole">
              <mc:AlternateContent xmlns:mc="http://schemas.openxmlformats.org/markup-compatibility/2006">
                <mc:Choice xmlns:v="urn:schemas-microsoft-com:vml" Requires="v">
                  <p:oleObj spid="_x0000_s10282" name="公式" r:id="rId11" imgW="2390866" imgH="419207" progId="Equation.3">
                    <p:embed/>
                  </p:oleObj>
                </mc:Choice>
                <mc:Fallback>
                  <p:oleObj name="公式" r:id="rId11" imgW="2390866" imgH="419207" progId="Equation.3">
                    <p:embed/>
                    <p:pic>
                      <p:nvPicPr>
                        <p:cNvPr id="0" name="Object 31"/>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49" y="3738"/>
                          <a:ext cx="1555"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389" name="Group 32"/>
            <p:cNvGrpSpPr>
              <a:grpSpLocks/>
            </p:cNvGrpSpPr>
            <p:nvPr/>
          </p:nvGrpSpPr>
          <p:grpSpPr bwMode="auto">
            <a:xfrm>
              <a:off x="2405" y="2721"/>
              <a:ext cx="1564" cy="1008"/>
              <a:chOff x="2208" y="2652"/>
              <a:chExt cx="1564" cy="1008"/>
            </a:xfrm>
          </p:grpSpPr>
          <p:grpSp>
            <p:nvGrpSpPr>
              <p:cNvPr id="15390" name="Group 33"/>
              <p:cNvGrpSpPr>
                <a:grpSpLocks/>
              </p:cNvGrpSpPr>
              <p:nvPr/>
            </p:nvGrpSpPr>
            <p:grpSpPr bwMode="auto">
              <a:xfrm>
                <a:off x="2496" y="2652"/>
                <a:ext cx="864" cy="864"/>
                <a:chOff x="2496" y="2652"/>
                <a:chExt cx="864" cy="864"/>
              </a:xfrm>
            </p:grpSpPr>
            <p:sp>
              <p:nvSpPr>
                <p:cNvPr id="15395" name="Oval 34"/>
                <p:cNvSpPr>
                  <a:spLocks noChangeArrowheads="1"/>
                </p:cNvSpPr>
                <p:nvPr/>
              </p:nvSpPr>
              <p:spPr bwMode="auto">
                <a:xfrm>
                  <a:off x="2496" y="2652"/>
                  <a:ext cx="864" cy="864"/>
                </a:xfrm>
                <a:prstGeom prst="ellipse">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6" name="Oval 35"/>
                <p:cNvSpPr>
                  <a:spLocks noChangeArrowheads="1"/>
                </p:cNvSpPr>
                <p:nvPr/>
              </p:nvSpPr>
              <p:spPr bwMode="auto">
                <a:xfrm>
                  <a:off x="2688" y="2844"/>
                  <a:ext cx="480" cy="480"/>
                </a:xfrm>
                <a:prstGeom prst="ellipse">
                  <a:avLst/>
                </a:pr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391" name="Line 36"/>
              <p:cNvSpPr>
                <a:spLocks noChangeShapeType="1"/>
              </p:cNvSpPr>
              <p:nvPr/>
            </p:nvSpPr>
            <p:spPr bwMode="auto">
              <a:xfrm>
                <a:off x="3360" y="3036"/>
                <a:ext cx="0" cy="624"/>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2" name="Line 37"/>
              <p:cNvSpPr>
                <a:spLocks noChangeShapeType="1"/>
              </p:cNvSpPr>
              <p:nvPr/>
            </p:nvSpPr>
            <p:spPr bwMode="auto">
              <a:xfrm>
                <a:off x="2688" y="3036"/>
                <a:ext cx="0" cy="624"/>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3" name="Text Box 38"/>
              <p:cNvSpPr txBox="1">
                <a:spLocks noChangeArrowheads="1"/>
              </p:cNvSpPr>
              <p:nvPr/>
            </p:nvSpPr>
            <p:spPr bwMode="auto">
              <a:xfrm>
                <a:off x="3408" y="3276"/>
                <a:ext cx="3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FFFF00"/>
                    </a:solidFill>
                    <a:latin typeface="Times New Roman" pitchFamily="18" charset="0"/>
                  </a:rPr>
                  <a:t>T</a:t>
                </a:r>
                <a:endParaRPr lang="en-US" altLang="zh-CN" sz="2400" b="1" i="1">
                  <a:solidFill>
                    <a:schemeClr val="accent2"/>
                  </a:solidFill>
                  <a:latin typeface="Times New Roman" pitchFamily="18" charset="0"/>
                </a:endParaRPr>
              </a:p>
            </p:txBody>
          </p:sp>
          <p:sp>
            <p:nvSpPr>
              <p:cNvPr id="15394" name="Text Box 39"/>
              <p:cNvSpPr txBox="1">
                <a:spLocks noChangeArrowheads="1"/>
              </p:cNvSpPr>
              <p:nvPr/>
            </p:nvSpPr>
            <p:spPr bwMode="auto">
              <a:xfrm>
                <a:off x="2208" y="3324"/>
                <a:ext cx="3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FFFF00"/>
                    </a:solidFill>
                    <a:latin typeface="Times New Roman" pitchFamily="18" charset="0"/>
                  </a:rPr>
                  <a:t>T'</a:t>
                </a:r>
                <a:endParaRPr lang="en-US" altLang="zh-CN" sz="2400" b="1" i="1">
                  <a:solidFill>
                    <a:schemeClr val="accent2"/>
                  </a:solidFill>
                  <a:latin typeface="Times New Roman" pitchFamily="18" charset="0"/>
                </a:endParaRPr>
              </a:p>
            </p:txBody>
          </p:sp>
        </p:grpSp>
      </p:grpSp>
      <p:sp>
        <p:nvSpPr>
          <p:cNvPr id="19496" name="Text Box 40"/>
          <p:cNvSpPr txBox="1">
            <a:spLocks noChangeArrowheads="1"/>
          </p:cNvSpPr>
          <p:nvPr/>
        </p:nvSpPr>
        <p:spPr bwMode="auto">
          <a:xfrm>
            <a:off x="1038225" y="4365625"/>
            <a:ext cx="1373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66FFFF"/>
                </a:solidFill>
                <a:latin typeface="Times New Roman" pitchFamily="18" charset="0"/>
              </a:rPr>
              <a:t>例如</a:t>
            </a:r>
            <a:endParaRPr lang="zh-CN" altLang="en-US" sz="2400" b="1" i="1">
              <a:solidFill>
                <a:srgbClr val="66FFFF"/>
              </a:solidFill>
              <a:latin typeface="Times New Roman" pitchFamily="18" charset="0"/>
            </a:endParaRPr>
          </a:p>
        </p:txBody>
      </p:sp>
      <p:grpSp>
        <p:nvGrpSpPr>
          <p:cNvPr id="19497" name="Group 41"/>
          <p:cNvGrpSpPr>
            <a:grpSpLocks/>
          </p:cNvGrpSpPr>
          <p:nvPr/>
        </p:nvGrpSpPr>
        <p:grpSpPr bwMode="auto">
          <a:xfrm>
            <a:off x="2087563" y="4843463"/>
            <a:ext cx="2555875" cy="1609725"/>
            <a:chOff x="1315" y="3051"/>
            <a:chExt cx="1610" cy="1014"/>
          </a:xfrm>
        </p:grpSpPr>
        <p:sp>
          <p:nvSpPr>
            <p:cNvPr id="15380" name="Text Box 42"/>
            <p:cNvSpPr txBox="1">
              <a:spLocks noChangeArrowheads="1"/>
            </p:cNvSpPr>
            <p:nvPr/>
          </p:nvSpPr>
          <p:spPr bwMode="auto">
            <a:xfrm>
              <a:off x="2546" y="3243"/>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FFFF00"/>
                  </a:solidFill>
                  <a:latin typeface="Times New Roman" pitchFamily="18" charset="0"/>
                </a:rPr>
                <a:t>T</a:t>
              </a:r>
              <a:endParaRPr lang="en-US" altLang="zh-CN" sz="2400" b="1" i="1">
                <a:solidFill>
                  <a:schemeClr val="accent2"/>
                </a:solidFill>
                <a:latin typeface="Times New Roman" pitchFamily="18" charset="0"/>
              </a:endParaRPr>
            </a:p>
          </p:txBody>
        </p:sp>
        <p:grpSp>
          <p:nvGrpSpPr>
            <p:cNvPr id="15381" name="Group 43"/>
            <p:cNvGrpSpPr>
              <a:grpSpLocks/>
            </p:cNvGrpSpPr>
            <p:nvPr/>
          </p:nvGrpSpPr>
          <p:grpSpPr bwMode="auto">
            <a:xfrm>
              <a:off x="1315" y="3051"/>
              <a:ext cx="1610" cy="1014"/>
              <a:chOff x="1315" y="3051"/>
              <a:chExt cx="1610" cy="1014"/>
            </a:xfrm>
          </p:grpSpPr>
          <p:grpSp>
            <p:nvGrpSpPr>
              <p:cNvPr id="15382" name="Group 44"/>
              <p:cNvGrpSpPr>
                <a:grpSpLocks/>
              </p:cNvGrpSpPr>
              <p:nvPr/>
            </p:nvGrpSpPr>
            <p:grpSpPr bwMode="auto">
              <a:xfrm>
                <a:off x="1433" y="3099"/>
                <a:ext cx="1260" cy="576"/>
                <a:chOff x="1433" y="3099"/>
                <a:chExt cx="1260" cy="576"/>
              </a:xfrm>
            </p:grpSpPr>
            <p:sp>
              <p:nvSpPr>
                <p:cNvPr id="15385" name="Oval 45"/>
                <p:cNvSpPr>
                  <a:spLocks noChangeArrowheads="1"/>
                </p:cNvSpPr>
                <p:nvPr/>
              </p:nvSpPr>
              <p:spPr bwMode="auto">
                <a:xfrm>
                  <a:off x="1970" y="3099"/>
                  <a:ext cx="459" cy="480"/>
                </a:xfrm>
                <a:prstGeom prst="ellipse">
                  <a:avLst/>
                </a:prstGeom>
                <a:noFill/>
                <a:ln w="381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6" name="Line 46"/>
                <p:cNvSpPr>
                  <a:spLocks noChangeShapeType="1"/>
                </p:cNvSpPr>
                <p:nvPr/>
              </p:nvSpPr>
              <p:spPr bwMode="auto">
                <a:xfrm>
                  <a:off x="2384" y="3195"/>
                  <a:ext cx="309" cy="480"/>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7" name="Line 47"/>
                <p:cNvSpPr>
                  <a:spLocks noChangeShapeType="1"/>
                </p:cNvSpPr>
                <p:nvPr/>
              </p:nvSpPr>
              <p:spPr bwMode="auto">
                <a:xfrm flipH="1">
                  <a:off x="1433" y="3120"/>
                  <a:ext cx="668" cy="336"/>
                </a:xfrm>
                <a:prstGeom prst="line">
                  <a:avLst/>
                </a:prstGeom>
                <a:noFill/>
                <a:ln w="2222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5383" name="Object 48"/>
              <p:cNvGraphicFramePr>
                <a:graphicFrameLocks/>
              </p:cNvGraphicFramePr>
              <p:nvPr/>
            </p:nvGraphicFramePr>
            <p:xfrm>
              <a:off x="1315" y="3745"/>
              <a:ext cx="1610" cy="320"/>
            </p:xfrm>
            <a:graphic>
              <a:graphicData uri="http://schemas.openxmlformats.org/presentationml/2006/ole">
                <mc:AlternateContent xmlns:mc="http://schemas.openxmlformats.org/markup-compatibility/2006">
                  <mc:Choice xmlns:v="urn:schemas-microsoft-com:vml" Requires="v">
                    <p:oleObj spid="_x0000_s10283" name="公式" r:id="rId13" imgW="2466990" imgH="419207" progId="Equation.3">
                      <p:embed/>
                    </p:oleObj>
                  </mc:Choice>
                  <mc:Fallback>
                    <p:oleObj name="公式" r:id="rId13" imgW="2466990" imgH="419207" progId="Equation.3">
                      <p:embed/>
                      <p:pic>
                        <p:nvPicPr>
                          <p:cNvPr id="0" name="Object 4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15" y="3745"/>
                            <a:ext cx="1610"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84" name="Text Box 49"/>
              <p:cNvSpPr txBox="1">
                <a:spLocks noChangeArrowheads="1"/>
              </p:cNvSpPr>
              <p:nvPr/>
            </p:nvSpPr>
            <p:spPr bwMode="auto">
              <a:xfrm>
                <a:off x="1586" y="3051"/>
                <a:ext cx="3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FFFF00"/>
                    </a:solidFill>
                    <a:latin typeface="Times New Roman" pitchFamily="18" charset="0"/>
                  </a:rPr>
                  <a:t>T'</a:t>
                </a:r>
                <a:endParaRPr lang="en-US" altLang="zh-CN" sz="2400" b="1" i="1">
                  <a:solidFill>
                    <a:schemeClr val="accent2"/>
                  </a:solidFill>
                  <a:latin typeface="Times New Roman" pitchFamily="18" charset="0"/>
                </a:endParaRPr>
              </a:p>
            </p:txBody>
          </p:sp>
        </p:grpSp>
      </p:grpSp>
      <p:sp>
        <p:nvSpPr>
          <p:cNvPr id="19506" name="Rectangle 50"/>
          <p:cNvSpPr>
            <a:spLocks noChangeArrowheads="1"/>
          </p:cNvSpPr>
          <p:nvPr/>
        </p:nvSpPr>
        <p:spPr bwMode="auto">
          <a:xfrm>
            <a:off x="1000125" y="3816350"/>
            <a:ext cx="5651500" cy="457200"/>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lang="zh-CN" altLang="en-US" sz="2400" b="1">
                <a:solidFill>
                  <a:schemeClr val="bg1"/>
                </a:solidFill>
                <a:latin typeface="Times New Roman" pitchFamily="18" charset="0"/>
              </a:rPr>
              <a:t>在定轴转动中，力矩可用代数值进行计算</a:t>
            </a:r>
          </a:p>
        </p:txBody>
      </p:sp>
      <p:sp>
        <p:nvSpPr>
          <p:cNvPr id="19507" name="Rectangle 51"/>
          <p:cNvSpPr>
            <a:spLocks noChangeArrowheads="1"/>
          </p:cNvSpPr>
          <p:nvPr/>
        </p:nvSpPr>
        <p:spPr bwMode="auto">
          <a:xfrm>
            <a:off x="757238" y="3716338"/>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4000" b="1">
                <a:solidFill>
                  <a:srgbClr val="FFFF66"/>
                </a:solidFill>
                <a:latin typeface="Times New Roman" pitchFamily="18" charset="0"/>
              </a:rPr>
              <a:t>•</a:t>
            </a:r>
          </a:p>
        </p:txBody>
      </p:sp>
      <p:sp>
        <p:nvSpPr>
          <p:cNvPr id="19508" name="Text Box 52"/>
          <p:cNvSpPr txBox="1">
            <a:spLocks noChangeArrowheads="1"/>
          </p:cNvSpPr>
          <p:nvPr/>
        </p:nvSpPr>
        <p:spPr bwMode="auto">
          <a:xfrm>
            <a:off x="127000" y="962025"/>
            <a:ext cx="347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400" b="1">
                <a:solidFill>
                  <a:srgbClr val="FFFF00"/>
                </a:solidFill>
                <a:latin typeface="Times New Roman" pitchFamily="18" charset="0"/>
              </a:rPr>
              <a:t>求 </a:t>
            </a:r>
            <a:r>
              <a:rPr lang="zh-CN" altLang="en-US" sz="2400" b="1">
                <a:solidFill>
                  <a:schemeClr val="bg1"/>
                </a:solidFill>
                <a:latin typeface="Times New Roman" pitchFamily="18" charset="0"/>
              </a:rPr>
              <a:t> 摩擦力对</a:t>
            </a:r>
            <a:r>
              <a:rPr lang="en-US" altLang="zh-CN" sz="2400" b="1" i="1">
                <a:solidFill>
                  <a:srgbClr val="66FFFF"/>
                </a:solidFill>
                <a:latin typeface="Times New Roman" pitchFamily="18" charset="0"/>
              </a:rPr>
              <a:t>y</a:t>
            </a:r>
            <a:r>
              <a:rPr lang="zh-CN" altLang="en-US" sz="2400" b="1">
                <a:solidFill>
                  <a:schemeClr val="bg1"/>
                </a:solidFill>
                <a:latin typeface="Times New Roman" pitchFamily="18" charset="0"/>
              </a:rPr>
              <a:t>轴的力矩</a:t>
            </a:r>
          </a:p>
        </p:txBody>
      </p:sp>
      <p:sp>
        <p:nvSpPr>
          <p:cNvPr id="19509" name="Rectangle 53"/>
          <p:cNvSpPr>
            <a:spLocks noChangeArrowheads="1"/>
          </p:cNvSpPr>
          <p:nvPr/>
        </p:nvSpPr>
        <p:spPr bwMode="auto">
          <a:xfrm>
            <a:off x="6929438" y="2119313"/>
            <a:ext cx="304800" cy="152400"/>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70"/>
                                        </p:tgtEl>
                                        <p:attrNameLst>
                                          <p:attrName>style.visibility</p:attrName>
                                        </p:attrNameLst>
                                      </p:cBhvr>
                                      <p:to>
                                        <p:strVal val="visible"/>
                                      </p:to>
                                    </p:set>
                                    <p:animEffect transition="in" filter="wipe(left)">
                                      <p:cBhvr>
                                        <p:cTn id="7" dur="500"/>
                                        <p:tgtEl>
                                          <p:spTgt spid="194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71"/>
                                        </p:tgtEl>
                                        <p:attrNameLst>
                                          <p:attrName>style.visibility</p:attrName>
                                        </p:attrNameLst>
                                      </p:cBhvr>
                                      <p:to>
                                        <p:strVal val="visible"/>
                                      </p:to>
                                    </p:set>
                                    <p:animEffect transition="in" filter="wipe(left)">
                                      <p:cBhvr>
                                        <p:cTn id="12" dur="500"/>
                                        <p:tgtEl>
                                          <p:spTgt spid="194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19458"/>
                                        </p:tgtEl>
                                        <p:attrNameLst>
                                          <p:attrName>style.visibility</p:attrName>
                                        </p:attrNameLst>
                                      </p:cBhvr>
                                      <p:to>
                                        <p:strVal val="visible"/>
                                      </p:to>
                                    </p:set>
                                    <p:anim calcmode="lin" valueType="num">
                                      <p:cBhvr>
                                        <p:cTn id="17" dur="500" fill="hold"/>
                                        <p:tgtEl>
                                          <p:spTgt spid="19458"/>
                                        </p:tgtEl>
                                        <p:attrNameLst>
                                          <p:attrName>ppt_w</p:attrName>
                                        </p:attrNameLst>
                                      </p:cBhvr>
                                      <p:tavLst>
                                        <p:tav tm="0">
                                          <p:val>
                                            <p:fltVal val="0"/>
                                          </p:val>
                                        </p:tav>
                                        <p:tav tm="100000">
                                          <p:val>
                                            <p:strVal val="#ppt_w"/>
                                          </p:val>
                                        </p:tav>
                                      </p:tavLst>
                                    </p:anim>
                                    <p:anim calcmode="lin" valueType="num">
                                      <p:cBhvr>
                                        <p:cTn id="18" dur="500" fill="hold"/>
                                        <p:tgtEl>
                                          <p:spTgt spid="19458"/>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9508"/>
                                        </p:tgtEl>
                                        <p:attrNameLst>
                                          <p:attrName>style.visibility</p:attrName>
                                        </p:attrNameLst>
                                      </p:cBhvr>
                                      <p:to>
                                        <p:strVal val="visible"/>
                                      </p:to>
                                    </p:set>
                                    <p:animEffect transition="in" filter="wipe(left)">
                                      <p:cBhvr>
                                        <p:cTn id="23" dur="500"/>
                                        <p:tgtEl>
                                          <p:spTgt spid="1950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472"/>
                                        </p:tgtEl>
                                        <p:attrNameLst>
                                          <p:attrName>style.visibility</p:attrName>
                                        </p:attrNameLst>
                                      </p:cBhvr>
                                      <p:to>
                                        <p:strVal val="visible"/>
                                      </p:to>
                                    </p:set>
                                    <p:animEffect transition="in" filter="wipe(left)">
                                      <p:cBhvr>
                                        <p:cTn id="28" dur="500"/>
                                        <p:tgtEl>
                                          <p:spTgt spid="1947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9509"/>
                                        </p:tgtEl>
                                        <p:attrNameLst>
                                          <p:attrName>style.visibility</p:attrName>
                                        </p:attrNameLst>
                                      </p:cBhvr>
                                      <p:to>
                                        <p:strVal val="visible"/>
                                      </p:to>
                                    </p:set>
                                    <p:animEffect transition="in" filter="wipe(down)">
                                      <p:cBhvr>
                                        <p:cTn id="33" dur="500"/>
                                        <p:tgtEl>
                                          <p:spTgt spid="1950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7" presetClass="entr" presetSubtype="10" fill="hold" nodeType="clickEffect">
                                  <p:stCondLst>
                                    <p:cond delay="0"/>
                                  </p:stCondLst>
                                  <p:childTnLst>
                                    <p:set>
                                      <p:cBhvr>
                                        <p:cTn id="37" dur="1" fill="hold">
                                          <p:stCondLst>
                                            <p:cond delay="0"/>
                                          </p:stCondLst>
                                        </p:cTn>
                                        <p:tgtEl>
                                          <p:spTgt spid="19478"/>
                                        </p:tgtEl>
                                        <p:attrNameLst>
                                          <p:attrName>style.visibility</p:attrName>
                                        </p:attrNameLst>
                                      </p:cBhvr>
                                      <p:to>
                                        <p:strVal val="visible"/>
                                      </p:to>
                                    </p:set>
                                    <p:anim calcmode="lin" valueType="num">
                                      <p:cBhvr>
                                        <p:cTn id="38" dur="500" fill="hold"/>
                                        <p:tgtEl>
                                          <p:spTgt spid="19478"/>
                                        </p:tgtEl>
                                        <p:attrNameLst>
                                          <p:attrName>ppt_w</p:attrName>
                                        </p:attrNameLst>
                                      </p:cBhvr>
                                      <p:tavLst>
                                        <p:tav tm="0">
                                          <p:val>
                                            <p:fltVal val="0"/>
                                          </p:val>
                                        </p:tav>
                                        <p:tav tm="100000">
                                          <p:val>
                                            <p:strVal val="#ppt_w"/>
                                          </p:val>
                                        </p:tav>
                                      </p:tavLst>
                                    </p:anim>
                                    <p:anim calcmode="lin" valueType="num">
                                      <p:cBhvr>
                                        <p:cTn id="39" dur="500" fill="hold"/>
                                        <p:tgtEl>
                                          <p:spTgt spid="19478"/>
                                        </p:tgtEl>
                                        <p:attrNameLst>
                                          <p:attrName>ppt_h</p:attrName>
                                        </p:attrNameLst>
                                      </p:cBhvr>
                                      <p:tavLst>
                                        <p:tav tm="0">
                                          <p:val>
                                            <p:strVal val="#ppt_h"/>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9485"/>
                                        </p:tgtEl>
                                        <p:attrNameLst>
                                          <p:attrName>style.visibility</p:attrName>
                                        </p:attrNameLst>
                                      </p:cBhvr>
                                      <p:to>
                                        <p:strVal val="visible"/>
                                      </p:to>
                                    </p:set>
                                    <p:animEffect transition="in" filter="wipe(down)">
                                      <p:cBhvr>
                                        <p:cTn id="44" dur="500"/>
                                        <p:tgtEl>
                                          <p:spTgt spid="1948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19473"/>
                                        </p:tgtEl>
                                        <p:attrNameLst>
                                          <p:attrName>style.visibility</p:attrName>
                                        </p:attrNameLst>
                                      </p:cBhvr>
                                      <p:to>
                                        <p:strVal val="visible"/>
                                      </p:to>
                                    </p:set>
                                    <p:animEffect transition="in" filter="wipe(left)">
                                      <p:cBhvr>
                                        <p:cTn id="49" dur="500"/>
                                        <p:tgtEl>
                                          <p:spTgt spid="1947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9474"/>
                                        </p:tgtEl>
                                        <p:attrNameLst>
                                          <p:attrName>style.visibility</p:attrName>
                                        </p:attrNameLst>
                                      </p:cBhvr>
                                      <p:to>
                                        <p:strVal val="visible"/>
                                      </p:to>
                                    </p:set>
                                    <p:animEffect transition="in" filter="wipe(left)">
                                      <p:cBhvr>
                                        <p:cTn id="54" dur="500"/>
                                        <p:tgtEl>
                                          <p:spTgt spid="1947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9475"/>
                                        </p:tgtEl>
                                        <p:attrNameLst>
                                          <p:attrName>style.visibility</p:attrName>
                                        </p:attrNameLst>
                                      </p:cBhvr>
                                      <p:to>
                                        <p:strVal val="visible"/>
                                      </p:to>
                                    </p:set>
                                    <p:animEffect transition="in" filter="wipe(left)">
                                      <p:cBhvr>
                                        <p:cTn id="59" dur="500"/>
                                        <p:tgtEl>
                                          <p:spTgt spid="1947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9476"/>
                                        </p:tgtEl>
                                        <p:attrNameLst>
                                          <p:attrName>style.visibility</p:attrName>
                                        </p:attrNameLst>
                                      </p:cBhvr>
                                      <p:to>
                                        <p:strVal val="visible"/>
                                      </p:to>
                                    </p:set>
                                    <p:animEffect transition="in" filter="wipe(left)">
                                      <p:cBhvr>
                                        <p:cTn id="64" dur="500"/>
                                        <p:tgtEl>
                                          <p:spTgt spid="19476"/>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19477"/>
                                        </p:tgtEl>
                                        <p:attrNameLst>
                                          <p:attrName>style.visibility</p:attrName>
                                        </p:attrNameLst>
                                      </p:cBhvr>
                                      <p:to>
                                        <p:strVal val="visible"/>
                                      </p:to>
                                    </p:set>
                                    <p:animEffect transition="in" filter="wipe(left)">
                                      <p:cBhvr>
                                        <p:cTn id="69" dur="500"/>
                                        <p:tgtEl>
                                          <p:spTgt spid="19477"/>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9507"/>
                                        </p:tgtEl>
                                        <p:attrNameLst>
                                          <p:attrName>style.visibility</p:attrName>
                                        </p:attrNameLst>
                                      </p:cBhvr>
                                      <p:to>
                                        <p:strVal val="visible"/>
                                      </p:to>
                                    </p:set>
                                    <p:animEffect transition="in" filter="wipe(left)">
                                      <p:cBhvr>
                                        <p:cTn id="74" dur="500"/>
                                        <p:tgtEl>
                                          <p:spTgt spid="19507"/>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9506"/>
                                        </p:tgtEl>
                                        <p:attrNameLst>
                                          <p:attrName>style.visibility</p:attrName>
                                        </p:attrNameLst>
                                      </p:cBhvr>
                                      <p:to>
                                        <p:strVal val="visible"/>
                                      </p:to>
                                    </p:set>
                                    <p:animEffect transition="in" filter="wipe(left)">
                                      <p:cBhvr>
                                        <p:cTn id="79" dur="500"/>
                                        <p:tgtEl>
                                          <p:spTgt spid="19506"/>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9496"/>
                                        </p:tgtEl>
                                        <p:attrNameLst>
                                          <p:attrName>style.visibility</p:attrName>
                                        </p:attrNameLst>
                                      </p:cBhvr>
                                      <p:to>
                                        <p:strVal val="visible"/>
                                      </p:to>
                                    </p:set>
                                    <p:animEffect transition="in" filter="wipe(left)">
                                      <p:cBhvr>
                                        <p:cTn id="84" dur="500"/>
                                        <p:tgtEl>
                                          <p:spTgt spid="19496"/>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3" presetClass="entr" presetSubtype="16" fill="hold" nodeType="clickEffect">
                                  <p:stCondLst>
                                    <p:cond delay="0"/>
                                  </p:stCondLst>
                                  <p:childTnLst>
                                    <p:set>
                                      <p:cBhvr>
                                        <p:cTn id="88" dur="1" fill="hold">
                                          <p:stCondLst>
                                            <p:cond delay="0"/>
                                          </p:stCondLst>
                                        </p:cTn>
                                        <p:tgtEl>
                                          <p:spTgt spid="19497"/>
                                        </p:tgtEl>
                                        <p:attrNameLst>
                                          <p:attrName>style.visibility</p:attrName>
                                        </p:attrNameLst>
                                      </p:cBhvr>
                                      <p:to>
                                        <p:strVal val="visible"/>
                                      </p:to>
                                    </p:set>
                                    <p:anim calcmode="lin" valueType="num">
                                      <p:cBhvr>
                                        <p:cTn id="89" dur="500" fill="hold"/>
                                        <p:tgtEl>
                                          <p:spTgt spid="19497"/>
                                        </p:tgtEl>
                                        <p:attrNameLst>
                                          <p:attrName>ppt_w</p:attrName>
                                        </p:attrNameLst>
                                      </p:cBhvr>
                                      <p:tavLst>
                                        <p:tav tm="0">
                                          <p:val>
                                            <p:fltVal val="0"/>
                                          </p:val>
                                        </p:tav>
                                        <p:tav tm="100000">
                                          <p:val>
                                            <p:strVal val="#ppt_w"/>
                                          </p:val>
                                        </p:tav>
                                      </p:tavLst>
                                    </p:anim>
                                    <p:anim calcmode="lin" valueType="num">
                                      <p:cBhvr>
                                        <p:cTn id="90" dur="500" fill="hold"/>
                                        <p:tgtEl>
                                          <p:spTgt spid="19497"/>
                                        </p:tgtEl>
                                        <p:attrNameLst>
                                          <p:attrName>ppt_h</p:attrName>
                                        </p:attrNameLst>
                                      </p:cBhvr>
                                      <p:tavLst>
                                        <p:tav tm="0">
                                          <p:val>
                                            <p:fltVal val="0"/>
                                          </p:val>
                                        </p:tav>
                                        <p:tav tm="100000">
                                          <p:val>
                                            <p:strVal val="#ppt_h"/>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4" presetClass="entr" presetSubtype="32" fill="hold" nodeType="clickEffect">
                                  <p:stCondLst>
                                    <p:cond delay="0"/>
                                  </p:stCondLst>
                                  <p:childTnLst>
                                    <p:set>
                                      <p:cBhvr>
                                        <p:cTn id="94" dur="1" fill="hold">
                                          <p:stCondLst>
                                            <p:cond delay="0"/>
                                          </p:stCondLst>
                                        </p:cTn>
                                        <p:tgtEl>
                                          <p:spTgt spid="19486"/>
                                        </p:tgtEl>
                                        <p:attrNameLst>
                                          <p:attrName>style.visibility</p:attrName>
                                        </p:attrNameLst>
                                      </p:cBhvr>
                                      <p:to>
                                        <p:strVal val="visible"/>
                                      </p:to>
                                    </p:set>
                                    <p:animEffect transition="in" filter="box(out)">
                                      <p:cBhvr>
                                        <p:cTn id="95" dur="500"/>
                                        <p:tgtEl>
                                          <p:spTgt spid="19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0" grpId="0" autoUpdateAnimBg="0"/>
      <p:bldP spid="19471" grpId="0" autoUpdateAnimBg="0"/>
      <p:bldP spid="19472" grpId="0" autoUpdateAnimBg="0"/>
      <p:bldP spid="19475" grpId="0" autoUpdateAnimBg="0"/>
      <p:bldP spid="19485" grpId="0" animBg="1"/>
      <p:bldP spid="19496" grpId="0" autoUpdateAnimBg="0"/>
      <p:bldP spid="19506" grpId="0" autoUpdateAnimBg="0"/>
      <p:bldP spid="19507" grpId="0"/>
      <p:bldP spid="19508" grpId="0"/>
      <p:bldP spid="1950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1" name="Text Box 11"/>
          <p:cNvSpPr txBox="1">
            <a:spLocks noChangeArrowheads="1"/>
          </p:cNvSpPr>
          <p:nvPr/>
        </p:nvSpPr>
        <p:spPr bwMode="auto">
          <a:xfrm>
            <a:off x="179388" y="188640"/>
            <a:ext cx="42608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800" b="1">
                <a:solidFill>
                  <a:srgbClr val="FFFF00"/>
                </a:solidFill>
                <a:latin typeface="Times New Roman" pitchFamily="18" charset="0"/>
              </a:rPr>
              <a:t>二</a:t>
            </a:r>
            <a:r>
              <a:rPr lang="en-US" altLang="zh-CN" sz="2800" b="1">
                <a:solidFill>
                  <a:srgbClr val="FFFF00"/>
                </a:solidFill>
                <a:latin typeface="Times New Roman" pitchFamily="18" charset="0"/>
              </a:rPr>
              <a:t>. </a:t>
            </a:r>
            <a:r>
              <a:rPr lang="zh-CN" altLang="en-US" sz="2800" b="1">
                <a:solidFill>
                  <a:srgbClr val="FFFF00"/>
                </a:solidFill>
                <a:latin typeface="Times New Roman" pitchFamily="18" charset="0"/>
              </a:rPr>
              <a:t>刚体对定轴的转动定律</a:t>
            </a:r>
            <a:endParaRPr lang="zh-CN" altLang="en-US" sz="2800" b="1" i="1">
              <a:solidFill>
                <a:srgbClr val="FFFF00"/>
              </a:solidFill>
              <a:latin typeface="Times New Roman" pitchFamily="18" charset="0"/>
            </a:endParaRPr>
          </a:p>
        </p:txBody>
      </p:sp>
      <p:sp>
        <p:nvSpPr>
          <p:cNvPr id="20492" name="Text Box 12"/>
          <p:cNvSpPr txBox="1">
            <a:spLocks noChangeArrowheads="1"/>
          </p:cNvSpPr>
          <p:nvPr/>
        </p:nvSpPr>
        <p:spPr bwMode="auto">
          <a:xfrm>
            <a:off x="454025" y="1152042"/>
            <a:ext cx="147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66FFFF"/>
                </a:solidFill>
                <a:latin typeface="Times New Roman" pitchFamily="18" charset="0"/>
              </a:rPr>
              <a:t>实验证明</a:t>
            </a:r>
            <a:endParaRPr lang="zh-CN" altLang="en-US" sz="2400" b="1" i="1">
              <a:solidFill>
                <a:srgbClr val="66FFFF"/>
              </a:solidFill>
              <a:latin typeface="Times New Roman" pitchFamily="18" charset="0"/>
            </a:endParaRPr>
          </a:p>
        </p:txBody>
      </p:sp>
      <p:sp>
        <p:nvSpPr>
          <p:cNvPr id="20493" name="Text Box 13"/>
          <p:cNvSpPr txBox="1">
            <a:spLocks noChangeArrowheads="1"/>
          </p:cNvSpPr>
          <p:nvPr/>
        </p:nvSpPr>
        <p:spPr bwMode="auto">
          <a:xfrm>
            <a:off x="2287588" y="864704"/>
            <a:ext cx="57800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chemeClr val="bg1"/>
                </a:solidFill>
                <a:latin typeface="Times New Roman" pitchFamily="18" charset="0"/>
              </a:rPr>
              <a:t>当 </a:t>
            </a:r>
            <a:r>
              <a:rPr lang="en-US" altLang="zh-CN" sz="2400" b="1" i="1">
                <a:solidFill>
                  <a:srgbClr val="66FFFF"/>
                </a:solidFill>
                <a:latin typeface="Times New Roman" pitchFamily="18" charset="0"/>
              </a:rPr>
              <a:t>M</a:t>
            </a:r>
            <a:r>
              <a:rPr lang="en-US" altLang="zh-CN" sz="2400" b="1">
                <a:solidFill>
                  <a:schemeClr val="bg1"/>
                </a:solidFill>
                <a:latin typeface="Times New Roman" pitchFamily="18" charset="0"/>
              </a:rPr>
              <a:t> </a:t>
            </a:r>
            <a:r>
              <a:rPr lang="zh-CN" altLang="en-US" sz="2400" b="1">
                <a:solidFill>
                  <a:schemeClr val="bg1"/>
                </a:solidFill>
                <a:latin typeface="Times New Roman" pitchFamily="18" charset="0"/>
              </a:rPr>
              <a:t>为零时，则刚体保持静止或匀速转动</a:t>
            </a:r>
            <a:endParaRPr lang="zh-CN" altLang="en-US" sz="2400" b="1" i="1">
              <a:solidFill>
                <a:schemeClr val="bg1"/>
              </a:solidFill>
              <a:latin typeface="Times New Roman" pitchFamily="18" charset="0"/>
            </a:endParaRPr>
          </a:p>
        </p:txBody>
      </p:sp>
      <p:sp>
        <p:nvSpPr>
          <p:cNvPr id="20494" name="Text Box 14"/>
          <p:cNvSpPr txBox="1">
            <a:spLocks noChangeArrowheads="1"/>
          </p:cNvSpPr>
          <p:nvPr/>
        </p:nvSpPr>
        <p:spPr bwMode="auto">
          <a:xfrm>
            <a:off x="2287589" y="1533042"/>
            <a:ext cx="638886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dirty="0">
                <a:solidFill>
                  <a:schemeClr val="bg1"/>
                </a:solidFill>
                <a:latin typeface="Times New Roman" pitchFamily="18" charset="0"/>
              </a:rPr>
              <a:t>当存在 </a:t>
            </a:r>
            <a:r>
              <a:rPr lang="en-US" altLang="zh-CN" sz="2400" b="1" i="1" dirty="0">
                <a:solidFill>
                  <a:srgbClr val="66FFFF"/>
                </a:solidFill>
                <a:latin typeface="Times New Roman" pitchFamily="18" charset="0"/>
              </a:rPr>
              <a:t>M </a:t>
            </a:r>
            <a:r>
              <a:rPr lang="zh-CN" altLang="en-US" sz="2400" b="1" dirty="0">
                <a:solidFill>
                  <a:schemeClr val="bg1"/>
                </a:solidFill>
                <a:latin typeface="Times New Roman" pitchFamily="18" charset="0"/>
              </a:rPr>
              <a:t>时，</a:t>
            </a:r>
            <a:r>
              <a:rPr lang="zh-CN" altLang="en-US" sz="2400" b="1" i="1" dirty="0">
                <a:solidFill>
                  <a:srgbClr val="66FFFF"/>
                </a:solidFill>
                <a:latin typeface="Times New Roman" pitchFamily="18" charset="0"/>
                <a:sym typeface="Symbol" pitchFamily="18" charset="2"/>
              </a:rPr>
              <a:t></a:t>
            </a:r>
            <a:r>
              <a:rPr lang="zh-CN" altLang="en-US" sz="2400" b="1" dirty="0">
                <a:solidFill>
                  <a:schemeClr val="bg1"/>
                </a:solidFill>
                <a:latin typeface="Times New Roman" pitchFamily="18" charset="0"/>
              </a:rPr>
              <a:t> 与 </a:t>
            </a:r>
            <a:r>
              <a:rPr lang="en-US" altLang="zh-CN" sz="2400" b="1" i="1" dirty="0">
                <a:solidFill>
                  <a:srgbClr val="66FFFF"/>
                </a:solidFill>
                <a:latin typeface="Times New Roman" pitchFamily="18" charset="0"/>
              </a:rPr>
              <a:t>M</a:t>
            </a:r>
            <a:r>
              <a:rPr lang="en-US" altLang="zh-CN" sz="2400" b="1" i="1" dirty="0">
                <a:solidFill>
                  <a:schemeClr val="bg1"/>
                </a:solidFill>
                <a:latin typeface="Times New Roman" pitchFamily="18" charset="0"/>
              </a:rPr>
              <a:t> </a:t>
            </a:r>
            <a:r>
              <a:rPr lang="zh-CN" altLang="en-US" sz="2400" b="1" dirty="0">
                <a:solidFill>
                  <a:schemeClr val="bg1"/>
                </a:solidFill>
                <a:latin typeface="Times New Roman" pitchFamily="18" charset="0"/>
              </a:rPr>
              <a:t>成正比，此外还与刚体的质量大小及其质量分布都有关</a:t>
            </a:r>
            <a:endParaRPr lang="zh-CN" altLang="en-US" sz="2400" b="1" i="1" dirty="0">
              <a:solidFill>
                <a:schemeClr val="bg1"/>
              </a:solidFill>
              <a:latin typeface="Times New Roman" pitchFamily="18" charset="0"/>
            </a:endParaRPr>
          </a:p>
        </p:txBody>
      </p:sp>
      <p:sp>
        <p:nvSpPr>
          <p:cNvPr id="20495" name="AutoShape 15"/>
          <p:cNvSpPr>
            <a:spLocks/>
          </p:cNvSpPr>
          <p:nvPr/>
        </p:nvSpPr>
        <p:spPr bwMode="auto">
          <a:xfrm>
            <a:off x="2036763" y="961542"/>
            <a:ext cx="322262" cy="935037"/>
          </a:xfrm>
          <a:prstGeom prst="leftBrace">
            <a:avLst>
              <a:gd name="adj1" fmla="val 24179"/>
              <a:gd name="adj2" fmla="val 50000"/>
            </a:avLst>
          </a:prstGeom>
          <a:noFill/>
          <a:ln w="25400">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zh-CN" sz="2400" b="1">
              <a:solidFill>
                <a:srgbClr val="FF9966"/>
              </a:solidFill>
              <a:latin typeface="Times New Roman" pitchFamily="18" charset="0"/>
            </a:endParaRPr>
          </a:p>
        </p:txBody>
      </p:sp>
      <p:sp>
        <p:nvSpPr>
          <p:cNvPr id="11" name="Freeform 2"/>
          <p:cNvSpPr>
            <a:spLocks/>
          </p:cNvSpPr>
          <p:nvPr/>
        </p:nvSpPr>
        <p:spPr bwMode="auto">
          <a:xfrm>
            <a:off x="6315385" y="2565175"/>
            <a:ext cx="2849562" cy="3335338"/>
          </a:xfrm>
          <a:custGeom>
            <a:avLst/>
            <a:gdLst>
              <a:gd name="T0" fmla="*/ 2147483647 w 1761"/>
              <a:gd name="T1" fmla="*/ 2147483647 h 1074"/>
              <a:gd name="T2" fmla="*/ 2147483647 w 1761"/>
              <a:gd name="T3" fmla="*/ 2147483647 h 1074"/>
              <a:gd name="T4" fmla="*/ 2147483647 w 1761"/>
              <a:gd name="T5" fmla="*/ 2147483647 h 1074"/>
              <a:gd name="T6" fmla="*/ 2147483647 w 1761"/>
              <a:gd name="T7" fmla="*/ 2147483647 h 1074"/>
              <a:gd name="T8" fmla="*/ 2147483647 w 1761"/>
              <a:gd name="T9" fmla="*/ 2147483647 h 1074"/>
              <a:gd name="T10" fmla="*/ 2147483647 w 1761"/>
              <a:gd name="T11" fmla="*/ 2147483647 h 1074"/>
              <a:gd name="T12" fmla="*/ 2147483647 w 1761"/>
              <a:gd name="T13" fmla="*/ 2147483647 h 1074"/>
              <a:gd name="T14" fmla="*/ 2147483647 w 1761"/>
              <a:gd name="T15" fmla="*/ 2147483647 h 1074"/>
              <a:gd name="T16" fmla="*/ 2147483647 w 1761"/>
              <a:gd name="T17" fmla="*/ 2147483647 h 1074"/>
              <a:gd name="T18" fmla="*/ 2147483647 w 1761"/>
              <a:gd name="T19" fmla="*/ 2147483647 h 10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339966"/>
          </a:solidFill>
          <a:ln w="9525">
            <a:round/>
            <a:headEnd/>
            <a:tailEnd/>
          </a:ln>
          <a:effectLst/>
          <a:scene3d>
            <a:camera prst="legacyPerspectiveFront">
              <a:rot lat="17699992" lon="0" rev="0"/>
            </a:camera>
            <a:lightRig rig="legacyFlat2" dir="t"/>
          </a:scene3d>
          <a:sp3d extrusionH="201600" prstMaterial="legacyMatte">
            <a:bevelT w="13500" h="13500" prst="angle"/>
            <a:bevelB w="13500" h="13500" prst="angle"/>
            <a:extrusionClr>
              <a:srgbClr val="339966"/>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12" name="Line 3"/>
          <p:cNvSpPr>
            <a:spLocks noChangeShapeType="1"/>
          </p:cNvSpPr>
          <p:nvPr/>
        </p:nvSpPr>
        <p:spPr bwMode="auto">
          <a:xfrm>
            <a:off x="7047222" y="2936650"/>
            <a:ext cx="0" cy="1295400"/>
          </a:xfrm>
          <a:prstGeom prst="line">
            <a:avLst/>
          </a:prstGeom>
          <a:noFill/>
          <a:ln w="508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4"/>
          <p:cNvSpPr>
            <a:spLocks noChangeShapeType="1"/>
          </p:cNvSpPr>
          <p:nvPr/>
        </p:nvSpPr>
        <p:spPr bwMode="auto">
          <a:xfrm>
            <a:off x="7047222" y="5087713"/>
            <a:ext cx="0" cy="457200"/>
          </a:xfrm>
          <a:prstGeom prst="line">
            <a:avLst/>
          </a:prstGeom>
          <a:noFill/>
          <a:ln w="508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5"/>
          <p:cNvSpPr txBox="1">
            <a:spLocks noChangeArrowheads="1"/>
          </p:cNvSpPr>
          <p:nvPr/>
        </p:nvSpPr>
        <p:spPr bwMode="auto">
          <a:xfrm>
            <a:off x="7226610" y="2916013"/>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sym typeface="Symbol" pitchFamily="18" charset="2"/>
              </a:rPr>
              <a:t></a:t>
            </a:r>
            <a:endParaRPr lang="en-US" altLang="zh-CN" sz="2400" i="1">
              <a:solidFill>
                <a:schemeClr val="accent2"/>
              </a:solidFill>
              <a:latin typeface="Times New Roman" pitchFamily="18" charset="0"/>
            </a:endParaRPr>
          </a:p>
        </p:txBody>
      </p:sp>
      <p:sp>
        <p:nvSpPr>
          <p:cNvPr id="16" name="Line 6"/>
          <p:cNvSpPr>
            <a:spLocks noChangeShapeType="1"/>
          </p:cNvSpPr>
          <p:nvPr/>
        </p:nvSpPr>
        <p:spPr bwMode="auto">
          <a:xfrm>
            <a:off x="7047222" y="4232050"/>
            <a:ext cx="914400" cy="381000"/>
          </a:xfrm>
          <a:prstGeom prst="line">
            <a:avLst/>
          </a:prstGeom>
          <a:noFill/>
          <a:ln w="254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Text Box 7"/>
          <p:cNvSpPr txBox="1">
            <a:spLocks noChangeArrowheads="1"/>
          </p:cNvSpPr>
          <p:nvPr/>
        </p:nvSpPr>
        <p:spPr bwMode="auto">
          <a:xfrm>
            <a:off x="6615422" y="3965350"/>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chemeClr val="accent2"/>
                </a:solidFill>
                <a:latin typeface="Times New Roman" pitchFamily="18" charset="0"/>
              </a:rPr>
              <a:t>O</a:t>
            </a:r>
          </a:p>
        </p:txBody>
      </p:sp>
      <p:graphicFrame>
        <p:nvGraphicFramePr>
          <p:cNvPr id="18" name="Object 8"/>
          <p:cNvGraphicFramePr>
            <a:graphicFrameLocks/>
          </p:cNvGraphicFramePr>
          <p:nvPr>
            <p:extLst>
              <p:ext uri="{D42A27DB-BD31-4B8C-83A1-F6EECF244321}">
                <p14:modId xmlns:p14="http://schemas.microsoft.com/office/powerpoint/2010/main" val="3818650997"/>
              </p:ext>
            </p:extLst>
          </p:nvPr>
        </p:nvGraphicFramePr>
        <p:xfrm>
          <a:off x="7394885" y="3955825"/>
          <a:ext cx="215900" cy="431800"/>
        </p:xfrm>
        <a:graphic>
          <a:graphicData uri="http://schemas.openxmlformats.org/presentationml/2006/ole">
            <mc:AlternateContent xmlns:mc="http://schemas.openxmlformats.org/markup-compatibility/2006">
              <mc:Choice xmlns:v="urn:schemas-microsoft-com:vml" Requires="v">
                <p:oleObj spid="_x0000_s11320" name="公式" r:id="rId3" imgW="123903" imgH="342816" progId="Equation.3">
                  <p:embed/>
                </p:oleObj>
              </mc:Choice>
              <mc:Fallback>
                <p:oleObj name="公式" r:id="rId3" imgW="123903" imgH="342816"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4885" y="3955825"/>
                        <a:ext cx="2159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9"/>
          <p:cNvGraphicFramePr>
            <a:graphicFrameLocks/>
          </p:cNvGraphicFramePr>
          <p:nvPr>
            <p:extLst>
              <p:ext uri="{D42A27DB-BD31-4B8C-83A1-F6EECF244321}">
                <p14:modId xmlns:p14="http://schemas.microsoft.com/office/powerpoint/2010/main" val="546979204"/>
              </p:ext>
            </p:extLst>
          </p:nvPr>
        </p:nvGraphicFramePr>
        <p:xfrm>
          <a:off x="8529947" y="3816125"/>
          <a:ext cx="306388" cy="442913"/>
        </p:xfrm>
        <a:graphic>
          <a:graphicData uri="http://schemas.openxmlformats.org/presentationml/2006/ole">
            <mc:AlternateContent xmlns:mc="http://schemas.openxmlformats.org/markup-compatibility/2006">
              <mc:Choice xmlns:v="urn:schemas-microsoft-com:vml" Requires="v">
                <p:oleObj spid="_x0000_s11321" name="公式" r:id="rId5" imgW="219192" imgH="352533" progId="Equation.3">
                  <p:embed/>
                </p:oleObj>
              </mc:Choice>
              <mc:Fallback>
                <p:oleObj name="公式" r:id="rId5" imgW="219192" imgH="352533"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9947" y="3816125"/>
                        <a:ext cx="306388"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Line 10"/>
          <p:cNvSpPr>
            <a:spLocks noChangeShapeType="1"/>
          </p:cNvSpPr>
          <p:nvPr/>
        </p:nvSpPr>
        <p:spPr bwMode="auto">
          <a:xfrm flipV="1">
            <a:off x="7961622" y="4165375"/>
            <a:ext cx="1066800" cy="4572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1"/>
          <p:cNvSpPr>
            <a:spLocks noChangeShapeType="1"/>
          </p:cNvSpPr>
          <p:nvPr/>
        </p:nvSpPr>
        <p:spPr bwMode="auto">
          <a:xfrm flipH="1" flipV="1">
            <a:off x="7856847" y="3851050"/>
            <a:ext cx="152400" cy="762000"/>
          </a:xfrm>
          <a:prstGeom prst="line">
            <a:avLst/>
          </a:prstGeom>
          <a:noFill/>
          <a:ln w="254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2" name="Object 12"/>
          <p:cNvGraphicFramePr>
            <a:graphicFrameLocks/>
          </p:cNvGraphicFramePr>
          <p:nvPr>
            <p:extLst>
              <p:ext uri="{D42A27DB-BD31-4B8C-83A1-F6EECF244321}">
                <p14:modId xmlns:p14="http://schemas.microsoft.com/office/powerpoint/2010/main" val="2789295102"/>
              </p:ext>
            </p:extLst>
          </p:nvPr>
        </p:nvGraphicFramePr>
        <p:xfrm>
          <a:off x="7891772" y="3617688"/>
          <a:ext cx="280988" cy="482600"/>
        </p:xfrm>
        <a:graphic>
          <a:graphicData uri="http://schemas.openxmlformats.org/presentationml/2006/ole">
            <mc:AlternateContent xmlns:mc="http://schemas.openxmlformats.org/markup-compatibility/2006">
              <mc:Choice xmlns:v="urn:schemas-microsoft-com:vml" Requires="v">
                <p:oleObj spid="_x0000_s11322" name="公式" r:id="rId7" imgW="190578" imgH="390594" progId="Equation.3">
                  <p:embed/>
                </p:oleObj>
              </mc:Choice>
              <mc:Fallback>
                <p:oleObj name="公式" r:id="rId7" imgW="190578" imgH="390594"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91772" y="3617688"/>
                        <a:ext cx="280988"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13"/>
          <p:cNvGraphicFramePr>
            <a:graphicFrameLocks/>
          </p:cNvGraphicFramePr>
          <p:nvPr>
            <p:extLst>
              <p:ext uri="{D42A27DB-BD31-4B8C-83A1-F6EECF244321}">
                <p14:modId xmlns:p14="http://schemas.microsoft.com/office/powerpoint/2010/main" val="2036158679"/>
              </p:ext>
            </p:extLst>
          </p:nvPr>
        </p:nvGraphicFramePr>
        <p:xfrm>
          <a:off x="7918760" y="4505100"/>
          <a:ext cx="190500" cy="190500"/>
        </p:xfrm>
        <a:graphic>
          <a:graphicData uri="http://schemas.openxmlformats.org/presentationml/2006/ole">
            <mc:AlternateContent xmlns:mc="http://schemas.openxmlformats.org/markup-compatibility/2006">
              <mc:Choice xmlns:v="urn:schemas-microsoft-com:vml" Requires="v">
                <p:oleObj spid="_x0000_s11323" name="公式" r:id="rId9" imgW="190417" imgH="190417" progId="Equation.3">
                  <p:embed/>
                </p:oleObj>
              </mc:Choice>
              <mc:Fallback>
                <p:oleObj name="公式" r:id="rId9" imgW="190417" imgH="190417"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18760" y="4505100"/>
                        <a:ext cx="1905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Text Box 14"/>
          <p:cNvSpPr txBox="1">
            <a:spLocks noChangeArrowheads="1"/>
          </p:cNvSpPr>
          <p:nvPr/>
        </p:nvSpPr>
        <p:spPr bwMode="auto">
          <a:xfrm>
            <a:off x="917091" y="2741388"/>
            <a:ext cx="1416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dirty="0">
                <a:solidFill>
                  <a:srgbClr val="66FFFF"/>
                </a:solidFill>
                <a:latin typeface="Times New Roman" pitchFamily="18" charset="0"/>
              </a:rPr>
              <a:t>理论推证</a:t>
            </a:r>
          </a:p>
        </p:txBody>
      </p:sp>
      <p:graphicFrame>
        <p:nvGraphicFramePr>
          <p:cNvPr id="25" name="Object 15"/>
          <p:cNvGraphicFramePr>
            <a:graphicFrameLocks/>
          </p:cNvGraphicFramePr>
          <p:nvPr>
            <p:extLst>
              <p:ext uri="{D42A27DB-BD31-4B8C-83A1-F6EECF244321}">
                <p14:modId xmlns:p14="http://schemas.microsoft.com/office/powerpoint/2010/main" val="704235737"/>
              </p:ext>
            </p:extLst>
          </p:nvPr>
        </p:nvGraphicFramePr>
        <p:xfrm>
          <a:off x="2669781" y="3310928"/>
          <a:ext cx="2334267" cy="540122"/>
        </p:xfrm>
        <a:graphic>
          <a:graphicData uri="http://schemas.openxmlformats.org/presentationml/2006/ole">
            <mc:AlternateContent xmlns:mc="http://schemas.openxmlformats.org/markup-compatibility/2006">
              <mc:Choice xmlns:v="urn:schemas-microsoft-com:vml" Requires="v">
                <p:oleObj spid="_x0000_s11324" name="Equation" r:id="rId11" imgW="914400" imgH="253800" progId="Equation.DSMT4">
                  <p:embed/>
                </p:oleObj>
              </mc:Choice>
              <mc:Fallback>
                <p:oleObj name="Equation" r:id="rId11" imgW="914400" imgH="253800" progId="Equation.DSMT4">
                  <p:embed/>
                  <p:pic>
                    <p:nvPicPr>
                      <p:cNvPr id="0" name=""/>
                      <p:cNvPicPr>
                        <a:picLocks noChangeArrowheads="1"/>
                      </p:cNvPicPr>
                      <p:nvPr/>
                    </p:nvPicPr>
                    <p:blipFill>
                      <a:blip r:embed="rId12"/>
                      <a:srcRect/>
                      <a:stretch>
                        <a:fillRect/>
                      </a:stretch>
                    </p:blipFill>
                    <p:spPr bwMode="auto">
                      <a:xfrm>
                        <a:off x="2669781" y="3310928"/>
                        <a:ext cx="2334267" cy="540122"/>
                      </a:xfrm>
                      <a:prstGeom prst="rect">
                        <a:avLst/>
                      </a:prstGeom>
                      <a:noFill/>
                      <a:ln>
                        <a:noFill/>
                      </a:ln>
                      <a:effectLst/>
                    </p:spPr>
                  </p:pic>
                </p:oleObj>
              </mc:Fallback>
            </mc:AlternateContent>
          </a:graphicData>
        </a:graphic>
      </p:graphicFrame>
      <p:sp>
        <p:nvSpPr>
          <p:cNvPr id="26" name="Text Box 16"/>
          <p:cNvSpPr txBox="1">
            <a:spLocks noChangeArrowheads="1"/>
          </p:cNvSpPr>
          <p:nvPr/>
        </p:nvSpPr>
        <p:spPr bwMode="auto">
          <a:xfrm>
            <a:off x="821841" y="3335321"/>
            <a:ext cx="1724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chemeClr val="bg1"/>
                </a:solidFill>
                <a:latin typeface="Times New Roman" pitchFamily="18" charset="0"/>
              </a:rPr>
              <a:t>取一质量元</a:t>
            </a:r>
          </a:p>
        </p:txBody>
      </p:sp>
      <p:sp>
        <p:nvSpPr>
          <p:cNvPr id="27" name="Rectangle 28"/>
          <p:cNvSpPr>
            <a:spLocks noChangeArrowheads="1"/>
          </p:cNvSpPr>
          <p:nvPr/>
        </p:nvSpPr>
        <p:spPr bwMode="auto">
          <a:xfrm>
            <a:off x="558316" y="2617563"/>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4000" b="1">
                <a:solidFill>
                  <a:srgbClr val="FFFF00"/>
                </a:solidFill>
                <a:latin typeface="Times New Roman" pitchFamily="18" charset="0"/>
              </a:rPr>
              <a:t>•</a:t>
            </a:r>
          </a:p>
        </p:txBody>
      </p:sp>
      <p:graphicFrame>
        <p:nvGraphicFramePr>
          <p:cNvPr id="28" name="Object 29"/>
          <p:cNvGraphicFramePr>
            <a:graphicFrameLocks noGrp="1"/>
          </p:cNvGraphicFramePr>
          <p:nvPr>
            <p:ph sz="half" idx="1"/>
            <p:extLst>
              <p:ext uri="{D42A27DB-BD31-4B8C-83A1-F6EECF244321}">
                <p14:modId xmlns:p14="http://schemas.microsoft.com/office/powerpoint/2010/main" val="1757069541"/>
              </p:ext>
            </p:extLst>
          </p:nvPr>
        </p:nvGraphicFramePr>
        <p:xfrm>
          <a:off x="7596497" y="4493988"/>
          <a:ext cx="355600" cy="431800"/>
        </p:xfrm>
        <a:graphic>
          <a:graphicData uri="http://schemas.openxmlformats.org/presentationml/2006/ole">
            <mc:AlternateContent xmlns:mc="http://schemas.openxmlformats.org/markup-compatibility/2006">
              <mc:Choice xmlns:v="urn:schemas-microsoft-com:vml" Requires="v">
                <p:oleObj spid="_x0000_s11325" name="公式" r:id="rId13" imgW="266702" imgH="342816" progId="Equation.3">
                  <p:embed/>
                </p:oleObj>
              </mc:Choice>
              <mc:Fallback>
                <p:oleObj name="公式" r:id="rId13" imgW="266702" imgH="342816" progId="Equation.3">
                  <p:embed/>
                  <p:pic>
                    <p:nvPicPr>
                      <p:cNvPr id="0" name=""/>
                      <p:cNvPicPr>
                        <a:picLocks noGrp="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96497" y="4493988"/>
                        <a:ext cx="3556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Arc 30"/>
          <p:cNvSpPr>
            <a:spLocks/>
          </p:cNvSpPr>
          <p:nvPr/>
        </p:nvSpPr>
        <p:spPr bwMode="auto">
          <a:xfrm flipH="1">
            <a:off x="6799572" y="3212875"/>
            <a:ext cx="471488" cy="146050"/>
          </a:xfrm>
          <a:custGeom>
            <a:avLst/>
            <a:gdLst>
              <a:gd name="T0" fmla="*/ 2147483647 w 43200"/>
              <a:gd name="T1" fmla="*/ 0 h 38804"/>
              <a:gd name="T2" fmla="*/ 2147483647 w 43200"/>
              <a:gd name="T3" fmla="*/ 27904911 h 38804"/>
              <a:gd name="T4" fmla="*/ 2147483647 w 43200"/>
              <a:gd name="T5" fmla="*/ 2147483647 h 38804"/>
              <a:gd name="T6" fmla="*/ 0 60000 65536"/>
              <a:gd name="T7" fmla="*/ 0 60000 65536"/>
              <a:gd name="T8" fmla="*/ 0 60000 65536"/>
            </a:gdLst>
            <a:ahLst/>
            <a:cxnLst>
              <a:cxn ang="T6">
                <a:pos x="T0" y="T1"/>
              </a:cxn>
              <a:cxn ang="T7">
                <a:pos x="T2" y="T3"/>
              </a:cxn>
              <a:cxn ang="T8">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lnTo>
                  <a:pt x="34660" y="0"/>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0" name="对象 29"/>
          <p:cNvGraphicFramePr>
            <a:graphicFrameLocks noChangeAspect="1"/>
          </p:cNvGraphicFramePr>
          <p:nvPr>
            <p:extLst>
              <p:ext uri="{D42A27DB-BD31-4B8C-83A1-F6EECF244321}">
                <p14:modId xmlns:p14="http://schemas.microsoft.com/office/powerpoint/2010/main" val="3020427914"/>
              </p:ext>
            </p:extLst>
          </p:nvPr>
        </p:nvGraphicFramePr>
        <p:xfrm>
          <a:off x="788504" y="3920900"/>
          <a:ext cx="4341812" cy="717550"/>
        </p:xfrm>
        <a:graphic>
          <a:graphicData uri="http://schemas.openxmlformats.org/presentationml/2006/ole">
            <mc:AlternateContent xmlns:mc="http://schemas.openxmlformats.org/markup-compatibility/2006">
              <mc:Choice xmlns:v="urn:schemas-microsoft-com:vml" Requires="v">
                <p:oleObj spid="_x0000_s11326" name="Equation" r:id="rId15" imgW="1536480" imgH="253800" progId="Equation.DSMT4">
                  <p:embed/>
                </p:oleObj>
              </mc:Choice>
              <mc:Fallback>
                <p:oleObj name="Equation" r:id="rId15" imgW="1536480" imgH="253800" progId="Equation.DSMT4">
                  <p:embed/>
                  <p:pic>
                    <p:nvPicPr>
                      <p:cNvPr id="0" name=""/>
                      <p:cNvPicPr/>
                      <p:nvPr/>
                    </p:nvPicPr>
                    <p:blipFill>
                      <a:blip r:embed="rId16"/>
                      <a:stretch>
                        <a:fillRect/>
                      </a:stretch>
                    </p:blipFill>
                    <p:spPr>
                      <a:xfrm>
                        <a:off x="788504" y="3920900"/>
                        <a:ext cx="4341812" cy="717550"/>
                      </a:xfrm>
                      <a:prstGeom prst="rect">
                        <a:avLst/>
                      </a:prstGeom>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96176741"/>
              </p:ext>
            </p:extLst>
          </p:nvPr>
        </p:nvGraphicFramePr>
        <p:xfrm>
          <a:off x="213817" y="4792438"/>
          <a:ext cx="5919788" cy="752475"/>
        </p:xfrm>
        <a:graphic>
          <a:graphicData uri="http://schemas.openxmlformats.org/presentationml/2006/ole">
            <mc:AlternateContent xmlns:mc="http://schemas.openxmlformats.org/markup-compatibility/2006">
              <mc:Choice xmlns:v="urn:schemas-microsoft-com:vml" Requires="v">
                <p:oleObj spid="_x0000_s11327" name="Equation" r:id="rId17" imgW="2095200" imgH="266400" progId="Equation.DSMT4">
                  <p:embed/>
                </p:oleObj>
              </mc:Choice>
              <mc:Fallback>
                <p:oleObj name="Equation" r:id="rId17" imgW="2095200" imgH="266400" progId="Equation.DSMT4">
                  <p:embed/>
                  <p:pic>
                    <p:nvPicPr>
                      <p:cNvPr id="0" name=""/>
                      <p:cNvPicPr>
                        <a:picLocks noChangeAspect="1" noChangeArrowheads="1"/>
                      </p:cNvPicPr>
                      <p:nvPr/>
                    </p:nvPicPr>
                    <p:blipFill>
                      <a:blip r:embed="rId18"/>
                      <a:srcRect/>
                      <a:stretch>
                        <a:fillRect/>
                      </a:stretch>
                    </p:blipFill>
                    <p:spPr bwMode="auto">
                      <a:xfrm>
                        <a:off x="213817" y="4792438"/>
                        <a:ext cx="5919788"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 name="下箭头 31"/>
          <p:cNvSpPr/>
          <p:nvPr/>
        </p:nvSpPr>
        <p:spPr>
          <a:xfrm>
            <a:off x="612713" y="5419720"/>
            <a:ext cx="216024" cy="584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下箭头 32"/>
          <p:cNvSpPr/>
          <p:nvPr/>
        </p:nvSpPr>
        <p:spPr>
          <a:xfrm>
            <a:off x="2968166" y="5421582"/>
            <a:ext cx="216024" cy="584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720725" y="5698249"/>
            <a:ext cx="2037737" cy="523220"/>
          </a:xfrm>
          <a:prstGeom prst="rect">
            <a:avLst/>
          </a:prstGeom>
        </p:spPr>
        <p:txBody>
          <a:bodyPr wrap="none">
            <a:spAutoFit/>
          </a:bodyPr>
          <a:lstStyle/>
          <a:p>
            <a:pPr lvl="0"/>
            <a:r>
              <a:rPr lang="zh-CN" altLang="en-US" sz="2800" b="1">
                <a:solidFill>
                  <a:schemeClr val="bg1"/>
                </a:solidFill>
              </a:rPr>
              <a:t>合内力矩</a:t>
            </a:r>
            <a:r>
              <a:rPr lang="en-US" altLang="zh-CN" sz="2800" b="1">
                <a:solidFill>
                  <a:schemeClr val="bg1"/>
                </a:solidFill>
                <a:latin typeface="+mn-lt"/>
              </a:rPr>
              <a:t>=0</a:t>
            </a:r>
            <a:endParaRPr lang="zh-CN" altLang="en-US" sz="2800" b="1">
              <a:solidFill>
                <a:schemeClr val="bg1"/>
              </a:solidFill>
              <a:latin typeface="+mn-lt"/>
            </a:endParaRPr>
          </a:p>
        </p:txBody>
      </p:sp>
      <p:sp>
        <p:nvSpPr>
          <p:cNvPr id="35" name="矩形 34"/>
          <p:cNvSpPr/>
          <p:nvPr/>
        </p:nvSpPr>
        <p:spPr>
          <a:xfrm>
            <a:off x="3188408" y="5688942"/>
            <a:ext cx="1627369" cy="523220"/>
          </a:xfrm>
          <a:prstGeom prst="rect">
            <a:avLst/>
          </a:prstGeom>
        </p:spPr>
        <p:txBody>
          <a:bodyPr wrap="none">
            <a:spAutoFit/>
          </a:bodyPr>
          <a:lstStyle/>
          <a:p>
            <a:pPr lvl="0"/>
            <a:r>
              <a:rPr lang="zh-CN" altLang="en-US" sz="2800" b="1">
                <a:solidFill>
                  <a:schemeClr val="bg1"/>
                </a:solidFill>
              </a:rPr>
              <a:t>合外力矩</a:t>
            </a:r>
          </a:p>
        </p:txBody>
      </p:sp>
      <p:graphicFrame>
        <p:nvGraphicFramePr>
          <p:cNvPr id="36" name="对象 35"/>
          <p:cNvGraphicFramePr>
            <a:graphicFrameLocks noChangeAspect="1"/>
          </p:cNvGraphicFramePr>
          <p:nvPr>
            <p:extLst>
              <p:ext uri="{D42A27DB-BD31-4B8C-83A1-F6EECF244321}">
                <p14:modId xmlns:p14="http://schemas.microsoft.com/office/powerpoint/2010/main" val="2054174770"/>
              </p:ext>
            </p:extLst>
          </p:nvPr>
        </p:nvGraphicFramePr>
        <p:xfrm>
          <a:off x="4815777" y="5585427"/>
          <a:ext cx="2368550" cy="730250"/>
        </p:xfrm>
        <a:graphic>
          <a:graphicData uri="http://schemas.openxmlformats.org/presentationml/2006/ole">
            <mc:AlternateContent xmlns:mc="http://schemas.openxmlformats.org/markup-compatibility/2006">
              <mc:Choice xmlns:v="urn:schemas-microsoft-com:vml" Requires="v">
                <p:oleObj spid="_x0000_s11328" name="Equation" r:id="rId19" imgW="863280" imgH="266400" progId="Equation.DSMT4">
                  <p:embed/>
                </p:oleObj>
              </mc:Choice>
              <mc:Fallback>
                <p:oleObj name="Equation" r:id="rId19" imgW="863280" imgH="266400" progId="Equation.DSMT4">
                  <p:embed/>
                  <p:pic>
                    <p:nvPicPr>
                      <p:cNvPr id="0" name=""/>
                      <p:cNvPicPr/>
                      <p:nvPr/>
                    </p:nvPicPr>
                    <p:blipFill>
                      <a:blip r:embed="rId20"/>
                      <a:stretch>
                        <a:fillRect/>
                      </a:stretch>
                    </p:blipFill>
                    <p:spPr>
                      <a:xfrm>
                        <a:off x="4815777" y="5585427"/>
                        <a:ext cx="2368550" cy="730250"/>
                      </a:xfrm>
                      <a:prstGeom prst="rect">
                        <a:avLst/>
                      </a:prstGeom>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92"/>
                                        </p:tgtEl>
                                        <p:attrNameLst>
                                          <p:attrName>style.visibility</p:attrName>
                                        </p:attrNameLst>
                                      </p:cBhvr>
                                      <p:to>
                                        <p:strVal val="visible"/>
                                      </p:to>
                                    </p:set>
                                    <p:animEffect transition="in" filter="wipe(left)">
                                      <p:cBhvr>
                                        <p:cTn id="7" dur="500"/>
                                        <p:tgtEl>
                                          <p:spTgt spid="2049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0495"/>
                                        </p:tgtEl>
                                        <p:attrNameLst>
                                          <p:attrName>style.visibility</p:attrName>
                                        </p:attrNameLst>
                                      </p:cBhvr>
                                      <p:to>
                                        <p:strVal val="visible"/>
                                      </p:to>
                                    </p:set>
                                    <p:animEffect transition="in" filter="wipe(left)">
                                      <p:cBhvr>
                                        <p:cTn id="10" dur="500"/>
                                        <p:tgtEl>
                                          <p:spTgt spid="2049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0493"/>
                                        </p:tgtEl>
                                        <p:attrNameLst>
                                          <p:attrName>style.visibility</p:attrName>
                                        </p:attrNameLst>
                                      </p:cBhvr>
                                      <p:to>
                                        <p:strVal val="visible"/>
                                      </p:to>
                                    </p:set>
                                    <p:animEffect transition="in" filter="wipe(left)">
                                      <p:cBhvr>
                                        <p:cTn id="13" dur="500"/>
                                        <p:tgtEl>
                                          <p:spTgt spid="2049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0494"/>
                                        </p:tgtEl>
                                        <p:attrNameLst>
                                          <p:attrName>style.visibility</p:attrName>
                                        </p:attrNameLst>
                                      </p:cBhvr>
                                      <p:to>
                                        <p:strVal val="visible"/>
                                      </p:to>
                                    </p:set>
                                    <p:animEffect transition="in" filter="wipe(left)">
                                      <p:cBhvr>
                                        <p:cTn id="18" dur="500"/>
                                        <p:tgtEl>
                                          <p:spTgt spid="2049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wipe(left)">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wipe(down)">
                                      <p:cBhvr>
                                        <p:cTn id="50" dur="500"/>
                                        <p:tgtEl>
                                          <p:spTgt spid="2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left)">
                                      <p:cBhvr>
                                        <p:cTn id="55" dur="500"/>
                                        <p:tgtEl>
                                          <p:spTgt spid="1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wipe(left)">
                                      <p:cBhvr>
                                        <p:cTn id="60" dur="500"/>
                                        <p:tgtEl>
                                          <p:spTgt spid="17"/>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wipe(left)">
                                      <p:cBhvr>
                                        <p:cTn id="65" dur="500"/>
                                        <p:tgtEl>
                                          <p:spTgt spid="23"/>
                                        </p:tgtEl>
                                      </p:cBhvr>
                                    </p:animEffect>
                                  </p:childTnLst>
                                </p:cTn>
                              </p:par>
                            </p:childTnLst>
                          </p:cTn>
                        </p:par>
                        <p:par>
                          <p:cTn id="66" fill="hold">
                            <p:stCondLst>
                              <p:cond delay="500"/>
                            </p:stCondLst>
                            <p:childTnLst>
                              <p:par>
                                <p:cTn id="67" presetID="22" presetClass="entr" presetSubtype="8" fill="hold" nodeType="after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wipe(left)">
                                      <p:cBhvr>
                                        <p:cTn id="69" dur="500"/>
                                        <p:tgtEl>
                                          <p:spTgt spid="28"/>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wipe(left)">
                                      <p:cBhvr>
                                        <p:cTn id="74" dur="500"/>
                                        <p:tgtEl>
                                          <p:spTgt spid="1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wipe(left)">
                                      <p:cBhvr>
                                        <p:cTn id="79" dur="500"/>
                                        <p:tgtEl>
                                          <p:spTgt spid="18"/>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wipe(left)">
                                      <p:cBhvr>
                                        <p:cTn id="84" dur="500"/>
                                        <p:tgtEl>
                                          <p:spTgt spid="20"/>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19"/>
                                        </p:tgtEl>
                                        <p:attrNameLst>
                                          <p:attrName>style.visibility</p:attrName>
                                        </p:attrNameLst>
                                      </p:cBhvr>
                                      <p:to>
                                        <p:strVal val="visible"/>
                                      </p:to>
                                    </p:set>
                                    <p:animEffect transition="in" filter="wipe(left)">
                                      <p:cBhvr>
                                        <p:cTn id="89" dur="500"/>
                                        <p:tgtEl>
                                          <p:spTgt spid="19"/>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wipe(left)">
                                      <p:cBhvr>
                                        <p:cTn id="94" dur="500"/>
                                        <p:tgtEl>
                                          <p:spTgt spid="21"/>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wipe(left)">
                                      <p:cBhvr>
                                        <p:cTn id="99" dur="500"/>
                                        <p:tgtEl>
                                          <p:spTgt spid="22"/>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25"/>
                                        </p:tgtEl>
                                        <p:attrNameLst>
                                          <p:attrName>style.visibility</p:attrName>
                                        </p:attrNameLst>
                                      </p:cBhvr>
                                      <p:to>
                                        <p:strVal val="visible"/>
                                      </p:to>
                                    </p:set>
                                    <p:animEffect transition="in" filter="wipe(left)">
                                      <p:cBhvr>
                                        <p:cTn id="104" dur="500"/>
                                        <p:tgtEl>
                                          <p:spTgt spid="25"/>
                                        </p:tgtEl>
                                      </p:cBhvr>
                                    </p:animEffec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30"/>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31"/>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32"/>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3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33"/>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35"/>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2" grpId="0" autoUpdateAnimBg="0"/>
      <p:bldP spid="20493" grpId="0" autoUpdateAnimBg="0"/>
      <p:bldP spid="20494" grpId="0" autoUpdateAnimBg="0"/>
      <p:bldP spid="20495" grpId="0" animBg="1" autoUpdateAnimBg="0"/>
      <p:bldP spid="11" grpId="0" animBg="1"/>
      <p:bldP spid="12" grpId="0" animBg="1"/>
      <p:bldP spid="14" grpId="0" animBg="1"/>
      <p:bldP spid="15" grpId="0" autoUpdateAnimBg="0"/>
      <p:bldP spid="16" grpId="0" animBg="1"/>
      <p:bldP spid="17" grpId="0" autoUpdateAnimBg="0"/>
      <p:bldP spid="20" grpId="0" animBg="1"/>
      <p:bldP spid="21" grpId="0" animBg="1"/>
      <p:bldP spid="24" grpId="0"/>
      <p:bldP spid="26" grpId="0" autoUpdateAnimBg="0"/>
      <p:bldP spid="27" grpId="0"/>
      <p:bldP spid="29" grpId="0" animBg="1"/>
      <p:bldP spid="32" grpId="0" animBg="1"/>
      <p:bldP spid="33" grpId="0" animBg="1"/>
      <p:bldP spid="34" grpId="0"/>
      <p:bldP spid="3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p:cNvGraphicFramePr>
          <p:nvPr>
            <p:extLst>
              <p:ext uri="{D42A27DB-BD31-4B8C-83A1-F6EECF244321}">
                <p14:modId xmlns:p14="http://schemas.microsoft.com/office/powerpoint/2010/main" val="3643810185"/>
              </p:ext>
            </p:extLst>
          </p:nvPr>
        </p:nvGraphicFramePr>
        <p:xfrm>
          <a:off x="3851920" y="3933056"/>
          <a:ext cx="1295400" cy="433387"/>
        </p:xfrm>
        <a:graphic>
          <a:graphicData uri="http://schemas.openxmlformats.org/presentationml/2006/ole">
            <mc:AlternateContent xmlns:mc="http://schemas.openxmlformats.org/markup-compatibility/2006">
              <mc:Choice xmlns:v="urn:schemas-microsoft-com:vml" Requires="v">
                <p:oleObj spid="_x0000_s12314" name="Equation" r:id="rId3" imgW="1133482" imgH="304755" progId="Equation.DSMT4">
                  <p:embed/>
                </p:oleObj>
              </mc:Choice>
              <mc:Fallback>
                <p:oleObj name="Equation" r:id="rId3" imgW="1133482" imgH="304755" progId="Equation.DSMT4">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920" y="3933056"/>
                        <a:ext cx="1295400" cy="433387"/>
                      </a:xfrm>
                      <a:prstGeom prst="rect">
                        <a:avLst/>
                      </a:prstGeom>
                      <a:noFill/>
                      <a:ln>
                        <a:noFill/>
                      </a:ln>
                      <a:effectLst/>
                    </p:spPr>
                  </p:pic>
                </p:oleObj>
              </mc:Fallback>
            </mc:AlternateContent>
          </a:graphicData>
        </a:graphic>
      </p:graphicFrame>
      <p:sp>
        <p:nvSpPr>
          <p:cNvPr id="5" name="矩形 4"/>
          <p:cNvSpPr>
            <a:spLocks noChangeArrowheads="1"/>
          </p:cNvSpPr>
          <p:nvPr/>
        </p:nvSpPr>
        <p:spPr bwMode="auto">
          <a:xfrm>
            <a:off x="465138" y="4725144"/>
            <a:ext cx="828675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solidFill>
                  <a:schemeClr val="bg1"/>
                </a:solidFill>
                <a:latin typeface="+mn-lt"/>
              </a:rPr>
              <a:t>对比</a:t>
            </a:r>
            <a:r>
              <a:rPr lang="zh-CN" altLang="en-US" sz="2800" b="1">
                <a:solidFill>
                  <a:schemeClr val="bg1"/>
                </a:solidFill>
                <a:latin typeface="+mn-lt"/>
              </a:rPr>
              <a:t>牛顿第二定律  </a:t>
            </a:r>
            <a:r>
              <a:rPr lang="en-US" altLang="zh-CN" sz="2800" b="1" i="1">
                <a:solidFill>
                  <a:schemeClr val="bg1"/>
                </a:solidFill>
                <a:latin typeface="+mn-lt"/>
              </a:rPr>
              <a:t>F</a:t>
            </a:r>
            <a:r>
              <a:rPr lang="en-US" altLang="zh-CN" sz="2800" b="1">
                <a:solidFill>
                  <a:schemeClr val="bg1"/>
                </a:solidFill>
                <a:latin typeface="+mn-lt"/>
              </a:rPr>
              <a:t>=</a:t>
            </a:r>
            <a:r>
              <a:rPr lang="en-US" altLang="zh-CN" sz="2800" b="1" i="1">
                <a:solidFill>
                  <a:schemeClr val="bg1"/>
                </a:solidFill>
                <a:latin typeface="+mn-lt"/>
              </a:rPr>
              <a:t>ma</a:t>
            </a:r>
            <a:r>
              <a:rPr lang="zh-CN" altLang="en-US" sz="2800" b="1" dirty="0">
                <a:solidFill>
                  <a:schemeClr val="bg1"/>
                </a:solidFill>
                <a:latin typeface="+mn-lt"/>
              </a:rPr>
              <a:t>，</a:t>
            </a:r>
            <a:r>
              <a:rPr lang="en-US" altLang="zh-CN" sz="2800" b="1" i="1" dirty="0">
                <a:solidFill>
                  <a:schemeClr val="bg1"/>
                </a:solidFill>
                <a:latin typeface="+mn-lt"/>
              </a:rPr>
              <a:t>m</a:t>
            </a:r>
            <a:r>
              <a:rPr lang="zh-CN" altLang="en-US" sz="2800" b="1" dirty="0">
                <a:solidFill>
                  <a:schemeClr val="bg1"/>
                </a:solidFill>
                <a:latin typeface="+mn-lt"/>
              </a:rPr>
              <a:t>是描述物体惯性的物理量</a:t>
            </a:r>
            <a:endParaRPr lang="en-US" altLang="zh-CN" sz="2800" b="1" dirty="0">
              <a:solidFill>
                <a:schemeClr val="bg1"/>
              </a:solidFill>
              <a:latin typeface="+mn-lt"/>
            </a:endParaRPr>
          </a:p>
          <a:p>
            <a:r>
              <a:rPr lang="en-US" altLang="zh-CN" sz="2800" b="1" i="1" dirty="0">
                <a:solidFill>
                  <a:schemeClr val="bg1"/>
                </a:solidFill>
                <a:latin typeface="+mn-lt"/>
              </a:rPr>
              <a:t>J</a:t>
            </a:r>
            <a:r>
              <a:rPr lang="zh-CN" altLang="en-US" sz="2800" b="1" dirty="0">
                <a:solidFill>
                  <a:schemeClr val="bg1"/>
                </a:solidFill>
              </a:rPr>
              <a:t>也是描述物体</a:t>
            </a:r>
            <a:r>
              <a:rPr lang="zh-CN" altLang="en-US" sz="2800" b="1" dirty="0">
                <a:solidFill>
                  <a:srgbClr val="FFC000"/>
                </a:solidFill>
              </a:rPr>
              <a:t>惯性</a:t>
            </a:r>
            <a:r>
              <a:rPr lang="zh-CN" altLang="en-US" sz="2800" b="1" dirty="0">
                <a:solidFill>
                  <a:schemeClr val="bg1"/>
                </a:solidFill>
              </a:rPr>
              <a:t>的物理量，并且是</a:t>
            </a:r>
            <a:r>
              <a:rPr lang="zh-CN" altLang="en-US" sz="2800" b="1" dirty="0">
                <a:solidFill>
                  <a:srgbClr val="FFC000"/>
                </a:solidFill>
              </a:rPr>
              <a:t>描述物体转动时的惯性</a:t>
            </a:r>
            <a:r>
              <a:rPr lang="zh-CN" altLang="en-US" sz="2800" b="1" dirty="0">
                <a:solidFill>
                  <a:schemeClr val="bg1"/>
                </a:solidFill>
              </a:rPr>
              <a:t>，称为</a:t>
            </a:r>
            <a:r>
              <a:rPr lang="zh-CN" altLang="en-US" sz="2800" b="1" dirty="0">
                <a:solidFill>
                  <a:srgbClr val="FFC000"/>
                </a:solidFill>
              </a:rPr>
              <a:t>转动惯量</a:t>
            </a:r>
            <a:r>
              <a:rPr lang="zh-CN" altLang="en-US" sz="2800" b="1" dirty="0">
                <a:solidFill>
                  <a:schemeClr val="bg1"/>
                </a:solidFill>
              </a:rPr>
              <a:t>。单位</a:t>
            </a:r>
            <a:r>
              <a:rPr lang="en-US" altLang="zh-CN" sz="2800" b="1" dirty="0">
                <a:solidFill>
                  <a:schemeClr val="bg1"/>
                </a:solidFill>
              </a:rPr>
              <a:t>:</a:t>
            </a:r>
          </a:p>
        </p:txBody>
      </p:sp>
      <p:graphicFrame>
        <p:nvGraphicFramePr>
          <p:cNvPr id="6" name="对象 5"/>
          <p:cNvGraphicFramePr>
            <a:graphicFrameLocks noChangeAspect="1"/>
          </p:cNvGraphicFramePr>
          <p:nvPr>
            <p:extLst>
              <p:ext uri="{D42A27DB-BD31-4B8C-83A1-F6EECF244321}">
                <p14:modId xmlns:p14="http://schemas.microsoft.com/office/powerpoint/2010/main" val="1533766997"/>
              </p:ext>
            </p:extLst>
          </p:nvPr>
        </p:nvGraphicFramePr>
        <p:xfrm>
          <a:off x="5748338" y="6025307"/>
          <a:ext cx="946150" cy="487362"/>
        </p:xfrm>
        <a:graphic>
          <a:graphicData uri="http://schemas.openxmlformats.org/presentationml/2006/ole">
            <mc:AlternateContent xmlns:mc="http://schemas.openxmlformats.org/markup-compatibility/2006">
              <mc:Choice xmlns:v="urn:schemas-microsoft-com:vml" Requires="v">
                <p:oleObj spid="_x0000_s12315" name="Equation" r:id="rId5" imgW="444307" imgH="228501" progId="Equation.DSMT4">
                  <p:embed/>
                </p:oleObj>
              </mc:Choice>
              <mc:Fallback>
                <p:oleObj name="Equation" r:id="rId5" imgW="444307" imgH="228501"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48338" y="6025307"/>
                        <a:ext cx="94615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 Box 14"/>
          <p:cNvSpPr txBox="1">
            <a:spLocks noChangeArrowheads="1"/>
          </p:cNvSpPr>
          <p:nvPr/>
        </p:nvSpPr>
        <p:spPr bwMode="auto">
          <a:xfrm>
            <a:off x="572269" y="2996952"/>
            <a:ext cx="82867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dirty="0">
                <a:solidFill>
                  <a:schemeClr val="bg1"/>
                </a:solidFill>
                <a:latin typeface="Times New Roman" pitchFamily="18" charset="0"/>
              </a:rPr>
              <a:t>如果定义一个既包含物体的质量大小又反映其质量分布的物理量</a:t>
            </a:r>
            <a:r>
              <a:rPr lang="en-US" altLang="zh-CN" sz="2400" b="1" dirty="0">
                <a:solidFill>
                  <a:schemeClr val="bg1"/>
                </a:solidFill>
                <a:latin typeface="Times New Roman" pitchFamily="18" charset="0"/>
              </a:rPr>
              <a:t>J</a:t>
            </a:r>
            <a:r>
              <a:rPr lang="zh-CN" altLang="en-US" sz="2400" b="1" dirty="0">
                <a:solidFill>
                  <a:schemeClr val="bg1"/>
                </a:solidFill>
                <a:latin typeface="Times New Roman" pitchFamily="18" charset="0"/>
              </a:rPr>
              <a:t>，它与</a:t>
            </a:r>
            <a:r>
              <a:rPr lang="en-US" altLang="zh-CN" sz="2400" b="1" dirty="0">
                <a:solidFill>
                  <a:schemeClr val="bg1"/>
                </a:solidFill>
                <a:latin typeface="Times New Roman" pitchFamily="18" charset="0"/>
              </a:rPr>
              <a:t>M</a:t>
            </a:r>
            <a:r>
              <a:rPr lang="zh-CN" altLang="en-US" sz="2400" b="1" dirty="0">
                <a:solidFill>
                  <a:schemeClr val="bg1"/>
                </a:solidFill>
                <a:latin typeface="Times New Roman" pitchFamily="18" charset="0"/>
              </a:rPr>
              <a:t>成正比</a:t>
            </a:r>
            <a:endParaRPr lang="zh-CN" altLang="en-US" sz="2400" b="1" i="1" dirty="0">
              <a:solidFill>
                <a:schemeClr val="bg1"/>
              </a:solidFill>
              <a:latin typeface="Times New Roman"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1208400822"/>
              </p:ext>
            </p:extLst>
          </p:nvPr>
        </p:nvGraphicFramePr>
        <p:xfrm>
          <a:off x="827584" y="188640"/>
          <a:ext cx="4954588" cy="1260475"/>
        </p:xfrm>
        <a:graphic>
          <a:graphicData uri="http://schemas.openxmlformats.org/presentationml/2006/ole">
            <mc:AlternateContent xmlns:mc="http://schemas.openxmlformats.org/markup-compatibility/2006">
              <mc:Choice xmlns:v="urn:schemas-microsoft-com:vml" Requires="v">
                <p:oleObj spid="_x0000_s12316" name="Equation" r:id="rId7" imgW="1993680" imgH="507960" progId="Equation.DSMT4">
                  <p:embed/>
                </p:oleObj>
              </mc:Choice>
              <mc:Fallback>
                <p:oleObj name="Equation" r:id="rId7" imgW="1993680" imgH="507960" progId="Equation.DSMT4">
                  <p:embed/>
                  <p:pic>
                    <p:nvPicPr>
                      <p:cNvPr id="0" name="对象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584" y="188640"/>
                        <a:ext cx="4954588"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489027210"/>
              </p:ext>
            </p:extLst>
          </p:nvPr>
        </p:nvGraphicFramePr>
        <p:xfrm>
          <a:off x="828192" y="1556792"/>
          <a:ext cx="7560642" cy="1302944"/>
        </p:xfrm>
        <a:graphic>
          <a:graphicData uri="http://schemas.openxmlformats.org/presentationml/2006/ole">
            <mc:AlternateContent xmlns:mc="http://schemas.openxmlformats.org/markup-compatibility/2006">
              <mc:Choice xmlns:v="urn:schemas-microsoft-com:vml" Requires="v">
                <p:oleObj spid="_x0000_s12317" name="Equation" r:id="rId9" imgW="2946240" imgH="507960" progId="Equation.DSMT4">
                  <p:embed/>
                </p:oleObj>
              </mc:Choice>
              <mc:Fallback>
                <p:oleObj name="Equation" r:id="rId9" imgW="2946240" imgH="507960" progId="Equation.DSMT4">
                  <p:embed/>
                  <p:pic>
                    <p:nvPicPr>
                      <p:cNvPr id="0" name="对象 8"/>
                      <p:cNvPicPr>
                        <a:picLocks noChangeAspect="1" noChangeArrowheads="1"/>
                      </p:cNvPicPr>
                      <p:nvPr/>
                    </p:nvPicPr>
                    <p:blipFill>
                      <a:blip r:embed="rId10"/>
                      <a:srcRect/>
                      <a:stretch>
                        <a:fillRect/>
                      </a:stretch>
                    </p:blipFill>
                    <p:spPr bwMode="auto">
                      <a:xfrm>
                        <a:off x="828192" y="1556792"/>
                        <a:ext cx="7560642" cy="130294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668688764"/>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par>
                                <p:cTn id="16" presetID="22" presetClass="entr" presetSubtype="8"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5"/>
          <p:cNvGraphicFramePr>
            <a:graphicFrameLocks/>
          </p:cNvGraphicFramePr>
          <p:nvPr/>
        </p:nvGraphicFramePr>
        <p:xfrm>
          <a:off x="3724275" y="747713"/>
          <a:ext cx="1165225" cy="376237"/>
        </p:xfrm>
        <a:graphic>
          <a:graphicData uri="http://schemas.openxmlformats.org/presentationml/2006/ole">
            <mc:AlternateContent xmlns:mc="http://schemas.openxmlformats.org/markup-compatibility/2006">
              <mc:Choice xmlns:v="urn:schemas-microsoft-com:vml" Requires="v">
                <p:oleObj spid="_x0000_s13326" name="公式" r:id="rId3" imgW="1200157" imgH="323920" progId="Equation.3">
                  <p:embed/>
                </p:oleObj>
              </mc:Choice>
              <mc:Fallback>
                <p:oleObj name="公式" r:id="rId3" imgW="1200157" imgH="323920" progId="Equation.3">
                  <p:embed/>
                  <p:pic>
                    <p:nvPicPr>
                      <p:cNvPr id="0"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4275" y="747713"/>
                        <a:ext cx="1165225" cy="376237"/>
                      </a:xfrm>
                      <a:prstGeom prst="rect">
                        <a:avLst/>
                      </a:prstGeom>
                      <a:noFill/>
                      <a:ln w="22225">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 Box 6"/>
          <p:cNvSpPr txBox="1">
            <a:spLocks noChangeArrowheads="1"/>
          </p:cNvSpPr>
          <p:nvPr/>
        </p:nvSpPr>
        <p:spPr bwMode="auto">
          <a:xfrm>
            <a:off x="728663" y="765175"/>
            <a:ext cx="231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66FFFF"/>
                </a:solidFill>
                <a:latin typeface="Times New Roman" pitchFamily="18" charset="0"/>
              </a:rPr>
              <a:t>刚体的转动定律</a:t>
            </a:r>
          </a:p>
        </p:txBody>
      </p:sp>
      <p:sp>
        <p:nvSpPr>
          <p:cNvPr id="6" name="AutoShape 7"/>
          <p:cNvSpPr>
            <a:spLocks noChangeArrowheads="1"/>
          </p:cNvSpPr>
          <p:nvPr/>
        </p:nvSpPr>
        <p:spPr bwMode="auto">
          <a:xfrm>
            <a:off x="1590675" y="1455738"/>
            <a:ext cx="3313113" cy="922337"/>
          </a:xfrm>
          <a:prstGeom prst="wedgeRectCallout">
            <a:avLst>
              <a:gd name="adj1" fmla="val 18616"/>
              <a:gd name="adj2" fmla="val -93889"/>
            </a:avLst>
          </a:prstGeom>
          <a:noFill/>
          <a:ln w="9525">
            <a:solidFill>
              <a:srgbClr val="66FFFF"/>
            </a:solidFill>
            <a:miter lim="800000"/>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zh-CN" altLang="en-US" sz="2000" b="1">
                <a:solidFill>
                  <a:schemeClr val="bg1"/>
                </a:solidFill>
                <a:latin typeface="楷体_GB2312" pitchFamily="49" charset="-122"/>
                <a:ea typeface="楷体_GB2312" pitchFamily="49" charset="-122"/>
              </a:rPr>
              <a:t>作用在刚体上所有的外力对</a:t>
            </a:r>
          </a:p>
          <a:p>
            <a:pPr algn="ctr" eaLnBrk="0" hangingPunct="0"/>
            <a:r>
              <a:rPr lang="zh-CN" altLang="en-US" sz="2000" b="1">
                <a:solidFill>
                  <a:schemeClr val="bg1"/>
                </a:solidFill>
                <a:latin typeface="楷体_GB2312" pitchFamily="49" charset="-122"/>
                <a:ea typeface="楷体_GB2312" pitchFamily="49" charset="-122"/>
              </a:rPr>
              <a:t>定轴 </a:t>
            </a:r>
            <a:r>
              <a:rPr lang="en-US" altLang="zh-CN" sz="2000" b="1" i="1">
                <a:solidFill>
                  <a:schemeClr val="bg1"/>
                </a:solidFill>
                <a:latin typeface="楷体_GB2312" pitchFamily="49" charset="-122"/>
                <a:ea typeface="楷体_GB2312" pitchFamily="49" charset="-122"/>
              </a:rPr>
              <a:t>z </a:t>
            </a:r>
            <a:r>
              <a:rPr lang="zh-CN" altLang="en-US" sz="2000" b="1">
                <a:solidFill>
                  <a:schemeClr val="bg1"/>
                </a:solidFill>
                <a:latin typeface="楷体_GB2312" pitchFamily="49" charset="-122"/>
                <a:ea typeface="楷体_GB2312" pitchFamily="49" charset="-122"/>
              </a:rPr>
              <a:t>轴的力矩的代数和</a:t>
            </a:r>
          </a:p>
        </p:txBody>
      </p:sp>
      <p:sp>
        <p:nvSpPr>
          <p:cNvPr id="7" name="AutoShape 8"/>
          <p:cNvSpPr>
            <a:spLocks noChangeArrowheads="1"/>
          </p:cNvSpPr>
          <p:nvPr/>
        </p:nvSpPr>
        <p:spPr bwMode="auto">
          <a:xfrm>
            <a:off x="5551488" y="1525588"/>
            <a:ext cx="1762125" cy="841375"/>
          </a:xfrm>
          <a:prstGeom prst="wedgeRectCallout">
            <a:avLst>
              <a:gd name="adj1" fmla="val -100991"/>
              <a:gd name="adj2" fmla="val -108301"/>
            </a:avLst>
          </a:prstGeom>
          <a:noFill/>
          <a:ln w="9525">
            <a:solidFill>
              <a:srgbClr val="66FFFF"/>
            </a:solidFill>
            <a:miter lim="800000"/>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zh-CN" altLang="en-US" sz="2000" b="1">
                <a:solidFill>
                  <a:schemeClr val="bg1"/>
                </a:solidFill>
                <a:latin typeface="楷体_GB2312" pitchFamily="49" charset="-122"/>
                <a:ea typeface="楷体_GB2312" pitchFamily="49" charset="-122"/>
              </a:rPr>
              <a:t>刚体对 </a:t>
            </a:r>
            <a:r>
              <a:rPr lang="en-US" altLang="zh-CN" sz="2000" b="1" i="1">
                <a:solidFill>
                  <a:schemeClr val="bg1"/>
                </a:solidFill>
                <a:latin typeface="楷体_GB2312" pitchFamily="49" charset="-122"/>
                <a:ea typeface="楷体_GB2312" pitchFamily="49" charset="-122"/>
              </a:rPr>
              <a:t>z</a:t>
            </a:r>
            <a:r>
              <a:rPr lang="en-US" altLang="zh-CN" sz="2000" b="1">
                <a:solidFill>
                  <a:schemeClr val="bg1"/>
                </a:solidFill>
                <a:latin typeface="楷体_GB2312" pitchFamily="49" charset="-122"/>
                <a:ea typeface="楷体_GB2312" pitchFamily="49" charset="-122"/>
              </a:rPr>
              <a:t> </a:t>
            </a:r>
            <a:r>
              <a:rPr lang="zh-CN" altLang="en-US" sz="2000" b="1">
                <a:solidFill>
                  <a:schemeClr val="bg1"/>
                </a:solidFill>
                <a:latin typeface="楷体_GB2312" pitchFamily="49" charset="-122"/>
                <a:ea typeface="楷体_GB2312" pitchFamily="49" charset="-122"/>
              </a:rPr>
              <a:t>轴</a:t>
            </a:r>
          </a:p>
          <a:p>
            <a:pPr algn="ctr" eaLnBrk="0" hangingPunct="0"/>
            <a:r>
              <a:rPr lang="zh-CN" altLang="en-US" sz="2000" b="1">
                <a:solidFill>
                  <a:schemeClr val="bg1"/>
                </a:solidFill>
                <a:latin typeface="楷体_GB2312" pitchFamily="49" charset="-122"/>
                <a:ea typeface="楷体_GB2312" pitchFamily="49" charset="-122"/>
              </a:rPr>
              <a:t>的转动惯量</a:t>
            </a:r>
          </a:p>
        </p:txBody>
      </p:sp>
      <p:sp>
        <p:nvSpPr>
          <p:cNvPr id="8" name="Text Box 9"/>
          <p:cNvSpPr txBox="1">
            <a:spLocks noChangeArrowheads="1"/>
          </p:cNvSpPr>
          <p:nvPr/>
        </p:nvSpPr>
        <p:spPr bwMode="auto">
          <a:xfrm>
            <a:off x="1280840" y="2590800"/>
            <a:ext cx="5916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a:solidFill>
                  <a:schemeClr val="bg1"/>
                </a:solidFill>
                <a:latin typeface="Times New Roman" pitchFamily="18" charset="0"/>
                <a:ea typeface="楷体_GB2312" pitchFamily="49" charset="-122"/>
              </a:rPr>
              <a:t>(1) </a:t>
            </a:r>
            <a:r>
              <a:rPr lang="en-US" altLang="zh-CN" sz="2400" b="1" i="1">
                <a:solidFill>
                  <a:srgbClr val="66FFFF"/>
                </a:solidFill>
                <a:latin typeface="Times New Roman" pitchFamily="18" charset="0"/>
                <a:ea typeface="楷体_GB2312" pitchFamily="49" charset="-122"/>
              </a:rPr>
              <a:t>M</a:t>
            </a:r>
            <a:r>
              <a:rPr lang="en-US" altLang="zh-CN" sz="2400" b="1" i="1">
                <a:solidFill>
                  <a:schemeClr val="bg1"/>
                </a:solidFill>
                <a:latin typeface="Times New Roman" pitchFamily="18" charset="0"/>
                <a:ea typeface="楷体_GB2312" pitchFamily="49" charset="-122"/>
              </a:rPr>
              <a:t> </a:t>
            </a:r>
            <a:r>
              <a:rPr lang="zh-CN" altLang="en-US" sz="2400" b="1">
                <a:solidFill>
                  <a:schemeClr val="bg1"/>
                </a:solidFill>
                <a:latin typeface="Times New Roman" pitchFamily="18" charset="0"/>
                <a:ea typeface="楷体_GB2312" pitchFamily="49" charset="-122"/>
              </a:rPr>
              <a:t>正比于 </a:t>
            </a:r>
            <a:r>
              <a:rPr lang="zh-CN" altLang="en-US" sz="2400" b="1" i="1">
                <a:solidFill>
                  <a:srgbClr val="66FFFF"/>
                </a:solidFill>
                <a:latin typeface="Times New Roman" pitchFamily="18" charset="0"/>
                <a:ea typeface="楷体_GB2312" pitchFamily="49" charset="-122"/>
                <a:sym typeface="Symbol" pitchFamily="18" charset="2"/>
              </a:rPr>
              <a:t></a:t>
            </a:r>
            <a:r>
              <a:rPr lang="zh-CN" altLang="en-US" sz="2400" b="1" i="1">
                <a:solidFill>
                  <a:srgbClr val="66FFFF"/>
                </a:solidFill>
                <a:latin typeface="Times New Roman" pitchFamily="18" charset="0"/>
                <a:ea typeface="楷体_GB2312" pitchFamily="49" charset="-122"/>
              </a:rPr>
              <a:t> </a:t>
            </a:r>
            <a:r>
              <a:rPr lang="zh-CN" altLang="en-US" sz="2400" b="1" i="1">
                <a:solidFill>
                  <a:schemeClr val="bg1"/>
                </a:solidFill>
                <a:latin typeface="Times New Roman" pitchFamily="18" charset="0"/>
                <a:ea typeface="楷体_GB2312" pitchFamily="49" charset="-122"/>
              </a:rPr>
              <a:t>，</a:t>
            </a:r>
            <a:r>
              <a:rPr lang="zh-CN" altLang="en-US" sz="2400" b="1">
                <a:solidFill>
                  <a:schemeClr val="bg1"/>
                </a:solidFill>
                <a:latin typeface="Times New Roman" pitchFamily="18" charset="0"/>
                <a:ea typeface="楷体_GB2312" pitchFamily="49" charset="-122"/>
              </a:rPr>
              <a:t>力矩越大</a:t>
            </a:r>
            <a:r>
              <a:rPr lang="zh-CN" altLang="en-US" sz="2400" b="1" i="1">
                <a:solidFill>
                  <a:schemeClr val="bg1"/>
                </a:solidFill>
                <a:latin typeface="Times New Roman" pitchFamily="18" charset="0"/>
                <a:ea typeface="楷体_GB2312" pitchFamily="49" charset="-122"/>
              </a:rPr>
              <a:t>，</a:t>
            </a:r>
            <a:r>
              <a:rPr lang="zh-CN" altLang="en-US" sz="2400" b="1">
                <a:solidFill>
                  <a:schemeClr val="bg1"/>
                </a:solidFill>
                <a:latin typeface="Times New Roman" pitchFamily="18" charset="0"/>
                <a:ea typeface="楷体_GB2312" pitchFamily="49" charset="-122"/>
              </a:rPr>
              <a:t>刚体的</a:t>
            </a:r>
            <a:r>
              <a:rPr lang="zh-CN" altLang="en-US" sz="2400" b="1" i="1">
                <a:solidFill>
                  <a:schemeClr val="bg1"/>
                </a:solidFill>
                <a:latin typeface="Times New Roman" pitchFamily="18" charset="0"/>
                <a:ea typeface="楷体_GB2312" pitchFamily="49" charset="-122"/>
              </a:rPr>
              <a:t> </a:t>
            </a:r>
            <a:r>
              <a:rPr lang="zh-CN" altLang="en-US" sz="2400" b="1" i="1">
                <a:solidFill>
                  <a:srgbClr val="66FFFF"/>
                </a:solidFill>
                <a:latin typeface="Times New Roman" pitchFamily="18" charset="0"/>
                <a:ea typeface="楷体_GB2312" pitchFamily="49" charset="-122"/>
                <a:sym typeface="Symbol" pitchFamily="18" charset="2"/>
              </a:rPr>
              <a:t></a:t>
            </a:r>
            <a:r>
              <a:rPr lang="zh-CN" altLang="en-US" sz="2400" b="1" i="1">
                <a:solidFill>
                  <a:schemeClr val="bg1"/>
                </a:solidFill>
                <a:latin typeface="Times New Roman" pitchFamily="18" charset="0"/>
                <a:ea typeface="楷体_GB2312" pitchFamily="49" charset="-122"/>
              </a:rPr>
              <a:t> </a:t>
            </a:r>
            <a:r>
              <a:rPr lang="zh-CN" altLang="en-US" sz="2400" b="1">
                <a:solidFill>
                  <a:schemeClr val="bg1"/>
                </a:solidFill>
                <a:latin typeface="Times New Roman" pitchFamily="18" charset="0"/>
                <a:ea typeface="楷体_GB2312" pitchFamily="49" charset="-122"/>
              </a:rPr>
              <a:t>越大</a:t>
            </a:r>
            <a:endParaRPr lang="zh-CN" altLang="en-US" sz="2400" b="1" i="1">
              <a:solidFill>
                <a:schemeClr val="bg1"/>
              </a:solidFill>
              <a:latin typeface="Times New Roman" pitchFamily="18" charset="0"/>
              <a:ea typeface="楷体_GB2312" pitchFamily="49" charset="-122"/>
            </a:endParaRPr>
          </a:p>
        </p:txBody>
      </p:sp>
      <p:sp>
        <p:nvSpPr>
          <p:cNvPr id="9" name="Text Box 10"/>
          <p:cNvSpPr txBox="1">
            <a:spLocks noChangeArrowheads="1"/>
          </p:cNvSpPr>
          <p:nvPr/>
        </p:nvSpPr>
        <p:spPr bwMode="auto">
          <a:xfrm>
            <a:off x="1331640" y="3206750"/>
            <a:ext cx="795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a:solidFill>
                  <a:schemeClr val="bg1"/>
                </a:solidFill>
                <a:latin typeface="Times New Roman" pitchFamily="18" charset="0"/>
                <a:ea typeface="楷体_GB2312" pitchFamily="49" charset="-122"/>
              </a:rPr>
              <a:t>(2) </a:t>
            </a:r>
            <a:r>
              <a:rPr lang="zh-CN" altLang="en-US" sz="2400" b="1">
                <a:solidFill>
                  <a:schemeClr val="bg1"/>
                </a:solidFill>
                <a:latin typeface="楷体_GB2312" pitchFamily="49" charset="-122"/>
                <a:ea typeface="楷体_GB2312" pitchFamily="49" charset="-122"/>
              </a:rPr>
              <a:t>力矩相同，若转动惯量不同，产生的角加速度不同</a:t>
            </a:r>
            <a:endParaRPr lang="zh-CN" altLang="en-US" sz="2400" b="1" i="1">
              <a:solidFill>
                <a:schemeClr val="bg1"/>
              </a:solidFill>
              <a:latin typeface="楷体_GB2312" pitchFamily="49" charset="-122"/>
              <a:ea typeface="楷体_GB2312" pitchFamily="49" charset="-122"/>
            </a:endParaRPr>
          </a:p>
        </p:txBody>
      </p:sp>
      <p:sp>
        <p:nvSpPr>
          <p:cNvPr id="10" name="Text Box 16"/>
          <p:cNvSpPr txBox="1">
            <a:spLocks noChangeArrowheads="1"/>
          </p:cNvSpPr>
          <p:nvPr/>
        </p:nvSpPr>
        <p:spPr bwMode="auto">
          <a:xfrm>
            <a:off x="1280840" y="3775213"/>
            <a:ext cx="30797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a:solidFill>
                  <a:schemeClr val="bg1"/>
                </a:solidFill>
                <a:latin typeface="Times New Roman" pitchFamily="18" charset="0"/>
                <a:ea typeface="楷体_GB2312" pitchFamily="49" charset="-122"/>
              </a:rPr>
              <a:t>(3) </a:t>
            </a:r>
            <a:r>
              <a:rPr lang="zh-CN" altLang="en-US" sz="2400" b="1">
                <a:solidFill>
                  <a:schemeClr val="bg1"/>
                </a:solidFill>
                <a:latin typeface="楷体_GB2312" pitchFamily="49" charset="-122"/>
                <a:ea typeface="楷体_GB2312" pitchFamily="49" charset="-122"/>
              </a:rPr>
              <a:t>与牛顿定律比较：</a:t>
            </a:r>
          </a:p>
        </p:txBody>
      </p:sp>
      <p:graphicFrame>
        <p:nvGraphicFramePr>
          <p:cNvPr id="11" name="Object 17"/>
          <p:cNvGraphicFramePr>
            <a:graphicFrameLocks noChangeAspect="1"/>
          </p:cNvGraphicFramePr>
          <p:nvPr>
            <p:extLst>
              <p:ext uri="{D42A27DB-BD31-4B8C-83A1-F6EECF244321}">
                <p14:modId xmlns:p14="http://schemas.microsoft.com/office/powerpoint/2010/main" val="4082337177"/>
              </p:ext>
            </p:extLst>
          </p:nvPr>
        </p:nvGraphicFramePr>
        <p:xfrm>
          <a:off x="4130403" y="3865701"/>
          <a:ext cx="3016250" cy="354012"/>
        </p:xfrm>
        <a:graphic>
          <a:graphicData uri="http://schemas.openxmlformats.org/presentationml/2006/ole">
            <mc:AlternateContent xmlns:mc="http://schemas.openxmlformats.org/markup-compatibility/2006">
              <mc:Choice xmlns:v="urn:schemas-microsoft-com:vml" Requires="v">
                <p:oleObj spid="_x0000_s13327" name="Equation" r:id="rId5" imgW="3267094" imgH="304755" progId="Equation.3">
                  <p:embed/>
                </p:oleObj>
              </mc:Choice>
              <mc:Fallback>
                <p:oleObj name="Equation" r:id="rId5" imgW="3267094" imgH="304755"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30403" y="3865701"/>
                        <a:ext cx="3016250" cy="35401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18"/>
          <p:cNvSpPr txBox="1">
            <a:spLocks noChangeArrowheads="1"/>
          </p:cNvSpPr>
          <p:nvPr/>
        </p:nvSpPr>
        <p:spPr bwMode="auto">
          <a:xfrm>
            <a:off x="323528" y="2540000"/>
            <a:ext cx="1152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zh-CN" altLang="en-US" sz="2400" b="1">
                <a:solidFill>
                  <a:srgbClr val="FFFF00"/>
                </a:solidFill>
                <a:latin typeface="宋体" pitchFamily="2" charset="-122"/>
              </a:rPr>
              <a:t>讨论</a:t>
            </a:r>
          </a:p>
        </p:txBody>
      </p:sp>
      <p:sp>
        <p:nvSpPr>
          <p:cNvPr id="13" name="AutoShape 20"/>
          <p:cNvSpPr>
            <a:spLocks noChangeArrowheads="1"/>
          </p:cNvSpPr>
          <p:nvPr/>
        </p:nvSpPr>
        <p:spPr bwMode="auto">
          <a:xfrm>
            <a:off x="161603" y="2474913"/>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8517" name="Picture 8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1737" y="4605649"/>
            <a:ext cx="7477706"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0" presetClass="entr" presetSubtype="0" decel="10000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p:cTn id="27" dur="1000" fill="hold"/>
                                        <p:tgtEl>
                                          <p:spTgt spid="13"/>
                                        </p:tgtEl>
                                        <p:attrNameLst>
                                          <p:attrName>ppt_w</p:attrName>
                                        </p:attrNameLst>
                                      </p:cBhvr>
                                      <p:tavLst>
                                        <p:tav tm="0">
                                          <p:val>
                                            <p:strVal val="#ppt_w+.3"/>
                                          </p:val>
                                        </p:tav>
                                        <p:tav tm="100000">
                                          <p:val>
                                            <p:strVal val="#ppt_w"/>
                                          </p:val>
                                        </p:tav>
                                      </p:tavLst>
                                    </p:anim>
                                    <p:anim calcmode="lin" valueType="num">
                                      <p:cBhvr>
                                        <p:cTn id="28" dur="1000" fill="hold"/>
                                        <p:tgtEl>
                                          <p:spTgt spid="13"/>
                                        </p:tgtEl>
                                        <p:attrNameLst>
                                          <p:attrName>ppt_h</p:attrName>
                                        </p:attrNameLst>
                                      </p:cBhvr>
                                      <p:tavLst>
                                        <p:tav tm="0">
                                          <p:val>
                                            <p:strVal val="#ppt_h"/>
                                          </p:val>
                                        </p:tav>
                                        <p:tav tm="100000">
                                          <p:val>
                                            <p:strVal val="#ppt_h"/>
                                          </p:val>
                                        </p:tav>
                                      </p:tavLst>
                                    </p:anim>
                                    <p:animEffect transition="in" filter="fade">
                                      <p:cBhvr>
                                        <p:cTn id="29" dur="1000"/>
                                        <p:tgtEl>
                                          <p:spTgt spid="1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left)">
                                      <p:cBhvr>
                                        <p:cTn id="44" dur="500"/>
                                        <p:tgtEl>
                                          <p:spTgt spid="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left)">
                                      <p:cBhvr>
                                        <p:cTn id="49" dur="500"/>
                                        <p:tgtEl>
                                          <p:spTgt spid="1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left)">
                                      <p:cBhvr>
                                        <p:cTn id="54" dur="500"/>
                                        <p:tgtEl>
                                          <p:spTgt spid="11"/>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85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nimBg="1" autoUpdateAnimBg="0"/>
      <p:bldP spid="7" grpId="0" animBg="1" autoUpdateAnimBg="0"/>
      <p:bldP spid="8" grpId="0" autoUpdateAnimBg="0"/>
      <p:bldP spid="9" grpId="0" autoUpdateAnimBg="0"/>
      <p:bldP spid="10" grpId="0" autoUpdateAnimBg="0"/>
      <p:bldP spid="12" grpId="0"/>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182563" y="30163"/>
            <a:ext cx="404971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800" b="1">
                <a:solidFill>
                  <a:srgbClr val="FFFF00"/>
                </a:solidFill>
                <a:latin typeface="Times New Roman" pitchFamily="18" charset="0"/>
              </a:rPr>
              <a:t>三</a:t>
            </a:r>
            <a:r>
              <a:rPr lang="en-US" altLang="zh-CN" sz="2800" b="1">
                <a:solidFill>
                  <a:srgbClr val="FFFF00"/>
                </a:solidFill>
                <a:latin typeface="Times New Roman" pitchFamily="18" charset="0"/>
              </a:rPr>
              <a:t>. </a:t>
            </a:r>
            <a:r>
              <a:rPr lang="zh-CN" altLang="en-US" sz="2800" b="1">
                <a:solidFill>
                  <a:srgbClr val="FFFF00"/>
                </a:solidFill>
                <a:latin typeface="Times New Roman" pitchFamily="18" charset="0"/>
              </a:rPr>
              <a:t>转动惯量的计算</a:t>
            </a:r>
          </a:p>
        </p:txBody>
      </p:sp>
      <p:graphicFrame>
        <p:nvGraphicFramePr>
          <p:cNvPr id="22531" name="Object 3"/>
          <p:cNvGraphicFramePr>
            <a:graphicFrameLocks/>
          </p:cNvGraphicFramePr>
          <p:nvPr/>
        </p:nvGraphicFramePr>
        <p:xfrm>
          <a:off x="2627313" y="954088"/>
          <a:ext cx="1714500" cy="490537"/>
        </p:xfrm>
        <a:graphic>
          <a:graphicData uri="http://schemas.openxmlformats.org/presentationml/2006/ole">
            <mc:AlternateContent xmlns:mc="http://schemas.openxmlformats.org/markup-compatibility/2006">
              <mc:Choice xmlns:v="urn:schemas-microsoft-com:vml" Requires="v">
                <p:oleObj spid="_x0000_s14350" name="Equation" r:id="rId3" imgW="1819401" imgH="457267" progId="Equation.3">
                  <p:embed/>
                </p:oleObj>
              </mc:Choice>
              <mc:Fallback>
                <p:oleObj name="Equation" r:id="rId3" imgW="1819401" imgH="457267" progId="Equation.3">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954088"/>
                        <a:ext cx="1714500" cy="490537"/>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32" name="Text Box 4"/>
          <p:cNvSpPr txBox="1">
            <a:spLocks noChangeArrowheads="1"/>
          </p:cNvSpPr>
          <p:nvPr/>
        </p:nvSpPr>
        <p:spPr bwMode="auto">
          <a:xfrm>
            <a:off x="755650" y="981075"/>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chemeClr val="bg1"/>
                </a:solidFill>
                <a:latin typeface="Times New Roman" pitchFamily="18" charset="0"/>
              </a:rPr>
              <a:t>定义式</a:t>
            </a:r>
            <a:endParaRPr lang="zh-CN" altLang="en-US" sz="2400">
              <a:solidFill>
                <a:schemeClr val="bg1"/>
              </a:solidFill>
              <a:latin typeface="Times New Roman" pitchFamily="18" charset="0"/>
            </a:endParaRPr>
          </a:p>
        </p:txBody>
      </p:sp>
      <p:sp>
        <p:nvSpPr>
          <p:cNvPr id="22533" name="Text Box 5"/>
          <p:cNvSpPr txBox="1">
            <a:spLocks noChangeArrowheads="1"/>
          </p:cNvSpPr>
          <p:nvPr/>
        </p:nvSpPr>
        <p:spPr bwMode="auto">
          <a:xfrm>
            <a:off x="5084763" y="981075"/>
            <a:ext cx="2655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66FFFF"/>
                </a:solidFill>
                <a:latin typeface="Times New Roman" pitchFamily="18" charset="0"/>
              </a:rPr>
              <a:t>质量不连续分布</a:t>
            </a:r>
          </a:p>
        </p:txBody>
      </p:sp>
      <p:sp>
        <p:nvSpPr>
          <p:cNvPr id="22534" name="Text Box 6"/>
          <p:cNvSpPr txBox="1">
            <a:spLocks noChangeArrowheads="1"/>
          </p:cNvSpPr>
          <p:nvPr/>
        </p:nvSpPr>
        <p:spPr bwMode="auto">
          <a:xfrm>
            <a:off x="5076825" y="1892300"/>
            <a:ext cx="2519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66FFFF"/>
                </a:solidFill>
                <a:latin typeface="Times New Roman" pitchFamily="18" charset="0"/>
              </a:rPr>
              <a:t>质量连续分布</a:t>
            </a:r>
          </a:p>
        </p:txBody>
      </p:sp>
      <p:graphicFrame>
        <p:nvGraphicFramePr>
          <p:cNvPr id="22535" name="Object 7"/>
          <p:cNvGraphicFramePr>
            <a:graphicFrameLocks/>
          </p:cNvGraphicFramePr>
          <p:nvPr/>
        </p:nvGraphicFramePr>
        <p:xfrm>
          <a:off x="2627313" y="1890713"/>
          <a:ext cx="1393825" cy="525462"/>
        </p:xfrm>
        <a:graphic>
          <a:graphicData uri="http://schemas.openxmlformats.org/presentationml/2006/ole">
            <mc:AlternateContent xmlns:mc="http://schemas.openxmlformats.org/markup-compatibility/2006">
              <mc:Choice xmlns:v="urn:schemas-microsoft-com:vml" Requires="v">
                <p:oleObj spid="_x0000_s14351" name="公式" r:id="rId5" imgW="1457411" imgH="495328" progId="Equation.3">
                  <p:embed/>
                </p:oleObj>
              </mc:Choice>
              <mc:Fallback>
                <p:oleObj name="公式" r:id="rId5" imgW="1457411" imgH="495328" progId="Equation.3">
                  <p:embed/>
                  <p:pic>
                    <p:nvPicPr>
                      <p:cNvPr id="0" name="Object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313" y="1890713"/>
                        <a:ext cx="1393825" cy="52546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 name="矩形 25"/>
          <p:cNvSpPr>
            <a:spLocks noChangeArrowheads="1"/>
          </p:cNvSpPr>
          <p:nvPr/>
        </p:nvSpPr>
        <p:spPr bwMode="auto">
          <a:xfrm>
            <a:off x="522015" y="3514259"/>
            <a:ext cx="75565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b="1" dirty="0">
                <a:solidFill>
                  <a:schemeClr val="bg1"/>
                </a:solidFill>
              </a:rPr>
              <a:t>求转动惯量需要用积分的方法，是本课程重点内容之一。</a:t>
            </a:r>
            <a:endParaRPr lang="zh-CN" altLang="en-US" sz="2400" b="1" dirty="0">
              <a:solidFill>
                <a:schemeClr val="bg1"/>
              </a:solidFill>
            </a:endParaRPr>
          </a:p>
        </p:txBody>
      </p:sp>
      <p:pic>
        <p:nvPicPr>
          <p:cNvPr id="19509" name="Picture 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5616" y="4646631"/>
            <a:ext cx="1872208" cy="708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 Box 8"/>
          <p:cNvSpPr txBox="1">
            <a:spLocks noChangeArrowheads="1"/>
          </p:cNvSpPr>
          <p:nvPr/>
        </p:nvSpPr>
        <p:spPr bwMode="auto">
          <a:xfrm>
            <a:off x="182563" y="2498325"/>
            <a:ext cx="878567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zh-CN" altLang="en-US" sz="2400" b="1" dirty="0">
                <a:solidFill>
                  <a:schemeClr val="bg1"/>
                </a:solidFill>
                <a:latin typeface="Times New Roman" pitchFamily="18" charset="0"/>
              </a:rPr>
              <a:t>计算转动惯量的三个要素</a:t>
            </a:r>
            <a:r>
              <a:rPr lang="en-US" altLang="zh-CN" sz="2400" b="1" dirty="0">
                <a:solidFill>
                  <a:schemeClr val="bg1"/>
                </a:solidFill>
                <a:latin typeface="Times New Roman" pitchFamily="18" charset="0"/>
              </a:rPr>
              <a:t>:(1)</a:t>
            </a:r>
            <a:r>
              <a:rPr lang="zh-CN" altLang="en-US" sz="2400" b="1" dirty="0">
                <a:solidFill>
                  <a:schemeClr val="bg1"/>
                </a:solidFill>
                <a:latin typeface="Times New Roman" pitchFamily="18" charset="0"/>
              </a:rPr>
              <a:t>总质量 </a:t>
            </a:r>
            <a:r>
              <a:rPr lang="en-US" altLang="zh-CN" sz="2400" b="1" dirty="0">
                <a:solidFill>
                  <a:schemeClr val="bg1"/>
                </a:solidFill>
                <a:latin typeface="Times New Roman" pitchFamily="18" charset="0"/>
              </a:rPr>
              <a:t>(2)</a:t>
            </a:r>
            <a:r>
              <a:rPr lang="zh-CN" altLang="en-US" sz="2400" b="1" dirty="0">
                <a:solidFill>
                  <a:schemeClr val="bg1"/>
                </a:solidFill>
                <a:latin typeface="Times New Roman" pitchFamily="18" charset="0"/>
              </a:rPr>
              <a:t>质量分布 </a:t>
            </a:r>
            <a:r>
              <a:rPr lang="en-US" altLang="zh-CN" sz="2400" b="1" dirty="0">
                <a:solidFill>
                  <a:schemeClr val="bg1"/>
                </a:solidFill>
                <a:latin typeface="Times New Roman" pitchFamily="18" charset="0"/>
              </a:rPr>
              <a:t>(3)</a:t>
            </a:r>
            <a:r>
              <a:rPr lang="zh-CN" altLang="en-US" sz="2400" b="1" dirty="0">
                <a:solidFill>
                  <a:schemeClr val="bg1"/>
                </a:solidFill>
                <a:latin typeface="Times New Roman" pitchFamily="18" charset="0"/>
              </a:rPr>
              <a:t>转轴的位置</a:t>
            </a:r>
          </a:p>
        </p:txBody>
      </p:sp>
      <p:pic>
        <p:nvPicPr>
          <p:cNvPr id="19542" name="Picture 8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1920" y="4190425"/>
            <a:ext cx="3155505" cy="1620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wipe(left)">
                                      <p:cBhvr>
                                        <p:cTn id="7" dur="500"/>
                                        <p:tgtEl>
                                          <p:spTgt spid="225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532"/>
                                        </p:tgtEl>
                                        <p:attrNameLst>
                                          <p:attrName>style.visibility</p:attrName>
                                        </p:attrNameLst>
                                      </p:cBhvr>
                                      <p:to>
                                        <p:strVal val="visible"/>
                                      </p:to>
                                    </p:set>
                                    <p:animEffect transition="in" filter="wipe(left)">
                                      <p:cBhvr>
                                        <p:cTn id="12" dur="500"/>
                                        <p:tgtEl>
                                          <p:spTgt spid="225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531"/>
                                        </p:tgtEl>
                                        <p:attrNameLst>
                                          <p:attrName>style.visibility</p:attrName>
                                        </p:attrNameLst>
                                      </p:cBhvr>
                                      <p:to>
                                        <p:strVal val="visible"/>
                                      </p:to>
                                    </p:set>
                                    <p:animEffect transition="in" filter="wipe(left)">
                                      <p:cBhvr>
                                        <p:cTn id="17" dur="500"/>
                                        <p:tgtEl>
                                          <p:spTgt spid="225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533"/>
                                        </p:tgtEl>
                                        <p:attrNameLst>
                                          <p:attrName>style.visibility</p:attrName>
                                        </p:attrNameLst>
                                      </p:cBhvr>
                                      <p:to>
                                        <p:strVal val="visible"/>
                                      </p:to>
                                    </p:set>
                                    <p:animEffect transition="in" filter="wipe(left)">
                                      <p:cBhvr>
                                        <p:cTn id="22" dur="500"/>
                                        <p:tgtEl>
                                          <p:spTgt spid="225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2535"/>
                                        </p:tgtEl>
                                        <p:attrNameLst>
                                          <p:attrName>style.visibility</p:attrName>
                                        </p:attrNameLst>
                                      </p:cBhvr>
                                      <p:to>
                                        <p:strVal val="visible"/>
                                      </p:to>
                                    </p:set>
                                    <p:animEffect transition="in" filter="wipe(left)">
                                      <p:cBhvr>
                                        <p:cTn id="27" dur="500"/>
                                        <p:tgtEl>
                                          <p:spTgt spid="225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534"/>
                                        </p:tgtEl>
                                        <p:attrNameLst>
                                          <p:attrName>style.visibility</p:attrName>
                                        </p:attrNameLst>
                                      </p:cBhvr>
                                      <p:to>
                                        <p:strVal val="visible"/>
                                      </p:to>
                                    </p:set>
                                    <p:animEffect transition="in" filter="wipe(left)">
                                      <p:cBhvr>
                                        <p:cTn id="32" dur="500"/>
                                        <p:tgtEl>
                                          <p:spTgt spid="2253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950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5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utoUpdateAnimBg="0"/>
      <p:bldP spid="22532" grpId="0" autoUpdateAnimBg="0"/>
      <p:bldP spid="22533" grpId="0" autoUpdateAnimBg="0"/>
      <p:bldP spid="22534" grpId="0" autoUpdateAnimBg="0"/>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rrowheads="1"/>
          </p:cNvSpPr>
          <p:nvPr/>
        </p:nvSpPr>
        <p:spPr bwMode="auto">
          <a:xfrm>
            <a:off x="107505" y="722084"/>
            <a:ext cx="863344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sz="2400" b="1" dirty="0">
                <a:solidFill>
                  <a:schemeClr val="bg1"/>
                </a:solidFill>
              </a:rPr>
              <a:t>对于质量相同的刚体，一个质量分布靠近转轴，另一个质量分布远离转轴，从定义中可以看出，前者的转动惯量比后者小。</a:t>
            </a:r>
          </a:p>
        </p:txBody>
      </p:sp>
      <p:pic>
        <p:nvPicPr>
          <p:cNvPr id="675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4762" y="2272422"/>
            <a:ext cx="3705225"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5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974" y="1715210"/>
            <a:ext cx="4162425" cy="324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611560" y="5301208"/>
            <a:ext cx="8064896" cy="830997"/>
          </a:xfrm>
          <a:prstGeom prst="rect">
            <a:avLst/>
          </a:prstGeom>
          <a:noFill/>
        </p:spPr>
        <p:txBody>
          <a:bodyPr wrap="square" rtlCol="0">
            <a:spAutoFit/>
          </a:bodyPr>
          <a:lstStyle/>
          <a:p>
            <a:r>
              <a:rPr lang="zh-CN" altLang="en-US" sz="2400" b="1">
                <a:solidFill>
                  <a:schemeClr val="bg1"/>
                </a:solidFill>
              </a:rPr>
              <a:t>转动惯量仅取决于刚体本身的性质，即与</a:t>
            </a:r>
            <a:r>
              <a:rPr lang="zh-CN" altLang="en-US" sz="2400" b="1">
                <a:solidFill>
                  <a:srgbClr val="FFC000"/>
                </a:solidFill>
              </a:rPr>
              <a:t>刚体的质量</a:t>
            </a:r>
            <a:r>
              <a:rPr lang="zh-CN" altLang="en-US" sz="2400" b="1">
                <a:solidFill>
                  <a:schemeClr val="bg1"/>
                </a:solidFill>
              </a:rPr>
              <a:t>、</a:t>
            </a:r>
            <a:r>
              <a:rPr lang="zh-CN" altLang="en-US" sz="2400" b="1">
                <a:solidFill>
                  <a:srgbClr val="FFC000"/>
                </a:solidFill>
              </a:rPr>
              <a:t>质量分布</a:t>
            </a:r>
            <a:r>
              <a:rPr lang="zh-CN" altLang="en-US" sz="2400" b="1">
                <a:solidFill>
                  <a:schemeClr val="bg1"/>
                </a:solidFill>
              </a:rPr>
              <a:t>以及</a:t>
            </a:r>
            <a:r>
              <a:rPr lang="zh-CN" altLang="en-US" sz="2400" b="1">
                <a:solidFill>
                  <a:srgbClr val="FFC000"/>
                </a:solidFill>
              </a:rPr>
              <a:t>转轴的位置</a:t>
            </a:r>
            <a:r>
              <a:rPr lang="zh-CN" altLang="en-US" sz="2400" b="1">
                <a:solidFill>
                  <a:schemeClr val="bg1"/>
                </a:solidFill>
              </a:rPr>
              <a:t>有关。</a:t>
            </a:r>
          </a:p>
        </p:txBody>
      </p:sp>
    </p:spTree>
    <p:extLst>
      <p:ext uri="{BB962C8B-B14F-4D97-AF65-F5344CB8AC3E}">
        <p14:creationId xmlns:p14="http://schemas.microsoft.com/office/powerpoint/2010/main" val="1008294598"/>
      </p:ext>
    </p:extLst>
  </p:cSld>
  <p:clrMapOvr>
    <a:masterClrMapping/>
  </p:clrMapOvr>
  <p:transition spd="slow">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9"/>
          <p:cNvSpPr txBox="1">
            <a:spLocks noChangeArrowheads="1"/>
          </p:cNvSpPr>
          <p:nvPr/>
        </p:nvSpPr>
        <p:spPr bwMode="auto">
          <a:xfrm>
            <a:off x="468313" y="669925"/>
            <a:ext cx="358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a:solidFill>
                  <a:srgbClr val="66FFFF"/>
                </a:solidFill>
                <a:latin typeface="Times New Roman" pitchFamily="18" charset="0"/>
              </a:rPr>
              <a:t>(1) </a:t>
            </a:r>
            <a:r>
              <a:rPr lang="en-US" altLang="zh-CN" sz="2400" b="1" i="1">
                <a:solidFill>
                  <a:srgbClr val="66FFFF"/>
                </a:solidFill>
                <a:latin typeface="Times New Roman" pitchFamily="18" charset="0"/>
              </a:rPr>
              <a:t>J</a:t>
            </a:r>
            <a:r>
              <a:rPr lang="en-US" altLang="zh-CN" sz="2400" b="1">
                <a:solidFill>
                  <a:srgbClr val="66FFFF"/>
                </a:solidFill>
                <a:latin typeface="Times New Roman" pitchFamily="18" charset="0"/>
              </a:rPr>
              <a:t> </a:t>
            </a:r>
            <a:r>
              <a:rPr lang="zh-CN" altLang="en-US" sz="2400" b="1">
                <a:solidFill>
                  <a:srgbClr val="66FFFF"/>
                </a:solidFill>
                <a:latin typeface="Times New Roman" pitchFamily="18" charset="0"/>
              </a:rPr>
              <a:t>与刚体的总质量有关</a:t>
            </a:r>
          </a:p>
        </p:txBody>
      </p:sp>
      <p:sp>
        <p:nvSpPr>
          <p:cNvPr id="5" name="Text Box 10"/>
          <p:cNvSpPr txBox="1">
            <a:spLocks noChangeArrowheads="1"/>
          </p:cNvSpPr>
          <p:nvPr/>
        </p:nvSpPr>
        <p:spPr bwMode="auto">
          <a:xfrm>
            <a:off x="503238" y="1349375"/>
            <a:ext cx="7096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dirty="0">
                <a:solidFill>
                  <a:srgbClr val="FFFF00"/>
                </a:solidFill>
                <a:latin typeface="Times New Roman" pitchFamily="18" charset="0"/>
              </a:rPr>
              <a:t>例如</a:t>
            </a:r>
            <a:r>
              <a:rPr lang="zh-CN" altLang="en-US" sz="2400" b="1" dirty="0">
                <a:solidFill>
                  <a:schemeClr val="bg1"/>
                </a:solidFill>
                <a:latin typeface="Times New Roman" pitchFamily="18" charset="0"/>
              </a:rPr>
              <a:t>两根等长的细木棒和细铁棒绕端点轴转动惯量</a:t>
            </a:r>
          </a:p>
        </p:txBody>
      </p:sp>
      <p:sp>
        <p:nvSpPr>
          <p:cNvPr id="6" name="Line 11"/>
          <p:cNvSpPr>
            <a:spLocks noChangeShapeType="1"/>
          </p:cNvSpPr>
          <p:nvPr/>
        </p:nvSpPr>
        <p:spPr bwMode="auto">
          <a:xfrm>
            <a:off x="5713413" y="2082800"/>
            <a:ext cx="0" cy="1371600"/>
          </a:xfrm>
          <a:prstGeom prst="line">
            <a:avLst/>
          </a:prstGeom>
          <a:noFill/>
          <a:ln w="2222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12"/>
          <p:cNvSpPr>
            <a:spLocks noChangeArrowheads="1"/>
          </p:cNvSpPr>
          <p:nvPr/>
        </p:nvSpPr>
        <p:spPr bwMode="auto">
          <a:xfrm>
            <a:off x="5713413" y="2768600"/>
            <a:ext cx="2286000" cy="76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13"/>
          <p:cNvSpPr>
            <a:spLocks noChangeArrowheads="1"/>
          </p:cNvSpPr>
          <p:nvPr/>
        </p:nvSpPr>
        <p:spPr bwMode="auto">
          <a:xfrm>
            <a:off x="6627813" y="2768600"/>
            <a:ext cx="304800" cy="76200"/>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Text Box 14"/>
          <p:cNvSpPr txBox="1">
            <a:spLocks noChangeArrowheads="1"/>
          </p:cNvSpPr>
          <p:nvPr/>
        </p:nvSpPr>
        <p:spPr bwMode="auto">
          <a:xfrm>
            <a:off x="7389813" y="22352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L</a:t>
            </a:r>
            <a:endParaRPr lang="en-US" altLang="zh-CN" sz="2400" i="1">
              <a:solidFill>
                <a:schemeClr val="accent2"/>
              </a:solidFill>
              <a:latin typeface="Times New Roman" pitchFamily="18" charset="0"/>
            </a:endParaRPr>
          </a:p>
        </p:txBody>
      </p:sp>
      <p:sp>
        <p:nvSpPr>
          <p:cNvPr id="10" name="Text Box 15"/>
          <p:cNvSpPr txBox="1">
            <a:spLocks noChangeArrowheads="1"/>
          </p:cNvSpPr>
          <p:nvPr/>
        </p:nvSpPr>
        <p:spPr bwMode="auto">
          <a:xfrm>
            <a:off x="5699125" y="177323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z</a:t>
            </a:r>
            <a:endParaRPr lang="en-US" altLang="zh-CN" sz="2400" i="1">
              <a:solidFill>
                <a:schemeClr val="accent2"/>
              </a:solidFill>
              <a:latin typeface="Times New Roman" pitchFamily="18" charset="0"/>
            </a:endParaRPr>
          </a:p>
        </p:txBody>
      </p:sp>
      <p:sp>
        <p:nvSpPr>
          <p:cNvPr id="11" name="Text Box 16"/>
          <p:cNvSpPr txBox="1">
            <a:spLocks noChangeArrowheads="1"/>
          </p:cNvSpPr>
          <p:nvPr/>
        </p:nvSpPr>
        <p:spPr bwMode="auto">
          <a:xfrm>
            <a:off x="5294313" y="281463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O</a:t>
            </a:r>
            <a:endParaRPr lang="en-US" altLang="zh-CN" sz="2400" i="1">
              <a:solidFill>
                <a:schemeClr val="accent2"/>
              </a:solidFill>
              <a:latin typeface="Times New Roman" pitchFamily="18" charset="0"/>
            </a:endParaRPr>
          </a:p>
        </p:txBody>
      </p:sp>
      <p:sp>
        <p:nvSpPr>
          <p:cNvPr id="12" name="Line 17"/>
          <p:cNvSpPr>
            <a:spLocks noChangeShapeType="1"/>
          </p:cNvSpPr>
          <p:nvPr/>
        </p:nvSpPr>
        <p:spPr bwMode="auto">
          <a:xfrm>
            <a:off x="5713413" y="2997200"/>
            <a:ext cx="2743200" cy="0"/>
          </a:xfrm>
          <a:prstGeom prst="line">
            <a:avLst/>
          </a:prstGeom>
          <a:noFill/>
          <a:ln w="2222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18"/>
          <p:cNvSpPr txBox="1">
            <a:spLocks noChangeArrowheads="1"/>
          </p:cNvSpPr>
          <p:nvPr/>
        </p:nvSpPr>
        <p:spPr bwMode="auto">
          <a:xfrm>
            <a:off x="8075613" y="28829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x</a:t>
            </a:r>
            <a:endParaRPr lang="en-US" altLang="zh-CN" sz="2400" i="1">
              <a:solidFill>
                <a:schemeClr val="accent2"/>
              </a:solidFill>
              <a:latin typeface="Times New Roman" pitchFamily="18" charset="0"/>
            </a:endParaRPr>
          </a:p>
        </p:txBody>
      </p:sp>
      <p:sp>
        <p:nvSpPr>
          <p:cNvPr id="14" name="Text Box 19"/>
          <p:cNvSpPr txBox="1">
            <a:spLocks noChangeArrowheads="1"/>
          </p:cNvSpPr>
          <p:nvPr/>
        </p:nvSpPr>
        <p:spPr bwMode="auto">
          <a:xfrm>
            <a:off x="6475413" y="2997200"/>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a:solidFill>
                  <a:srgbClr val="FFFF00"/>
                </a:solidFill>
                <a:latin typeface="Times New Roman" pitchFamily="18" charset="0"/>
              </a:rPr>
              <a:t>d</a:t>
            </a:r>
            <a:r>
              <a:rPr lang="en-US" altLang="zh-CN" sz="2400" i="1">
                <a:solidFill>
                  <a:srgbClr val="FFFF00"/>
                </a:solidFill>
                <a:latin typeface="Times New Roman" pitchFamily="18" charset="0"/>
              </a:rPr>
              <a:t>x</a:t>
            </a:r>
            <a:endParaRPr lang="en-US" altLang="zh-CN" sz="2400" i="1">
              <a:solidFill>
                <a:schemeClr val="accent2"/>
              </a:solidFill>
              <a:latin typeface="Times New Roman" pitchFamily="18" charset="0"/>
            </a:endParaRPr>
          </a:p>
        </p:txBody>
      </p:sp>
      <p:sp>
        <p:nvSpPr>
          <p:cNvPr id="15" name="Text Box 20"/>
          <p:cNvSpPr txBox="1">
            <a:spLocks noChangeArrowheads="1"/>
          </p:cNvSpPr>
          <p:nvPr/>
        </p:nvSpPr>
        <p:spPr bwMode="auto">
          <a:xfrm>
            <a:off x="6170613" y="2235200"/>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M</a:t>
            </a:r>
            <a:endParaRPr lang="en-US" altLang="zh-CN" sz="2400" i="1">
              <a:solidFill>
                <a:schemeClr val="accent2"/>
              </a:solidFill>
              <a:latin typeface="Times New Roman" pitchFamily="18" charset="0"/>
            </a:endParaRPr>
          </a:p>
        </p:txBody>
      </p:sp>
      <p:graphicFrame>
        <p:nvGraphicFramePr>
          <p:cNvPr id="16" name="Object 21"/>
          <p:cNvGraphicFramePr>
            <a:graphicFrameLocks/>
          </p:cNvGraphicFramePr>
          <p:nvPr/>
        </p:nvGraphicFramePr>
        <p:xfrm>
          <a:off x="509588" y="2006600"/>
          <a:ext cx="4273550" cy="742950"/>
        </p:xfrm>
        <a:graphic>
          <a:graphicData uri="http://schemas.openxmlformats.org/presentationml/2006/ole">
            <mc:AlternateContent xmlns:mc="http://schemas.openxmlformats.org/markup-compatibility/2006">
              <mc:Choice xmlns:v="urn:schemas-microsoft-com:vml" Requires="v">
                <p:oleObj spid="_x0000_s15380" name="公式" r:id="rId3" imgW="4657830" imgH="733410" progId="Equation.3">
                  <p:embed/>
                </p:oleObj>
              </mc:Choice>
              <mc:Fallback>
                <p:oleObj name="公式" r:id="rId3" imgW="4657830" imgH="733410" progId="Equation.3">
                  <p:embed/>
                  <p:pic>
                    <p:nvPicPr>
                      <p:cNvPr id="0" name="Object 2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588" y="2006600"/>
                        <a:ext cx="4273550"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22"/>
          <p:cNvGraphicFramePr>
            <a:graphicFrameLocks/>
          </p:cNvGraphicFramePr>
          <p:nvPr/>
        </p:nvGraphicFramePr>
        <p:xfrm>
          <a:off x="2030413" y="3019425"/>
          <a:ext cx="1130300" cy="411163"/>
        </p:xfrm>
        <a:graphic>
          <a:graphicData uri="http://schemas.openxmlformats.org/presentationml/2006/ole">
            <mc:AlternateContent xmlns:mc="http://schemas.openxmlformats.org/markup-compatibility/2006">
              <mc:Choice xmlns:v="urn:schemas-microsoft-com:vml" Requires="v">
                <p:oleObj spid="_x0000_s15381" name="Equation" r:id="rId5" imgW="1162095" imgH="361981" progId="Equation.3">
                  <p:embed/>
                </p:oleObj>
              </mc:Choice>
              <mc:Fallback>
                <p:oleObj name="Equation" r:id="rId5" imgW="1162095" imgH="361981" progId="Equation.3">
                  <p:embed/>
                  <p:pic>
                    <p:nvPicPr>
                      <p:cNvPr id="0" name="Object 2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0413" y="3019425"/>
                        <a:ext cx="1130300"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Arc 24"/>
          <p:cNvSpPr>
            <a:spLocks/>
          </p:cNvSpPr>
          <p:nvPr/>
        </p:nvSpPr>
        <p:spPr bwMode="auto">
          <a:xfrm flipH="1">
            <a:off x="5470525" y="2232025"/>
            <a:ext cx="471488" cy="146050"/>
          </a:xfrm>
          <a:custGeom>
            <a:avLst/>
            <a:gdLst>
              <a:gd name="T0" fmla="*/ 2147483647 w 43200"/>
              <a:gd name="T1" fmla="*/ 0 h 38804"/>
              <a:gd name="T2" fmla="*/ 2147483647 w 43200"/>
              <a:gd name="T3" fmla="*/ 27904911 h 38804"/>
              <a:gd name="T4" fmla="*/ 2147483647 w 43200"/>
              <a:gd name="T5" fmla="*/ 2147483647 h 38804"/>
              <a:gd name="T6" fmla="*/ 0 60000 65536"/>
              <a:gd name="T7" fmla="*/ 0 60000 65536"/>
              <a:gd name="T8" fmla="*/ 0 60000 65536"/>
            </a:gdLst>
            <a:ahLst/>
            <a:cxnLst>
              <a:cxn ang="T6">
                <a:pos x="T0" y="T1"/>
              </a:cxn>
              <a:cxn ang="T7">
                <a:pos x="T2" y="T3"/>
              </a:cxn>
              <a:cxn ang="T8">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lnTo>
                  <a:pt x="34660" y="0"/>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7" name="矩形 18"/>
          <p:cNvSpPr>
            <a:spLocks noChangeArrowheads="1"/>
          </p:cNvSpPr>
          <p:nvPr/>
        </p:nvSpPr>
        <p:spPr bwMode="auto">
          <a:xfrm>
            <a:off x="179388" y="188913"/>
            <a:ext cx="28209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a:solidFill>
                  <a:srgbClr val="FFC000"/>
                </a:solidFill>
              </a:rPr>
              <a:t>书中例题</a:t>
            </a:r>
            <a:r>
              <a:rPr lang="en-US" altLang="zh-CN" sz="2400" b="1">
                <a:solidFill>
                  <a:srgbClr val="FFC000"/>
                </a:solidFill>
              </a:rPr>
              <a:t>6.1(P.198)</a:t>
            </a:r>
            <a:endParaRPr lang="zh-CN" altLang="zh-CN" sz="2400" b="1">
              <a:solidFill>
                <a:srgbClr val="FFC000"/>
              </a:solidFill>
            </a:endParaRPr>
          </a:p>
        </p:txBody>
      </p:sp>
      <p:sp>
        <p:nvSpPr>
          <p:cNvPr id="34" name="Line 15"/>
          <p:cNvSpPr>
            <a:spLocks noChangeShapeType="1"/>
          </p:cNvSpPr>
          <p:nvPr/>
        </p:nvSpPr>
        <p:spPr bwMode="auto">
          <a:xfrm>
            <a:off x="1725613" y="4606925"/>
            <a:ext cx="0" cy="1371600"/>
          </a:xfrm>
          <a:prstGeom prst="line">
            <a:avLst/>
          </a:prstGeom>
          <a:noFill/>
          <a:ln w="2222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Rectangle 16"/>
          <p:cNvSpPr>
            <a:spLocks noChangeArrowheads="1"/>
          </p:cNvSpPr>
          <p:nvPr/>
        </p:nvSpPr>
        <p:spPr bwMode="auto">
          <a:xfrm>
            <a:off x="582613" y="5216525"/>
            <a:ext cx="2286000" cy="76200"/>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Rectangle 17"/>
          <p:cNvSpPr>
            <a:spLocks noChangeArrowheads="1"/>
          </p:cNvSpPr>
          <p:nvPr/>
        </p:nvSpPr>
        <p:spPr bwMode="auto">
          <a:xfrm>
            <a:off x="2182813" y="5216525"/>
            <a:ext cx="304800" cy="76200"/>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Text Box 18"/>
          <p:cNvSpPr txBox="1">
            <a:spLocks noChangeArrowheads="1"/>
          </p:cNvSpPr>
          <p:nvPr/>
        </p:nvSpPr>
        <p:spPr bwMode="auto">
          <a:xfrm>
            <a:off x="2640013" y="468312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L</a:t>
            </a:r>
            <a:endParaRPr lang="en-US" altLang="zh-CN" sz="2400" i="1">
              <a:solidFill>
                <a:schemeClr val="accent2"/>
              </a:solidFill>
              <a:latin typeface="Times New Roman" pitchFamily="18" charset="0"/>
            </a:endParaRPr>
          </a:p>
        </p:txBody>
      </p:sp>
      <p:sp>
        <p:nvSpPr>
          <p:cNvPr id="38" name="Text Box 19"/>
          <p:cNvSpPr txBox="1">
            <a:spLocks noChangeArrowheads="1"/>
          </p:cNvSpPr>
          <p:nvPr/>
        </p:nvSpPr>
        <p:spPr bwMode="auto">
          <a:xfrm>
            <a:off x="1335088" y="538956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O</a:t>
            </a:r>
            <a:endParaRPr lang="en-US" altLang="zh-CN" sz="2400" i="1">
              <a:solidFill>
                <a:schemeClr val="accent2"/>
              </a:solidFill>
              <a:latin typeface="Times New Roman" pitchFamily="18" charset="0"/>
            </a:endParaRPr>
          </a:p>
        </p:txBody>
      </p:sp>
      <p:sp>
        <p:nvSpPr>
          <p:cNvPr id="39" name="Line 20"/>
          <p:cNvSpPr>
            <a:spLocks noChangeShapeType="1"/>
          </p:cNvSpPr>
          <p:nvPr/>
        </p:nvSpPr>
        <p:spPr bwMode="auto">
          <a:xfrm>
            <a:off x="582613" y="5445125"/>
            <a:ext cx="3276600" cy="0"/>
          </a:xfrm>
          <a:prstGeom prst="line">
            <a:avLst/>
          </a:prstGeom>
          <a:noFill/>
          <a:ln w="2222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Text Box 21"/>
          <p:cNvSpPr txBox="1">
            <a:spLocks noChangeArrowheads="1"/>
          </p:cNvSpPr>
          <p:nvPr/>
        </p:nvSpPr>
        <p:spPr bwMode="auto">
          <a:xfrm>
            <a:off x="3554413" y="531812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x</a:t>
            </a:r>
            <a:endParaRPr lang="en-US" altLang="zh-CN" sz="2400" i="1">
              <a:solidFill>
                <a:schemeClr val="accent2"/>
              </a:solidFill>
              <a:latin typeface="Times New Roman" pitchFamily="18" charset="0"/>
            </a:endParaRPr>
          </a:p>
        </p:txBody>
      </p:sp>
      <p:sp>
        <p:nvSpPr>
          <p:cNvPr id="41" name="Text Box 22"/>
          <p:cNvSpPr txBox="1">
            <a:spLocks noChangeArrowheads="1"/>
          </p:cNvSpPr>
          <p:nvPr/>
        </p:nvSpPr>
        <p:spPr bwMode="auto">
          <a:xfrm>
            <a:off x="2030413" y="5445125"/>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a:solidFill>
                  <a:srgbClr val="FFFF00"/>
                </a:solidFill>
                <a:latin typeface="Times New Roman" pitchFamily="18" charset="0"/>
              </a:rPr>
              <a:t>d</a:t>
            </a:r>
            <a:r>
              <a:rPr lang="en-US" altLang="zh-CN" sz="2400" i="1">
                <a:solidFill>
                  <a:srgbClr val="FFFF00"/>
                </a:solidFill>
                <a:latin typeface="Times New Roman" pitchFamily="18" charset="0"/>
              </a:rPr>
              <a:t>x</a:t>
            </a:r>
            <a:endParaRPr lang="en-US" altLang="zh-CN" sz="2400" i="1">
              <a:solidFill>
                <a:schemeClr val="accent2"/>
              </a:solidFill>
              <a:latin typeface="Times New Roman" pitchFamily="18" charset="0"/>
            </a:endParaRPr>
          </a:p>
        </p:txBody>
      </p:sp>
      <p:sp>
        <p:nvSpPr>
          <p:cNvPr id="42" name="Text Box 23"/>
          <p:cNvSpPr txBox="1">
            <a:spLocks noChangeArrowheads="1"/>
          </p:cNvSpPr>
          <p:nvPr/>
        </p:nvSpPr>
        <p:spPr bwMode="auto">
          <a:xfrm>
            <a:off x="1039813" y="4759325"/>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M</a:t>
            </a:r>
            <a:endParaRPr lang="en-US" altLang="zh-CN" sz="2400" i="1">
              <a:solidFill>
                <a:schemeClr val="accent2"/>
              </a:solidFill>
              <a:latin typeface="Times New Roman" pitchFamily="18" charset="0"/>
            </a:endParaRPr>
          </a:p>
        </p:txBody>
      </p:sp>
      <p:graphicFrame>
        <p:nvGraphicFramePr>
          <p:cNvPr id="43" name="Object 24"/>
          <p:cNvGraphicFramePr>
            <a:graphicFrameLocks/>
          </p:cNvGraphicFramePr>
          <p:nvPr/>
        </p:nvGraphicFramePr>
        <p:xfrm>
          <a:off x="434975" y="5922963"/>
          <a:ext cx="3051175" cy="742950"/>
        </p:xfrm>
        <a:graphic>
          <a:graphicData uri="http://schemas.openxmlformats.org/presentationml/2006/ole">
            <mc:AlternateContent xmlns:mc="http://schemas.openxmlformats.org/markup-compatibility/2006">
              <mc:Choice xmlns:v="urn:schemas-microsoft-com:vml" Requires="v">
                <p:oleObj spid="_x0000_s15382" name="公式" r:id="rId7" imgW="3295708" imgH="733410" progId="Equation.3">
                  <p:embed/>
                </p:oleObj>
              </mc:Choice>
              <mc:Fallback>
                <p:oleObj name="公式" r:id="rId7" imgW="3295708" imgH="733410" progId="Equation.3">
                  <p:embed/>
                  <p:pic>
                    <p:nvPicPr>
                      <p:cNvPr id="0" name="Object 2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975" y="5922963"/>
                        <a:ext cx="3051175"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 name="Text Box 37"/>
          <p:cNvSpPr txBox="1">
            <a:spLocks noChangeArrowheads="1"/>
          </p:cNvSpPr>
          <p:nvPr/>
        </p:nvSpPr>
        <p:spPr bwMode="auto">
          <a:xfrm>
            <a:off x="1681163" y="4160838"/>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z</a:t>
            </a:r>
            <a:endParaRPr lang="en-US" altLang="zh-CN" sz="2400" i="1">
              <a:solidFill>
                <a:schemeClr val="accent2"/>
              </a:solidFill>
              <a:latin typeface="Times New Roman" pitchFamily="18" charset="0"/>
            </a:endParaRPr>
          </a:p>
        </p:txBody>
      </p:sp>
      <p:sp>
        <p:nvSpPr>
          <p:cNvPr id="45" name="Rectangle 38"/>
          <p:cNvSpPr>
            <a:spLocks noChangeArrowheads="1"/>
          </p:cNvSpPr>
          <p:nvPr/>
        </p:nvSpPr>
        <p:spPr bwMode="auto">
          <a:xfrm>
            <a:off x="447675" y="3709988"/>
            <a:ext cx="3371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b="1">
                <a:solidFill>
                  <a:srgbClr val="66FFFF"/>
                </a:solidFill>
                <a:latin typeface="Times New Roman" pitchFamily="18" charset="0"/>
              </a:rPr>
              <a:t>(2)  </a:t>
            </a:r>
            <a:r>
              <a:rPr lang="en-US" altLang="zh-CN" sz="2400" b="1" i="1">
                <a:solidFill>
                  <a:srgbClr val="66FFFF"/>
                </a:solidFill>
                <a:latin typeface="Times New Roman" pitchFamily="18" charset="0"/>
              </a:rPr>
              <a:t>J</a:t>
            </a:r>
            <a:r>
              <a:rPr lang="en-US" altLang="zh-CN" sz="2400" b="1">
                <a:solidFill>
                  <a:srgbClr val="66FFFF"/>
                </a:solidFill>
                <a:latin typeface="Times New Roman" pitchFamily="18" charset="0"/>
              </a:rPr>
              <a:t> </a:t>
            </a:r>
            <a:r>
              <a:rPr lang="zh-CN" altLang="en-US" sz="2400" b="1">
                <a:solidFill>
                  <a:srgbClr val="66FFFF"/>
                </a:solidFill>
                <a:latin typeface="Times New Roman" pitchFamily="18" charset="0"/>
              </a:rPr>
              <a:t>与转轴的位置有关</a:t>
            </a:r>
          </a:p>
        </p:txBody>
      </p:sp>
      <p:sp>
        <p:nvSpPr>
          <p:cNvPr id="47" name="Arc 47"/>
          <p:cNvSpPr>
            <a:spLocks/>
          </p:cNvSpPr>
          <p:nvPr/>
        </p:nvSpPr>
        <p:spPr bwMode="auto">
          <a:xfrm flipH="1">
            <a:off x="1489075" y="4829175"/>
            <a:ext cx="471488" cy="146050"/>
          </a:xfrm>
          <a:custGeom>
            <a:avLst/>
            <a:gdLst>
              <a:gd name="T0" fmla="*/ 2147483647 w 43200"/>
              <a:gd name="T1" fmla="*/ 0 h 38804"/>
              <a:gd name="T2" fmla="*/ 2147483647 w 43200"/>
              <a:gd name="T3" fmla="*/ 27904911 h 38804"/>
              <a:gd name="T4" fmla="*/ 2147483647 w 43200"/>
              <a:gd name="T5" fmla="*/ 2147483647 h 38804"/>
              <a:gd name="T6" fmla="*/ 0 60000 65536"/>
              <a:gd name="T7" fmla="*/ 0 60000 65536"/>
              <a:gd name="T8" fmla="*/ 0 60000 65536"/>
            </a:gdLst>
            <a:ahLst/>
            <a:cxnLst>
              <a:cxn ang="T6">
                <a:pos x="T0" y="T1"/>
              </a:cxn>
              <a:cxn ang="T7">
                <a:pos x="T2" y="T3"/>
              </a:cxn>
              <a:cxn ang="T8">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lnTo>
                  <a:pt x="34660" y="0"/>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矩形 47"/>
          <p:cNvSpPr>
            <a:spLocks noChangeArrowheads="1"/>
          </p:cNvSpPr>
          <p:nvPr/>
        </p:nvSpPr>
        <p:spPr bwMode="auto">
          <a:xfrm>
            <a:off x="4173538" y="4894263"/>
            <a:ext cx="4572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solidFill>
                  <a:schemeClr val="bg1"/>
                </a:solidFill>
              </a:rPr>
              <a:t>同一根杆，绕端点的转动惯量是绕中点的转动惯量的</a:t>
            </a:r>
            <a:r>
              <a:rPr lang="en-US" altLang="zh-CN" sz="2400" b="1" dirty="0">
                <a:solidFill>
                  <a:schemeClr val="bg1"/>
                </a:solidFill>
              </a:rPr>
              <a:t>4</a:t>
            </a:r>
            <a:r>
              <a:rPr lang="zh-CN" altLang="en-US" sz="2400" b="1" dirty="0">
                <a:solidFill>
                  <a:schemeClr val="bg1"/>
                </a:solidFill>
              </a:rPr>
              <a:t>倍。</a:t>
            </a:r>
          </a:p>
        </p:txBody>
      </p:sp>
      <p:sp>
        <p:nvSpPr>
          <p:cNvPr id="2" name="矩形 1">
            <a:extLst>
              <a:ext uri="{FF2B5EF4-FFF2-40B4-BE49-F238E27FC236}">
                <a16:creationId xmlns:a16="http://schemas.microsoft.com/office/drawing/2014/main" id="{6D344E92-0B41-ED70-0B38-0ABDC1ECBF15}"/>
              </a:ext>
            </a:extLst>
          </p:cNvPr>
          <p:cNvSpPr>
            <a:spLocks noChangeArrowheads="1"/>
          </p:cNvSpPr>
          <p:nvPr/>
        </p:nvSpPr>
        <p:spPr bwMode="auto">
          <a:xfrm>
            <a:off x="4110038" y="5859463"/>
            <a:ext cx="4572000" cy="46166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lang="zh-CN" altLang="en-US" sz="2400" b="1" dirty="0">
                <a:solidFill>
                  <a:schemeClr val="bg1"/>
                </a:solidFill>
              </a:rPr>
              <a:t>（平行轴定理，在后面）</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down)">
                                      <p:cBhvr>
                                        <p:cTn id="42" dur="500"/>
                                        <p:tgtEl>
                                          <p:spTgt spid="1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left)">
                                      <p:cBhvr>
                                        <p:cTn id="57" dur="500"/>
                                        <p:tgtEl>
                                          <p:spTgt spid="1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left)">
                                      <p:cBhvr>
                                        <p:cTn id="62" dur="500"/>
                                        <p:tgtEl>
                                          <p:spTgt spid="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wipe(left)">
                                      <p:cBhvr>
                                        <p:cTn id="67" dur="500"/>
                                        <p:tgtEl>
                                          <p:spTgt spid="1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wipe(left)">
                                      <p:cBhvr>
                                        <p:cTn id="72" dur="500"/>
                                        <p:tgtEl>
                                          <p:spTgt spid="1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wipe(left)">
                                      <p:cBhvr>
                                        <p:cTn id="77" dur="500"/>
                                        <p:tgtEl>
                                          <p:spTgt spid="1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45"/>
                                        </p:tgtEl>
                                        <p:attrNameLst>
                                          <p:attrName>style.visibility</p:attrName>
                                        </p:attrNameLst>
                                      </p:cBhvr>
                                      <p:to>
                                        <p:strVal val="visible"/>
                                      </p:to>
                                    </p:set>
                                    <p:animEffect transition="in" filter="wipe(left)">
                                      <p:cBhvr>
                                        <p:cTn id="82" dur="500"/>
                                        <p:tgtEl>
                                          <p:spTgt spid="45"/>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wipe(left)">
                                      <p:cBhvr>
                                        <p:cTn id="87" dur="500"/>
                                        <p:tgtEl>
                                          <p:spTgt spid="35"/>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wipe(left)">
                                      <p:cBhvr>
                                        <p:cTn id="92" dur="500"/>
                                        <p:tgtEl>
                                          <p:spTgt spid="3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7"/>
                                        </p:tgtEl>
                                        <p:attrNameLst>
                                          <p:attrName>style.visibility</p:attrName>
                                        </p:attrNameLst>
                                      </p:cBhvr>
                                      <p:to>
                                        <p:strVal val="visible"/>
                                      </p:to>
                                    </p:set>
                                    <p:animEffect transition="in" filter="wipe(left)">
                                      <p:cBhvr>
                                        <p:cTn id="97" dur="500"/>
                                        <p:tgtEl>
                                          <p:spTgt spid="37"/>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42"/>
                                        </p:tgtEl>
                                        <p:attrNameLst>
                                          <p:attrName>style.visibility</p:attrName>
                                        </p:attrNameLst>
                                      </p:cBhvr>
                                      <p:to>
                                        <p:strVal val="visible"/>
                                      </p:to>
                                    </p:set>
                                    <p:animEffect transition="in" filter="wipe(left)">
                                      <p:cBhvr>
                                        <p:cTn id="102" dur="500"/>
                                        <p:tgtEl>
                                          <p:spTgt spid="42"/>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wipe(left)">
                                      <p:cBhvr>
                                        <p:cTn id="107" dur="500"/>
                                        <p:tgtEl>
                                          <p:spTgt spid="38"/>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39"/>
                                        </p:tgtEl>
                                        <p:attrNameLst>
                                          <p:attrName>style.visibility</p:attrName>
                                        </p:attrNameLst>
                                      </p:cBhvr>
                                      <p:to>
                                        <p:strVal val="visible"/>
                                      </p:to>
                                    </p:set>
                                    <p:animEffect transition="in" filter="wipe(left)">
                                      <p:cBhvr>
                                        <p:cTn id="112" dur="500"/>
                                        <p:tgtEl>
                                          <p:spTgt spid="39"/>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wipe(left)">
                                      <p:cBhvr>
                                        <p:cTn id="117" dur="500"/>
                                        <p:tgtEl>
                                          <p:spTgt spid="40"/>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36"/>
                                        </p:tgtEl>
                                        <p:attrNameLst>
                                          <p:attrName>style.visibility</p:attrName>
                                        </p:attrNameLst>
                                      </p:cBhvr>
                                      <p:to>
                                        <p:strVal val="visible"/>
                                      </p:to>
                                    </p:set>
                                    <p:animEffect transition="in" filter="wipe(left)">
                                      <p:cBhvr>
                                        <p:cTn id="122" dur="500"/>
                                        <p:tgtEl>
                                          <p:spTgt spid="36"/>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41"/>
                                        </p:tgtEl>
                                        <p:attrNameLst>
                                          <p:attrName>style.visibility</p:attrName>
                                        </p:attrNameLst>
                                      </p:cBhvr>
                                      <p:to>
                                        <p:strVal val="visible"/>
                                      </p:to>
                                    </p:set>
                                    <p:animEffect transition="in" filter="wipe(left)">
                                      <p:cBhvr>
                                        <p:cTn id="127" dur="500"/>
                                        <p:tgtEl>
                                          <p:spTgt spid="41"/>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wipe(down)">
                                      <p:cBhvr>
                                        <p:cTn id="132" dur="500"/>
                                        <p:tgtEl>
                                          <p:spTgt spid="47"/>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44"/>
                                        </p:tgtEl>
                                        <p:attrNameLst>
                                          <p:attrName>style.visibility</p:attrName>
                                        </p:attrNameLst>
                                      </p:cBhvr>
                                      <p:to>
                                        <p:strVal val="visible"/>
                                      </p:to>
                                    </p:set>
                                    <p:animEffect transition="in" filter="wipe(left)">
                                      <p:cBhvr>
                                        <p:cTn id="137" dur="500"/>
                                        <p:tgtEl>
                                          <p:spTgt spid="44"/>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nodeType="clickEffect">
                                  <p:stCondLst>
                                    <p:cond delay="0"/>
                                  </p:stCondLst>
                                  <p:childTnLst>
                                    <p:set>
                                      <p:cBhvr>
                                        <p:cTn id="141" dur="1" fill="hold">
                                          <p:stCondLst>
                                            <p:cond delay="0"/>
                                          </p:stCondLst>
                                        </p:cTn>
                                        <p:tgtEl>
                                          <p:spTgt spid="43"/>
                                        </p:tgtEl>
                                        <p:attrNameLst>
                                          <p:attrName>style.visibility</p:attrName>
                                        </p:attrNameLst>
                                      </p:cBhvr>
                                      <p:to>
                                        <p:strVal val="visible"/>
                                      </p:to>
                                    </p:set>
                                    <p:animEffect transition="in" filter="wipe(left)">
                                      <p:cBhvr>
                                        <p:cTn id="142" dur="500"/>
                                        <p:tgtEl>
                                          <p:spTgt spid="43"/>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 presetClass="entr" presetSubtype="0" fill="hold" nodeType="clickEffect">
                                  <p:stCondLst>
                                    <p:cond delay="0"/>
                                  </p:stCondLst>
                                  <p:childTnLst>
                                    <p:set>
                                      <p:cBhvr>
                                        <p:cTn id="146"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6" grpId="0" animBg="1"/>
      <p:bldP spid="7" grpId="0" animBg="1"/>
      <p:bldP spid="8" grpId="0" animBg="1"/>
      <p:bldP spid="9" grpId="0" autoUpdateAnimBg="0"/>
      <p:bldP spid="10" grpId="0" autoUpdateAnimBg="0"/>
      <p:bldP spid="11" grpId="0" autoUpdateAnimBg="0"/>
      <p:bldP spid="12" grpId="0" animBg="1"/>
      <p:bldP spid="13" grpId="0" autoUpdateAnimBg="0"/>
      <p:bldP spid="14" grpId="0" autoUpdateAnimBg="0"/>
      <p:bldP spid="15" grpId="0" autoUpdateAnimBg="0"/>
      <p:bldP spid="18" grpId="0" animBg="1"/>
      <p:bldP spid="34" grpId="0" animBg="1"/>
      <p:bldP spid="35" grpId="0" animBg="1"/>
      <p:bldP spid="36" grpId="0" animBg="1"/>
      <p:bldP spid="37" grpId="0" autoUpdateAnimBg="0"/>
      <p:bldP spid="38" grpId="0" autoUpdateAnimBg="0"/>
      <p:bldP spid="39" grpId="0" animBg="1"/>
      <p:bldP spid="40" grpId="0" autoUpdateAnimBg="0"/>
      <p:bldP spid="41" grpId="0" autoUpdateAnimBg="0"/>
      <p:bldP spid="42" grpId="0" autoUpdateAnimBg="0"/>
      <p:bldP spid="44" grpId="0" autoUpdateAnimBg="0"/>
      <p:bldP spid="45" grpId="0" autoUpdateAnimBg="0"/>
      <p:bldP spid="4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4"/>
          <p:cNvSpPr>
            <a:spLocks noChangeArrowheads="1"/>
          </p:cNvSpPr>
          <p:nvPr/>
        </p:nvSpPr>
        <p:spPr bwMode="auto">
          <a:xfrm>
            <a:off x="203601" y="6093296"/>
            <a:ext cx="868619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zh-CN" altLang="en-US" sz="2400" b="1" dirty="0">
                <a:solidFill>
                  <a:schemeClr val="bg1"/>
                </a:solidFill>
                <a:latin typeface="Times New Roman" pitchFamily="18" charset="0"/>
              </a:rPr>
              <a:t>如果厚度为</a:t>
            </a:r>
            <a:r>
              <a:rPr lang="en-US" altLang="zh-CN" sz="2400" b="1" i="1" dirty="0">
                <a:solidFill>
                  <a:schemeClr val="bg1"/>
                </a:solidFill>
                <a:latin typeface="Times New Roman" pitchFamily="18" charset="0"/>
              </a:rPr>
              <a:t>h</a:t>
            </a:r>
            <a:r>
              <a:rPr lang="zh-CN" altLang="en-US" sz="2400" b="1" dirty="0">
                <a:solidFill>
                  <a:schemeClr val="bg1"/>
                </a:solidFill>
                <a:latin typeface="Times New Roman" pitchFamily="18" charset="0"/>
              </a:rPr>
              <a:t>的圆柱，质量为</a:t>
            </a:r>
            <a:r>
              <a:rPr lang="en-US" altLang="zh-CN" sz="2400" b="1" i="1" dirty="0">
                <a:solidFill>
                  <a:schemeClr val="bg1"/>
                </a:solidFill>
                <a:latin typeface="Times New Roman" pitchFamily="18" charset="0"/>
              </a:rPr>
              <a:t>m</a:t>
            </a:r>
            <a:r>
              <a:rPr lang="zh-CN" altLang="en-US" sz="2400" b="1" dirty="0">
                <a:solidFill>
                  <a:schemeClr val="bg1"/>
                </a:solidFill>
                <a:latin typeface="Times New Roman" pitchFamily="18" charset="0"/>
              </a:rPr>
              <a:t>均匀分布呢？</a:t>
            </a:r>
          </a:p>
        </p:txBody>
      </p:sp>
      <p:sp>
        <p:nvSpPr>
          <p:cNvPr id="57" name="Rectangle 2"/>
          <p:cNvSpPr>
            <a:spLocks noChangeArrowheads="1"/>
          </p:cNvSpPr>
          <p:nvPr/>
        </p:nvSpPr>
        <p:spPr bwMode="auto">
          <a:xfrm>
            <a:off x="269082" y="160134"/>
            <a:ext cx="2989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b="1">
                <a:solidFill>
                  <a:srgbClr val="66FFFF"/>
                </a:solidFill>
                <a:latin typeface="Times New Roman" pitchFamily="18" charset="0"/>
              </a:rPr>
              <a:t>(3) </a:t>
            </a:r>
            <a:r>
              <a:rPr lang="en-US" altLang="zh-CN" sz="2400" b="1" i="1">
                <a:solidFill>
                  <a:srgbClr val="66FFFF"/>
                </a:solidFill>
                <a:latin typeface="Times New Roman" pitchFamily="18" charset="0"/>
              </a:rPr>
              <a:t>J</a:t>
            </a:r>
            <a:r>
              <a:rPr lang="en-US" altLang="zh-CN" sz="2400" b="1">
                <a:solidFill>
                  <a:srgbClr val="66FFFF"/>
                </a:solidFill>
                <a:latin typeface="Times New Roman" pitchFamily="18" charset="0"/>
              </a:rPr>
              <a:t> </a:t>
            </a:r>
            <a:r>
              <a:rPr lang="zh-CN" altLang="en-US" sz="2400" b="1">
                <a:solidFill>
                  <a:srgbClr val="66FFFF"/>
                </a:solidFill>
                <a:latin typeface="Times New Roman" pitchFamily="18" charset="0"/>
              </a:rPr>
              <a:t>与质量分布有关</a:t>
            </a:r>
          </a:p>
        </p:txBody>
      </p:sp>
      <p:sp>
        <p:nvSpPr>
          <p:cNvPr id="58" name="Rectangle 3"/>
          <p:cNvSpPr>
            <a:spLocks noChangeArrowheads="1"/>
          </p:cNvSpPr>
          <p:nvPr/>
        </p:nvSpPr>
        <p:spPr bwMode="auto">
          <a:xfrm>
            <a:off x="261144" y="769734"/>
            <a:ext cx="4778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b="1" dirty="0">
                <a:solidFill>
                  <a:srgbClr val="FFFF00"/>
                </a:solidFill>
                <a:latin typeface="Times New Roman" pitchFamily="18" charset="0"/>
              </a:rPr>
              <a:t>例如</a:t>
            </a:r>
            <a:r>
              <a:rPr lang="zh-CN" altLang="en-US" sz="2400" b="1" dirty="0">
                <a:solidFill>
                  <a:schemeClr val="bg1"/>
                </a:solidFill>
                <a:latin typeface="Times New Roman" pitchFamily="18" charset="0"/>
              </a:rPr>
              <a:t>圆环绕中心轴旋转的转动惯量</a:t>
            </a:r>
          </a:p>
        </p:txBody>
      </p:sp>
      <p:sp>
        <p:nvSpPr>
          <p:cNvPr id="59" name="Rectangle 4"/>
          <p:cNvSpPr>
            <a:spLocks noChangeArrowheads="1"/>
          </p:cNvSpPr>
          <p:nvPr/>
        </p:nvSpPr>
        <p:spPr bwMode="auto">
          <a:xfrm>
            <a:off x="261144" y="3106534"/>
            <a:ext cx="4803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b="1" dirty="0">
                <a:solidFill>
                  <a:srgbClr val="FFFF00"/>
                </a:solidFill>
                <a:latin typeface="Times New Roman" pitchFamily="18" charset="0"/>
              </a:rPr>
              <a:t>例如</a:t>
            </a:r>
            <a:r>
              <a:rPr lang="zh-CN" altLang="en-US" sz="2400" b="1" dirty="0">
                <a:solidFill>
                  <a:schemeClr val="bg1"/>
                </a:solidFill>
                <a:latin typeface="Times New Roman" pitchFamily="18" charset="0"/>
              </a:rPr>
              <a:t>圆盘绕中心轴旋转的转动惯量</a:t>
            </a:r>
          </a:p>
        </p:txBody>
      </p:sp>
      <p:sp>
        <p:nvSpPr>
          <p:cNvPr id="60" name="Oval 5"/>
          <p:cNvSpPr>
            <a:spLocks noChangeArrowheads="1"/>
          </p:cNvSpPr>
          <p:nvPr/>
        </p:nvSpPr>
        <p:spPr bwMode="auto">
          <a:xfrm>
            <a:off x="6007894" y="464934"/>
            <a:ext cx="1219200" cy="2209800"/>
          </a:xfrm>
          <a:prstGeom prst="ellipse">
            <a:avLst/>
          </a:prstGeom>
          <a:noFill/>
          <a:ln w="38100">
            <a:solidFill>
              <a:srgbClr val="FFFF00"/>
            </a:solidFill>
            <a:round/>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6"/>
          <p:cNvSpPr>
            <a:spLocks noChangeShapeType="1"/>
          </p:cNvSpPr>
          <p:nvPr/>
        </p:nvSpPr>
        <p:spPr bwMode="auto">
          <a:xfrm>
            <a:off x="6617494" y="1607934"/>
            <a:ext cx="1676400" cy="0"/>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7"/>
          <p:cNvSpPr>
            <a:spLocks noChangeShapeType="1"/>
          </p:cNvSpPr>
          <p:nvPr/>
        </p:nvSpPr>
        <p:spPr bwMode="auto">
          <a:xfrm>
            <a:off x="5222082" y="1607934"/>
            <a:ext cx="762000" cy="0"/>
          </a:xfrm>
          <a:prstGeom prst="line">
            <a:avLst/>
          </a:prstGeom>
          <a:noFill/>
          <a:ln w="2857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8"/>
          <p:cNvSpPr>
            <a:spLocks noChangeShapeType="1"/>
          </p:cNvSpPr>
          <p:nvPr/>
        </p:nvSpPr>
        <p:spPr bwMode="auto">
          <a:xfrm flipV="1">
            <a:off x="6617494" y="693534"/>
            <a:ext cx="381000" cy="91440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Arc 9"/>
          <p:cNvSpPr>
            <a:spLocks/>
          </p:cNvSpPr>
          <p:nvPr/>
        </p:nvSpPr>
        <p:spPr bwMode="auto">
          <a:xfrm rot="20854116" flipH="1">
            <a:off x="6266657" y="506209"/>
            <a:ext cx="392112" cy="571500"/>
          </a:xfrm>
          <a:custGeom>
            <a:avLst/>
            <a:gdLst>
              <a:gd name="G0" fmla="+- 0 0 0"/>
              <a:gd name="G1" fmla="+- 21070 0 0"/>
              <a:gd name="G2" fmla="+- 21600 0 0"/>
              <a:gd name="T0" fmla="*/ 4757 w 14853"/>
              <a:gd name="T1" fmla="*/ 0 h 21070"/>
              <a:gd name="T2" fmla="*/ 14853 w 14853"/>
              <a:gd name="T3" fmla="*/ 5387 h 21070"/>
              <a:gd name="T4" fmla="*/ 0 w 14853"/>
              <a:gd name="T5" fmla="*/ 21070 h 21070"/>
            </a:gdLst>
            <a:ahLst/>
            <a:cxnLst>
              <a:cxn ang="0">
                <a:pos x="T0" y="T1"/>
              </a:cxn>
              <a:cxn ang="0">
                <a:pos x="T2" y="T3"/>
              </a:cxn>
              <a:cxn ang="0">
                <a:pos x="T4" y="T5"/>
              </a:cxn>
            </a:cxnLst>
            <a:rect l="0" t="0" r="r" b="b"/>
            <a:pathLst>
              <a:path w="14853" h="21070" fill="none" extrusionOk="0">
                <a:moveTo>
                  <a:pt x="4756" y="0"/>
                </a:moveTo>
                <a:cubicBezTo>
                  <a:pt x="8545" y="855"/>
                  <a:pt x="12033" y="2716"/>
                  <a:pt x="14852" y="5387"/>
                </a:cubicBezTo>
              </a:path>
              <a:path w="14853" h="21070" stroke="0" extrusionOk="0">
                <a:moveTo>
                  <a:pt x="4756" y="0"/>
                </a:moveTo>
                <a:cubicBezTo>
                  <a:pt x="8545" y="855"/>
                  <a:pt x="12033" y="2716"/>
                  <a:pt x="14852" y="5387"/>
                </a:cubicBezTo>
                <a:lnTo>
                  <a:pt x="0" y="21070"/>
                </a:lnTo>
                <a:close/>
              </a:path>
            </a:pathLst>
          </a:cu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Text Box 10"/>
          <p:cNvSpPr txBox="1">
            <a:spLocks noChangeArrowheads="1"/>
          </p:cNvSpPr>
          <p:nvPr/>
        </p:nvSpPr>
        <p:spPr bwMode="auto">
          <a:xfrm>
            <a:off x="5941219" y="179184"/>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400">
                <a:solidFill>
                  <a:srgbClr val="FFFF00"/>
                </a:solidFill>
                <a:latin typeface="Times New Roman" pitchFamily="18" charset="0"/>
              </a:rPr>
              <a:t>d</a:t>
            </a:r>
            <a:r>
              <a:rPr lang="en-US" altLang="zh-CN" sz="2400" i="1">
                <a:solidFill>
                  <a:srgbClr val="FFFF00"/>
                </a:solidFill>
                <a:latin typeface="Times New Roman" pitchFamily="18" charset="0"/>
              </a:rPr>
              <a:t>l</a:t>
            </a:r>
            <a:endParaRPr lang="en-US" altLang="zh-CN" sz="2400" i="1">
              <a:solidFill>
                <a:schemeClr val="accent2"/>
              </a:solidFill>
              <a:latin typeface="Times New Roman" pitchFamily="18" charset="0"/>
            </a:endParaRPr>
          </a:p>
        </p:txBody>
      </p:sp>
      <p:sp>
        <p:nvSpPr>
          <p:cNvPr id="66" name="Text Box 11"/>
          <p:cNvSpPr txBox="1">
            <a:spLocks noChangeArrowheads="1"/>
          </p:cNvSpPr>
          <p:nvPr/>
        </p:nvSpPr>
        <p:spPr bwMode="auto">
          <a:xfrm>
            <a:off x="6334919" y="1522209"/>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400" i="1">
                <a:solidFill>
                  <a:srgbClr val="FFFF00"/>
                </a:solidFill>
                <a:latin typeface="Times New Roman" pitchFamily="18" charset="0"/>
              </a:rPr>
              <a:t>O</a:t>
            </a:r>
            <a:endParaRPr lang="en-US" altLang="zh-CN" sz="2400" i="1">
              <a:solidFill>
                <a:schemeClr val="accent2"/>
              </a:solidFill>
              <a:latin typeface="Times New Roman" pitchFamily="18" charset="0"/>
            </a:endParaRPr>
          </a:p>
        </p:txBody>
      </p:sp>
      <p:graphicFrame>
        <p:nvGraphicFramePr>
          <p:cNvPr id="67" name="Object 12"/>
          <p:cNvGraphicFramePr>
            <a:graphicFrameLocks/>
          </p:cNvGraphicFramePr>
          <p:nvPr>
            <p:extLst>
              <p:ext uri="{D42A27DB-BD31-4B8C-83A1-F6EECF244321}">
                <p14:modId xmlns:p14="http://schemas.microsoft.com/office/powerpoint/2010/main" val="716480830"/>
              </p:ext>
            </p:extLst>
          </p:nvPr>
        </p:nvGraphicFramePr>
        <p:xfrm>
          <a:off x="345282" y="1355522"/>
          <a:ext cx="3233737" cy="617537"/>
        </p:xfrm>
        <a:graphic>
          <a:graphicData uri="http://schemas.openxmlformats.org/presentationml/2006/ole">
            <mc:AlternateContent xmlns:mc="http://schemas.openxmlformats.org/markup-compatibility/2006">
              <mc:Choice xmlns:v="urn:schemas-microsoft-com:vml" Requires="v">
                <p:oleObj spid="_x0000_s16442" name="公式" r:id="rId4" imgW="3593880" imgH="685800" progId="Equation.3">
                  <p:embed/>
                </p:oleObj>
              </mc:Choice>
              <mc:Fallback>
                <p:oleObj name="公式" r:id="rId4" imgW="3593880" imgH="685800"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5282" y="1355522"/>
                        <a:ext cx="3233737" cy="617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 name="Object 13"/>
          <p:cNvGraphicFramePr>
            <a:graphicFrameLocks/>
          </p:cNvGraphicFramePr>
          <p:nvPr>
            <p:extLst>
              <p:ext uri="{D42A27DB-BD31-4B8C-83A1-F6EECF244321}">
                <p14:modId xmlns:p14="http://schemas.microsoft.com/office/powerpoint/2010/main" val="3558132405"/>
              </p:ext>
            </p:extLst>
          </p:nvPr>
        </p:nvGraphicFramePr>
        <p:xfrm>
          <a:off x="570707" y="2101647"/>
          <a:ext cx="4148137" cy="708025"/>
        </p:xfrm>
        <a:graphic>
          <a:graphicData uri="http://schemas.openxmlformats.org/presentationml/2006/ole">
            <mc:AlternateContent xmlns:mc="http://schemas.openxmlformats.org/markup-compatibility/2006">
              <mc:Choice xmlns:v="urn:schemas-microsoft-com:vml" Requires="v">
                <p:oleObj spid="_x0000_s16443" name="公式" r:id="rId6" imgW="4609800" imgH="787320" progId="Equation.3">
                  <p:embed/>
                </p:oleObj>
              </mc:Choice>
              <mc:Fallback>
                <p:oleObj name="公式" r:id="rId6" imgW="4609800" imgH="787320"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0707" y="2101647"/>
                        <a:ext cx="4148137"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 name="Text Box 14"/>
          <p:cNvSpPr txBox="1">
            <a:spLocks noChangeArrowheads="1"/>
          </p:cNvSpPr>
          <p:nvPr/>
        </p:nvSpPr>
        <p:spPr bwMode="auto">
          <a:xfrm>
            <a:off x="7074694" y="541134"/>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400" i="1">
                <a:solidFill>
                  <a:srgbClr val="FFFF00"/>
                </a:solidFill>
                <a:latin typeface="Times New Roman" pitchFamily="18" charset="0"/>
              </a:rPr>
              <a:t>m</a:t>
            </a:r>
            <a:endParaRPr lang="en-US" altLang="zh-CN" sz="2400" i="1">
              <a:solidFill>
                <a:schemeClr val="accent2"/>
              </a:solidFill>
              <a:latin typeface="Times New Roman" pitchFamily="18" charset="0"/>
            </a:endParaRPr>
          </a:p>
        </p:txBody>
      </p:sp>
      <p:graphicFrame>
        <p:nvGraphicFramePr>
          <p:cNvPr id="70" name="Object 15"/>
          <p:cNvGraphicFramePr>
            <a:graphicFrameLocks noChangeAspect="1"/>
          </p:cNvGraphicFramePr>
          <p:nvPr>
            <p:extLst>
              <p:ext uri="{D42A27DB-BD31-4B8C-83A1-F6EECF244321}">
                <p14:modId xmlns:p14="http://schemas.microsoft.com/office/powerpoint/2010/main" val="4106531200"/>
              </p:ext>
            </p:extLst>
          </p:nvPr>
        </p:nvGraphicFramePr>
        <p:xfrm>
          <a:off x="2326482" y="3947909"/>
          <a:ext cx="263525" cy="500063"/>
        </p:xfrm>
        <a:graphic>
          <a:graphicData uri="http://schemas.openxmlformats.org/presentationml/2006/ole">
            <mc:AlternateContent xmlns:mc="http://schemas.openxmlformats.org/markup-compatibility/2006">
              <mc:Choice xmlns:v="urn:schemas-microsoft-com:vml" Requires="v">
                <p:oleObj spid="_x0000_s16444" name="Equation" r:id="rId8" imgW="114120" imgH="215640" progId="Equation.3">
                  <p:embed/>
                </p:oleObj>
              </mc:Choice>
              <mc:Fallback>
                <p:oleObj name="Equation" r:id="rId8" imgW="114120" imgH="2156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26482" y="3947909"/>
                        <a:ext cx="263525"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 name="Oval 16"/>
          <p:cNvSpPr>
            <a:spLocks noChangeArrowheads="1"/>
          </p:cNvSpPr>
          <p:nvPr/>
        </p:nvSpPr>
        <p:spPr bwMode="auto">
          <a:xfrm>
            <a:off x="6160294" y="3424034"/>
            <a:ext cx="1219200" cy="2209800"/>
          </a:xfrm>
          <a:prstGeom prst="ellipse">
            <a:avLst/>
          </a:prstGeom>
          <a:solidFill>
            <a:srgbClr val="FFCC99"/>
          </a:solidFill>
          <a:ln>
            <a:noFill/>
          </a:ln>
          <a:effectLst/>
          <a:extLst>
            <a:ext uri="{91240B29-F687-4F45-9708-019B960494DF}">
              <a14:hiddenLine xmlns:a14="http://schemas.microsoft.com/office/drawing/2010/main" w="22225">
                <a:solidFill>
                  <a:schemeClr val="bg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zh-CN" sz="2400" b="1">
              <a:latin typeface="Times New Roman" pitchFamily="18" charset="0"/>
            </a:endParaRPr>
          </a:p>
        </p:txBody>
      </p:sp>
      <p:sp>
        <p:nvSpPr>
          <p:cNvPr id="72" name="Line 17"/>
          <p:cNvSpPr>
            <a:spLocks noChangeShapeType="1"/>
          </p:cNvSpPr>
          <p:nvPr/>
        </p:nvSpPr>
        <p:spPr bwMode="auto">
          <a:xfrm>
            <a:off x="5398294" y="4567034"/>
            <a:ext cx="762000" cy="0"/>
          </a:xfrm>
          <a:prstGeom prst="line">
            <a:avLst/>
          </a:prstGeom>
          <a:noFill/>
          <a:ln w="2857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Text Box 18"/>
          <p:cNvSpPr txBox="1">
            <a:spLocks noChangeArrowheads="1"/>
          </p:cNvSpPr>
          <p:nvPr/>
        </p:nvSpPr>
        <p:spPr bwMode="auto">
          <a:xfrm>
            <a:off x="6617494" y="3347834"/>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400" i="1">
                <a:solidFill>
                  <a:schemeClr val="tx2"/>
                </a:solidFill>
                <a:latin typeface="Times New Roman" pitchFamily="18" charset="0"/>
              </a:rPr>
              <a:t>R</a:t>
            </a:r>
            <a:endParaRPr lang="en-US" altLang="zh-CN" sz="2400" i="1">
              <a:solidFill>
                <a:schemeClr val="accent2"/>
              </a:solidFill>
              <a:latin typeface="Times New Roman" pitchFamily="18" charset="0"/>
            </a:endParaRPr>
          </a:p>
        </p:txBody>
      </p:sp>
      <p:sp>
        <p:nvSpPr>
          <p:cNvPr id="74" name="Text Box 19"/>
          <p:cNvSpPr txBox="1">
            <a:spLocks noChangeArrowheads="1"/>
          </p:cNvSpPr>
          <p:nvPr/>
        </p:nvSpPr>
        <p:spPr bwMode="auto">
          <a:xfrm>
            <a:off x="6623844" y="4474959"/>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400" i="1">
                <a:solidFill>
                  <a:schemeClr val="tx2"/>
                </a:solidFill>
                <a:latin typeface="Times New Roman" pitchFamily="18" charset="0"/>
              </a:rPr>
              <a:t>O</a:t>
            </a:r>
          </a:p>
        </p:txBody>
      </p:sp>
      <p:sp>
        <p:nvSpPr>
          <p:cNvPr id="75" name="Text Box 20"/>
          <p:cNvSpPr txBox="1">
            <a:spLocks noChangeArrowheads="1"/>
          </p:cNvSpPr>
          <p:nvPr/>
        </p:nvSpPr>
        <p:spPr bwMode="auto">
          <a:xfrm>
            <a:off x="7227094" y="3500234"/>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400" i="1">
                <a:solidFill>
                  <a:srgbClr val="FFFF00"/>
                </a:solidFill>
                <a:latin typeface="Times New Roman" pitchFamily="18" charset="0"/>
              </a:rPr>
              <a:t>m</a:t>
            </a:r>
            <a:endParaRPr lang="en-US" altLang="zh-CN" sz="2400" i="1">
              <a:solidFill>
                <a:schemeClr val="accent2"/>
              </a:solidFill>
              <a:latin typeface="Times New Roman" pitchFamily="18" charset="0"/>
            </a:endParaRPr>
          </a:p>
        </p:txBody>
      </p:sp>
      <p:sp>
        <p:nvSpPr>
          <p:cNvPr id="76" name="AutoShape 21"/>
          <p:cNvSpPr>
            <a:spLocks noChangeArrowheads="1"/>
          </p:cNvSpPr>
          <p:nvPr/>
        </p:nvSpPr>
        <p:spPr bwMode="auto">
          <a:xfrm>
            <a:off x="6465094" y="3805034"/>
            <a:ext cx="685800" cy="1524000"/>
          </a:xfrm>
          <a:custGeom>
            <a:avLst/>
            <a:gdLst>
              <a:gd name="G0" fmla="+- 3793 0 0"/>
              <a:gd name="G1" fmla="+- 21600 0 3793"/>
              <a:gd name="G2" fmla="+- 21600 0 3793"/>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93" y="10800"/>
                </a:moveTo>
                <a:cubicBezTo>
                  <a:pt x="3793" y="14670"/>
                  <a:pt x="6930" y="17807"/>
                  <a:pt x="10800" y="17807"/>
                </a:cubicBezTo>
                <a:cubicBezTo>
                  <a:pt x="14670" y="17807"/>
                  <a:pt x="17807" y="14670"/>
                  <a:pt x="17807" y="10800"/>
                </a:cubicBezTo>
                <a:cubicBezTo>
                  <a:pt x="17807" y="6930"/>
                  <a:pt x="14670" y="3793"/>
                  <a:pt x="10800" y="3793"/>
                </a:cubicBezTo>
                <a:cubicBezTo>
                  <a:pt x="6930" y="3793"/>
                  <a:pt x="3793" y="6930"/>
                  <a:pt x="3793" y="10800"/>
                </a:cubicBezTo>
                <a:close/>
              </a:path>
            </a:pathLst>
          </a:cu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22"/>
          <p:cNvSpPr>
            <a:spLocks noChangeShapeType="1"/>
          </p:cNvSpPr>
          <p:nvPr/>
        </p:nvSpPr>
        <p:spPr bwMode="auto">
          <a:xfrm flipV="1">
            <a:off x="6769894" y="3576434"/>
            <a:ext cx="304800" cy="990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23"/>
          <p:cNvSpPr>
            <a:spLocks noChangeShapeType="1"/>
          </p:cNvSpPr>
          <p:nvPr/>
        </p:nvSpPr>
        <p:spPr bwMode="auto">
          <a:xfrm flipH="1" flipV="1">
            <a:off x="6695282" y="4139997"/>
            <a:ext cx="74612" cy="427037"/>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Text Box 24"/>
          <p:cNvSpPr txBox="1">
            <a:spLocks noChangeArrowheads="1"/>
          </p:cNvSpPr>
          <p:nvPr/>
        </p:nvSpPr>
        <p:spPr bwMode="auto">
          <a:xfrm>
            <a:off x="6517482" y="4211434"/>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400" i="1">
                <a:solidFill>
                  <a:schemeClr val="tx2"/>
                </a:solidFill>
                <a:latin typeface="Times New Roman" pitchFamily="18" charset="0"/>
              </a:rPr>
              <a:t>r</a:t>
            </a:r>
            <a:endParaRPr lang="en-US" altLang="zh-CN" sz="2400" i="1">
              <a:solidFill>
                <a:schemeClr val="accent2"/>
              </a:solidFill>
              <a:latin typeface="Times New Roman" pitchFamily="18" charset="0"/>
            </a:endParaRPr>
          </a:p>
        </p:txBody>
      </p:sp>
      <p:sp>
        <p:nvSpPr>
          <p:cNvPr id="80" name="Text Box 25"/>
          <p:cNvSpPr txBox="1">
            <a:spLocks noChangeArrowheads="1"/>
          </p:cNvSpPr>
          <p:nvPr/>
        </p:nvSpPr>
        <p:spPr bwMode="auto">
          <a:xfrm>
            <a:off x="6160294" y="3728834"/>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400">
                <a:solidFill>
                  <a:schemeClr val="tx2"/>
                </a:solidFill>
                <a:latin typeface="Times New Roman" pitchFamily="18" charset="0"/>
              </a:rPr>
              <a:t>d</a:t>
            </a:r>
            <a:r>
              <a:rPr lang="en-US" altLang="zh-CN" sz="2400" i="1">
                <a:solidFill>
                  <a:schemeClr val="tx2"/>
                </a:solidFill>
                <a:latin typeface="Times New Roman" pitchFamily="18" charset="0"/>
              </a:rPr>
              <a:t>r</a:t>
            </a:r>
            <a:endParaRPr lang="en-US" altLang="zh-CN" sz="2400" i="1">
              <a:solidFill>
                <a:schemeClr val="accent2"/>
              </a:solidFill>
              <a:latin typeface="Times New Roman" pitchFamily="18" charset="0"/>
            </a:endParaRPr>
          </a:p>
        </p:txBody>
      </p:sp>
      <p:graphicFrame>
        <p:nvGraphicFramePr>
          <p:cNvPr id="81" name="Object 26"/>
          <p:cNvGraphicFramePr>
            <a:graphicFrameLocks/>
          </p:cNvGraphicFramePr>
          <p:nvPr>
            <p:extLst>
              <p:ext uri="{D42A27DB-BD31-4B8C-83A1-F6EECF244321}">
                <p14:modId xmlns:p14="http://schemas.microsoft.com/office/powerpoint/2010/main" val="1430307032"/>
              </p:ext>
            </p:extLst>
          </p:nvPr>
        </p:nvGraphicFramePr>
        <p:xfrm>
          <a:off x="1510507" y="3724072"/>
          <a:ext cx="1450975" cy="285750"/>
        </p:xfrm>
        <a:graphic>
          <a:graphicData uri="http://schemas.openxmlformats.org/presentationml/2006/ole">
            <mc:AlternateContent xmlns:mc="http://schemas.openxmlformats.org/markup-compatibility/2006">
              <mc:Choice xmlns:v="urn:schemas-microsoft-com:vml" Requires="v">
                <p:oleObj spid="_x0000_s16445" name="公式" r:id="rId10" imgW="1612800" imgH="317160" progId="Equation.3">
                  <p:embed/>
                </p:oleObj>
              </mc:Choice>
              <mc:Fallback>
                <p:oleObj name="公式" r:id="rId10" imgW="1612800" imgH="317160" progId="Equation.3">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10507" y="3724072"/>
                        <a:ext cx="1450975"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 name="Line 27"/>
          <p:cNvSpPr>
            <a:spLocks noChangeShapeType="1"/>
          </p:cNvSpPr>
          <p:nvPr/>
        </p:nvSpPr>
        <p:spPr bwMode="auto">
          <a:xfrm>
            <a:off x="6769894" y="4567034"/>
            <a:ext cx="1524000" cy="0"/>
          </a:xfrm>
          <a:prstGeom prst="line">
            <a:avLst/>
          </a:prstGeom>
          <a:noFill/>
          <a:ln w="2857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3" name="Object 28"/>
          <p:cNvGraphicFramePr>
            <a:graphicFrameLocks/>
          </p:cNvGraphicFramePr>
          <p:nvPr>
            <p:extLst>
              <p:ext uri="{D42A27DB-BD31-4B8C-83A1-F6EECF244321}">
                <p14:modId xmlns:p14="http://schemas.microsoft.com/office/powerpoint/2010/main" val="1451658144"/>
              </p:ext>
            </p:extLst>
          </p:nvPr>
        </p:nvGraphicFramePr>
        <p:xfrm>
          <a:off x="419894" y="4405109"/>
          <a:ext cx="1211263" cy="285750"/>
        </p:xfrm>
        <a:graphic>
          <a:graphicData uri="http://schemas.openxmlformats.org/presentationml/2006/ole">
            <mc:AlternateContent xmlns:mc="http://schemas.openxmlformats.org/markup-compatibility/2006">
              <mc:Choice xmlns:v="urn:schemas-microsoft-com:vml" Requires="v">
                <p:oleObj spid="_x0000_s16446" name="公式" r:id="rId12" imgW="1346040" imgH="317160" progId="Equation.3">
                  <p:embed/>
                </p:oleObj>
              </mc:Choice>
              <mc:Fallback>
                <p:oleObj name="公式" r:id="rId12" imgW="1346040" imgH="317160" progId="Equation.3">
                  <p:embed/>
                  <p:pic>
                    <p:nvPicPr>
                      <p:cNvPr id="0" name=""/>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9894" y="4405109"/>
                        <a:ext cx="1211263"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 name="Object 29"/>
          <p:cNvGraphicFramePr>
            <a:graphicFrameLocks/>
          </p:cNvGraphicFramePr>
          <p:nvPr>
            <p:extLst>
              <p:ext uri="{D42A27DB-BD31-4B8C-83A1-F6EECF244321}">
                <p14:modId xmlns:p14="http://schemas.microsoft.com/office/powerpoint/2010/main" val="174845381"/>
              </p:ext>
            </p:extLst>
          </p:nvPr>
        </p:nvGraphicFramePr>
        <p:xfrm>
          <a:off x="419894" y="5197272"/>
          <a:ext cx="4148138" cy="742950"/>
        </p:xfrm>
        <a:graphic>
          <a:graphicData uri="http://schemas.openxmlformats.org/presentationml/2006/ole">
            <mc:AlternateContent xmlns:mc="http://schemas.openxmlformats.org/markup-compatibility/2006">
              <mc:Choice xmlns:v="urn:schemas-microsoft-com:vml" Requires="v">
                <p:oleObj spid="_x0000_s16447" name="公式" r:id="rId14" imgW="4609800" imgH="825480" progId="Equation.3">
                  <p:embed/>
                </p:oleObj>
              </mc:Choice>
              <mc:Fallback>
                <p:oleObj name="公式" r:id="rId14" imgW="4609800" imgH="825480" progId="Equation.3">
                  <p:embed/>
                  <p:pic>
                    <p:nvPicPr>
                      <p:cNvPr id="0" name=""/>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9894" y="5197272"/>
                        <a:ext cx="4148138"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 name="Object 30"/>
          <p:cNvGraphicFramePr>
            <a:graphicFrameLocks/>
          </p:cNvGraphicFramePr>
          <p:nvPr>
            <p:extLst>
              <p:ext uri="{D42A27DB-BD31-4B8C-83A1-F6EECF244321}">
                <p14:modId xmlns:p14="http://schemas.microsoft.com/office/powerpoint/2010/main" val="2716554466"/>
              </p:ext>
            </p:extLst>
          </p:nvPr>
        </p:nvGraphicFramePr>
        <p:xfrm>
          <a:off x="1837532" y="4151109"/>
          <a:ext cx="2913062" cy="742950"/>
        </p:xfrm>
        <a:graphic>
          <a:graphicData uri="http://schemas.openxmlformats.org/presentationml/2006/ole">
            <mc:AlternateContent xmlns:mc="http://schemas.openxmlformats.org/markup-compatibility/2006">
              <mc:Choice xmlns:v="urn:schemas-microsoft-com:vml" Requires="v">
                <p:oleObj spid="_x0000_s16448" name="公式" r:id="rId16" imgW="3238200" imgH="825480" progId="Equation.3">
                  <p:embed/>
                </p:oleObj>
              </mc:Choice>
              <mc:Fallback>
                <p:oleObj name="公式" r:id="rId16" imgW="3238200" imgH="825480" progId="Equation.3">
                  <p:embed/>
                  <p:pic>
                    <p:nvPicPr>
                      <p:cNvPr id="0" name=""/>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37532" y="4151109"/>
                        <a:ext cx="2913062"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 name="Text Box 31"/>
          <p:cNvSpPr txBox="1">
            <a:spLocks noChangeArrowheads="1"/>
          </p:cNvSpPr>
          <p:nvPr/>
        </p:nvSpPr>
        <p:spPr bwMode="auto">
          <a:xfrm>
            <a:off x="6312694" y="845934"/>
            <a:ext cx="685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400" i="1">
                <a:solidFill>
                  <a:srgbClr val="FFFF00"/>
                </a:solidFill>
                <a:latin typeface="Times New Roman" pitchFamily="18" charset="0"/>
              </a:rPr>
              <a:t>R</a:t>
            </a:r>
            <a:endParaRPr lang="en-US" altLang="zh-CN" sz="2400" i="1">
              <a:solidFill>
                <a:schemeClr val="accent2"/>
              </a:solidFill>
              <a:latin typeface="Times New Roman" pitchFamily="18" charset="0"/>
            </a:endParaRPr>
          </a:p>
        </p:txBody>
      </p:sp>
      <p:sp>
        <p:nvSpPr>
          <p:cNvPr id="87" name="AutoShape 32"/>
          <p:cNvSpPr>
            <a:spLocks noChangeArrowheads="1"/>
          </p:cNvSpPr>
          <p:nvPr/>
        </p:nvSpPr>
        <p:spPr bwMode="auto">
          <a:xfrm>
            <a:off x="1294607" y="3708197"/>
            <a:ext cx="2057400" cy="381000"/>
          </a:xfrm>
          <a:prstGeom prst="wedgeRoundRectCallout">
            <a:avLst>
              <a:gd name="adj1" fmla="val -36727"/>
              <a:gd name="adj2" fmla="val 138750"/>
              <a:gd name="adj3" fmla="val 16667"/>
            </a:avLst>
          </a:prstGeom>
          <a:noFill/>
          <a:ln w="9525">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endParaRPr lang="zh-CN" altLang="zh-CN" sz="2400">
              <a:latin typeface="Times New Roman" pitchFamily="18" charset="0"/>
            </a:endParaRPr>
          </a:p>
        </p:txBody>
      </p:sp>
      <p:sp>
        <p:nvSpPr>
          <p:cNvPr id="88" name="Arc 33"/>
          <p:cNvSpPr>
            <a:spLocks/>
          </p:cNvSpPr>
          <p:nvPr/>
        </p:nvSpPr>
        <p:spPr bwMode="auto">
          <a:xfrm rot="5334705" flipH="1">
            <a:off x="7286626" y="1494428"/>
            <a:ext cx="471487" cy="219075"/>
          </a:xfrm>
          <a:custGeom>
            <a:avLst/>
            <a:gdLst>
              <a:gd name="G0" fmla="+- 21600 0 0"/>
              <a:gd name="G1" fmla="+- 17204 0 0"/>
              <a:gd name="G2" fmla="+- 21600 0 0"/>
              <a:gd name="T0" fmla="*/ 34661 w 43200"/>
              <a:gd name="T1" fmla="*/ 0 h 38804"/>
              <a:gd name="T2" fmla="*/ 8475 w 43200"/>
              <a:gd name="T3" fmla="*/ 49 h 38804"/>
              <a:gd name="T4" fmla="*/ 21600 w 43200"/>
              <a:gd name="T5" fmla="*/ 17204 h 38804"/>
            </a:gdLst>
            <a:ahLst/>
            <a:cxnLst>
              <a:cxn ang="0">
                <a:pos x="T0" y="T1"/>
              </a:cxn>
              <a:cxn ang="0">
                <a:pos x="T2" y="T3"/>
              </a:cxn>
              <a:cxn ang="0">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Arc 34"/>
          <p:cNvSpPr>
            <a:spLocks/>
          </p:cNvSpPr>
          <p:nvPr/>
        </p:nvSpPr>
        <p:spPr bwMode="auto">
          <a:xfrm rot="5334705" flipH="1">
            <a:off x="7502526" y="4456703"/>
            <a:ext cx="471487" cy="219075"/>
          </a:xfrm>
          <a:custGeom>
            <a:avLst/>
            <a:gdLst>
              <a:gd name="G0" fmla="+- 21600 0 0"/>
              <a:gd name="G1" fmla="+- 17204 0 0"/>
              <a:gd name="G2" fmla="+- 21600 0 0"/>
              <a:gd name="T0" fmla="*/ 34661 w 43200"/>
              <a:gd name="T1" fmla="*/ 0 h 38804"/>
              <a:gd name="T2" fmla="*/ 8475 w 43200"/>
              <a:gd name="T3" fmla="*/ 49 h 38804"/>
              <a:gd name="T4" fmla="*/ 21600 w 43200"/>
              <a:gd name="T5" fmla="*/ 17204 h 38804"/>
            </a:gdLst>
            <a:ahLst/>
            <a:cxnLst>
              <a:cxn ang="0">
                <a:pos x="T0" y="T1"/>
              </a:cxn>
              <a:cxn ang="0">
                <a:pos x="T2" y="T3"/>
              </a:cxn>
              <a:cxn ang="0">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wipe(left)">
                                      <p:cBhvr>
                                        <p:cTn id="12" dur="500"/>
                                        <p:tgtEl>
                                          <p:spTgt spid="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0"/>
                                        </p:tgtEl>
                                        <p:attrNameLst>
                                          <p:attrName>style.visibility</p:attrName>
                                        </p:attrNameLst>
                                      </p:cBhvr>
                                      <p:to>
                                        <p:strVal val="visible"/>
                                      </p:to>
                                    </p:set>
                                    <p:animEffect transition="in" filter="wipe(left)">
                                      <p:cBhvr>
                                        <p:cTn id="17" dur="500"/>
                                        <p:tgtEl>
                                          <p:spTgt spid="6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wipe(left)">
                                      <p:cBhvr>
                                        <p:cTn id="22" dur="500"/>
                                        <p:tgtEl>
                                          <p:spTgt spid="6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2"/>
                                        </p:tgtEl>
                                        <p:attrNameLst>
                                          <p:attrName>style.visibility</p:attrName>
                                        </p:attrNameLst>
                                      </p:cBhvr>
                                      <p:to>
                                        <p:strVal val="visible"/>
                                      </p:to>
                                    </p:set>
                                    <p:animEffect transition="in" filter="wipe(left)">
                                      <p:cBhvr>
                                        <p:cTn id="27" dur="500"/>
                                        <p:tgtEl>
                                          <p:spTgt spid="6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8"/>
                                        </p:tgtEl>
                                        <p:attrNameLst>
                                          <p:attrName>style.visibility</p:attrName>
                                        </p:attrNameLst>
                                      </p:cBhvr>
                                      <p:to>
                                        <p:strVal val="visible"/>
                                      </p:to>
                                    </p:set>
                                    <p:animEffect transition="in" filter="wipe(down)">
                                      <p:cBhvr>
                                        <p:cTn id="32" dur="500"/>
                                        <p:tgtEl>
                                          <p:spTgt spid="8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3"/>
                                        </p:tgtEl>
                                        <p:attrNameLst>
                                          <p:attrName>style.visibility</p:attrName>
                                        </p:attrNameLst>
                                      </p:cBhvr>
                                      <p:to>
                                        <p:strVal val="visible"/>
                                      </p:to>
                                    </p:set>
                                    <p:animEffect transition="in" filter="wipe(left)">
                                      <p:cBhvr>
                                        <p:cTn id="37" dur="500"/>
                                        <p:tgtEl>
                                          <p:spTgt spid="6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6"/>
                                        </p:tgtEl>
                                        <p:attrNameLst>
                                          <p:attrName>style.visibility</p:attrName>
                                        </p:attrNameLst>
                                      </p:cBhvr>
                                      <p:to>
                                        <p:strVal val="visible"/>
                                      </p:to>
                                    </p:set>
                                    <p:animEffect transition="in" filter="wipe(left)">
                                      <p:cBhvr>
                                        <p:cTn id="42" dur="500"/>
                                        <p:tgtEl>
                                          <p:spTgt spid="8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9"/>
                                        </p:tgtEl>
                                        <p:attrNameLst>
                                          <p:attrName>style.visibility</p:attrName>
                                        </p:attrNameLst>
                                      </p:cBhvr>
                                      <p:to>
                                        <p:strVal val="visible"/>
                                      </p:to>
                                    </p:set>
                                    <p:animEffect transition="in" filter="wipe(left)">
                                      <p:cBhvr>
                                        <p:cTn id="47" dur="500"/>
                                        <p:tgtEl>
                                          <p:spTgt spid="6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6"/>
                                        </p:tgtEl>
                                        <p:attrNameLst>
                                          <p:attrName>style.visibility</p:attrName>
                                        </p:attrNameLst>
                                      </p:cBhvr>
                                      <p:to>
                                        <p:strVal val="visible"/>
                                      </p:to>
                                    </p:set>
                                    <p:animEffect transition="in" filter="wipe(left)">
                                      <p:cBhvr>
                                        <p:cTn id="52" dur="500"/>
                                        <p:tgtEl>
                                          <p:spTgt spid="6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4"/>
                                        </p:tgtEl>
                                        <p:attrNameLst>
                                          <p:attrName>style.visibility</p:attrName>
                                        </p:attrNameLst>
                                      </p:cBhvr>
                                      <p:to>
                                        <p:strVal val="visible"/>
                                      </p:to>
                                    </p:set>
                                    <p:animEffect transition="in" filter="wipe(left)">
                                      <p:cBhvr>
                                        <p:cTn id="57" dur="500"/>
                                        <p:tgtEl>
                                          <p:spTgt spid="6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5"/>
                                        </p:tgtEl>
                                        <p:attrNameLst>
                                          <p:attrName>style.visibility</p:attrName>
                                        </p:attrNameLst>
                                      </p:cBhvr>
                                      <p:to>
                                        <p:strVal val="visible"/>
                                      </p:to>
                                    </p:set>
                                    <p:animEffect transition="in" filter="wipe(left)">
                                      <p:cBhvr>
                                        <p:cTn id="62" dur="500"/>
                                        <p:tgtEl>
                                          <p:spTgt spid="6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67"/>
                                        </p:tgtEl>
                                        <p:attrNameLst>
                                          <p:attrName>style.visibility</p:attrName>
                                        </p:attrNameLst>
                                      </p:cBhvr>
                                      <p:to>
                                        <p:strVal val="visible"/>
                                      </p:to>
                                    </p:set>
                                    <p:animEffect transition="in" filter="wipe(left)">
                                      <p:cBhvr>
                                        <p:cTn id="67" dur="500"/>
                                        <p:tgtEl>
                                          <p:spTgt spid="6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68"/>
                                        </p:tgtEl>
                                        <p:attrNameLst>
                                          <p:attrName>style.visibility</p:attrName>
                                        </p:attrNameLst>
                                      </p:cBhvr>
                                      <p:to>
                                        <p:strVal val="visible"/>
                                      </p:to>
                                    </p:set>
                                    <p:animEffect transition="in" filter="wipe(left)">
                                      <p:cBhvr>
                                        <p:cTn id="72" dur="500"/>
                                        <p:tgtEl>
                                          <p:spTgt spid="6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59"/>
                                        </p:tgtEl>
                                        <p:attrNameLst>
                                          <p:attrName>style.visibility</p:attrName>
                                        </p:attrNameLst>
                                      </p:cBhvr>
                                      <p:to>
                                        <p:strVal val="visible"/>
                                      </p:to>
                                    </p:set>
                                    <p:animEffect transition="in" filter="wipe(left)">
                                      <p:cBhvr>
                                        <p:cTn id="77" dur="500"/>
                                        <p:tgtEl>
                                          <p:spTgt spid="5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71"/>
                                        </p:tgtEl>
                                        <p:attrNameLst>
                                          <p:attrName>style.visibility</p:attrName>
                                        </p:attrNameLst>
                                      </p:cBhvr>
                                      <p:to>
                                        <p:strVal val="visible"/>
                                      </p:to>
                                    </p:set>
                                    <p:animEffect transition="in" filter="wipe(left)">
                                      <p:cBhvr>
                                        <p:cTn id="82" dur="500"/>
                                        <p:tgtEl>
                                          <p:spTgt spid="71"/>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82"/>
                                        </p:tgtEl>
                                        <p:attrNameLst>
                                          <p:attrName>style.visibility</p:attrName>
                                        </p:attrNameLst>
                                      </p:cBhvr>
                                      <p:to>
                                        <p:strVal val="visible"/>
                                      </p:to>
                                    </p:set>
                                    <p:animEffect transition="in" filter="wipe(left)">
                                      <p:cBhvr>
                                        <p:cTn id="87" dur="500"/>
                                        <p:tgtEl>
                                          <p:spTgt spid="82"/>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72"/>
                                        </p:tgtEl>
                                        <p:attrNameLst>
                                          <p:attrName>style.visibility</p:attrName>
                                        </p:attrNameLst>
                                      </p:cBhvr>
                                      <p:to>
                                        <p:strVal val="visible"/>
                                      </p:to>
                                    </p:set>
                                    <p:animEffect transition="in" filter="wipe(left)">
                                      <p:cBhvr>
                                        <p:cTn id="92" dur="500"/>
                                        <p:tgtEl>
                                          <p:spTgt spid="7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89"/>
                                        </p:tgtEl>
                                        <p:attrNameLst>
                                          <p:attrName>style.visibility</p:attrName>
                                        </p:attrNameLst>
                                      </p:cBhvr>
                                      <p:to>
                                        <p:strVal val="visible"/>
                                      </p:to>
                                    </p:set>
                                    <p:animEffect transition="in" filter="wipe(down)">
                                      <p:cBhvr>
                                        <p:cTn id="97" dur="500"/>
                                        <p:tgtEl>
                                          <p:spTgt spid="89"/>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75"/>
                                        </p:tgtEl>
                                        <p:attrNameLst>
                                          <p:attrName>style.visibility</p:attrName>
                                        </p:attrNameLst>
                                      </p:cBhvr>
                                      <p:to>
                                        <p:strVal val="visible"/>
                                      </p:to>
                                    </p:set>
                                    <p:animEffect transition="in" filter="wipe(left)">
                                      <p:cBhvr>
                                        <p:cTn id="102" dur="500"/>
                                        <p:tgtEl>
                                          <p:spTgt spid="75"/>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77"/>
                                        </p:tgtEl>
                                        <p:attrNameLst>
                                          <p:attrName>style.visibility</p:attrName>
                                        </p:attrNameLst>
                                      </p:cBhvr>
                                      <p:to>
                                        <p:strVal val="visible"/>
                                      </p:to>
                                    </p:set>
                                    <p:animEffect transition="in" filter="wipe(left)">
                                      <p:cBhvr>
                                        <p:cTn id="107" dur="500"/>
                                        <p:tgtEl>
                                          <p:spTgt spid="77"/>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73"/>
                                        </p:tgtEl>
                                        <p:attrNameLst>
                                          <p:attrName>style.visibility</p:attrName>
                                        </p:attrNameLst>
                                      </p:cBhvr>
                                      <p:to>
                                        <p:strVal val="visible"/>
                                      </p:to>
                                    </p:set>
                                    <p:animEffect transition="in" filter="wipe(left)">
                                      <p:cBhvr>
                                        <p:cTn id="112" dur="500"/>
                                        <p:tgtEl>
                                          <p:spTgt spid="73"/>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74"/>
                                        </p:tgtEl>
                                        <p:attrNameLst>
                                          <p:attrName>style.visibility</p:attrName>
                                        </p:attrNameLst>
                                      </p:cBhvr>
                                      <p:to>
                                        <p:strVal val="visible"/>
                                      </p:to>
                                    </p:set>
                                    <p:animEffect transition="in" filter="wipe(left)">
                                      <p:cBhvr>
                                        <p:cTn id="117" dur="500"/>
                                        <p:tgtEl>
                                          <p:spTgt spid="74"/>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76"/>
                                        </p:tgtEl>
                                        <p:attrNameLst>
                                          <p:attrName>style.visibility</p:attrName>
                                        </p:attrNameLst>
                                      </p:cBhvr>
                                      <p:to>
                                        <p:strVal val="visible"/>
                                      </p:to>
                                    </p:set>
                                    <p:animEffect transition="in" filter="wipe(left)">
                                      <p:cBhvr>
                                        <p:cTn id="122" dur="500"/>
                                        <p:tgtEl>
                                          <p:spTgt spid="76"/>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78"/>
                                        </p:tgtEl>
                                        <p:attrNameLst>
                                          <p:attrName>style.visibility</p:attrName>
                                        </p:attrNameLst>
                                      </p:cBhvr>
                                      <p:to>
                                        <p:strVal val="visible"/>
                                      </p:to>
                                    </p:set>
                                    <p:animEffect transition="in" filter="wipe(left)">
                                      <p:cBhvr>
                                        <p:cTn id="127" dur="500"/>
                                        <p:tgtEl>
                                          <p:spTgt spid="78"/>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79"/>
                                        </p:tgtEl>
                                        <p:attrNameLst>
                                          <p:attrName>style.visibility</p:attrName>
                                        </p:attrNameLst>
                                      </p:cBhvr>
                                      <p:to>
                                        <p:strVal val="visible"/>
                                      </p:to>
                                    </p:set>
                                    <p:animEffect transition="in" filter="wipe(left)">
                                      <p:cBhvr>
                                        <p:cTn id="132" dur="500"/>
                                        <p:tgtEl>
                                          <p:spTgt spid="79"/>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80"/>
                                        </p:tgtEl>
                                        <p:attrNameLst>
                                          <p:attrName>style.visibility</p:attrName>
                                        </p:attrNameLst>
                                      </p:cBhvr>
                                      <p:to>
                                        <p:strVal val="visible"/>
                                      </p:to>
                                    </p:set>
                                    <p:animEffect transition="in" filter="wipe(left)">
                                      <p:cBhvr>
                                        <p:cTn id="137" dur="500"/>
                                        <p:tgtEl>
                                          <p:spTgt spid="80"/>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nodeType="clickEffect">
                                  <p:stCondLst>
                                    <p:cond delay="0"/>
                                  </p:stCondLst>
                                  <p:childTnLst>
                                    <p:set>
                                      <p:cBhvr>
                                        <p:cTn id="141" dur="1" fill="hold">
                                          <p:stCondLst>
                                            <p:cond delay="0"/>
                                          </p:stCondLst>
                                        </p:cTn>
                                        <p:tgtEl>
                                          <p:spTgt spid="83"/>
                                        </p:tgtEl>
                                        <p:attrNameLst>
                                          <p:attrName>style.visibility</p:attrName>
                                        </p:attrNameLst>
                                      </p:cBhvr>
                                      <p:to>
                                        <p:strVal val="visible"/>
                                      </p:to>
                                    </p:set>
                                    <p:animEffect transition="in" filter="wipe(left)">
                                      <p:cBhvr>
                                        <p:cTn id="142" dur="500"/>
                                        <p:tgtEl>
                                          <p:spTgt spid="83"/>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87"/>
                                        </p:tgtEl>
                                        <p:attrNameLst>
                                          <p:attrName>style.visibility</p:attrName>
                                        </p:attrNameLst>
                                      </p:cBhvr>
                                      <p:to>
                                        <p:strVal val="visible"/>
                                      </p:to>
                                    </p:set>
                                    <p:animEffect transition="in" filter="wipe(left)">
                                      <p:cBhvr>
                                        <p:cTn id="147" dur="500"/>
                                        <p:tgtEl>
                                          <p:spTgt spid="87"/>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nodeType="clickEffect">
                                  <p:stCondLst>
                                    <p:cond delay="0"/>
                                  </p:stCondLst>
                                  <p:childTnLst>
                                    <p:set>
                                      <p:cBhvr>
                                        <p:cTn id="151" dur="1" fill="hold">
                                          <p:stCondLst>
                                            <p:cond delay="0"/>
                                          </p:stCondLst>
                                        </p:cTn>
                                        <p:tgtEl>
                                          <p:spTgt spid="81"/>
                                        </p:tgtEl>
                                        <p:attrNameLst>
                                          <p:attrName>style.visibility</p:attrName>
                                        </p:attrNameLst>
                                      </p:cBhvr>
                                      <p:to>
                                        <p:strVal val="visible"/>
                                      </p:to>
                                    </p:set>
                                    <p:animEffect transition="in" filter="wipe(left)">
                                      <p:cBhvr>
                                        <p:cTn id="152" dur="500"/>
                                        <p:tgtEl>
                                          <p:spTgt spid="81"/>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nodeType="clickEffect">
                                  <p:stCondLst>
                                    <p:cond delay="0"/>
                                  </p:stCondLst>
                                  <p:childTnLst>
                                    <p:set>
                                      <p:cBhvr>
                                        <p:cTn id="156" dur="1" fill="hold">
                                          <p:stCondLst>
                                            <p:cond delay="0"/>
                                          </p:stCondLst>
                                        </p:cTn>
                                        <p:tgtEl>
                                          <p:spTgt spid="85"/>
                                        </p:tgtEl>
                                        <p:attrNameLst>
                                          <p:attrName>style.visibility</p:attrName>
                                        </p:attrNameLst>
                                      </p:cBhvr>
                                      <p:to>
                                        <p:strVal val="visible"/>
                                      </p:to>
                                    </p:set>
                                    <p:animEffect transition="in" filter="wipe(left)">
                                      <p:cBhvr>
                                        <p:cTn id="157" dur="500"/>
                                        <p:tgtEl>
                                          <p:spTgt spid="85"/>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nodeType="clickEffect">
                                  <p:stCondLst>
                                    <p:cond delay="0"/>
                                  </p:stCondLst>
                                  <p:childTnLst>
                                    <p:set>
                                      <p:cBhvr>
                                        <p:cTn id="161" dur="1" fill="hold">
                                          <p:stCondLst>
                                            <p:cond delay="0"/>
                                          </p:stCondLst>
                                        </p:cTn>
                                        <p:tgtEl>
                                          <p:spTgt spid="84"/>
                                        </p:tgtEl>
                                        <p:attrNameLst>
                                          <p:attrName>style.visibility</p:attrName>
                                        </p:attrNameLst>
                                      </p:cBhvr>
                                      <p:to>
                                        <p:strVal val="visible"/>
                                      </p:to>
                                    </p:set>
                                    <p:animEffect transition="in" filter="wipe(left)">
                                      <p:cBhvr>
                                        <p:cTn id="162" dur="500"/>
                                        <p:tgtEl>
                                          <p:spTgt spid="84"/>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nodeType="clickEffect">
                                  <p:stCondLst>
                                    <p:cond delay="0"/>
                                  </p:stCondLst>
                                  <p:childTnLst>
                                    <p:set>
                                      <p:cBhvr>
                                        <p:cTn id="166" dur="1" fill="hold">
                                          <p:stCondLst>
                                            <p:cond delay="0"/>
                                          </p:stCondLst>
                                        </p:cTn>
                                        <p:tgtEl>
                                          <p:spTgt spid="70"/>
                                        </p:tgtEl>
                                        <p:attrNameLst>
                                          <p:attrName>style.visibility</p:attrName>
                                        </p:attrNameLst>
                                      </p:cBhvr>
                                      <p:to>
                                        <p:strVal val="visible"/>
                                      </p:to>
                                    </p:set>
                                    <p:animEffect transition="in" filter="wipe(left)">
                                      <p:cBhvr>
                                        <p:cTn id="167" dur="500"/>
                                        <p:tgtEl>
                                          <p:spTgt spid="70"/>
                                        </p:tgtEl>
                                      </p:cBhvr>
                                    </p:animEffect>
                                  </p:childTnLst>
                                </p:cTn>
                              </p:par>
                            </p:childTnLst>
                          </p:cTn>
                        </p:par>
                      </p:childTnLst>
                    </p:cTn>
                  </p:par>
                  <p:par>
                    <p:cTn id="168" fill="hold">
                      <p:stCondLst>
                        <p:cond delay="indefinite"/>
                      </p:stCondLst>
                      <p:childTnLst>
                        <p:par>
                          <p:cTn id="169" fill="hold">
                            <p:stCondLst>
                              <p:cond delay="0"/>
                            </p:stCondLst>
                            <p:childTnLst>
                              <p:par>
                                <p:cTn id="170" presetID="1" presetClass="entr" presetSubtype="0" fill="hold" grpId="0" nodeType="clickEffect">
                                  <p:stCondLst>
                                    <p:cond delay="0"/>
                                  </p:stCondLst>
                                  <p:childTnLst>
                                    <p:set>
                                      <p:cBhvr>
                                        <p:cTn id="171" dur="1" fill="hold">
                                          <p:stCondLst>
                                            <p:cond delay="0"/>
                                          </p:stCondLst>
                                        </p:cTn>
                                        <p:tgtEl>
                                          <p:spTgt spid="215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p:bldP spid="57" grpId="0" autoUpdateAnimBg="0"/>
      <p:bldP spid="58" grpId="0" autoUpdateAnimBg="0"/>
      <p:bldP spid="59" grpId="0" autoUpdateAnimBg="0"/>
      <p:bldP spid="60" grpId="0" animBg="1"/>
      <p:bldP spid="61" grpId="0" animBg="1"/>
      <p:bldP spid="62" grpId="0" animBg="1"/>
      <p:bldP spid="63" grpId="0" animBg="1"/>
      <p:bldP spid="64" grpId="0" animBg="1"/>
      <p:bldP spid="65" grpId="0" autoUpdateAnimBg="0"/>
      <p:bldP spid="66" grpId="0" autoUpdateAnimBg="0"/>
      <p:bldP spid="69" grpId="0" autoUpdateAnimBg="0"/>
      <p:bldP spid="71" grpId="0" animBg="1" autoUpdateAnimBg="0"/>
      <p:bldP spid="72" grpId="0" animBg="1"/>
      <p:bldP spid="73" grpId="0" autoUpdateAnimBg="0"/>
      <p:bldP spid="74" grpId="0" autoUpdateAnimBg="0"/>
      <p:bldP spid="75" grpId="0" autoUpdateAnimBg="0"/>
      <p:bldP spid="76" grpId="0" animBg="1"/>
      <p:bldP spid="77" grpId="0" animBg="1"/>
      <p:bldP spid="78" grpId="0" animBg="1"/>
      <p:bldP spid="79" grpId="0" autoUpdateAnimBg="0"/>
      <p:bldP spid="80" grpId="0" autoUpdateAnimBg="0"/>
      <p:bldP spid="82" grpId="0" animBg="1"/>
      <p:bldP spid="86" grpId="0" autoUpdateAnimBg="0"/>
      <p:bldP spid="87" grpId="0" animBg="1" autoUpdateAnimBg="0"/>
      <p:bldP spid="88" grpId="0" animBg="1"/>
      <p:bldP spid="8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1464" y="188640"/>
            <a:ext cx="7912943" cy="830997"/>
          </a:xfrm>
          <a:prstGeom prst="rect">
            <a:avLst/>
          </a:prstGeom>
        </p:spPr>
        <p:txBody>
          <a:bodyPr wrap="square">
            <a:spAutoFit/>
          </a:bodyPr>
          <a:lstStyle/>
          <a:p>
            <a:pPr eaLnBrk="0" hangingPunct="0"/>
            <a:r>
              <a:rPr lang="zh-CN" altLang="en-US" sz="2400" b="1" dirty="0">
                <a:solidFill>
                  <a:schemeClr val="bg1"/>
                </a:solidFill>
                <a:latin typeface="Times New Roman" pitchFamily="18" charset="0"/>
              </a:rPr>
              <a:t>如果是空芯圆柱或圆环质量为</a:t>
            </a:r>
            <a:r>
              <a:rPr lang="en-US" altLang="zh-CN" sz="2400" b="1" i="1" dirty="0">
                <a:solidFill>
                  <a:schemeClr val="bg1"/>
                </a:solidFill>
                <a:latin typeface="Times New Roman" pitchFamily="18" charset="0"/>
              </a:rPr>
              <a:t>m</a:t>
            </a:r>
            <a:r>
              <a:rPr lang="zh-CN" altLang="en-US" sz="2400" b="1" dirty="0">
                <a:solidFill>
                  <a:schemeClr val="bg1"/>
                </a:solidFill>
                <a:latin typeface="Times New Roman" pitchFamily="18" charset="0"/>
              </a:rPr>
              <a:t>均匀分布，内外半径分别为</a:t>
            </a:r>
            <a:r>
              <a:rPr lang="en-US" altLang="zh-CN" sz="2400" b="1" i="1" dirty="0">
                <a:solidFill>
                  <a:schemeClr val="bg1"/>
                </a:solidFill>
                <a:latin typeface="Times New Roman" pitchFamily="18" charset="0"/>
              </a:rPr>
              <a:t>R</a:t>
            </a:r>
            <a:r>
              <a:rPr lang="en-US" altLang="zh-CN" b="1" dirty="0">
                <a:solidFill>
                  <a:schemeClr val="bg1"/>
                </a:solidFill>
                <a:latin typeface="Times New Roman" pitchFamily="18" charset="0"/>
              </a:rPr>
              <a:t>1</a:t>
            </a:r>
            <a:r>
              <a:rPr lang="zh-CN" altLang="en-US" sz="2400" b="1" dirty="0">
                <a:solidFill>
                  <a:schemeClr val="bg1"/>
                </a:solidFill>
                <a:latin typeface="Times New Roman" pitchFamily="18" charset="0"/>
              </a:rPr>
              <a:t>和</a:t>
            </a:r>
            <a:r>
              <a:rPr lang="en-US" altLang="zh-CN" sz="2400" b="1" i="1" dirty="0">
                <a:solidFill>
                  <a:schemeClr val="bg1"/>
                </a:solidFill>
                <a:latin typeface="Times New Roman" pitchFamily="18" charset="0"/>
              </a:rPr>
              <a:t>R</a:t>
            </a:r>
            <a:r>
              <a:rPr lang="en-US" altLang="zh-CN" b="1" dirty="0">
                <a:solidFill>
                  <a:schemeClr val="bg1"/>
                </a:solidFill>
                <a:latin typeface="Times New Roman" pitchFamily="18" charset="0"/>
              </a:rPr>
              <a:t>2</a:t>
            </a:r>
            <a:r>
              <a:rPr lang="zh-CN" altLang="en-US" sz="2400" b="1" dirty="0">
                <a:solidFill>
                  <a:schemeClr val="bg1"/>
                </a:solidFill>
                <a:latin typeface="Times New Roman" pitchFamily="18" charset="0"/>
              </a:rPr>
              <a:t>，厚度为</a:t>
            </a:r>
            <a:r>
              <a:rPr lang="en-US" altLang="zh-CN" sz="2400" b="1" i="1" dirty="0">
                <a:solidFill>
                  <a:schemeClr val="bg1"/>
                </a:solidFill>
                <a:latin typeface="Times New Roman" pitchFamily="18" charset="0"/>
              </a:rPr>
              <a:t>h</a:t>
            </a:r>
            <a:r>
              <a:rPr lang="zh-CN" altLang="en-US" sz="2400" b="1" dirty="0">
                <a:solidFill>
                  <a:schemeClr val="bg1"/>
                </a:solidFill>
                <a:latin typeface="Times New Roman" pitchFamily="18" charset="0"/>
              </a:rPr>
              <a:t>，求绕其中心轴旋转的转动惯量</a:t>
            </a:r>
          </a:p>
        </p:txBody>
      </p:sp>
      <p:grpSp>
        <p:nvGrpSpPr>
          <p:cNvPr id="5" name="组合 4"/>
          <p:cNvGrpSpPr/>
          <p:nvPr/>
        </p:nvGrpSpPr>
        <p:grpSpPr>
          <a:xfrm>
            <a:off x="720497" y="1225994"/>
            <a:ext cx="2977097" cy="723123"/>
            <a:chOff x="380609" y="1354054"/>
            <a:chExt cx="2977097" cy="723123"/>
          </a:xfrm>
        </p:grpSpPr>
        <p:sp>
          <p:nvSpPr>
            <p:cNvPr id="3" name="TextBox 2"/>
            <p:cNvSpPr txBox="1"/>
            <p:nvPr/>
          </p:nvSpPr>
          <p:spPr>
            <a:xfrm>
              <a:off x="380609" y="1484784"/>
              <a:ext cx="2977097" cy="461665"/>
            </a:xfrm>
            <a:prstGeom prst="rect">
              <a:avLst/>
            </a:prstGeom>
            <a:noFill/>
          </p:spPr>
          <p:txBody>
            <a:bodyPr wrap="none" rtlCol="0">
              <a:spAutoFit/>
            </a:bodyPr>
            <a:lstStyle/>
            <a:p>
              <a:r>
                <a:rPr lang="zh-CN" altLang="en-US" sz="2400" dirty="0">
                  <a:solidFill>
                    <a:schemeClr val="bg1"/>
                  </a:solidFill>
                </a:rPr>
                <a:t>是                      吗？</a:t>
              </a:r>
              <a:endParaRPr lang="zh-CN" altLang="en-US" dirty="0">
                <a:solidFill>
                  <a:schemeClr val="bg1"/>
                </a:solidFill>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117860136"/>
                </p:ext>
              </p:extLst>
            </p:nvPr>
          </p:nvGraphicFramePr>
          <p:xfrm>
            <a:off x="873052" y="1354054"/>
            <a:ext cx="1656184" cy="723123"/>
          </p:xfrm>
          <a:graphic>
            <a:graphicData uri="http://schemas.openxmlformats.org/presentationml/2006/ole">
              <mc:AlternateContent xmlns:mc="http://schemas.openxmlformats.org/markup-compatibility/2006">
                <mc:Choice xmlns:v="urn:schemas-microsoft-com:vml" Requires="v">
                  <p:oleObj spid="_x0000_s17416" name="Equation" r:id="rId3" imgW="901440" imgH="393480" progId="Equation.DSMT4">
                    <p:embed/>
                  </p:oleObj>
                </mc:Choice>
                <mc:Fallback>
                  <p:oleObj name="Equation" r:id="rId3" imgW="901440" imgH="393480" progId="Equation.DSMT4">
                    <p:embed/>
                    <p:pic>
                      <p:nvPicPr>
                        <p:cNvPr id="0" name=""/>
                        <p:cNvPicPr/>
                        <p:nvPr/>
                      </p:nvPicPr>
                      <p:blipFill>
                        <a:blip r:embed="rId4"/>
                        <a:stretch>
                          <a:fillRect/>
                        </a:stretch>
                      </p:blipFill>
                      <p:spPr>
                        <a:xfrm>
                          <a:off x="873052" y="1354054"/>
                          <a:ext cx="1656184" cy="723123"/>
                        </a:xfrm>
                        <a:prstGeom prst="rect">
                          <a:avLst/>
                        </a:prstGeom>
                        <a:solidFill>
                          <a:schemeClr val="bg1"/>
                        </a:solidFill>
                      </p:spPr>
                    </p:pic>
                  </p:oleObj>
                </mc:Fallback>
              </mc:AlternateContent>
            </a:graphicData>
          </a:graphic>
        </p:graphicFrame>
      </p:grpSp>
      <p:sp>
        <p:nvSpPr>
          <p:cNvPr id="6" name="TextBox 5"/>
          <p:cNvSpPr txBox="1"/>
          <p:nvPr/>
        </p:nvSpPr>
        <p:spPr>
          <a:xfrm>
            <a:off x="658856" y="5769195"/>
            <a:ext cx="7263527" cy="461665"/>
          </a:xfrm>
          <a:prstGeom prst="rect">
            <a:avLst/>
          </a:prstGeom>
          <a:noFill/>
        </p:spPr>
        <p:txBody>
          <a:bodyPr wrap="none" rtlCol="0">
            <a:spAutoFit/>
          </a:bodyPr>
          <a:lstStyle/>
          <a:p>
            <a:r>
              <a:rPr lang="zh-CN" altLang="en-US" sz="2400" b="1" dirty="0">
                <a:solidFill>
                  <a:schemeClr val="bg1"/>
                </a:solidFill>
              </a:rPr>
              <a:t>相同质量和体积下空心物体比实心物体的转动惯量大</a:t>
            </a:r>
          </a:p>
        </p:txBody>
      </p:sp>
      <p:sp>
        <p:nvSpPr>
          <p:cNvPr id="7" name="矩形 6"/>
          <p:cNvSpPr/>
          <p:nvPr/>
        </p:nvSpPr>
        <p:spPr>
          <a:xfrm>
            <a:off x="408377" y="2132856"/>
            <a:ext cx="5269391" cy="461665"/>
          </a:xfrm>
          <a:prstGeom prst="rect">
            <a:avLst/>
          </a:prstGeom>
        </p:spPr>
        <p:txBody>
          <a:bodyPr wrap="none">
            <a:spAutoFit/>
          </a:bodyPr>
          <a:lstStyle/>
          <a:p>
            <a:r>
              <a:rPr lang="zh-CN" altLang="zh-CN" sz="2400" b="1">
                <a:solidFill>
                  <a:schemeClr val="bg1"/>
                </a:solidFill>
                <a:latin typeface="Times New Roman" pitchFamily="18" charset="0"/>
              </a:rPr>
              <a:t>如果是圆环，则积分限从</a:t>
            </a:r>
            <a:r>
              <a:rPr lang="en-US" altLang="zh-CN" sz="2400" b="1" i="1">
                <a:solidFill>
                  <a:schemeClr val="bg1"/>
                </a:solidFill>
                <a:latin typeface="Times New Roman" pitchFamily="18" charset="0"/>
              </a:rPr>
              <a:t>R</a:t>
            </a:r>
            <a:r>
              <a:rPr lang="en-US" altLang="zh-CN" b="1">
                <a:solidFill>
                  <a:schemeClr val="bg1"/>
                </a:solidFill>
                <a:latin typeface="Times New Roman" pitchFamily="18" charset="0"/>
              </a:rPr>
              <a:t>1</a:t>
            </a:r>
            <a:r>
              <a:rPr lang="zh-CN" altLang="zh-CN" sz="2400" b="1">
                <a:solidFill>
                  <a:schemeClr val="bg1"/>
                </a:solidFill>
                <a:latin typeface="Times New Roman" pitchFamily="18" charset="0"/>
              </a:rPr>
              <a:t>积到</a:t>
            </a:r>
            <a:r>
              <a:rPr lang="en-US" altLang="zh-CN" sz="2400" b="1" i="1">
                <a:solidFill>
                  <a:schemeClr val="bg1"/>
                </a:solidFill>
                <a:latin typeface="Times New Roman" pitchFamily="18" charset="0"/>
              </a:rPr>
              <a:t>R</a:t>
            </a:r>
            <a:r>
              <a:rPr lang="en-US" altLang="zh-CN" b="1">
                <a:solidFill>
                  <a:schemeClr val="bg1"/>
                </a:solidFill>
                <a:latin typeface="Times New Roman" pitchFamily="18" charset="0"/>
              </a:rPr>
              <a:t>2</a:t>
            </a:r>
            <a:r>
              <a:rPr lang="zh-CN" altLang="zh-CN" sz="2400" b="1">
                <a:solidFill>
                  <a:schemeClr val="bg1"/>
                </a:solidFill>
                <a:latin typeface="Times New Roman" pitchFamily="18" charset="0"/>
              </a:rPr>
              <a:t>：</a:t>
            </a:r>
          </a:p>
        </p:txBody>
      </p:sp>
      <p:pic>
        <p:nvPicPr>
          <p:cNvPr id="63515" name="Picture 2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29612" y="2708920"/>
            <a:ext cx="4973417" cy="792088"/>
          </a:xfrm>
          <a:prstGeom prst="rect">
            <a:avLst/>
          </a:prstGeom>
          <a:solidFill>
            <a:schemeClr val="bg1"/>
          </a:solidFill>
          <a:ln>
            <a:noFill/>
          </a:ln>
        </p:spPr>
      </p:pic>
      <p:sp>
        <p:nvSpPr>
          <p:cNvPr id="8" name="矩形 7"/>
          <p:cNvSpPr/>
          <p:nvPr/>
        </p:nvSpPr>
        <p:spPr>
          <a:xfrm>
            <a:off x="699761" y="3613666"/>
            <a:ext cx="2659702" cy="461665"/>
          </a:xfrm>
          <a:prstGeom prst="rect">
            <a:avLst/>
          </a:prstGeom>
        </p:spPr>
        <p:txBody>
          <a:bodyPr wrap="none">
            <a:spAutoFit/>
          </a:bodyPr>
          <a:lstStyle/>
          <a:p>
            <a:r>
              <a:rPr lang="zh-CN" altLang="zh-CN" sz="2400" b="1">
                <a:solidFill>
                  <a:schemeClr val="bg1"/>
                </a:solidFill>
                <a:latin typeface="Times New Roman" pitchFamily="18" charset="0"/>
              </a:rPr>
              <a:t>这时的密度应为：</a:t>
            </a:r>
            <a:endParaRPr lang="zh-CN" altLang="en-US" sz="2400" b="1">
              <a:solidFill>
                <a:schemeClr val="bg1"/>
              </a:solidFill>
              <a:latin typeface="Times New Roman" pitchFamily="18" charset="0"/>
            </a:endParaRPr>
          </a:p>
        </p:txBody>
      </p:sp>
      <p:pic>
        <p:nvPicPr>
          <p:cNvPr id="63516" name="Picture 2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07122" y="3577944"/>
            <a:ext cx="1766997" cy="703632"/>
          </a:xfrm>
          <a:prstGeom prst="rect">
            <a:avLst/>
          </a:prstGeom>
          <a:solidFill>
            <a:schemeClr val="bg1"/>
          </a:solidFill>
          <a:ln>
            <a:noFill/>
          </a:ln>
        </p:spPr>
      </p:pic>
      <p:pic>
        <p:nvPicPr>
          <p:cNvPr id="63517" name="Picture 2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9916" y="4581128"/>
            <a:ext cx="7272808" cy="817789"/>
          </a:xfrm>
          <a:prstGeom prst="rect">
            <a:avLst/>
          </a:prstGeom>
          <a:solidFill>
            <a:schemeClr val="bg1"/>
          </a:solidFill>
          <a:ln>
            <a:noFill/>
          </a:ln>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5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35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5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reeform 2"/>
          <p:cNvSpPr>
            <a:spLocks/>
          </p:cNvSpPr>
          <p:nvPr/>
        </p:nvSpPr>
        <p:spPr bwMode="auto">
          <a:xfrm>
            <a:off x="5980113" y="776288"/>
            <a:ext cx="2593975" cy="2139950"/>
          </a:xfrm>
          <a:custGeom>
            <a:avLst/>
            <a:gdLst>
              <a:gd name="T0" fmla="*/ 2147483647 w 1761"/>
              <a:gd name="T1" fmla="*/ 2147483647 h 1074"/>
              <a:gd name="T2" fmla="*/ 2147483647 w 1761"/>
              <a:gd name="T3" fmla="*/ 2147483647 h 1074"/>
              <a:gd name="T4" fmla="*/ 2147483647 w 1761"/>
              <a:gd name="T5" fmla="*/ 2147483647 h 1074"/>
              <a:gd name="T6" fmla="*/ 2147483647 w 1761"/>
              <a:gd name="T7" fmla="*/ 2147483647 h 1074"/>
              <a:gd name="T8" fmla="*/ 2147483647 w 1761"/>
              <a:gd name="T9" fmla="*/ 2147483647 h 1074"/>
              <a:gd name="T10" fmla="*/ 2147483647 w 1761"/>
              <a:gd name="T11" fmla="*/ 2147483647 h 1074"/>
              <a:gd name="T12" fmla="*/ 2147483647 w 1761"/>
              <a:gd name="T13" fmla="*/ 2147483647 h 1074"/>
              <a:gd name="T14" fmla="*/ 2147483647 w 1761"/>
              <a:gd name="T15" fmla="*/ 2147483647 h 1074"/>
              <a:gd name="T16" fmla="*/ 2147483647 w 1761"/>
              <a:gd name="T17" fmla="*/ 2147483647 h 1074"/>
              <a:gd name="T18" fmla="*/ 2147483647 w 1761"/>
              <a:gd name="T19" fmla="*/ 2147483647 h 10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339966"/>
          </a:solidFill>
          <a:ln w="9525">
            <a:round/>
            <a:headEnd/>
            <a:tailEnd/>
          </a:ln>
          <a:effectLst/>
          <a:scene3d>
            <a:camera prst="legacyPerspectiveFront">
              <a:rot lat="17699992" lon="0" rev="0"/>
            </a:camera>
            <a:lightRig rig="legacyFlat2" dir="t"/>
          </a:scene3d>
          <a:sp3d extrusionH="201600" prstMaterial="legacyMatte">
            <a:bevelT w="13500" h="13500" prst="angle"/>
            <a:bevelB w="13500" h="13500" prst="angle"/>
            <a:extrusionClr>
              <a:srgbClr val="339966"/>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24601" name="Text Box 25"/>
          <p:cNvSpPr txBox="1">
            <a:spLocks noChangeArrowheads="1"/>
          </p:cNvSpPr>
          <p:nvPr/>
        </p:nvSpPr>
        <p:spPr bwMode="auto">
          <a:xfrm>
            <a:off x="176213" y="79375"/>
            <a:ext cx="5035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800" b="1">
                <a:solidFill>
                  <a:srgbClr val="FFFF00"/>
                </a:solidFill>
                <a:latin typeface="Times New Roman" pitchFamily="18" charset="0"/>
              </a:rPr>
              <a:t>四</a:t>
            </a:r>
            <a:r>
              <a:rPr lang="en-US" altLang="zh-CN" sz="2800" b="1">
                <a:solidFill>
                  <a:srgbClr val="FFFF00"/>
                </a:solidFill>
                <a:latin typeface="Times New Roman" pitchFamily="18" charset="0"/>
              </a:rPr>
              <a:t>. </a:t>
            </a:r>
            <a:r>
              <a:rPr lang="zh-CN" altLang="en-US" sz="2800" b="1">
                <a:solidFill>
                  <a:srgbClr val="FFFF00"/>
                </a:solidFill>
                <a:latin typeface="Times New Roman" pitchFamily="18" charset="0"/>
              </a:rPr>
              <a:t>平行轴定理及</a:t>
            </a:r>
            <a:r>
              <a:rPr lang="zh-CN" altLang="en-US" sz="2800" b="1">
                <a:solidFill>
                  <a:srgbClr val="FFFF00"/>
                </a:solidFill>
              </a:rPr>
              <a:t>垂直轴定理</a:t>
            </a:r>
          </a:p>
        </p:txBody>
      </p:sp>
      <p:sp>
        <p:nvSpPr>
          <p:cNvPr id="24602" name="Line 26"/>
          <p:cNvSpPr>
            <a:spLocks noChangeShapeType="1"/>
          </p:cNvSpPr>
          <p:nvPr/>
        </p:nvSpPr>
        <p:spPr bwMode="auto">
          <a:xfrm>
            <a:off x="6757988" y="573088"/>
            <a:ext cx="0" cy="1046162"/>
          </a:xfrm>
          <a:prstGeom prst="line">
            <a:avLst/>
          </a:prstGeom>
          <a:noFill/>
          <a:ln w="508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3" name="Line 27"/>
          <p:cNvSpPr>
            <a:spLocks noChangeShapeType="1"/>
          </p:cNvSpPr>
          <p:nvPr/>
        </p:nvSpPr>
        <p:spPr bwMode="auto">
          <a:xfrm>
            <a:off x="6757988" y="2420938"/>
            <a:ext cx="0" cy="304800"/>
          </a:xfrm>
          <a:prstGeom prst="line">
            <a:avLst/>
          </a:prstGeom>
          <a:noFill/>
          <a:ln w="508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4" name="Text Box 28"/>
          <p:cNvSpPr txBox="1">
            <a:spLocks noChangeArrowheads="1"/>
          </p:cNvSpPr>
          <p:nvPr/>
        </p:nvSpPr>
        <p:spPr bwMode="auto">
          <a:xfrm>
            <a:off x="7596188" y="5445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z</a:t>
            </a:r>
            <a:endParaRPr lang="en-US" altLang="zh-CN" sz="2400" i="1">
              <a:solidFill>
                <a:schemeClr val="accent2"/>
              </a:solidFill>
              <a:latin typeface="Times New Roman" pitchFamily="18" charset="0"/>
            </a:endParaRPr>
          </a:p>
        </p:txBody>
      </p:sp>
      <p:sp>
        <p:nvSpPr>
          <p:cNvPr id="24605" name="Text Box 29"/>
          <p:cNvSpPr txBox="1">
            <a:spLocks noChangeArrowheads="1"/>
          </p:cNvSpPr>
          <p:nvPr/>
        </p:nvSpPr>
        <p:spPr bwMode="auto">
          <a:xfrm>
            <a:off x="6986588" y="1411288"/>
            <a:ext cx="4064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chemeClr val="bg1"/>
                </a:solidFill>
                <a:latin typeface="Times New Roman" pitchFamily="18" charset="0"/>
              </a:rPr>
              <a:t>L</a:t>
            </a:r>
          </a:p>
        </p:txBody>
      </p:sp>
      <p:sp>
        <p:nvSpPr>
          <p:cNvPr id="24606" name="Line 30"/>
          <p:cNvSpPr>
            <a:spLocks noChangeShapeType="1"/>
          </p:cNvSpPr>
          <p:nvPr/>
        </p:nvSpPr>
        <p:spPr bwMode="auto">
          <a:xfrm>
            <a:off x="7519988" y="801688"/>
            <a:ext cx="0" cy="121920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7" name="Line 31"/>
          <p:cNvSpPr>
            <a:spLocks noChangeShapeType="1"/>
          </p:cNvSpPr>
          <p:nvPr/>
        </p:nvSpPr>
        <p:spPr bwMode="auto">
          <a:xfrm>
            <a:off x="7519988" y="2478088"/>
            <a:ext cx="0" cy="38100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8" name="Text Box 32"/>
          <p:cNvSpPr txBox="1">
            <a:spLocks noChangeArrowheads="1"/>
          </p:cNvSpPr>
          <p:nvPr/>
        </p:nvSpPr>
        <p:spPr bwMode="auto">
          <a:xfrm>
            <a:off x="7491413" y="1735138"/>
            <a:ext cx="406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chemeClr val="bg1"/>
                </a:solidFill>
                <a:latin typeface="Times New Roman" pitchFamily="18" charset="0"/>
              </a:rPr>
              <a:t>C</a:t>
            </a:r>
          </a:p>
        </p:txBody>
      </p:sp>
      <p:sp>
        <p:nvSpPr>
          <p:cNvPr id="24609" name="Text Box 33"/>
          <p:cNvSpPr txBox="1">
            <a:spLocks noChangeArrowheads="1"/>
          </p:cNvSpPr>
          <p:nvPr/>
        </p:nvSpPr>
        <p:spPr bwMode="auto">
          <a:xfrm>
            <a:off x="7748588" y="954088"/>
            <a:ext cx="457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M</a:t>
            </a:r>
            <a:endParaRPr lang="en-US" altLang="zh-CN" sz="2400" i="1">
              <a:solidFill>
                <a:schemeClr val="accent2"/>
              </a:solidFill>
              <a:latin typeface="Times New Roman" pitchFamily="18" charset="0"/>
            </a:endParaRPr>
          </a:p>
        </p:txBody>
      </p:sp>
      <p:sp>
        <p:nvSpPr>
          <p:cNvPr id="24610" name="Text Box 34"/>
          <p:cNvSpPr txBox="1">
            <a:spLocks noChangeArrowheads="1"/>
          </p:cNvSpPr>
          <p:nvPr/>
        </p:nvSpPr>
        <p:spPr bwMode="auto">
          <a:xfrm>
            <a:off x="6834188" y="573088"/>
            <a:ext cx="5334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z'</a:t>
            </a:r>
            <a:endParaRPr lang="en-US" altLang="zh-CN" sz="2400" i="1">
              <a:solidFill>
                <a:schemeClr val="accent2"/>
              </a:solidFill>
              <a:latin typeface="Times New Roman" pitchFamily="18" charset="0"/>
            </a:endParaRPr>
          </a:p>
        </p:txBody>
      </p:sp>
      <p:sp>
        <p:nvSpPr>
          <p:cNvPr id="24611" name="Line 35"/>
          <p:cNvSpPr>
            <a:spLocks noChangeShapeType="1"/>
          </p:cNvSpPr>
          <p:nvPr/>
        </p:nvSpPr>
        <p:spPr bwMode="auto">
          <a:xfrm>
            <a:off x="6773863" y="1620838"/>
            <a:ext cx="746125" cy="400050"/>
          </a:xfrm>
          <a:prstGeom prst="line">
            <a:avLst/>
          </a:prstGeom>
          <a:noFill/>
          <a:ln w="31750">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4612" name="Object 36"/>
          <p:cNvGraphicFramePr>
            <a:graphicFrameLocks/>
          </p:cNvGraphicFramePr>
          <p:nvPr/>
        </p:nvGraphicFramePr>
        <p:xfrm>
          <a:off x="1570038" y="2362200"/>
          <a:ext cx="1851025" cy="422275"/>
        </p:xfrm>
        <a:graphic>
          <a:graphicData uri="http://schemas.openxmlformats.org/presentationml/2006/ole">
            <mc:AlternateContent xmlns:mc="http://schemas.openxmlformats.org/markup-compatibility/2006">
              <mc:Choice xmlns:v="urn:schemas-microsoft-com:vml" Requires="v">
                <p:oleObj spid="_x0000_s18490" name="公式" r:id="rId3" imgW="1962200" imgH="380876" progId="Equation.3">
                  <p:embed/>
                </p:oleObj>
              </mc:Choice>
              <mc:Fallback>
                <p:oleObj name="公式" r:id="rId3" imgW="1962200" imgH="380876" progId="Equation.3">
                  <p:embed/>
                  <p:pic>
                    <p:nvPicPr>
                      <p:cNvPr id="0" name="Object 3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0038" y="2362200"/>
                        <a:ext cx="1851025" cy="42227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15" name="Text Box 39"/>
          <p:cNvSpPr txBox="1">
            <a:spLocks noChangeArrowheads="1"/>
          </p:cNvSpPr>
          <p:nvPr/>
        </p:nvSpPr>
        <p:spPr bwMode="auto">
          <a:xfrm>
            <a:off x="388938" y="906463"/>
            <a:ext cx="4814887" cy="193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457200" indent="-457200" eaLnBrk="1" hangingPunct="1">
              <a:spcBef>
                <a:spcPct val="50000"/>
              </a:spcBef>
              <a:buFontTx/>
              <a:buAutoNum type="arabicPeriod"/>
              <a:defRPr/>
            </a:pPr>
            <a:r>
              <a:rPr lang="zh-CN" altLang="en-US" sz="2400" b="1" dirty="0">
                <a:solidFill>
                  <a:srgbClr val="66FFFF"/>
                </a:solidFill>
                <a:latin typeface="Times New Roman" pitchFamily="18" charset="0"/>
              </a:rPr>
              <a:t>平行轴定理</a:t>
            </a:r>
            <a:endParaRPr lang="en-US" altLang="zh-CN" sz="2400" b="1" dirty="0">
              <a:solidFill>
                <a:srgbClr val="66FFFF"/>
              </a:solidFill>
              <a:latin typeface="Times New Roman" pitchFamily="18" charset="0"/>
            </a:endParaRPr>
          </a:p>
          <a:p>
            <a:pPr eaLnBrk="1" hangingPunct="1">
              <a:spcBef>
                <a:spcPct val="50000"/>
              </a:spcBef>
              <a:defRPr/>
            </a:pPr>
            <a:r>
              <a:rPr lang="zh-CN" altLang="zh-CN" sz="2400" b="1" dirty="0">
                <a:solidFill>
                  <a:schemeClr val="bg1"/>
                </a:solidFill>
              </a:rPr>
              <a:t>若有两个轴互相平行，</a:t>
            </a:r>
            <a:r>
              <a:rPr lang="zh-CN" altLang="zh-CN" sz="2400" b="1" dirty="0">
                <a:solidFill>
                  <a:srgbClr val="FF0000"/>
                </a:solidFill>
              </a:rPr>
              <a:t>其中一个轴过质心</a:t>
            </a:r>
            <a:r>
              <a:rPr lang="zh-CN" altLang="zh-CN" sz="2400" b="1" dirty="0">
                <a:solidFill>
                  <a:schemeClr val="bg1"/>
                </a:solidFill>
              </a:rPr>
              <a:t>，则：</a:t>
            </a:r>
          </a:p>
          <a:p>
            <a:pPr eaLnBrk="1" hangingPunct="1">
              <a:spcBef>
                <a:spcPct val="50000"/>
              </a:spcBef>
              <a:defRPr/>
            </a:pPr>
            <a:endParaRPr lang="zh-CN" altLang="en-US" sz="2400" b="1" dirty="0">
              <a:solidFill>
                <a:srgbClr val="66FFFF"/>
              </a:solidFill>
              <a:latin typeface="Times New Roman" pitchFamily="18" charset="0"/>
            </a:endParaRPr>
          </a:p>
        </p:txBody>
      </p:sp>
      <p:graphicFrame>
        <p:nvGraphicFramePr>
          <p:cNvPr id="24616" name="Object 40"/>
          <p:cNvGraphicFramePr>
            <a:graphicFrameLocks noGrp="1"/>
          </p:cNvGraphicFramePr>
          <p:nvPr>
            <p:ph idx="4294967295"/>
          </p:nvPr>
        </p:nvGraphicFramePr>
        <p:xfrm>
          <a:off x="603250" y="2940050"/>
          <a:ext cx="406400" cy="420688"/>
        </p:xfrm>
        <a:graphic>
          <a:graphicData uri="http://schemas.openxmlformats.org/presentationml/2006/ole">
            <mc:AlternateContent xmlns:mc="http://schemas.openxmlformats.org/markup-compatibility/2006">
              <mc:Choice xmlns:v="urn:schemas-microsoft-com:vml" Requires="v">
                <p:oleObj spid="_x0000_s18491" name="公式" r:id="rId5" imgW="314211" imgH="323920" progId="Equation.3">
                  <p:embed/>
                </p:oleObj>
              </mc:Choice>
              <mc:Fallback>
                <p:oleObj name="公式" r:id="rId5" imgW="314211" imgH="323920" progId="Equation.3">
                  <p:embed/>
                  <p:pic>
                    <p:nvPicPr>
                      <p:cNvPr id="0" name="Object 40"/>
                      <p:cNvPicPr>
                        <a:picLocks noGrp="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250" y="2940050"/>
                        <a:ext cx="40640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17" name="Object 41"/>
          <p:cNvGraphicFramePr>
            <a:graphicFrameLocks/>
          </p:cNvGraphicFramePr>
          <p:nvPr/>
        </p:nvGraphicFramePr>
        <p:xfrm>
          <a:off x="641350" y="3521075"/>
          <a:ext cx="342900" cy="420688"/>
        </p:xfrm>
        <a:graphic>
          <a:graphicData uri="http://schemas.openxmlformats.org/presentationml/2006/ole">
            <mc:AlternateContent xmlns:mc="http://schemas.openxmlformats.org/markup-compatibility/2006">
              <mc:Choice xmlns:v="urn:schemas-microsoft-com:vml" Requires="v">
                <p:oleObj spid="_x0000_s18492" name="公式" r:id="rId7" imgW="257254" imgH="323920" progId="Equation.3">
                  <p:embed/>
                </p:oleObj>
              </mc:Choice>
              <mc:Fallback>
                <p:oleObj name="公式" r:id="rId7" imgW="257254" imgH="323920" progId="Equation.3">
                  <p:embed/>
                  <p:pic>
                    <p:nvPicPr>
                      <p:cNvPr id="0" name="Object 4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1350" y="3521075"/>
                        <a:ext cx="342900"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18" name="Object 42"/>
          <p:cNvGraphicFramePr>
            <a:graphicFrameLocks/>
          </p:cNvGraphicFramePr>
          <p:nvPr/>
        </p:nvGraphicFramePr>
        <p:xfrm>
          <a:off x="5626100" y="3454400"/>
          <a:ext cx="254000" cy="293688"/>
        </p:xfrm>
        <a:graphic>
          <a:graphicData uri="http://schemas.openxmlformats.org/presentationml/2006/ole">
            <mc:AlternateContent xmlns:mc="http://schemas.openxmlformats.org/markup-compatibility/2006">
              <mc:Choice xmlns:v="urn:schemas-microsoft-com:vml" Requires="v">
                <p:oleObj spid="_x0000_s18493" name="公式" r:id="rId9" imgW="161965" imgH="200021" progId="Equation.3">
                  <p:embed/>
                </p:oleObj>
              </mc:Choice>
              <mc:Fallback>
                <p:oleObj name="公式" r:id="rId9" imgW="161965" imgH="200021" progId="Equation.3">
                  <p:embed/>
                  <p:pic>
                    <p:nvPicPr>
                      <p:cNvPr id="0" name="Object 42"/>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26100" y="3454400"/>
                        <a:ext cx="254000"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19" name="Text Box 43"/>
          <p:cNvSpPr txBox="1">
            <a:spLocks noChangeArrowheads="1"/>
          </p:cNvSpPr>
          <p:nvPr/>
        </p:nvSpPr>
        <p:spPr bwMode="auto">
          <a:xfrm>
            <a:off x="955675" y="2860675"/>
            <a:ext cx="424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楷体_GB2312" pitchFamily="49" charset="-122"/>
                <a:ea typeface="楷体_GB2312" pitchFamily="49" charset="-122"/>
              </a:rPr>
              <a:t>:</a:t>
            </a:r>
            <a:r>
              <a:rPr lang="zh-CN" altLang="en-US" sz="2400" b="1">
                <a:solidFill>
                  <a:schemeClr val="bg1"/>
                </a:solidFill>
                <a:latin typeface="楷体_GB2312" pitchFamily="49" charset="-122"/>
                <a:ea typeface="楷体_GB2312" pitchFamily="49" charset="-122"/>
              </a:rPr>
              <a:t>刚体绕任意轴的转动惯量</a:t>
            </a:r>
          </a:p>
        </p:txBody>
      </p:sp>
      <p:sp>
        <p:nvSpPr>
          <p:cNvPr id="24620" name="Text Box 44"/>
          <p:cNvSpPr txBox="1">
            <a:spLocks noChangeArrowheads="1"/>
          </p:cNvSpPr>
          <p:nvPr/>
        </p:nvSpPr>
        <p:spPr bwMode="auto">
          <a:xfrm>
            <a:off x="803275" y="3517900"/>
            <a:ext cx="3384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dirty="0">
                <a:solidFill>
                  <a:schemeClr val="bg1"/>
                </a:solidFill>
                <a:latin typeface="楷体_GB2312" pitchFamily="49" charset="-122"/>
                <a:ea typeface="楷体_GB2312" pitchFamily="49" charset="-122"/>
              </a:rPr>
              <a:t>:</a:t>
            </a:r>
            <a:r>
              <a:rPr lang="zh-CN" altLang="en-US" sz="2400" b="1" dirty="0">
                <a:solidFill>
                  <a:schemeClr val="bg1"/>
                </a:solidFill>
                <a:ea typeface="楷体_GB2312" pitchFamily="49" charset="-122"/>
              </a:rPr>
              <a:t>刚体绕通过质心的轴</a:t>
            </a:r>
            <a:endParaRPr lang="zh-CN" altLang="en-US" sz="2400" dirty="0">
              <a:solidFill>
                <a:schemeClr val="bg1"/>
              </a:solidFill>
              <a:ea typeface="楷体_GB2312" pitchFamily="49" charset="-122"/>
            </a:endParaRPr>
          </a:p>
        </p:txBody>
      </p:sp>
      <p:sp>
        <p:nvSpPr>
          <p:cNvPr id="24621" name="Text Box 45"/>
          <p:cNvSpPr txBox="1">
            <a:spLocks noChangeArrowheads="1"/>
          </p:cNvSpPr>
          <p:nvPr/>
        </p:nvSpPr>
        <p:spPr bwMode="auto">
          <a:xfrm>
            <a:off x="5889625" y="3322638"/>
            <a:ext cx="4175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楷体_GB2312" pitchFamily="49" charset="-122"/>
                <a:ea typeface="楷体_GB2312" pitchFamily="49" charset="-122"/>
              </a:rPr>
              <a:t>:</a:t>
            </a:r>
            <a:r>
              <a:rPr lang="zh-CN" altLang="en-US" sz="2400" b="1">
                <a:solidFill>
                  <a:schemeClr val="bg1"/>
                </a:solidFill>
                <a:latin typeface="楷体_GB2312" pitchFamily="49" charset="-122"/>
                <a:ea typeface="楷体_GB2312" pitchFamily="49" charset="-122"/>
              </a:rPr>
              <a:t>两轴间垂直距离</a:t>
            </a:r>
          </a:p>
        </p:txBody>
      </p:sp>
      <p:graphicFrame>
        <p:nvGraphicFramePr>
          <p:cNvPr id="48" name="Object 2"/>
          <p:cNvGraphicFramePr>
            <a:graphicFrameLocks/>
          </p:cNvGraphicFramePr>
          <p:nvPr/>
        </p:nvGraphicFramePr>
        <p:xfrm>
          <a:off x="2303463" y="6176963"/>
          <a:ext cx="1698625" cy="400050"/>
        </p:xfrm>
        <a:graphic>
          <a:graphicData uri="http://schemas.openxmlformats.org/presentationml/2006/ole">
            <mc:AlternateContent xmlns:mc="http://schemas.openxmlformats.org/markup-compatibility/2006">
              <mc:Choice xmlns:v="urn:schemas-microsoft-com:vml" Requires="v">
                <p:oleObj spid="_x0000_s18494" name="公式" r:id="rId11" imgW="1904973" imgH="380876" progId="Equation.3">
                  <p:embed/>
                </p:oleObj>
              </mc:Choice>
              <mc:Fallback>
                <p:oleObj name="公式" r:id="rId11" imgW="1904973" imgH="380876" progId="Equation.3">
                  <p:embed/>
                  <p:pic>
                    <p:nvPicPr>
                      <p:cNvPr id="0" name="Object 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03463" y="6176963"/>
                        <a:ext cx="1698625" cy="4000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 name="Object 3"/>
          <p:cNvGraphicFramePr>
            <a:graphicFrameLocks/>
          </p:cNvGraphicFramePr>
          <p:nvPr/>
        </p:nvGraphicFramePr>
        <p:xfrm>
          <a:off x="803275" y="5037138"/>
          <a:ext cx="3541713" cy="868362"/>
        </p:xfrm>
        <a:graphic>
          <a:graphicData uri="http://schemas.openxmlformats.org/presentationml/2006/ole">
            <mc:AlternateContent xmlns:mc="http://schemas.openxmlformats.org/markup-compatibility/2006">
              <mc:Choice xmlns:v="urn:schemas-microsoft-com:vml" Requires="v">
                <p:oleObj spid="_x0000_s18495" name="Equation" r:id="rId13" imgW="3848007" imgH="876204" progId="Equation.3">
                  <p:embed/>
                </p:oleObj>
              </mc:Choice>
              <mc:Fallback>
                <p:oleObj name="Equation" r:id="rId13" imgW="3848007" imgH="876204" progId="Equation.3">
                  <p:embed/>
                  <p:pic>
                    <p:nvPicPr>
                      <p:cNvPr id="0" name="Object 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3275" y="5037138"/>
                        <a:ext cx="3541713" cy="868362"/>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 name="Text Box 4"/>
          <p:cNvSpPr txBox="1">
            <a:spLocks noChangeArrowheads="1"/>
          </p:cNvSpPr>
          <p:nvPr/>
        </p:nvSpPr>
        <p:spPr bwMode="auto">
          <a:xfrm>
            <a:off x="220663" y="4083050"/>
            <a:ext cx="8189912"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dirty="0">
                <a:solidFill>
                  <a:srgbClr val="FFFF00"/>
                </a:solidFill>
                <a:latin typeface="Times New Roman" pitchFamily="18" charset="0"/>
              </a:rPr>
              <a:t>例 </a:t>
            </a:r>
            <a:r>
              <a:rPr lang="zh-CN" altLang="en-US" sz="2400" b="1" dirty="0">
                <a:solidFill>
                  <a:schemeClr val="bg1"/>
                </a:solidFill>
                <a:latin typeface="Times New Roman" pitchFamily="18" charset="0"/>
              </a:rPr>
              <a:t>已知</a:t>
            </a:r>
            <a:r>
              <a:rPr lang="zh-CN" altLang="zh-CN" sz="2400" b="1" dirty="0">
                <a:solidFill>
                  <a:schemeClr val="bg1"/>
                </a:solidFill>
              </a:rPr>
              <a:t>书中例题</a:t>
            </a:r>
            <a:r>
              <a:rPr lang="en-US" altLang="zh-CN" sz="2400" b="1" dirty="0">
                <a:solidFill>
                  <a:schemeClr val="bg1"/>
                </a:solidFill>
              </a:rPr>
              <a:t>6.1</a:t>
            </a:r>
            <a:r>
              <a:rPr lang="zh-CN" altLang="zh-CN" sz="2400" b="1" dirty="0">
                <a:solidFill>
                  <a:schemeClr val="bg1"/>
                </a:solidFill>
              </a:rPr>
              <a:t>求了杆通过中心轴的转动惯量，用平行轴定理，</a:t>
            </a:r>
            <a:r>
              <a:rPr lang="zh-CN" altLang="en-US" sz="2400" b="1" dirty="0">
                <a:solidFill>
                  <a:schemeClr val="bg1"/>
                </a:solidFill>
              </a:rPr>
              <a:t>求</a:t>
            </a:r>
            <a:r>
              <a:rPr lang="zh-CN" altLang="en-US" sz="2400" b="1" dirty="0">
                <a:solidFill>
                  <a:schemeClr val="bg1"/>
                </a:solidFill>
                <a:latin typeface="Times New Roman" pitchFamily="18" charset="0"/>
              </a:rPr>
              <a:t>均匀细棒一端点的转动惯量</a:t>
            </a:r>
          </a:p>
        </p:txBody>
      </p:sp>
      <p:sp>
        <p:nvSpPr>
          <p:cNvPr id="51" name="AutoShape 5"/>
          <p:cNvSpPr>
            <a:spLocks noChangeArrowheads="1"/>
          </p:cNvSpPr>
          <p:nvPr/>
        </p:nvSpPr>
        <p:spPr bwMode="auto">
          <a:xfrm>
            <a:off x="2068513" y="6143625"/>
            <a:ext cx="2209800" cy="433388"/>
          </a:xfrm>
          <a:prstGeom prst="wedgeRoundRectCallout">
            <a:avLst>
              <a:gd name="adj1" fmla="val -60273"/>
              <a:gd name="adj2" fmla="val -154028"/>
              <a:gd name="adj3" fmla="val 16667"/>
            </a:avLst>
          </a:prstGeom>
          <a:noFill/>
          <a:ln w="9525">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endParaRPr lang="zh-CN" altLang="zh-CN" sz="2400">
              <a:latin typeface="Times New Roman" pitchFamily="18" charset="0"/>
            </a:endParaRPr>
          </a:p>
        </p:txBody>
      </p:sp>
      <p:sp>
        <p:nvSpPr>
          <p:cNvPr id="52" name="AutoShape 8"/>
          <p:cNvSpPr>
            <a:spLocks noChangeArrowheads="1"/>
          </p:cNvSpPr>
          <p:nvPr/>
        </p:nvSpPr>
        <p:spPr bwMode="auto">
          <a:xfrm>
            <a:off x="5927725" y="5562600"/>
            <a:ext cx="2524125" cy="176213"/>
          </a:xfrm>
          <a:prstGeom prst="flowChartProcess">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graphicFrame>
        <p:nvGraphicFramePr>
          <p:cNvPr id="53" name="Object 9"/>
          <p:cNvGraphicFramePr>
            <a:graphicFrameLocks/>
          </p:cNvGraphicFramePr>
          <p:nvPr/>
        </p:nvGraphicFramePr>
        <p:xfrm>
          <a:off x="7256463" y="4667250"/>
          <a:ext cx="201612" cy="215900"/>
        </p:xfrm>
        <a:graphic>
          <a:graphicData uri="http://schemas.openxmlformats.org/presentationml/2006/ole">
            <mc:AlternateContent xmlns:mc="http://schemas.openxmlformats.org/markup-compatibility/2006">
              <mc:Choice xmlns:v="urn:schemas-microsoft-com:vml" Requires="v">
                <p:oleObj spid="_x0000_s18496" name="公式" r:id="rId15" imgW="114185" imgH="123900" progId="Equation.3">
                  <p:embed/>
                </p:oleObj>
              </mc:Choice>
              <mc:Fallback>
                <p:oleObj name="公式" r:id="rId15" imgW="114185" imgH="123900" progId="Equation.3">
                  <p:embed/>
                  <p:pic>
                    <p:nvPicPr>
                      <p:cNvPr id="0" name="Object 9"/>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56463" y="4667250"/>
                        <a:ext cx="201612" cy="2159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 name="Line 10"/>
          <p:cNvSpPr>
            <a:spLocks noChangeShapeType="1"/>
          </p:cNvSpPr>
          <p:nvPr/>
        </p:nvSpPr>
        <p:spPr bwMode="auto">
          <a:xfrm flipH="1">
            <a:off x="7162800" y="4914900"/>
            <a:ext cx="0" cy="1646238"/>
          </a:xfrm>
          <a:prstGeom prst="line">
            <a:avLst/>
          </a:prstGeom>
          <a:noFill/>
          <a:ln w="95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11"/>
          <p:cNvSpPr>
            <a:spLocks noChangeShapeType="1"/>
          </p:cNvSpPr>
          <p:nvPr/>
        </p:nvSpPr>
        <p:spPr bwMode="auto">
          <a:xfrm flipH="1">
            <a:off x="5927725" y="4914900"/>
            <a:ext cx="0" cy="1646238"/>
          </a:xfrm>
          <a:prstGeom prst="line">
            <a:avLst/>
          </a:prstGeom>
          <a:noFill/>
          <a:ln w="95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Text Box 12"/>
          <p:cNvSpPr txBox="1">
            <a:spLocks noChangeArrowheads="1"/>
          </p:cNvSpPr>
          <p:nvPr/>
        </p:nvSpPr>
        <p:spPr bwMode="auto">
          <a:xfrm>
            <a:off x="6272213" y="5091113"/>
            <a:ext cx="4064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M</a:t>
            </a:r>
            <a:endParaRPr lang="en-US" altLang="zh-CN" sz="2400" i="1">
              <a:solidFill>
                <a:schemeClr val="accent2"/>
              </a:solidFill>
              <a:latin typeface="Times New Roman" pitchFamily="18" charset="0"/>
            </a:endParaRPr>
          </a:p>
        </p:txBody>
      </p:sp>
      <p:sp>
        <p:nvSpPr>
          <p:cNvPr id="57" name="Text Box 13"/>
          <p:cNvSpPr txBox="1">
            <a:spLocks noChangeArrowheads="1"/>
          </p:cNvSpPr>
          <p:nvPr/>
        </p:nvSpPr>
        <p:spPr bwMode="auto">
          <a:xfrm>
            <a:off x="7621588" y="5064125"/>
            <a:ext cx="268287"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L</a:t>
            </a:r>
            <a:endParaRPr lang="en-US" altLang="zh-CN" sz="2400" i="1">
              <a:solidFill>
                <a:schemeClr val="accent2"/>
              </a:solidFill>
              <a:latin typeface="Times New Roman" pitchFamily="18" charset="0"/>
            </a:endParaRPr>
          </a:p>
        </p:txBody>
      </p:sp>
      <p:graphicFrame>
        <p:nvGraphicFramePr>
          <p:cNvPr id="58" name="Object 14"/>
          <p:cNvGraphicFramePr>
            <a:graphicFrameLocks/>
          </p:cNvGraphicFramePr>
          <p:nvPr/>
        </p:nvGraphicFramePr>
        <p:xfrm>
          <a:off x="5972175" y="4581525"/>
          <a:ext cx="280988" cy="315913"/>
        </p:xfrm>
        <a:graphic>
          <a:graphicData uri="http://schemas.openxmlformats.org/presentationml/2006/ole">
            <mc:AlternateContent xmlns:mc="http://schemas.openxmlformats.org/markup-compatibility/2006">
              <mc:Choice xmlns:v="urn:schemas-microsoft-com:vml" Requires="v">
                <p:oleObj spid="_x0000_s18497" name="公式" r:id="rId17" imgW="190578" imgH="228634" progId="Equation.3">
                  <p:embed/>
                </p:oleObj>
              </mc:Choice>
              <mc:Fallback>
                <p:oleObj name="公式" r:id="rId17" imgW="190578" imgH="228634" progId="Equation.3">
                  <p:embed/>
                  <p:pic>
                    <p:nvPicPr>
                      <p:cNvPr id="0" name="Object 14"/>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972175" y="4581525"/>
                        <a:ext cx="280988" cy="31591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 name="Arc 39"/>
          <p:cNvSpPr>
            <a:spLocks/>
          </p:cNvSpPr>
          <p:nvPr/>
        </p:nvSpPr>
        <p:spPr bwMode="auto">
          <a:xfrm flipH="1">
            <a:off x="5686425" y="5080000"/>
            <a:ext cx="471488" cy="146050"/>
          </a:xfrm>
          <a:custGeom>
            <a:avLst/>
            <a:gdLst>
              <a:gd name="T0" fmla="*/ 2147483647 w 43200"/>
              <a:gd name="T1" fmla="*/ 0 h 38804"/>
              <a:gd name="T2" fmla="*/ 2147483647 w 43200"/>
              <a:gd name="T3" fmla="*/ 27904911 h 38804"/>
              <a:gd name="T4" fmla="*/ 2147483647 w 43200"/>
              <a:gd name="T5" fmla="*/ 2147483647 h 38804"/>
              <a:gd name="T6" fmla="*/ 0 60000 65536"/>
              <a:gd name="T7" fmla="*/ 0 60000 65536"/>
              <a:gd name="T8" fmla="*/ 0 60000 65536"/>
            </a:gdLst>
            <a:ahLst/>
            <a:cxnLst>
              <a:cxn ang="T6">
                <a:pos x="T0" y="T1"/>
              </a:cxn>
              <a:cxn ang="T7">
                <a:pos x="T2" y="T3"/>
              </a:cxn>
              <a:cxn ang="T8">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lnTo>
                  <a:pt x="34660" y="0"/>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Arc 40"/>
          <p:cNvSpPr>
            <a:spLocks/>
          </p:cNvSpPr>
          <p:nvPr/>
        </p:nvSpPr>
        <p:spPr bwMode="auto">
          <a:xfrm flipH="1">
            <a:off x="6927850" y="5080000"/>
            <a:ext cx="471488" cy="146050"/>
          </a:xfrm>
          <a:custGeom>
            <a:avLst/>
            <a:gdLst>
              <a:gd name="T0" fmla="*/ 2147483647 w 43200"/>
              <a:gd name="T1" fmla="*/ 0 h 38804"/>
              <a:gd name="T2" fmla="*/ 2147483647 w 43200"/>
              <a:gd name="T3" fmla="*/ 27904911 h 38804"/>
              <a:gd name="T4" fmla="*/ 2147483647 w 43200"/>
              <a:gd name="T5" fmla="*/ 2147483647 h 38804"/>
              <a:gd name="T6" fmla="*/ 0 60000 65536"/>
              <a:gd name="T7" fmla="*/ 0 60000 65536"/>
              <a:gd name="T8" fmla="*/ 0 60000 65536"/>
            </a:gdLst>
            <a:ahLst/>
            <a:cxnLst>
              <a:cxn ang="T6">
                <a:pos x="T0" y="T1"/>
              </a:cxn>
              <a:cxn ang="T7">
                <a:pos x="T2" y="T3"/>
              </a:cxn>
              <a:cxn ang="T8">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lnTo>
                  <a:pt x="34660" y="0"/>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52"/>
          <p:cNvSpPr>
            <a:spLocks noChangeShapeType="1"/>
          </p:cNvSpPr>
          <p:nvPr/>
        </p:nvSpPr>
        <p:spPr bwMode="auto">
          <a:xfrm>
            <a:off x="8451850" y="5656263"/>
            <a:ext cx="287338" cy="0"/>
          </a:xfrm>
          <a:prstGeom prst="line">
            <a:avLst/>
          </a:prstGeom>
          <a:noFill/>
          <a:ln w="381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601"/>
                                        </p:tgtEl>
                                        <p:attrNameLst>
                                          <p:attrName>style.visibility</p:attrName>
                                        </p:attrNameLst>
                                      </p:cBhvr>
                                      <p:to>
                                        <p:strVal val="visible"/>
                                      </p:to>
                                    </p:set>
                                    <p:animEffect transition="in" filter="wipe(left)">
                                      <p:cBhvr>
                                        <p:cTn id="7" dur="500"/>
                                        <p:tgtEl>
                                          <p:spTgt spid="246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615"/>
                                        </p:tgtEl>
                                        <p:attrNameLst>
                                          <p:attrName>style.visibility</p:attrName>
                                        </p:attrNameLst>
                                      </p:cBhvr>
                                      <p:to>
                                        <p:strVal val="visible"/>
                                      </p:to>
                                    </p:set>
                                    <p:animEffect transition="in" filter="wipe(left)">
                                      <p:cBhvr>
                                        <p:cTn id="12" dur="500"/>
                                        <p:tgtEl>
                                          <p:spTgt spid="246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24578"/>
                                        </p:tgtEl>
                                        <p:attrNameLst>
                                          <p:attrName>style.visibility</p:attrName>
                                        </p:attrNameLst>
                                      </p:cBhvr>
                                      <p:to>
                                        <p:strVal val="visible"/>
                                      </p:to>
                                    </p:set>
                                    <p:anim calcmode="lin" valueType="num">
                                      <p:cBhvr>
                                        <p:cTn id="17" dur="500" fill="hold"/>
                                        <p:tgtEl>
                                          <p:spTgt spid="24578"/>
                                        </p:tgtEl>
                                        <p:attrNameLst>
                                          <p:attrName>ppt_w</p:attrName>
                                        </p:attrNameLst>
                                      </p:cBhvr>
                                      <p:tavLst>
                                        <p:tav tm="0">
                                          <p:val>
                                            <p:fltVal val="0"/>
                                          </p:val>
                                        </p:tav>
                                        <p:tav tm="100000">
                                          <p:val>
                                            <p:strVal val="#ppt_w"/>
                                          </p:val>
                                        </p:tav>
                                      </p:tavLst>
                                    </p:anim>
                                    <p:anim calcmode="lin" valueType="num">
                                      <p:cBhvr>
                                        <p:cTn id="18" dur="500" fill="hold"/>
                                        <p:tgtEl>
                                          <p:spTgt spid="24578"/>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4602"/>
                                        </p:tgtEl>
                                        <p:attrNameLst>
                                          <p:attrName>style.visibility</p:attrName>
                                        </p:attrNameLst>
                                      </p:cBhvr>
                                      <p:to>
                                        <p:strVal val="visible"/>
                                      </p:to>
                                    </p:set>
                                    <p:animEffect transition="in" filter="wipe(left)">
                                      <p:cBhvr>
                                        <p:cTn id="23" dur="500"/>
                                        <p:tgtEl>
                                          <p:spTgt spid="2460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4603"/>
                                        </p:tgtEl>
                                        <p:attrNameLst>
                                          <p:attrName>style.visibility</p:attrName>
                                        </p:attrNameLst>
                                      </p:cBhvr>
                                      <p:to>
                                        <p:strVal val="visible"/>
                                      </p:to>
                                    </p:set>
                                    <p:animEffect transition="in" filter="wipe(left)">
                                      <p:cBhvr>
                                        <p:cTn id="28" dur="500"/>
                                        <p:tgtEl>
                                          <p:spTgt spid="2460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4610"/>
                                        </p:tgtEl>
                                        <p:attrNameLst>
                                          <p:attrName>style.visibility</p:attrName>
                                        </p:attrNameLst>
                                      </p:cBhvr>
                                      <p:to>
                                        <p:strVal val="visible"/>
                                      </p:to>
                                    </p:set>
                                    <p:animEffect transition="in" filter="wipe(left)">
                                      <p:cBhvr>
                                        <p:cTn id="33" dur="500"/>
                                        <p:tgtEl>
                                          <p:spTgt spid="2461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4606"/>
                                        </p:tgtEl>
                                        <p:attrNameLst>
                                          <p:attrName>style.visibility</p:attrName>
                                        </p:attrNameLst>
                                      </p:cBhvr>
                                      <p:to>
                                        <p:strVal val="visible"/>
                                      </p:to>
                                    </p:set>
                                    <p:animEffect transition="in" filter="wipe(left)">
                                      <p:cBhvr>
                                        <p:cTn id="38" dur="500"/>
                                        <p:tgtEl>
                                          <p:spTgt spid="2460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4607"/>
                                        </p:tgtEl>
                                        <p:attrNameLst>
                                          <p:attrName>style.visibility</p:attrName>
                                        </p:attrNameLst>
                                      </p:cBhvr>
                                      <p:to>
                                        <p:strVal val="visible"/>
                                      </p:to>
                                    </p:set>
                                    <p:animEffect transition="in" filter="wipe(left)">
                                      <p:cBhvr>
                                        <p:cTn id="43" dur="500"/>
                                        <p:tgtEl>
                                          <p:spTgt spid="2460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4604"/>
                                        </p:tgtEl>
                                        <p:attrNameLst>
                                          <p:attrName>style.visibility</p:attrName>
                                        </p:attrNameLst>
                                      </p:cBhvr>
                                      <p:to>
                                        <p:strVal val="visible"/>
                                      </p:to>
                                    </p:set>
                                    <p:animEffect transition="in" filter="wipe(left)">
                                      <p:cBhvr>
                                        <p:cTn id="48" dur="500"/>
                                        <p:tgtEl>
                                          <p:spTgt spid="2460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4608"/>
                                        </p:tgtEl>
                                        <p:attrNameLst>
                                          <p:attrName>style.visibility</p:attrName>
                                        </p:attrNameLst>
                                      </p:cBhvr>
                                      <p:to>
                                        <p:strVal val="visible"/>
                                      </p:to>
                                    </p:set>
                                    <p:animEffect transition="in" filter="wipe(left)">
                                      <p:cBhvr>
                                        <p:cTn id="53" dur="500"/>
                                        <p:tgtEl>
                                          <p:spTgt spid="2460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4609"/>
                                        </p:tgtEl>
                                        <p:attrNameLst>
                                          <p:attrName>style.visibility</p:attrName>
                                        </p:attrNameLst>
                                      </p:cBhvr>
                                      <p:to>
                                        <p:strVal val="visible"/>
                                      </p:to>
                                    </p:set>
                                    <p:animEffect transition="in" filter="wipe(left)">
                                      <p:cBhvr>
                                        <p:cTn id="58" dur="500"/>
                                        <p:tgtEl>
                                          <p:spTgt spid="24609"/>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4611"/>
                                        </p:tgtEl>
                                        <p:attrNameLst>
                                          <p:attrName>style.visibility</p:attrName>
                                        </p:attrNameLst>
                                      </p:cBhvr>
                                      <p:to>
                                        <p:strVal val="visible"/>
                                      </p:to>
                                    </p:set>
                                    <p:animEffect transition="in" filter="wipe(left)">
                                      <p:cBhvr>
                                        <p:cTn id="63" dur="500"/>
                                        <p:tgtEl>
                                          <p:spTgt spid="2461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4605"/>
                                        </p:tgtEl>
                                        <p:attrNameLst>
                                          <p:attrName>style.visibility</p:attrName>
                                        </p:attrNameLst>
                                      </p:cBhvr>
                                      <p:to>
                                        <p:strVal val="visible"/>
                                      </p:to>
                                    </p:set>
                                    <p:animEffect transition="in" filter="wipe(left)">
                                      <p:cBhvr>
                                        <p:cTn id="68" dur="500"/>
                                        <p:tgtEl>
                                          <p:spTgt spid="2460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24612"/>
                                        </p:tgtEl>
                                        <p:attrNameLst>
                                          <p:attrName>style.visibility</p:attrName>
                                        </p:attrNameLst>
                                      </p:cBhvr>
                                      <p:to>
                                        <p:strVal val="visible"/>
                                      </p:to>
                                    </p:set>
                                    <p:animEffect transition="in" filter="wipe(left)">
                                      <p:cBhvr>
                                        <p:cTn id="73" dur="500"/>
                                        <p:tgtEl>
                                          <p:spTgt spid="24612"/>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24616"/>
                                        </p:tgtEl>
                                        <p:attrNameLst>
                                          <p:attrName>style.visibility</p:attrName>
                                        </p:attrNameLst>
                                      </p:cBhvr>
                                      <p:to>
                                        <p:strVal val="visible"/>
                                      </p:to>
                                    </p:set>
                                    <p:animEffect transition="in" filter="wipe(left)">
                                      <p:cBhvr>
                                        <p:cTn id="78" dur="500"/>
                                        <p:tgtEl>
                                          <p:spTgt spid="24616"/>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4619"/>
                                        </p:tgtEl>
                                        <p:attrNameLst>
                                          <p:attrName>style.visibility</p:attrName>
                                        </p:attrNameLst>
                                      </p:cBhvr>
                                      <p:to>
                                        <p:strVal val="visible"/>
                                      </p:to>
                                    </p:set>
                                    <p:animEffect transition="in" filter="wipe(left)">
                                      <p:cBhvr>
                                        <p:cTn id="83" dur="500"/>
                                        <p:tgtEl>
                                          <p:spTgt spid="24619"/>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24617"/>
                                        </p:tgtEl>
                                        <p:attrNameLst>
                                          <p:attrName>style.visibility</p:attrName>
                                        </p:attrNameLst>
                                      </p:cBhvr>
                                      <p:to>
                                        <p:strVal val="visible"/>
                                      </p:to>
                                    </p:set>
                                    <p:animEffect transition="in" filter="wipe(left)">
                                      <p:cBhvr>
                                        <p:cTn id="88" dur="500"/>
                                        <p:tgtEl>
                                          <p:spTgt spid="24617"/>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4620"/>
                                        </p:tgtEl>
                                        <p:attrNameLst>
                                          <p:attrName>style.visibility</p:attrName>
                                        </p:attrNameLst>
                                      </p:cBhvr>
                                      <p:to>
                                        <p:strVal val="visible"/>
                                      </p:to>
                                    </p:set>
                                    <p:animEffect transition="in" filter="wipe(left)">
                                      <p:cBhvr>
                                        <p:cTn id="93" dur="500"/>
                                        <p:tgtEl>
                                          <p:spTgt spid="24620"/>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24618"/>
                                        </p:tgtEl>
                                        <p:attrNameLst>
                                          <p:attrName>style.visibility</p:attrName>
                                        </p:attrNameLst>
                                      </p:cBhvr>
                                      <p:to>
                                        <p:strVal val="visible"/>
                                      </p:to>
                                    </p:set>
                                    <p:animEffect transition="in" filter="wipe(left)">
                                      <p:cBhvr>
                                        <p:cTn id="98" dur="500"/>
                                        <p:tgtEl>
                                          <p:spTgt spid="24618"/>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24621"/>
                                        </p:tgtEl>
                                        <p:attrNameLst>
                                          <p:attrName>style.visibility</p:attrName>
                                        </p:attrNameLst>
                                      </p:cBhvr>
                                      <p:to>
                                        <p:strVal val="visible"/>
                                      </p:to>
                                    </p:set>
                                    <p:animEffect transition="in" filter="wipe(left)">
                                      <p:cBhvr>
                                        <p:cTn id="103" dur="500"/>
                                        <p:tgtEl>
                                          <p:spTgt spid="24621"/>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50"/>
                                        </p:tgtEl>
                                        <p:attrNameLst>
                                          <p:attrName>style.visibility</p:attrName>
                                        </p:attrNameLst>
                                      </p:cBhvr>
                                      <p:to>
                                        <p:strVal val="visible"/>
                                      </p:to>
                                    </p:set>
                                    <p:animEffect transition="in" filter="wipe(left)">
                                      <p:cBhvr>
                                        <p:cTn id="108" dur="500"/>
                                        <p:tgtEl>
                                          <p:spTgt spid="50"/>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52"/>
                                        </p:tgtEl>
                                        <p:attrNameLst>
                                          <p:attrName>style.visibility</p:attrName>
                                        </p:attrNameLst>
                                      </p:cBhvr>
                                      <p:to>
                                        <p:strVal val="visible"/>
                                      </p:to>
                                    </p:set>
                                    <p:animEffect transition="in" filter="wipe(left)">
                                      <p:cBhvr>
                                        <p:cTn id="113" dur="500"/>
                                        <p:tgtEl>
                                          <p:spTgt spid="52"/>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61"/>
                                        </p:tgtEl>
                                        <p:attrNameLst>
                                          <p:attrName>style.visibility</p:attrName>
                                        </p:attrNameLst>
                                      </p:cBhvr>
                                      <p:to>
                                        <p:strVal val="visible"/>
                                      </p:to>
                                    </p:set>
                                    <p:animEffect transition="in" filter="wipe(left)">
                                      <p:cBhvr>
                                        <p:cTn id="118" dur="500"/>
                                        <p:tgtEl>
                                          <p:spTgt spid="61"/>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56"/>
                                        </p:tgtEl>
                                        <p:attrNameLst>
                                          <p:attrName>style.visibility</p:attrName>
                                        </p:attrNameLst>
                                      </p:cBhvr>
                                      <p:to>
                                        <p:strVal val="visible"/>
                                      </p:to>
                                    </p:set>
                                    <p:animEffect transition="in" filter="wipe(left)">
                                      <p:cBhvr>
                                        <p:cTn id="123" dur="500"/>
                                        <p:tgtEl>
                                          <p:spTgt spid="56"/>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57"/>
                                        </p:tgtEl>
                                        <p:attrNameLst>
                                          <p:attrName>style.visibility</p:attrName>
                                        </p:attrNameLst>
                                      </p:cBhvr>
                                      <p:to>
                                        <p:strVal val="visible"/>
                                      </p:to>
                                    </p:set>
                                    <p:animEffect transition="in" filter="wipe(left)">
                                      <p:cBhvr>
                                        <p:cTn id="128" dur="500"/>
                                        <p:tgtEl>
                                          <p:spTgt spid="57"/>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55"/>
                                        </p:tgtEl>
                                        <p:attrNameLst>
                                          <p:attrName>style.visibility</p:attrName>
                                        </p:attrNameLst>
                                      </p:cBhvr>
                                      <p:to>
                                        <p:strVal val="visible"/>
                                      </p:to>
                                    </p:set>
                                    <p:animEffect transition="in" filter="wipe(left)">
                                      <p:cBhvr>
                                        <p:cTn id="133" dur="500"/>
                                        <p:tgtEl>
                                          <p:spTgt spid="55"/>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8" fill="hold" nodeType="clickEffect">
                                  <p:stCondLst>
                                    <p:cond delay="0"/>
                                  </p:stCondLst>
                                  <p:childTnLst>
                                    <p:set>
                                      <p:cBhvr>
                                        <p:cTn id="137" dur="1" fill="hold">
                                          <p:stCondLst>
                                            <p:cond delay="0"/>
                                          </p:stCondLst>
                                        </p:cTn>
                                        <p:tgtEl>
                                          <p:spTgt spid="58"/>
                                        </p:tgtEl>
                                        <p:attrNameLst>
                                          <p:attrName>style.visibility</p:attrName>
                                        </p:attrNameLst>
                                      </p:cBhvr>
                                      <p:to>
                                        <p:strVal val="visible"/>
                                      </p:to>
                                    </p:set>
                                    <p:animEffect transition="in" filter="wipe(left)">
                                      <p:cBhvr>
                                        <p:cTn id="138" dur="500"/>
                                        <p:tgtEl>
                                          <p:spTgt spid="58"/>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4" fill="hold" grpId="0" nodeType="clickEffect">
                                  <p:stCondLst>
                                    <p:cond delay="0"/>
                                  </p:stCondLst>
                                  <p:childTnLst>
                                    <p:set>
                                      <p:cBhvr>
                                        <p:cTn id="142" dur="1" fill="hold">
                                          <p:stCondLst>
                                            <p:cond delay="0"/>
                                          </p:stCondLst>
                                        </p:cTn>
                                        <p:tgtEl>
                                          <p:spTgt spid="59"/>
                                        </p:tgtEl>
                                        <p:attrNameLst>
                                          <p:attrName>style.visibility</p:attrName>
                                        </p:attrNameLst>
                                      </p:cBhvr>
                                      <p:to>
                                        <p:strVal val="visible"/>
                                      </p:to>
                                    </p:set>
                                    <p:animEffect transition="in" filter="wipe(down)">
                                      <p:cBhvr>
                                        <p:cTn id="143" dur="500"/>
                                        <p:tgtEl>
                                          <p:spTgt spid="59"/>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54"/>
                                        </p:tgtEl>
                                        <p:attrNameLst>
                                          <p:attrName>style.visibility</p:attrName>
                                        </p:attrNameLst>
                                      </p:cBhvr>
                                      <p:to>
                                        <p:strVal val="visible"/>
                                      </p:to>
                                    </p:set>
                                    <p:animEffect transition="in" filter="wipe(left)">
                                      <p:cBhvr>
                                        <p:cTn id="148" dur="500"/>
                                        <p:tgtEl>
                                          <p:spTgt spid="54"/>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8" fill="hold" nodeType="clickEffect">
                                  <p:stCondLst>
                                    <p:cond delay="0"/>
                                  </p:stCondLst>
                                  <p:childTnLst>
                                    <p:set>
                                      <p:cBhvr>
                                        <p:cTn id="152" dur="1" fill="hold">
                                          <p:stCondLst>
                                            <p:cond delay="0"/>
                                          </p:stCondLst>
                                        </p:cTn>
                                        <p:tgtEl>
                                          <p:spTgt spid="53"/>
                                        </p:tgtEl>
                                        <p:attrNameLst>
                                          <p:attrName>style.visibility</p:attrName>
                                        </p:attrNameLst>
                                      </p:cBhvr>
                                      <p:to>
                                        <p:strVal val="visible"/>
                                      </p:to>
                                    </p:set>
                                    <p:animEffect transition="in" filter="wipe(left)">
                                      <p:cBhvr>
                                        <p:cTn id="153" dur="500"/>
                                        <p:tgtEl>
                                          <p:spTgt spid="53"/>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2" presetClass="entr" presetSubtype="4" fill="hold" grpId="0" nodeType="clickEffect">
                                  <p:stCondLst>
                                    <p:cond delay="0"/>
                                  </p:stCondLst>
                                  <p:childTnLst>
                                    <p:set>
                                      <p:cBhvr>
                                        <p:cTn id="157" dur="1" fill="hold">
                                          <p:stCondLst>
                                            <p:cond delay="0"/>
                                          </p:stCondLst>
                                        </p:cTn>
                                        <p:tgtEl>
                                          <p:spTgt spid="60"/>
                                        </p:tgtEl>
                                        <p:attrNameLst>
                                          <p:attrName>style.visibility</p:attrName>
                                        </p:attrNameLst>
                                      </p:cBhvr>
                                      <p:to>
                                        <p:strVal val="visible"/>
                                      </p:to>
                                    </p:set>
                                    <p:animEffect transition="in" filter="wipe(down)">
                                      <p:cBhvr>
                                        <p:cTn id="158" dur="500"/>
                                        <p:tgtEl>
                                          <p:spTgt spid="60"/>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22" presetClass="entr" presetSubtype="8" fill="hold" nodeType="clickEffect">
                                  <p:stCondLst>
                                    <p:cond delay="0"/>
                                  </p:stCondLst>
                                  <p:childTnLst>
                                    <p:set>
                                      <p:cBhvr>
                                        <p:cTn id="162" dur="1" fill="hold">
                                          <p:stCondLst>
                                            <p:cond delay="0"/>
                                          </p:stCondLst>
                                        </p:cTn>
                                        <p:tgtEl>
                                          <p:spTgt spid="49"/>
                                        </p:tgtEl>
                                        <p:attrNameLst>
                                          <p:attrName>style.visibility</p:attrName>
                                        </p:attrNameLst>
                                      </p:cBhvr>
                                      <p:to>
                                        <p:strVal val="visible"/>
                                      </p:to>
                                    </p:set>
                                    <p:animEffect transition="in" filter="wipe(left)">
                                      <p:cBhvr>
                                        <p:cTn id="163" dur="500"/>
                                        <p:tgtEl>
                                          <p:spTgt spid="49"/>
                                        </p:tgtEl>
                                      </p:cBhvr>
                                    </p:animEffec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22" presetClass="entr" presetSubtype="8" fill="hold" grpId="0" nodeType="clickEffect">
                                  <p:stCondLst>
                                    <p:cond delay="0"/>
                                  </p:stCondLst>
                                  <p:childTnLst>
                                    <p:set>
                                      <p:cBhvr>
                                        <p:cTn id="167" dur="1" fill="hold">
                                          <p:stCondLst>
                                            <p:cond delay="0"/>
                                          </p:stCondLst>
                                        </p:cTn>
                                        <p:tgtEl>
                                          <p:spTgt spid="51"/>
                                        </p:tgtEl>
                                        <p:attrNameLst>
                                          <p:attrName>style.visibility</p:attrName>
                                        </p:attrNameLst>
                                      </p:cBhvr>
                                      <p:to>
                                        <p:strVal val="visible"/>
                                      </p:to>
                                    </p:set>
                                    <p:animEffect transition="in" filter="wipe(left)">
                                      <p:cBhvr>
                                        <p:cTn id="168" dur="500"/>
                                        <p:tgtEl>
                                          <p:spTgt spid="51"/>
                                        </p:tgtEl>
                                      </p:cBhvr>
                                    </p:animEffect>
                                  </p:childTnLst>
                                </p:cTn>
                              </p:par>
                            </p:childTnLst>
                          </p:cTn>
                        </p:par>
                      </p:childTnLst>
                    </p:cTn>
                  </p:par>
                  <p:par>
                    <p:cTn id="169" fill="hold" nodeType="clickPar">
                      <p:stCondLst>
                        <p:cond delay="indefinite"/>
                      </p:stCondLst>
                      <p:childTnLst>
                        <p:par>
                          <p:cTn id="170" fill="hold" nodeType="withGroup">
                            <p:stCondLst>
                              <p:cond delay="0"/>
                            </p:stCondLst>
                            <p:childTnLst>
                              <p:par>
                                <p:cTn id="171" presetID="22" presetClass="entr" presetSubtype="8" fill="hold" nodeType="clickEffect">
                                  <p:stCondLst>
                                    <p:cond delay="0"/>
                                  </p:stCondLst>
                                  <p:childTnLst>
                                    <p:set>
                                      <p:cBhvr>
                                        <p:cTn id="172" dur="1" fill="hold">
                                          <p:stCondLst>
                                            <p:cond delay="0"/>
                                          </p:stCondLst>
                                        </p:cTn>
                                        <p:tgtEl>
                                          <p:spTgt spid="48"/>
                                        </p:tgtEl>
                                        <p:attrNameLst>
                                          <p:attrName>style.visibility</p:attrName>
                                        </p:attrNameLst>
                                      </p:cBhvr>
                                      <p:to>
                                        <p:strVal val="visible"/>
                                      </p:to>
                                    </p:set>
                                    <p:animEffect transition="in" filter="wipe(left)">
                                      <p:cBhvr>
                                        <p:cTn id="17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nimBg="1"/>
      <p:bldP spid="24601" grpId="0" autoUpdateAnimBg="0"/>
      <p:bldP spid="24602" grpId="0" animBg="1"/>
      <p:bldP spid="24603" grpId="0" animBg="1"/>
      <p:bldP spid="24604" grpId="0" autoUpdateAnimBg="0"/>
      <p:bldP spid="24605" grpId="0" autoUpdateAnimBg="0"/>
      <p:bldP spid="24606" grpId="0" animBg="1"/>
      <p:bldP spid="24607" grpId="0" animBg="1"/>
      <p:bldP spid="24608" grpId="0" autoUpdateAnimBg="0"/>
      <p:bldP spid="24609" grpId="0" autoUpdateAnimBg="0"/>
      <p:bldP spid="24610" grpId="0" autoUpdateAnimBg="0"/>
      <p:bldP spid="24611" grpId="0" animBg="1"/>
      <p:bldP spid="24615" grpId="0"/>
      <p:bldP spid="24619" grpId="0"/>
      <p:bldP spid="24620" grpId="0"/>
      <p:bldP spid="24621" grpId="0"/>
      <p:bldP spid="50" grpId="0" autoUpdateAnimBg="0"/>
      <p:bldP spid="51" grpId="0" animBg="1" autoUpdateAnimBg="0"/>
      <p:bldP spid="52" grpId="0" animBg="1"/>
      <p:bldP spid="54" grpId="0" animBg="1"/>
      <p:bldP spid="55" grpId="0" animBg="1"/>
      <p:bldP spid="56" grpId="0" autoUpdateAnimBg="0"/>
      <p:bldP spid="57" grpId="0" autoUpdateAnimBg="0"/>
      <p:bldP spid="59" grpId="0" animBg="1"/>
      <p:bldP spid="60" grpId="0" animBg="1"/>
      <p:bldP spid="6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7629" y="2552773"/>
            <a:ext cx="5206329" cy="8949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4579" name="Rectangle 9"/>
          <p:cNvSpPr>
            <a:spLocks noChangeArrowheads="1"/>
          </p:cNvSpPr>
          <p:nvPr/>
        </p:nvSpPr>
        <p:spPr bwMode="auto">
          <a:xfrm>
            <a:off x="179388" y="611188"/>
            <a:ext cx="7262812"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zh-CN" sz="2400" b="1" dirty="0">
                <a:solidFill>
                  <a:srgbClr val="FFC000"/>
                </a:solidFill>
                <a:latin typeface="Times New Roman" pitchFamily="18" charset="0"/>
                <a:cs typeface="Times New Roman" pitchFamily="18" charset="0"/>
              </a:rPr>
              <a:t>例</a:t>
            </a:r>
            <a:r>
              <a:rPr lang="zh-CN" sz="2400" b="1" dirty="0">
                <a:solidFill>
                  <a:schemeClr val="bg1"/>
                </a:solidFill>
                <a:latin typeface="Times New Roman" pitchFamily="18" charset="0"/>
                <a:cs typeface="Times New Roman" pitchFamily="18" charset="0"/>
              </a:rPr>
              <a:t>：过圆盘边缘与圆盘中心轴平行的轴的转动惯量。</a:t>
            </a:r>
            <a:endParaRPr lang="zh-CN" sz="1100" b="1" dirty="0">
              <a:solidFill>
                <a:schemeClr val="bg1"/>
              </a:solidFill>
            </a:endParaRPr>
          </a:p>
          <a:p>
            <a:pPr eaLnBrk="0" hangingPunct="0"/>
            <a:endParaRPr lang="zh-CN" altLang="zh-CN" dirty="0"/>
          </a:p>
        </p:txBody>
      </p:sp>
      <p:sp>
        <p:nvSpPr>
          <p:cNvPr id="25605" name="Rectangle 10"/>
          <p:cNvSpPr>
            <a:spLocks noChangeArrowheads="1"/>
          </p:cNvSpPr>
          <p:nvPr/>
        </p:nvSpPr>
        <p:spPr bwMode="auto">
          <a:xfrm>
            <a:off x="395288" y="1314450"/>
            <a:ext cx="5667375"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zh-CN" sz="2400" b="1" dirty="0">
                <a:solidFill>
                  <a:schemeClr val="bg1"/>
                </a:solidFill>
                <a:latin typeface="Times New Roman" pitchFamily="18" charset="0"/>
                <a:cs typeface="Times New Roman" pitchFamily="18" charset="0"/>
              </a:rPr>
              <a:t>圆盘对其中心轴的转动惯量为：</a:t>
            </a:r>
            <a:r>
              <a:rPr lang="en-US" altLang="zh-CN" sz="2400" b="1" i="1" dirty="0">
                <a:solidFill>
                  <a:schemeClr val="bg1"/>
                </a:solidFill>
                <a:latin typeface="Times New Roman" pitchFamily="18" charset="0"/>
                <a:cs typeface="Times New Roman" pitchFamily="18" charset="0"/>
              </a:rPr>
              <a:t>MR</a:t>
            </a:r>
            <a:r>
              <a:rPr lang="en-US" altLang="zh-CN" sz="2400" b="1" baseline="30000" dirty="0">
                <a:solidFill>
                  <a:schemeClr val="bg1"/>
                </a:solidFill>
                <a:latin typeface="Times New Roman" pitchFamily="18" charset="0"/>
                <a:cs typeface="Times New Roman" pitchFamily="18" charset="0"/>
              </a:rPr>
              <a:t>2</a:t>
            </a:r>
            <a:r>
              <a:rPr lang="en-US" altLang="zh-CN" sz="2400" b="1" dirty="0">
                <a:solidFill>
                  <a:schemeClr val="bg1"/>
                </a:solidFill>
                <a:latin typeface="Times New Roman" pitchFamily="18" charset="0"/>
                <a:cs typeface="Times New Roman" pitchFamily="18" charset="0"/>
              </a:rPr>
              <a:t>/2</a:t>
            </a:r>
          </a:p>
          <a:p>
            <a:pPr eaLnBrk="0" hangingPunct="0"/>
            <a:r>
              <a:rPr lang="zh-CN" altLang="en-US" sz="2400" b="1" dirty="0">
                <a:solidFill>
                  <a:schemeClr val="bg1"/>
                </a:solidFill>
                <a:latin typeface="Times New Roman" pitchFamily="18" charset="0"/>
                <a:cs typeface="Times New Roman" pitchFamily="18" charset="0"/>
              </a:rPr>
              <a:t>两轴之间的距离为</a:t>
            </a:r>
            <a:r>
              <a:rPr lang="en-US" altLang="zh-CN" sz="2400" b="1" i="1" dirty="0">
                <a:solidFill>
                  <a:schemeClr val="bg1"/>
                </a:solidFill>
                <a:latin typeface="Times New Roman" pitchFamily="18" charset="0"/>
                <a:cs typeface="Times New Roman" pitchFamily="18" charset="0"/>
              </a:rPr>
              <a:t>R</a:t>
            </a:r>
            <a:r>
              <a:rPr lang="zh-CN" altLang="en-US" sz="2400" b="1" dirty="0">
                <a:solidFill>
                  <a:schemeClr val="bg1"/>
                </a:solidFill>
                <a:latin typeface="Times New Roman" pitchFamily="18" charset="0"/>
                <a:cs typeface="Times New Roman" pitchFamily="18" charset="0"/>
              </a:rPr>
              <a:t>，根据平行轴定理：</a:t>
            </a:r>
            <a:endParaRPr lang="zh-CN" altLang="en-US" sz="1100" b="1" dirty="0">
              <a:solidFill>
                <a:schemeClr val="bg1"/>
              </a:solidFill>
            </a:endParaRPr>
          </a:p>
          <a:p>
            <a:pPr eaLnBrk="0" hangingPunct="0"/>
            <a:endParaRPr lang="zh-CN" altLang="en-US" sz="3200" b="1" dirty="0">
              <a:solidFill>
                <a:schemeClr val="bg1"/>
              </a:solidFill>
            </a:endParaRPr>
          </a:p>
        </p:txBody>
      </p:sp>
      <p:sp>
        <p:nvSpPr>
          <p:cNvPr id="25606" name="Rectangle 11"/>
          <p:cNvSpPr>
            <a:spLocks noChangeArrowheads="1"/>
          </p:cNvSpPr>
          <p:nvPr/>
        </p:nvSpPr>
        <p:spPr bwMode="auto">
          <a:xfrm>
            <a:off x="827584" y="4709065"/>
            <a:ext cx="757450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zh-CN" altLang="en-US" sz="2400" b="1" dirty="0">
                <a:solidFill>
                  <a:schemeClr val="bg1"/>
                </a:solidFill>
                <a:latin typeface="Times New Roman" pitchFamily="18" charset="0"/>
                <a:cs typeface="Times New Roman" pitchFamily="18" charset="0"/>
              </a:rPr>
              <a:t>说明：</a:t>
            </a:r>
            <a:endParaRPr lang="en-US" altLang="zh-CN" sz="2400" b="1" dirty="0">
              <a:solidFill>
                <a:schemeClr val="bg1"/>
              </a:solidFill>
              <a:latin typeface="Times New Roman" pitchFamily="18" charset="0"/>
              <a:cs typeface="Times New Roman" pitchFamily="18" charset="0"/>
            </a:endParaRPr>
          </a:p>
          <a:p>
            <a:pPr eaLnBrk="0" hangingPunct="0"/>
            <a:r>
              <a:rPr lang="en-US" altLang="zh-CN" sz="2400" b="1" dirty="0">
                <a:solidFill>
                  <a:schemeClr val="bg1"/>
                </a:solidFill>
                <a:latin typeface="Times New Roman" pitchFamily="18" charset="0"/>
                <a:cs typeface="Times New Roman" pitchFamily="18" charset="0"/>
              </a:rPr>
              <a:t>1</a:t>
            </a:r>
            <a:r>
              <a:rPr lang="zh-CN" altLang="en-US" sz="2400" b="1" dirty="0">
                <a:solidFill>
                  <a:schemeClr val="bg1"/>
                </a:solidFill>
                <a:latin typeface="Times New Roman" pitchFamily="18" charset="0"/>
                <a:cs typeface="Times New Roman" pitchFamily="18" charset="0"/>
              </a:rPr>
              <a:t>，</a:t>
            </a:r>
            <a:r>
              <a:rPr lang="zh-CN" sz="2400" b="1" dirty="0">
                <a:solidFill>
                  <a:schemeClr val="bg1"/>
                </a:solidFill>
                <a:latin typeface="Times New Roman" pitchFamily="18" charset="0"/>
                <a:cs typeface="Times New Roman" pitchFamily="18" charset="0"/>
              </a:rPr>
              <a:t>这种情况用直接积分比较困难。</a:t>
            </a:r>
            <a:br>
              <a:rPr lang="en-US" altLang="zh-CN" sz="2400" b="1" dirty="0">
                <a:solidFill>
                  <a:schemeClr val="bg1"/>
                </a:solidFill>
                <a:latin typeface="Times New Roman" pitchFamily="18" charset="0"/>
                <a:cs typeface="Times New Roman" pitchFamily="18" charset="0"/>
              </a:rPr>
            </a:br>
            <a:r>
              <a:rPr lang="en-US" altLang="zh-CN" sz="2400" b="1" dirty="0">
                <a:solidFill>
                  <a:schemeClr val="bg1"/>
                </a:solidFill>
                <a:latin typeface="Times New Roman" pitchFamily="18" charset="0"/>
                <a:cs typeface="Times New Roman" pitchFamily="18" charset="0"/>
              </a:rPr>
              <a:t>2</a:t>
            </a:r>
            <a:r>
              <a:rPr lang="zh-CN" altLang="en-US" sz="2400" b="1" dirty="0">
                <a:solidFill>
                  <a:schemeClr val="bg1"/>
                </a:solidFill>
                <a:latin typeface="Times New Roman" pitchFamily="18" charset="0"/>
                <a:cs typeface="Times New Roman" pitchFamily="18" charset="0"/>
              </a:rPr>
              <a:t>，注意不同教材中的表示符号有所差异，此处用的是</a:t>
            </a:r>
            <a:r>
              <a:rPr lang="en-US" altLang="zh-CN" sz="2400" b="1" i="1" dirty="0">
                <a:solidFill>
                  <a:srgbClr val="FF0000"/>
                </a:solidFill>
                <a:latin typeface="Times New Roman" pitchFamily="18" charset="0"/>
                <a:cs typeface="Times New Roman" pitchFamily="18" charset="0"/>
              </a:rPr>
              <a:t>I</a:t>
            </a:r>
            <a:br>
              <a:rPr lang="en-US" altLang="zh-CN" sz="2400" b="1" dirty="0">
                <a:solidFill>
                  <a:schemeClr val="bg1"/>
                </a:solidFill>
                <a:latin typeface="Times New Roman" pitchFamily="18" charset="0"/>
                <a:cs typeface="Times New Roman" pitchFamily="18" charset="0"/>
              </a:rPr>
            </a:br>
            <a:r>
              <a:rPr lang="zh-CN" altLang="en-US" sz="2400" b="1" dirty="0">
                <a:solidFill>
                  <a:schemeClr val="bg1"/>
                </a:solidFill>
                <a:latin typeface="Times New Roman" pitchFamily="18" charset="0"/>
                <a:cs typeface="Times New Roman" pitchFamily="18" charset="0"/>
              </a:rPr>
              <a:t>按照教材则为</a:t>
            </a:r>
            <a:r>
              <a:rPr lang="en-US" altLang="zh-CN" sz="2400" b="1" i="1" dirty="0">
                <a:solidFill>
                  <a:srgbClr val="FF0000"/>
                </a:solidFill>
                <a:latin typeface="Times New Roman" pitchFamily="18" charset="0"/>
                <a:cs typeface="Times New Roman" pitchFamily="18" charset="0"/>
              </a:rPr>
              <a:t>J</a:t>
            </a:r>
            <a:endParaRPr lang="zh-CN" sz="3200" b="1" i="1" dirty="0">
              <a:solidFill>
                <a:srgbClr val="FF0000"/>
              </a:solidFill>
            </a:endParaRPr>
          </a:p>
        </p:txBody>
      </p:sp>
      <p:pic>
        <p:nvPicPr>
          <p:cNvPr id="24582"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388" y="1436688"/>
            <a:ext cx="1714500"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598BDCD0-0364-6E3C-A4F0-E6F3E5903E3B}"/>
              </a:ext>
            </a:extLst>
          </p:cNvPr>
          <p:cNvSpPr txBox="1"/>
          <p:nvPr/>
        </p:nvSpPr>
        <p:spPr>
          <a:xfrm>
            <a:off x="3275856" y="2204864"/>
            <a:ext cx="936104" cy="2014712"/>
          </a:xfrm>
          <a:prstGeom prst="rect">
            <a:avLst/>
          </a:prstGeom>
          <a:noFill/>
          <a:ln>
            <a:solidFill>
              <a:srgbClr val="FF0000"/>
            </a:solidFill>
          </a:ln>
        </p:spPr>
        <p:txBody>
          <a:bodyPr wrap="square" rtlCol="0">
            <a:spAutoFit/>
          </a:bodyPr>
          <a:lstStyle/>
          <a:p>
            <a:endParaRPr lang="zh-CN" altLang="en-US" dirty="0"/>
          </a:p>
        </p:txBody>
      </p:sp>
      <p:sp>
        <p:nvSpPr>
          <p:cNvPr id="3" name="Rectangle 11">
            <a:extLst>
              <a:ext uri="{FF2B5EF4-FFF2-40B4-BE49-F238E27FC236}">
                <a16:creationId xmlns:a16="http://schemas.microsoft.com/office/drawing/2014/main" id="{4D1C9473-CCB8-465C-618C-0475FB884C0D}"/>
              </a:ext>
            </a:extLst>
          </p:cNvPr>
          <p:cNvSpPr>
            <a:spLocks noChangeArrowheads="1"/>
          </p:cNvSpPr>
          <p:nvPr/>
        </p:nvSpPr>
        <p:spPr bwMode="auto">
          <a:xfrm>
            <a:off x="2991939" y="4170640"/>
            <a:ext cx="15039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en-US" altLang="zh-CN" b="1" dirty="0">
                <a:solidFill>
                  <a:schemeClr val="bg1"/>
                </a:solidFill>
                <a:latin typeface="Times New Roman" pitchFamily="18" charset="0"/>
                <a:cs typeface="Times New Roman" pitchFamily="18" charset="0"/>
              </a:rPr>
              <a:t>ppt 22</a:t>
            </a:r>
            <a:r>
              <a:rPr lang="zh-CN" altLang="en-US" b="1" dirty="0">
                <a:solidFill>
                  <a:schemeClr val="bg1"/>
                </a:solidFill>
                <a:latin typeface="Times New Roman" pitchFamily="18" charset="0"/>
                <a:cs typeface="Times New Roman" pitchFamily="18" charset="0"/>
              </a:rPr>
              <a:t>页结论</a:t>
            </a:r>
            <a:endParaRPr lang="zh-CN" b="1" dirty="0">
              <a:solidFill>
                <a:schemeClr val="bg1"/>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60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606"/>
                                        </p:tgtEl>
                                        <p:attrNameLst>
                                          <p:attrName>style.visibility</p:attrName>
                                        </p:attrNameLst>
                                      </p:cBhvr>
                                      <p:to>
                                        <p:strVal val="visible"/>
                                      </p:to>
                                    </p:set>
                                  </p:childTnLst>
                                </p:cTn>
                              </p:par>
                              <p:par>
                                <p:cTn id="11" presetID="1" presetClass="entr" presetSubtype="0" fill="hold" grpId="0" nodeType="withEffect" nodePh="1">
                                  <p:stCondLst>
                                    <p:cond delay="0"/>
                                  </p:stCondLst>
                                  <p:endCondLst>
                                    <p:cond evt="begin" delay="0">
                                      <p:tn val="11"/>
                                    </p:cond>
                                  </p:end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p:bldP spid="25606"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6"/>
          <p:cNvSpPr>
            <a:spLocks noChangeArrowheads="1"/>
          </p:cNvSpPr>
          <p:nvPr/>
        </p:nvSpPr>
        <p:spPr bwMode="auto">
          <a:xfrm>
            <a:off x="215900" y="361950"/>
            <a:ext cx="5435600" cy="2308225"/>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r>
              <a:rPr lang="en-US" altLang="zh-CN" sz="2400" b="1" dirty="0">
                <a:solidFill>
                  <a:srgbClr val="66FFFF"/>
                </a:solidFill>
                <a:latin typeface="Times New Roman" pitchFamily="18" charset="0"/>
              </a:rPr>
              <a:t>2. (</a:t>
            </a:r>
            <a:r>
              <a:rPr lang="zh-CN" altLang="en-US" sz="2400" b="1" dirty="0">
                <a:solidFill>
                  <a:srgbClr val="66FFFF"/>
                </a:solidFill>
                <a:latin typeface="Times New Roman" pitchFamily="18" charset="0"/>
              </a:rPr>
              <a:t>薄板</a:t>
            </a:r>
            <a:r>
              <a:rPr lang="en-US" altLang="zh-CN" sz="2400" b="1" dirty="0">
                <a:solidFill>
                  <a:srgbClr val="66FFFF"/>
                </a:solidFill>
                <a:latin typeface="Times New Roman" pitchFamily="18" charset="0"/>
              </a:rPr>
              <a:t>)</a:t>
            </a:r>
            <a:r>
              <a:rPr lang="zh-CN" altLang="en-US" sz="2400" b="1" dirty="0">
                <a:solidFill>
                  <a:srgbClr val="66FFFF"/>
                </a:solidFill>
                <a:latin typeface="Times New Roman" pitchFamily="18" charset="0"/>
              </a:rPr>
              <a:t>垂直轴定理</a:t>
            </a:r>
            <a:endParaRPr lang="en-US" altLang="zh-CN" sz="2400" b="1" dirty="0">
              <a:solidFill>
                <a:srgbClr val="66FFFF"/>
              </a:solidFill>
              <a:latin typeface="Times New Roman" pitchFamily="18" charset="0"/>
            </a:endParaRPr>
          </a:p>
          <a:p>
            <a:endParaRPr lang="en-US" altLang="zh-CN" sz="2400" b="1" dirty="0">
              <a:solidFill>
                <a:schemeClr val="bg1"/>
              </a:solidFill>
            </a:endParaRPr>
          </a:p>
          <a:p>
            <a:r>
              <a:rPr lang="zh-CN" altLang="zh-CN" sz="2400" b="1" dirty="0">
                <a:solidFill>
                  <a:schemeClr val="bg1"/>
                </a:solidFill>
              </a:rPr>
              <a:t>对于无穷薄的薄板，建立坐标轴</a:t>
            </a:r>
            <a:r>
              <a:rPr lang="en-US" altLang="zh-CN" sz="2400" b="1" dirty="0" err="1">
                <a:solidFill>
                  <a:schemeClr val="bg1"/>
                </a:solidFill>
              </a:rPr>
              <a:t>oxyz</a:t>
            </a:r>
            <a:r>
              <a:rPr lang="zh-CN" altLang="zh-CN" sz="2400" b="1" dirty="0">
                <a:solidFill>
                  <a:schemeClr val="bg1"/>
                </a:solidFill>
              </a:rPr>
              <a:t>，其中</a:t>
            </a:r>
            <a:r>
              <a:rPr lang="en-US" altLang="zh-CN" sz="2400" b="1" dirty="0">
                <a:solidFill>
                  <a:schemeClr val="bg1"/>
                </a:solidFill>
              </a:rPr>
              <a:t>oxy</a:t>
            </a:r>
            <a:r>
              <a:rPr lang="zh-CN" altLang="zh-CN" sz="2400" b="1" dirty="0">
                <a:solidFill>
                  <a:schemeClr val="bg1"/>
                </a:solidFill>
              </a:rPr>
              <a:t>平面在薄板平面内，</a:t>
            </a:r>
            <a:r>
              <a:rPr lang="en-US" altLang="zh-CN" sz="2400" b="1" dirty="0">
                <a:solidFill>
                  <a:schemeClr val="bg1"/>
                </a:solidFill>
              </a:rPr>
              <a:t>z</a:t>
            </a:r>
            <a:r>
              <a:rPr lang="zh-CN" altLang="zh-CN" sz="2400" b="1" dirty="0">
                <a:solidFill>
                  <a:schemeClr val="bg1"/>
                </a:solidFill>
              </a:rPr>
              <a:t>轴与薄板垂直。</a:t>
            </a:r>
          </a:p>
          <a:p>
            <a:pPr eaLnBrk="0" hangingPunct="0"/>
            <a:endParaRPr lang="zh-CN" altLang="en-US" sz="2400" b="1" dirty="0">
              <a:solidFill>
                <a:srgbClr val="66FFFF"/>
              </a:solidFill>
              <a:latin typeface="Times New Roman" pitchFamily="18" charset="0"/>
            </a:endParaRPr>
          </a:p>
        </p:txBody>
      </p:sp>
      <p:graphicFrame>
        <p:nvGraphicFramePr>
          <p:cNvPr id="25607" name="Object 7"/>
          <p:cNvGraphicFramePr>
            <a:graphicFrameLocks/>
          </p:cNvGraphicFramePr>
          <p:nvPr/>
        </p:nvGraphicFramePr>
        <p:xfrm>
          <a:off x="431800" y="2708275"/>
          <a:ext cx="1554163" cy="422275"/>
        </p:xfrm>
        <a:graphic>
          <a:graphicData uri="http://schemas.openxmlformats.org/presentationml/2006/ole">
            <mc:AlternateContent xmlns:mc="http://schemas.openxmlformats.org/markup-compatibility/2006">
              <mc:Choice xmlns:v="urn:schemas-microsoft-com:vml" Requires="v">
                <p:oleObj spid="_x0000_s19493" name="公式" r:id="rId4" imgW="1638271" imgH="380876" progId="Equation.3">
                  <p:embed/>
                </p:oleObj>
              </mc:Choice>
              <mc:Fallback>
                <p:oleObj name="公式" r:id="rId4" imgW="1638271" imgH="380876" progId="Equation.3">
                  <p:embed/>
                  <p:pic>
                    <p:nvPicPr>
                      <p:cNvPr id="0" name="Object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1800" y="2708275"/>
                        <a:ext cx="1554163" cy="42227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4" name="Rectangle 15"/>
          <p:cNvSpPr>
            <a:spLocks noChangeArrowheads="1"/>
          </p:cNvSpPr>
          <p:nvPr/>
        </p:nvSpPr>
        <p:spPr bwMode="auto">
          <a:xfrm>
            <a:off x="842963" y="4462463"/>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900">
                <a:solidFill>
                  <a:srgbClr val="000000"/>
                </a:solidFill>
                <a:latin typeface="Times New Roman" pitchFamily="18" charset="0"/>
              </a:rPr>
              <a:t>  </a:t>
            </a:r>
            <a:endParaRPr lang="en-US" altLang="zh-CN" sz="2400">
              <a:latin typeface="Times New Roman" pitchFamily="18" charset="0"/>
            </a:endParaRPr>
          </a:p>
        </p:txBody>
      </p:sp>
      <p:sp>
        <p:nvSpPr>
          <p:cNvPr id="25616" name="Rectangle 16"/>
          <p:cNvSpPr>
            <a:spLocks noChangeArrowheads="1"/>
          </p:cNvSpPr>
          <p:nvPr/>
        </p:nvSpPr>
        <p:spPr bwMode="auto">
          <a:xfrm>
            <a:off x="431800" y="4293096"/>
            <a:ext cx="4927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400" b="1" dirty="0">
                <a:solidFill>
                  <a:srgbClr val="FFFF00"/>
                </a:solidFill>
                <a:latin typeface="宋体" pitchFamily="2" charset="-122"/>
              </a:rPr>
              <a:t>例如</a:t>
            </a:r>
            <a:r>
              <a:rPr lang="zh-CN" altLang="en-US" sz="2400" b="1" dirty="0">
                <a:solidFill>
                  <a:schemeClr val="bg1"/>
                </a:solidFill>
                <a:latin typeface="宋体" pitchFamily="2" charset="-122"/>
              </a:rPr>
              <a:t>求对圆盘的一条直径的转动惯量</a:t>
            </a:r>
            <a:endParaRPr lang="zh-CN" altLang="en-US" sz="2400" b="1" dirty="0">
              <a:solidFill>
                <a:schemeClr val="bg1"/>
              </a:solidFill>
              <a:latin typeface="Times New Roman" pitchFamily="18" charset="0"/>
            </a:endParaRPr>
          </a:p>
        </p:txBody>
      </p:sp>
      <p:sp>
        <p:nvSpPr>
          <p:cNvPr id="2" name="Rectangle 17"/>
          <p:cNvSpPr>
            <a:spLocks noChangeArrowheads="1"/>
          </p:cNvSpPr>
          <p:nvPr/>
        </p:nvSpPr>
        <p:spPr bwMode="auto">
          <a:xfrm>
            <a:off x="3209925" y="4349750"/>
            <a:ext cx="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endParaRPr lang="zh-CN" altLang="zh-CN" sz="2400" b="1">
              <a:latin typeface="Times New Roman" pitchFamily="18" charset="0"/>
            </a:endParaRPr>
          </a:p>
        </p:txBody>
      </p:sp>
      <p:graphicFrame>
        <p:nvGraphicFramePr>
          <p:cNvPr id="25618" name="Object 18"/>
          <p:cNvGraphicFramePr>
            <a:graphicFrameLocks/>
          </p:cNvGraphicFramePr>
          <p:nvPr>
            <p:extLst>
              <p:ext uri="{D42A27DB-BD31-4B8C-83A1-F6EECF244321}">
                <p14:modId xmlns:p14="http://schemas.microsoft.com/office/powerpoint/2010/main" val="618177929"/>
              </p:ext>
            </p:extLst>
          </p:nvPr>
        </p:nvGraphicFramePr>
        <p:xfrm>
          <a:off x="1217613" y="4653136"/>
          <a:ext cx="1428750" cy="742950"/>
        </p:xfrm>
        <a:graphic>
          <a:graphicData uri="http://schemas.openxmlformats.org/presentationml/2006/ole">
            <mc:AlternateContent xmlns:mc="http://schemas.openxmlformats.org/markup-compatibility/2006">
              <mc:Choice xmlns:v="urn:schemas-microsoft-com:vml" Requires="v">
                <p:oleObj spid="_x0000_s19494" name="Equation" r:id="rId6" imgW="1495472" imgH="733410" progId="Equation.3">
                  <p:embed/>
                </p:oleObj>
              </mc:Choice>
              <mc:Fallback>
                <p:oleObj name="Equation" r:id="rId6" imgW="1495472" imgH="733410" progId="Equation.3">
                  <p:embed/>
                  <p:pic>
                    <p:nvPicPr>
                      <p:cNvPr id="0" name="Object 1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17613" y="4653136"/>
                        <a:ext cx="1428750"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9" name="Object 19"/>
          <p:cNvGraphicFramePr>
            <a:graphicFrameLocks/>
          </p:cNvGraphicFramePr>
          <p:nvPr/>
        </p:nvGraphicFramePr>
        <p:xfrm>
          <a:off x="1225550" y="5421313"/>
          <a:ext cx="1576388" cy="422275"/>
        </p:xfrm>
        <a:graphic>
          <a:graphicData uri="http://schemas.openxmlformats.org/presentationml/2006/ole">
            <mc:AlternateContent xmlns:mc="http://schemas.openxmlformats.org/markup-compatibility/2006">
              <mc:Choice xmlns:v="urn:schemas-microsoft-com:vml" Requires="v">
                <p:oleObj spid="_x0000_s19495" name="Equation" r:id="rId8" imgW="1666885" imgH="380876" progId="Equation.3">
                  <p:embed/>
                </p:oleObj>
              </mc:Choice>
              <mc:Fallback>
                <p:oleObj name="Equation" r:id="rId8" imgW="1666885" imgH="380876" progId="Equation.3">
                  <p:embed/>
                  <p:pic>
                    <p:nvPicPr>
                      <p:cNvPr id="0" name="Object 1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25550" y="5421313"/>
                        <a:ext cx="1576388"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20" name="Object 20"/>
          <p:cNvGraphicFramePr>
            <a:graphicFrameLocks/>
          </p:cNvGraphicFramePr>
          <p:nvPr/>
        </p:nvGraphicFramePr>
        <p:xfrm>
          <a:off x="1217613" y="5962650"/>
          <a:ext cx="971550" cy="422275"/>
        </p:xfrm>
        <a:graphic>
          <a:graphicData uri="http://schemas.openxmlformats.org/presentationml/2006/ole">
            <mc:AlternateContent xmlns:mc="http://schemas.openxmlformats.org/markup-compatibility/2006">
              <mc:Choice xmlns:v="urn:schemas-microsoft-com:vml" Requires="v">
                <p:oleObj spid="_x0000_s19496" name="Equation" r:id="rId10" imgW="990683" imgH="380876" progId="Equation.3">
                  <p:embed/>
                </p:oleObj>
              </mc:Choice>
              <mc:Fallback>
                <p:oleObj name="Equation" r:id="rId10" imgW="990683" imgH="380876" progId="Equation.3">
                  <p:embed/>
                  <p:pic>
                    <p:nvPicPr>
                      <p:cNvPr id="0" name="Object 2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17613" y="5962650"/>
                        <a:ext cx="971550"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21" name="Text Box 21"/>
          <p:cNvSpPr txBox="1">
            <a:spLocks noChangeArrowheads="1"/>
          </p:cNvSpPr>
          <p:nvPr/>
        </p:nvSpPr>
        <p:spPr bwMode="auto">
          <a:xfrm>
            <a:off x="354013" y="4797152"/>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dirty="0">
                <a:solidFill>
                  <a:schemeClr val="bg1"/>
                </a:solidFill>
                <a:latin typeface="Times New Roman" pitchFamily="18" charset="0"/>
              </a:rPr>
              <a:t>已知</a:t>
            </a:r>
          </a:p>
        </p:txBody>
      </p:sp>
      <p:sp>
        <p:nvSpPr>
          <p:cNvPr id="25622" name="AutoShape 22"/>
          <p:cNvSpPr>
            <a:spLocks/>
          </p:cNvSpPr>
          <p:nvPr/>
        </p:nvSpPr>
        <p:spPr bwMode="auto">
          <a:xfrm flipH="1">
            <a:off x="2803525" y="5594350"/>
            <a:ext cx="142875" cy="685800"/>
          </a:xfrm>
          <a:prstGeom prst="leftBrace">
            <a:avLst>
              <a:gd name="adj1" fmla="val 40000"/>
              <a:gd name="adj2" fmla="val 49019"/>
            </a:avLst>
          </a:prstGeom>
          <a:noFill/>
          <a:ln w="25400">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b="1">
              <a:solidFill>
                <a:schemeClr val="bg1"/>
              </a:solidFill>
              <a:latin typeface="Times New Roman" pitchFamily="18" charset="0"/>
            </a:endParaRPr>
          </a:p>
        </p:txBody>
      </p:sp>
      <p:graphicFrame>
        <p:nvGraphicFramePr>
          <p:cNvPr id="25623" name="Object 23"/>
          <p:cNvGraphicFramePr>
            <a:graphicFrameLocks/>
          </p:cNvGraphicFramePr>
          <p:nvPr/>
        </p:nvGraphicFramePr>
        <p:xfrm>
          <a:off x="3025775" y="5530850"/>
          <a:ext cx="2079625" cy="742950"/>
        </p:xfrm>
        <a:graphic>
          <a:graphicData uri="http://schemas.openxmlformats.org/presentationml/2006/ole">
            <mc:AlternateContent xmlns:mc="http://schemas.openxmlformats.org/markup-compatibility/2006">
              <mc:Choice xmlns:v="urn:schemas-microsoft-com:vml" Requires="v">
                <p:oleObj spid="_x0000_s19497" name="Equation" r:id="rId12" imgW="2219454" imgH="733410" progId="Equation.3">
                  <p:embed/>
                </p:oleObj>
              </mc:Choice>
              <mc:Fallback>
                <p:oleObj name="Equation" r:id="rId12" imgW="2219454" imgH="733410" progId="Equation.3">
                  <p:embed/>
                  <p:pic>
                    <p:nvPicPr>
                      <p:cNvPr id="0" name="Object 23"/>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25775" y="5530850"/>
                        <a:ext cx="2079625"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5624" name="Group 24"/>
          <p:cNvGrpSpPr>
            <a:grpSpLocks/>
          </p:cNvGrpSpPr>
          <p:nvPr/>
        </p:nvGrpSpPr>
        <p:grpSpPr bwMode="auto">
          <a:xfrm>
            <a:off x="5957888" y="4256088"/>
            <a:ext cx="2682875" cy="2024062"/>
            <a:chOff x="3742" y="2886"/>
            <a:chExt cx="1689" cy="1275"/>
          </a:xfrm>
        </p:grpSpPr>
        <p:sp>
          <p:nvSpPr>
            <p:cNvPr id="25626" name="Text Box 25"/>
            <p:cNvSpPr txBox="1">
              <a:spLocks noChangeArrowheads="1"/>
            </p:cNvSpPr>
            <p:nvPr/>
          </p:nvSpPr>
          <p:spPr bwMode="auto">
            <a:xfrm>
              <a:off x="5128" y="3543"/>
              <a:ext cx="30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latin typeface="Times New Roman" pitchFamily="18" charset="0"/>
                </a:rPr>
                <a:t> </a:t>
              </a:r>
              <a:r>
                <a:rPr lang="en-US" altLang="zh-CN" sz="2400" i="1">
                  <a:solidFill>
                    <a:srgbClr val="FFFF00"/>
                  </a:solidFill>
                  <a:latin typeface="Times New Roman" pitchFamily="18" charset="0"/>
                </a:rPr>
                <a:t>y</a:t>
              </a:r>
              <a:endParaRPr lang="en-US" altLang="zh-CN" sz="2400" i="1" baseline="-25000">
                <a:solidFill>
                  <a:srgbClr val="FFFF00"/>
                </a:solidFill>
                <a:latin typeface="Times New Roman" pitchFamily="18" charset="0"/>
              </a:endParaRPr>
            </a:p>
          </p:txBody>
        </p:sp>
        <p:sp>
          <p:nvSpPr>
            <p:cNvPr id="25627" name="Oval 26"/>
            <p:cNvSpPr>
              <a:spLocks noChangeArrowheads="1"/>
            </p:cNvSpPr>
            <p:nvPr/>
          </p:nvSpPr>
          <p:spPr bwMode="auto">
            <a:xfrm>
              <a:off x="3892" y="3203"/>
              <a:ext cx="1107" cy="821"/>
            </a:xfrm>
            <a:prstGeom prst="ellipse">
              <a:avLst/>
            </a:prstGeom>
            <a:solidFill>
              <a:srgbClr val="FF6600"/>
            </a:solidFill>
            <a:ln>
              <a:noFill/>
            </a:ln>
            <a:extLst>
              <a:ext uri="{91240B29-F687-4F45-9708-019B960494DF}">
                <a14:hiddenLine xmlns:a14="http://schemas.microsoft.com/office/drawing/2010/main" w="12700">
                  <a:solidFill>
                    <a:schemeClr val="tx1"/>
                  </a:solidFill>
                  <a:round/>
                  <a:headEnd/>
                  <a:tailEnd/>
                </a14:hiddenLine>
              </a:ext>
            </a:extLst>
          </p:spPr>
          <p:txBody>
            <a:bodyPr/>
            <a:lstStyle/>
            <a:p>
              <a:pPr eaLnBrk="0" hangingPunct="0"/>
              <a:endParaRPr lang="zh-CN" altLang="zh-CN" sz="2400" b="1">
                <a:latin typeface="Times New Roman" pitchFamily="18" charset="0"/>
              </a:endParaRPr>
            </a:p>
          </p:txBody>
        </p:sp>
        <p:sp>
          <p:nvSpPr>
            <p:cNvPr id="25628" name="Oval 27"/>
            <p:cNvSpPr>
              <a:spLocks noChangeArrowheads="1"/>
            </p:cNvSpPr>
            <p:nvPr/>
          </p:nvSpPr>
          <p:spPr bwMode="auto">
            <a:xfrm>
              <a:off x="3892" y="3155"/>
              <a:ext cx="1107" cy="82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5629" name="Line 28"/>
            <p:cNvSpPr>
              <a:spLocks noChangeShapeType="1"/>
            </p:cNvSpPr>
            <p:nvPr/>
          </p:nvSpPr>
          <p:spPr bwMode="auto">
            <a:xfrm flipH="1" flipV="1">
              <a:off x="4433" y="3047"/>
              <a:ext cx="2" cy="545"/>
            </a:xfrm>
            <a:prstGeom prst="line">
              <a:avLst/>
            </a:prstGeom>
            <a:noFill/>
            <a:ln w="28575">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5630" name="Line 29"/>
            <p:cNvSpPr>
              <a:spLocks noChangeShapeType="1"/>
            </p:cNvSpPr>
            <p:nvPr/>
          </p:nvSpPr>
          <p:spPr bwMode="auto">
            <a:xfrm>
              <a:off x="4439" y="3592"/>
              <a:ext cx="708" cy="0"/>
            </a:xfrm>
            <a:prstGeom prst="line">
              <a:avLst/>
            </a:prstGeom>
            <a:noFill/>
            <a:ln w="28575">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5631" name="Text Box 30"/>
            <p:cNvSpPr txBox="1">
              <a:spLocks noChangeArrowheads="1"/>
            </p:cNvSpPr>
            <p:nvPr/>
          </p:nvSpPr>
          <p:spPr bwMode="auto">
            <a:xfrm>
              <a:off x="3742" y="3773"/>
              <a:ext cx="237"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x</a:t>
              </a:r>
            </a:p>
          </p:txBody>
        </p:sp>
        <p:sp>
          <p:nvSpPr>
            <p:cNvPr id="25632" name="Text Box 31"/>
            <p:cNvSpPr txBox="1">
              <a:spLocks noChangeArrowheads="1"/>
            </p:cNvSpPr>
            <p:nvPr/>
          </p:nvSpPr>
          <p:spPr bwMode="auto">
            <a:xfrm>
              <a:off x="4148" y="2886"/>
              <a:ext cx="27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latin typeface="Times New Roman" pitchFamily="18" charset="0"/>
                </a:rPr>
                <a:t> </a:t>
              </a:r>
              <a:r>
                <a:rPr lang="en-US" altLang="zh-CN" sz="2400" b="1" i="1">
                  <a:solidFill>
                    <a:srgbClr val="FFFF00"/>
                  </a:solidFill>
                  <a:latin typeface="Times New Roman" pitchFamily="18" charset="0"/>
                </a:rPr>
                <a:t>z</a:t>
              </a:r>
            </a:p>
          </p:txBody>
        </p:sp>
        <p:sp>
          <p:nvSpPr>
            <p:cNvPr id="25633" name="Line 32"/>
            <p:cNvSpPr>
              <a:spLocks noChangeShapeType="1"/>
            </p:cNvSpPr>
            <p:nvPr/>
          </p:nvSpPr>
          <p:spPr bwMode="auto">
            <a:xfrm flipH="1">
              <a:off x="3934" y="3583"/>
              <a:ext cx="509" cy="417"/>
            </a:xfrm>
            <a:prstGeom prst="line">
              <a:avLst/>
            </a:prstGeom>
            <a:noFill/>
            <a:ln w="28575">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5634" name="Line 33"/>
            <p:cNvSpPr>
              <a:spLocks noChangeShapeType="1"/>
            </p:cNvSpPr>
            <p:nvPr/>
          </p:nvSpPr>
          <p:spPr bwMode="auto">
            <a:xfrm>
              <a:off x="4434" y="3590"/>
              <a:ext cx="260" cy="34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5" name="Text Box 34"/>
            <p:cNvSpPr txBox="1">
              <a:spLocks noChangeArrowheads="1"/>
            </p:cNvSpPr>
            <p:nvPr/>
          </p:nvSpPr>
          <p:spPr bwMode="auto">
            <a:xfrm>
              <a:off x="4375" y="3251"/>
              <a:ext cx="62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000000"/>
                  </a:solidFill>
                  <a:latin typeface="Times New Roman" pitchFamily="18" charset="0"/>
                </a:rPr>
                <a:t> </a:t>
              </a:r>
              <a:r>
                <a:rPr lang="zh-CN" altLang="en-US" sz="2400" b="1">
                  <a:solidFill>
                    <a:srgbClr val="000000"/>
                  </a:solidFill>
                  <a:latin typeface="Times New Roman" pitchFamily="18" charset="0"/>
                </a:rPr>
                <a:t>圆盘</a:t>
              </a:r>
              <a:endParaRPr lang="zh-CN" altLang="en-US" sz="2400" b="1" baseline="-25000">
                <a:solidFill>
                  <a:srgbClr val="000000"/>
                </a:solidFill>
                <a:latin typeface="Times New Roman" pitchFamily="18" charset="0"/>
              </a:endParaRPr>
            </a:p>
          </p:txBody>
        </p:sp>
        <p:sp>
          <p:nvSpPr>
            <p:cNvPr id="25636" name="Text Box 35"/>
            <p:cNvSpPr txBox="1">
              <a:spLocks noChangeArrowheads="1"/>
            </p:cNvSpPr>
            <p:nvPr/>
          </p:nvSpPr>
          <p:spPr bwMode="auto">
            <a:xfrm>
              <a:off x="4291" y="3673"/>
              <a:ext cx="420"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000000"/>
                  </a:solidFill>
                  <a:latin typeface="Times New Roman" pitchFamily="18" charset="0"/>
                </a:rPr>
                <a:t> </a:t>
              </a:r>
              <a:r>
                <a:rPr lang="en-US" altLang="zh-CN" sz="2400" i="1">
                  <a:solidFill>
                    <a:srgbClr val="000000"/>
                  </a:solidFill>
                  <a:latin typeface="Times New Roman" pitchFamily="18" charset="0"/>
                </a:rPr>
                <a:t>R</a:t>
              </a:r>
              <a:endParaRPr lang="en-US" altLang="zh-CN" sz="2400" i="1" baseline="-25000">
                <a:solidFill>
                  <a:srgbClr val="000000"/>
                </a:solidFill>
                <a:latin typeface="Times New Roman" pitchFamily="18" charset="0"/>
              </a:endParaRPr>
            </a:p>
          </p:txBody>
        </p:sp>
        <p:sp>
          <p:nvSpPr>
            <p:cNvPr id="25637" name="Text Box 36"/>
            <p:cNvSpPr txBox="1">
              <a:spLocks noChangeArrowheads="1"/>
            </p:cNvSpPr>
            <p:nvPr/>
          </p:nvSpPr>
          <p:spPr bwMode="auto">
            <a:xfrm>
              <a:off x="4087" y="3384"/>
              <a:ext cx="621"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FF0000"/>
                  </a:solidFill>
                  <a:latin typeface="Times New Roman" pitchFamily="18" charset="0"/>
                </a:rPr>
                <a:t> </a:t>
              </a:r>
              <a:r>
                <a:rPr lang="en-US" altLang="zh-CN" sz="2400">
                  <a:solidFill>
                    <a:srgbClr val="FF0000"/>
                  </a:solidFill>
                  <a:latin typeface="Times New Roman" pitchFamily="18" charset="0"/>
                </a:rPr>
                <a:t>C</a:t>
              </a:r>
              <a:endParaRPr lang="en-US" altLang="zh-CN" sz="2400" baseline="-25000">
                <a:solidFill>
                  <a:srgbClr val="FF0000"/>
                </a:solidFill>
                <a:latin typeface="Times New Roman" pitchFamily="18" charset="0"/>
              </a:endParaRPr>
            </a:p>
          </p:txBody>
        </p:sp>
        <p:sp>
          <p:nvSpPr>
            <p:cNvPr id="3" name="Text Box 37"/>
            <p:cNvSpPr txBox="1">
              <a:spLocks noChangeArrowheads="1"/>
            </p:cNvSpPr>
            <p:nvPr/>
          </p:nvSpPr>
          <p:spPr bwMode="auto">
            <a:xfrm>
              <a:off x="4615" y="2933"/>
              <a:ext cx="35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latin typeface="Times New Roman" pitchFamily="18" charset="0"/>
                </a:rPr>
                <a:t> </a:t>
              </a:r>
              <a:r>
                <a:rPr lang="en-US" altLang="zh-CN" sz="2400" i="1">
                  <a:solidFill>
                    <a:srgbClr val="FFFF00"/>
                  </a:solidFill>
                  <a:latin typeface="Times New Roman" pitchFamily="18" charset="0"/>
                </a:rPr>
                <a:t>m</a:t>
              </a:r>
              <a:endParaRPr lang="en-US" altLang="zh-CN" sz="2400" i="1" baseline="-25000">
                <a:solidFill>
                  <a:srgbClr val="FFFF00"/>
                </a:solidFill>
                <a:latin typeface="Times New Roman" pitchFamily="18" charset="0"/>
              </a:endParaRPr>
            </a:p>
          </p:txBody>
        </p:sp>
      </p:grpSp>
      <p:sp>
        <p:nvSpPr>
          <p:cNvPr id="25638" name="Rectangle 38"/>
          <p:cNvSpPr>
            <a:spLocks noChangeArrowheads="1"/>
          </p:cNvSpPr>
          <p:nvPr/>
        </p:nvSpPr>
        <p:spPr bwMode="auto">
          <a:xfrm>
            <a:off x="3083483" y="2186431"/>
            <a:ext cx="5844617" cy="1986313"/>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0" hangingPunct="0">
              <a:lnSpc>
                <a:spcPct val="105000"/>
              </a:lnSpc>
            </a:pPr>
            <a:r>
              <a:rPr lang="zh-CN" altLang="en-US" sz="2400" b="1" dirty="0">
                <a:solidFill>
                  <a:schemeClr val="bg1"/>
                </a:solidFill>
                <a:latin typeface="宋体" pitchFamily="2" charset="-122"/>
              </a:rPr>
              <a:t>说明：</a:t>
            </a:r>
            <a:endParaRPr lang="en-US" altLang="zh-CN" sz="2400" b="1" dirty="0">
              <a:solidFill>
                <a:schemeClr val="bg1"/>
              </a:solidFill>
              <a:latin typeface="宋体" pitchFamily="2" charset="-122"/>
            </a:endParaRPr>
          </a:p>
          <a:p>
            <a:pPr eaLnBrk="0" hangingPunct="0">
              <a:lnSpc>
                <a:spcPct val="105000"/>
              </a:lnSpc>
            </a:pPr>
            <a:r>
              <a:rPr lang="en-US" altLang="zh-CN" sz="2400" b="1" dirty="0">
                <a:solidFill>
                  <a:schemeClr val="bg1"/>
                </a:solidFill>
                <a:latin typeface="宋体" pitchFamily="2" charset="-122"/>
              </a:rPr>
              <a:t>1</a:t>
            </a:r>
            <a:r>
              <a:rPr lang="zh-CN" altLang="en-US" sz="2400" b="1" dirty="0">
                <a:solidFill>
                  <a:schemeClr val="bg1"/>
                </a:solidFill>
                <a:latin typeface="宋体" pitchFamily="2" charset="-122"/>
              </a:rPr>
              <a:t>，薄板；</a:t>
            </a:r>
            <a:endParaRPr lang="en-US" altLang="zh-CN" sz="2400" b="1" i="1" dirty="0">
              <a:solidFill>
                <a:srgbClr val="66FFFF"/>
              </a:solidFill>
              <a:latin typeface="Times New Roman" pitchFamily="18" charset="0"/>
            </a:endParaRPr>
          </a:p>
          <a:p>
            <a:pPr eaLnBrk="0" hangingPunct="0">
              <a:lnSpc>
                <a:spcPct val="105000"/>
              </a:lnSpc>
            </a:pPr>
            <a:r>
              <a:rPr lang="en-US" altLang="zh-CN" sz="2400" b="1" dirty="0">
                <a:solidFill>
                  <a:schemeClr val="bg1"/>
                </a:solidFill>
                <a:latin typeface="宋体" pitchFamily="2" charset="-122"/>
              </a:rPr>
              <a:t>2</a:t>
            </a:r>
            <a:r>
              <a:rPr lang="zh-CN" altLang="en-US" sz="2400" b="1" dirty="0">
                <a:solidFill>
                  <a:schemeClr val="bg1"/>
                </a:solidFill>
                <a:latin typeface="宋体" pitchFamily="2" charset="-122"/>
              </a:rPr>
              <a:t>，</a:t>
            </a:r>
            <a:r>
              <a:rPr lang="en-US" altLang="zh-CN" sz="2400" b="1" i="1" dirty="0" err="1">
                <a:solidFill>
                  <a:srgbClr val="66FFFF"/>
                </a:solidFill>
                <a:latin typeface="Times New Roman" pitchFamily="18" charset="0"/>
              </a:rPr>
              <a:t>x,y</a:t>
            </a:r>
            <a:r>
              <a:rPr lang="zh-CN" altLang="en-US" sz="2400" b="1" dirty="0">
                <a:solidFill>
                  <a:schemeClr val="bg1"/>
                </a:solidFill>
                <a:latin typeface="宋体" pitchFamily="2" charset="-122"/>
              </a:rPr>
              <a:t>轴在薄板内，</a:t>
            </a:r>
            <a:r>
              <a:rPr lang="en-US" altLang="zh-CN" sz="2400" b="1" i="1" dirty="0" err="1">
                <a:solidFill>
                  <a:srgbClr val="66FFFF"/>
                </a:solidFill>
                <a:latin typeface="Times New Roman" pitchFamily="18" charset="0"/>
              </a:rPr>
              <a:t>x,y,z</a:t>
            </a:r>
            <a:r>
              <a:rPr lang="zh-CN" altLang="en-US" sz="2400" b="1" dirty="0">
                <a:solidFill>
                  <a:schemeClr val="bg1"/>
                </a:solidFill>
                <a:latin typeface="宋体" pitchFamily="2" charset="-122"/>
              </a:rPr>
              <a:t>轴两两垂直；</a:t>
            </a:r>
          </a:p>
          <a:p>
            <a:pPr eaLnBrk="0" hangingPunct="0">
              <a:lnSpc>
                <a:spcPct val="105000"/>
              </a:lnSpc>
            </a:pPr>
            <a:r>
              <a:rPr lang="en-US" altLang="zh-CN" sz="2400" b="1" dirty="0">
                <a:solidFill>
                  <a:schemeClr val="bg1"/>
                </a:solidFill>
                <a:latin typeface="宋体" pitchFamily="2" charset="-122"/>
              </a:rPr>
              <a:t>3</a:t>
            </a:r>
            <a:r>
              <a:rPr lang="zh-CN" altLang="en-US" sz="2400" b="1" dirty="0">
                <a:solidFill>
                  <a:schemeClr val="bg1"/>
                </a:solidFill>
                <a:latin typeface="宋体" pitchFamily="2" charset="-122"/>
              </a:rPr>
              <a:t>，通常原点位于刚体的质心，否则用平行轴定理变换。</a:t>
            </a:r>
          </a:p>
        </p:txBody>
      </p:sp>
      <p:grpSp>
        <p:nvGrpSpPr>
          <p:cNvPr id="25641" name="Group 41"/>
          <p:cNvGrpSpPr>
            <a:grpSpLocks/>
          </p:cNvGrpSpPr>
          <p:nvPr/>
        </p:nvGrpSpPr>
        <p:grpSpPr bwMode="auto">
          <a:xfrm>
            <a:off x="5888038" y="454025"/>
            <a:ext cx="2667000" cy="2405063"/>
            <a:chOff x="3742" y="1343"/>
            <a:chExt cx="1680" cy="1515"/>
          </a:xfrm>
        </p:grpSpPr>
        <p:sp>
          <p:nvSpPr>
            <p:cNvPr id="4" name="Line 42"/>
            <p:cNvSpPr>
              <a:spLocks noChangeShapeType="1"/>
            </p:cNvSpPr>
            <p:nvPr/>
          </p:nvSpPr>
          <p:spPr bwMode="auto">
            <a:xfrm>
              <a:off x="3774" y="2176"/>
              <a:ext cx="4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7" name="Freeform 43"/>
            <p:cNvSpPr>
              <a:spLocks/>
            </p:cNvSpPr>
            <p:nvPr/>
          </p:nvSpPr>
          <p:spPr bwMode="auto">
            <a:xfrm>
              <a:off x="3742" y="1880"/>
              <a:ext cx="1680" cy="912"/>
            </a:xfrm>
            <a:custGeom>
              <a:avLst/>
              <a:gdLst>
                <a:gd name="T0" fmla="*/ 4 w 1896"/>
                <a:gd name="T1" fmla="*/ 143 h 984"/>
                <a:gd name="T2" fmla="*/ 31 w 1896"/>
                <a:gd name="T3" fmla="*/ 255 h 984"/>
                <a:gd name="T4" fmla="*/ 74 w 1896"/>
                <a:gd name="T5" fmla="*/ 323 h 984"/>
                <a:gd name="T6" fmla="*/ 103 w 1896"/>
                <a:gd name="T7" fmla="*/ 368 h 984"/>
                <a:gd name="T8" fmla="*/ 203 w 1896"/>
                <a:gd name="T9" fmla="*/ 412 h 984"/>
                <a:gd name="T10" fmla="*/ 274 w 1896"/>
                <a:gd name="T11" fmla="*/ 435 h 984"/>
                <a:gd name="T12" fmla="*/ 333 w 1896"/>
                <a:gd name="T13" fmla="*/ 457 h 984"/>
                <a:gd name="T14" fmla="*/ 389 w 1896"/>
                <a:gd name="T15" fmla="*/ 457 h 984"/>
                <a:gd name="T16" fmla="*/ 447 w 1896"/>
                <a:gd name="T17" fmla="*/ 435 h 984"/>
                <a:gd name="T18" fmla="*/ 475 w 1896"/>
                <a:gd name="T19" fmla="*/ 388 h 984"/>
                <a:gd name="T20" fmla="*/ 504 w 1896"/>
                <a:gd name="T21" fmla="*/ 344 h 984"/>
                <a:gd name="T22" fmla="*/ 533 w 1896"/>
                <a:gd name="T23" fmla="*/ 299 h 984"/>
                <a:gd name="T24" fmla="*/ 547 w 1896"/>
                <a:gd name="T25" fmla="*/ 255 h 984"/>
                <a:gd name="T26" fmla="*/ 561 w 1896"/>
                <a:gd name="T27" fmla="*/ 210 h 984"/>
                <a:gd name="T28" fmla="*/ 561 w 1896"/>
                <a:gd name="T29" fmla="*/ 187 h 984"/>
                <a:gd name="T30" fmla="*/ 561 w 1896"/>
                <a:gd name="T31" fmla="*/ 143 h 984"/>
                <a:gd name="T32" fmla="*/ 533 w 1896"/>
                <a:gd name="T33" fmla="*/ 98 h 984"/>
                <a:gd name="T34" fmla="*/ 504 w 1896"/>
                <a:gd name="T35" fmla="*/ 75 h 984"/>
                <a:gd name="T36" fmla="*/ 461 w 1896"/>
                <a:gd name="T37" fmla="*/ 52 h 984"/>
                <a:gd name="T38" fmla="*/ 376 w 1896"/>
                <a:gd name="T39" fmla="*/ 6 h 984"/>
                <a:gd name="T40" fmla="*/ 246 w 1896"/>
                <a:gd name="T41" fmla="*/ 6 h 984"/>
                <a:gd name="T42" fmla="*/ 145 w 1896"/>
                <a:gd name="T43" fmla="*/ 6 h 984"/>
                <a:gd name="T44" fmla="*/ 45 w 1896"/>
                <a:gd name="T45" fmla="*/ 52 h 984"/>
                <a:gd name="T46" fmla="*/ 17 w 1896"/>
                <a:gd name="T47" fmla="*/ 98 h 984"/>
                <a:gd name="T48" fmla="*/ 4 w 1896"/>
                <a:gd name="T49" fmla="*/ 143 h 98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896" h="984">
                  <a:moveTo>
                    <a:pt x="8" y="304"/>
                  </a:moveTo>
                  <a:cubicBezTo>
                    <a:pt x="16" y="360"/>
                    <a:pt x="64" y="480"/>
                    <a:pt x="104" y="544"/>
                  </a:cubicBezTo>
                  <a:cubicBezTo>
                    <a:pt x="144" y="608"/>
                    <a:pt x="208" y="648"/>
                    <a:pt x="248" y="688"/>
                  </a:cubicBezTo>
                  <a:cubicBezTo>
                    <a:pt x="288" y="728"/>
                    <a:pt x="272" y="752"/>
                    <a:pt x="344" y="784"/>
                  </a:cubicBezTo>
                  <a:cubicBezTo>
                    <a:pt x="416" y="816"/>
                    <a:pt x="584" y="856"/>
                    <a:pt x="680" y="880"/>
                  </a:cubicBezTo>
                  <a:cubicBezTo>
                    <a:pt x="776" y="904"/>
                    <a:pt x="848" y="912"/>
                    <a:pt x="920" y="928"/>
                  </a:cubicBezTo>
                  <a:cubicBezTo>
                    <a:pt x="992" y="944"/>
                    <a:pt x="1048" y="968"/>
                    <a:pt x="1112" y="976"/>
                  </a:cubicBezTo>
                  <a:cubicBezTo>
                    <a:pt x="1176" y="984"/>
                    <a:pt x="1240" y="984"/>
                    <a:pt x="1304" y="976"/>
                  </a:cubicBezTo>
                  <a:cubicBezTo>
                    <a:pt x="1368" y="968"/>
                    <a:pt x="1448" y="952"/>
                    <a:pt x="1496" y="928"/>
                  </a:cubicBezTo>
                  <a:cubicBezTo>
                    <a:pt x="1544" y="904"/>
                    <a:pt x="1560" y="864"/>
                    <a:pt x="1592" y="832"/>
                  </a:cubicBezTo>
                  <a:cubicBezTo>
                    <a:pt x="1624" y="800"/>
                    <a:pt x="1656" y="768"/>
                    <a:pt x="1688" y="736"/>
                  </a:cubicBezTo>
                  <a:cubicBezTo>
                    <a:pt x="1720" y="704"/>
                    <a:pt x="1760" y="672"/>
                    <a:pt x="1784" y="640"/>
                  </a:cubicBezTo>
                  <a:cubicBezTo>
                    <a:pt x="1808" y="608"/>
                    <a:pt x="1816" y="576"/>
                    <a:pt x="1832" y="544"/>
                  </a:cubicBezTo>
                  <a:cubicBezTo>
                    <a:pt x="1848" y="512"/>
                    <a:pt x="1872" y="472"/>
                    <a:pt x="1880" y="448"/>
                  </a:cubicBezTo>
                  <a:cubicBezTo>
                    <a:pt x="1888" y="424"/>
                    <a:pt x="1880" y="424"/>
                    <a:pt x="1880" y="400"/>
                  </a:cubicBezTo>
                  <a:cubicBezTo>
                    <a:pt x="1880" y="376"/>
                    <a:pt x="1896" y="336"/>
                    <a:pt x="1880" y="304"/>
                  </a:cubicBezTo>
                  <a:cubicBezTo>
                    <a:pt x="1864" y="272"/>
                    <a:pt x="1816" y="232"/>
                    <a:pt x="1784" y="208"/>
                  </a:cubicBezTo>
                  <a:cubicBezTo>
                    <a:pt x="1752" y="184"/>
                    <a:pt x="1728" y="176"/>
                    <a:pt x="1688" y="160"/>
                  </a:cubicBezTo>
                  <a:cubicBezTo>
                    <a:pt x="1648" y="144"/>
                    <a:pt x="1616" y="136"/>
                    <a:pt x="1544" y="112"/>
                  </a:cubicBezTo>
                  <a:cubicBezTo>
                    <a:pt x="1472" y="88"/>
                    <a:pt x="1376" y="32"/>
                    <a:pt x="1256" y="16"/>
                  </a:cubicBezTo>
                  <a:cubicBezTo>
                    <a:pt x="1136" y="0"/>
                    <a:pt x="952" y="16"/>
                    <a:pt x="824" y="16"/>
                  </a:cubicBezTo>
                  <a:cubicBezTo>
                    <a:pt x="696" y="16"/>
                    <a:pt x="600" y="0"/>
                    <a:pt x="488" y="16"/>
                  </a:cubicBezTo>
                  <a:cubicBezTo>
                    <a:pt x="376" y="32"/>
                    <a:pt x="224" y="80"/>
                    <a:pt x="152" y="112"/>
                  </a:cubicBezTo>
                  <a:cubicBezTo>
                    <a:pt x="80" y="144"/>
                    <a:pt x="80" y="176"/>
                    <a:pt x="56" y="208"/>
                  </a:cubicBezTo>
                  <a:cubicBezTo>
                    <a:pt x="32" y="240"/>
                    <a:pt x="0" y="248"/>
                    <a:pt x="8" y="304"/>
                  </a:cubicBezTo>
                  <a:close/>
                </a:path>
              </a:pathLst>
            </a:custGeom>
            <a:solidFill>
              <a:srgbClr val="33CC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Line 44"/>
            <p:cNvSpPr>
              <a:spLocks noChangeShapeType="1"/>
            </p:cNvSpPr>
            <p:nvPr/>
          </p:nvSpPr>
          <p:spPr bwMode="auto">
            <a:xfrm>
              <a:off x="4462" y="1590"/>
              <a:ext cx="0" cy="682"/>
            </a:xfrm>
            <a:prstGeom prst="line">
              <a:avLst/>
            </a:prstGeom>
            <a:noFill/>
            <a:ln w="508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Line 45"/>
            <p:cNvSpPr>
              <a:spLocks noChangeShapeType="1"/>
            </p:cNvSpPr>
            <p:nvPr/>
          </p:nvSpPr>
          <p:spPr bwMode="auto">
            <a:xfrm>
              <a:off x="4462" y="2714"/>
              <a:ext cx="0" cy="144"/>
            </a:xfrm>
            <a:prstGeom prst="line">
              <a:avLst/>
            </a:prstGeom>
            <a:noFill/>
            <a:ln w="508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Text Box 46"/>
            <p:cNvSpPr txBox="1">
              <a:spLocks noChangeArrowheads="1"/>
            </p:cNvSpPr>
            <p:nvPr/>
          </p:nvSpPr>
          <p:spPr bwMode="auto">
            <a:xfrm>
              <a:off x="4300" y="1343"/>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800" i="1">
                  <a:solidFill>
                    <a:srgbClr val="FFFF00"/>
                  </a:solidFill>
                  <a:latin typeface="Times New Roman" pitchFamily="18" charset="0"/>
                </a:rPr>
                <a:t>z</a:t>
              </a:r>
              <a:endParaRPr lang="en-US" altLang="zh-CN" sz="2400" i="1">
                <a:solidFill>
                  <a:schemeClr val="accent2"/>
                </a:solidFill>
                <a:latin typeface="Times New Roman" pitchFamily="18" charset="0"/>
              </a:endParaRPr>
            </a:p>
          </p:txBody>
        </p:sp>
        <p:sp>
          <p:nvSpPr>
            <p:cNvPr id="8" name="Line 47"/>
            <p:cNvSpPr>
              <a:spLocks noChangeShapeType="1"/>
            </p:cNvSpPr>
            <p:nvPr/>
          </p:nvSpPr>
          <p:spPr bwMode="auto">
            <a:xfrm>
              <a:off x="4078" y="2264"/>
              <a:ext cx="1200"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 name="Line 48"/>
            <p:cNvSpPr>
              <a:spLocks noChangeShapeType="1"/>
            </p:cNvSpPr>
            <p:nvPr/>
          </p:nvSpPr>
          <p:spPr bwMode="auto">
            <a:xfrm rot="20908065" flipH="1">
              <a:off x="4078" y="2072"/>
              <a:ext cx="768" cy="384"/>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 name="Text Box 49"/>
            <p:cNvSpPr txBox="1">
              <a:spLocks noChangeArrowheads="1"/>
            </p:cNvSpPr>
            <p:nvPr/>
          </p:nvSpPr>
          <p:spPr bwMode="auto">
            <a:xfrm>
              <a:off x="4270" y="2312"/>
              <a:ext cx="215" cy="327"/>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800" i="1" dirty="0">
                  <a:solidFill>
                    <a:schemeClr val="tx2"/>
                  </a:solidFill>
                  <a:latin typeface="Times New Roman" pitchFamily="18" charset="0"/>
                </a:rPr>
                <a:t>x</a:t>
              </a:r>
              <a:endParaRPr lang="en-US" altLang="zh-CN" sz="2400" i="1" dirty="0">
                <a:solidFill>
                  <a:srgbClr val="00FF00"/>
                </a:solidFill>
                <a:latin typeface="Times New Roman" pitchFamily="18" charset="0"/>
              </a:endParaRPr>
            </a:p>
          </p:txBody>
        </p:sp>
        <p:sp>
          <p:nvSpPr>
            <p:cNvPr id="11" name="Text Box 50"/>
            <p:cNvSpPr txBox="1">
              <a:spLocks noChangeArrowheads="1"/>
            </p:cNvSpPr>
            <p:nvPr/>
          </p:nvSpPr>
          <p:spPr bwMode="auto">
            <a:xfrm>
              <a:off x="4932" y="2210"/>
              <a:ext cx="215" cy="327"/>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800" i="1">
                  <a:solidFill>
                    <a:schemeClr val="tx2"/>
                  </a:solidFill>
                  <a:latin typeface="Times New Roman" pitchFamily="18" charset="0"/>
                </a:rPr>
                <a:t>y</a:t>
              </a:r>
              <a:endParaRPr lang="en-US" altLang="zh-CN" sz="2400" i="1">
                <a:solidFill>
                  <a:srgbClr val="00FF00"/>
                </a:solidFill>
                <a:latin typeface="Times New Roman" pitchFamily="18" charset="0"/>
              </a:endParaRPr>
            </a:p>
          </p:txBody>
        </p:sp>
        <p:sp>
          <p:nvSpPr>
            <p:cNvPr id="25625" name="Arc 51"/>
            <p:cNvSpPr>
              <a:spLocks/>
            </p:cNvSpPr>
            <p:nvPr/>
          </p:nvSpPr>
          <p:spPr bwMode="auto">
            <a:xfrm flipH="1">
              <a:off x="4307" y="1660"/>
              <a:ext cx="297" cy="92"/>
            </a:xfrm>
            <a:custGeom>
              <a:avLst/>
              <a:gdLst>
                <a:gd name="T0" fmla="*/ 0 w 43200"/>
                <a:gd name="T1" fmla="*/ 0 h 38804"/>
                <a:gd name="T2" fmla="*/ 0 w 43200"/>
                <a:gd name="T3" fmla="*/ 0 h 38804"/>
                <a:gd name="T4" fmla="*/ 0 w 43200"/>
                <a:gd name="T5" fmla="*/ 0 h 38804"/>
                <a:gd name="T6" fmla="*/ 0 60000 65536"/>
                <a:gd name="T7" fmla="*/ 0 60000 65536"/>
                <a:gd name="T8" fmla="*/ 0 60000 65536"/>
              </a:gdLst>
              <a:ahLst/>
              <a:cxnLst>
                <a:cxn ang="T6">
                  <a:pos x="T0" y="T1"/>
                </a:cxn>
                <a:cxn ang="T7">
                  <a:pos x="T2" y="T3"/>
                </a:cxn>
                <a:cxn ang="T8">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lnTo>
                    <a:pt x="34660" y="0"/>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6"/>
                                        </p:tgtEl>
                                        <p:attrNameLst>
                                          <p:attrName>style.visibility</p:attrName>
                                        </p:attrNameLst>
                                      </p:cBhvr>
                                      <p:to>
                                        <p:strVal val="visible"/>
                                      </p:to>
                                    </p:set>
                                    <p:animEffect transition="in" filter="wipe(left)">
                                      <p:cBhvr>
                                        <p:cTn id="7" dur="500"/>
                                        <p:tgtEl>
                                          <p:spTgt spid="256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25641"/>
                                        </p:tgtEl>
                                        <p:attrNameLst>
                                          <p:attrName>style.visibility</p:attrName>
                                        </p:attrNameLst>
                                      </p:cBhvr>
                                      <p:to>
                                        <p:strVal val="visible"/>
                                      </p:to>
                                    </p:set>
                                    <p:anim calcmode="lin" valueType="num">
                                      <p:cBhvr>
                                        <p:cTn id="12" dur="500" fill="hold"/>
                                        <p:tgtEl>
                                          <p:spTgt spid="25641"/>
                                        </p:tgtEl>
                                        <p:attrNameLst>
                                          <p:attrName>ppt_w</p:attrName>
                                        </p:attrNameLst>
                                      </p:cBhvr>
                                      <p:tavLst>
                                        <p:tav tm="0">
                                          <p:val>
                                            <p:fltVal val="0"/>
                                          </p:val>
                                        </p:tav>
                                        <p:tav tm="100000">
                                          <p:val>
                                            <p:strVal val="#ppt_w"/>
                                          </p:val>
                                        </p:tav>
                                      </p:tavLst>
                                    </p:anim>
                                    <p:anim calcmode="lin" valueType="num">
                                      <p:cBhvr>
                                        <p:cTn id="13" dur="500" fill="hold"/>
                                        <p:tgtEl>
                                          <p:spTgt spid="25641"/>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5607"/>
                                        </p:tgtEl>
                                        <p:attrNameLst>
                                          <p:attrName>style.visibility</p:attrName>
                                        </p:attrNameLst>
                                      </p:cBhvr>
                                      <p:to>
                                        <p:strVal val="visible"/>
                                      </p:to>
                                    </p:set>
                                    <p:animEffect transition="in" filter="wipe(left)">
                                      <p:cBhvr>
                                        <p:cTn id="18" dur="500"/>
                                        <p:tgtEl>
                                          <p:spTgt spid="25607"/>
                                        </p:tgtEl>
                                      </p:cBhvr>
                                    </p:animEffect>
                                  </p:childTnLst>
                                </p:cTn>
                              </p:par>
                            </p:childTnLst>
                          </p:cTn>
                        </p:par>
                        <p:par>
                          <p:cTn id="19" fill="hold" nodeType="afterGroup">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25638"/>
                                        </p:tgtEl>
                                        <p:attrNameLst>
                                          <p:attrName>style.visibility</p:attrName>
                                        </p:attrNameLst>
                                      </p:cBhvr>
                                      <p:to>
                                        <p:strVal val="visible"/>
                                      </p:to>
                                    </p:set>
                                    <p:animEffect transition="in" filter="wipe(left)">
                                      <p:cBhvr>
                                        <p:cTn id="22" dur="500"/>
                                        <p:tgtEl>
                                          <p:spTgt spid="256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616"/>
                                        </p:tgtEl>
                                        <p:attrNameLst>
                                          <p:attrName>style.visibility</p:attrName>
                                        </p:attrNameLst>
                                      </p:cBhvr>
                                      <p:to>
                                        <p:strVal val="visible"/>
                                      </p:to>
                                    </p:set>
                                    <p:animEffect transition="in" filter="wipe(left)">
                                      <p:cBhvr>
                                        <p:cTn id="27" dur="500"/>
                                        <p:tgtEl>
                                          <p:spTgt spid="2561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16" fill="hold" nodeType="clickEffect">
                                  <p:stCondLst>
                                    <p:cond delay="0"/>
                                  </p:stCondLst>
                                  <p:childTnLst>
                                    <p:set>
                                      <p:cBhvr>
                                        <p:cTn id="31" dur="1" fill="hold">
                                          <p:stCondLst>
                                            <p:cond delay="0"/>
                                          </p:stCondLst>
                                        </p:cTn>
                                        <p:tgtEl>
                                          <p:spTgt spid="25624"/>
                                        </p:tgtEl>
                                        <p:attrNameLst>
                                          <p:attrName>style.visibility</p:attrName>
                                        </p:attrNameLst>
                                      </p:cBhvr>
                                      <p:to>
                                        <p:strVal val="visible"/>
                                      </p:to>
                                    </p:set>
                                    <p:anim calcmode="lin" valueType="num">
                                      <p:cBhvr>
                                        <p:cTn id="32" dur="500" fill="hold"/>
                                        <p:tgtEl>
                                          <p:spTgt spid="25624"/>
                                        </p:tgtEl>
                                        <p:attrNameLst>
                                          <p:attrName>ppt_w</p:attrName>
                                        </p:attrNameLst>
                                      </p:cBhvr>
                                      <p:tavLst>
                                        <p:tav tm="0">
                                          <p:val>
                                            <p:fltVal val="0"/>
                                          </p:val>
                                        </p:tav>
                                        <p:tav tm="100000">
                                          <p:val>
                                            <p:strVal val="#ppt_w"/>
                                          </p:val>
                                        </p:tav>
                                      </p:tavLst>
                                    </p:anim>
                                    <p:anim calcmode="lin" valueType="num">
                                      <p:cBhvr>
                                        <p:cTn id="33" dur="500" fill="hold"/>
                                        <p:tgtEl>
                                          <p:spTgt spid="25624"/>
                                        </p:tgtEl>
                                        <p:attrNameLst>
                                          <p:attrName>ppt_h</p:attrName>
                                        </p:attrNameLst>
                                      </p:cBhvr>
                                      <p:tavLst>
                                        <p:tav tm="0">
                                          <p:val>
                                            <p:fltVal val="0"/>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5621"/>
                                        </p:tgtEl>
                                        <p:attrNameLst>
                                          <p:attrName>style.visibility</p:attrName>
                                        </p:attrNameLst>
                                      </p:cBhvr>
                                      <p:to>
                                        <p:strVal val="visible"/>
                                      </p:to>
                                    </p:set>
                                    <p:animEffect transition="in" filter="wipe(left)">
                                      <p:cBhvr>
                                        <p:cTn id="38" dur="500"/>
                                        <p:tgtEl>
                                          <p:spTgt spid="2562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25618"/>
                                        </p:tgtEl>
                                        <p:attrNameLst>
                                          <p:attrName>style.visibility</p:attrName>
                                        </p:attrNameLst>
                                      </p:cBhvr>
                                      <p:to>
                                        <p:strVal val="visible"/>
                                      </p:to>
                                    </p:set>
                                    <p:animEffect transition="in" filter="wipe(left)">
                                      <p:cBhvr>
                                        <p:cTn id="43" dur="500"/>
                                        <p:tgtEl>
                                          <p:spTgt spid="2561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25619"/>
                                        </p:tgtEl>
                                        <p:attrNameLst>
                                          <p:attrName>style.visibility</p:attrName>
                                        </p:attrNameLst>
                                      </p:cBhvr>
                                      <p:to>
                                        <p:strVal val="visible"/>
                                      </p:to>
                                    </p:set>
                                    <p:animEffect transition="in" filter="wipe(left)">
                                      <p:cBhvr>
                                        <p:cTn id="48" dur="500"/>
                                        <p:tgtEl>
                                          <p:spTgt spid="2561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25620"/>
                                        </p:tgtEl>
                                        <p:attrNameLst>
                                          <p:attrName>style.visibility</p:attrName>
                                        </p:attrNameLst>
                                      </p:cBhvr>
                                      <p:to>
                                        <p:strVal val="visible"/>
                                      </p:to>
                                    </p:set>
                                    <p:animEffect transition="in" filter="wipe(left)">
                                      <p:cBhvr>
                                        <p:cTn id="53" dur="500"/>
                                        <p:tgtEl>
                                          <p:spTgt spid="2562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5622"/>
                                        </p:tgtEl>
                                        <p:attrNameLst>
                                          <p:attrName>style.visibility</p:attrName>
                                        </p:attrNameLst>
                                      </p:cBhvr>
                                      <p:to>
                                        <p:strVal val="visible"/>
                                      </p:to>
                                    </p:set>
                                    <p:animEffect transition="in" filter="wipe(left)">
                                      <p:cBhvr>
                                        <p:cTn id="58" dur="500"/>
                                        <p:tgtEl>
                                          <p:spTgt spid="2562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25623"/>
                                        </p:tgtEl>
                                        <p:attrNameLst>
                                          <p:attrName>style.visibility</p:attrName>
                                        </p:attrNameLst>
                                      </p:cBhvr>
                                      <p:to>
                                        <p:strVal val="visible"/>
                                      </p:to>
                                    </p:set>
                                    <p:animEffect transition="in" filter="wipe(left)">
                                      <p:cBhvr>
                                        <p:cTn id="63" dur="500"/>
                                        <p:tgtEl>
                                          <p:spTgt spid="25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6" grpId="0" autoUpdateAnimBg="0"/>
      <p:bldP spid="25616" grpId="0" autoUpdateAnimBg="0"/>
      <p:bldP spid="25621" grpId="0" autoUpdateAnimBg="0"/>
      <p:bldP spid="25622" grpId="0" animBg="1" autoUpdateAnimBg="0"/>
      <p:bldP spid="25638"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0"/>
          <p:cNvSpPr>
            <a:spLocks noChangeArrowheads="1"/>
          </p:cNvSpPr>
          <p:nvPr/>
        </p:nvSpPr>
        <p:spPr bwMode="auto">
          <a:xfrm>
            <a:off x="6350" y="14843"/>
            <a:ext cx="235032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zh-CN" sz="2400" b="1">
                <a:solidFill>
                  <a:srgbClr val="FFC000"/>
                </a:solidFill>
                <a:latin typeface="Times New Roman" pitchFamily="18" charset="0"/>
                <a:cs typeface="Times New Roman" pitchFamily="18" charset="0"/>
              </a:rPr>
              <a:t>例题：（重点）</a:t>
            </a:r>
            <a:endParaRPr lang="zh-CN" sz="1100" b="1">
              <a:solidFill>
                <a:srgbClr val="FFC000"/>
              </a:solidFill>
            </a:endParaRPr>
          </a:p>
          <a:p>
            <a:pPr eaLnBrk="0" hangingPunct="0"/>
            <a:endParaRPr lang="zh-CN" altLang="zh-CN"/>
          </a:p>
        </p:txBody>
      </p:sp>
      <p:sp>
        <p:nvSpPr>
          <p:cNvPr id="27652" name="Rectangle 27"/>
          <p:cNvSpPr>
            <a:spLocks noChangeArrowheads="1"/>
          </p:cNvSpPr>
          <p:nvPr/>
        </p:nvSpPr>
        <p:spPr bwMode="auto">
          <a:xfrm>
            <a:off x="0" y="1447800"/>
            <a:ext cx="5257800" cy="378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indent="266700" eaLnBrk="0" hangingPunct="0"/>
            <a:r>
              <a:rPr lang="zh-CN" altLang="en-US" sz="2400" b="1">
                <a:solidFill>
                  <a:schemeClr val="bg1"/>
                </a:solidFill>
                <a:latin typeface="Times New Roman" pitchFamily="18" charset="0"/>
                <a:cs typeface="Times New Roman" pitchFamily="18" charset="0"/>
              </a:rPr>
              <a:t>解：从圆柱上切下一个薄圆片</a:t>
            </a:r>
            <a:r>
              <a:rPr lang="en-US" altLang="zh-CN" sz="2400" b="1">
                <a:solidFill>
                  <a:schemeClr val="bg1"/>
                </a:solidFill>
                <a:latin typeface="Times New Roman" pitchFamily="18" charset="0"/>
                <a:cs typeface="Times New Roman" pitchFamily="18" charset="0"/>
              </a:rPr>
              <a:t>d</a:t>
            </a:r>
            <a:r>
              <a:rPr lang="en-US" altLang="zh-CN" sz="2400" b="1" i="1">
                <a:solidFill>
                  <a:schemeClr val="bg1"/>
                </a:solidFill>
                <a:latin typeface="Times New Roman" pitchFamily="18" charset="0"/>
                <a:cs typeface="Times New Roman" pitchFamily="18" charset="0"/>
              </a:rPr>
              <a:t>M</a:t>
            </a:r>
            <a:r>
              <a:rPr lang="zh-CN" altLang="en-US" sz="2400" b="1">
                <a:solidFill>
                  <a:schemeClr val="bg1"/>
                </a:solidFill>
                <a:latin typeface="Times New Roman" pitchFamily="18" charset="0"/>
                <a:cs typeface="Times New Roman" pitchFamily="18" charset="0"/>
              </a:rPr>
              <a:t>，它对</a:t>
            </a:r>
            <a:r>
              <a:rPr lang="en-US" altLang="zh-CN" sz="2400" b="1">
                <a:solidFill>
                  <a:schemeClr val="bg1"/>
                </a:solidFill>
                <a:latin typeface="Times New Roman" pitchFamily="18" charset="0"/>
                <a:cs typeface="Times New Roman" pitchFamily="18" charset="0"/>
              </a:rPr>
              <a:t>x</a:t>
            </a:r>
            <a:r>
              <a:rPr lang="zh-CN" altLang="en-US" sz="2400" b="1">
                <a:solidFill>
                  <a:schemeClr val="bg1"/>
                </a:solidFill>
                <a:latin typeface="Times New Roman" pitchFamily="18" charset="0"/>
                <a:cs typeface="Times New Roman" pitchFamily="18" charset="0"/>
              </a:rPr>
              <a:t>轴的转动惯量为：</a:t>
            </a:r>
            <a:endParaRPr lang="zh-CN" altLang="en-US" sz="1100" b="1">
              <a:solidFill>
                <a:schemeClr val="bg1"/>
              </a:solidFill>
            </a:endParaRPr>
          </a:p>
          <a:p>
            <a:pPr indent="266700" eaLnBrk="0" hangingPunct="0"/>
            <a:r>
              <a:rPr lang="en-US" altLang="zh-CN" sz="2400" b="1">
                <a:solidFill>
                  <a:schemeClr val="bg1"/>
                </a:solidFill>
                <a:latin typeface="Times New Roman" pitchFamily="18" charset="0"/>
                <a:cs typeface="Times New Roman" pitchFamily="18" charset="0"/>
              </a:rPr>
              <a:t>d</a:t>
            </a:r>
            <a:r>
              <a:rPr lang="en-US" altLang="zh-CN" sz="2400" b="1" i="1">
                <a:solidFill>
                  <a:schemeClr val="bg1"/>
                </a:solidFill>
                <a:latin typeface="Times New Roman" pitchFamily="18" charset="0"/>
                <a:cs typeface="Times New Roman" pitchFamily="18" charset="0"/>
              </a:rPr>
              <a:t>J</a:t>
            </a:r>
            <a:r>
              <a:rPr lang="en-US" altLang="zh-CN" sz="2400" b="1" i="1" baseline="-30000">
                <a:solidFill>
                  <a:schemeClr val="bg1"/>
                </a:solidFill>
                <a:latin typeface="Times New Roman" pitchFamily="18" charset="0"/>
                <a:cs typeface="Times New Roman" pitchFamily="18" charset="0"/>
              </a:rPr>
              <a:t>x</a:t>
            </a:r>
            <a:r>
              <a:rPr lang="zh-CN" altLang="en-US" sz="2400" b="1">
                <a:solidFill>
                  <a:schemeClr val="bg1"/>
                </a:solidFill>
                <a:latin typeface="Times New Roman" pitchFamily="18" charset="0"/>
                <a:cs typeface="Times New Roman" pitchFamily="18" charset="0"/>
              </a:rPr>
              <a:t>＝</a:t>
            </a:r>
            <a:r>
              <a:rPr lang="en-US" altLang="zh-CN" sz="2400" b="1">
                <a:solidFill>
                  <a:schemeClr val="bg1"/>
                </a:solidFill>
                <a:latin typeface="Times New Roman" pitchFamily="18" charset="0"/>
                <a:cs typeface="Times New Roman" pitchFamily="18" charset="0"/>
              </a:rPr>
              <a:t>d</a:t>
            </a:r>
            <a:r>
              <a:rPr lang="en-US" altLang="zh-CN" sz="2400" b="1" i="1">
                <a:solidFill>
                  <a:schemeClr val="bg1"/>
                </a:solidFill>
                <a:latin typeface="Times New Roman" pitchFamily="18" charset="0"/>
                <a:cs typeface="Times New Roman" pitchFamily="18" charset="0"/>
              </a:rPr>
              <a:t>MR</a:t>
            </a:r>
            <a:r>
              <a:rPr lang="en-US" altLang="zh-CN" sz="2400" b="1" baseline="30000">
                <a:solidFill>
                  <a:schemeClr val="bg1"/>
                </a:solidFill>
                <a:latin typeface="Times New Roman" pitchFamily="18" charset="0"/>
                <a:cs typeface="Times New Roman" pitchFamily="18" charset="0"/>
              </a:rPr>
              <a:t>2</a:t>
            </a:r>
            <a:r>
              <a:rPr lang="en-US" altLang="zh-CN" sz="2400" b="1">
                <a:solidFill>
                  <a:schemeClr val="bg1"/>
                </a:solidFill>
                <a:latin typeface="Times New Roman" pitchFamily="18" charset="0"/>
                <a:cs typeface="Times New Roman" pitchFamily="18" charset="0"/>
              </a:rPr>
              <a:t>/2</a:t>
            </a:r>
          </a:p>
          <a:p>
            <a:pPr indent="266700" eaLnBrk="0" hangingPunct="0"/>
            <a:r>
              <a:rPr lang="zh-CN" altLang="en-US" sz="2400" b="1">
                <a:solidFill>
                  <a:schemeClr val="bg1"/>
                </a:solidFill>
                <a:latin typeface="Times New Roman" pitchFamily="18" charset="0"/>
                <a:cs typeface="Times New Roman" pitchFamily="18" charset="0"/>
              </a:rPr>
              <a:t>用垂直轴定理，得出它对</a:t>
            </a:r>
            <a:r>
              <a:rPr lang="en-US" altLang="zh-CN" sz="2400" b="1">
                <a:solidFill>
                  <a:schemeClr val="bg1"/>
                </a:solidFill>
                <a:latin typeface="Times New Roman" pitchFamily="18" charset="0"/>
                <a:cs typeface="Times New Roman" pitchFamily="18" charset="0"/>
              </a:rPr>
              <a:t>z</a:t>
            </a:r>
            <a:r>
              <a:rPr lang="en-US" altLang="zh-CN" sz="2400" b="1">
                <a:solidFill>
                  <a:schemeClr val="bg1"/>
                </a:solidFill>
                <a:cs typeface="Times New Roman" pitchFamily="18" charset="0"/>
              </a:rPr>
              <a:t>’</a:t>
            </a:r>
            <a:r>
              <a:rPr lang="zh-CN" altLang="en-US" sz="2400" b="1">
                <a:solidFill>
                  <a:schemeClr val="bg1"/>
                </a:solidFill>
                <a:latin typeface="Times New Roman" pitchFamily="18" charset="0"/>
                <a:cs typeface="Times New Roman" pitchFamily="18" charset="0"/>
              </a:rPr>
              <a:t>轴的转动惯量为：</a:t>
            </a:r>
            <a:endParaRPr lang="zh-CN" altLang="en-US" sz="1100" b="1">
              <a:solidFill>
                <a:schemeClr val="bg1"/>
              </a:solidFill>
            </a:endParaRPr>
          </a:p>
          <a:p>
            <a:pPr indent="266700" eaLnBrk="0" hangingPunct="0"/>
            <a:r>
              <a:rPr lang="en-US" altLang="zh-CN" sz="2400" b="1">
                <a:solidFill>
                  <a:schemeClr val="bg1"/>
                </a:solidFill>
                <a:latin typeface="Times New Roman" pitchFamily="18" charset="0"/>
                <a:cs typeface="Times New Roman" pitchFamily="18" charset="0"/>
              </a:rPr>
              <a:t>d</a:t>
            </a:r>
            <a:r>
              <a:rPr lang="en-US" altLang="zh-CN" sz="2400" b="1" i="1">
                <a:solidFill>
                  <a:schemeClr val="bg1"/>
                </a:solidFill>
                <a:latin typeface="Times New Roman" pitchFamily="18" charset="0"/>
                <a:cs typeface="Times New Roman" pitchFamily="18" charset="0"/>
              </a:rPr>
              <a:t>J</a:t>
            </a:r>
            <a:r>
              <a:rPr lang="en-US" altLang="zh-CN" sz="2400" b="1" i="1" baseline="-30000">
                <a:solidFill>
                  <a:schemeClr val="bg1"/>
                </a:solidFill>
                <a:latin typeface="Times New Roman" pitchFamily="18" charset="0"/>
                <a:cs typeface="Times New Roman" pitchFamily="18" charset="0"/>
              </a:rPr>
              <a:t>z</a:t>
            </a:r>
            <a:r>
              <a:rPr lang="en-US" altLang="zh-CN" sz="2400" b="1">
                <a:solidFill>
                  <a:schemeClr val="bg1"/>
                </a:solidFill>
                <a:cs typeface="Times New Roman" pitchFamily="18" charset="0"/>
              </a:rPr>
              <a:t>’</a:t>
            </a:r>
            <a:r>
              <a:rPr lang="zh-CN" altLang="en-US" sz="2400" b="1">
                <a:solidFill>
                  <a:schemeClr val="bg1"/>
                </a:solidFill>
                <a:latin typeface="Times New Roman" pitchFamily="18" charset="0"/>
                <a:cs typeface="Times New Roman" pitchFamily="18" charset="0"/>
              </a:rPr>
              <a:t>＝</a:t>
            </a:r>
            <a:r>
              <a:rPr lang="en-US" altLang="zh-CN" sz="2400" b="1">
                <a:solidFill>
                  <a:schemeClr val="bg1"/>
                </a:solidFill>
                <a:latin typeface="Times New Roman" pitchFamily="18" charset="0"/>
                <a:cs typeface="Times New Roman" pitchFamily="18" charset="0"/>
              </a:rPr>
              <a:t>d</a:t>
            </a:r>
            <a:r>
              <a:rPr lang="en-US" altLang="zh-CN" sz="2400" b="1" i="1">
                <a:solidFill>
                  <a:schemeClr val="bg1"/>
                </a:solidFill>
                <a:latin typeface="Times New Roman" pitchFamily="18" charset="0"/>
                <a:cs typeface="Times New Roman" pitchFamily="18" charset="0"/>
              </a:rPr>
              <a:t>MR</a:t>
            </a:r>
            <a:r>
              <a:rPr lang="en-US" altLang="zh-CN" sz="2400" b="1" baseline="30000">
                <a:solidFill>
                  <a:schemeClr val="bg1"/>
                </a:solidFill>
                <a:latin typeface="Times New Roman" pitchFamily="18" charset="0"/>
                <a:cs typeface="Times New Roman" pitchFamily="18" charset="0"/>
              </a:rPr>
              <a:t>2</a:t>
            </a:r>
            <a:r>
              <a:rPr lang="en-US" altLang="zh-CN" sz="2400" b="1">
                <a:solidFill>
                  <a:schemeClr val="bg1"/>
                </a:solidFill>
                <a:latin typeface="Times New Roman" pitchFamily="18" charset="0"/>
                <a:cs typeface="Times New Roman" pitchFamily="18" charset="0"/>
              </a:rPr>
              <a:t> </a:t>
            </a:r>
            <a:r>
              <a:rPr lang="en-US" altLang="zh-CN" sz="2400" b="1">
                <a:solidFill>
                  <a:schemeClr val="bg1"/>
                </a:solidFill>
                <a:latin typeface="+mn-lt"/>
                <a:cs typeface="Times New Roman" pitchFamily="18" charset="0"/>
              </a:rPr>
              <a:t>/4</a:t>
            </a:r>
            <a:r>
              <a:rPr lang="en-US" altLang="zh-CN" sz="2400" b="1">
                <a:solidFill>
                  <a:schemeClr val="bg1"/>
                </a:solidFill>
                <a:latin typeface="Times New Roman" pitchFamily="18" charset="0"/>
                <a:cs typeface="Times New Roman" pitchFamily="18" charset="0"/>
              </a:rPr>
              <a:t>   </a:t>
            </a:r>
            <a:r>
              <a:rPr lang="zh-CN" altLang="en-US" sz="2400" b="1">
                <a:solidFill>
                  <a:schemeClr val="bg1"/>
                </a:solidFill>
                <a:latin typeface="Times New Roman" pitchFamily="18" charset="0"/>
                <a:cs typeface="Times New Roman" pitchFamily="18" charset="0"/>
              </a:rPr>
              <a:t>其中</a:t>
            </a:r>
            <a:r>
              <a:rPr lang="en-US" altLang="zh-CN" sz="2400" b="1">
                <a:solidFill>
                  <a:schemeClr val="bg1"/>
                </a:solidFill>
                <a:latin typeface="Times New Roman" pitchFamily="18" charset="0"/>
                <a:cs typeface="Times New Roman" pitchFamily="18" charset="0"/>
              </a:rPr>
              <a:t>d</a:t>
            </a:r>
            <a:r>
              <a:rPr lang="en-US" altLang="zh-CN" sz="2400" b="1" i="1">
                <a:solidFill>
                  <a:schemeClr val="bg1"/>
                </a:solidFill>
                <a:latin typeface="Times New Roman" pitchFamily="18" charset="0"/>
                <a:cs typeface="Times New Roman" pitchFamily="18" charset="0"/>
              </a:rPr>
              <a:t>M</a:t>
            </a:r>
            <a:r>
              <a:rPr lang="zh-CN" altLang="en-US" sz="2400" b="1">
                <a:solidFill>
                  <a:schemeClr val="bg1"/>
                </a:solidFill>
                <a:latin typeface="Times New Roman" pitchFamily="18" charset="0"/>
                <a:cs typeface="Times New Roman" pitchFamily="18" charset="0"/>
              </a:rPr>
              <a:t>＝</a:t>
            </a:r>
            <a:r>
              <a:rPr lang="en-US" altLang="zh-CN" sz="2400" b="1" i="1">
                <a:solidFill>
                  <a:schemeClr val="bg1"/>
                </a:solidFill>
                <a:latin typeface="Times New Roman" pitchFamily="18" charset="0"/>
                <a:cs typeface="Times New Roman" pitchFamily="18" charset="0"/>
              </a:rPr>
              <a:t>M</a:t>
            </a:r>
            <a:r>
              <a:rPr lang="en-US" altLang="zh-CN" sz="2400" b="1">
                <a:solidFill>
                  <a:schemeClr val="bg1"/>
                </a:solidFill>
                <a:latin typeface="Times New Roman" pitchFamily="18" charset="0"/>
                <a:cs typeface="Times New Roman" pitchFamily="18" charset="0"/>
              </a:rPr>
              <a:t>/</a:t>
            </a:r>
            <a:r>
              <a:rPr lang="en-US" altLang="zh-CN" sz="2400" b="1" i="1">
                <a:solidFill>
                  <a:schemeClr val="bg1"/>
                </a:solidFill>
                <a:latin typeface="Times New Roman" pitchFamily="18" charset="0"/>
                <a:cs typeface="Times New Roman" pitchFamily="18" charset="0"/>
              </a:rPr>
              <a:t>L</a:t>
            </a:r>
            <a:r>
              <a:rPr lang="en-US" altLang="zh-CN" sz="2400" b="1">
                <a:solidFill>
                  <a:schemeClr val="bg1"/>
                </a:solidFill>
                <a:latin typeface="Times New Roman" pitchFamily="18" charset="0"/>
                <a:cs typeface="Times New Roman" pitchFamily="18" charset="0"/>
              </a:rPr>
              <a:t>d</a:t>
            </a:r>
            <a:r>
              <a:rPr lang="en-US" altLang="zh-CN" sz="2400" b="1" i="1">
                <a:solidFill>
                  <a:schemeClr val="bg1"/>
                </a:solidFill>
                <a:latin typeface="Times New Roman" pitchFamily="18" charset="0"/>
                <a:cs typeface="Times New Roman" pitchFamily="18" charset="0"/>
              </a:rPr>
              <a:t>x</a:t>
            </a:r>
            <a:endParaRPr lang="en-US" altLang="zh-CN" sz="1100" b="1" i="1">
              <a:solidFill>
                <a:schemeClr val="bg1"/>
              </a:solidFill>
            </a:endParaRPr>
          </a:p>
          <a:p>
            <a:pPr indent="266700" eaLnBrk="0" hangingPunct="0"/>
            <a:r>
              <a:rPr lang="zh-CN" altLang="en-US" sz="2400" b="1">
                <a:solidFill>
                  <a:schemeClr val="bg1"/>
                </a:solidFill>
                <a:latin typeface="Times New Roman" pitchFamily="18" charset="0"/>
                <a:cs typeface="Times New Roman" pitchFamily="18" charset="0"/>
              </a:rPr>
              <a:t>用平行轴定理，得出它对</a:t>
            </a:r>
            <a:r>
              <a:rPr lang="en-US" altLang="zh-CN" sz="2400" b="1">
                <a:solidFill>
                  <a:schemeClr val="bg1"/>
                </a:solidFill>
                <a:latin typeface="Times New Roman" pitchFamily="18" charset="0"/>
                <a:cs typeface="Times New Roman" pitchFamily="18" charset="0"/>
              </a:rPr>
              <a:t>z</a:t>
            </a:r>
            <a:r>
              <a:rPr lang="zh-CN" altLang="en-US" sz="2400" b="1">
                <a:solidFill>
                  <a:schemeClr val="bg1"/>
                </a:solidFill>
                <a:latin typeface="Times New Roman" pitchFamily="18" charset="0"/>
                <a:cs typeface="Times New Roman" pitchFamily="18" charset="0"/>
              </a:rPr>
              <a:t>轴的转动惯量为：</a:t>
            </a:r>
            <a:endParaRPr lang="zh-CN" altLang="en-US" sz="1100" b="1">
              <a:solidFill>
                <a:schemeClr val="bg1"/>
              </a:solidFill>
            </a:endParaRPr>
          </a:p>
          <a:p>
            <a:pPr indent="266700" eaLnBrk="0" hangingPunct="0"/>
            <a:r>
              <a:rPr lang="en-US" altLang="zh-CN" sz="2400" b="1">
                <a:solidFill>
                  <a:schemeClr val="bg1"/>
                </a:solidFill>
                <a:latin typeface="Times New Roman" pitchFamily="18" charset="0"/>
                <a:cs typeface="Times New Roman" pitchFamily="18" charset="0"/>
              </a:rPr>
              <a:t>d</a:t>
            </a:r>
            <a:r>
              <a:rPr lang="en-US" altLang="zh-CN" sz="2400" b="1" i="1">
                <a:solidFill>
                  <a:schemeClr val="bg1"/>
                </a:solidFill>
                <a:latin typeface="Times New Roman" pitchFamily="18" charset="0"/>
                <a:cs typeface="Times New Roman" pitchFamily="18" charset="0"/>
              </a:rPr>
              <a:t>J</a:t>
            </a:r>
            <a:r>
              <a:rPr lang="en-US" altLang="zh-CN" sz="2400" b="1" i="1" baseline="-30000">
                <a:solidFill>
                  <a:schemeClr val="bg1"/>
                </a:solidFill>
                <a:latin typeface="Times New Roman" pitchFamily="18" charset="0"/>
                <a:cs typeface="Times New Roman" pitchFamily="18" charset="0"/>
              </a:rPr>
              <a:t>z</a:t>
            </a:r>
            <a:r>
              <a:rPr lang="zh-CN" altLang="en-US" sz="2400" b="1">
                <a:solidFill>
                  <a:schemeClr val="bg1"/>
                </a:solidFill>
                <a:latin typeface="Times New Roman" pitchFamily="18" charset="0"/>
                <a:cs typeface="Times New Roman" pitchFamily="18" charset="0"/>
              </a:rPr>
              <a:t>＝</a:t>
            </a:r>
            <a:r>
              <a:rPr lang="en-US" altLang="zh-CN" sz="2400" b="1">
                <a:solidFill>
                  <a:srgbClr val="FFFFFF"/>
                </a:solidFill>
                <a:latin typeface="Times New Roman" pitchFamily="18" charset="0"/>
                <a:cs typeface="Times New Roman" pitchFamily="18" charset="0"/>
              </a:rPr>
              <a:t> d</a:t>
            </a:r>
            <a:r>
              <a:rPr lang="en-US" altLang="zh-CN" sz="2400" b="1" i="1">
                <a:solidFill>
                  <a:srgbClr val="FFFFFF"/>
                </a:solidFill>
                <a:latin typeface="Times New Roman" pitchFamily="18" charset="0"/>
                <a:cs typeface="Times New Roman" pitchFamily="18" charset="0"/>
              </a:rPr>
              <a:t>MR</a:t>
            </a:r>
            <a:r>
              <a:rPr lang="en-US" altLang="zh-CN" sz="2400" b="1" baseline="30000">
                <a:solidFill>
                  <a:srgbClr val="FFFFFF"/>
                </a:solidFill>
                <a:latin typeface="Times New Roman" pitchFamily="18" charset="0"/>
                <a:cs typeface="Times New Roman" pitchFamily="18" charset="0"/>
              </a:rPr>
              <a:t>2</a:t>
            </a:r>
            <a:r>
              <a:rPr lang="en-US" altLang="zh-CN" sz="2400" b="1">
                <a:solidFill>
                  <a:srgbClr val="FFFFFF"/>
                </a:solidFill>
                <a:latin typeface="Times New Roman" pitchFamily="18" charset="0"/>
                <a:cs typeface="Times New Roman" pitchFamily="18" charset="0"/>
              </a:rPr>
              <a:t> </a:t>
            </a:r>
            <a:r>
              <a:rPr lang="en-US" altLang="zh-CN" sz="2400" b="1">
                <a:solidFill>
                  <a:srgbClr val="FFFFFF"/>
                </a:solidFill>
                <a:latin typeface="Times New Roman"/>
                <a:cs typeface="Times New Roman" pitchFamily="18" charset="0"/>
              </a:rPr>
              <a:t>/4 +</a:t>
            </a:r>
            <a:r>
              <a:rPr lang="en-US" altLang="zh-CN" sz="2400" b="1">
                <a:solidFill>
                  <a:schemeClr val="bg1"/>
                </a:solidFill>
                <a:latin typeface="Times New Roman" pitchFamily="18" charset="0"/>
                <a:cs typeface="Times New Roman" pitchFamily="18" charset="0"/>
              </a:rPr>
              <a:t>d</a:t>
            </a:r>
            <a:r>
              <a:rPr lang="en-US" altLang="zh-CN" sz="2400" b="1" i="1">
                <a:solidFill>
                  <a:schemeClr val="bg1"/>
                </a:solidFill>
                <a:latin typeface="Times New Roman" pitchFamily="18" charset="0"/>
                <a:cs typeface="Times New Roman" pitchFamily="18" charset="0"/>
              </a:rPr>
              <a:t>Mx</a:t>
            </a:r>
            <a:r>
              <a:rPr lang="en-US" altLang="zh-CN" sz="2400" b="1" baseline="30000">
                <a:solidFill>
                  <a:schemeClr val="bg1"/>
                </a:solidFill>
                <a:latin typeface="Times New Roman" pitchFamily="18" charset="0"/>
                <a:cs typeface="Times New Roman" pitchFamily="18" charset="0"/>
              </a:rPr>
              <a:t>2</a:t>
            </a:r>
            <a:endParaRPr lang="en-US" altLang="zh-CN" sz="1100" b="1">
              <a:solidFill>
                <a:schemeClr val="bg1"/>
              </a:solidFill>
            </a:endParaRPr>
          </a:p>
          <a:p>
            <a:pPr indent="266700" eaLnBrk="0" hangingPunct="0"/>
            <a:r>
              <a:rPr lang="zh-CN" altLang="en-US" sz="2400" b="1">
                <a:solidFill>
                  <a:schemeClr val="bg1"/>
                </a:solidFill>
                <a:latin typeface="Times New Roman" pitchFamily="18" charset="0"/>
                <a:cs typeface="Times New Roman" pitchFamily="18" charset="0"/>
              </a:rPr>
              <a:t>从－</a:t>
            </a:r>
            <a:r>
              <a:rPr lang="en-US" altLang="zh-CN" sz="2400" b="1" i="1">
                <a:solidFill>
                  <a:schemeClr val="bg1"/>
                </a:solidFill>
                <a:latin typeface="Times New Roman" pitchFamily="18" charset="0"/>
                <a:cs typeface="Times New Roman" pitchFamily="18" charset="0"/>
              </a:rPr>
              <a:t>L</a:t>
            </a:r>
            <a:r>
              <a:rPr lang="en-US" altLang="zh-CN" sz="2400" b="1">
                <a:solidFill>
                  <a:schemeClr val="bg1"/>
                </a:solidFill>
                <a:latin typeface="Times New Roman" pitchFamily="18" charset="0"/>
                <a:cs typeface="Times New Roman" pitchFamily="18" charset="0"/>
              </a:rPr>
              <a:t>/2</a:t>
            </a:r>
            <a:r>
              <a:rPr lang="zh-CN" altLang="en-US" sz="2400" b="1">
                <a:solidFill>
                  <a:schemeClr val="bg1"/>
                </a:solidFill>
                <a:latin typeface="Times New Roman" pitchFamily="18" charset="0"/>
                <a:cs typeface="Times New Roman" pitchFamily="18" charset="0"/>
              </a:rPr>
              <a:t>到＋</a:t>
            </a:r>
            <a:r>
              <a:rPr lang="en-US" altLang="zh-CN" sz="2400" b="1" i="1">
                <a:solidFill>
                  <a:schemeClr val="bg1"/>
                </a:solidFill>
                <a:latin typeface="Times New Roman" pitchFamily="18" charset="0"/>
                <a:cs typeface="Times New Roman" pitchFamily="18" charset="0"/>
              </a:rPr>
              <a:t>L</a:t>
            </a:r>
            <a:r>
              <a:rPr lang="en-US" altLang="zh-CN" sz="2400" b="1">
                <a:solidFill>
                  <a:schemeClr val="bg1"/>
                </a:solidFill>
                <a:latin typeface="Times New Roman" pitchFamily="18" charset="0"/>
                <a:cs typeface="Times New Roman" pitchFamily="18" charset="0"/>
              </a:rPr>
              <a:t>/2</a:t>
            </a:r>
            <a:r>
              <a:rPr lang="zh-CN" altLang="en-US" sz="2400" b="1">
                <a:solidFill>
                  <a:schemeClr val="bg1"/>
                </a:solidFill>
                <a:latin typeface="Times New Roman" pitchFamily="18" charset="0"/>
                <a:cs typeface="Times New Roman" pitchFamily="18" charset="0"/>
              </a:rPr>
              <a:t>积分得</a:t>
            </a:r>
            <a:endParaRPr lang="zh-CN" altLang="en-US" sz="3200" b="1">
              <a:solidFill>
                <a:schemeClr val="bg1"/>
              </a:solidFill>
            </a:endParaRPr>
          </a:p>
        </p:txBody>
      </p:sp>
      <p:pic>
        <p:nvPicPr>
          <p:cNvPr id="27653" name="Picture 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3413" y="5300663"/>
            <a:ext cx="5411787" cy="9366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26629"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14288"/>
            <a:ext cx="3867150" cy="286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30" name="矩形 1"/>
          <p:cNvSpPr>
            <a:spLocks noChangeArrowheads="1"/>
          </p:cNvSpPr>
          <p:nvPr/>
        </p:nvSpPr>
        <p:spPr bwMode="auto">
          <a:xfrm>
            <a:off x="6350" y="476250"/>
            <a:ext cx="50768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eaLnBrk="0" hangingPunct="0"/>
            <a:r>
              <a:rPr lang="zh-CN" altLang="zh-CN" sz="2400" b="1" dirty="0">
                <a:solidFill>
                  <a:schemeClr val="bg1"/>
                </a:solidFill>
                <a:latin typeface="Times New Roman" pitchFamily="18" charset="0"/>
                <a:cs typeface="Times New Roman" pitchFamily="18" charset="0"/>
              </a:rPr>
              <a:t>半径为</a:t>
            </a:r>
            <a:r>
              <a:rPr lang="en-US" altLang="zh-CN" sz="2400" b="1" i="1" dirty="0">
                <a:solidFill>
                  <a:schemeClr val="bg1"/>
                </a:solidFill>
                <a:latin typeface="Times New Roman" pitchFamily="18" charset="0"/>
                <a:cs typeface="Times New Roman" pitchFamily="18" charset="0"/>
              </a:rPr>
              <a:t>R</a:t>
            </a:r>
            <a:r>
              <a:rPr lang="zh-CN" altLang="en-US" sz="2400" b="1" dirty="0">
                <a:solidFill>
                  <a:schemeClr val="bg1"/>
                </a:solidFill>
                <a:latin typeface="Times New Roman" pitchFamily="18" charset="0"/>
                <a:cs typeface="Times New Roman" pitchFamily="18" charset="0"/>
              </a:rPr>
              <a:t>，长为</a:t>
            </a:r>
            <a:r>
              <a:rPr lang="en-US" altLang="zh-CN" sz="2400" b="1" i="1" dirty="0">
                <a:solidFill>
                  <a:schemeClr val="bg1"/>
                </a:solidFill>
                <a:latin typeface="Times New Roman" pitchFamily="18" charset="0"/>
                <a:cs typeface="Times New Roman" pitchFamily="18" charset="0"/>
              </a:rPr>
              <a:t>L</a:t>
            </a:r>
            <a:r>
              <a:rPr lang="zh-CN" altLang="en-US" sz="2400" b="1" dirty="0">
                <a:solidFill>
                  <a:schemeClr val="bg1"/>
                </a:solidFill>
                <a:latin typeface="Times New Roman" pitchFamily="18" charset="0"/>
                <a:cs typeface="Times New Roman" pitchFamily="18" charset="0"/>
              </a:rPr>
              <a:t>，质量为</a:t>
            </a:r>
            <a:r>
              <a:rPr lang="en-US" altLang="zh-CN" sz="2400" b="1" i="1" dirty="0">
                <a:solidFill>
                  <a:schemeClr val="bg1"/>
                </a:solidFill>
                <a:latin typeface="Times New Roman" pitchFamily="18" charset="0"/>
                <a:cs typeface="Times New Roman" pitchFamily="18" charset="0"/>
              </a:rPr>
              <a:t>M</a:t>
            </a:r>
            <a:r>
              <a:rPr lang="zh-CN" altLang="en-US" sz="2400" b="1" dirty="0">
                <a:solidFill>
                  <a:schemeClr val="bg1"/>
                </a:solidFill>
                <a:latin typeface="Times New Roman" pitchFamily="18" charset="0"/>
                <a:cs typeface="Times New Roman" pitchFamily="18" charset="0"/>
              </a:rPr>
              <a:t>的实心圆柱体对中心直径的转动惯量。</a:t>
            </a:r>
            <a:endParaRPr lang="en-US" altLang="zh-CN" sz="2400" b="1" dirty="0">
              <a:solidFill>
                <a:schemeClr val="bg1"/>
              </a:solidFill>
              <a:latin typeface="Times New Roman" pitchFamily="18" charset="0"/>
              <a:cs typeface="Times New Roman" pitchFamily="18" charset="0"/>
            </a:endParaRPr>
          </a:p>
        </p:txBody>
      </p:sp>
      <p:sp>
        <p:nvSpPr>
          <p:cNvPr id="2" name="Text Box 49">
            <a:extLst>
              <a:ext uri="{FF2B5EF4-FFF2-40B4-BE49-F238E27FC236}">
                <a16:creationId xmlns:a16="http://schemas.microsoft.com/office/drawing/2014/main" id="{DE6BDF93-42C3-15BF-67F1-52E03F25A0BB}"/>
              </a:ext>
            </a:extLst>
          </p:cNvPr>
          <p:cNvSpPr txBox="1">
            <a:spLocks noChangeArrowheads="1"/>
          </p:cNvSpPr>
          <p:nvPr/>
        </p:nvSpPr>
        <p:spPr bwMode="auto">
          <a:xfrm>
            <a:off x="8783637" y="1124744"/>
            <a:ext cx="341313" cy="519113"/>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800" i="1" dirty="0">
                <a:solidFill>
                  <a:schemeClr val="tx2"/>
                </a:solidFill>
                <a:latin typeface="Times New Roman" pitchFamily="18" charset="0"/>
              </a:rPr>
              <a:t>x</a:t>
            </a:r>
            <a:endParaRPr lang="en-US" altLang="zh-CN" sz="2400" i="1" dirty="0">
              <a:solidFill>
                <a:srgbClr val="00FF00"/>
              </a:solidFill>
              <a:latin typeface="Times New Roman" pitchFamily="18" charset="0"/>
            </a:endParaRPr>
          </a:p>
        </p:txBody>
      </p:sp>
      <p:sp>
        <p:nvSpPr>
          <p:cNvPr id="3" name="Text Box 49">
            <a:extLst>
              <a:ext uri="{FF2B5EF4-FFF2-40B4-BE49-F238E27FC236}">
                <a16:creationId xmlns:a16="http://schemas.microsoft.com/office/drawing/2014/main" id="{D4A6502F-7D8C-F826-37E2-324EC51B740A}"/>
              </a:ext>
            </a:extLst>
          </p:cNvPr>
          <p:cNvSpPr txBox="1">
            <a:spLocks noChangeArrowheads="1"/>
          </p:cNvSpPr>
          <p:nvPr/>
        </p:nvSpPr>
        <p:spPr bwMode="auto">
          <a:xfrm>
            <a:off x="6732240" y="14288"/>
            <a:ext cx="324128" cy="523220"/>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800" i="1" dirty="0">
                <a:solidFill>
                  <a:schemeClr val="tx2"/>
                </a:solidFill>
                <a:latin typeface="Times New Roman" pitchFamily="18" charset="0"/>
              </a:rPr>
              <a:t>z</a:t>
            </a:r>
            <a:endParaRPr lang="en-US" altLang="zh-CN" sz="2400" i="1" dirty="0">
              <a:solidFill>
                <a:srgbClr val="00FF00"/>
              </a:solidFill>
              <a:latin typeface="Times New Roman" pitchFamily="18" charset="0"/>
            </a:endParaRPr>
          </a:p>
        </p:txBody>
      </p:sp>
      <p:sp>
        <p:nvSpPr>
          <p:cNvPr id="4" name="Text Box 49">
            <a:extLst>
              <a:ext uri="{FF2B5EF4-FFF2-40B4-BE49-F238E27FC236}">
                <a16:creationId xmlns:a16="http://schemas.microsoft.com/office/drawing/2014/main" id="{FE28CCC8-2792-CC98-BCEF-04E69E3BBBB2}"/>
              </a:ext>
            </a:extLst>
          </p:cNvPr>
          <p:cNvSpPr txBox="1">
            <a:spLocks noChangeArrowheads="1"/>
          </p:cNvSpPr>
          <p:nvPr/>
        </p:nvSpPr>
        <p:spPr bwMode="auto">
          <a:xfrm>
            <a:off x="7783766" y="-27384"/>
            <a:ext cx="604658" cy="523220"/>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800" i="1" dirty="0">
                <a:solidFill>
                  <a:schemeClr val="tx2"/>
                </a:solidFill>
                <a:latin typeface="Times New Roman" pitchFamily="18" charset="0"/>
              </a:rPr>
              <a:t>z'</a:t>
            </a:r>
            <a:endParaRPr lang="en-US" altLang="zh-CN" sz="2400" i="1" dirty="0">
              <a:solidFill>
                <a:srgbClr val="00FF00"/>
              </a:solidFill>
              <a:latin typeface="Times New Roman" pitchFamily="18" charset="0"/>
            </a:endParaRPr>
          </a:p>
        </p:txBody>
      </p:sp>
      <p:sp>
        <p:nvSpPr>
          <p:cNvPr id="5" name="Text Box 49">
            <a:extLst>
              <a:ext uri="{FF2B5EF4-FFF2-40B4-BE49-F238E27FC236}">
                <a16:creationId xmlns:a16="http://schemas.microsoft.com/office/drawing/2014/main" id="{C3E99F8B-7C25-F2B3-1243-4A8EB1A9F428}"/>
              </a:ext>
            </a:extLst>
          </p:cNvPr>
          <p:cNvSpPr txBox="1">
            <a:spLocks noChangeArrowheads="1"/>
          </p:cNvSpPr>
          <p:nvPr/>
        </p:nvSpPr>
        <p:spPr bwMode="auto">
          <a:xfrm>
            <a:off x="7314581" y="2124105"/>
            <a:ext cx="1014114" cy="523220"/>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800" i="1" dirty="0" err="1">
                <a:solidFill>
                  <a:schemeClr val="tx2"/>
                </a:solidFill>
                <a:latin typeface="Times New Roman" pitchFamily="18" charset="0"/>
              </a:rPr>
              <a:t>dM</a:t>
            </a:r>
            <a:endParaRPr lang="en-US" altLang="zh-CN" sz="2400" i="1" dirty="0">
              <a:solidFill>
                <a:srgbClr val="00FF00"/>
              </a:solidFill>
              <a:latin typeface="Times New Roman" pitchFamily="18" charset="0"/>
            </a:endParaRPr>
          </a:p>
        </p:txBody>
      </p:sp>
      <p:sp>
        <p:nvSpPr>
          <p:cNvPr id="6" name="Text Box 49">
            <a:extLst>
              <a:ext uri="{FF2B5EF4-FFF2-40B4-BE49-F238E27FC236}">
                <a16:creationId xmlns:a16="http://schemas.microsoft.com/office/drawing/2014/main" id="{36F9FCDC-4B80-F36A-8506-B58F66DA94BA}"/>
              </a:ext>
            </a:extLst>
          </p:cNvPr>
          <p:cNvSpPr txBox="1">
            <a:spLocks noChangeArrowheads="1"/>
          </p:cNvSpPr>
          <p:nvPr/>
        </p:nvSpPr>
        <p:spPr bwMode="auto">
          <a:xfrm>
            <a:off x="6347198" y="2242463"/>
            <a:ext cx="385042" cy="523220"/>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800" i="1" dirty="0">
                <a:solidFill>
                  <a:schemeClr val="tx2"/>
                </a:solidFill>
                <a:latin typeface="Times New Roman" pitchFamily="18" charset="0"/>
              </a:rPr>
              <a:t>L</a:t>
            </a:r>
            <a:endParaRPr lang="en-US" altLang="zh-CN" sz="2400" i="1" dirty="0">
              <a:solidFill>
                <a:srgbClr val="00FF00"/>
              </a:solidFill>
              <a:latin typeface="Times New Roman" pitchFamily="18" charset="0"/>
            </a:endParaRPr>
          </a:p>
        </p:txBody>
      </p:sp>
      <p:sp>
        <p:nvSpPr>
          <p:cNvPr id="7" name="Text Box 49">
            <a:extLst>
              <a:ext uri="{FF2B5EF4-FFF2-40B4-BE49-F238E27FC236}">
                <a16:creationId xmlns:a16="http://schemas.microsoft.com/office/drawing/2014/main" id="{DDE3E432-C52F-273C-8A9B-826050176936}"/>
              </a:ext>
            </a:extLst>
          </p:cNvPr>
          <p:cNvSpPr txBox="1">
            <a:spLocks noChangeArrowheads="1"/>
          </p:cNvSpPr>
          <p:nvPr/>
        </p:nvSpPr>
        <p:spPr bwMode="auto">
          <a:xfrm>
            <a:off x="5257800" y="620712"/>
            <a:ext cx="404278" cy="523220"/>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800" i="1" dirty="0">
                <a:solidFill>
                  <a:schemeClr val="tx2"/>
                </a:solidFill>
                <a:latin typeface="Times New Roman" pitchFamily="18" charset="0"/>
              </a:rPr>
              <a:t>R</a:t>
            </a:r>
            <a:endParaRPr lang="en-US" altLang="zh-CN" sz="2400" i="1" dirty="0">
              <a:solidFill>
                <a:srgbClr val="00FF00"/>
              </a:solidFill>
              <a:latin typeface="Times New Roman" pitchFamily="18" charset="0"/>
            </a:endParaRPr>
          </a:p>
        </p:txBody>
      </p:sp>
      <p:sp>
        <p:nvSpPr>
          <p:cNvPr id="8" name="Text Box 49">
            <a:extLst>
              <a:ext uri="{FF2B5EF4-FFF2-40B4-BE49-F238E27FC236}">
                <a16:creationId xmlns:a16="http://schemas.microsoft.com/office/drawing/2014/main" id="{6D5935FB-18D4-BADC-9245-F365DE11E445}"/>
              </a:ext>
            </a:extLst>
          </p:cNvPr>
          <p:cNvSpPr txBox="1">
            <a:spLocks noChangeArrowheads="1"/>
          </p:cNvSpPr>
          <p:nvPr/>
        </p:nvSpPr>
        <p:spPr bwMode="auto">
          <a:xfrm>
            <a:off x="7191375" y="1657097"/>
            <a:ext cx="341313" cy="519113"/>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800" i="1" dirty="0">
                <a:solidFill>
                  <a:schemeClr val="tx2"/>
                </a:solidFill>
                <a:latin typeface="Times New Roman" pitchFamily="18" charset="0"/>
              </a:rPr>
              <a:t>x</a:t>
            </a:r>
            <a:endParaRPr lang="en-US" altLang="zh-CN" sz="2400" i="1" dirty="0">
              <a:solidFill>
                <a:srgbClr val="00FF00"/>
              </a:solidFill>
              <a:latin typeface="Times New Roman" pitchFamily="18" charset="0"/>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65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65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65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65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765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6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8D2E4AEA-B2DF-B67B-801B-46719D85B09C}"/>
              </a:ext>
            </a:extLst>
          </p:cNvPr>
          <p:cNvPicPr>
            <a:picLocks noChangeAspect="1"/>
          </p:cNvPicPr>
          <p:nvPr/>
        </p:nvPicPr>
        <p:blipFill>
          <a:blip r:embed="rId3"/>
          <a:stretch>
            <a:fillRect/>
          </a:stretch>
        </p:blipFill>
        <p:spPr>
          <a:xfrm>
            <a:off x="0" y="381000"/>
            <a:ext cx="9144000" cy="6096000"/>
          </a:xfrm>
          <a:prstGeom prst="rect">
            <a:avLst/>
          </a:prstGeom>
        </p:spPr>
      </p:pic>
      <p:sp>
        <p:nvSpPr>
          <p:cNvPr id="8" name="Text Box 21">
            <a:extLst>
              <a:ext uri="{FF2B5EF4-FFF2-40B4-BE49-F238E27FC236}">
                <a16:creationId xmlns:a16="http://schemas.microsoft.com/office/drawing/2014/main" id="{73E6C20B-C7E5-D59B-65A7-6CF208A1E821}"/>
              </a:ext>
            </a:extLst>
          </p:cNvPr>
          <p:cNvSpPr txBox="1">
            <a:spLocks noChangeArrowheads="1"/>
          </p:cNvSpPr>
          <p:nvPr/>
        </p:nvSpPr>
        <p:spPr bwMode="auto">
          <a:xfrm>
            <a:off x="354013" y="4797152"/>
            <a:ext cx="399981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dirty="0">
                <a:latin typeface="Times New Roman" pitchFamily="18" charset="0"/>
              </a:rPr>
              <a:t>两个极限检验（物理直觉）</a:t>
            </a:r>
            <a:r>
              <a:rPr lang="en-US" altLang="zh-CN" sz="2400" b="1" dirty="0">
                <a:latin typeface="Times New Roman" pitchFamily="18" charset="0"/>
              </a:rPr>
              <a:t>:</a:t>
            </a:r>
          </a:p>
          <a:p>
            <a:r>
              <a:rPr lang="en-US" altLang="zh-CN" sz="2400" b="1" dirty="0">
                <a:latin typeface="Times New Roman" pitchFamily="18" charset="0"/>
              </a:rPr>
              <a:t>1, </a:t>
            </a:r>
            <a:r>
              <a:rPr lang="zh-CN" altLang="en-US" sz="2400" b="1" dirty="0">
                <a:latin typeface="Times New Roman" pitchFamily="18" charset="0"/>
              </a:rPr>
              <a:t>细长圆柱</a:t>
            </a:r>
            <a:r>
              <a:rPr lang="en-US" altLang="zh-CN" sz="2400" b="1" dirty="0">
                <a:latin typeface="Times New Roman" pitchFamily="18" charset="0"/>
              </a:rPr>
              <a:t>:</a:t>
            </a:r>
          </a:p>
          <a:p>
            <a:r>
              <a:rPr lang="en-US" altLang="zh-CN" sz="2400" b="1" dirty="0">
                <a:latin typeface="Times New Roman" pitchFamily="18" charset="0"/>
              </a:rPr>
              <a:t>2, </a:t>
            </a:r>
            <a:r>
              <a:rPr lang="zh-CN" altLang="en-US" sz="2400" b="1" dirty="0">
                <a:latin typeface="Times New Roman" pitchFamily="18" charset="0"/>
              </a:rPr>
              <a:t>薄圆盘：</a:t>
            </a:r>
          </a:p>
        </p:txBody>
      </p:sp>
      <p:pic>
        <p:nvPicPr>
          <p:cNvPr id="10" name="图片 9">
            <a:extLst>
              <a:ext uri="{FF2B5EF4-FFF2-40B4-BE49-F238E27FC236}">
                <a16:creationId xmlns:a16="http://schemas.microsoft.com/office/drawing/2014/main" id="{6A68B52E-616D-7FEB-C89B-497DD6646768}"/>
              </a:ext>
            </a:extLst>
          </p:cNvPr>
          <p:cNvPicPr>
            <a:picLocks noChangeAspect="1"/>
          </p:cNvPicPr>
          <p:nvPr/>
        </p:nvPicPr>
        <p:blipFill>
          <a:blip r:embed="rId4"/>
          <a:stretch>
            <a:fillRect/>
          </a:stretch>
        </p:blipFill>
        <p:spPr>
          <a:xfrm>
            <a:off x="3457714" y="5130649"/>
            <a:ext cx="1114286" cy="533333"/>
          </a:xfrm>
          <a:prstGeom prst="rect">
            <a:avLst/>
          </a:prstGeom>
        </p:spPr>
      </p:pic>
      <p:pic>
        <p:nvPicPr>
          <p:cNvPr id="12" name="图片 11">
            <a:extLst>
              <a:ext uri="{FF2B5EF4-FFF2-40B4-BE49-F238E27FC236}">
                <a16:creationId xmlns:a16="http://schemas.microsoft.com/office/drawing/2014/main" id="{D9E6C1C1-E1C8-41F1-8AA8-E7D30B678124}"/>
              </a:ext>
            </a:extLst>
          </p:cNvPr>
          <p:cNvPicPr>
            <a:picLocks noChangeAspect="1"/>
          </p:cNvPicPr>
          <p:nvPr/>
        </p:nvPicPr>
        <p:blipFill>
          <a:blip r:embed="rId5"/>
          <a:stretch>
            <a:fillRect/>
          </a:stretch>
        </p:blipFill>
        <p:spPr>
          <a:xfrm>
            <a:off x="2811687" y="5544950"/>
            <a:ext cx="1095238" cy="533333"/>
          </a:xfrm>
          <a:prstGeom prst="rect">
            <a:avLst/>
          </a:prstGeom>
        </p:spPr>
      </p:pic>
      <p:sp>
        <p:nvSpPr>
          <p:cNvPr id="13" name="Text Box 21">
            <a:extLst>
              <a:ext uri="{FF2B5EF4-FFF2-40B4-BE49-F238E27FC236}">
                <a16:creationId xmlns:a16="http://schemas.microsoft.com/office/drawing/2014/main" id="{7DDFD1BB-F72F-9F70-88B8-6B144B351103}"/>
              </a:ext>
            </a:extLst>
          </p:cNvPr>
          <p:cNvSpPr txBox="1">
            <a:spLocks noChangeArrowheads="1"/>
          </p:cNvSpPr>
          <p:nvPr/>
        </p:nvSpPr>
        <p:spPr bwMode="auto">
          <a:xfrm>
            <a:off x="4190190" y="5596573"/>
            <a:ext cx="21980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b="1" dirty="0">
                <a:latin typeface="Times New Roman" pitchFamily="18" charset="0"/>
              </a:rPr>
              <a:t>(</a:t>
            </a:r>
            <a:r>
              <a:rPr lang="zh-CN" altLang="en-US" b="1" dirty="0">
                <a:latin typeface="Times New Roman" pitchFamily="18" charset="0"/>
              </a:rPr>
              <a:t>圆盘直径转动惯量</a:t>
            </a:r>
            <a:r>
              <a:rPr lang="en-US" altLang="zh-CN" b="1" dirty="0">
                <a:latin typeface="Times New Roman" pitchFamily="18" charset="0"/>
              </a:rPr>
              <a:t>)</a:t>
            </a:r>
            <a:endParaRPr lang="zh-CN" altLang="en-US" b="1" dirty="0">
              <a:latin typeface="Times New Roman" pitchFamily="18" charset="0"/>
            </a:endParaRPr>
          </a:p>
        </p:txBody>
      </p:sp>
      <p:sp>
        <p:nvSpPr>
          <p:cNvPr id="14" name="Text Box 21">
            <a:extLst>
              <a:ext uri="{FF2B5EF4-FFF2-40B4-BE49-F238E27FC236}">
                <a16:creationId xmlns:a16="http://schemas.microsoft.com/office/drawing/2014/main" id="{08A2F19F-5703-53FA-1FE7-724ADA718863}"/>
              </a:ext>
            </a:extLst>
          </p:cNvPr>
          <p:cNvSpPr txBox="1">
            <a:spLocks noChangeArrowheads="1"/>
          </p:cNvSpPr>
          <p:nvPr/>
        </p:nvSpPr>
        <p:spPr bwMode="auto">
          <a:xfrm>
            <a:off x="829315" y="6070425"/>
            <a:ext cx="76899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dirty="0"/>
              <a:t>圆柱对中心直径的转动惯量 </a:t>
            </a:r>
            <a:r>
              <a:rPr lang="en-US" altLang="zh-CN" sz="2400" b="1" dirty="0"/>
              <a:t>= </a:t>
            </a:r>
            <a:r>
              <a:rPr lang="zh-CN" altLang="en-US" sz="2400" b="1" dirty="0"/>
              <a:t>圆盘直径惯量 </a:t>
            </a:r>
            <a:r>
              <a:rPr lang="en-US" altLang="zh-CN" sz="2400" b="1" dirty="0"/>
              <a:t>+ </a:t>
            </a:r>
            <a:r>
              <a:rPr lang="zh-CN" altLang="en-US" sz="2400" b="1" dirty="0"/>
              <a:t>杆的惯量</a:t>
            </a:r>
            <a:endParaRPr lang="zh-CN" altLang="en-US" sz="2400" b="1" dirty="0">
              <a:latin typeface="Times New Roman" pitchFamily="18" charset="0"/>
            </a:endParaRPr>
          </a:p>
        </p:txBody>
      </p:sp>
      <p:pic>
        <p:nvPicPr>
          <p:cNvPr id="16" name="图片 15">
            <a:extLst>
              <a:ext uri="{FF2B5EF4-FFF2-40B4-BE49-F238E27FC236}">
                <a16:creationId xmlns:a16="http://schemas.microsoft.com/office/drawing/2014/main" id="{16460428-C619-E7AD-CFDB-F3219E82C511}"/>
              </a:ext>
            </a:extLst>
          </p:cNvPr>
          <p:cNvPicPr>
            <a:picLocks noChangeAspect="1"/>
          </p:cNvPicPr>
          <p:nvPr/>
        </p:nvPicPr>
        <p:blipFill>
          <a:blip r:embed="rId6"/>
          <a:stretch>
            <a:fillRect/>
          </a:stretch>
        </p:blipFill>
        <p:spPr>
          <a:xfrm>
            <a:off x="2564820" y="5229200"/>
            <a:ext cx="809524" cy="314286"/>
          </a:xfrm>
          <a:prstGeom prst="rect">
            <a:avLst/>
          </a:prstGeom>
        </p:spPr>
      </p:pic>
      <p:pic>
        <p:nvPicPr>
          <p:cNvPr id="18" name="图片 17">
            <a:extLst>
              <a:ext uri="{FF2B5EF4-FFF2-40B4-BE49-F238E27FC236}">
                <a16:creationId xmlns:a16="http://schemas.microsoft.com/office/drawing/2014/main" id="{1AB9D2D4-C4D4-F084-3F79-DB41C9503B1D}"/>
              </a:ext>
            </a:extLst>
          </p:cNvPr>
          <p:cNvPicPr>
            <a:picLocks noChangeAspect="1"/>
          </p:cNvPicPr>
          <p:nvPr/>
        </p:nvPicPr>
        <p:blipFill>
          <a:blip r:embed="rId7"/>
          <a:stretch>
            <a:fillRect/>
          </a:stretch>
        </p:blipFill>
        <p:spPr>
          <a:xfrm>
            <a:off x="2008097" y="5670272"/>
            <a:ext cx="761905" cy="304762"/>
          </a:xfrm>
          <a:prstGeom prst="rect">
            <a:avLst/>
          </a:prstGeom>
        </p:spPr>
      </p:pic>
      <p:sp>
        <p:nvSpPr>
          <p:cNvPr id="2" name="Text Box 21">
            <a:extLst>
              <a:ext uri="{FF2B5EF4-FFF2-40B4-BE49-F238E27FC236}">
                <a16:creationId xmlns:a16="http://schemas.microsoft.com/office/drawing/2014/main" id="{47BB9D68-0255-F41D-C373-E4DE4A50044C}"/>
              </a:ext>
            </a:extLst>
          </p:cNvPr>
          <p:cNvSpPr txBox="1">
            <a:spLocks noChangeArrowheads="1"/>
          </p:cNvSpPr>
          <p:nvPr/>
        </p:nvSpPr>
        <p:spPr bwMode="auto">
          <a:xfrm>
            <a:off x="4524740" y="5190130"/>
            <a:ext cx="367971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b="1" dirty="0"/>
              <a:t>(</a:t>
            </a:r>
            <a:r>
              <a:rPr lang="zh-CN" altLang="en-US" b="1" dirty="0"/>
              <a:t>细杆绕中心的转动惯量</a:t>
            </a:r>
            <a:r>
              <a:rPr lang="en-US" altLang="zh-CN" b="1" dirty="0"/>
              <a:t>)</a:t>
            </a:r>
            <a:endParaRPr lang="zh-CN" altLang="en-US" b="1" dirty="0">
              <a:latin typeface="Times New Roman" pitchFamily="18" charset="0"/>
            </a:endParaRPr>
          </a:p>
        </p:txBody>
      </p:sp>
    </p:spTree>
    <p:extLst>
      <p:ext uri="{BB962C8B-B14F-4D97-AF65-F5344CB8AC3E}">
        <p14:creationId xmlns:p14="http://schemas.microsoft.com/office/powerpoint/2010/main" val="1039213153"/>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3" grpId="0" autoUpdateAnimBg="0"/>
      <p:bldP spid="14" grpId="0" autoUpdateAnimBg="0"/>
      <p:bldP spid="2"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425" y="332656"/>
            <a:ext cx="7169150" cy="534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CE0F2474-93C3-4E2C-9A4D-0446CF8CBD46}"/>
              </a:ext>
            </a:extLst>
          </p:cNvPr>
          <p:cNvSpPr txBox="1"/>
          <p:nvPr/>
        </p:nvSpPr>
        <p:spPr>
          <a:xfrm>
            <a:off x="698676" y="5949280"/>
            <a:ext cx="7481535" cy="400110"/>
          </a:xfrm>
          <a:prstGeom prst="rect">
            <a:avLst/>
          </a:prstGeom>
          <a:noFill/>
        </p:spPr>
        <p:txBody>
          <a:bodyPr wrap="none" rtlCol="0">
            <a:spAutoFit/>
          </a:bodyPr>
          <a:lstStyle/>
          <a:p>
            <a:r>
              <a:rPr lang="zh-CN" altLang="en-US" sz="2000" b="1" dirty="0">
                <a:solidFill>
                  <a:schemeClr val="bg1"/>
                </a:solidFill>
              </a:rPr>
              <a:t>课后思考或查阅 实心均匀球体和均匀球壳的转动惯量如何导出？</a:t>
            </a:r>
          </a:p>
        </p:txBody>
      </p:sp>
    </p:spTree>
    <p:extLst>
      <p:ext uri="{BB962C8B-B14F-4D97-AF65-F5344CB8AC3E}">
        <p14:creationId xmlns:p14="http://schemas.microsoft.com/office/powerpoint/2010/main" val="1269367575"/>
      </p:ext>
    </p:extLst>
  </p:cSld>
  <p:clrMapOvr>
    <a:masterClrMapping/>
  </p:clrMapOvr>
  <p:transition spd="slow">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51AC26A-5A92-4330-91C4-3E827E92936B}"/>
              </a:ext>
            </a:extLst>
          </p:cNvPr>
          <p:cNvSpPr/>
          <p:nvPr/>
        </p:nvSpPr>
        <p:spPr>
          <a:xfrm>
            <a:off x="323528" y="404664"/>
            <a:ext cx="4572000" cy="1692771"/>
          </a:xfrm>
          <a:prstGeom prst="rect">
            <a:avLst/>
          </a:prstGeom>
        </p:spPr>
        <p:txBody>
          <a:bodyPr>
            <a:spAutoFit/>
          </a:bodyPr>
          <a:lstStyle/>
          <a:p>
            <a:r>
              <a:rPr lang="zh-CN" altLang="en-US" sz="2400" b="1" dirty="0">
                <a:solidFill>
                  <a:schemeClr val="bg1"/>
                </a:solidFill>
              </a:rPr>
              <a:t>思考题：</a:t>
            </a:r>
            <a:endParaRPr lang="en-US" altLang="zh-CN" sz="2400" b="1" dirty="0">
              <a:solidFill>
                <a:schemeClr val="bg1"/>
              </a:solidFill>
            </a:endParaRPr>
          </a:p>
          <a:p>
            <a:r>
              <a:rPr lang="zh-CN" altLang="en-US" sz="2000" b="1" dirty="0">
                <a:solidFill>
                  <a:schemeClr val="bg1"/>
                </a:solidFill>
              </a:rPr>
              <a:t>在质量为</a:t>
            </a:r>
            <a:r>
              <a:rPr lang="en-US" altLang="zh-CN" sz="2000" b="1" dirty="0">
                <a:solidFill>
                  <a:schemeClr val="bg1"/>
                </a:solidFill>
              </a:rPr>
              <a:t>M</a:t>
            </a:r>
            <a:r>
              <a:rPr lang="zh-CN" altLang="en-US" sz="2000" b="1" dirty="0">
                <a:solidFill>
                  <a:schemeClr val="bg1"/>
                </a:solidFill>
              </a:rPr>
              <a:t>，半径为</a:t>
            </a:r>
            <a:r>
              <a:rPr lang="en-US" altLang="zh-CN" sz="2000" b="1" dirty="0">
                <a:solidFill>
                  <a:schemeClr val="bg1"/>
                </a:solidFill>
              </a:rPr>
              <a:t>R </a:t>
            </a:r>
            <a:r>
              <a:rPr lang="zh-CN" altLang="en-US" sz="2000" b="1" dirty="0">
                <a:solidFill>
                  <a:schemeClr val="bg1"/>
                </a:solidFill>
              </a:rPr>
              <a:t>的匀质圆盘上挖出半径为</a:t>
            </a:r>
            <a:r>
              <a:rPr lang="en-US" altLang="zh-CN" sz="2000" b="1" dirty="0">
                <a:solidFill>
                  <a:schemeClr val="bg1"/>
                </a:solidFill>
              </a:rPr>
              <a:t>r </a:t>
            </a:r>
            <a:r>
              <a:rPr lang="zh-CN" altLang="en-US" sz="2000" b="1" dirty="0">
                <a:solidFill>
                  <a:schemeClr val="bg1"/>
                </a:solidFill>
              </a:rPr>
              <a:t>的两个圆孔．圆孔中心在圆盘半径的中点．求剩余部分对大圆盘中心且与盘面垂直的轴线的转动惯量</a:t>
            </a:r>
            <a:r>
              <a:rPr lang="zh-CN" altLang="en-US" b="1" dirty="0">
                <a:solidFill>
                  <a:schemeClr val="bg1"/>
                </a:solidFill>
              </a:rPr>
              <a:t>．</a:t>
            </a:r>
          </a:p>
        </p:txBody>
      </p:sp>
      <p:pic>
        <p:nvPicPr>
          <p:cNvPr id="5" name="Picture 2">
            <a:extLst>
              <a:ext uri="{FF2B5EF4-FFF2-40B4-BE49-F238E27FC236}">
                <a16:creationId xmlns:a16="http://schemas.microsoft.com/office/drawing/2014/main" id="{D75EDF6A-63E1-4650-9A3B-9F93254A6E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4168" y="101398"/>
            <a:ext cx="2747367" cy="264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8799403"/>
      </p:ext>
    </p:extLst>
  </p:cSld>
  <p:clrMapOvr>
    <a:masterClrMapping/>
  </p:clrMapOvr>
  <p:transition spd="slow">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34"/>
          <p:cNvSpPr txBox="1">
            <a:spLocks noChangeArrowheads="1"/>
          </p:cNvSpPr>
          <p:nvPr/>
        </p:nvSpPr>
        <p:spPr bwMode="auto">
          <a:xfrm>
            <a:off x="0" y="53975"/>
            <a:ext cx="397033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800" b="1">
                <a:solidFill>
                  <a:srgbClr val="FFC000"/>
                </a:solidFill>
                <a:latin typeface="Times New Roman" pitchFamily="18" charset="0"/>
              </a:rPr>
              <a:t>五</a:t>
            </a:r>
            <a:r>
              <a:rPr lang="en-US" altLang="zh-CN" sz="2800" b="1">
                <a:solidFill>
                  <a:srgbClr val="FFC000"/>
                </a:solidFill>
                <a:latin typeface="Times New Roman" pitchFamily="18" charset="0"/>
              </a:rPr>
              <a:t>. </a:t>
            </a:r>
            <a:r>
              <a:rPr lang="zh-CN" altLang="en-US" sz="2800" b="1">
                <a:solidFill>
                  <a:srgbClr val="FFC000"/>
                </a:solidFill>
                <a:latin typeface="Times New Roman" pitchFamily="18" charset="0"/>
              </a:rPr>
              <a:t>转动定律的应用举例</a:t>
            </a:r>
            <a:endParaRPr lang="zh-CN" altLang="en-US" sz="3200" b="1">
              <a:solidFill>
                <a:srgbClr val="FFC000"/>
              </a:solidFill>
              <a:latin typeface="Times New Roman" pitchFamily="18" charset="0"/>
            </a:endParaRPr>
          </a:p>
        </p:txBody>
      </p:sp>
      <p:sp>
        <p:nvSpPr>
          <p:cNvPr id="2" name="TextBox 1"/>
          <p:cNvSpPr txBox="1"/>
          <p:nvPr/>
        </p:nvSpPr>
        <p:spPr>
          <a:xfrm>
            <a:off x="395537" y="610487"/>
            <a:ext cx="8640960" cy="4893647"/>
          </a:xfrm>
          <a:prstGeom prst="rect">
            <a:avLst/>
          </a:prstGeom>
          <a:noFill/>
        </p:spPr>
        <p:txBody>
          <a:bodyPr wrap="square" rtlCol="0">
            <a:spAutoFit/>
          </a:bodyPr>
          <a:lstStyle/>
          <a:p>
            <a:r>
              <a:rPr lang="zh-CN" altLang="en-US" sz="2400" b="1" dirty="0">
                <a:solidFill>
                  <a:schemeClr val="bg1"/>
                </a:solidFill>
              </a:rPr>
              <a:t>运用转动定律解决刚体绕定轴转动问题是本课程的重点：</a:t>
            </a:r>
            <a:endParaRPr lang="en-US" altLang="zh-CN" sz="2400" b="1" dirty="0">
              <a:solidFill>
                <a:schemeClr val="bg1"/>
              </a:solidFill>
            </a:endParaRPr>
          </a:p>
          <a:p>
            <a:r>
              <a:rPr lang="en-US" altLang="zh-CN" sz="2400" b="1" dirty="0">
                <a:solidFill>
                  <a:schemeClr val="bg1"/>
                </a:solidFill>
              </a:rPr>
              <a:t>1</a:t>
            </a:r>
            <a:r>
              <a:rPr lang="zh-CN" altLang="en-US" sz="2400" b="1" dirty="0">
                <a:solidFill>
                  <a:schemeClr val="bg1"/>
                </a:solidFill>
              </a:rPr>
              <a:t>、已知转动状态求刚体所受的力矩或力；</a:t>
            </a:r>
            <a:endParaRPr lang="en-US" altLang="zh-CN" sz="2400" b="1" dirty="0">
              <a:solidFill>
                <a:schemeClr val="bg1"/>
              </a:solidFill>
            </a:endParaRPr>
          </a:p>
          <a:p>
            <a:r>
              <a:rPr lang="en-US" altLang="zh-CN" sz="2400" b="1" dirty="0">
                <a:solidFill>
                  <a:schemeClr val="bg1"/>
                </a:solidFill>
              </a:rPr>
              <a:t>2</a:t>
            </a:r>
            <a:r>
              <a:rPr lang="zh-CN" altLang="en-US" sz="2400" b="1" dirty="0">
                <a:solidFill>
                  <a:schemeClr val="bg1"/>
                </a:solidFill>
              </a:rPr>
              <a:t>、已知所受的力或力矩求转动状态（角加速度、角速度、角位移或者转动时间）</a:t>
            </a:r>
            <a:endParaRPr lang="en-US" altLang="zh-CN" sz="2400" b="1" dirty="0">
              <a:solidFill>
                <a:schemeClr val="bg1"/>
              </a:solidFill>
            </a:endParaRPr>
          </a:p>
          <a:p>
            <a:endParaRPr lang="en-US" altLang="zh-CN" sz="2400" b="1" dirty="0">
              <a:solidFill>
                <a:schemeClr val="bg1"/>
              </a:solidFill>
            </a:endParaRPr>
          </a:p>
          <a:p>
            <a:r>
              <a:rPr lang="zh-CN" altLang="en-US" sz="2400" b="1" dirty="0">
                <a:solidFill>
                  <a:schemeClr val="bg1"/>
                </a:solidFill>
              </a:rPr>
              <a:t>解题要点：</a:t>
            </a:r>
            <a:endParaRPr lang="en-US" altLang="zh-CN" sz="2400" b="1" dirty="0">
              <a:solidFill>
                <a:schemeClr val="bg1"/>
              </a:solidFill>
            </a:endParaRPr>
          </a:p>
          <a:p>
            <a:pPr marL="457200" indent="-457200">
              <a:buAutoNum type="arabicPeriod"/>
            </a:pPr>
            <a:r>
              <a:rPr lang="zh-CN" altLang="en-US" sz="2400" b="1" dirty="0">
                <a:solidFill>
                  <a:schemeClr val="bg1"/>
                </a:solidFill>
              </a:rPr>
              <a:t>不仅做受力分析，更要正确分析力矩</a:t>
            </a:r>
            <a:endParaRPr lang="en-US" altLang="zh-CN" sz="2400" b="1" dirty="0">
              <a:solidFill>
                <a:schemeClr val="bg1"/>
              </a:solidFill>
            </a:endParaRPr>
          </a:p>
          <a:p>
            <a:pPr marL="457200" indent="-457200">
              <a:buAutoNum type="arabicPeriod"/>
            </a:pPr>
            <a:r>
              <a:rPr lang="zh-CN" altLang="en-US" sz="2400" b="1" dirty="0">
                <a:solidFill>
                  <a:schemeClr val="bg1"/>
                </a:solidFill>
              </a:rPr>
              <a:t>将牛顿第二定律的解题技巧类比运用于转动定律</a:t>
            </a:r>
            <a:endParaRPr lang="en-US" altLang="zh-CN" sz="2400" b="1" dirty="0">
              <a:solidFill>
                <a:schemeClr val="bg1"/>
              </a:solidFill>
            </a:endParaRPr>
          </a:p>
          <a:p>
            <a:pPr marL="457200" indent="-457200">
              <a:buAutoNum type="arabicPeriod"/>
            </a:pPr>
            <a:r>
              <a:rPr lang="zh-CN" altLang="en-US" sz="2400" b="1" dirty="0">
                <a:solidFill>
                  <a:schemeClr val="bg1"/>
                </a:solidFill>
              </a:rPr>
              <a:t>正确计算刚体转动惯量（典型结构需要记忆，复杂结构由典型结构导出）</a:t>
            </a:r>
            <a:endParaRPr lang="en-US" altLang="zh-CN" sz="2400" b="1" dirty="0">
              <a:solidFill>
                <a:schemeClr val="bg1"/>
              </a:solidFill>
            </a:endParaRPr>
          </a:p>
          <a:p>
            <a:pPr marL="457200" indent="-457200">
              <a:buAutoNum type="arabicPeriod"/>
            </a:pPr>
            <a:r>
              <a:rPr lang="zh-CN" altLang="en-US" sz="2400" b="1" dirty="0">
                <a:solidFill>
                  <a:schemeClr val="bg1"/>
                </a:solidFill>
              </a:rPr>
              <a:t>注意角量与线量的换算关系</a:t>
            </a:r>
            <a:endParaRPr lang="en-US" altLang="zh-CN" sz="2400" b="1" dirty="0">
              <a:solidFill>
                <a:schemeClr val="bg1"/>
              </a:solidFill>
            </a:endParaRPr>
          </a:p>
          <a:p>
            <a:pPr marL="457200" indent="-457200">
              <a:buAutoNum type="arabicPeriod"/>
            </a:pPr>
            <a:r>
              <a:rPr lang="zh-CN" altLang="en-US" sz="2400" b="1" dirty="0">
                <a:solidFill>
                  <a:schemeClr val="bg1"/>
                </a:solidFill>
              </a:rPr>
              <a:t>抓住刚体与刚体间、刚体与质点间运动的传递关系，力和力矩的传递关系</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793" y="33592"/>
            <a:ext cx="6561138"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b="1" dirty="0">
                <a:solidFill>
                  <a:srgbClr val="FFC000"/>
                </a:solidFill>
                <a:latin typeface="+mn-lt"/>
              </a:rPr>
              <a:t>书中例题</a:t>
            </a:r>
            <a:r>
              <a:rPr lang="en-US" altLang="zh-CN" sz="2400" b="1" dirty="0">
                <a:solidFill>
                  <a:srgbClr val="FFC000"/>
                </a:solidFill>
                <a:latin typeface="+mn-lt"/>
              </a:rPr>
              <a:t>6.3 (P202)  </a:t>
            </a:r>
            <a:r>
              <a:rPr lang="zh-CN" altLang="zh-CN" sz="2400" b="1" dirty="0">
                <a:solidFill>
                  <a:schemeClr val="bg1"/>
                </a:solidFill>
                <a:latin typeface="+mn-lt"/>
              </a:rPr>
              <a:t>已知：滑轮半径为</a:t>
            </a:r>
            <a:r>
              <a:rPr lang="en-US" altLang="zh-CN" sz="2400" b="1" i="1" dirty="0">
                <a:solidFill>
                  <a:schemeClr val="bg1"/>
                </a:solidFill>
                <a:latin typeface="+mn-lt"/>
              </a:rPr>
              <a:t>R</a:t>
            </a:r>
            <a:r>
              <a:rPr lang="zh-CN" altLang="zh-CN" sz="2400" b="1" dirty="0">
                <a:solidFill>
                  <a:schemeClr val="bg1"/>
                </a:solidFill>
                <a:latin typeface="+mn-lt"/>
              </a:rPr>
              <a:t>，质量为</a:t>
            </a:r>
            <a:r>
              <a:rPr lang="en-US" altLang="zh-CN" sz="2400" b="1" i="1" dirty="0">
                <a:solidFill>
                  <a:schemeClr val="bg1"/>
                </a:solidFill>
                <a:latin typeface="+mn-lt"/>
              </a:rPr>
              <a:t>M</a:t>
            </a:r>
            <a:r>
              <a:rPr lang="zh-CN" altLang="zh-CN" sz="2400" b="1" dirty="0">
                <a:solidFill>
                  <a:schemeClr val="bg1"/>
                </a:solidFill>
                <a:latin typeface="+mn-lt"/>
              </a:rPr>
              <a:t>，绳子不可伸缩的轻绳，绳子与滑轮间无滑动，轴处无摩擦，两个悬挂物的质量分别为</a:t>
            </a:r>
            <a:r>
              <a:rPr lang="en-US" altLang="zh-CN" sz="2400" b="1" i="1" dirty="0">
                <a:solidFill>
                  <a:schemeClr val="bg1"/>
                </a:solidFill>
                <a:latin typeface="+mn-lt"/>
              </a:rPr>
              <a:t>m</a:t>
            </a:r>
            <a:r>
              <a:rPr lang="en-US" altLang="zh-CN" b="1" dirty="0">
                <a:solidFill>
                  <a:schemeClr val="bg1"/>
                </a:solidFill>
                <a:latin typeface="+mn-lt"/>
              </a:rPr>
              <a:t>1</a:t>
            </a:r>
            <a:r>
              <a:rPr lang="zh-CN" altLang="zh-CN" sz="2400" b="1" dirty="0">
                <a:solidFill>
                  <a:schemeClr val="bg1"/>
                </a:solidFill>
                <a:latin typeface="+mn-lt"/>
              </a:rPr>
              <a:t>，</a:t>
            </a:r>
            <a:r>
              <a:rPr lang="en-US" altLang="zh-CN" sz="2400" b="1" i="1" dirty="0">
                <a:solidFill>
                  <a:schemeClr val="bg1"/>
                </a:solidFill>
                <a:latin typeface="+mn-lt"/>
              </a:rPr>
              <a:t>m</a:t>
            </a:r>
            <a:r>
              <a:rPr lang="en-US" altLang="zh-CN" b="1" dirty="0">
                <a:solidFill>
                  <a:schemeClr val="bg1"/>
                </a:solidFill>
                <a:latin typeface="+mn-lt"/>
              </a:rPr>
              <a:t>2</a:t>
            </a:r>
            <a:r>
              <a:rPr lang="zh-CN" altLang="zh-CN" sz="2400" b="1" dirty="0">
                <a:solidFill>
                  <a:schemeClr val="bg1"/>
                </a:solidFill>
                <a:latin typeface="+mn-lt"/>
              </a:rPr>
              <a:t>。求：两重物的加速度，滑轮的角加速度，绳中的张力。</a:t>
            </a:r>
          </a:p>
        </p:txBody>
      </p:sp>
      <p:pic>
        <p:nvPicPr>
          <p:cNvPr id="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8438" y="368300"/>
            <a:ext cx="2552700" cy="592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08696" y="1973517"/>
            <a:ext cx="5544616" cy="1569660"/>
          </a:xfrm>
          <a:prstGeom prst="rect">
            <a:avLst/>
          </a:prstGeom>
          <a:noFill/>
        </p:spPr>
        <p:txBody>
          <a:bodyPr wrap="square" rtlCol="0">
            <a:spAutoFit/>
          </a:bodyPr>
          <a:lstStyle/>
          <a:p>
            <a:r>
              <a:rPr lang="zh-CN" altLang="en-US" sz="2400" b="1" dirty="0">
                <a:solidFill>
                  <a:schemeClr val="bg1"/>
                </a:solidFill>
              </a:rPr>
              <a:t>过去讨论滑轮时没有考虑滑轮质量，滑轮两端的绳子受力大小相等方向相反，这个问题中需要考虑滑轮质量，</a:t>
            </a:r>
            <a:r>
              <a:rPr lang="zh-CN" altLang="en-US" sz="2400" b="1" dirty="0">
                <a:solidFill>
                  <a:srgbClr val="FFC000"/>
                </a:solidFill>
              </a:rPr>
              <a:t>两端绳子受力是不等的</a:t>
            </a:r>
            <a:r>
              <a:rPr lang="zh-CN" altLang="en-US" sz="2400" b="1" dirty="0">
                <a:solidFill>
                  <a:schemeClr val="bg1"/>
                </a:solidFill>
              </a:rPr>
              <a:t>。</a:t>
            </a:r>
          </a:p>
        </p:txBody>
      </p:sp>
      <p:graphicFrame>
        <p:nvGraphicFramePr>
          <p:cNvPr id="6" name="对象 5"/>
          <p:cNvGraphicFramePr>
            <a:graphicFrameLocks noChangeAspect="1"/>
          </p:cNvGraphicFramePr>
          <p:nvPr>
            <p:extLst>
              <p:ext uri="{D42A27DB-BD31-4B8C-83A1-F6EECF244321}">
                <p14:modId xmlns:p14="http://schemas.microsoft.com/office/powerpoint/2010/main" val="1569411541"/>
              </p:ext>
            </p:extLst>
          </p:nvPr>
        </p:nvGraphicFramePr>
        <p:xfrm>
          <a:off x="1763687" y="3569554"/>
          <a:ext cx="1879569" cy="435510"/>
        </p:xfrm>
        <a:graphic>
          <a:graphicData uri="http://schemas.openxmlformats.org/presentationml/2006/ole">
            <mc:AlternateContent xmlns:mc="http://schemas.openxmlformats.org/markup-compatibility/2006">
              <mc:Choice xmlns:v="urn:schemas-microsoft-com:vml" Requires="v">
                <p:oleObj spid="_x0000_s20512" name="Equation" r:id="rId4" imgW="1041120" imgH="241200" progId="Equation.DSMT4">
                  <p:embed/>
                </p:oleObj>
              </mc:Choice>
              <mc:Fallback>
                <p:oleObj name="Equation" r:id="rId4" imgW="1041120" imgH="241200" progId="Equation.DSMT4">
                  <p:embed/>
                  <p:pic>
                    <p:nvPicPr>
                      <p:cNvPr id="0" name=""/>
                      <p:cNvPicPr/>
                      <p:nvPr/>
                    </p:nvPicPr>
                    <p:blipFill>
                      <a:blip r:embed="rId5"/>
                      <a:stretch>
                        <a:fillRect/>
                      </a:stretch>
                    </p:blipFill>
                    <p:spPr>
                      <a:xfrm>
                        <a:off x="1763687" y="3569554"/>
                        <a:ext cx="1879569" cy="43551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223196046"/>
              </p:ext>
            </p:extLst>
          </p:nvPr>
        </p:nvGraphicFramePr>
        <p:xfrm>
          <a:off x="1835696" y="4149080"/>
          <a:ext cx="1719263" cy="412750"/>
        </p:xfrm>
        <a:graphic>
          <a:graphicData uri="http://schemas.openxmlformats.org/presentationml/2006/ole">
            <mc:AlternateContent xmlns:mc="http://schemas.openxmlformats.org/markup-compatibility/2006">
              <mc:Choice xmlns:v="urn:schemas-microsoft-com:vml" Requires="v">
                <p:oleObj spid="_x0000_s20513" name="Equation" r:id="rId6" imgW="952200" imgH="228600" progId="Equation.DSMT4">
                  <p:embed/>
                </p:oleObj>
              </mc:Choice>
              <mc:Fallback>
                <p:oleObj name="Equation" r:id="rId6" imgW="952200" imgH="228600" progId="Equation.DSMT4">
                  <p:embed/>
                  <p:pic>
                    <p:nvPicPr>
                      <p:cNvPr id="0" name="对象 5"/>
                      <p:cNvPicPr>
                        <a:picLocks noChangeAspect="1" noChangeArrowheads="1"/>
                      </p:cNvPicPr>
                      <p:nvPr/>
                    </p:nvPicPr>
                    <p:blipFill>
                      <a:blip r:embed="rId7"/>
                      <a:srcRect/>
                      <a:stretch>
                        <a:fillRect/>
                      </a:stretch>
                    </p:blipFill>
                    <p:spPr bwMode="auto">
                      <a:xfrm>
                        <a:off x="1835696" y="4149080"/>
                        <a:ext cx="171926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317723995"/>
              </p:ext>
            </p:extLst>
          </p:nvPr>
        </p:nvGraphicFramePr>
        <p:xfrm>
          <a:off x="1835696" y="4696953"/>
          <a:ext cx="1787525" cy="412750"/>
        </p:xfrm>
        <a:graphic>
          <a:graphicData uri="http://schemas.openxmlformats.org/presentationml/2006/ole">
            <mc:AlternateContent xmlns:mc="http://schemas.openxmlformats.org/markup-compatibility/2006">
              <mc:Choice xmlns:v="urn:schemas-microsoft-com:vml" Requires="v">
                <p:oleObj spid="_x0000_s20514" name="Equation" r:id="rId8" imgW="990360" imgH="228600" progId="Equation.DSMT4">
                  <p:embed/>
                </p:oleObj>
              </mc:Choice>
              <mc:Fallback>
                <p:oleObj name="Equation" r:id="rId8" imgW="990360" imgH="228600" progId="Equation.DSMT4">
                  <p:embed/>
                  <p:pic>
                    <p:nvPicPr>
                      <p:cNvPr id="0" name="对象 6"/>
                      <p:cNvPicPr>
                        <a:picLocks noChangeAspect="1" noChangeArrowheads="1"/>
                      </p:cNvPicPr>
                      <p:nvPr/>
                    </p:nvPicPr>
                    <p:blipFill>
                      <a:blip r:embed="rId9"/>
                      <a:srcRect/>
                      <a:stretch>
                        <a:fillRect/>
                      </a:stretch>
                    </p:blipFill>
                    <p:spPr bwMode="auto">
                      <a:xfrm>
                        <a:off x="1835696" y="4696953"/>
                        <a:ext cx="1787525"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357721"/>
              </p:ext>
            </p:extLst>
          </p:nvPr>
        </p:nvGraphicFramePr>
        <p:xfrm>
          <a:off x="2290763" y="5229225"/>
          <a:ext cx="869950" cy="366713"/>
        </p:xfrm>
        <a:graphic>
          <a:graphicData uri="http://schemas.openxmlformats.org/presentationml/2006/ole">
            <mc:AlternateContent xmlns:mc="http://schemas.openxmlformats.org/markup-compatibility/2006">
              <mc:Choice xmlns:v="urn:schemas-microsoft-com:vml" Requires="v">
                <p:oleObj spid="_x0000_s20515" name="Equation" r:id="rId10" imgW="482400" imgH="203040" progId="Equation.DSMT4">
                  <p:embed/>
                </p:oleObj>
              </mc:Choice>
              <mc:Fallback>
                <p:oleObj name="Equation" r:id="rId10" imgW="482400" imgH="203040" progId="Equation.DSMT4">
                  <p:embed/>
                  <p:pic>
                    <p:nvPicPr>
                      <p:cNvPr id="0" name="对象 7"/>
                      <p:cNvPicPr>
                        <a:picLocks noChangeAspect="1" noChangeArrowheads="1"/>
                      </p:cNvPicPr>
                      <p:nvPr/>
                    </p:nvPicPr>
                    <p:blipFill>
                      <a:blip r:embed="rId11"/>
                      <a:srcRect/>
                      <a:stretch>
                        <a:fillRect/>
                      </a:stretch>
                    </p:blipFill>
                    <p:spPr bwMode="auto">
                      <a:xfrm>
                        <a:off x="2290763" y="5229225"/>
                        <a:ext cx="869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106998358"/>
              </p:ext>
            </p:extLst>
          </p:nvPr>
        </p:nvGraphicFramePr>
        <p:xfrm>
          <a:off x="899592" y="5642342"/>
          <a:ext cx="3663950" cy="709612"/>
        </p:xfrm>
        <a:graphic>
          <a:graphicData uri="http://schemas.openxmlformats.org/presentationml/2006/ole">
            <mc:AlternateContent xmlns:mc="http://schemas.openxmlformats.org/markup-compatibility/2006">
              <mc:Choice xmlns:v="urn:schemas-microsoft-com:vml" Requires="v">
                <p:oleObj spid="_x0000_s20516" name="Equation" r:id="rId12" imgW="2031840" imgH="393480" progId="Equation.DSMT4">
                  <p:embed/>
                </p:oleObj>
              </mc:Choice>
              <mc:Fallback>
                <p:oleObj name="Equation" r:id="rId12" imgW="2031840" imgH="393480" progId="Equation.DSMT4">
                  <p:embed/>
                  <p:pic>
                    <p:nvPicPr>
                      <p:cNvPr id="0" name="对象 8"/>
                      <p:cNvPicPr>
                        <a:picLocks noChangeAspect="1" noChangeArrowheads="1"/>
                      </p:cNvPicPr>
                      <p:nvPr/>
                    </p:nvPicPr>
                    <p:blipFill>
                      <a:blip r:embed="rId13"/>
                      <a:srcRect/>
                      <a:stretch>
                        <a:fillRect/>
                      </a:stretch>
                    </p:blipFill>
                    <p:spPr bwMode="auto">
                      <a:xfrm>
                        <a:off x="899592" y="5642342"/>
                        <a:ext cx="3663950"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61234866"/>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75456"/>
            <a:ext cx="1731564" cy="461665"/>
          </a:xfrm>
          <a:prstGeom prst="rect">
            <a:avLst/>
          </a:prstGeom>
        </p:spPr>
        <p:txBody>
          <a:bodyPr wrap="none">
            <a:spAutoFit/>
          </a:bodyPr>
          <a:lstStyle/>
          <a:p>
            <a:r>
              <a:rPr lang="zh-CN" altLang="zh-CN" sz="2400" b="1">
                <a:solidFill>
                  <a:schemeClr val="bg1"/>
                </a:solidFill>
              </a:rPr>
              <a:t>解方程得：</a:t>
            </a:r>
          </a:p>
        </p:txBody>
      </p:sp>
      <p:pic>
        <p:nvPicPr>
          <p:cNvPr id="7168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42426" y="1052736"/>
            <a:ext cx="2524800" cy="1008112"/>
          </a:xfrm>
          <a:prstGeom prst="rect">
            <a:avLst/>
          </a:prstGeom>
          <a:solidFill>
            <a:schemeClr val="bg1"/>
          </a:solidFill>
          <a:ln>
            <a:noFill/>
          </a:ln>
        </p:spPr>
      </p:pic>
      <p:pic>
        <p:nvPicPr>
          <p:cNvPr id="7168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0412" y="1052736"/>
            <a:ext cx="2219655" cy="1008112"/>
          </a:xfrm>
          <a:prstGeom prst="rect">
            <a:avLst/>
          </a:prstGeom>
          <a:solidFill>
            <a:schemeClr val="bg1"/>
          </a:solidFill>
          <a:ln>
            <a:noFill/>
          </a:ln>
        </p:spPr>
      </p:pic>
      <p:pic>
        <p:nvPicPr>
          <p:cNvPr id="71684"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60554" y="2276872"/>
            <a:ext cx="2335735" cy="1296144"/>
          </a:xfrm>
          <a:prstGeom prst="rect">
            <a:avLst/>
          </a:prstGeom>
          <a:solidFill>
            <a:schemeClr val="bg1"/>
          </a:solidFill>
          <a:ln>
            <a:noFill/>
          </a:ln>
        </p:spPr>
      </p:pic>
      <p:pic>
        <p:nvPicPr>
          <p:cNvPr id="71685"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70412" y="2276872"/>
            <a:ext cx="2402661" cy="1296144"/>
          </a:xfrm>
          <a:prstGeom prst="rect">
            <a:avLst/>
          </a:prstGeom>
          <a:solidFill>
            <a:schemeClr val="bg1"/>
          </a:solidFill>
          <a:ln>
            <a:noFill/>
          </a:ln>
        </p:spPr>
      </p:pic>
      <p:sp>
        <p:nvSpPr>
          <p:cNvPr id="3" name="矩形 2"/>
          <p:cNvSpPr/>
          <p:nvPr/>
        </p:nvSpPr>
        <p:spPr>
          <a:xfrm>
            <a:off x="683568" y="4005064"/>
            <a:ext cx="8136904" cy="830997"/>
          </a:xfrm>
          <a:prstGeom prst="rect">
            <a:avLst/>
          </a:prstGeom>
        </p:spPr>
        <p:txBody>
          <a:bodyPr wrap="square">
            <a:spAutoFit/>
          </a:bodyPr>
          <a:lstStyle/>
          <a:p>
            <a:r>
              <a:rPr lang="zh-CN" altLang="zh-CN" sz="2400" b="1">
                <a:solidFill>
                  <a:schemeClr val="bg1"/>
                </a:solidFill>
              </a:rPr>
              <a:t>中学见过这类问题很多，但滑轮都是轻滑轮，不考虑滑轮的质量，</a:t>
            </a:r>
            <a:r>
              <a:rPr lang="en-US" altLang="zh-CN" sz="2400" b="1" i="1">
                <a:solidFill>
                  <a:schemeClr val="bg1"/>
                </a:solidFill>
                <a:latin typeface="+mn-lt"/>
              </a:rPr>
              <a:t>M</a:t>
            </a:r>
            <a:r>
              <a:rPr lang="zh-CN" altLang="zh-CN" sz="2400" b="1">
                <a:solidFill>
                  <a:schemeClr val="bg1"/>
                </a:solidFill>
              </a:rPr>
              <a:t>＝</a:t>
            </a:r>
            <a:r>
              <a:rPr lang="en-US" altLang="zh-CN" sz="2400" b="1">
                <a:solidFill>
                  <a:schemeClr val="bg1"/>
                </a:solidFill>
              </a:rPr>
              <a:t>0</a:t>
            </a:r>
            <a:r>
              <a:rPr lang="zh-CN" altLang="zh-CN" sz="2400" b="1">
                <a:solidFill>
                  <a:schemeClr val="bg1"/>
                </a:solidFill>
              </a:rPr>
              <a:t>，将其代入上面的方程得：</a:t>
            </a:r>
          </a:p>
        </p:txBody>
      </p:sp>
      <p:pic>
        <p:nvPicPr>
          <p:cNvPr id="71686"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683284" y="5348055"/>
            <a:ext cx="1643084" cy="810522"/>
          </a:xfrm>
          <a:prstGeom prst="rect">
            <a:avLst/>
          </a:prstGeom>
          <a:solidFill>
            <a:schemeClr val="bg1"/>
          </a:solidFill>
          <a:ln>
            <a:noFill/>
          </a:ln>
        </p:spPr>
      </p:pic>
      <p:pic>
        <p:nvPicPr>
          <p:cNvPr id="71687" name="Picture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83968" y="5329481"/>
            <a:ext cx="2259351" cy="829096"/>
          </a:xfrm>
          <a:prstGeom prst="rect">
            <a:avLst/>
          </a:prstGeom>
          <a:solidFill>
            <a:schemeClr val="bg1"/>
          </a:solidFill>
          <a:ln>
            <a:noFill/>
          </a:ln>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68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6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矩形 2"/>
          <p:cNvSpPr>
            <a:spLocks noChangeArrowheads="1"/>
          </p:cNvSpPr>
          <p:nvPr/>
        </p:nvSpPr>
        <p:spPr bwMode="auto">
          <a:xfrm>
            <a:off x="30163" y="68263"/>
            <a:ext cx="9132887"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b="1" dirty="0">
                <a:solidFill>
                  <a:srgbClr val="FFC000"/>
                </a:solidFill>
                <a:latin typeface="+mj-lt"/>
              </a:rPr>
              <a:t>书中例题</a:t>
            </a:r>
            <a:r>
              <a:rPr lang="en-US" altLang="zh-CN" sz="2400" b="1" dirty="0">
                <a:solidFill>
                  <a:srgbClr val="FFC000"/>
                </a:solidFill>
                <a:latin typeface="+mj-lt"/>
              </a:rPr>
              <a:t>6.4 (P202) </a:t>
            </a:r>
            <a:r>
              <a:rPr lang="zh-CN" altLang="zh-CN" sz="2400" b="1" dirty="0">
                <a:solidFill>
                  <a:schemeClr val="bg1"/>
                </a:solidFill>
                <a:latin typeface="+mj-lt"/>
              </a:rPr>
              <a:t>已知：两个皮带轮半径分别为</a:t>
            </a:r>
            <a:r>
              <a:rPr lang="en-US" altLang="zh-CN" sz="2400" b="1" i="1" dirty="0">
                <a:solidFill>
                  <a:schemeClr val="bg1"/>
                </a:solidFill>
                <a:latin typeface="+mj-lt"/>
              </a:rPr>
              <a:t>R</a:t>
            </a:r>
            <a:r>
              <a:rPr lang="en-US" altLang="zh-CN" b="1" dirty="0">
                <a:solidFill>
                  <a:schemeClr val="bg1"/>
                </a:solidFill>
                <a:latin typeface="+mj-lt"/>
              </a:rPr>
              <a:t>1</a:t>
            </a:r>
            <a:r>
              <a:rPr lang="zh-CN" altLang="zh-CN" sz="2400" b="1" dirty="0">
                <a:solidFill>
                  <a:schemeClr val="bg1"/>
                </a:solidFill>
                <a:latin typeface="+mj-lt"/>
              </a:rPr>
              <a:t>，</a:t>
            </a:r>
            <a:r>
              <a:rPr lang="en-US" altLang="zh-CN" sz="2400" b="1" i="1" dirty="0">
                <a:solidFill>
                  <a:schemeClr val="bg1"/>
                </a:solidFill>
                <a:latin typeface="+mj-lt"/>
              </a:rPr>
              <a:t>R</a:t>
            </a:r>
            <a:r>
              <a:rPr lang="en-US" altLang="zh-CN" b="1" dirty="0">
                <a:solidFill>
                  <a:schemeClr val="bg1"/>
                </a:solidFill>
                <a:latin typeface="+mj-lt"/>
              </a:rPr>
              <a:t>2</a:t>
            </a:r>
            <a:r>
              <a:rPr lang="zh-CN" altLang="zh-CN" sz="2400" b="1" dirty="0">
                <a:solidFill>
                  <a:schemeClr val="bg1"/>
                </a:solidFill>
                <a:latin typeface="+mj-lt"/>
              </a:rPr>
              <a:t>，质量分别为</a:t>
            </a:r>
            <a:r>
              <a:rPr lang="en-US" altLang="zh-CN" sz="2400" b="1" i="1" dirty="0">
                <a:solidFill>
                  <a:schemeClr val="bg1"/>
                </a:solidFill>
                <a:latin typeface="+mj-lt"/>
              </a:rPr>
              <a:t>m</a:t>
            </a:r>
            <a:r>
              <a:rPr lang="en-US" altLang="zh-CN" b="1" dirty="0">
                <a:solidFill>
                  <a:schemeClr val="bg1"/>
                </a:solidFill>
                <a:latin typeface="+mj-lt"/>
              </a:rPr>
              <a:t>1</a:t>
            </a:r>
            <a:r>
              <a:rPr lang="zh-CN" altLang="zh-CN" sz="2400" b="1" dirty="0">
                <a:solidFill>
                  <a:schemeClr val="bg1"/>
                </a:solidFill>
                <a:latin typeface="+mj-lt"/>
              </a:rPr>
              <a:t>，</a:t>
            </a:r>
            <a:r>
              <a:rPr lang="en-US" altLang="zh-CN" sz="2400" b="1" i="1" dirty="0">
                <a:solidFill>
                  <a:schemeClr val="bg1"/>
                </a:solidFill>
                <a:latin typeface="+mj-lt"/>
              </a:rPr>
              <a:t>m</a:t>
            </a:r>
            <a:r>
              <a:rPr lang="en-US" altLang="zh-CN" b="1" dirty="0">
                <a:solidFill>
                  <a:schemeClr val="bg1"/>
                </a:solidFill>
                <a:latin typeface="+mj-lt"/>
              </a:rPr>
              <a:t>2</a:t>
            </a:r>
            <a:r>
              <a:rPr lang="zh-CN" altLang="zh-CN" sz="2400" b="1" dirty="0">
                <a:solidFill>
                  <a:schemeClr val="bg1"/>
                </a:solidFill>
                <a:latin typeface="+mj-lt"/>
              </a:rPr>
              <a:t>，分别绕固定轴</a:t>
            </a:r>
            <a:r>
              <a:rPr lang="en-US" altLang="zh-CN" sz="2400" b="1" dirty="0">
                <a:solidFill>
                  <a:schemeClr val="bg1"/>
                </a:solidFill>
                <a:latin typeface="+mj-lt"/>
              </a:rPr>
              <a:t>O</a:t>
            </a:r>
            <a:r>
              <a:rPr lang="en-US" altLang="zh-CN" b="1" dirty="0">
                <a:solidFill>
                  <a:schemeClr val="bg1"/>
                </a:solidFill>
                <a:latin typeface="+mj-lt"/>
              </a:rPr>
              <a:t>1</a:t>
            </a:r>
            <a:r>
              <a:rPr lang="zh-CN" altLang="zh-CN" sz="2400" b="1" dirty="0">
                <a:solidFill>
                  <a:schemeClr val="bg1"/>
                </a:solidFill>
                <a:latin typeface="+mj-lt"/>
              </a:rPr>
              <a:t>，</a:t>
            </a:r>
            <a:r>
              <a:rPr lang="en-US" altLang="zh-CN" sz="2400" b="1" dirty="0">
                <a:solidFill>
                  <a:schemeClr val="bg1"/>
                </a:solidFill>
                <a:latin typeface="+mj-lt"/>
              </a:rPr>
              <a:t>O</a:t>
            </a:r>
            <a:r>
              <a:rPr lang="en-US" altLang="zh-CN" b="1" dirty="0">
                <a:solidFill>
                  <a:schemeClr val="bg1"/>
                </a:solidFill>
                <a:latin typeface="+mj-lt"/>
              </a:rPr>
              <a:t>2</a:t>
            </a:r>
            <a:r>
              <a:rPr lang="zh-CN" altLang="zh-CN" sz="2400" b="1" dirty="0">
                <a:solidFill>
                  <a:schemeClr val="bg1"/>
                </a:solidFill>
                <a:latin typeface="+mj-lt"/>
              </a:rPr>
              <a:t>转动，用皮带相连，轮</a:t>
            </a:r>
            <a:r>
              <a:rPr lang="en-US" altLang="zh-CN" sz="2400" b="1" dirty="0">
                <a:solidFill>
                  <a:schemeClr val="bg1"/>
                </a:solidFill>
                <a:latin typeface="+mj-lt"/>
              </a:rPr>
              <a:t>1</a:t>
            </a:r>
            <a:r>
              <a:rPr lang="zh-CN" altLang="zh-CN" sz="2400" b="1" dirty="0">
                <a:solidFill>
                  <a:srgbClr val="FFC000"/>
                </a:solidFill>
                <a:latin typeface="+mj-lt"/>
              </a:rPr>
              <a:t>作用力矩</a:t>
            </a:r>
            <a:r>
              <a:rPr lang="en-US" altLang="zh-CN" sz="2400" b="1" i="1" dirty="0">
                <a:solidFill>
                  <a:srgbClr val="FFC000"/>
                </a:solidFill>
                <a:latin typeface="+mj-lt"/>
              </a:rPr>
              <a:t>M</a:t>
            </a:r>
            <a:r>
              <a:rPr lang="en-US" altLang="zh-CN" b="1" dirty="0">
                <a:solidFill>
                  <a:srgbClr val="FFC000"/>
                </a:solidFill>
                <a:latin typeface="+mj-lt"/>
              </a:rPr>
              <a:t>1</a:t>
            </a:r>
            <a:r>
              <a:rPr lang="zh-CN" altLang="zh-CN" sz="2400" b="1" dirty="0">
                <a:solidFill>
                  <a:schemeClr val="bg1"/>
                </a:solidFill>
                <a:latin typeface="+mj-lt"/>
              </a:rPr>
              <a:t>，轮</a:t>
            </a:r>
            <a:r>
              <a:rPr lang="en-US" altLang="zh-CN" sz="2400" b="1" dirty="0">
                <a:solidFill>
                  <a:schemeClr val="bg1"/>
                </a:solidFill>
                <a:latin typeface="+mj-lt"/>
              </a:rPr>
              <a:t>2</a:t>
            </a:r>
            <a:r>
              <a:rPr lang="zh-CN" altLang="zh-CN" sz="2400" b="1" dirty="0">
                <a:solidFill>
                  <a:schemeClr val="bg1"/>
                </a:solidFill>
                <a:latin typeface="+mj-lt"/>
              </a:rPr>
              <a:t>有</a:t>
            </a:r>
            <a:r>
              <a:rPr lang="zh-CN" altLang="zh-CN" sz="2400" b="1" dirty="0">
                <a:solidFill>
                  <a:srgbClr val="FFC000"/>
                </a:solidFill>
                <a:latin typeface="+mj-lt"/>
              </a:rPr>
              <a:t>负载力矩</a:t>
            </a:r>
            <a:r>
              <a:rPr lang="en-US" altLang="zh-CN" sz="2400" b="1" i="1" dirty="0">
                <a:solidFill>
                  <a:srgbClr val="FFC000"/>
                </a:solidFill>
                <a:latin typeface="+mj-lt"/>
              </a:rPr>
              <a:t>M</a:t>
            </a:r>
            <a:r>
              <a:rPr lang="en-US" altLang="zh-CN" b="1" dirty="0">
                <a:solidFill>
                  <a:srgbClr val="FFC000"/>
                </a:solidFill>
                <a:latin typeface="+mj-lt"/>
              </a:rPr>
              <a:t>2</a:t>
            </a:r>
            <a:r>
              <a:rPr lang="zh-CN" altLang="zh-CN" sz="2400" b="1" dirty="0">
                <a:solidFill>
                  <a:schemeClr val="bg1"/>
                </a:solidFill>
                <a:latin typeface="+mj-lt"/>
              </a:rPr>
              <a:t>，皮带与轮无滑动，轴处无摩擦。</a:t>
            </a:r>
          </a:p>
          <a:p>
            <a:r>
              <a:rPr lang="zh-CN" altLang="zh-CN" sz="2400" b="1" dirty="0">
                <a:solidFill>
                  <a:schemeClr val="bg1"/>
                </a:solidFill>
                <a:latin typeface="+mj-lt"/>
              </a:rPr>
              <a:t>求：轮</a:t>
            </a:r>
            <a:r>
              <a:rPr lang="en-US" altLang="zh-CN" sz="2400" b="1" dirty="0">
                <a:solidFill>
                  <a:schemeClr val="bg1"/>
                </a:solidFill>
                <a:latin typeface="+mj-lt"/>
              </a:rPr>
              <a:t>1</a:t>
            </a:r>
            <a:r>
              <a:rPr lang="zh-CN" altLang="zh-CN" sz="2400" b="1" dirty="0">
                <a:solidFill>
                  <a:schemeClr val="bg1"/>
                </a:solidFill>
                <a:latin typeface="+mj-lt"/>
              </a:rPr>
              <a:t>的角加速度。</a:t>
            </a:r>
          </a:p>
        </p:txBody>
      </p:sp>
      <p:pic>
        <p:nvPicPr>
          <p:cNvPr id="2969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6318" y="1268760"/>
            <a:ext cx="3193889" cy="3403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a:spLocks noChangeArrowheads="1"/>
          </p:cNvSpPr>
          <p:nvPr/>
        </p:nvSpPr>
        <p:spPr bwMode="auto">
          <a:xfrm>
            <a:off x="236538" y="3219450"/>
            <a:ext cx="5602287"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i="1" dirty="0">
                <a:solidFill>
                  <a:schemeClr val="bg1"/>
                </a:solidFill>
                <a:latin typeface="+mj-lt"/>
              </a:rPr>
              <a:t>M</a:t>
            </a:r>
            <a:r>
              <a:rPr lang="zh-CN" altLang="zh-CN" sz="2400" b="1" dirty="0">
                <a:solidFill>
                  <a:schemeClr val="bg1"/>
                </a:solidFill>
                <a:latin typeface="+mj-lt"/>
              </a:rPr>
              <a:t>定为正方向后，力矩的方向与</a:t>
            </a:r>
            <a:r>
              <a:rPr lang="en-US" altLang="zh-CN" sz="2400" b="1" i="1" dirty="0">
                <a:solidFill>
                  <a:schemeClr val="bg1"/>
                </a:solidFill>
                <a:latin typeface="+mj-lt"/>
              </a:rPr>
              <a:t>M</a:t>
            </a:r>
            <a:r>
              <a:rPr lang="zh-CN" altLang="zh-CN" sz="2400" b="1" dirty="0">
                <a:solidFill>
                  <a:schemeClr val="bg1"/>
                </a:solidFill>
                <a:latin typeface="+mj-lt"/>
              </a:rPr>
              <a:t>一致则为“正”反之为“负”。</a:t>
            </a:r>
          </a:p>
          <a:p>
            <a:r>
              <a:rPr lang="zh-CN" altLang="zh-CN" sz="2400" b="1" dirty="0">
                <a:solidFill>
                  <a:schemeClr val="bg1"/>
                </a:solidFill>
                <a:latin typeface="+mj-lt"/>
              </a:rPr>
              <a:t>两个轮是牵连在一起运动的，所以存在着牵连关系。</a:t>
            </a:r>
          </a:p>
        </p:txBody>
      </p:sp>
      <p:graphicFrame>
        <p:nvGraphicFramePr>
          <p:cNvPr id="2" name="对象 1"/>
          <p:cNvGraphicFramePr>
            <a:graphicFrameLocks noChangeAspect="1"/>
          </p:cNvGraphicFramePr>
          <p:nvPr>
            <p:extLst>
              <p:ext uri="{D42A27DB-BD31-4B8C-83A1-F6EECF244321}">
                <p14:modId xmlns:p14="http://schemas.microsoft.com/office/powerpoint/2010/main" val="1008963663"/>
              </p:ext>
            </p:extLst>
          </p:nvPr>
        </p:nvGraphicFramePr>
        <p:xfrm>
          <a:off x="2151063" y="1670050"/>
          <a:ext cx="3400425" cy="1441450"/>
        </p:xfrm>
        <a:graphic>
          <a:graphicData uri="http://schemas.openxmlformats.org/presentationml/2006/ole">
            <mc:AlternateContent xmlns:mc="http://schemas.openxmlformats.org/markup-compatibility/2006">
              <mc:Choice xmlns:v="urn:schemas-microsoft-com:vml" Requires="v">
                <p:oleObj spid="_x0000_s21538" name="Equation" r:id="rId5" imgW="1917360" imgH="812520" progId="Equation.DSMT4">
                  <p:embed/>
                </p:oleObj>
              </mc:Choice>
              <mc:Fallback>
                <p:oleObj name="Equation" r:id="rId5" imgW="1917360" imgH="812520" progId="Equation.DSMT4">
                  <p:embed/>
                  <p:pic>
                    <p:nvPicPr>
                      <p:cNvPr id="0" name=""/>
                      <p:cNvPicPr/>
                      <p:nvPr/>
                    </p:nvPicPr>
                    <p:blipFill>
                      <a:blip r:embed="rId6"/>
                      <a:stretch>
                        <a:fillRect/>
                      </a:stretch>
                    </p:blipFill>
                    <p:spPr>
                      <a:xfrm>
                        <a:off x="2151063" y="1670050"/>
                        <a:ext cx="3400425" cy="1441450"/>
                      </a:xfrm>
                      <a:prstGeom prst="rect">
                        <a:avLst/>
                      </a:prstGeom>
                    </p:spPr>
                  </p:pic>
                </p:oleObj>
              </mc:Fallback>
            </mc:AlternateContent>
          </a:graphicData>
        </a:graphic>
      </p:graphicFrame>
      <p:sp>
        <p:nvSpPr>
          <p:cNvPr id="3" name="TextBox 2"/>
          <p:cNvSpPr txBox="1"/>
          <p:nvPr/>
        </p:nvSpPr>
        <p:spPr>
          <a:xfrm>
            <a:off x="236537" y="4750933"/>
            <a:ext cx="4206601" cy="461665"/>
          </a:xfrm>
          <a:prstGeom prst="rect">
            <a:avLst/>
          </a:prstGeom>
          <a:noFill/>
        </p:spPr>
        <p:txBody>
          <a:bodyPr wrap="none" rtlCol="0">
            <a:spAutoFit/>
          </a:bodyPr>
          <a:lstStyle/>
          <a:p>
            <a:r>
              <a:rPr lang="zh-CN" altLang="en-US" sz="2400" b="1">
                <a:solidFill>
                  <a:schemeClr val="bg1"/>
                </a:solidFill>
                <a:latin typeface="+mj-lt"/>
              </a:rPr>
              <a:t>皮带与轮没有相对滑动，则：</a:t>
            </a:r>
          </a:p>
        </p:txBody>
      </p:sp>
      <p:graphicFrame>
        <p:nvGraphicFramePr>
          <p:cNvPr id="5" name="对象 4"/>
          <p:cNvGraphicFramePr>
            <a:graphicFrameLocks noChangeAspect="1"/>
          </p:cNvGraphicFramePr>
          <p:nvPr>
            <p:extLst>
              <p:ext uri="{D42A27DB-BD31-4B8C-83A1-F6EECF244321}">
                <p14:modId xmlns:p14="http://schemas.microsoft.com/office/powerpoint/2010/main" val="3802649694"/>
              </p:ext>
            </p:extLst>
          </p:nvPr>
        </p:nvGraphicFramePr>
        <p:xfrm>
          <a:off x="4499992" y="4781015"/>
          <a:ext cx="3948157" cy="430708"/>
        </p:xfrm>
        <a:graphic>
          <a:graphicData uri="http://schemas.openxmlformats.org/presentationml/2006/ole">
            <mc:AlternateContent xmlns:mc="http://schemas.openxmlformats.org/markup-compatibility/2006">
              <mc:Choice xmlns:v="urn:schemas-microsoft-com:vml" Requires="v">
                <p:oleObj spid="_x0000_s21539" name="Equation" r:id="rId7" imgW="2095200" imgH="228600" progId="Equation.DSMT4">
                  <p:embed/>
                </p:oleObj>
              </mc:Choice>
              <mc:Fallback>
                <p:oleObj name="Equation" r:id="rId7" imgW="2095200" imgH="228600" progId="Equation.DSMT4">
                  <p:embed/>
                  <p:pic>
                    <p:nvPicPr>
                      <p:cNvPr id="0" name=""/>
                      <p:cNvPicPr/>
                      <p:nvPr/>
                    </p:nvPicPr>
                    <p:blipFill>
                      <a:blip r:embed="rId8"/>
                      <a:stretch>
                        <a:fillRect/>
                      </a:stretch>
                    </p:blipFill>
                    <p:spPr>
                      <a:xfrm>
                        <a:off x="4499992" y="4781015"/>
                        <a:ext cx="3948157" cy="430708"/>
                      </a:xfrm>
                      <a:prstGeom prst="rect">
                        <a:avLst/>
                      </a:prstGeom>
                    </p:spPr>
                  </p:pic>
                </p:oleObj>
              </mc:Fallback>
            </mc:AlternateContent>
          </a:graphicData>
        </a:graphic>
      </p:graphicFrame>
      <p:sp>
        <p:nvSpPr>
          <p:cNvPr id="7" name="矩形 6"/>
          <p:cNvSpPr/>
          <p:nvPr/>
        </p:nvSpPr>
        <p:spPr>
          <a:xfrm>
            <a:off x="323528" y="5235198"/>
            <a:ext cx="3352180" cy="461665"/>
          </a:xfrm>
          <a:prstGeom prst="rect">
            <a:avLst/>
          </a:prstGeom>
        </p:spPr>
        <p:txBody>
          <a:bodyPr wrap="square">
            <a:spAutoFit/>
          </a:bodyPr>
          <a:lstStyle/>
          <a:p>
            <a:pPr lvl="0"/>
            <a:r>
              <a:rPr lang="zh-CN" altLang="en-US" sz="2400" b="1">
                <a:solidFill>
                  <a:srgbClr val="FFFFFF"/>
                </a:solidFill>
                <a:latin typeface="Times New Roman"/>
              </a:rPr>
              <a:t>不计皮带质量，则</a:t>
            </a:r>
          </a:p>
        </p:txBody>
      </p:sp>
      <p:graphicFrame>
        <p:nvGraphicFramePr>
          <p:cNvPr id="8" name="对象 7"/>
          <p:cNvGraphicFramePr>
            <a:graphicFrameLocks noChangeAspect="1"/>
          </p:cNvGraphicFramePr>
          <p:nvPr>
            <p:extLst>
              <p:ext uri="{D42A27DB-BD31-4B8C-83A1-F6EECF244321}">
                <p14:modId xmlns:p14="http://schemas.microsoft.com/office/powerpoint/2010/main" val="1054482419"/>
              </p:ext>
            </p:extLst>
          </p:nvPr>
        </p:nvGraphicFramePr>
        <p:xfrm>
          <a:off x="3419872" y="5242838"/>
          <a:ext cx="2130425" cy="454025"/>
        </p:xfrm>
        <a:graphic>
          <a:graphicData uri="http://schemas.openxmlformats.org/presentationml/2006/ole">
            <mc:AlternateContent xmlns:mc="http://schemas.openxmlformats.org/markup-compatibility/2006">
              <mc:Choice xmlns:v="urn:schemas-microsoft-com:vml" Requires="v">
                <p:oleObj spid="_x0000_s21540" name="Equation" r:id="rId9" imgW="1130040" imgH="241200" progId="Equation.DSMT4">
                  <p:embed/>
                </p:oleObj>
              </mc:Choice>
              <mc:Fallback>
                <p:oleObj name="Equation" r:id="rId9" imgW="1130040" imgH="241200" progId="Equation.DSMT4">
                  <p:embed/>
                  <p:pic>
                    <p:nvPicPr>
                      <p:cNvPr id="0" name="对象 4"/>
                      <p:cNvPicPr>
                        <a:picLocks noChangeAspect="1" noChangeArrowheads="1"/>
                      </p:cNvPicPr>
                      <p:nvPr/>
                    </p:nvPicPr>
                    <p:blipFill>
                      <a:blip r:embed="rId10"/>
                      <a:srcRect/>
                      <a:stretch>
                        <a:fillRect/>
                      </a:stretch>
                    </p:blipFill>
                    <p:spPr bwMode="auto">
                      <a:xfrm>
                        <a:off x="3419872" y="5242838"/>
                        <a:ext cx="21304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矩形 14"/>
          <p:cNvSpPr/>
          <p:nvPr/>
        </p:nvSpPr>
        <p:spPr>
          <a:xfrm>
            <a:off x="358915" y="5725618"/>
            <a:ext cx="3352180" cy="461665"/>
          </a:xfrm>
          <a:prstGeom prst="rect">
            <a:avLst/>
          </a:prstGeom>
        </p:spPr>
        <p:txBody>
          <a:bodyPr wrap="square">
            <a:spAutoFit/>
          </a:bodyPr>
          <a:lstStyle/>
          <a:p>
            <a:pPr lvl="0"/>
            <a:r>
              <a:rPr lang="zh-CN" altLang="en-US" sz="2400" b="1">
                <a:solidFill>
                  <a:srgbClr val="FFFFFF"/>
                </a:solidFill>
                <a:latin typeface="Times New Roman"/>
              </a:rPr>
              <a:t>解方程组得</a:t>
            </a:r>
          </a:p>
        </p:txBody>
      </p:sp>
      <p:graphicFrame>
        <p:nvGraphicFramePr>
          <p:cNvPr id="9" name="对象 8"/>
          <p:cNvGraphicFramePr>
            <a:graphicFrameLocks noChangeAspect="1"/>
          </p:cNvGraphicFramePr>
          <p:nvPr>
            <p:extLst>
              <p:ext uri="{D42A27DB-BD31-4B8C-83A1-F6EECF244321}">
                <p14:modId xmlns:p14="http://schemas.microsoft.com/office/powerpoint/2010/main" val="3221599275"/>
              </p:ext>
            </p:extLst>
          </p:nvPr>
        </p:nvGraphicFramePr>
        <p:xfrm>
          <a:off x="2724150" y="5721350"/>
          <a:ext cx="2465388" cy="812800"/>
        </p:xfrm>
        <a:graphic>
          <a:graphicData uri="http://schemas.openxmlformats.org/presentationml/2006/ole">
            <mc:AlternateContent xmlns:mc="http://schemas.openxmlformats.org/markup-compatibility/2006">
              <mc:Choice xmlns:v="urn:schemas-microsoft-com:vml" Requires="v">
                <p:oleObj spid="_x0000_s21541" name="Equation" r:id="rId11" imgW="1307880" imgH="431640" progId="Equation.DSMT4">
                  <p:embed/>
                </p:oleObj>
              </mc:Choice>
              <mc:Fallback>
                <p:oleObj name="Equation" r:id="rId11" imgW="1307880" imgH="431640" progId="Equation.DSMT4">
                  <p:embed/>
                  <p:pic>
                    <p:nvPicPr>
                      <p:cNvPr id="0" name="对象 7"/>
                      <p:cNvPicPr>
                        <a:picLocks noChangeAspect="1" noChangeArrowheads="1"/>
                      </p:cNvPicPr>
                      <p:nvPr/>
                    </p:nvPicPr>
                    <p:blipFill>
                      <a:blip r:embed="rId12"/>
                      <a:srcRect/>
                      <a:stretch>
                        <a:fillRect/>
                      </a:stretch>
                    </p:blipFill>
                    <p:spPr bwMode="auto">
                      <a:xfrm>
                        <a:off x="2724150" y="5721350"/>
                        <a:ext cx="2465388"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矩形 9"/>
          <p:cNvSpPr/>
          <p:nvPr/>
        </p:nvSpPr>
        <p:spPr>
          <a:xfrm>
            <a:off x="179512" y="1699479"/>
            <a:ext cx="1855493" cy="830997"/>
          </a:xfrm>
          <a:prstGeom prst="rect">
            <a:avLst/>
          </a:prstGeom>
        </p:spPr>
        <p:txBody>
          <a:bodyPr wrap="square">
            <a:spAutoFit/>
          </a:bodyPr>
          <a:lstStyle/>
          <a:p>
            <a:r>
              <a:rPr lang="zh-CN" altLang="zh-CN" sz="2400" b="1">
                <a:solidFill>
                  <a:schemeClr val="bg1"/>
                </a:solidFill>
                <a:latin typeface="+mj-lt"/>
              </a:rPr>
              <a:t>解：隔离物体法分析力：</a:t>
            </a:r>
            <a:endParaRPr lang="zh-CN" altLang="en-US" sz="2400" b="1">
              <a:solidFill>
                <a:schemeClr val="bg1"/>
              </a:solidFill>
              <a:latin typeface="+mj-lt"/>
            </a:endParaRPr>
          </a:p>
        </p:txBody>
      </p:sp>
      <p:sp>
        <p:nvSpPr>
          <p:cNvPr id="16" name="文本框 15">
            <a:extLst>
              <a:ext uri="{FF2B5EF4-FFF2-40B4-BE49-F238E27FC236}">
                <a16:creationId xmlns:a16="http://schemas.microsoft.com/office/drawing/2014/main" id="{832AA51E-F3E0-4E9E-9FAD-1A06931D72BC}"/>
              </a:ext>
            </a:extLst>
          </p:cNvPr>
          <p:cNvSpPr txBox="1"/>
          <p:nvPr/>
        </p:nvSpPr>
        <p:spPr>
          <a:xfrm>
            <a:off x="83793" y="2647480"/>
            <a:ext cx="1512705" cy="646331"/>
          </a:xfrm>
          <a:prstGeom prst="rect">
            <a:avLst/>
          </a:prstGeom>
          <a:noFill/>
          <a:ln>
            <a:solidFill>
              <a:srgbClr val="CCFFFF"/>
            </a:solidFill>
          </a:ln>
        </p:spPr>
        <p:txBody>
          <a:bodyPr wrap="square" rtlCol="0">
            <a:spAutoFit/>
          </a:bodyPr>
          <a:lstStyle/>
          <a:p>
            <a:r>
              <a:rPr lang="en-US" altLang="zh-CN" i="1" dirty="0">
                <a:solidFill>
                  <a:srgbClr val="FF0000"/>
                </a:solidFill>
              </a:rPr>
              <a:t>J</a:t>
            </a:r>
            <a:r>
              <a:rPr lang="en-US" altLang="zh-CN" dirty="0">
                <a:solidFill>
                  <a:srgbClr val="FF0000"/>
                </a:solidFill>
              </a:rPr>
              <a:t> = ½</a:t>
            </a:r>
            <a:r>
              <a:rPr lang="zh-CN" altLang="en-US" dirty="0">
                <a:solidFill>
                  <a:srgbClr val="FF0000"/>
                </a:solidFill>
              </a:rPr>
              <a:t> </a:t>
            </a:r>
            <a:r>
              <a:rPr lang="en-US" altLang="zh-CN" dirty="0">
                <a:solidFill>
                  <a:srgbClr val="FF0000"/>
                </a:solidFill>
              </a:rPr>
              <a:t>MR</a:t>
            </a:r>
            <a:r>
              <a:rPr lang="en-US" altLang="zh-CN" baseline="30000" dirty="0">
                <a:solidFill>
                  <a:srgbClr val="FF0000"/>
                </a:solidFill>
              </a:rPr>
              <a:t>2</a:t>
            </a:r>
          </a:p>
          <a:p>
            <a:r>
              <a:rPr lang="en-US" altLang="zh-CN" i="1" dirty="0">
                <a:solidFill>
                  <a:srgbClr val="FF0000"/>
                </a:solidFill>
              </a:rPr>
              <a:t>M = J </a:t>
            </a:r>
            <a:r>
              <a:rPr lang="el-GR" altLang="zh-CN" i="1" dirty="0">
                <a:solidFill>
                  <a:srgbClr val="FF0000"/>
                </a:solidFill>
              </a:rPr>
              <a:t>β</a:t>
            </a:r>
            <a:endParaRPr lang="zh-CN" altLang="en-US" i="1" dirty="0">
              <a:solidFill>
                <a:srgbClr val="FF0000"/>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7" grpId="0"/>
      <p:bldP spid="1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1"/>
          <p:cNvSpPr>
            <a:spLocks noChangeArrowheads="1"/>
          </p:cNvSpPr>
          <p:nvPr/>
        </p:nvSpPr>
        <p:spPr bwMode="auto">
          <a:xfrm>
            <a:off x="6350" y="0"/>
            <a:ext cx="913765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sz="2400" b="1" dirty="0">
                <a:solidFill>
                  <a:srgbClr val="FFC000"/>
                </a:solidFill>
                <a:latin typeface="+mj-lt"/>
              </a:rPr>
              <a:t>书中例题</a:t>
            </a:r>
            <a:r>
              <a:rPr lang="en-US" altLang="zh-CN" sz="2400" b="1" dirty="0">
                <a:solidFill>
                  <a:srgbClr val="FFC000"/>
                </a:solidFill>
                <a:latin typeface="+mj-lt"/>
              </a:rPr>
              <a:t>6.5 (P202)</a:t>
            </a:r>
            <a:r>
              <a:rPr lang="zh-CN" altLang="zh-CN" sz="2400" b="1" dirty="0">
                <a:solidFill>
                  <a:schemeClr val="bg1"/>
                </a:solidFill>
                <a:latin typeface="+mj-lt"/>
              </a:rPr>
              <a:t>已知：飞轮齿轮</a:t>
            </a:r>
            <a:r>
              <a:rPr lang="en-US" altLang="zh-CN" sz="2400" b="1" dirty="0">
                <a:solidFill>
                  <a:schemeClr val="bg1"/>
                </a:solidFill>
                <a:latin typeface="+mj-lt"/>
              </a:rPr>
              <a:t>1</a:t>
            </a:r>
            <a:r>
              <a:rPr lang="zh-CN" altLang="zh-CN" sz="2400" b="1" dirty="0">
                <a:solidFill>
                  <a:schemeClr val="bg1"/>
                </a:solidFill>
                <a:latin typeface="+mj-lt"/>
              </a:rPr>
              <a:t>绕转轴</a:t>
            </a:r>
            <a:r>
              <a:rPr lang="en-US" altLang="zh-CN" sz="2400" b="1" dirty="0">
                <a:solidFill>
                  <a:schemeClr val="bg1"/>
                </a:solidFill>
                <a:latin typeface="+mj-lt"/>
              </a:rPr>
              <a:t>1</a:t>
            </a:r>
            <a:r>
              <a:rPr lang="zh-CN" altLang="zh-CN" sz="2400" b="1" dirty="0">
                <a:solidFill>
                  <a:schemeClr val="bg1"/>
                </a:solidFill>
                <a:latin typeface="+mj-lt"/>
              </a:rPr>
              <a:t>的转动惯量</a:t>
            </a:r>
            <a:r>
              <a:rPr lang="en-US" altLang="zh-CN" sz="2400" b="1" i="1" dirty="0">
                <a:solidFill>
                  <a:schemeClr val="bg1"/>
                </a:solidFill>
                <a:latin typeface="+mj-lt"/>
              </a:rPr>
              <a:t>J</a:t>
            </a:r>
            <a:r>
              <a:rPr lang="en-US" altLang="zh-CN" sz="2400" b="1" baseline="-25000" dirty="0">
                <a:solidFill>
                  <a:schemeClr val="bg1"/>
                </a:solidFill>
                <a:latin typeface="+mj-lt"/>
              </a:rPr>
              <a:t>1</a:t>
            </a:r>
            <a:r>
              <a:rPr lang="en-US" altLang="zh-CN" sz="2400" b="1" dirty="0">
                <a:solidFill>
                  <a:schemeClr val="bg1"/>
                </a:solidFill>
                <a:latin typeface="+mj-lt"/>
              </a:rPr>
              <a:t>= 98.0 kgm</a:t>
            </a:r>
            <a:r>
              <a:rPr lang="en-US" altLang="zh-CN" sz="2400" b="1" baseline="30000" dirty="0">
                <a:solidFill>
                  <a:schemeClr val="bg1"/>
                </a:solidFill>
                <a:latin typeface="+mj-lt"/>
              </a:rPr>
              <a:t>2</a:t>
            </a:r>
            <a:r>
              <a:rPr lang="zh-CN" altLang="zh-CN" sz="2400" b="1" dirty="0">
                <a:solidFill>
                  <a:schemeClr val="bg1"/>
                </a:solidFill>
                <a:latin typeface="+mj-lt"/>
              </a:rPr>
              <a:t>，飞轮齿轮</a:t>
            </a:r>
            <a:r>
              <a:rPr lang="en-US" altLang="zh-CN" sz="2400" b="1" dirty="0">
                <a:solidFill>
                  <a:schemeClr val="bg1"/>
                </a:solidFill>
                <a:latin typeface="+mj-lt"/>
              </a:rPr>
              <a:t>2</a:t>
            </a:r>
            <a:r>
              <a:rPr lang="zh-CN" altLang="zh-CN" sz="2400" b="1" dirty="0">
                <a:solidFill>
                  <a:schemeClr val="bg1"/>
                </a:solidFill>
                <a:latin typeface="+mj-lt"/>
              </a:rPr>
              <a:t>绕转轴</a:t>
            </a:r>
            <a:r>
              <a:rPr lang="en-US" altLang="zh-CN" sz="2400" b="1" dirty="0">
                <a:solidFill>
                  <a:schemeClr val="bg1"/>
                </a:solidFill>
                <a:latin typeface="+mj-lt"/>
              </a:rPr>
              <a:t>2</a:t>
            </a:r>
            <a:r>
              <a:rPr lang="zh-CN" altLang="zh-CN" sz="2400" b="1" dirty="0">
                <a:solidFill>
                  <a:schemeClr val="bg1"/>
                </a:solidFill>
                <a:latin typeface="+mj-lt"/>
              </a:rPr>
              <a:t>的转动惯量</a:t>
            </a:r>
            <a:r>
              <a:rPr lang="en-US" altLang="zh-CN" sz="2400" b="1" i="1" dirty="0">
                <a:solidFill>
                  <a:schemeClr val="bg1"/>
                </a:solidFill>
                <a:latin typeface="+mj-lt"/>
              </a:rPr>
              <a:t>J</a:t>
            </a:r>
            <a:r>
              <a:rPr lang="en-US" altLang="zh-CN" sz="2400" b="1" baseline="-25000" dirty="0">
                <a:solidFill>
                  <a:schemeClr val="bg1"/>
                </a:solidFill>
                <a:latin typeface="+mj-lt"/>
              </a:rPr>
              <a:t>2</a:t>
            </a:r>
            <a:r>
              <a:rPr lang="en-US" altLang="zh-CN" sz="2400" b="1" dirty="0">
                <a:solidFill>
                  <a:schemeClr val="bg1"/>
                </a:solidFill>
                <a:latin typeface="+mj-lt"/>
              </a:rPr>
              <a:t>=78.4kgm</a:t>
            </a:r>
            <a:r>
              <a:rPr lang="en-US" altLang="zh-CN" sz="2400" b="1" baseline="30000" dirty="0">
                <a:solidFill>
                  <a:schemeClr val="bg1"/>
                </a:solidFill>
                <a:latin typeface="+mj-lt"/>
              </a:rPr>
              <a:t>2</a:t>
            </a:r>
            <a:r>
              <a:rPr lang="zh-CN" altLang="zh-CN" sz="2400" b="1" dirty="0">
                <a:solidFill>
                  <a:schemeClr val="bg1"/>
                </a:solidFill>
                <a:latin typeface="+mj-lt"/>
              </a:rPr>
              <a:t>，两齿轮咬合传动，齿数比</a:t>
            </a:r>
            <a:r>
              <a:rPr lang="en-US" altLang="zh-CN" sz="2400" b="1" i="1" dirty="0">
                <a:solidFill>
                  <a:schemeClr val="bg1"/>
                </a:solidFill>
                <a:latin typeface="+mj-lt"/>
              </a:rPr>
              <a:t>Z</a:t>
            </a:r>
            <a:r>
              <a:rPr lang="en-US" altLang="zh-CN" sz="2400" b="1" baseline="-25000" dirty="0">
                <a:solidFill>
                  <a:schemeClr val="bg1"/>
                </a:solidFill>
                <a:latin typeface="+mj-lt"/>
              </a:rPr>
              <a:t>1</a:t>
            </a:r>
            <a:r>
              <a:rPr lang="en-US" altLang="zh-CN" sz="2400" b="1" dirty="0">
                <a:solidFill>
                  <a:schemeClr val="bg1"/>
                </a:solidFill>
                <a:latin typeface="+mj-lt"/>
              </a:rPr>
              <a:t>:</a:t>
            </a:r>
            <a:r>
              <a:rPr lang="en-US" altLang="zh-CN" sz="2400" b="1" i="1" dirty="0">
                <a:solidFill>
                  <a:schemeClr val="bg1"/>
                </a:solidFill>
                <a:latin typeface="+mj-lt"/>
              </a:rPr>
              <a:t>Z</a:t>
            </a:r>
            <a:r>
              <a:rPr lang="en-US" altLang="zh-CN" sz="2400" b="1" baseline="-25000" dirty="0">
                <a:solidFill>
                  <a:schemeClr val="bg1"/>
                </a:solidFill>
                <a:latin typeface="+mj-lt"/>
              </a:rPr>
              <a:t>2</a:t>
            </a:r>
            <a:r>
              <a:rPr lang="zh-CN" altLang="zh-CN" sz="2400" b="1" dirty="0">
                <a:solidFill>
                  <a:schemeClr val="bg1"/>
                </a:solidFill>
                <a:latin typeface="+mj-lt"/>
              </a:rPr>
              <a:t>＝</a:t>
            </a:r>
            <a:r>
              <a:rPr lang="en-US" altLang="zh-CN" sz="2400" b="1" dirty="0">
                <a:solidFill>
                  <a:schemeClr val="bg1"/>
                </a:solidFill>
                <a:latin typeface="+mj-lt"/>
              </a:rPr>
              <a:t>3:2</a:t>
            </a:r>
            <a:r>
              <a:rPr lang="zh-CN" altLang="zh-CN" sz="2400" b="1" dirty="0">
                <a:solidFill>
                  <a:schemeClr val="bg1"/>
                </a:solidFill>
                <a:latin typeface="+mj-lt"/>
              </a:rPr>
              <a:t>，</a:t>
            </a:r>
            <a:r>
              <a:rPr lang="en-US" altLang="zh-CN" sz="2400" b="1" i="1" dirty="0">
                <a:solidFill>
                  <a:schemeClr val="bg1"/>
                </a:solidFill>
                <a:latin typeface="+mj-lt"/>
              </a:rPr>
              <a:t>r</a:t>
            </a:r>
            <a:r>
              <a:rPr lang="en-US" altLang="zh-CN" sz="2400" b="1" baseline="-25000" dirty="0">
                <a:solidFill>
                  <a:schemeClr val="bg1"/>
                </a:solidFill>
                <a:latin typeface="+mj-lt"/>
              </a:rPr>
              <a:t>1</a:t>
            </a:r>
            <a:r>
              <a:rPr lang="en-US" altLang="zh-CN" sz="2400" b="1" dirty="0">
                <a:solidFill>
                  <a:schemeClr val="bg1"/>
                </a:solidFill>
                <a:latin typeface="+mj-lt"/>
              </a:rPr>
              <a:t>=10cm</a:t>
            </a:r>
            <a:r>
              <a:rPr lang="zh-CN" altLang="zh-CN" sz="2400" b="1" dirty="0">
                <a:solidFill>
                  <a:schemeClr val="bg1"/>
                </a:solidFill>
                <a:latin typeface="+mj-lt"/>
              </a:rPr>
              <a:t>，轴</a:t>
            </a:r>
            <a:r>
              <a:rPr lang="en-US" altLang="zh-CN" sz="2400" b="1" dirty="0">
                <a:solidFill>
                  <a:schemeClr val="bg1"/>
                </a:solidFill>
                <a:latin typeface="+mj-lt"/>
              </a:rPr>
              <a:t>1</a:t>
            </a:r>
            <a:r>
              <a:rPr lang="zh-CN" altLang="zh-CN" sz="2400" b="1" dirty="0">
                <a:solidFill>
                  <a:schemeClr val="bg1"/>
                </a:solidFill>
                <a:latin typeface="+mj-lt"/>
              </a:rPr>
              <a:t>从静止在</a:t>
            </a:r>
            <a:r>
              <a:rPr lang="en-US" altLang="zh-CN" sz="2400" b="1" dirty="0">
                <a:solidFill>
                  <a:schemeClr val="bg1"/>
                </a:solidFill>
                <a:latin typeface="+mj-lt"/>
              </a:rPr>
              <a:t>10s</a:t>
            </a:r>
            <a:r>
              <a:rPr lang="zh-CN" altLang="zh-CN" sz="2400" b="1" dirty="0">
                <a:solidFill>
                  <a:schemeClr val="bg1"/>
                </a:solidFill>
                <a:latin typeface="+mj-lt"/>
              </a:rPr>
              <a:t>匀加速到</a:t>
            </a:r>
            <a:r>
              <a:rPr lang="en-US" altLang="zh-CN" sz="2400" b="1" dirty="0">
                <a:solidFill>
                  <a:schemeClr val="bg1"/>
                </a:solidFill>
                <a:latin typeface="+mj-lt"/>
              </a:rPr>
              <a:t>1500r/min, </a:t>
            </a:r>
            <a:r>
              <a:rPr lang="zh-CN" altLang="zh-CN" sz="2400" b="1" dirty="0">
                <a:solidFill>
                  <a:schemeClr val="bg1"/>
                </a:solidFill>
                <a:latin typeface="+mj-lt"/>
              </a:rPr>
              <a:t>求：加在轴</a:t>
            </a:r>
            <a:r>
              <a:rPr lang="en-US" altLang="zh-CN" sz="2400" b="1" dirty="0">
                <a:solidFill>
                  <a:schemeClr val="bg1"/>
                </a:solidFill>
                <a:latin typeface="+mj-lt"/>
              </a:rPr>
              <a:t>1</a:t>
            </a:r>
            <a:r>
              <a:rPr lang="zh-CN" altLang="zh-CN" sz="2400" b="1" dirty="0">
                <a:solidFill>
                  <a:schemeClr val="bg1"/>
                </a:solidFill>
                <a:latin typeface="+mj-lt"/>
              </a:rPr>
              <a:t>上的力矩</a:t>
            </a:r>
            <a:r>
              <a:rPr lang="en-US" altLang="zh-CN" sz="2400" b="1" i="1" dirty="0">
                <a:solidFill>
                  <a:schemeClr val="bg1"/>
                </a:solidFill>
                <a:latin typeface="+mj-lt"/>
              </a:rPr>
              <a:t>M</a:t>
            </a:r>
            <a:r>
              <a:rPr lang="zh-CN" altLang="zh-CN" sz="2400" b="1" dirty="0">
                <a:solidFill>
                  <a:schemeClr val="bg1"/>
                </a:solidFill>
                <a:latin typeface="+mj-lt"/>
              </a:rPr>
              <a:t>和齿轮间的相互作用力</a:t>
            </a:r>
            <a:r>
              <a:rPr lang="en-US" altLang="zh-CN" sz="2400" b="1" i="1" dirty="0">
                <a:solidFill>
                  <a:schemeClr val="bg1"/>
                </a:solidFill>
                <a:latin typeface="+mj-lt"/>
              </a:rPr>
              <a:t>Q</a:t>
            </a:r>
            <a:r>
              <a:rPr lang="zh-CN" altLang="zh-CN" sz="2400" b="1" dirty="0">
                <a:solidFill>
                  <a:schemeClr val="bg1"/>
                </a:solidFill>
                <a:latin typeface="+mj-lt"/>
              </a:rPr>
              <a:t>。</a:t>
            </a:r>
          </a:p>
          <a:p>
            <a:endParaRPr lang="zh-CN" altLang="zh-CN" sz="2400" b="1" dirty="0">
              <a:solidFill>
                <a:srgbClr val="FFC000"/>
              </a:solidFill>
            </a:endParaRPr>
          </a:p>
        </p:txBody>
      </p:sp>
      <p:pic>
        <p:nvPicPr>
          <p:cNvPr id="3072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3396" y="1676416"/>
            <a:ext cx="3707904" cy="2961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28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8852" y="4653136"/>
            <a:ext cx="4032448" cy="1984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p:cNvGraphicFramePr>
            <a:graphicFrameLocks noChangeAspect="1"/>
          </p:cNvGraphicFramePr>
          <p:nvPr>
            <p:extLst>
              <p:ext uri="{D42A27DB-BD31-4B8C-83A1-F6EECF244321}">
                <p14:modId xmlns:p14="http://schemas.microsoft.com/office/powerpoint/2010/main" val="2565199564"/>
              </p:ext>
            </p:extLst>
          </p:nvPr>
        </p:nvGraphicFramePr>
        <p:xfrm>
          <a:off x="3267725" y="1700969"/>
          <a:ext cx="1903277" cy="889844"/>
        </p:xfrm>
        <a:graphic>
          <a:graphicData uri="http://schemas.openxmlformats.org/presentationml/2006/ole">
            <mc:AlternateContent xmlns:mc="http://schemas.openxmlformats.org/markup-compatibility/2006">
              <mc:Choice xmlns:v="urn:schemas-microsoft-com:vml" Requires="v">
                <p:oleObj spid="_x0000_s22551" name="Equation" r:id="rId5" imgW="977760" imgH="457200" progId="Equation.DSMT4">
                  <p:embed/>
                </p:oleObj>
              </mc:Choice>
              <mc:Fallback>
                <p:oleObj name="Equation" r:id="rId5" imgW="977760" imgH="457200" progId="Equation.DSMT4">
                  <p:embed/>
                  <p:pic>
                    <p:nvPicPr>
                      <p:cNvPr id="0" name=""/>
                      <p:cNvPicPr/>
                      <p:nvPr/>
                    </p:nvPicPr>
                    <p:blipFill>
                      <a:blip r:embed="rId6"/>
                      <a:stretch>
                        <a:fillRect/>
                      </a:stretch>
                    </p:blipFill>
                    <p:spPr>
                      <a:xfrm>
                        <a:off x="3267725" y="1700969"/>
                        <a:ext cx="1903277" cy="889844"/>
                      </a:xfrm>
                      <a:prstGeom prst="rect">
                        <a:avLst/>
                      </a:prstGeom>
                    </p:spPr>
                  </p:pic>
                </p:oleObj>
              </mc:Fallback>
            </mc:AlternateContent>
          </a:graphicData>
        </a:graphic>
      </p:graphicFrame>
      <p:sp>
        <p:nvSpPr>
          <p:cNvPr id="3" name="矩形 2"/>
          <p:cNvSpPr/>
          <p:nvPr/>
        </p:nvSpPr>
        <p:spPr>
          <a:xfrm>
            <a:off x="91993" y="1730392"/>
            <a:ext cx="3133621" cy="830997"/>
          </a:xfrm>
          <a:prstGeom prst="rect">
            <a:avLst/>
          </a:prstGeom>
        </p:spPr>
        <p:txBody>
          <a:bodyPr wrap="square">
            <a:spAutoFit/>
          </a:bodyPr>
          <a:lstStyle/>
          <a:p>
            <a:r>
              <a:rPr lang="zh-CN" altLang="zh-CN" sz="2400" b="1">
                <a:solidFill>
                  <a:schemeClr val="bg1"/>
                </a:solidFill>
                <a:latin typeface="+mj-lt"/>
              </a:rPr>
              <a:t>解：飞轮</a:t>
            </a:r>
            <a:r>
              <a:rPr lang="en-US" altLang="zh-CN" sz="2400" b="1">
                <a:solidFill>
                  <a:schemeClr val="bg1"/>
                </a:solidFill>
                <a:latin typeface="+mj-lt"/>
              </a:rPr>
              <a:t>1</a:t>
            </a:r>
            <a:r>
              <a:rPr lang="zh-CN" altLang="en-US" sz="2400" b="1">
                <a:solidFill>
                  <a:schemeClr val="bg1"/>
                </a:solidFill>
                <a:latin typeface="+mj-lt"/>
              </a:rPr>
              <a:t>和</a:t>
            </a:r>
            <a:r>
              <a:rPr lang="en-US" altLang="zh-CN" sz="2400" b="1">
                <a:solidFill>
                  <a:schemeClr val="bg1"/>
                </a:solidFill>
                <a:latin typeface="+mj-lt"/>
              </a:rPr>
              <a:t>2</a:t>
            </a:r>
            <a:r>
              <a:rPr lang="zh-CN" altLang="en-US" sz="2400" b="1">
                <a:solidFill>
                  <a:schemeClr val="bg1"/>
                </a:solidFill>
                <a:latin typeface="+mj-lt"/>
              </a:rPr>
              <a:t>的动力学方程分别为</a:t>
            </a:r>
          </a:p>
        </p:txBody>
      </p:sp>
      <p:sp>
        <p:nvSpPr>
          <p:cNvPr id="4" name="TextBox 3"/>
          <p:cNvSpPr txBox="1"/>
          <p:nvPr/>
        </p:nvSpPr>
        <p:spPr>
          <a:xfrm>
            <a:off x="302068" y="2799595"/>
            <a:ext cx="3897221" cy="461665"/>
          </a:xfrm>
          <a:prstGeom prst="rect">
            <a:avLst/>
          </a:prstGeom>
          <a:noFill/>
        </p:spPr>
        <p:txBody>
          <a:bodyPr wrap="none" rtlCol="0">
            <a:spAutoFit/>
          </a:bodyPr>
          <a:lstStyle/>
          <a:p>
            <a:r>
              <a:rPr lang="zh-CN" altLang="en-US" sz="2400" b="1">
                <a:solidFill>
                  <a:schemeClr val="bg1"/>
                </a:solidFill>
                <a:latin typeface="+mj-lt"/>
              </a:rPr>
              <a:t>根据齿轮传动的特点，可得</a:t>
            </a:r>
          </a:p>
        </p:txBody>
      </p:sp>
      <p:graphicFrame>
        <p:nvGraphicFramePr>
          <p:cNvPr id="5" name="对象 4"/>
          <p:cNvGraphicFramePr>
            <a:graphicFrameLocks noChangeAspect="1"/>
          </p:cNvGraphicFramePr>
          <p:nvPr>
            <p:extLst>
              <p:ext uri="{D42A27DB-BD31-4B8C-83A1-F6EECF244321}">
                <p14:modId xmlns:p14="http://schemas.microsoft.com/office/powerpoint/2010/main" val="2036370404"/>
              </p:ext>
            </p:extLst>
          </p:nvPr>
        </p:nvGraphicFramePr>
        <p:xfrm>
          <a:off x="1025155" y="3451563"/>
          <a:ext cx="2524125" cy="781050"/>
        </p:xfrm>
        <a:graphic>
          <a:graphicData uri="http://schemas.openxmlformats.org/presentationml/2006/ole">
            <mc:AlternateContent xmlns:mc="http://schemas.openxmlformats.org/markup-compatibility/2006">
              <mc:Choice xmlns:v="urn:schemas-microsoft-com:vml" Requires="v">
                <p:oleObj spid="_x0000_s22552" name="Equation" r:id="rId7" imgW="1396800" imgH="431640" progId="Equation.DSMT4">
                  <p:embed/>
                </p:oleObj>
              </mc:Choice>
              <mc:Fallback>
                <p:oleObj name="Equation" r:id="rId7" imgW="1396800" imgH="431640" progId="Equation.DSMT4">
                  <p:embed/>
                  <p:pic>
                    <p:nvPicPr>
                      <p:cNvPr id="0" name=""/>
                      <p:cNvPicPr/>
                      <p:nvPr/>
                    </p:nvPicPr>
                    <p:blipFill>
                      <a:blip r:embed="rId8"/>
                      <a:stretch>
                        <a:fillRect/>
                      </a:stretch>
                    </p:blipFill>
                    <p:spPr>
                      <a:xfrm>
                        <a:off x="1025155" y="3451563"/>
                        <a:ext cx="2524125" cy="78105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49743202"/>
              </p:ext>
            </p:extLst>
          </p:nvPr>
        </p:nvGraphicFramePr>
        <p:xfrm>
          <a:off x="1187624" y="4510985"/>
          <a:ext cx="2481262" cy="1595437"/>
        </p:xfrm>
        <a:graphic>
          <a:graphicData uri="http://schemas.openxmlformats.org/presentationml/2006/ole">
            <mc:AlternateContent xmlns:mc="http://schemas.openxmlformats.org/markup-compatibility/2006">
              <mc:Choice xmlns:v="urn:schemas-microsoft-com:vml" Requires="v">
                <p:oleObj spid="_x0000_s22553" name="Equation" r:id="rId9" imgW="1384200" imgH="888840" progId="Equation.DSMT4">
                  <p:embed/>
                </p:oleObj>
              </mc:Choice>
              <mc:Fallback>
                <p:oleObj name="Equation" r:id="rId9" imgW="1384200" imgH="888840" progId="Equation.DSMT4">
                  <p:embed/>
                  <p:pic>
                    <p:nvPicPr>
                      <p:cNvPr id="0" name=""/>
                      <p:cNvPicPr/>
                      <p:nvPr/>
                    </p:nvPicPr>
                    <p:blipFill>
                      <a:blip r:embed="rId10"/>
                      <a:stretch>
                        <a:fillRect/>
                      </a:stretch>
                    </p:blipFill>
                    <p:spPr>
                      <a:xfrm>
                        <a:off x="1187624" y="4510985"/>
                        <a:ext cx="2481262" cy="1595437"/>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865AC225-DA4E-4E87-98ED-BF79FF841AE4}"/>
              </a:ext>
            </a:extLst>
          </p:cNvPr>
          <p:cNvSpPr txBox="1"/>
          <p:nvPr/>
        </p:nvSpPr>
        <p:spPr>
          <a:xfrm>
            <a:off x="116339" y="6200128"/>
            <a:ext cx="1512705" cy="369332"/>
          </a:xfrm>
          <a:prstGeom prst="rect">
            <a:avLst/>
          </a:prstGeom>
          <a:noFill/>
          <a:ln>
            <a:solidFill>
              <a:srgbClr val="CCFFFF"/>
            </a:solidFill>
          </a:ln>
        </p:spPr>
        <p:txBody>
          <a:bodyPr wrap="square" rtlCol="0">
            <a:spAutoFit/>
          </a:bodyPr>
          <a:lstStyle/>
          <a:p>
            <a:r>
              <a:rPr lang="en-US" altLang="zh-CN" i="1" dirty="0">
                <a:solidFill>
                  <a:srgbClr val="FF0000"/>
                </a:solidFill>
              </a:rPr>
              <a:t>M = J </a:t>
            </a:r>
            <a:r>
              <a:rPr lang="el-GR" altLang="zh-CN" i="1" dirty="0">
                <a:solidFill>
                  <a:srgbClr val="FF0000"/>
                </a:solidFill>
              </a:rPr>
              <a:t>β</a:t>
            </a:r>
            <a:endParaRPr lang="zh-CN" altLang="en-US" i="1" dirty="0">
              <a:solidFill>
                <a:srgbClr val="FF0000"/>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42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769938" y="334963"/>
            <a:ext cx="84645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5000"/>
              </a:lnSpc>
            </a:pPr>
            <a:r>
              <a:rPr lang="zh-CN" altLang="en-US" sz="2400" b="1" dirty="0">
                <a:solidFill>
                  <a:schemeClr val="bg1"/>
                </a:solidFill>
                <a:latin typeface="Times New Roman" pitchFamily="18" charset="0"/>
              </a:rPr>
              <a:t>一根长为</a:t>
            </a:r>
            <a:r>
              <a:rPr lang="zh-CN" altLang="en-US" sz="2400" b="1" i="1" dirty="0">
                <a:solidFill>
                  <a:srgbClr val="66FFFF"/>
                </a:solidFill>
                <a:latin typeface="Times New Roman" pitchFamily="18" charset="0"/>
              </a:rPr>
              <a:t> </a:t>
            </a:r>
            <a:r>
              <a:rPr lang="en-US" altLang="zh-CN" sz="2400" b="1" i="1" dirty="0">
                <a:solidFill>
                  <a:srgbClr val="66FFFF"/>
                </a:solidFill>
                <a:latin typeface="Times New Roman" pitchFamily="18" charset="0"/>
              </a:rPr>
              <a:t>l</a:t>
            </a:r>
            <a:r>
              <a:rPr lang="en-US" altLang="zh-CN" sz="2400" b="1" dirty="0">
                <a:solidFill>
                  <a:schemeClr val="bg1"/>
                </a:solidFill>
                <a:latin typeface="Times New Roman" pitchFamily="18" charset="0"/>
              </a:rPr>
              <a:t> </a:t>
            </a:r>
            <a:r>
              <a:rPr lang="zh-CN" altLang="en-US" sz="2400" b="1" dirty="0">
                <a:solidFill>
                  <a:schemeClr val="bg1"/>
                </a:solidFill>
                <a:latin typeface="Times New Roman" pitchFamily="18" charset="0"/>
              </a:rPr>
              <a:t>，质量为 </a:t>
            </a:r>
            <a:r>
              <a:rPr lang="en-US" altLang="zh-CN" sz="2400" b="1" i="1" dirty="0">
                <a:solidFill>
                  <a:srgbClr val="66FFFF"/>
                </a:solidFill>
                <a:latin typeface="Times New Roman" pitchFamily="18" charset="0"/>
              </a:rPr>
              <a:t>m</a:t>
            </a:r>
            <a:r>
              <a:rPr lang="en-US" altLang="zh-CN" sz="2400" b="1" dirty="0">
                <a:solidFill>
                  <a:schemeClr val="bg1"/>
                </a:solidFill>
                <a:latin typeface="Times New Roman" pitchFamily="18" charset="0"/>
              </a:rPr>
              <a:t> </a:t>
            </a:r>
            <a:r>
              <a:rPr lang="zh-CN" altLang="en-US" sz="2400" b="1" dirty="0">
                <a:solidFill>
                  <a:schemeClr val="bg1"/>
                </a:solidFill>
                <a:latin typeface="Times New Roman" pitchFamily="18" charset="0"/>
              </a:rPr>
              <a:t>的均匀细直棒，可绕轴</a:t>
            </a:r>
            <a:r>
              <a:rPr lang="zh-CN" altLang="en-US" sz="2400" dirty="0">
                <a:solidFill>
                  <a:schemeClr val="bg1"/>
                </a:solidFill>
                <a:latin typeface="Times New Roman" pitchFamily="18" charset="0"/>
              </a:rPr>
              <a:t> </a:t>
            </a:r>
            <a:r>
              <a:rPr lang="en-US" altLang="zh-CN" sz="2400" b="1" i="1" dirty="0">
                <a:solidFill>
                  <a:srgbClr val="66FFFF"/>
                </a:solidFill>
                <a:latin typeface="Times New Roman" pitchFamily="18" charset="0"/>
              </a:rPr>
              <a:t>O</a:t>
            </a:r>
            <a:r>
              <a:rPr lang="en-US" altLang="zh-CN" sz="2400" b="1" i="1" dirty="0">
                <a:solidFill>
                  <a:schemeClr val="bg1"/>
                </a:solidFill>
                <a:latin typeface="Times New Roman" pitchFamily="18" charset="0"/>
              </a:rPr>
              <a:t> </a:t>
            </a:r>
            <a:r>
              <a:rPr lang="zh-CN" altLang="en-US" sz="2400" b="1" dirty="0">
                <a:solidFill>
                  <a:schemeClr val="bg1"/>
                </a:solidFill>
                <a:latin typeface="Times New Roman" pitchFamily="18" charset="0"/>
              </a:rPr>
              <a:t>在竖直平</a:t>
            </a:r>
          </a:p>
          <a:p>
            <a:pPr eaLnBrk="0" hangingPunct="0">
              <a:lnSpc>
                <a:spcPct val="125000"/>
              </a:lnSpc>
            </a:pPr>
            <a:r>
              <a:rPr lang="zh-CN" altLang="en-US" sz="2400" b="1" dirty="0">
                <a:solidFill>
                  <a:schemeClr val="bg1"/>
                </a:solidFill>
                <a:latin typeface="Times New Roman" pitchFamily="18" charset="0"/>
              </a:rPr>
              <a:t>面内转动，初始时它在水平位置</a:t>
            </a:r>
          </a:p>
        </p:txBody>
      </p:sp>
      <p:sp>
        <p:nvSpPr>
          <p:cNvPr id="27651" name="Text Box 3"/>
          <p:cNvSpPr txBox="1">
            <a:spLocks noChangeArrowheads="1"/>
          </p:cNvSpPr>
          <p:nvPr/>
        </p:nvSpPr>
        <p:spPr bwMode="auto">
          <a:xfrm>
            <a:off x="250825" y="1397000"/>
            <a:ext cx="446563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zh-CN" altLang="en-US" sz="2400" b="1" dirty="0">
                <a:solidFill>
                  <a:srgbClr val="FFFF66"/>
                </a:solidFill>
                <a:latin typeface="Times New Roman" pitchFamily="18" charset="0"/>
              </a:rPr>
              <a:t>求 </a:t>
            </a:r>
            <a:r>
              <a:rPr lang="zh-CN" altLang="en-US" sz="2400" b="1" dirty="0">
                <a:solidFill>
                  <a:schemeClr val="bg1"/>
                </a:solidFill>
                <a:latin typeface="Times New Roman" pitchFamily="18" charset="0"/>
              </a:rPr>
              <a:t> 它由此下摆 </a:t>
            </a:r>
            <a:r>
              <a:rPr lang="zh-CN" altLang="en-US" sz="2400" b="1" i="1" dirty="0">
                <a:solidFill>
                  <a:srgbClr val="66FFFF"/>
                </a:solidFill>
                <a:latin typeface="Times New Roman" pitchFamily="18" charset="0"/>
                <a:sym typeface="Symbol" pitchFamily="18" charset="2"/>
              </a:rPr>
              <a:t></a:t>
            </a:r>
            <a:r>
              <a:rPr lang="zh-CN" altLang="en-US" sz="2400" b="1" i="1" dirty="0">
                <a:solidFill>
                  <a:schemeClr val="bg1"/>
                </a:solidFill>
                <a:latin typeface="Times New Roman" pitchFamily="18" charset="0"/>
              </a:rPr>
              <a:t> </a:t>
            </a:r>
            <a:r>
              <a:rPr lang="zh-CN" altLang="en-US" sz="2400" b="1" dirty="0">
                <a:solidFill>
                  <a:schemeClr val="bg1"/>
                </a:solidFill>
                <a:latin typeface="Times New Roman" pitchFamily="18" charset="0"/>
              </a:rPr>
              <a:t>角时的 </a:t>
            </a:r>
            <a:r>
              <a:rPr lang="zh-CN" altLang="en-US" sz="2400" b="1" i="1" dirty="0">
                <a:solidFill>
                  <a:srgbClr val="66FFFF"/>
                </a:solidFill>
                <a:latin typeface="Times New Roman" pitchFamily="18" charset="0"/>
                <a:sym typeface="Symbol" pitchFamily="18" charset="2"/>
              </a:rPr>
              <a:t></a:t>
            </a:r>
            <a:endParaRPr lang="zh-CN" altLang="en-US" sz="2400" b="1" dirty="0">
              <a:solidFill>
                <a:schemeClr val="bg1"/>
              </a:solidFill>
              <a:latin typeface="Times New Roman" pitchFamily="18" charset="0"/>
            </a:endParaRPr>
          </a:p>
        </p:txBody>
      </p:sp>
      <p:sp>
        <p:nvSpPr>
          <p:cNvPr id="27652" name="Rectangle 4"/>
          <p:cNvSpPr>
            <a:spLocks noChangeArrowheads="1"/>
          </p:cNvSpPr>
          <p:nvPr/>
        </p:nvSpPr>
        <p:spPr bwMode="auto">
          <a:xfrm rot="-3124346">
            <a:off x="6670675" y="1235075"/>
            <a:ext cx="152400" cy="2438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3" name="Rectangle 5"/>
          <p:cNvSpPr>
            <a:spLocks noChangeArrowheads="1"/>
          </p:cNvSpPr>
          <p:nvPr/>
        </p:nvSpPr>
        <p:spPr bwMode="auto">
          <a:xfrm>
            <a:off x="5756275" y="1654175"/>
            <a:ext cx="2514600" cy="152400"/>
          </a:xfrm>
          <a:prstGeom prst="rect">
            <a:avLst/>
          </a:prstGeom>
          <a:solidFill>
            <a:srgbClr val="00FF00">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4" name="Line 6"/>
          <p:cNvSpPr>
            <a:spLocks noChangeShapeType="1"/>
          </p:cNvSpPr>
          <p:nvPr/>
        </p:nvSpPr>
        <p:spPr bwMode="auto">
          <a:xfrm>
            <a:off x="5756275" y="1730375"/>
            <a:ext cx="2895600" cy="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5" name="Line 7"/>
          <p:cNvSpPr>
            <a:spLocks noChangeShapeType="1"/>
          </p:cNvSpPr>
          <p:nvPr/>
        </p:nvSpPr>
        <p:spPr bwMode="auto">
          <a:xfrm>
            <a:off x="6746875" y="2492375"/>
            <a:ext cx="0" cy="9144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6" name="Rectangle 8"/>
          <p:cNvSpPr>
            <a:spLocks noChangeArrowheads="1"/>
          </p:cNvSpPr>
          <p:nvPr/>
        </p:nvSpPr>
        <p:spPr bwMode="auto">
          <a:xfrm>
            <a:off x="5364163" y="1349375"/>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400" i="1">
                <a:solidFill>
                  <a:srgbClr val="FFFF00"/>
                </a:solidFill>
                <a:latin typeface="Times New Roman" pitchFamily="18" charset="0"/>
              </a:rPr>
              <a:t>O</a:t>
            </a:r>
          </a:p>
        </p:txBody>
      </p:sp>
      <p:sp>
        <p:nvSpPr>
          <p:cNvPr id="27657" name="Rectangle 9"/>
          <p:cNvSpPr>
            <a:spLocks noChangeArrowheads="1"/>
          </p:cNvSpPr>
          <p:nvPr/>
        </p:nvSpPr>
        <p:spPr bwMode="auto">
          <a:xfrm>
            <a:off x="7585075" y="11969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i="1">
                <a:solidFill>
                  <a:srgbClr val="FFFF00"/>
                </a:solidFill>
                <a:latin typeface="Times New Roman" pitchFamily="18" charset="0"/>
              </a:rPr>
              <a:t>l</a:t>
            </a:r>
          </a:p>
        </p:txBody>
      </p:sp>
      <p:sp>
        <p:nvSpPr>
          <p:cNvPr id="27658" name="Rectangle 10"/>
          <p:cNvSpPr>
            <a:spLocks noChangeArrowheads="1"/>
          </p:cNvSpPr>
          <p:nvPr/>
        </p:nvSpPr>
        <p:spPr bwMode="auto">
          <a:xfrm>
            <a:off x="6746875" y="1196975"/>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i="1">
                <a:solidFill>
                  <a:srgbClr val="FFFF00"/>
                </a:solidFill>
                <a:latin typeface="Times New Roman" pitchFamily="18" charset="0"/>
              </a:rPr>
              <a:t>m</a:t>
            </a:r>
          </a:p>
        </p:txBody>
      </p:sp>
      <p:sp>
        <p:nvSpPr>
          <p:cNvPr id="27659" name="Rectangle 11"/>
          <p:cNvSpPr>
            <a:spLocks noChangeArrowheads="1"/>
          </p:cNvSpPr>
          <p:nvPr/>
        </p:nvSpPr>
        <p:spPr bwMode="auto">
          <a:xfrm>
            <a:off x="6316663" y="1731963"/>
            <a:ext cx="342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i="1">
                <a:solidFill>
                  <a:srgbClr val="FFFF00"/>
                </a:solidFill>
                <a:latin typeface="Times New Roman" pitchFamily="18" charset="0"/>
                <a:sym typeface="Symbol" pitchFamily="18" charset="2"/>
              </a:rPr>
              <a:t></a:t>
            </a:r>
            <a:endParaRPr lang="en-US" altLang="zh-CN" sz="2400" i="1">
              <a:solidFill>
                <a:srgbClr val="FFFF00"/>
              </a:solidFill>
              <a:latin typeface="Times New Roman" pitchFamily="18" charset="0"/>
            </a:endParaRPr>
          </a:p>
        </p:txBody>
      </p:sp>
      <p:sp>
        <p:nvSpPr>
          <p:cNvPr id="27660" name="Rectangle 12"/>
          <p:cNvSpPr>
            <a:spLocks noChangeArrowheads="1"/>
          </p:cNvSpPr>
          <p:nvPr/>
        </p:nvSpPr>
        <p:spPr bwMode="auto">
          <a:xfrm>
            <a:off x="6746875" y="2111375"/>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solidFill>
                  <a:srgbClr val="FFFF00"/>
                </a:solidFill>
                <a:latin typeface="Times New Roman" pitchFamily="18" charset="0"/>
              </a:rPr>
              <a:t>C</a:t>
            </a:r>
          </a:p>
        </p:txBody>
      </p:sp>
      <p:sp>
        <p:nvSpPr>
          <p:cNvPr id="27661" name="Rectangle 13"/>
          <p:cNvSpPr>
            <a:spLocks noChangeArrowheads="1"/>
          </p:cNvSpPr>
          <p:nvPr/>
        </p:nvSpPr>
        <p:spPr bwMode="auto">
          <a:xfrm>
            <a:off x="8347075" y="1196975"/>
            <a:ext cx="319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i="1">
                <a:solidFill>
                  <a:srgbClr val="FFFF00"/>
                </a:solidFill>
                <a:latin typeface="Times New Roman" pitchFamily="18" charset="0"/>
              </a:rPr>
              <a:t>x</a:t>
            </a:r>
          </a:p>
        </p:txBody>
      </p:sp>
      <p:sp>
        <p:nvSpPr>
          <p:cNvPr id="27662" name="Rectangle 14"/>
          <p:cNvSpPr>
            <a:spLocks noChangeArrowheads="1"/>
          </p:cNvSpPr>
          <p:nvPr/>
        </p:nvSpPr>
        <p:spPr bwMode="auto">
          <a:xfrm>
            <a:off x="293688" y="213042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b="1">
                <a:solidFill>
                  <a:srgbClr val="FFFF00"/>
                </a:solidFill>
                <a:latin typeface="Times New Roman" pitchFamily="18" charset="0"/>
              </a:rPr>
              <a:t>解</a:t>
            </a:r>
            <a:endParaRPr lang="zh-CN" altLang="en-US" sz="2400" b="1" i="1">
              <a:solidFill>
                <a:srgbClr val="99CCFF"/>
              </a:solidFill>
              <a:latin typeface="Times New Roman" pitchFamily="18" charset="0"/>
            </a:endParaRPr>
          </a:p>
        </p:txBody>
      </p:sp>
      <p:sp>
        <p:nvSpPr>
          <p:cNvPr id="27663" name="Rectangle 15"/>
          <p:cNvSpPr>
            <a:spLocks noChangeArrowheads="1"/>
          </p:cNvSpPr>
          <p:nvPr/>
        </p:nvSpPr>
        <p:spPr bwMode="auto">
          <a:xfrm rot="2268635">
            <a:off x="7013575" y="2738438"/>
            <a:ext cx="381000" cy="152400"/>
          </a:xfrm>
          <a:prstGeom prst="rect">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7664" name="Object 16"/>
          <p:cNvGraphicFramePr>
            <a:graphicFrameLocks/>
          </p:cNvGraphicFramePr>
          <p:nvPr/>
        </p:nvGraphicFramePr>
        <p:xfrm>
          <a:off x="2466975" y="2136775"/>
          <a:ext cx="3051175" cy="525463"/>
        </p:xfrm>
        <a:graphic>
          <a:graphicData uri="http://schemas.openxmlformats.org/presentationml/2006/ole">
            <mc:AlternateContent xmlns:mc="http://schemas.openxmlformats.org/markup-compatibility/2006">
              <mc:Choice xmlns:v="urn:schemas-microsoft-com:vml" Requires="v">
                <p:oleObj spid="_x0000_s23638" name="公式" r:id="rId4" imgW="3295708" imgH="495328" progId="Equation.3">
                  <p:embed/>
                </p:oleObj>
              </mc:Choice>
              <mc:Fallback>
                <p:oleObj name="公式" r:id="rId4" imgW="3295708" imgH="495328" progId="Equation.3">
                  <p:embed/>
                  <p:pic>
                    <p:nvPicPr>
                      <p:cNvPr id="0" name="Object 1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6975" y="2136775"/>
                        <a:ext cx="3051175"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65" name="Text Box 17"/>
          <p:cNvSpPr txBox="1">
            <a:spLocks noChangeArrowheads="1"/>
          </p:cNvSpPr>
          <p:nvPr/>
        </p:nvSpPr>
        <p:spPr bwMode="auto">
          <a:xfrm>
            <a:off x="733425" y="2125663"/>
            <a:ext cx="1751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chemeClr val="bg1"/>
                </a:solidFill>
                <a:latin typeface="Times New Roman" pitchFamily="18" charset="0"/>
              </a:rPr>
              <a:t>取一质元</a:t>
            </a:r>
          </a:p>
        </p:txBody>
      </p:sp>
      <p:grpSp>
        <p:nvGrpSpPr>
          <p:cNvPr id="27666" name="Group 18"/>
          <p:cNvGrpSpPr>
            <a:grpSpLocks/>
          </p:cNvGrpSpPr>
          <p:nvPr/>
        </p:nvGrpSpPr>
        <p:grpSpPr bwMode="auto">
          <a:xfrm>
            <a:off x="3505200" y="2822575"/>
            <a:ext cx="2286000" cy="504825"/>
            <a:chOff x="2208" y="1842"/>
            <a:chExt cx="1440" cy="409"/>
          </a:xfrm>
        </p:grpSpPr>
        <p:sp>
          <p:nvSpPr>
            <p:cNvPr id="31779" name="AutoShape 19"/>
            <p:cNvSpPr>
              <a:spLocks noChangeArrowheads="1"/>
            </p:cNvSpPr>
            <p:nvPr/>
          </p:nvSpPr>
          <p:spPr bwMode="auto">
            <a:xfrm>
              <a:off x="2208" y="1842"/>
              <a:ext cx="1440" cy="409"/>
            </a:xfrm>
            <a:prstGeom prst="wedgeRectCallout">
              <a:avLst>
                <a:gd name="adj1" fmla="val 34653"/>
                <a:gd name="adj2" fmla="val -90833"/>
              </a:avLst>
            </a:prstGeom>
            <a:noFill/>
            <a:ln w="9525">
              <a:solidFill>
                <a:srgbClr val="66FFFF"/>
              </a:solidFill>
              <a:miter lim="800000"/>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zh-CN" sz="2400" b="1">
                <a:latin typeface="Times New Roman" pitchFamily="18" charset="0"/>
              </a:endParaRPr>
            </a:p>
          </p:txBody>
        </p:sp>
        <p:graphicFrame>
          <p:nvGraphicFramePr>
            <p:cNvPr id="31780" name="Object 20"/>
            <p:cNvGraphicFramePr>
              <a:graphicFrameLocks/>
            </p:cNvGraphicFramePr>
            <p:nvPr/>
          </p:nvGraphicFramePr>
          <p:xfrm>
            <a:off x="2365" y="1878"/>
            <a:ext cx="1110" cy="367"/>
          </p:xfrm>
          <a:graphic>
            <a:graphicData uri="http://schemas.openxmlformats.org/presentationml/2006/ole">
              <mc:AlternateContent xmlns:mc="http://schemas.openxmlformats.org/markup-compatibility/2006">
                <mc:Choice xmlns:v="urn:schemas-microsoft-com:vml" Requires="v">
                  <p:oleObj spid="_x0000_s23639" name="公式" r:id="rId6" imgW="1676333" imgH="495328" progId="Equation.3">
                    <p:embed/>
                  </p:oleObj>
                </mc:Choice>
                <mc:Fallback>
                  <p:oleObj name="公式" r:id="rId6" imgW="1676333" imgH="495328" progId="Equation.3">
                    <p:embed/>
                    <p:pic>
                      <p:nvPicPr>
                        <p:cNvPr id="0" name="Object 2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5" y="1878"/>
                          <a:ext cx="1110" cy="36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7669" name="AutoShape 21"/>
          <p:cNvSpPr>
            <a:spLocks noChangeArrowheads="1"/>
          </p:cNvSpPr>
          <p:nvPr/>
        </p:nvSpPr>
        <p:spPr bwMode="auto">
          <a:xfrm>
            <a:off x="2438400" y="2890838"/>
            <a:ext cx="685800" cy="236537"/>
          </a:xfrm>
          <a:prstGeom prst="leftArrow">
            <a:avLst>
              <a:gd name="adj1" fmla="val 50000"/>
              <a:gd name="adj2" fmla="val 72483"/>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7670" name="Object 22"/>
          <p:cNvGraphicFramePr>
            <a:graphicFrameLocks/>
          </p:cNvGraphicFramePr>
          <p:nvPr/>
        </p:nvGraphicFramePr>
        <p:xfrm>
          <a:off x="835025" y="2808288"/>
          <a:ext cx="1347788" cy="388937"/>
        </p:xfrm>
        <a:graphic>
          <a:graphicData uri="http://schemas.openxmlformats.org/presentationml/2006/ole">
            <mc:AlternateContent xmlns:mc="http://schemas.openxmlformats.org/markup-compatibility/2006">
              <mc:Choice xmlns:v="urn:schemas-microsoft-com:vml" Requires="v">
                <p:oleObj spid="_x0000_s23640" name="公式" r:id="rId8" imgW="1409631" imgH="342816" progId="Equation.3">
                  <p:embed/>
                </p:oleObj>
              </mc:Choice>
              <mc:Fallback>
                <p:oleObj name="公式" r:id="rId8" imgW="1409631" imgH="342816" progId="Equation.3">
                  <p:embed/>
                  <p:pic>
                    <p:nvPicPr>
                      <p:cNvPr id="0" name="Object 2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5025" y="2808288"/>
                        <a:ext cx="1347788" cy="388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71" name="Text Box 23"/>
          <p:cNvSpPr txBox="1">
            <a:spLocks noChangeArrowheads="1"/>
          </p:cNvSpPr>
          <p:nvPr/>
        </p:nvSpPr>
        <p:spPr bwMode="auto">
          <a:xfrm>
            <a:off x="709613" y="4098925"/>
            <a:ext cx="82089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zh-CN" altLang="en-US" sz="2000" b="1">
                <a:solidFill>
                  <a:srgbClr val="66FFFF"/>
                </a:solidFill>
                <a:latin typeface="楷体_GB2312" pitchFamily="49" charset="-122"/>
                <a:ea typeface="楷体_GB2312" pitchFamily="49" charset="-122"/>
              </a:rPr>
              <a:t>重力对整个棒的合力矩等于重力全部 集中于质心所产生的力矩</a:t>
            </a:r>
          </a:p>
        </p:txBody>
      </p:sp>
      <p:sp>
        <p:nvSpPr>
          <p:cNvPr id="27672" name="Rectangle 24"/>
          <p:cNvSpPr>
            <a:spLocks noChangeArrowheads="1"/>
          </p:cNvSpPr>
          <p:nvPr/>
        </p:nvSpPr>
        <p:spPr bwMode="auto">
          <a:xfrm>
            <a:off x="7121525" y="2311400"/>
            <a:ext cx="557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solidFill>
                  <a:srgbClr val="FFFF00"/>
                </a:solidFill>
                <a:latin typeface="Times New Roman" pitchFamily="18" charset="0"/>
              </a:rPr>
              <a:t>d</a:t>
            </a:r>
            <a:r>
              <a:rPr lang="en-US" altLang="zh-CN" sz="2400" i="1">
                <a:solidFill>
                  <a:srgbClr val="FFFF00"/>
                </a:solidFill>
                <a:latin typeface="Times New Roman" pitchFamily="18" charset="0"/>
              </a:rPr>
              <a:t>m</a:t>
            </a:r>
          </a:p>
        </p:txBody>
      </p:sp>
      <p:graphicFrame>
        <p:nvGraphicFramePr>
          <p:cNvPr id="27673" name="Object 25"/>
          <p:cNvGraphicFramePr>
            <a:graphicFrameLocks/>
          </p:cNvGraphicFramePr>
          <p:nvPr/>
        </p:nvGraphicFramePr>
        <p:xfrm>
          <a:off x="892175" y="3313113"/>
          <a:ext cx="2068513" cy="742950"/>
        </p:xfrm>
        <a:graphic>
          <a:graphicData uri="http://schemas.openxmlformats.org/presentationml/2006/ole">
            <mc:AlternateContent xmlns:mc="http://schemas.openxmlformats.org/markup-compatibility/2006">
              <mc:Choice xmlns:v="urn:schemas-microsoft-com:vml" Requires="v">
                <p:oleObj spid="_x0000_s23641" name="Equation" r:id="rId10" imgW="2209736" imgH="733410" progId="Equation.3">
                  <p:embed/>
                </p:oleObj>
              </mc:Choice>
              <mc:Fallback>
                <p:oleObj name="Equation" r:id="rId10" imgW="2209736" imgH="733410" progId="Equation.3">
                  <p:embed/>
                  <p:pic>
                    <p:nvPicPr>
                      <p:cNvPr id="0" name="Object 2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2175" y="3313113"/>
                        <a:ext cx="2068513"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74" name="Object 26"/>
          <p:cNvGraphicFramePr>
            <a:graphicFrameLocks/>
          </p:cNvGraphicFramePr>
          <p:nvPr/>
        </p:nvGraphicFramePr>
        <p:xfrm>
          <a:off x="900113" y="4681538"/>
          <a:ext cx="4548187" cy="742950"/>
        </p:xfrm>
        <a:graphic>
          <a:graphicData uri="http://schemas.openxmlformats.org/presentationml/2006/ole">
            <mc:AlternateContent xmlns:mc="http://schemas.openxmlformats.org/markup-compatibility/2006">
              <mc:Choice xmlns:v="urn:schemas-microsoft-com:vml" Requires="v">
                <p:oleObj spid="_x0000_s23642" name="Equation" r:id="rId12" imgW="4962593" imgH="733410" progId="Equation.3">
                  <p:embed/>
                </p:oleObj>
              </mc:Choice>
              <mc:Fallback>
                <p:oleObj name="Equation" r:id="rId12" imgW="4962593" imgH="733410" progId="Equation.3">
                  <p:embed/>
                  <p:pic>
                    <p:nvPicPr>
                      <p:cNvPr id="0" name="Object 26"/>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00113" y="4681538"/>
                        <a:ext cx="4548187"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75" name="Object 27"/>
          <p:cNvGraphicFramePr>
            <a:graphicFrameLocks noChangeAspect="1"/>
          </p:cNvGraphicFramePr>
          <p:nvPr/>
        </p:nvGraphicFramePr>
        <p:xfrm>
          <a:off x="5867400" y="4746625"/>
          <a:ext cx="687388" cy="698500"/>
        </p:xfrm>
        <a:graphic>
          <a:graphicData uri="http://schemas.openxmlformats.org/presentationml/2006/ole">
            <mc:AlternateContent xmlns:mc="http://schemas.openxmlformats.org/markup-compatibility/2006">
              <mc:Choice xmlns:v="urn:schemas-microsoft-com:vml" Requires="v">
                <p:oleObj spid="_x0000_s23643" name="公式" r:id="rId14" imgW="666754" imgH="609510" progId="Equation.3">
                  <p:embed/>
                </p:oleObj>
              </mc:Choice>
              <mc:Fallback>
                <p:oleObj name="公式" r:id="rId14" imgW="666754" imgH="609510" progId="Equation.3">
                  <p:embed/>
                  <p:pic>
                    <p:nvPicPr>
                      <p:cNvPr id="0" name="Object 2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67400" y="4746625"/>
                        <a:ext cx="687388"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76" name="Object 28"/>
          <p:cNvGraphicFramePr>
            <a:graphicFrameLocks/>
          </p:cNvGraphicFramePr>
          <p:nvPr/>
        </p:nvGraphicFramePr>
        <p:xfrm>
          <a:off x="6732588" y="4719638"/>
          <a:ext cx="971550" cy="742950"/>
        </p:xfrm>
        <a:graphic>
          <a:graphicData uri="http://schemas.openxmlformats.org/presentationml/2006/ole">
            <mc:AlternateContent xmlns:mc="http://schemas.openxmlformats.org/markup-compatibility/2006">
              <mc:Choice xmlns:v="urn:schemas-microsoft-com:vml" Requires="v">
                <p:oleObj spid="_x0000_s23644" name="公式" r:id="rId16" imgW="990683" imgH="733410" progId="Equation.3">
                  <p:embed/>
                </p:oleObj>
              </mc:Choice>
              <mc:Fallback>
                <p:oleObj name="公式" r:id="rId16" imgW="990683" imgH="733410" progId="Equation.3">
                  <p:embed/>
                  <p:pic>
                    <p:nvPicPr>
                      <p:cNvPr id="0" name="Object 28"/>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32588" y="4719638"/>
                        <a:ext cx="971550"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77" name="Object 29"/>
          <p:cNvGraphicFramePr>
            <a:graphicFrameLocks noChangeAspect="1"/>
          </p:cNvGraphicFramePr>
          <p:nvPr/>
        </p:nvGraphicFramePr>
        <p:xfrm>
          <a:off x="6111875" y="2949575"/>
          <a:ext cx="558800" cy="412750"/>
        </p:xfrm>
        <a:graphic>
          <a:graphicData uri="http://schemas.openxmlformats.org/presentationml/2006/ole">
            <mc:AlternateContent xmlns:mc="http://schemas.openxmlformats.org/markup-compatibility/2006">
              <mc:Choice xmlns:v="urn:schemas-microsoft-com:vml" Requires="v">
                <p:oleObj spid="_x0000_s23645" name="Equation" r:id="rId18" imgW="152517" imgH="76121" progId="Equation.3">
                  <p:embed/>
                </p:oleObj>
              </mc:Choice>
              <mc:Fallback>
                <p:oleObj name="Equation" r:id="rId18" imgW="152517" imgH="76121" progId="Equation.3">
                  <p:embed/>
                  <p:pic>
                    <p:nvPicPr>
                      <p:cNvPr id="0" name="Object 2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111875" y="2949575"/>
                        <a:ext cx="558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78" name="Object 30"/>
          <p:cNvGraphicFramePr>
            <a:graphicFrameLocks/>
          </p:cNvGraphicFramePr>
          <p:nvPr/>
        </p:nvGraphicFramePr>
        <p:xfrm>
          <a:off x="842963" y="5724525"/>
          <a:ext cx="2936875" cy="685800"/>
        </p:xfrm>
        <a:graphic>
          <a:graphicData uri="http://schemas.openxmlformats.org/presentationml/2006/ole">
            <mc:AlternateContent xmlns:mc="http://schemas.openxmlformats.org/markup-compatibility/2006">
              <mc:Choice xmlns:v="urn:schemas-microsoft-com:vml" Requires="v">
                <p:oleObj spid="_x0000_s23646" name="公式" r:id="rId20" imgW="3171805" imgH="666736" progId="Equation.3">
                  <p:embed/>
                </p:oleObj>
              </mc:Choice>
              <mc:Fallback>
                <p:oleObj name="公式" r:id="rId20" imgW="3171805" imgH="666736" progId="Equation.3">
                  <p:embed/>
                  <p:pic>
                    <p:nvPicPr>
                      <p:cNvPr id="0" name="Object 30"/>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42963" y="5724525"/>
                        <a:ext cx="2936875"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79" name="AutoShape 31"/>
          <p:cNvSpPr>
            <a:spLocks noChangeArrowheads="1"/>
          </p:cNvSpPr>
          <p:nvPr/>
        </p:nvSpPr>
        <p:spPr bwMode="auto">
          <a:xfrm>
            <a:off x="3995738" y="5949950"/>
            <a:ext cx="685800" cy="287338"/>
          </a:xfrm>
          <a:prstGeom prst="rightArrow">
            <a:avLst>
              <a:gd name="adj1" fmla="val 50000"/>
              <a:gd name="adj2" fmla="val 59668"/>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7680" name="Object 32"/>
          <p:cNvGraphicFramePr>
            <a:graphicFrameLocks/>
          </p:cNvGraphicFramePr>
          <p:nvPr/>
        </p:nvGraphicFramePr>
        <p:xfrm>
          <a:off x="4819650" y="5664200"/>
          <a:ext cx="1736725" cy="788988"/>
        </p:xfrm>
        <a:graphic>
          <a:graphicData uri="http://schemas.openxmlformats.org/presentationml/2006/ole">
            <mc:AlternateContent xmlns:mc="http://schemas.openxmlformats.org/markup-compatibility/2006">
              <mc:Choice xmlns:v="urn:schemas-microsoft-com:vml" Requires="v">
                <p:oleObj spid="_x0000_s23647" name="公式" r:id="rId22" imgW="1838297" imgH="790635" progId="Equation.3">
                  <p:embed/>
                </p:oleObj>
              </mc:Choice>
              <mc:Fallback>
                <p:oleObj name="公式" r:id="rId22" imgW="1838297" imgH="790635" progId="Equation.3">
                  <p:embed/>
                  <p:pic>
                    <p:nvPicPr>
                      <p:cNvPr id="0" name="Object 32"/>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819650" y="5664200"/>
                        <a:ext cx="1736725" cy="78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81" name="Text Box 33"/>
          <p:cNvSpPr txBox="1">
            <a:spLocks noChangeArrowheads="1"/>
          </p:cNvSpPr>
          <p:nvPr/>
        </p:nvSpPr>
        <p:spPr bwMode="auto">
          <a:xfrm>
            <a:off x="92075" y="379413"/>
            <a:ext cx="827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400" b="1">
                <a:solidFill>
                  <a:srgbClr val="FFFF00"/>
                </a:solidFill>
                <a:latin typeface="Times New Roman" pitchFamily="18" charset="0"/>
              </a:rPr>
              <a:t>例</a:t>
            </a:r>
          </a:p>
        </p:txBody>
      </p:sp>
      <p:graphicFrame>
        <p:nvGraphicFramePr>
          <p:cNvPr id="27682" name="Object 34"/>
          <p:cNvGraphicFramePr>
            <a:graphicFrameLocks noGrp="1"/>
          </p:cNvGraphicFramePr>
          <p:nvPr>
            <p:ph idx="4294967295"/>
          </p:nvPr>
        </p:nvGraphicFramePr>
        <p:xfrm>
          <a:off x="5724525" y="1614488"/>
          <a:ext cx="187325" cy="215900"/>
        </p:xfrm>
        <a:graphic>
          <a:graphicData uri="http://schemas.openxmlformats.org/presentationml/2006/ole">
            <mc:AlternateContent xmlns:mc="http://schemas.openxmlformats.org/markup-compatibility/2006">
              <mc:Choice xmlns:v="urn:schemas-microsoft-com:vml" Requires="v">
                <p:oleObj spid="_x0000_s23648" name="公式" r:id="rId24" imgW="95289" imgH="95287" progId="Equation.3">
                  <p:embed/>
                </p:oleObj>
              </mc:Choice>
              <mc:Fallback>
                <p:oleObj name="公式" r:id="rId24" imgW="95289" imgH="95287" progId="Equation.3">
                  <p:embed/>
                  <p:pic>
                    <p:nvPicPr>
                      <p:cNvPr id="0" name="Object 34"/>
                      <p:cNvPicPr>
                        <a:picLocks noGrp="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724525" y="1614488"/>
                        <a:ext cx="1873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83" name="Object 35"/>
          <p:cNvGraphicFramePr>
            <a:graphicFrameLocks/>
          </p:cNvGraphicFramePr>
          <p:nvPr/>
        </p:nvGraphicFramePr>
        <p:xfrm>
          <a:off x="6651625" y="2344738"/>
          <a:ext cx="187325" cy="215900"/>
        </p:xfrm>
        <a:graphic>
          <a:graphicData uri="http://schemas.openxmlformats.org/presentationml/2006/ole">
            <mc:AlternateContent xmlns:mc="http://schemas.openxmlformats.org/markup-compatibility/2006">
              <mc:Choice xmlns:v="urn:schemas-microsoft-com:vml" Requires="v">
                <p:oleObj spid="_x0000_s23649" name="公式" r:id="rId26" imgW="95289" imgH="95287" progId="Equation.3">
                  <p:embed/>
                </p:oleObj>
              </mc:Choice>
              <mc:Fallback>
                <p:oleObj name="公式" r:id="rId26" imgW="95289" imgH="95287" progId="Equation.3">
                  <p:embed/>
                  <p:pic>
                    <p:nvPicPr>
                      <p:cNvPr id="0" name="Object 35"/>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651625" y="2344738"/>
                        <a:ext cx="1873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84" name="Arc 36"/>
          <p:cNvSpPr>
            <a:spLocks/>
          </p:cNvSpPr>
          <p:nvPr/>
        </p:nvSpPr>
        <p:spPr bwMode="auto">
          <a:xfrm>
            <a:off x="5641975" y="1590675"/>
            <a:ext cx="760413" cy="425450"/>
          </a:xfrm>
          <a:custGeom>
            <a:avLst/>
            <a:gdLst>
              <a:gd name="T0" fmla="*/ 2147483647 w 20759"/>
              <a:gd name="T1" fmla="*/ 2147483647 h 11587"/>
              <a:gd name="T2" fmla="*/ 2147483647 w 20759"/>
              <a:gd name="T3" fmla="*/ 2147483647 h 11587"/>
              <a:gd name="T4" fmla="*/ 0 w 20759"/>
              <a:gd name="T5" fmla="*/ 0 h 11587"/>
              <a:gd name="T6" fmla="*/ 0 60000 65536"/>
              <a:gd name="T7" fmla="*/ 0 60000 65536"/>
              <a:gd name="T8" fmla="*/ 0 60000 65536"/>
            </a:gdLst>
            <a:ahLst/>
            <a:cxnLst>
              <a:cxn ang="T6">
                <a:pos x="T0" y="T1"/>
              </a:cxn>
              <a:cxn ang="T7">
                <a:pos x="T2" y="T3"/>
              </a:cxn>
              <a:cxn ang="T8">
                <a:pos x="T4" y="T5"/>
              </a:cxn>
            </a:cxnLst>
            <a:rect l="0" t="0" r="r" b="b"/>
            <a:pathLst>
              <a:path w="20759" h="11587" fill="none" extrusionOk="0">
                <a:moveTo>
                  <a:pt x="20759" y="5968"/>
                </a:moveTo>
                <a:cubicBezTo>
                  <a:pt x="20188" y="7952"/>
                  <a:pt x="19336" y="9844"/>
                  <a:pt x="18229" y="11587"/>
                </a:cubicBezTo>
              </a:path>
              <a:path w="20759" h="11587" stroke="0" extrusionOk="0">
                <a:moveTo>
                  <a:pt x="20759" y="5968"/>
                </a:moveTo>
                <a:cubicBezTo>
                  <a:pt x="20188" y="7952"/>
                  <a:pt x="19336" y="9844"/>
                  <a:pt x="18229" y="11587"/>
                </a:cubicBezTo>
                <a:lnTo>
                  <a:pt x="0" y="0"/>
                </a:lnTo>
                <a:lnTo>
                  <a:pt x="20759" y="5968"/>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Text Box 3">
            <a:extLst>
              <a:ext uri="{FF2B5EF4-FFF2-40B4-BE49-F238E27FC236}">
                <a16:creationId xmlns:a16="http://schemas.microsoft.com/office/drawing/2014/main" id="{674DC8E4-0F4E-B64F-7979-D1496914725E}"/>
              </a:ext>
            </a:extLst>
          </p:cNvPr>
          <p:cNvSpPr txBox="1">
            <a:spLocks noChangeArrowheads="1"/>
          </p:cNvSpPr>
          <p:nvPr/>
        </p:nvSpPr>
        <p:spPr bwMode="auto">
          <a:xfrm>
            <a:off x="3505200" y="3487737"/>
            <a:ext cx="3218653" cy="50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zh-CN" altLang="en-US" sz="2400" b="1" dirty="0">
                <a:solidFill>
                  <a:schemeClr val="bg1"/>
                </a:solidFill>
                <a:latin typeface="Times New Roman" pitchFamily="18" charset="0"/>
              </a:rPr>
              <a:t>前面结论：</a:t>
            </a:r>
            <a:r>
              <a:rPr lang="en-US" altLang="zh-CN" sz="2400" b="1" i="1" dirty="0">
                <a:solidFill>
                  <a:schemeClr val="bg1"/>
                </a:solidFill>
                <a:latin typeface="Times New Roman" pitchFamily="18" charset="0"/>
              </a:rPr>
              <a:t>J</a:t>
            </a:r>
            <a:r>
              <a:rPr lang="en-US" altLang="zh-CN" sz="2400" b="1" dirty="0">
                <a:solidFill>
                  <a:schemeClr val="bg1"/>
                </a:solidFill>
                <a:latin typeface="Times New Roman" pitchFamily="18" charset="0"/>
              </a:rPr>
              <a:t> = 1/3 </a:t>
            </a:r>
            <a:r>
              <a:rPr lang="en-US" altLang="zh-CN" sz="2400" b="1" i="1" dirty="0">
                <a:solidFill>
                  <a:schemeClr val="bg1"/>
                </a:solidFill>
                <a:latin typeface="Times New Roman" pitchFamily="18" charset="0"/>
              </a:rPr>
              <a:t>ml</a:t>
            </a:r>
            <a:r>
              <a:rPr lang="en-US" altLang="zh-CN" sz="2400" b="1" baseline="30000" dirty="0">
                <a:solidFill>
                  <a:schemeClr val="bg1"/>
                </a:solidFill>
                <a:latin typeface="Times New Roman" pitchFamily="18" charset="0"/>
              </a:rPr>
              <a:t>2 </a:t>
            </a:r>
            <a:endParaRPr lang="zh-CN" altLang="en-US" sz="2400" b="1" baseline="30000" dirty="0">
              <a:solidFill>
                <a:schemeClr val="bg1"/>
              </a:solidFill>
              <a:latin typeface="Times New Roman" pitchFamily="18" charset="0"/>
            </a:endParaRPr>
          </a:p>
        </p:txBody>
      </p:sp>
      <p:sp>
        <p:nvSpPr>
          <p:cNvPr id="38" name="Text Box 3">
            <a:extLst>
              <a:ext uri="{FF2B5EF4-FFF2-40B4-BE49-F238E27FC236}">
                <a16:creationId xmlns:a16="http://schemas.microsoft.com/office/drawing/2014/main" id="{FEBC0C34-7690-4AB5-9AAD-909BF847000A}"/>
              </a:ext>
            </a:extLst>
          </p:cNvPr>
          <p:cNvSpPr txBox="1">
            <a:spLocks noChangeArrowheads="1"/>
          </p:cNvSpPr>
          <p:nvPr/>
        </p:nvSpPr>
        <p:spPr bwMode="auto">
          <a:xfrm>
            <a:off x="-29369" y="3152155"/>
            <a:ext cx="1347788" cy="50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zh-CN" altLang="en-US" sz="2400" b="1" dirty="0">
                <a:solidFill>
                  <a:schemeClr val="bg1"/>
                </a:solidFill>
                <a:latin typeface="Times New Roman" pitchFamily="18" charset="0"/>
              </a:rPr>
              <a:t>重力矩</a:t>
            </a:r>
          </a:p>
        </p:txBody>
      </p:sp>
      <p:sp>
        <p:nvSpPr>
          <p:cNvPr id="39" name="文本框 38">
            <a:extLst>
              <a:ext uri="{FF2B5EF4-FFF2-40B4-BE49-F238E27FC236}">
                <a16:creationId xmlns:a16="http://schemas.microsoft.com/office/drawing/2014/main" id="{61577B31-54CE-4FC8-A1E2-88DBB21DC13C}"/>
              </a:ext>
            </a:extLst>
          </p:cNvPr>
          <p:cNvSpPr txBox="1"/>
          <p:nvPr/>
        </p:nvSpPr>
        <p:spPr>
          <a:xfrm>
            <a:off x="26285" y="6391392"/>
            <a:ext cx="1512705" cy="369332"/>
          </a:xfrm>
          <a:prstGeom prst="rect">
            <a:avLst/>
          </a:prstGeom>
          <a:noFill/>
          <a:ln>
            <a:solidFill>
              <a:srgbClr val="CCFFFF"/>
            </a:solidFill>
          </a:ln>
        </p:spPr>
        <p:txBody>
          <a:bodyPr wrap="square" rtlCol="0">
            <a:spAutoFit/>
          </a:bodyPr>
          <a:lstStyle/>
          <a:p>
            <a:r>
              <a:rPr lang="en-US" altLang="zh-CN" i="1" dirty="0">
                <a:solidFill>
                  <a:srgbClr val="FF0000"/>
                </a:solidFill>
              </a:rPr>
              <a:t>M = J </a:t>
            </a:r>
            <a:r>
              <a:rPr lang="el-GR" altLang="zh-CN" i="1" dirty="0">
                <a:solidFill>
                  <a:srgbClr val="FF0000"/>
                </a:solidFill>
              </a:rPr>
              <a:t>β</a:t>
            </a:r>
            <a:endParaRPr lang="zh-CN" altLang="en-US" i="1" dirty="0">
              <a:solidFill>
                <a:srgbClr val="FF0000"/>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wipe(left)">
                                      <p:cBhvr>
                                        <p:cTn id="7" dur="500"/>
                                        <p:tgtEl>
                                          <p:spTgt spid="276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7682"/>
                                        </p:tgtEl>
                                        <p:attrNameLst>
                                          <p:attrName>style.visibility</p:attrName>
                                        </p:attrNameLst>
                                      </p:cBhvr>
                                      <p:to>
                                        <p:strVal val="visible"/>
                                      </p:to>
                                    </p:set>
                                    <p:animEffect transition="in" filter="wipe(left)">
                                      <p:cBhvr>
                                        <p:cTn id="12" dur="500"/>
                                        <p:tgtEl>
                                          <p:spTgt spid="27682"/>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7656"/>
                                        </p:tgtEl>
                                        <p:attrNameLst>
                                          <p:attrName>style.visibility</p:attrName>
                                        </p:attrNameLst>
                                      </p:cBhvr>
                                      <p:to>
                                        <p:strVal val="visible"/>
                                      </p:to>
                                    </p:set>
                                    <p:animEffect transition="in" filter="wipe(left)">
                                      <p:cBhvr>
                                        <p:cTn id="16" dur="500"/>
                                        <p:tgtEl>
                                          <p:spTgt spid="2765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7658"/>
                                        </p:tgtEl>
                                        <p:attrNameLst>
                                          <p:attrName>style.visibility</p:attrName>
                                        </p:attrNameLst>
                                      </p:cBhvr>
                                      <p:to>
                                        <p:strVal val="visible"/>
                                      </p:to>
                                    </p:set>
                                    <p:animEffect transition="in" filter="wipe(left)">
                                      <p:cBhvr>
                                        <p:cTn id="21" dur="500"/>
                                        <p:tgtEl>
                                          <p:spTgt spid="2765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7657"/>
                                        </p:tgtEl>
                                        <p:attrNameLst>
                                          <p:attrName>style.visibility</p:attrName>
                                        </p:attrNameLst>
                                      </p:cBhvr>
                                      <p:to>
                                        <p:strVal val="visible"/>
                                      </p:to>
                                    </p:set>
                                    <p:animEffect transition="in" filter="wipe(left)">
                                      <p:cBhvr>
                                        <p:cTn id="26" dur="500"/>
                                        <p:tgtEl>
                                          <p:spTgt spid="2765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7662"/>
                                        </p:tgtEl>
                                        <p:attrNameLst>
                                          <p:attrName>style.visibility</p:attrName>
                                        </p:attrNameLst>
                                      </p:cBhvr>
                                      <p:to>
                                        <p:strVal val="visible"/>
                                      </p:to>
                                    </p:set>
                                    <p:animEffect transition="in" filter="wipe(left)">
                                      <p:cBhvr>
                                        <p:cTn id="31" dur="500"/>
                                        <p:tgtEl>
                                          <p:spTgt spid="2766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7652"/>
                                        </p:tgtEl>
                                        <p:attrNameLst>
                                          <p:attrName>style.visibility</p:attrName>
                                        </p:attrNameLst>
                                      </p:cBhvr>
                                      <p:to>
                                        <p:strVal val="visible"/>
                                      </p:to>
                                    </p:set>
                                    <p:animEffect transition="in" filter="wipe(left)">
                                      <p:cBhvr>
                                        <p:cTn id="36" dur="500"/>
                                        <p:tgtEl>
                                          <p:spTgt spid="2765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7684"/>
                                        </p:tgtEl>
                                        <p:attrNameLst>
                                          <p:attrName>style.visibility</p:attrName>
                                        </p:attrNameLst>
                                      </p:cBhvr>
                                      <p:to>
                                        <p:strVal val="visible"/>
                                      </p:to>
                                    </p:set>
                                    <p:animEffect transition="in" filter="wipe(down)">
                                      <p:cBhvr>
                                        <p:cTn id="41" dur="500"/>
                                        <p:tgtEl>
                                          <p:spTgt spid="2768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7659"/>
                                        </p:tgtEl>
                                        <p:attrNameLst>
                                          <p:attrName>style.visibility</p:attrName>
                                        </p:attrNameLst>
                                      </p:cBhvr>
                                      <p:to>
                                        <p:strVal val="visible"/>
                                      </p:to>
                                    </p:set>
                                    <p:animEffect transition="in" filter="wipe(left)">
                                      <p:cBhvr>
                                        <p:cTn id="46" dur="500"/>
                                        <p:tgtEl>
                                          <p:spTgt spid="2765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7660"/>
                                        </p:tgtEl>
                                        <p:attrNameLst>
                                          <p:attrName>style.visibility</p:attrName>
                                        </p:attrNameLst>
                                      </p:cBhvr>
                                      <p:to>
                                        <p:strVal val="visible"/>
                                      </p:to>
                                    </p:set>
                                    <p:animEffect transition="in" filter="wipe(left)">
                                      <p:cBhvr>
                                        <p:cTn id="51" dur="500"/>
                                        <p:tgtEl>
                                          <p:spTgt spid="2766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7683"/>
                                        </p:tgtEl>
                                        <p:attrNameLst>
                                          <p:attrName>style.visibility</p:attrName>
                                        </p:attrNameLst>
                                      </p:cBhvr>
                                      <p:to>
                                        <p:strVal val="visible"/>
                                      </p:to>
                                    </p:set>
                                    <p:animEffect transition="in" filter="wipe(left)">
                                      <p:cBhvr>
                                        <p:cTn id="56" dur="500"/>
                                        <p:tgtEl>
                                          <p:spTgt spid="27683"/>
                                        </p:tgtEl>
                                      </p:cBhvr>
                                    </p:animEffect>
                                  </p:childTnLst>
                                </p:cTn>
                              </p:par>
                            </p:childTnLst>
                          </p:cTn>
                        </p:par>
                        <p:par>
                          <p:cTn id="57" fill="hold" nodeType="afterGroup">
                            <p:stCondLst>
                              <p:cond delay="500"/>
                            </p:stCondLst>
                            <p:childTnLst>
                              <p:par>
                                <p:cTn id="58" presetID="22" presetClass="entr" presetSubtype="8" fill="hold" grpId="0" nodeType="afterEffect">
                                  <p:stCondLst>
                                    <p:cond delay="0"/>
                                  </p:stCondLst>
                                  <p:childTnLst>
                                    <p:set>
                                      <p:cBhvr>
                                        <p:cTn id="59" dur="1" fill="hold">
                                          <p:stCondLst>
                                            <p:cond delay="0"/>
                                          </p:stCondLst>
                                        </p:cTn>
                                        <p:tgtEl>
                                          <p:spTgt spid="27655"/>
                                        </p:tgtEl>
                                        <p:attrNameLst>
                                          <p:attrName>style.visibility</p:attrName>
                                        </p:attrNameLst>
                                      </p:cBhvr>
                                      <p:to>
                                        <p:strVal val="visible"/>
                                      </p:to>
                                    </p:set>
                                    <p:animEffect transition="in" filter="wipe(left)">
                                      <p:cBhvr>
                                        <p:cTn id="60" dur="500"/>
                                        <p:tgtEl>
                                          <p:spTgt spid="2765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27677"/>
                                        </p:tgtEl>
                                        <p:attrNameLst>
                                          <p:attrName>style.visibility</p:attrName>
                                        </p:attrNameLst>
                                      </p:cBhvr>
                                      <p:to>
                                        <p:strVal val="visible"/>
                                      </p:to>
                                    </p:set>
                                    <p:animEffect transition="in" filter="wipe(left)">
                                      <p:cBhvr>
                                        <p:cTn id="65" dur="500"/>
                                        <p:tgtEl>
                                          <p:spTgt spid="2767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7654"/>
                                        </p:tgtEl>
                                        <p:attrNameLst>
                                          <p:attrName>style.visibility</p:attrName>
                                        </p:attrNameLst>
                                      </p:cBhvr>
                                      <p:to>
                                        <p:strVal val="visible"/>
                                      </p:to>
                                    </p:set>
                                    <p:animEffect transition="in" filter="wipe(left)">
                                      <p:cBhvr>
                                        <p:cTn id="70" dur="500"/>
                                        <p:tgtEl>
                                          <p:spTgt spid="27654"/>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7661"/>
                                        </p:tgtEl>
                                        <p:attrNameLst>
                                          <p:attrName>style.visibility</p:attrName>
                                        </p:attrNameLst>
                                      </p:cBhvr>
                                      <p:to>
                                        <p:strVal val="visible"/>
                                      </p:to>
                                    </p:set>
                                    <p:animEffect transition="in" filter="wipe(left)">
                                      <p:cBhvr>
                                        <p:cTn id="75" dur="500"/>
                                        <p:tgtEl>
                                          <p:spTgt spid="27661"/>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27665"/>
                                        </p:tgtEl>
                                        <p:attrNameLst>
                                          <p:attrName>style.visibility</p:attrName>
                                        </p:attrNameLst>
                                      </p:cBhvr>
                                      <p:to>
                                        <p:strVal val="visible"/>
                                      </p:to>
                                    </p:set>
                                    <p:animEffect transition="in" filter="wipe(left)">
                                      <p:cBhvr>
                                        <p:cTn id="80" dur="500"/>
                                        <p:tgtEl>
                                          <p:spTgt spid="27665"/>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27663"/>
                                        </p:tgtEl>
                                        <p:attrNameLst>
                                          <p:attrName>style.visibility</p:attrName>
                                        </p:attrNameLst>
                                      </p:cBhvr>
                                      <p:to>
                                        <p:strVal val="visible"/>
                                      </p:to>
                                    </p:set>
                                    <p:animEffect transition="in" filter="wipe(left)">
                                      <p:cBhvr>
                                        <p:cTn id="85" dur="500"/>
                                        <p:tgtEl>
                                          <p:spTgt spid="27663"/>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27672"/>
                                        </p:tgtEl>
                                        <p:attrNameLst>
                                          <p:attrName>style.visibility</p:attrName>
                                        </p:attrNameLst>
                                      </p:cBhvr>
                                      <p:to>
                                        <p:strVal val="visible"/>
                                      </p:to>
                                    </p:set>
                                    <p:animEffect transition="in" filter="wipe(left)">
                                      <p:cBhvr>
                                        <p:cTn id="90" dur="500"/>
                                        <p:tgtEl>
                                          <p:spTgt spid="27672"/>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27664"/>
                                        </p:tgtEl>
                                        <p:attrNameLst>
                                          <p:attrName>style.visibility</p:attrName>
                                        </p:attrNameLst>
                                      </p:cBhvr>
                                      <p:to>
                                        <p:strVal val="visible"/>
                                      </p:to>
                                    </p:set>
                                    <p:animEffect transition="in" filter="wipe(left)">
                                      <p:cBhvr>
                                        <p:cTn id="95" dur="500"/>
                                        <p:tgtEl>
                                          <p:spTgt spid="27664"/>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4" fill="hold" nodeType="clickEffect">
                                  <p:stCondLst>
                                    <p:cond delay="0"/>
                                  </p:stCondLst>
                                  <p:childTnLst>
                                    <p:set>
                                      <p:cBhvr>
                                        <p:cTn id="99" dur="1" fill="hold">
                                          <p:stCondLst>
                                            <p:cond delay="0"/>
                                          </p:stCondLst>
                                        </p:cTn>
                                        <p:tgtEl>
                                          <p:spTgt spid="27666"/>
                                        </p:tgtEl>
                                        <p:attrNameLst>
                                          <p:attrName>style.visibility</p:attrName>
                                        </p:attrNameLst>
                                      </p:cBhvr>
                                      <p:to>
                                        <p:strVal val="visible"/>
                                      </p:to>
                                    </p:set>
                                    <p:animEffect transition="in" filter="wipe(down)">
                                      <p:cBhvr>
                                        <p:cTn id="100" dur="500"/>
                                        <p:tgtEl>
                                          <p:spTgt spid="27666"/>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27669"/>
                                        </p:tgtEl>
                                        <p:attrNameLst>
                                          <p:attrName>style.visibility</p:attrName>
                                        </p:attrNameLst>
                                      </p:cBhvr>
                                      <p:to>
                                        <p:strVal val="visible"/>
                                      </p:to>
                                    </p:set>
                                    <p:animEffect transition="in" filter="wipe(left)">
                                      <p:cBhvr>
                                        <p:cTn id="105" dur="500"/>
                                        <p:tgtEl>
                                          <p:spTgt spid="27669"/>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27670"/>
                                        </p:tgtEl>
                                        <p:attrNameLst>
                                          <p:attrName>style.visibility</p:attrName>
                                        </p:attrNameLst>
                                      </p:cBhvr>
                                      <p:to>
                                        <p:strVal val="visible"/>
                                      </p:to>
                                    </p:set>
                                    <p:animEffect transition="in" filter="wipe(left)">
                                      <p:cBhvr>
                                        <p:cTn id="110" dur="500"/>
                                        <p:tgtEl>
                                          <p:spTgt spid="27670"/>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27673"/>
                                        </p:tgtEl>
                                        <p:attrNameLst>
                                          <p:attrName>style.visibility</p:attrName>
                                        </p:attrNameLst>
                                      </p:cBhvr>
                                      <p:to>
                                        <p:strVal val="visible"/>
                                      </p:to>
                                    </p:set>
                                    <p:animEffect transition="in" filter="wipe(left)">
                                      <p:cBhvr>
                                        <p:cTn id="115" dur="500"/>
                                        <p:tgtEl>
                                          <p:spTgt spid="27673"/>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27671"/>
                                        </p:tgtEl>
                                        <p:attrNameLst>
                                          <p:attrName>style.visibility</p:attrName>
                                        </p:attrNameLst>
                                      </p:cBhvr>
                                      <p:to>
                                        <p:strVal val="visible"/>
                                      </p:to>
                                    </p:set>
                                    <p:animEffect transition="in" filter="wipe(left)">
                                      <p:cBhvr>
                                        <p:cTn id="120" dur="500"/>
                                        <p:tgtEl>
                                          <p:spTgt spid="27671"/>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27674"/>
                                        </p:tgtEl>
                                        <p:attrNameLst>
                                          <p:attrName>style.visibility</p:attrName>
                                        </p:attrNameLst>
                                      </p:cBhvr>
                                      <p:to>
                                        <p:strVal val="visible"/>
                                      </p:to>
                                    </p:set>
                                    <p:animEffect transition="in" filter="wipe(left)">
                                      <p:cBhvr>
                                        <p:cTn id="125" dur="500"/>
                                        <p:tgtEl>
                                          <p:spTgt spid="27674"/>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27675"/>
                                        </p:tgtEl>
                                        <p:attrNameLst>
                                          <p:attrName>style.visibility</p:attrName>
                                        </p:attrNameLst>
                                      </p:cBhvr>
                                      <p:to>
                                        <p:strVal val="visible"/>
                                      </p:to>
                                    </p:set>
                                    <p:animEffect transition="in" filter="wipe(left)">
                                      <p:cBhvr>
                                        <p:cTn id="130" dur="500"/>
                                        <p:tgtEl>
                                          <p:spTgt spid="27675"/>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nodeType="clickEffect">
                                  <p:stCondLst>
                                    <p:cond delay="0"/>
                                  </p:stCondLst>
                                  <p:childTnLst>
                                    <p:set>
                                      <p:cBhvr>
                                        <p:cTn id="134" dur="1" fill="hold">
                                          <p:stCondLst>
                                            <p:cond delay="0"/>
                                          </p:stCondLst>
                                        </p:cTn>
                                        <p:tgtEl>
                                          <p:spTgt spid="27676"/>
                                        </p:tgtEl>
                                        <p:attrNameLst>
                                          <p:attrName>style.visibility</p:attrName>
                                        </p:attrNameLst>
                                      </p:cBhvr>
                                      <p:to>
                                        <p:strVal val="visible"/>
                                      </p:to>
                                    </p:set>
                                    <p:animEffect transition="in" filter="wipe(left)">
                                      <p:cBhvr>
                                        <p:cTn id="135" dur="500"/>
                                        <p:tgtEl>
                                          <p:spTgt spid="27676"/>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nodeType="clickEffect">
                                  <p:stCondLst>
                                    <p:cond delay="0"/>
                                  </p:stCondLst>
                                  <p:childTnLst>
                                    <p:set>
                                      <p:cBhvr>
                                        <p:cTn id="139" dur="1" fill="hold">
                                          <p:stCondLst>
                                            <p:cond delay="0"/>
                                          </p:stCondLst>
                                        </p:cTn>
                                        <p:tgtEl>
                                          <p:spTgt spid="27678"/>
                                        </p:tgtEl>
                                        <p:attrNameLst>
                                          <p:attrName>style.visibility</p:attrName>
                                        </p:attrNameLst>
                                      </p:cBhvr>
                                      <p:to>
                                        <p:strVal val="visible"/>
                                      </p:to>
                                    </p:set>
                                    <p:animEffect transition="in" filter="wipe(left)">
                                      <p:cBhvr>
                                        <p:cTn id="140" dur="500"/>
                                        <p:tgtEl>
                                          <p:spTgt spid="27678"/>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27679"/>
                                        </p:tgtEl>
                                        <p:attrNameLst>
                                          <p:attrName>style.visibility</p:attrName>
                                        </p:attrNameLst>
                                      </p:cBhvr>
                                      <p:to>
                                        <p:strVal val="visible"/>
                                      </p:to>
                                    </p:set>
                                    <p:animEffect transition="in" filter="wipe(left)">
                                      <p:cBhvr>
                                        <p:cTn id="145" dur="500"/>
                                        <p:tgtEl>
                                          <p:spTgt spid="27679"/>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8" fill="hold" nodeType="clickEffect">
                                  <p:stCondLst>
                                    <p:cond delay="0"/>
                                  </p:stCondLst>
                                  <p:childTnLst>
                                    <p:set>
                                      <p:cBhvr>
                                        <p:cTn id="149" dur="1" fill="hold">
                                          <p:stCondLst>
                                            <p:cond delay="0"/>
                                          </p:stCondLst>
                                        </p:cTn>
                                        <p:tgtEl>
                                          <p:spTgt spid="27680"/>
                                        </p:tgtEl>
                                        <p:attrNameLst>
                                          <p:attrName>style.visibility</p:attrName>
                                        </p:attrNameLst>
                                      </p:cBhvr>
                                      <p:to>
                                        <p:strVal val="visible"/>
                                      </p:to>
                                    </p:set>
                                    <p:animEffect transition="in" filter="wipe(left)">
                                      <p:cBhvr>
                                        <p:cTn id="150" dur="500"/>
                                        <p:tgtEl>
                                          <p:spTgt spid="27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animBg="1"/>
      <p:bldP spid="27653" grpId="0" animBg="1"/>
      <p:bldP spid="27654" grpId="0" animBg="1"/>
      <p:bldP spid="27655" grpId="0" animBg="1"/>
      <p:bldP spid="27656" grpId="0" autoUpdateAnimBg="0"/>
      <p:bldP spid="27657" grpId="0" autoUpdateAnimBg="0"/>
      <p:bldP spid="27658" grpId="0" autoUpdateAnimBg="0"/>
      <p:bldP spid="27659" grpId="0" autoUpdateAnimBg="0"/>
      <p:bldP spid="27660" grpId="0" autoUpdateAnimBg="0"/>
      <p:bldP spid="27661" grpId="0" autoUpdateAnimBg="0"/>
      <p:bldP spid="27662" grpId="0" autoUpdateAnimBg="0"/>
      <p:bldP spid="27663" grpId="0" animBg="1"/>
      <p:bldP spid="27665" grpId="0" autoUpdateAnimBg="0"/>
      <p:bldP spid="27669" grpId="0" animBg="1"/>
      <p:bldP spid="27671" grpId="0" autoUpdateAnimBg="0"/>
      <p:bldP spid="27672" grpId="0" autoUpdateAnimBg="0"/>
      <p:bldP spid="27679" grpId="0" animBg="1"/>
      <p:bldP spid="2768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769938" y="315913"/>
            <a:ext cx="6034087"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40000"/>
              </a:lnSpc>
            </a:pPr>
            <a:r>
              <a:rPr lang="zh-CN" altLang="en-US" sz="2400" b="1" dirty="0">
                <a:solidFill>
                  <a:schemeClr val="bg1"/>
                </a:solidFill>
                <a:latin typeface="宋体" pitchFamily="2" charset="-122"/>
              </a:rPr>
              <a:t>圆盘以</a:t>
            </a:r>
            <a:r>
              <a:rPr lang="zh-CN" altLang="en-US" sz="2400" b="1" i="1" dirty="0">
                <a:solidFill>
                  <a:schemeClr val="bg1"/>
                </a:solidFill>
                <a:latin typeface="宋体" pitchFamily="2" charset="-122"/>
              </a:rPr>
              <a:t> </a:t>
            </a:r>
            <a:r>
              <a:rPr lang="zh-CN" altLang="en-US" sz="2400" b="1" i="1" dirty="0">
                <a:solidFill>
                  <a:srgbClr val="66FFFF"/>
                </a:solidFill>
                <a:latin typeface="宋体" pitchFamily="2" charset="-122"/>
                <a:sym typeface="Symbol" pitchFamily="18" charset="2"/>
              </a:rPr>
              <a:t></a:t>
            </a:r>
            <a:r>
              <a:rPr lang="en-US" altLang="zh-CN" sz="2400" b="1" baseline="-25000" dirty="0">
                <a:solidFill>
                  <a:srgbClr val="66FFFF"/>
                </a:solidFill>
                <a:latin typeface="宋体" pitchFamily="2" charset="-122"/>
              </a:rPr>
              <a:t>0</a:t>
            </a:r>
            <a:r>
              <a:rPr lang="en-US" altLang="zh-CN" sz="2400" b="1" dirty="0">
                <a:solidFill>
                  <a:srgbClr val="00FFCC"/>
                </a:solidFill>
                <a:latin typeface="宋体" pitchFamily="2" charset="-122"/>
              </a:rPr>
              <a:t> </a:t>
            </a:r>
            <a:r>
              <a:rPr lang="zh-CN" altLang="en-US" sz="2400" b="1" dirty="0">
                <a:solidFill>
                  <a:schemeClr val="bg1"/>
                </a:solidFill>
                <a:latin typeface="宋体" pitchFamily="2" charset="-122"/>
              </a:rPr>
              <a:t>在桌面上转动</a:t>
            </a:r>
            <a:r>
              <a:rPr lang="en-US" altLang="zh-CN" sz="2400" b="1" dirty="0">
                <a:solidFill>
                  <a:schemeClr val="bg1"/>
                </a:solidFill>
                <a:latin typeface="宋体" pitchFamily="2" charset="-122"/>
              </a:rPr>
              <a:t>,</a:t>
            </a:r>
            <a:r>
              <a:rPr lang="zh-CN" altLang="en-US" sz="2400" b="1" dirty="0">
                <a:solidFill>
                  <a:schemeClr val="bg1"/>
                </a:solidFill>
                <a:latin typeface="宋体" pitchFamily="2" charset="-122"/>
              </a:rPr>
              <a:t>受摩擦力而静止</a:t>
            </a:r>
          </a:p>
        </p:txBody>
      </p:sp>
      <p:sp>
        <p:nvSpPr>
          <p:cNvPr id="28675" name="Text Box 3"/>
          <p:cNvSpPr txBox="1">
            <a:spLocks noChangeArrowheads="1"/>
          </p:cNvSpPr>
          <p:nvPr/>
        </p:nvSpPr>
        <p:spPr bwMode="auto">
          <a:xfrm>
            <a:off x="269875" y="160020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FFFF00"/>
                </a:solidFill>
                <a:latin typeface="Times New Roman" pitchFamily="18" charset="0"/>
              </a:rPr>
              <a:t>解</a:t>
            </a:r>
            <a:endParaRPr lang="zh-CN" altLang="en-US" sz="2400">
              <a:latin typeface="Times New Roman" pitchFamily="18" charset="0"/>
            </a:endParaRPr>
          </a:p>
        </p:txBody>
      </p:sp>
      <p:graphicFrame>
        <p:nvGraphicFramePr>
          <p:cNvPr id="28676" name="Object 4"/>
          <p:cNvGraphicFramePr>
            <a:graphicFrameLocks/>
          </p:cNvGraphicFramePr>
          <p:nvPr/>
        </p:nvGraphicFramePr>
        <p:xfrm>
          <a:off x="2349500" y="1738313"/>
          <a:ext cx="2741613" cy="285750"/>
        </p:xfrm>
        <a:graphic>
          <a:graphicData uri="http://schemas.openxmlformats.org/presentationml/2006/ole">
            <mc:AlternateContent xmlns:mc="http://schemas.openxmlformats.org/markup-compatibility/2006">
              <mc:Choice xmlns:v="urn:schemas-microsoft-com:vml" Requires="v">
                <p:oleObj spid="_x0000_s24620" name="公式" r:id="rId4" imgW="2962331" imgH="228634" progId="Equation.3">
                  <p:embed/>
                </p:oleObj>
              </mc:Choice>
              <mc:Fallback>
                <p:oleObj name="公式" r:id="rId4" imgW="2962331" imgH="228634"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9500" y="1738313"/>
                        <a:ext cx="2741613"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7" name="Object 5"/>
          <p:cNvGraphicFramePr>
            <a:graphicFrameLocks/>
          </p:cNvGraphicFramePr>
          <p:nvPr/>
        </p:nvGraphicFramePr>
        <p:xfrm>
          <a:off x="1019175" y="2652713"/>
          <a:ext cx="2673350" cy="354012"/>
        </p:xfrm>
        <a:graphic>
          <a:graphicData uri="http://schemas.openxmlformats.org/presentationml/2006/ole">
            <mc:AlternateContent xmlns:mc="http://schemas.openxmlformats.org/markup-compatibility/2006">
              <mc:Choice xmlns:v="urn:schemas-microsoft-com:vml" Requires="v">
                <p:oleObj spid="_x0000_s24621" name="Equation" r:id="rId6" imgW="2886208" imgH="304755" progId="Equation.3">
                  <p:embed/>
                </p:oleObj>
              </mc:Choice>
              <mc:Fallback>
                <p:oleObj name="Equation" r:id="rId6" imgW="2886208" imgH="304755" progId="Equation.3">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9175" y="2652713"/>
                        <a:ext cx="2673350" cy="354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8" name="Object 6"/>
          <p:cNvGraphicFramePr>
            <a:graphicFrameLocks/>
          </p:cNvGraphicFramePr>
          <p:nvPr/>
        </p:nvGraphicFramePr>
        <p:xfrm>
          <a:off x="2592388" y="3355975"/>
          <a:ext cx="2752725" cy="742950"/>
        </p:xfrm>
        <a:graphic>
          <a:graphicData uri="http://schemas.openxmlformats.org/presentationml/2006/ole">
            <mc:AlternateContent xmlns:mc="http://schemas.openxmlformats.org/markup-compatibility/2006">
              <mc:Choice xmlns:v="urn:schemas-microsoft-com:vml" Requires="v">
                <p:oleObj spid="_x0000_s24622" name="Equation" r:id="rId8" imgW="2971779" imgH="733410" progId="Equation.3">
                  <p:embed/>
                </p:oleObj>
              </mc:Choice>
              <mc:Fallback>
                <p:oleObj name="Equation" r:id="rId8" imgW="2971779" imgH="733410" progId="Equation.3">
                  <p:embed/>
                  <p:pic>
                    <p:nvPicPr>
                      <p:cNvPr id="0" name="Object 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92388" y="3355975"/>
                        <a:ext cx="2752725"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9" name="Object 7"/>
          <p:cNvGraphicFramePr>
            <a:graphicFrameLocks/>
          </p:cNvGraphicFramePr>
          <p:nvPr/>
        </p:nvGraphicFramePr>
        <p:xfrm>
          <a:off x="2586038" y="4292600"/>
          <a:ext cx="1530350" cy="742950"/>
        </p:xfrm>
        <a:graphic>
          <a:graphicData uri="http://schemas.openxmlformats.org/presentationml/2006/ole">
            <mc:AlternateContent xmlns:mc="http://schemas.openxmlformats.org/markup-compatibility/2006">
              <mc:Choice xmlns:v="urn:schemas-microsoft-com:vml" Requires="v">
                <p:oleObj spid="_x0000_s24623" name="公式" r:id="rId10" imgW="1609657" imgH="733410" progId="Equation.3">
                  <p:embed/>
                </p:oleObj>
              </mc:Choice>
              <mc:Fallback>
                <p:oleObj name="公式" r:id="rId10" imgW="1609657" imgH="733410" progId="Equation.3">
                  <p:embed/>
                  <p:pic>
                    <p:nvPicPr>
                      <p:cNvPr id="0" name="Object 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86038" y="4292600"/>
                        <a:ext cx="1530350"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80" name="Object 8"/>
          <p:cNvGraphicFramePr>
            <a:graphicFrameLocks/>
          </p:cNvGraphicFramePr>
          <p:nvPr/>
        </p:nvGraphicFramePr>
        <p:xfrm>
          <a:off x="5338763" y="4257675"/>
          <a:ext cx="2811462" cy="742950"/>
        </p:xfrm>
        <a:graphic>
          <a:graphicData uri="http://schemas.openxmlformats.org/presentationml/2006/ole">
            <mc:AlternateContent xmlns:mc="http://schemas.openxmlformats.org/markup-compatibility/2006">
              <mc:Choice xmlns:v="urn:schemas-microsoft-com:vml" Requires="v">
                <p:oleObj spid="_x0000_s24624" name="公式" r:id="rId12" imgW="3029007" imgH="733410" progId="Equation.3">
                  <p:embed/>
                </p:oleObj>
              </mc:Choice>
              <mc:Fallback>
                <p:oleObj name="公式" r:id="rId12" imgW="3029007" imgH="733410" progId="Equation.3">
                  <p:embed/>
                  <p:pic>
                    <p:nvPicPr>
                      <p:cNvPr id="0" name="Object 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38763" y="4257675"/>
                        <a:ext cx="2811462"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81" name="Object 9"/>
          <p:cNvGraphicFramePr>
            <a:graphicFrameLocks/>
          </p:cNvGraphicFramePr>
          <p:nvPr/>
        </p:nvGraphicFramePr>
        <p:xfrm>
          <a:off x="1541463" y="5405438"/>
          <a:ext cx="2398712" cy="811212"/>
        </p:xfrm>
        <a:graphic>
          <a:graphicData uri="http://schemas.openxmlformats.org/presentationml/2006/ole">
            <mc:AlternateContent xmlns:mc="http://schemas.openxmlformats.org/markup-compatibility/2006">
              <mc:Choice xmlns:v="urn:schemas-microsoft-com:vml" Requires="v">
                <p:oleObj spid="_x0000_s24625" name="公式" r:id="rId14" imgW="2571727" imgH="809531" progId="Equation.3">
                  <p:embed/>
                </p:oleObj>
              </mc:Choice>
              <mc:Fallback>
                <p:oleObj name="公式" r:id="rId14" imgW="2571727" imgH="809531" progId="Equation.3">
                  <p:embed/>
                  <p:pic>
                    <p:nvPicPr>
                      <p:cNvPr id="0" name="Object 9"/>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41463" y="5405438"/>
                        <a:ext cx="2398712" cy="811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82" name="Object 10"/>
          <p:cNvGraphicFramePr>
            <a:graphicFrameLocks/>
          </p:cNvGraphicFramePr>
          <p:nvPr/>
        </p:nvGraphicFramePr>
        <p:xfrm>
          <a:off x="5795963" y="5372100"/>
          <a:ext cx="1187450" cy="811213"/>
        </p:xfrm>
        <a:graphic>
          <a:graphicData uri="http://schemas.openxmlformats.org/presentationml/2006/ole">
            <mc:AlternateContent xmlns:mc="http://schemas.openxmlformats.org/markup-compatibility/2006">
              <mc:Choice xmlns:v="urn:schemas-microsoft-com:vml" Requires="v">
                <p:oleObj spid="_x0000_s24626" name="Equation" r:id="rId16" imgW="1228771" imgH="809531" progId="Equation.3">
                  <p:embed/>
                </p:oleObj>
              </mc:Choice>
              <mc:Fallback>
                <p:oleObj name="Equation" r:id="rId16" imgW="1228771" imgH="809531" progId="Equation.3">
                  <p:embed/>
                  <p:pic>
                    <p:nvPicPr>
                      <p:cNvPr id="0" name="Object 10"/>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95963" y="5372100"/>
                        <a:ext cx="1187450" cy="811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3" name="AutoShape 11"/>
          <p:cNvSpPr>
            <a:spLocks noChangeArrowheads="1"/>
          </p:cNvSpPr>
          <p:nvPr/>
        </p:nvSpPr>
        <p:spPr bwMode="auto">
          <a:xfrm>
            <a:off x="4498975" y="5589588"/>
            <a:ext cx="720725" cy="280987"/>
          </a:xfrm>
          <a:prstGeom prst="rightArrow">
            <a:avLst>
              <a:gd name="adj1" fmla="val 50000"/>
              <a:gd name="adj2" fmla="val 64124"/>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4" name="Text Box 12"/>
          <p:cNvSpPr txBox="1">
            <a:spLocks noChangeArrowheads="1"/>
          </p:cNvSpPr>
          <p:nvPr/>
        </p:nvSpPr>
        <p:spPr bwMode="auto">
          <a:xfrm>
            <a:off x="217488" y="423863"/>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400" b="1">
                <a:solidFill>
                  <a:srgbClr val="FFFF00"/>
                </a:solidFill>
                <a:latin typeface="Times New Roman" pitchFamily="18" charset="0"/>
              </a:rPr>
              <a:t>例</a:t>
            </a:r>
          </a:p>
        </p:txBody>
      </p:sp>
      <p:sp>
        <p:nvSpPr>
          <p:cNvPr id="28685" name="Text Box 13"/>
          <p:cNvSpPr txBox="1">
            <a:spLocks noChangeArrowheads="1"/>
          </p:cNvSpPr>
          <p:nvPr/>
        </p:nvSpPr>
        <p:spPr bwMode="auto">
          <a:xfrm>
            <a:off x="-4763" y="1052513"/>
            <a:ext cx="400050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400" b="1" dirty="0">
                <a:solidFill>
                  <a:srgbClr val="FFFF00"/>
                </a:solidFill>
                <a:latin typeface="Times New Roman" pitchFamily="18" charset="0"/>
              </a:rPr>
              <a:t>求  </a:t>
            </a:r>
            <a:r>
              <a:rPr lang="zh-CN" altLang="en-US" sz="2400" b="1" dirty="0">
                <a:solidFill>
                  <a:schemeClr val="bg1"/>
                </a:solidFill>
                <a:latin typeface="Times New Roman" pitchFamily="18" charset="0"/>
              </a:rPr>
              <a:t>到圆盘静止所需</a:t>
            </a:r>
            <a:r>
              <a:rPr lang="zh-CN" altLang="en-US" sz="2400" b="1" dirty="0">
                <a:solidFill>
                  <a:srgbClr val="66FFFF"/>
                </a:solidFill>
                <a:latin typeface="Times New Roman" pitchFamily="18" charset="0"/>
              </a:rPr>
              <a:t>时间</a:t>
            </a:r>
            <a:endParaRPr lang="zh-CN" altLang="en-US" sz="2400" b="1" dirty="0">
              <a:solidFill>
                <a:schemeClr val="bg1"/>
              </a:solidFill>
              <a:latin typeface="Times New Roman" pitchFamily="18" charset="0"/>
            </a:endParaRPr>
          </a:p>
        </p:txBody>
      </p:sp>
      <p:sp>
        <p:nvSpPr>
          <p:cNvPr id="28686" name="Text Box 14"/>
          <p:cNvSpPr txBox="1">
            <a:spLocks noChangeArrowheads="1"/>
          </p:cNvSpPr>
          <p:nvPr/>
        </p:nvSpPr>
        <p:spPr bwMode="auto">
          <a:xfrm>
            <a:off x="749300" y="1609725"/>
            <a:ext cx="1662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chemeClr val="bg1"/>
                </a:solidFill>
                <a:latin typeface="Times New Roman" pitchFamily="18" charset="0"/>
              </a:rPr>
              <a:t>取一质元</a:t>
            </a:r>
          </a:p>
        </p:txBody>
      </p:sp>
      <p:sp>
        <p:nvSpPr>
          <p:cNvPr id="28687" name="Text Box 15"/>
          <p:cNvSpPr txBox="1">
            <a:spLocks noChangeArrowheads="1"/>
          </p:cNvSpPr>
          <p:nvPr/>
        </p:nvSpPr>
        <p:spPr bwMode="auto">
          <a:xfrm>
            <a:off x="717550" y="4357688"/>
            <a:ext cx="1982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chemeClr val="bg1"/>
                </a:solidFill>
                <a:latin typeface="Times New Roman" pitchFamily="18" charset="0"/>
              </a:rPr>
              <a:t>由转动定律</a:t>
            </a:r>
          </a:p>
        </p:txBody>
      </p:sp>
      <p:sp>
        <p:nvSpPr>
          <p:cNvPr id="28688" name="AutoShape 16"/>
          <p:cNvSpPr>
            <a:spLocks noChangeArrowheads="1"/>
          </p:cNvSpPr>
          <p:nvPr/>
        </p:nvSpPr>
        <p:spPr bwMode="auto">
          <a:xfrm>
            <a:off x="4464050" y="4508500"/>
            <a:ext cx="720725" cy="306388"/>
          </a:xfrm>
          <a:prstGeom prst="rightArrow">
            <a:avLst>
              <a:gd name="adj1" fmla="val 50000"/>
              <a:gd name="adj2" fmla="val 58808"/>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9" name="Text Box 17"/>
          <p:cNvSpPr txBox="1">
            <a:spLocks noChangeArrowheads="1"/>
          </p:cNvSpPr>
          <p:nvPr/>
        </p:nvSpPr>
        <p:spPr bwMode="auto">
          <a:xfrm>
            <a:off x="687388" y="3429000"/>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400" b="1">
                <a:solidFill>
                  <a:schemeClr val="bg1"/>
                </a:solidFill>
                <a:latin typeface="Times New Roman" pitchFamily="18" charset="0"/>
              </a:rPr>
              <a:t>摩擦力矩</a:t>
            </a:r>
          </a:p>
        </p:txBody>
      </p:sp>
      <p:grpSp>
        <p:nvGrpSpPr>
          <p:cNvPr id="28690" name="Group 18"/>
          <p:cNvGrpSpPr>
            <a:grpSpLocks/>
          </p:cNvGrpSpPr>
          <p:nvPr/>
        </p:nvGrpSpPr>
        <p:grpSpPr bwMode="auto">
          <a:xfrm>
            <a:off x="4932363" y="447675"/>
            <a:ext cx="3816350" cy="3197225"/>
            <a:chOff x="3107" y="282"/>
            <a:chExt cx="2404" cy="2014"/>
          </a:xfrm>
        </p:grpSpPr>
        <p:sp>
          <p:nvSpPr>
            <p:cNvPr id="32792" name="Rectangle 19"/>
            <p:cNvSpPr>
              <a:spLocks noChangeArrowheads="1"/>
            </p:cNvSpPr>
            <p:nvPr/>
          </p:nvSpPr>
          <p:spPr bwMode="auto">
            <a:xfrm>
              <a:off x="4277" y="1888"/>
              <a:ext cx="44" cy="408"/>
            </a:xfrm>
            <a:prstGeom prst="rect">
              <a:avLst/>
            </a:prstGeom>
            <a:solidFill>
              <a:srgbClr val="66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3" name="Freeform 20"/>
            <p:cNvSpPr>
              <a:spLocks/>
            </p:cNvSpPr>
            <p:nvPr/>
          </p:nvSpPr>
          <p:spPr bwMode="auto">
            <a:xfrm>
              <a:off x="3107" y="1043"/>
              <a:ext cx="2404" cy="953"/>
            </a:xfrm>
            <a:custGeom>
              <a:avLst/>
              <a:gdLst>
                <a:gd name="T0" fmla="*/ 5726 w 1794"/>
                <a:gd name="T1" fmla="*/ 183 h 736"/>
                <a:gd name="T2" fmla="*/ 0 w 1794"/>
                <a:gd name="T3" fmla="*/ 9751 h 736"/>
                <a:gd name="T4" fmla="*/ 27127 w 1794"/>
                <a:gd name="T5" fmla="*/ 9751 h 736"/>
                <a:gd name="T6" fmla="*/ 33493 w 1794"/>
                <a:gd name="T7" fmla="*/ 0 h 736"/>
                <a:gd name="T8" fmla="*/ 5726 w 1794"/>
                <a:gd name="T9" fmla="*/ 183 h 736"/>
                <a:gd name="T10" fmla="*/ 5726 w 1794"/>
                <a:gd name="T11" fmla="*/ 183 h 7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94" h="736">
                  <a:moveTo>
                    <a:pt x="307" y="14"/>
                  </a:moveTo>
                  <a:lnTo>
                    <a:pt x="0" y="736"/>
                  </a:lnTo>
                  <a:lnTo>
                    <a:pt x="1453" y="736"/>
                  </a:lnTo>
                  <a:lnTo>
                    <a:pt x="1794" y="0"/>
                  </a:lnTo>
                  <a:lnTo>
                    <a:pt x="307" y="14"/>
                  </a:lnTo>
                  <a:close/>
                </a:path>
              </a:pathLst>
            </a:custGeom>
            <a:solidFill>
              <a:srgbClr val="FF0000">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2794" name="Group 21"/>
            <p:cNvGrpSpPr>
              <a:grpSpLocks/>
            </p:cNvGrpSpPr>
            <p:nvPr/>
          </p:nvGrpSpPr>
          <p:grpSpPr bwMode="auto">
            <a:xfrm>
              <a:off x="3446" y="1170"/>
              <a:ext cx="1764" cy="672"/>
              <a:chOff x="4972" y="3348"/>
              <a:chExt cx="1764" cy="672"/>
            </a:xfrm>
          </p:grpSpPr>
          <p:sp>
            <p:nvSpPr>
              <p:cNvPr id="32800" name="Oval 22"/>
              <p:cNvSpPr>
                <a:spLocks noChangeArrowheads="1"/>
              </p:cNvSpPr>
              <p:nvPr/>
            </p:nvSpPr>
            <p:spPr bwMode="auto">
              <a:xfrm>
                <a:off x="4972" y="3444"/>
                <a:ext cx="1764" cy="576"/>
              </a:xfrm>
              <a:prstGeom prst="ellipse">
                <a:avLst/>
              </a:prstGeom>
              <a:gradFill rotWithShape="0">
                <a:gsLst>
                  <a:gs pos="0">
                    <a:srgbClr val="339933"/>
                  </a:gs>
                  <a:gs pos="100000">
                    <a:srgbClr val="184718"/>
                  </a:gs>
                </a:gsLst>
                <a:lin ang="5400000" scaled="1"/>
              </a:gradFill>
              <a:ln w="38100">
                <a:solidFill>
                  <a:srgbClr val="3399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1" name="Oval 23"/>
              <p:cNvSpPr>
                <a:spLocks noChangeArrowheads="1"/>
              </p:cNvSpPr>
              <p:nvPr/>
            </p:nvSpPr>
            <p:spPr bwMode="auto">
              <a:xfrm>
                <a:off x="4972" y="3348"/>
                <a:ext cx="1764" cy="576"/>
              </a:xfrm>
              <a:prstGeom prst="ellipse">
                <a:avLst/>
              </a:prstGeom>
              <a:gradFill rotWithShape="0">
                <a:gsLst>
                  <a:gs pos="0">
                    <a:srgbClr val="339933"/>
                  </a:gs>
                  <a:gs pos="100000">
                    <a:srgbClr val="1F5D1F"/>
                  </a:gs>
                </a:gsLst>
                <a:path path="rect">
                  <a:fillToRect r="100000" b="100000"/>
                </a:path>
              </a:gradFill>
              <a:ln w="38100">
                <a:solidFill>
                  <a:srgbClr val="3399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2" name="Line 24"/>
              <p:cNvSpPr>
                <a:spLocks noChangeShapeType="1"/>
              </p:cNvSpPr>
              <p:nvPr/>
            </p:nvSpPr>
            <p:spPr bwMode="auto">
              <a:xfrm>
                <a:off x="4972" y="3636"/>
                <a:ext cx="0" cy="144"/>
              </a:xfrm>
              <a:prstGeom prst="line">
                <a:avLst/>
              </a:prstGeom>
              <a:noFill/>
              <a:ln w="38100">
                <a:solidFill>
                  <a:srgbClr val="3399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3" name="Line 25"/>
              <p:cNvSpPr>
                <a:spLocks noChangeShapeType="1"/>
              </p:cNvSpPr>
              <p:nvPr/>
            </p:nvSpPr>
            <p:spPr bwMode="auto">
              <a:xfrm>
                <a:off x="6736" y="3636"/>
                <a:ext cx="0" cy="144"/>
              </a:xfrm>
              <a:prstGeom prst="line">
                <a:avLst/>
              </a:prstGeom>
              <a:noFill/>
              <a:ln w="38100">
                <a:solidFill>
                  <a:srgbClr val="3399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795" name="Text Box 26"/>
            <p:cNvSpPr txBox="1">
              <a:spLocks noChangeArrowheads="1"/>
            </p:cNvSpPr>
            <p:nvPr/>
          </p:nvSpPr>
          <p:spPr bwMode="auto">
            <a:xfrm>
              <a:off x="3228" y="1657"/>
              <a:ext cx="24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800" i="1">
                  <a:solidFill>
                    <a:srgbClr val="99FF66"/>
                  </a:solidFill>
                  <a:latin typeface="Times New Roman" pitchFamily="18" charset="0"/>
                  <a:sym typeface="Symbol" pitchFamily="18" charset="2"/>
                </a:rPr>
                <a:t></a:t>
              </a:r>
              <a:endParaRPr lang="en-US" altLang="zh-CN" sz="2800" i="1">
                <a:solidFill>
                  <a:srgbClr val="99FF66"/>
                </a:solidFill>
                <a:latin typeface="Times New Roman" pitchFamily="18" charset="0"/>
              </a:endParaRPr>
            </a:p>
          </p:txBody>
        </p:sp>
        <p:sp>
          <p:nvSpPr>
            <p:cNvPr id="32796" name="Text Box 27"/>
            <p:cNvSpPr txBox="1">
              <a:spLocks noChangeArrowheads="1"/>
            </p:cNvSpPr>
            <p:nvPr/>
          </p:nvSpPr>
          <p:spPr bwMode="auto">
            <a:xfrm>
              <a:off x="4136" y="282"/>
              <a:ext cx="27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800" i="1">
                  <a:solidFill>
                    <a:srgbClr val="00FF00"/>
                  </a:solidFill>
                  <a:latin typeface="Times New Roman" pitchFamily="18" charset="0"/>
                  <a:sym typeface="Symbol" pitchFamily="18" charset="2"/>
                </a:rPr>
                <a:t></a:t>
              </a:r>
              <a:endParaRPr lang="en-US" altLang="zh-CN" sz="2400">
                <a:solidFill>
                  <a:srgbClr val="99FF33"/>
                </a:solidFill>
                <a:latin typeface="Times New Roman" pitchFamily="18" charset="0"/>
              </a:endParaRPr>
            </a:p>
          </p:txBody>
        </p:sp>
        <p:sp>
          <p:nvSpPr>
            <p:cNvPr id="32797" name="Text Box 28"/>
            <p:cNvSpPr txBox="1">
              <a:spLocks noChangeArrowheads="1"/>
            </p:cNvSpPr>
            <p:nvPr/>
          </p:nvSpPr>
          <p:spPr bwMode="auto">
            <a:xfrm>
              <a:off x="4896" y="1245"/>
              <a:ext cx="233" cy="288"/>
            </a:xfrm>
            <a:prstGeom prst="rect">
              <a:avLst/>
            </a:prstGeom>
            <a:noFill/>
            <a:ln>
              <a:noFill/>
            </a:ln>
            <a:effectLst/>
            <a:extLst>
              <a:ext uri="{909E8E84-426E-40DD-AFC4-6F175D3DCCD1}">
                <a14:hiddenFill xmlns:a14="http://schemas.microsoft.com/office/drawing/2010/main">
                  <a:solidFill>
                    <a:srgbClr val="DEA814"/>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i="1">
                  <a:solidFill>
                    <a:srgbClr val="99FF33"/>
                  </a:solidFill>
                  <a:latin typeface="Times New Roman" pitchFamily="18" charset="0"/>
                </a:rPr>
                <a:t>R</a:t>
              </a:r>
              <a:endParaRPr lang="en-US" altLang="zh-CN" sz="2400">
                <a:solidFill>
                  <a:srgbClr val="00FF00"/>
                </a:solidFill>
                <a:latin typeface="Times New Roman" pitchFamily="18" charset="0"/>
              </a:endParaRPr>
            </a:p>
          </p:txBody>
        </p:sp>
        <p:sp>
          <p:nvSpPr>
            <p:cNvPr id="32798" name="Rectangle 29"/>
            <p:cNvSpPr>
              <a:spLocks noChangeArrowheads="1"/>
            </p:cNvSpPr>
            <p:nvPr/>
          </p:nvSpPr>
          <p:spPr bwMode="auto">
            <a:xfrm>
              <a:off x="4284" y="580"/>
              <a:ext cx="48" cy="912"/>
            </a:xfrm>
            <a:prstGeom prst="rect">
              <a:avLst/>
            </a:prstGeom>
            <a:solidFill>
              <a:srgbClr val="66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9" name="Line 30"/>
            <p:cNvSpPr>
              <a:spLocks noChangeShapeType="1"/>
            </p:cNvSpPr>
            <p:nvPr/>
          </p:nvSpPr>
          <p:spPr bwMode="auto">
            <a:xfrm>
              <a:off x="4286" y="1488"/>
              <a:ext cx="907"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8703" name="Group 31"/>
          <p:cNvGrpSpPr>
            <a:grpSpLocks/>
          </p:cNvGrpSpPr>
          <p:nvPr/>
        </p:nvGrpSpPr>
        <p:grpSpPr bwMode="auto">
          <a:xfrm>
            <a:off x="5949950" y="914400"/>
            <a:ext cx="1790700" cy="1670050"/>
            <a:chOff x="3748" y="576"/>
            <a:chExt cx="1128" cy="1052"/>
          </a:xfrm>
        </p:grpSpPr>
        <p:sp>
          <p:nvSpPr>
            <p:cNvPr id="32789" name="Oval 32"/>
            <p:cNvSpPr>
              <a:spLocks noChangeArrowheads="1"/>
            </p:cNvSpPr>
            <p:nvPr/>
          </p:nvSpPr>
          <p:spPr bwMode="auto">
            <a:xfrm>
              <a:off x="3748" y="1340"/>
              <a:ext cx="1128" cy="288"/>
            </a:xfrm>
            <a:prstGeom prst="ellipse">
              <a:avLst/>
            </a:prstGeom>
            <a:noFill/>
            <a:ln w="7620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0" name="Line 33"/>
            <p:cNvSpPr>
              <a:spLocks noChangeShapeType="1"/>
            </p:cNvSpPr>
            <p:nvPr/>
          </p:nvSpPr>
          <p:spPr bwMode="auto">
            <a:xfrm flipV="1">
              <a:off x="4307" y="576"/>
              <a:ext cx="0" cy="907"/>
            </a:xfrm>
            <a:prstGeom prst="line">
              <a:avLst/>
            </a:prstGeom>
            <a:noFill/>
            <a:ln w="762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1" name="Line 34"/>
            <p:cNvSpPr>
              <a:spLocks noChangeShapeType="1"/>
            </p:cNvSpPr>
            <p:nvPr/>
          </p:nvSpPr>
          <p:spPr bwMode="auto">
            <a:xfrm>
              <a:off x="4286" y="1486"/>
              <a:ext cx="545"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8707" name="AutoShape 35"/>
          <p:cNvSpPr>
            <a:spLocks noChangeArrowheads="1"/>
          </p:cNvSpPr>
          <p:nvPr/>
        </p:nvSpPr>
        <p:spPr bwMode="auto">
          <a:xfrm>
            <a:off x="4211638" y="1700213"/>
            <a:ext cx="936625" cy="385762"/>
          </a:xfrm>
          <a:prstGeom prst="wedgeRoundRectCallout">
            <a:avLst>
              <a:gd name="adj1" fmla="val 149153"/>
              <a:gd name="adj2" fmla="val 86625"/>
              <a:gd name="adj3" fmla="val 16667"/>
            </a:avLst>
          </a:prstGeom>
          <a:noFill/>
          <a:ln w="9525">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endParaRPr lang="zh-CN" altLang="zh-CN" sz="2400">
              <a:latin typeface="Times New Roman" pitchFamily="18" charset="0"/>
            </a:endParaRPr>
          </a:p>
        </p:txBody>
      </p:sp>
      <p:sp>
        <p:nvSpPr>
          <p:cNvPr id="2" name="Text Box 3">
            <a:extLst>
              <a:ext uri="{FF2B5EF4-FFF2-40B4-BE49-F238E27FC236}">
                <a16:creationId xmlns:a16="http://schemas.microsoft.com/office/drawing/2014/main" id="{CC922562-8929-61B6-DD2A-945FE005232B}"/>
              </a:ext>
            </a:extLst>
          </p:cNvPr>
          <p:cNvSpPr txBox="1">
            <a:spLocks noChangeArrowheads="1"/>
          </p:cNvSpPr>
          <p:nvPr/>
        </p:nvSpPr>
        <p:spPr bwMode="auto">
          <a:xfrm>
            <a:off x="1389447" y="4965609"/>
            <a:ext cx="5644381" cy="40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en-US" altLang="zh-CN" b="1" dirty="0">
                <a:solidFill>
                  <a:schemeClr val="bg1"/>
                </a:solidFill>
                <a:latin typeface="Times New Roman" pitchFamily="18" charset="0"/>
              </a:rPr>
              <a:t>(</a:t>
            </a:r>
            <a:r>
              <a:rPr lang="zh-CN" altLang="en-US" b="1" dirty="0">
                <a:solidFill>
                  <a:schemeClr val="bg1"/>
                </a:solidFill>
                <a:latin typeface="Times New Roman" pitchFamily="18" charset="0"/>
              </a:rPr>
              <a:t>阻碍运动的力矩 → 加速度必为负</a:t>
            </a:r>
            <a:r>
              <a:rPr lang="en-US" altLang="zh-CN" b="1" dirty="0">
                <a:solidFill>
                  <a:schemeClr val="bg1"/>
                </a:solidFill>
                <a:latin typeface="Times New Roman" pitchFamily="18" charset="0"/>
              </a:rPr>
              <a:t>)</a:t>
            </a:r>
            <a:endParaRPr lang="zh-CN" altLang="en-US" b="1" baseline="30000" dirty="0">
              <a:solidFill>
                <a:schemeClr val="bg1"/>
              </a:solidFill>
              <a:latin typeface="Times New Roman" pitchFamily="18" charset="0"/>
            </a:endParaRPr>
          </a:p>
        </p:txBody>
      </p:sp>
      <p:sp>
        <p:nvSpPr>
          <p:cNvPr id="37" name="文本框 36">
            <a:extLst>
              <a:ext uri="{FF2B5EF4-FFF2-40B4-BE49-F238E27FC236}">
                <a16:creationId xmlns:a16="http://schemas.microsoft.com/office/drawing/2014/main" id="{3E32A210-EF5B-4F7C-9DED-2AC4146A997B}"/>
              </a:ext>
            </a:extLst>
          </p:cNvPr>
          <p:cNvSpPr txBox="1"/>
          <p:nvPr/>
        </p:nvSpPr>
        <p:spPr>
          <a:xfrm>
            <a:off x="116339" y="6200128"/>
            <a:ext cx="1512705" cy="369332"/>
          </a:xfrm>
          <a:prstGeom prst="rect">
            <a:avLst/>
          </a:prstGeom>
          <a:noFill/>
          <a:ln>
            <a:solidFill>
              <a:srgbClr val="CCFFFF"/>
            </a:solidFill>
          </a:ln>
        </p:spPr>
        <p:txBody>
          <a:bodyPr wrap="square" rtlCol="0">
            <a:spAutoFit/>
          </a:bodyPr>
          <a:lstStyle/>
          <a:p>
            <a:r>
              <a:rPr lang="en-US" altLang="zh-CN" i="1" dirty="0">
                <a:solidFill>
                  <a:srgbClr val="FF0000"/>
                </a:solidFill>
              </a:rPr>
              <a:t>M = J </a:t>
            </a:r>
            <a:r>
              <a:rPr lang="el-GR" altLang="zh-CN" i="1" dirty="0">
                <a:solidFill>
                  <a:srgbClr val="FF0000"/>
                </a:solidFill>
              </a:rPr>
              <a:t>β</a:t>
            </a:r>
            <a:endParaRPr lang="zh-CN" altLang="en-US" i="1" dirty="0">
              <a:solidFill>
                <a:srgbClr val="FF0000"/>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85"/>
                                        </p:tgtEl>
                                        <p:attrNameLst>
                                          <p:attrName>style.visibility</p:attrName>
                                        </p:attrNameLst>
                                      </p:cBhvr>
                                      <p:to>
                                        <p:strVal val="visible"/>
                                      </p:to>
                                    </p:set>
                                    <p:animEffect transition="in" filter="wipe(left)">
                                      <p:cBhvr>
                                        <p:cTn id="7" dur="500"/>
                                        <p:tgtEl>
                                          <p:spTgt spid="286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5"/>
                                        </p:tgtEl>
                                        <p:attrNameLst>
                                          <p:attrName>style.visibility</p:attrName>
                                        </p:attrNameLst>
                                      </p:cBhvr>
                                      <p:to>
                                        <p:strVal val="visible"/>
                                      </p:to>
                                    </p:set>
                                    <p:animEffect transition="in" filter="wipe(left)">
                                      <p:cBhvr>
                                        <p:cTn id="12" dur="500"/>
                                        <p:tgtEl>
                                          <p:spTgt spid="286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86"/>
                                        </p:tgtEl>
                                        <p:attrNameLst>
                                          <p:attrName>style.visibility</p:attrName>
                                        </p:attrNameLst>
                                      </p:cBhvr>
                                      <p:to>
                                        <p:strVal val="visible"/>
                                      </p:to>
                                    </p:set>
                                    <p:animEffect transition="in" filter="wipe(left)">
                                      <p:cBhvr>
                                        <p:cTn id="17" dur="500"/>
                                        <p:tgtEl>
                                          <p:spTgt spid="286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nodeType="clickEffect">
                                  <p:stCondLst>
                                    <p:cond delay="0"/>
                                  </p:stCondLst>
                                  <p:childTnLst>
                                    <p:set>
                                      <p:cBhvr>
                                        <p:cTn id="21" dur="1" fill="hold">
                                          <p:stCondLst>
                                            <p:cond delay="0"/>
                                          </p:stCondLst>
                                        </p:cTn>
                                        <p:tgtEl>
                                          <p:spTgt spid="28703"/>
                                        </p:tgtEl>
                                        <p:attrNameLst>
                                          <p:attrName>style.visibility</p:attrName>
                                        </p:attrNameLst>
                                      </p:cBhvr>
                                      <p:to>
                                        <p:strVal val="visible"/>
                                      </p:to>
                                    </p:set>
                                    <p:anim calcmode="lin" valueType="num">
                                      <p:cBhvr>
                                        <p:cTn id="22" dur="500" fill="hold"/>
                                        <p:tgtEl>
                                          <p:spTgt spid="28703"/>
                                        </p:tgtEl>
                                        <p:attrNameLst>
                                          <p:attrName>ppt_w</p:attrName>
                                        </p:attrNameLst>
                                      </p:cBhvr>
                                      <p:tavLst>
                                        <p:tav tm="0">
                                          <p:val>
                                            <p:fltVal val="0"/>
                                          </p:val>
                                        </p:tav>
                                        <p:tav tm="100000">
                                          <p:val>
                                            <p:strVal val="#ppt_w"/>
                                          </p:val>
                                        </p:tav>
                                      </p:tavLst>
                                    </p:anim>
                                    <p:anim calcmode="lin" valueType="num">
                                      <p:cBhvr>
                                        <p:cTn id="23" dur="500" fill="hold"/>
                                        <p:tgtEl>
                                          <p:spTgt spid="28703"/>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8676"/>
                                        </p:tgtEl>
                                        <p:attrNameLst>
                                          <p:attrName>style.visibility</p:attrName>
                                        </p:attrNameLst>
                                      </p:cBhvr>
                                      <p:to>
                                        <p:strVal val="visible"/>
                                      </p:to>
                                    </p:set>
                                    <p:animEffect transition="in" filter="wipe(left)">
                                      <p:cBhvr>
                                        <p:cTn id="28" dur="500"/>
                                        <p:tgtEl>
                                          <p:spTgt spid="2867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8707"/>
                                        </p:tgtEl>
                                        <p:attrNameLst>
                                          <p:attrName>style.visibility</p:attrName>
                                        </p:attrNameLst>
                                      </p:cBhvr>
                                      <p:to>
                                        <p:strVal val="visible"/>
                                      </p:to>
                                    </p:set>
                                    <p:animEffect transition="in" filter="wipe(left)">
                                      <p:cBhvr>
                                        <p:cTn id="33" dur="500"/>
                                        <p:tgtEl>
                                          <p:spTgt spid="2870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8677"/>
                                        </p:tgtEl>
                                        <p:attrNameLst>
                                          <p:attrName>style.visibility</p:attrName>
                                        </p:attrNameLst>
                                      </p:cBhvr>
                                      <p:to>
                                        <p:strVal val="visible"/>
                                      </p:to>
                                    </p:set>
                                    <p:animEffect transition="in" filter="wipe(left)">
                                      <p:cBhvr>
                                        <p:cTn id="38" dur="500"/>
                                        <p:tgtEl>
                                          <p:spTgt spid="2867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8689"/>
                                        </p:tgtEl>
                                        <p:attrNameLst>
                                          <p:attrName>style.visibility</p:attrName>
                                        </p:attrNameLst>
                                      </p:cBhvr>
                                      <p:to>
                                        <p:strVal val="visible"/>
                                      </p:to>
                                    </p:set>
                                    <p:animEffect transition="in" filter="wipe(left)">
                                      <p:cBhvr>
                                        <p:cTn id="43" dur="500"/>
                                        <p:tgtEl>
                                          <p:spTgt spid="2868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28678"/>
                                        </p:tgtEl>
                                        <p:attrNameLst>
                                          <p:attrName>style.visibility</p:attrName>
                                        </p:attrNameLst>
                                      </p:cBhvr>
                                      <p:to>
                                        <p:strVal val="visible"/>
                                      </p:to>
                                    </p:set>
                                    <p:animEffect transition="in" filter="wipe(left)">
                                      <p:cBhvr>
                                        <p:cTn id="48" dur="500"/>
                                        <p:tgtEl>
                                          <p:spTgt spid="2867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8687"/>
                                        </p:tgtEl>
                                        <p:attrNameLst>
                                          <p:attrName>style.visibility</p:attrName>
                                        </p:attrNameLst>
                                      </p:cBhvr>
                                      <p:to>
                                        <p:strVal val="visible"/>
                                      </p:to>
                                    </p:set>
                                    <p:animEffect transition="in" filter="wipe(left)">
                                      <p:cBhvr>
                                        <p:cTn id="53" dur="500"/>
                                        <p:tgtEl>
                                          <p:spTgt spid="2868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28679"/>
                                        </p:tgtEl>
                                        <p:attrNameLst>
                                          <p:attrName>style.visibility</p:attrName>
                                        </p:attrNameLst>
                                      </p:cBhvr>
                                      <p:to>
                                        <p:strVal val="visible"/>
                                      </p:to>
                                    </p:set>
                                    <p:animEffect transition="in" filter="wipe(left)">
                                      <p:cBhvr>
                                        <p:cTn id="58" dur="500"/>
                                        <p:tgtEl>
                                          <p:spTgt spid="28679"/>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8688"/>
                                        </p:tgtEl>
                                        <p:attrNameLst>
                                          <p:attrName>style.visibility</p:attrName>
                                        </p:attrNameLst>
                                      </p:cBhvr>
                                      <p:to>
                                        <p:strVal val="visible"/>
                                      </p:to>
                                    </p:set>
                                    <p:animEffect transition="in" filter="wipe(left)">
                                      <p:cBhvr>
                                        <p:cTn id="63" dur="500"/>
                                        <p:tgtEl>
                                          <p:spTgt spid="2868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28680"/>
                                        </p:tgtEl>
                                        <p:attrNameLst>
                                          <p:attrName>style.visibility</p:attrName>
                                        </p:attrNameLst>
                                      </p:cBhvr>
                                      <p:to>
                                        <p:strVal val="visible"/>
                                      </p:to>
                                    </p:set>
                                    <p:animEffect transition="in" filter="wipe(left)">
                                      <p:cBhvr>
                                        <p:cTn id="68" dur="500"/>
                                        <p:tgtEl>
                                          <p:spTgt spid="28680"/>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28681"/>
                                        </p:tgtEl>
                                        <p:attrNameLst>
                                          <p:attrName>style.visibility</p:attrName>
                                        </p:attrNameLst>
                                      </p:cBhvr>
                                      <p:to>
                                        <p:strVal val="visible"/>
                                      </p:to>
                                    </p:set>
                                    <p:animEffect transition="in" filter="wipe(left)">
                                      <p:cBhvr>
                                        <p:cTn id="73" dur="500"/>
                                        <p:tgtEl>
                                          <p:spTgt spid="28681"/>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8683"/>
                                        </p:tgtEl>
                                        <p:attrNameLst>
                                          <p:attrName>style.visibility</p:attrName>
                                        </p:attrNameLst>
                                      </p:cBhvr>
                                      <p:to>
                                        <p:strVal val="visible"/>
                                      </p:to>
                                    </p:set>
                                    <p:animEffect transition="in" filter="wipe(left)">
                                      <p:cBhvr>
                                        <p:cTn id="78" dur="500"/>
                                        <p:tgtEl>
                                          <p:spTgt spid="28683"/>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28682"/>
                                        </p:tgtEl>
                                        <p:attrNameLst>
                                          <p:attrName>style.visibility</p:attrName>
                                        </p:attrNameLst>
                                      </p:cBhvr>
                                      <p:to>
                                        <p:strVal val="visible"/>
                                      </p:to>
                                    </p:set>
                                    <p:animEffect transition="in" filter="wipe(left)">
                                      <p:cBhvr>
                                        <p:cTn id="83" dur="500"/>
                                        <p:tgtEl>
                                          <p:spTgt spid="28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autoUpdateAnimBg="0"/>
      <p:bldP spid="28683" grpId="0" animBg="1"/>
      <p:bldP spid="28685" grpId="0"/>
      <p:bldP spid="28686" grpId="0" autoUpdateAnimBg="0"/>
      <p:bldP spid="28687" grpId="0" autoUpdateAnimBg="0"/>
      <p:bldP spid="28688" grpId="0" animBg="1"/>
      <p:bldP spid="28689" grpId="0"/>
      <p:bldP spid="28707"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5AF9367-B9F4-4EB6-847B-F1785CFD781E}"/>
              </a:ext>
            </a:extLst>
          </p:cNvPr>
          <p:cNvSpPr txBox="1"/>
          <p:nvPr/>
        </p:nvSpPr>
        <p:spPr>
          <a:xfrm>
            <a:off x="107504" y="188640"/>
            <a:ext cx="1627369" cy="523220"/>
          </a:xfrm>
          <a:prstGeom prst="rect">
            <a:avLst/>
          </a:prstGeom>
          <a:noFill/>
        </p:spPr>
        <p:txBody>
          <a:bodyPr wrap="none" rtlCol="0">
            <a:spAutoFit/>
          </a:bodyPr>
          <a:lstStyle/>
          <a:p>
            <a:r>
              <a:rPr lang="zh-CN" altLang="en-US" sz="2800" b="1" dirty="0">
                <a:solidFill>
                  <a:srgbClr val="FFC000"/>
                </a:solidFill>
                <a:latin typeface="宋体" pitchFamily="2" charset="-122"/>
              </a:rPr>
              <a:t>课堂练习</a:t>
            </a:r>
          </a:p>
        </p:txBody>
      </p:sp>
      <p:sp>
        <p:nvSpPr>
          <p:cNvPr id="5" name="文本框 4">
            <a:extLst>
              <a:ext uri="{FF2B5EF4-FFF2-40B4-BE49-F238E27FC236}">
                <a16:creationId xmlns:a16="http://schemas.microsoft.com/office/drawing/2014/main" id="{03CC1A01-72D9-4F66-8A64-3B863FCFAA1D}"/>
              </a:ext>
            </a:extLst>
          </p:cNvPr>
          <p:cNvSpPr txBox="1"/>
          <p:nvPr/>
        </p:nvSpPr>
        <p:spPr>
          <a:xfrm>
            <a:off x="251520" y="908720"/>
            <a:ext cx="8568951" cy="1015663"/>
          </a:xfrm>
          <a:prstGeom prst="rect">
            <a:avLst/>
          </a:prstGeom>
          <a:noFill/>
        </p:spPr>
        <p:txBody>
          <a:bodyPr wrap="square" rtlCol="0">
            <a:spAutoFit/>
          </a:bodyPr>
          <a:lstStyle/>
          <a:p>
            <a:r>
              <a:rPr lang="en-US" altLang="zh-CN" sz="2000" b="1" dirty="0">
                <a:solidFill>
                  <a:schemeClr val="bg1"/>
                </a:solidFill>
              </a:rPr>
              <a:t>1.  </a:t>
            </a:r>
            <a:r>
              <a:rPr lang="zh-CN" altLang="en-US" sz="2000" b="1" dirty="0">
                <a:solidFill>
                  <a:schemeClr val="bg1"/>
                </a:solidFill>
              </a:rPr>
              <a:t>轮圈半径为</a:t>
            </a:r>
            <a:r>
              <a:rPr lang="en-US" altLang="zh-CN" sz="2000" b="1" i="1" dirty="0">
                <a:solidFill>
                  <a:schemeClr val="bg1"/>
                </a:solidFill>
              </a:rPr>
              <a:t>R</a:t>
            </a:r>
            <a:r>
              <a:rPr lang="en-US" altLang="zh-CN" sz="2000" b="1" dirty="0">
                <a:solidFill>
                  <a:schemeClr val="bg1"/>
                </a:solidFill>
              </a:rPr>
              <a:t> </a:t>
            </a:r>
            <a:r>
              <a:rPr lang="zh-CN" altLang="en-US" sz="2000" b="1" dirty="0">
                <a:solidFill>
                  <a:schemeClr val="bg1"/>
                </a:solidFill>
              </a:rPr>
              <a:t>，其质量</a:t>
            </a:r>
            <a:r>
              <a:rPr lang="en-US" altLang="zh-CN" sz="2000" b="1" i="1" dirty="0">
                <a:solidFill>
                  <a:schemeClr val="bg1"/>
                </a:solidFill>
              </a:rPr>
              <a:t>M </a:t>
            </a:r>
            <a:r>
              <a:rPr lang="zh-CN" altLang="en-US" sz="2000" b="1" dirty="0">
                <a:solidFill>
                  <a:schemeClr val="bg1"/>
                </a:solidFill>
              </a:rPr>
              <a:t>均匀分布在轮缘上，长为</a:t>
            </a:r>
            <a:r>
              <a:rPr lang="en-US" altLang="zh-CN" sz="2000" b="1" i="1" dirty="0">
                <a:solidFill>
                  <a:schemeClr val="bg1"/>
                </a:solidFill>
              </a:rPr>
              <a:t>R</a:t>
            </a:r>
            <a:r>
              <a:rPr lang="en-US" altLang="zh-CN" sz="2000" b="1" dirty="0">
                <a:solidFill>
                  <a:schemeClr val="bg1"/>
                </a:solidFill>
              </a:rPr>
              <a:t> </a:t>
            </a:r>
            <a:r>
              <a:rPr lang="zh-CN" altLang="en-US" sz="2000" b="1" dirty="0">
                <a:solidFill>
                  <a:schemeClr val="bg1"/>
                </a:solidFill>
              </a:rPr>
              <a:t>、质量为</a:t>
            </a:r>
            <a:r>
              <a:rPr lang="en-US" altLang="zh-CN" sz="2000" b="1" i="1" dirty="0">
                <a:solidFill>
                  <a:schemeClr val="bg1"/>
                </a:solidFill>
              </a:rPr>
              <a:t>m</a:t>
            </a:r>
            <a:r>
              <a:rPr lang="en-US" altLang="zh-CN" sz="2000" b="1" dirty="0">
                <a:solidFill>
                  <a:schemeClr val="bg1"/>
                </a:solidFill>
              </a:rPr>
              <a:t> </a:t>
            </a:r>
            <a:r>
              <a:rPr lang="zh-CN" altLang="en-US" sz="2000" b="1" dirty="0">
                <a:solidFill>
                  <a:schemeClr val="bg1"/>
                </a:solidFill>
              </a:rPr>
              <a:t>的均质辐条固定在轮心和轮缘间，辐条共有２</a:t>
            </a:r>
            <a:r>
              <a:rPr lang="zh-CN" altLang="en-US" sz="2000" b="1" i="1" dirty="0">
                <a:solidFill>
                  <a:schemeClr val="bg1"/>
                </a:solidFill>
              </a:rPr>
              <a:t> </a:t>
            </a:r>
            <a:r>
              <a:rPr lang="en-US" altLang="zh-CN" sz="2000" b="1" i="1" dirty="0">
                <a:solidFill>
                  <a:schemeClr val="bg1"/>
                </a:solidFill>
              </a:rPr>
              <a:t>N</a:t>
            </a:r>
            <a:r>
              <a:rPr lang="en-US" altLang="zh-CN" sz="2000" b="1" dirty="0">
                <a:solidFill>
                  <a:schemeClr val="bg1"/>
                </a:solidFill>
              </a:rPr>
              <a:t> </a:t>
            </a:r>
            <a:r>
              <a:rPr lang="zh-CN" altLang="en-US" sz="2000" b="1" dirty="0">
                <a:solidFill>
                  <a:schemeClr val="bg1"/>
                </a:solidFill>
              </a:rPr>
              <a:t>根．今若将辐条数减少</a:t>
            </a:r>
            <a:r>
              <a:rPr lang="en-US" altLang="zh-CN" sz="2000" b="1" i="1" dirty="0">
                <a:solidFill>
                  <a:schemeClr val="bg1"/>
                </a:solidFill>
              </a:rPr>
              <a:t>N</a:t>
            </a:r>
            <a:r>
              <a:rPr lang="en-US" altLang="zh-CN" sz="2000" b="1" dirty="0">
                <a:solidFill>
                  <a:schemeClr val="bg1"/>
                </a:solidFill>
              </a:rPr>
              <a:t> </a:t>
            </a:r>
            <a:r>
              <a:rPr lang="zh-CN" altLang="en-US" sz="2000" b="1" dirty="0">
                <a:solidFill>
                  <a:schemeClr val="bg1"/>
                </a:solidFill>
              </a:rPr>
              <a:t>根，但保持轮对通过轮心、垂直于轮平面轴的转动惯量不变，则轮圈的质量应</a:t>
            </a:r>
          </a:p>
        </p:txBody>
      </p:sp>
      <p:grpSp>
        <p:nvGrpSpPr>
          <p:cNvPr id="12" name="组合 11">
            <a:extLst>
              <a:ext uri="{FF2B5EF4-FFF2-40B4-BE49-F238E27FC236}">
                <a16:creationId xmlns:a16="http://schemas.microsoft.com/office/drawing/2014/main" id="{CA37E7CB-083C-48C6-9756-3090F5DFF5FF}"/>
              </a:ext>
            </a:extLst>
          </p:cNvPr>
          <p:cNvGrpSpPr/>
          <p:nvPr/>
        </p:nvGrpSpPr>
        <p:grpSpPr>
          <a:xfrm>
            <a:off x="951811" y="1988840"/>
            <a:ext cx="6912768" cy="1210344"/>
            <a:chOff x="539552" y="1945606"/>
            <a:chExt cx="6912768" cy="1210344"/>
          </a:xfrm>
        </p:grpSpPr>
        <p:sp>
          <p:nvSpPr>
            <p:cNvPr id="7" name="文本框 6">
              <a:extLst>
                <a:ext uri="{FF2B5EF4-FFF2-40B4-BE49-F238E27FC236}">
                  <a16:creationId xmlns:a16="http://schemas.microsoft.com/office/drawing/2014/main" id="{EE4C79DB-D261-4481-8916-8C9E15AB0473}"/>
                </a:ext>
              </a:extLst>
            </p:cNvPr>
            <p:cNvSpPr txBox="1"/>
            <p:nvPr/>
          </p:nvSpPr>
          <p:spPr>
            <a:xfrm>
              <a:off x="539552" y="2060848"/>
              <a:ext cx="6912768" cy="923330"/>
            </a:xfrm>
            <a:prstGeom prst="rect">
              <a:avLst/>
            </a:prstGeom>
            <a:noFill/>
          </p:spPr>
          <p:txBody>
            <a:bodyPr wrap="square">
              <a:spAutoFit/>
            </a:bodyPr>
            <a:lstStyle/>
            <a:p>
              <a:pPr algn="l"/>
              <a:r>
                <a:rPr lang="zh-CN" altLang="en-US" sz="1800" b="1" i="0" u="none" strike="noStrike" baseline="0" dirty="0">
                  <a:solidFill>
                    <a:schemeClr val="bg1"/>
                  </a:solidFill>
                  <a:latin typeface="Symbol01"/>
                </a:rPr>
                <a:t>（</a:t>
              </a:r>
              <a:r>
                <a:rPr lang="en-US" altLang="zh-CN" sz="1800" b="1" i="0" u="none" strike="noStrike" baseline="0" dirty="0">
                  <a:solidFill>
                    <a:schemeClr val="bg1"/>
                  </a:solidFill>
                  <a:latin typeface="E-BZ"/>
                </a:rPr>
                <a:t>A</a:t>
              </a:r>
              <a:r>
                <a:rPr lang="zh-CN" altLang="en-US" sz="1800" b="1" i="0" u="none" strike="noStrike" baseline="0" dirty="0">
                  <a:solidFill>
                    <a:schemeClr val="bg1"/>
                  </a:solidFill>
                  <a:latin typeface="Symbol01"/>
                </a:rPr>
                <a:t>）不变                                                       （</a:t>
              </a:r>
              <a:r>
                <a:rPr lang="en-US" altLang="zh-CN" sz="1800" b="1" i="0" u="none" strike="noStrike" baseline="0" dirty="0">
                  <a:solidFill>
                    <a:schemeClr val="bg1"/>
                  </a:solidFill>
                  <a:latin typeface="E-BZ"/>
                </a:rPr>
                <a:t>B</a:t>
              </a:r>
              <a:r>
                <a:rPr lang="zh-CN" altLang="en-US" sz="1800" b="1" i="0" u="none" strike="noStrike" baseline="0" dirty="0">
                  <a:solidFill>
                    <a:schemeClr val="bg1"/>
                  </a:solidFill>
                  <a:latin typeface="Symbol01"/>
                </a:rPr>
                <a:t>）减少为  </a:t>
              </a:r>
            </a:p>
            <a:p>
              <a:pPr algn="l"/>
              <a:r>
                <a:rPr lang="en-US" altLang="zh-CN" sz="1800" b="1" i="0" u="none" strike="noStrike" baseline="0" dirty="0">
                  <a:solidFill>
                    <a:schemeClr val="bg1"/>
                  </a:solidFill>
                  <a:latin typeface="E-BX"/>
                </a:rPr>
                <a:t> </a:t>
              </a:r>
            </a:p>
            <a:p>
              <a:pPr algn="l"/>
              <a:r>
                <a:rPr lang="zh-CN" altLang="en-US" sz="1800" b="1" i="0" u="none" strike="noStrike" baseline="0" dirty="0">
                  <a:solidFill>
                    <a:schemeClr val="bg1"/>
                  </a:solidFill>
                  <a:latin typeface="Symbol01"/>
                </a:rPr>
                <a:t>（</a:t>
              </a:r>
              <a:r>
                <a:rPr lang="en-US" altLang="zh-CN" sz="1800" b="1" i="0" u="none" strike="noStrike" baseline="0" dirty="0">
                  <a:solidFill>
                    <a:schemeClr val="bg1"/>
                  </a:solidFill>
                  <a:latin typeface="E-BZ"/>
                </a:rPr>
                <a:t>C</a:t>
              </a:r>
              <a:r>
                <a:rPr lang="zh-CN" altLang="en-US" sz="1800" b="1" i="0" u="none" strike="noStrike" baseline="0" dirty="0">
                  <a:solidFill>
                    <a:schemeClr val="bg1"/>
                  </a:solidFill>
                  <a:latin typeface="Symbol01"/>
                </a:rPr>
                <a:t>）</a:t>
              </a:r>
              <a:r>
                <a:rPr lang="en-US" altLang="zh-CN" sz="1800" b="1" i="0" u="none" strike="noStrike" baseline="0" dirty="0">
                  <a:solidFill>
                    <a:schemeClr val="bg1"/>
                  </a:solidFill>
                  <a:latin typeface="Symbol01"/>
                </a:rPr>
                <a:t> </a:t>
              </a:r>
              <a:r>
                <a:rPr lang="zh-CN" altLang="en-US" b="1" dirty="0">
                  <a:solidFill>
                    <a:schemeClr val="bg1"/>
                  </a:solidFill>
                  <a:latin typeface="E-BX"/>
                </a:rPr>
                <a:t>增加为</a:t>
              </a:r>
              <a:r>
                <a:rPr lang="en-US" altLang="zh-CN" b="1" dirty="0">
                  <a:solidFill>
                    <a:schemeClr val="bg1"/>
                  </a:solidFill>
                  <a:latin typeface="E-BX"/>
                </a:rPr>
                <a:t>                                                  </a:t>
              </a:r>
              <a:r>
                <a:rPr lang="zh-CN" altLang="en-US" sz="1800" b="1" i="0" u="none" strike="noStrike" baseline="0" dirty="0">
                  <a:solidFill>
                    <a:schemeClr val="bg1"/>
                  </a:solidFill>
                  <a:latin typeface="Symbol01"/>
                </a:rPr>
                <a:t>（</a:t>
              </a:r>
              <a:r>
                <a:rPr lang="en-US" altLang="zh-CN" sz="1800" b="1" i="0" u="none" strike="noStrike" baseline="0" dirty="0">
                  <a:solidFill>
                    <a:schemeClr val="bg1"/>
                  </a:solidFill>
                  <a:latin typeface="E-BZ"/>
                </a:rPr>
                <a:t>D</a:t>
              </a:r>
              <a:r>
                <a:rPr lang="zh-CN" altLang="en-US" sz="1800" b="1" i="0" u="none" strike="noStrike" baseline="0" dirty="0">
                  <a:solidFill>
                    <a:schemeClr val="bg1"/>
                  </a:solidFill>
                  <a:latin typeface="Symbol01"/>
                </a:rPr>
                <a:t>）</a:t>
              </a:r>
              <a:r>
                <a:rPr lang="zh-CN" altLang="en-US" b="1" dirty="0">
                  <a:solidFill>
                    <a:schemeClr val="bg1"/>
                  </a:solidFill>
                  <a:latin typeface="E-BX"/>
                </a:rPr>
                <a:t>增加为</a:t>
              </a:r>
              <a:endParaRPr lang="zh-CN" altLang="en-US" b="1" dirty="0">
                <a:solidFill>
                  <a:schemeClr val="bg1"/>
                </a:solidFill>
              </a:endParaRPr>
            </a:p>
          </p:txBody>
        </p:sp>
        <p:graphicFrame>
          <p:nvGraphicFramePr>
            <p:cNvPr id="8" name="Object 9">
              <a:extLst>
                <a:ext uri="{FF2B5EF4-FFF2-40B4-BE49-F238E27FC236}">
                  <a16:creationId xmlns:a16="http://schemas.microsoft.com/office/drawing/2014/main" id="{1D8C76BD-745F-44F5-8949-76FFFA3EDBCA}"/>
                </a:ext>
              </a:extLst>
            </p:cNvPr>
            <p:cNvGraphicFramePr>
              <a:graphicFrameLocks/>
            </p:cNvGraphicFramePr>
            <p:nvPr>
              <p:extLst>
                <p:ext uri="{D42A27DB-BD31-4B8C-83A1-F6EECF244321}">
                  <p14:modId xmlns:p14="http://schemas.microsoft.com/office/powerpoint/2010/main" val="2409604455"/>
                </p:ext>
              </p:extLst>
            </p:nvPr>
          </p:nvGraphicFramePr>
          <p:xfrm>
            <a:off x="2123728" y="1945606"/>
            <a:ext cx="964902" cy="576907"/>
          </p:xfrm>
          <a:graphic>
            <a:graphicData uri="http://schemas.openxmlformats.org/presentationml/2006/ole">
              <mc:AlternateContent xmlns:mc="http://schemas.openxmlformats.org/markup-compatibility/2006">
                <mc:Choice xmlns:v="urn:schemas-microsoft-com:vml" Requires="v">
                  <p:oleObj spid="_x0000_s25662" name="Equation" r:id="rId4" imgW="622080" imgH="393480" progId="Equation.DSMT4">
                    <p:embed/>
                  </p:oleObj>
                </mc:Choice>
                <mc:Fallback>
                  <p:oleObj name="Equation" r:id="rId4" imgW="622080" imgH="393480" progId="Equation.DSMT4">
                    <p:embed/>
                    <p:pic>
                      <p:nvPicPr>
                        <p:cNvPr id="28681" name="Object 9"/>
                        <p:cNvPicPr>
                          <a:picLocks noChangeArrowheads="1"/>
                        </p:cNvPicPr>
                        <p:nvPr/>
                      </p:nvPicPr>
                      <p:blipFill>
                        <a:blip r:embed="rId5"/>
                        <a:srcRect/>
                        <a:stretch>
                          <a:fillRect/>
                        </a:stretch>
                      </p:blipFill>
                      <p:spPr bwMode="auto">
                        <a:xfrm>
                          <a:off x="2123728" y="1945606"/>
                          <a:ext cx="964902" cy="576907"/>
                        </a:xfrm>
                        <a:prstGeom prst="rect">
                          <a:avLst/>
                        </a:prstGeom>
                        <a:solidFill>
                          <a:schemeClr val="bg1"/>
                        </a:solidFill>
                        <a:ln>
                          <a:noFill/>
                        </a:ln>
                        <a:effectLst/>
                      </p:spPr>
                    </p:pic>
                  </p:oleObj>
                </mc:Fallback>
              </mc:AlternateContent>
            </a:graphicData>
          </a:graphic>
        </p:graphicFrame>
        <p:graphicFrame>
          <p:nvGraphicFramePr>
            <p:cNvPr id="9" name="Object 9">
              <a:extLst>
                <a:ext uri="{FF2B5EF4-FFF2-40B4-BE49-F238E27FC236}">
                  <a16:creationId xmlns:a16="http://schemas.microsoft.com/office/drawing/2014/main" id="{9D85C168-379B-45AC-9531-0AA21179D089}"/>
                </a:ext>
              </a:extLst>
            </p:cNvPr>
            <p:cNvGraphicFramePr>
              <a:graphicFrameLocks/>
            </p:cNvGraphicFramePr>
            <p:nvPr>
              <p:extLst>
                <p:ext uri="{D42A27DB-BD31-4B8C-83A1-F6EECF244321}">
                  <p14:modId xmlns:p14="http://schemas.microsoft.com/office/powerpoint/2010/main" val="1948405210"/>
                </p:ext>
              </p:extLst>
            </p:nvPr>
          </p:nvGraphicFramePr>
          <p:xfrm>
            <a:off x="6035675" y="1966913"/>
            <a:ext cx="1003300" cy="576262"/>
          </p:xfrm>
          <a:graphic>
            <a:graphicData uri="http://schemas.openxmlformats.org/presentationml/2006/ole">
              <mc:AlternateContent xmlns:mc="http://schemas.openxmlformats.org/markup-compatibility/2006">
                <mc:Choice xmlns:v="urn:schemas-microsoft-com:vml" Requires="v">
                  <p:oleObj spid="_x0000_s25663" name="Equation" r:id="rId6" imgW="647640" imgH="393480" progId="Equation.DSMT4">
                    <p:embed/>
                  </p:oleObj>
                </mc:Choice>
                <mc:Fallback>
                  <p:oleObj name="Equation" r:id="rId6" imgW="647640" imgH="393480" progId="Equation.DSMT4">
                    <p:embed/>
                    <p:pic>
                      <p:nvPicPr>
                        <p:cNvPr id="8" name="Object 9">
                          <a:extLst>
                            <a:ext uri="{FF2B5EF4-FFF2-40B4-BE49-F238E27FC236}">
                              <a16:creationId xmlns:a16="http://schemas.microsoft.com/office/drawing/2014/main" id="{1D8C76BD-745F-44F5-8949-76FFFA3EDBCA}"/>
                            </a:ext>
                          </a:extLst>
                        </p:cNvPr>
                        <p:cNvPicPr>
                          <a:picLocks noChangeArrowheads="1"/>
                        </p:cNvPicPr>
                        <p:nvPr/>
                      </p:nvPicPr>
                      <p:blipFill>
                        <a:blip r:embed="rId7"/>
                        <a:srcRect/>
                        <a:stretch>
                          <a:fillRect/>
                        </a:stretch>
                      </p:blipFill>
                      <p:spPr bwMode="auto">
                        <a:xfrm>
                          <a:off x="6035675" y="1966913"/>
                          <a:ext cx="1003300" cy="576262"/>
                        </a:xfrm>
                        <a:prstGeom prst="rect">
                          <a:avLst/>
                        </a:prstGeom>
                        <a:solidFill>
                          <a:schemeClr val="bg1"/>
                        </a:solidFill>
                        <a:ln>
                          <a:noFill/>
                        </a:ln>
                        <a:effectLst/>
                      </p:spPr>
                    </p:pic>
                  </p:oleObj>
                </mc:Fallback>
              </mc:AlternateContent>
            </a:graphicData>
          </a:graphic>
        </p:graphicFrame>
        <p:graphicFrame>
          <p:nvGraphicFramePr>
            <p:cNvPr id="10" name="Object 9">
              <a:extLst>
                <a:ext uri="{FF2B5EF4-FFF2-40B4-BE49-F238E27FC236}">
                  <a16:creationId xmlns:a16="http://schemas.microsoft.com/office/drawing/2014/main" id="{C3442168-8C2A-4CF5-8539-A2B01D2E14C5}"/>
                </a:ext>
              </a:extLst>
            </p:cNvPr>
            <p:cNvGraphicFramePr>
              <a:graphicFrameLocks/>
            </p:cNvGraphicFramePr>
            <p:nvPr>
              <p:extLst>
                <p:ext uri="{D42A27DB-BD31-4B8C-83A1-F6EECF244321}">
                  <p14:modId xmlns:p14="http://schemas.microsoft.com/office/powerpoint/2010/main" val="4096382491"/>
                </p:ext>
              </p:extLst>
            </p:nvPr>
          </p:nvGraphicFramePr>
          <p:xfrm>
            <a:off x="2123728" y="2558499"/>
            <a:ext cx="964902" cy="576907"/>
          </p:xfrm>
          <a:graphic>
            <a:graphicData uri="http://schemas.openxmlformats.org/presentationml/2006/ole">
              <mc:AlternateContent xmlns:mc="http://schemas.openxmlformats.org/markup-compatibility/2006">
                <mc:Choice xmlns:v="urn:schemas-microsoft-com:vml" Requires="v">
                  <p:oleObj spid="_x0000_s25664" name="Equation" r:id="rId8" imgW="622080" imgH="393480" progId="Equation.DSMT4">
                    <p:embed/>
                  </p:oleObj>
                </mc:Choice>
                <mc:Fallback>
                  <p:oleObj name="Equation" r:id="rId8" imgW="622080" imgH="393480" progId="Equation.DSMT4">
                    <p:embed/>
                    <p:pic>
                      <p:nvPicPr>
                        <p:cNvPr id="8" name="Object 9">
                          <a:extLst>
                            <a:ext uri="{FF2B5EF4-FFF2-40B4-BE49-F238E27FC236}">
                              <a16:creationId xmlns:a16="http://schemas.microsoft.com/office/drawing/2014/main" id="{1D8C76BD-745F-44F5-8949-76FFFA3EDBCA}"/>
                            </a:ext>
                          </a:extLst>
                        </p:cNvPr>
                        <p:cNvPicPr>
                          <a:picLocks noChangeArrowheads="1"/>
                        </p:cNvPicPr>
                        <p:nvPr/>
                      </p:nvPicPr>
                      <p:blipFill>
                        <a:blip r:embed="rId9"/>
                        <a:srcRect/>
                        <a:stretch>
                          <a:fillRect/>
                        </a:stretch>
                      </p:blipFill>
                      <p:spPr bwMode="auto">
                        <a:xfrm>
                          <a:off x="2123728" y="2558499"/>
                          <a:ext cx="964902" cy="576907"/>
                        </a:xfrm>
                        <a:prstGeom prst="rect">
                          <a:avLst/>
                        </a:prstGeom>
                        <a:solidFill>
                          <a:schemeClr val="bg1"/>
                        </a:solidFill>
                        <a:ln>
                          <a:noFill/>
                        </a:ln>
                        <a:effectLst/>
                      </p:spPr>
                    </p:pic>
                  </p:oleObj>
                </mc:Fallback>
              </mc:AlternateContent>
            </a:graphicData>
          </a:graphic>
        </p:graphicFrame>
        <p:graphicFrame>
          <p:nvGraphicFramePr>
            <p:cNvPr id="11" name="Object 9">
              <a:extLst>
                <a:ext uri="{FF2B5EF4-FFF2-40B4-BE49-F238E27FC236}">
                  <a16:creationId xmlns:a16="http://schemas.microsoft.com/office/drawing/2014/main" id="{340C4626-52B2-4FEC-AD82-EC36EB82F55C}"/>
                </a:ext>
              </a:extLst>
            </p:cNvPr>
            <p:cNvGraphicFramePr>
              <a:graphicFrameLocks/>
            </p:cNvGraphicFramePr>
            <p:nvPr>
              <p:extLst>
                <p:ext uri="{D42A27DB-BD31-4B8C-83A1-F6EECF244321}">
                  <p14:modId xmlns:p14="http://schemas.microsoft.com/office/powerpoint/2010/main" val="2398610730"/>
                </p:ext>
              </p:extLst>
            </p:nvPr>
          </p:nvGraphicFramePr>
          <p:xfrm>
            <a:off x="6073775" y="2579688"/>
            <a:ext cx="965200" cy="576262"/>
          </p:xfrm>
          <a:graphic>
            <a:graphicData uri="http://schemas.openxmlformats.org/presentationml/2006/ole">
              <mc:AlternateContent xmlns:mc="http://schemas.openxmlformats.org/markup-compatibility/2006">
                <mc:Choice xmlns:v="urn:schemas-microsoft-com:vml" Requires="v">
                  <p:oleObj spid="_x0000_s25665" name="Equation" r:id="rId10" imgW="622080" imgH="393480" progId="Equation.DSMT4">
                    <p:embed/>
                  </p:oleObj>
                </mc:Choice>
                <mc:Fallback>
                  <p:oleObj name="Equation" r:id="rId10" imgW="622080" imgH="393480" progId="Equation.DSMT4">
                    <p:embed/>
                    <p:pic>
                      <p:nvPicPr>
                        <p:cNvPr id="9" name="Object 9">
                          <a:extLst>
                            <a:ext uri="{FF2B5EF4-FFF2-40B4-BE49-F238E27FC236}">
                              <a16:creationId xmlns:a16="http://schemas.microsoft.com/office/drawing/2014/main" id="{9D85C168-379B-45AC-9531-0AA21179D089}"/>
                            </a:ext>
                          </a:extLst>
                        </p:cNvPr>
                        <p:cNvPicPr>
                          <a:picLocks noChangeArrowheads="1"/>
                        </p:cNvPicPr>
                        <p:nvPr/>
                      </p:nvPicPr>
                      <p:blipFill>
                        <a:blip r:embed="rId11"/>
                        <a:srcRect/>
                        <a:stretch>
                          <a:fillRect/>
                        </a:stretch>
                      </p:blipFill>
                      <p:spPr bwMode="auto">
                        <a:xfrm>
                          <a:off x="6073775" y="2579688"/>
                          <a:ext cx="965200" cy="576262"/>
                        </a:xfrm>
                        <a:prstGeom prst="rect">
                          <a:avLst/>
                        </a:prstGeom>
                        <a:solidFill>
                          <a:schemeClr val="bg1"/>
                        </a:solidFill>
                        <a:ln>
                          <a:noFill/>
                        </a:ln>
                        <a:effectLst/>
                      </p:spPr>
                    </p:pic>
                  </p:oleObj>
                </mc:Fallback>
              </mc:AlternateContent>
            </a:graphicData>
          </a:graphic>
        </p:graphicFrame>
      </p:grpSp>
      <p:sp>
        <p:nvSpPr>
          <p:cNvPr id="15" name="文本框 14">
            <a:extLst>
              <a:ext uri="{FF2B5EF4-FFF2-40B4-BE49-F238E27FC236}">
                <a16:creationId xmlns:a16="http://schemas.microsoft.com/office/drawing/2014/main" id="{70EB7132-3DC4-4AEB-8B9B-A9BF307F7A57}"/>
              </a:ext>
            </a:extLst>
          </p:cNvPr>
          <p:cNvSpPr txBox="1"/>
          <p:nvPr/>
        </p:nvSpPr>
        <p:spPr>
          <a:xfrm>
            <a:off x="294855" y="3573016"/>
            <a:ext cx="8496944" cy="707886"/>
          </a:xfrm>
          <a:prstGeom prst="rect">
            <a:avLst/>
          </a:prstGeom>
          <a:noFill/>
        </p:spPr>
        <p:txBody>
          <a:bodyPr wrap="square">
            <a:spAutoFit/>
          </a:bodyPr>
          <a:lstStyle/>
          <a:p>
            <a:pPr algn="l"/>
            <a:r>
              <a:rPr lang="en-US" altLang="zh-CN" sz="2000" b="1" dirty="0">
                <a:solidFill>
                  <a:schemeClr val="bg1"/>
                </a:solidFill>
              </a:rPr>
              <a:t>2. </a:t>
            </a:r>
            <a:r>
              <a:rPr lang="zh-CN" altLang="en-US" sz="2000" b="1" dirty="0">
                <a:solidFill>
                  <a:schemeClr val="bg1"/>
                </a:solidFill>
              </a:rPr>
              <a:t>一半径为</a:t>
            </a:r>
            <a:r>
              <a:rPr lang="en-US" altLang="zh-CN" sz="2000" b="1" i="1" dirty="0">
                <a:solidFill>
                  <a:schemeClr val="bg1"/>
                </a:solidFill>
              </a:rPr>
              <a:t>R </a:t>
            </a:r>
            <a:r>
              <a:rPr lang="zh-CN" altLang="en-US" sz="2000" b="1" dirty="0">
                <a:solidFill>
                  <a:schemeClr val="bg1"/>
                </a:solidFill>
              </a:rPr>
              <a:t>质量为</a:t>
            </a:r>
            <a:r>
              <a:rPr lang="en-US" altLang="zh-CN" sz="2000" b="1" i="1" dirty="0">
                <a:solidFill>
                  <a:schemeClr val="bg1"/>
                </a:solidFill>
              </a:rPr>
              <a:t>m</a:t>
            </a:r>
            <a:r>
              <a:rPr lang="en-US" altLang="zh-CN" sz="2000" b="1" dirty="0">
                <a:solidFill>
                  <a:schemeClr val="bg1"/>
                </a:solidFill>
              </a:rPr>
              <a:t> </a:t>
            </a:r>
            <a:r>
              <a:rPr lang="zh-CN" altLang="en-US" sz="2000" b="1" dirty="0">
                <a:solidFill>
                  <a:schemeClr val="bg1"/>
                </a:solidFill>
              </a:rPr>
              <a:t>的均质圆形平板在粗糙的水平桌面上，绕通过圆心</a:t>
            </a:r>
          </a:p>
          <a:p>
            <a:r>
              <a:rPr lang="zh-CN" altLang="en-US" sz="2000" b="1" dirty="0">
                <a:solidFill>
                  <a:schemeClr val="bg1"/>
                </a:solidFill>
              </a:rPr>
              <a:t>且垂直于平板的</a:t>
            </a:r>
            <a:r>
              <a:rPr lang="en-US" altLang="zh-CN" sz="2000" b="1" dirty="0">
                <a:solidFill>
                  <a:schemeClr val="bg1"/>
                </a:solidFill>
              </a:rPr>
              <a:t>OO′</a:t>
            </a:r>
            <a:r>
              <a:rPr lang="zh-CN" altLang="en-US" sz="2000" b="1" dirty="0">
                <a:solidFill>
                  <a:schemeClr val="bg1"/>
                </a:solidFill>
              </a:rPr>
              <a:t>轴转动，摩擦力在圆盘边沿产生的切向加速度为</a:t>
            </a:r>
          </a:p>
        </p:txBody>
      </p:sp>
      <p:grpSp>
        <p:nvGrpSpPr>
          <p:cNvPr id="23" name="组合 22">
            <a:extLst>
              <a:ext uri="{FF2B5EF4-FFF2-40B4-BE49-F238E27FC236}">
                <a16:creationId xmlns:a16="http://schemas.microsoft.com/office/drawing/2014/main" id="{0850B01F-4E96-4316-9D57-DD472CDDE43C}"/>
              </a:ext>
            </a:extLst>
          </p:cNvPr>
          <p:cNvGrpSpPr/>
          <p:nvPr/>
        </p:nvGrpSpPr>
        <p:grpSpPr>
          <a:xfrm>
            <a:off x="1187624" y="4437112"/>
            <a:ext cx="4464496" cy="1897191"/>
            <a:chOff x="1135405" y="4624388"/>
            <a:chExt cx="4464496" cy="1897191"/>
          </a:xfrm>
        </p:grpSpPr>
        <p:sp>
          <p:nvSpPr>
            <p:cNvPr id="16" name="文本框 15">
              <a:extLst>
                <a:ext uri="{FF2B5EF4-FFF2-40B4-BE49-F238E27FC236}">
                  <a16:creationId xmlns:a16="http://schemas.microsoft.com/office/drawing/2014/main" id="{FC8A3D01-A384-4CCD-A3FF-4FE006E434C4}"/>
                </a:ext>
              </a:extLst>
            </p:cNvPr>
            <p:cNvSpPr txBox="1"/>
            <p:nvPr/>
          </p:nvSpPr>
          <p:spPr>
            <a:xfrm>
              <a:off x="1135405" y="4767253"/>
              <a:ext cx="4464496" cy="1754326"/>
            </a:xfrm>
            <a:prstGeom prst="rect">
              <a:avLst/>
            </a:prstGeom>
            <a:noFill/>
          </p:spPr>
          <p:txBody>
            <a:bodyPr wrap="square">
              <a:spAutoFit/>
            </a:bodyPr>
            <a:lstStyle/>
            <a:p>
              <a:pPr algn="l"/>
              <a:r>
                <a:rPr lang="zh-CN" altLang="en-US" sz="1800" b="1" i="0" u="none" strike="noStrike" baseline="0" dirty="0">
                  <a:solidFill>
                    <a:schemeClr val="bg1"/>
                  </a:solidFill>
                  <a:latin typeface="Symbol01"/>
                </a:rPr>
                <a:t>（</a:t>
              </a:r>
              <a:r>
                <a:rPr lang="en-US" altLang="zh-CN" sz="1800" b="1" i="0" u="none" strike="noStrike" baseline="0" dirty="0">
                  <a:solidFill>
                    <a:schemeClr val="bg1"/>
                  </a:solidFill>
                  <a:latin typeface="E-BZ"/>
                </a:rPr>
                <a:t>A</a:t>
              </a:r>
              <a:r>
                <a:rPr lang="zh-CN" altLang="en-US" sz="1800" b="1" i="0" u="none" strike="noStrike" baseline="0" dirty="0">
                  <a:solidFill>
                    <a:schemeClr val="bg1"/>
                  </a:solidFill>
                  <a:latin typeface="Symbol01"/>
                </a:rPr>
                <a:t>）                             （</a:t>
              </a:r>
              <a:r>
                <a:rPr lang="en-US" altLang="zh-CN" sz="1800" b="1" i="0" u="none" strike="noStrike" baseline="0" dirty="0">
                  <a:solidFill>
                    <a:schemeClr val="bg1"/>
                  </a:solidFill>
                  <a:latin typeface="E-BZ"/>
                </a:rPr>
                <a:t>B</a:t>
              </a:r>
              <a:r>
                <a:rPr lang="zh-CN" altLang="en-US" sz="1800" b="1" i="0" u="none" strike="noStrike" baseline="0" dirty="0">
                  <a:solidFill>
                    <a:schemeClr val="bg1"/>
                  </a:solidFill>
                  <a:latin typeface="Symbol01"/>
                </a:rPr>
                <a:t>） </a:t>
              </a:r>
            </a:p>
            <a:p>
              <a:pPr algn="l"/>
              <a:r>
                <a:rPr lang="en-US" altLang="zh-CN" sz="1800" b="1" i="0" u="none" strike="noStrike" baseline="0" dirty="0">
                  <a:solidFill>
                    <a:schemeClr val="bg1"/>
                  </a:solidFill>
                  <a:latin typeface="E-BX"/>
                </a:rPr>
                <a:t> </a:t>
              </a:r>
            </a:p>
            <a:p>
              <a:pPr algn="l"/>
              <a:r>
                <a:rPr lang="zh-CN" altLang="en-US" sz="1800" b="1" i="0" u="none" strike="noStrike" baseline="0" dirty="0">
                  <a:solidFill>
                    <a:schemeClr val="bg1"/>
                  </a:solidFill>
                  <a:latin typeface="Symbol01"/>
                </a:rPr>
                <a:t>（</a:t>
              </a:r>
              <a:r>
                <a:rPr lang="en-US" altLang="zh-CN" sz="1800" b="1" i="0" u="none" strike="noStrike" baseline="0" dirty="0">
                  <a:solidFill>
                    <a:schemeClr val="bg1"/>
                  </a:solidFill>
                  <a:latin typeface="E-BZ"/>
                </a:rPr>
                <a:t>C</a:t>
              </a:r>
              <a:r>
                <a:rPr lang="zh-CN" altLang="en-US" sz="1800" b="1" i="0" u="none" strike="noStrike" baseline="0" dirty="0">
                  <a:solidFill>
                    <a:schemeClr val="bg1"/>
                  </a:solidFill>
                  <a:latin typeface="Symbol01"/>
                </a:rPr>
                <a:t>）</a:t>
              </a:r>
              <a:r>
                <a:rPr lang="en-US" altLang="zh-CN" sz="1800" b="1" i="0" u="none" strike="noStrike" baseline="0" dirty="0">
                  <a:solidFill>
                    <a:schemeClr val="bg1"/>
                  </a:solidFill>
                  <a:latin typeface="Symbol01"/>
                </a:rPr>
                <a:t> </a:t>
              </a:r>
              <a:r>
                <a:rPr lang="zh-CN" altLang="en-US" b="1" dirty="0">
                  <a:solidFill>
                    <a:schemeClr val="bg1"/>
                  </a:solidFill>
                  <a:latin typeface="E-BX"/>
                </a:rPr>
                <a:t> </a:t>
              </a:r>
              <a:r>
                <a:rPr lang="en-US" altLang="zh-CN" b="1" dirty="0">
                  <a:solidFill>
                    <a:schemeClr val="bg1"/>
                  </a:solidFill>
                  <a:latin typeface="E-BX"/>
                </a:rPr>
                <a:t>                            </a:t>
              </a:r>
              <a:r>
                <a:rPr lang="zh-CN" altLang="en-US" sz="1800" b="1" i="0" u="none" strike="noStrike" baseline="0" dirty="0">
                  <a:solidFill>
                    <a:schemeClr val="bg1"/>
                  </a:solidFill>
                  <a:latin typeface="Symbol01"/>
                </a:rPr>
                <a:t>（</a:t>
              </a:r>
              <a:r>
                <a:rPr lang="en-US" altLang="zh-CN" sz="1800" b="1" i="0" u="none" strike="noStrike" baseline="0" dirty="0">
                  <a:solidFill>
                    <a:schemeClr val="bg1"/>
                  </a:solidFill>
                  <a:latin typeface="E-BZ"/>
                </a:rPr>
                <a:t>D</a:t>
              </a:r>
              <a:r>
                <a:rPr lang="zh-CN" altLang="en-US" sz="1800" b="1" i="0" u="none" strike="noStrike" baseline="0" dirty="0">
                  <a:solidFill>
                    <a:schemeClr val="bg1"/>
                  </a:solidFill>
                  <a:latin typeface="Symbol01"/>
                </a:rPr>
                <a:t>）</a:t>
              </a:r>
              <a:endParaRPr lang="en-US" altLang="zh-CN" sz="1800" b="1" i="0" u="none" strike="noStrike" baseline="0" dirty="0">
                <a:solidFill>
                  <a:schemeClr val="bg1"/>
                </a:solidFill>
                <a:latin typeface="Symbol01"/>
              </a:endParaRPr>
            </a:p>
            <a:p>
              <a:endParaRPr lang="en-US" altLang="zh-CN" sz="1800" b="1" i="0" u="none" strike="noStrike" baseline="0" dirty="0">
                <a:solidFill>
                  <a:schemeClr val="bg1"/>
                </a:solidFill>
                <a:latin typeface="Symbol01"/>
              </a:endParaRPr>
            </a:p>
            <a:p>
              <a:r>
                <a:rPr lang="zh-CN" altLang="en-US" sz="1800" b="1" i="0" u="none" strike="noStrike" baseline="0" dirty="0">
                  <a:solidFill>
                    <a:schemeClr val="bg1"/>
                  </a:solidFill>
                  <a:latin typeface="Symbol01"/>
                </a:rPr>
                <a:t>（</a:t>
              </a:r>
              <a:r>
                <a:rPr lang="en-US" altLang="zh-CN" sz="1800" b="1" i="0" u="none" strike="noStrike" baseline="0" dirty="0">
                  <a:solidFill>
                    <a:schemeClr val="bg1"/>
                  </a:solidFill>
                  <a:latin typeface="E-BZ"/>
                </a:rPr>
                <a:t>E</a:t>
              </a:r>
              <a:r>
                <a:rPr lang="zh-CN" altLang="en-US" sz="1800" b="1" i="0" u="none" strike="noStrike" baseline="0" dirty="0">
                  <a:solidFill>
                    <a:schemeClr val="bg1"/>
                  </a:solidFill>
                  <a:latin typeface="Symbol01"/>
                </a:rPr>
                <a:t>）</a:t>
              </a:r>
              <a:r>
                <a:rPr lang="en-US" altLang="zh-CN" sz="1800" b="1" i="0" u="none" strike="noStrike" baseline="0" dirty="0">
                  <a:solidFill>
                    <a:schemeClr val="bg1"/>
                  </a:solidFill>
                  <a:latin typeface="Symbol01"/>
                </a:rPr>
                <a:t> </a:t>
              </a:r>
              <a:r>
                <a:rPr lang="zh-CN" altLang="en-US" b="1" dirty="0">
                  <a:solidFill>
                    <a:schemeClr val="bg1"/>
                  </a:solidFill>
                  <a:latin typeface="E-BX"/>
                </a:rPr>
                <a:t> </a:t>
              </a:r>
              <a:r>
                <a:rPr lang="en-US" altLang="zh-CN" b="1" dirty="0">
                  <a:solidFill>
                    <a:schemeClr val="bg1"/>
                  </a:solidFill>
                  <a:latin typeface="E-BX"/>
                </a:rPr>
                <a:t>                            </a:t>
              </a:r>
              <a:r>
                <a:rPr lang="zh-CN" altLang="en-US" sz="1800" b="1" i="0" u="none" strike="noStrike" baseline="0" dirty="0">
                  <a:solidFill>
                    <a:schemeClr val="bg1"/>
                  </a:solidFill>
                  <a:latin typeface="Symbol01"/>
                </a:rPr>
                <a:t>（</a:t>
              </a:r>
              <a:r>
                <a:rPr lang="en-US" altLang="zh-CN" sz="1800" b="1" i="0" u="none" strike="noStrike" baseline="0" dirty="0">
                  <a:solidFill>
                    <a:schemeClr val="bg1"/>
                  </a:solidFill>
                  <a:latin typeface="E-BZ"/>
                </a:rPr>
                <a:t>F</a:t>
              </a:r>
              <a:r>
                <a:rPr lang="zh-CN" altLang="en-US" sz="1800" b="1" i="0" u="none" strike="noStrike" baseline="0" dirty="0">
                  <a:solidFill>
                    <a:schemeClr val="bg1"/>
                  </a:solidFill>
                  <a:latin typeface="Symbol01"/>
                </a:rPr>
                <a:t>）</a:t>
              </a:r>
              <a:r>
                <a:rPr lang="zh-CN" altLang="en-US" b="1" dirty="0">
                  <a:solidFill>
                    <a:schemeClr val="bg1"/>
                  </a:solidFill>
                  <a:latin typeface="E-BX"/>
                </a:rPr>
                <a:t> </a:t>
              </a:r>
              <a:endParaRPr lang="zh-CN" altLang="en-US" b="1" dirty="0">
                <a:solidFill>
                  <a:schemeClr val="bg1"/>
                </a:solidFill>
              </a:endParaRPr>
            </a:p>
            <a:p>
              <a:pPr algn="l"/>
              <a:r>
                <a:rPr lang="zh-CN" altLang="en-US" b="1" dirty="0">
                  <a:solidFill>
                    <a:schemeClr val="bg1"/>
                  </a:solidFill>
                  <a:latin typeface="E-BX"/>
                </a:rPr>
                <a:t> </a:t>
              </a:r>
              <a:endParaRPr lang="zh-CN" altLang="en-US" b="1" dirty="0">
                <a:solidFill>
                  <a:schemeClr val="bg1"/>
                </a:solidFill>
              </a:endParaRPr>
            </a:p>
          </p:txBody>
        </p:sp>
        <p:graphicFrame>
          <p:nvGraphicFramePr>
            <p:cNvPr id="17" name="Object 9">
              <a:extLst>
                <a:ext uri="{FF2B5EF4-FFF2-40B4-BE49-F238E27FC236}">
                  <a16:creationId xmlns:a16="http://schemas.microsoft.com/office/drawing/2014/main" id="{6C7FE136-E7A9-4BCD-8C77-B12E9553BC71}"/>
                </a:ext>
              </a:extLst>
            </p:cNvPr>
            <p:cNvGraphicFramePr>
              <a:graphicFrameLocks/>
            </p:cNvGraphicFramePr>
            <p:nvPr>
              <p:extLst>
                <p:ext uri="{D42A27DB-BD31-4B8C-83A1-F6EECF244321}">
                  <p14:modId xmlns:p14="http://schemas.microsoft.com/office/powerpoint/2010/main" val="2273971814"/>
                </p:ext>
              </p:extLst>
            </p:nvPr>
          </p:nvGraphicFramePr>
          <p:xfrm>
            <a:off x="1965325" y="4624388"/>
            <a:ext cx="549275" cy="577850"/>
          </p:xfrm>
          <a:graphic>
            <a:graphicData uri="http://schemas.openxmlformats.org/presentationml/2006/ole">
              <mc:AlternateContent xmlns:mc="http://schemas.openxmlformats.org/markup-compatibility/2006">
                <mc:Choice xmlns:v="urn:schemas-microsoft-com:vml" Requires="v">
                  <p:oleObj spid="_x0000_s25666" name="Equation" r:id="rId12" imgW="355320" imgH="393480" progId="Equation.DSMT4">
                    <p:embed/>
                  </p:oleObj>
                </mc:Choice>
                <mc:Fallback>
                  <p:oleObj name="Equation" r:id="rId12" imgW="355320" imgH="393480" progId="Equation.DSMT4">
                    <p:embed/>
                    <p:pic>
                      <p:nvPicPr>
                        <p:cNvPr id="8" name="Object 9">
                          <a:extLst>
                            <a:ext uri="{FF2B5EF4-FFF2-40B4-BE49-F238E27FC236}">
                              <a16:creationId xmlns:a16="http://schemas.microsoft.com/office/drawing/2014/main" id="{1D8C76BD-745F-44F5-8949-76FFFA3EDBCA}"/>
                            </a:ext>
                          </a:extLst>
                        </p:cNvPr>
                        <p:cNvPicPr>
                          <a:picLocks noChangeArrowheads="1"/>
                        </p:cNvPicPr>
                        <p:nvPr/>
                      </p:nvPicPr>
                      <p:blipFill>
                        <a:blip r:embed="rId13"/>
                        <a:srcRect/>
                        <a:stretch>
                          <a:fillRect/>
                        </a:stretch>
                      </p:blipFill>
                      <p:spPr bwMode="auto">
                        <a:xfrm>
                          <a:off x="1965325" y="4624388"/>
                          <a:ext cx="549275" cy="577850"/>
                        </a:xfrm>
                        <a:prstGeom prst="rect">
                          <a:avLst/>
                        </a:prstGeom>
                        <a:solidFill>
                          <a:schemeClr val="bg1"/>
                        </a:solidFill>
                        <a:ln>
                          <a:noFill/>
                        </a:ln>
                        <a:effectLst/>
                      </p:spPr>
                    </p:pic>
                  </p:oleObj>
                </mc:Fallback>
              </mc:AlternateContent>
            </a:graphicData>
          </a:graphic>
        </p:graphicFrame>
        <p:graphicFrame>
          <p:nvGraphicFramePr>
            <p:cNvPr id="18" name="Object 9">
              <a:extLst>
                <a:ext uri="{FF2B5EF4-FFF2-40B4-BE49-F238E27FC236}">
                  <a16:creationId xmlns:a16="http://schemas.microsoft.com/office/drawing/2014/main" id="{AA7BB3AA-4331-452C-B5BF-BDE4CA0DD425}"/>
                </a:ext>
              </a:extLst>
            </p:cNvPr>
            <p:cNvGraphicFramePr>
              <a:graphicFrameLocks/>
            </p:cNvGraphicFramePr>
            <p:nvPr>
              <p:extLst>
                <p:ext uri="{D42A27DB-BD31-4B8C-83A1-F6EECF244321}">
                  <p14:modId xmlns:p14="http://schemas.microsoft.com/office/powerpoint/2010/main" val="2886611099"/>
                </p:ext>
              </p:extLst>
            </p:nvPr>
          </p:nvGraphicFramePr>
          <p:xfrm>
            <a:off x="4027656" y="4674517"/>
            <a:ext cx="492125" cy="298450"/>
          </p:xfrm>
          <a:graphic>
            <a:graphicData uri="http://schemas.openxmlformats.org/presentationml/2006/ole">
              <mc:AlternateContent xmlns:mc="http://schemas.openxmlformats.org/markup-compatibility/2006">
                <mc:Choice xmlns:v="urn:schemas-microsoft-com:vml" Requires="v">
                  <p:oleObj spid="_x0000_s25667" name="Equation" r:id="rId14" imgW="317160" imgH="203040" progId="Equation.DSMT4">
                    <p:embed/>
                  </p:oleObj>
                </mc:Choice>
                <mc:Fallback>
                  <p:oleObj name="Equation" r:id="rId14" imgW="317160" imgH="203040" progId="Equation.DSMT4">
                    <p:embed/>
                    <p:pic>
                      <p:nvPicPr>
                        <p:cNvPr id="17" name="Object 9">
                          <a:extLst>
                            <a:ext uri="{FF2B5EF4-FFF2-40B4-BE49-F238E27FC236}">
                              <a16:creationId xmlns:a16="http://schemas.microsoft.com/office/drawing/2014/main" id="{6C7FE136-E7A9-4BCD-8C77-B12E9553BC71}"/>
                            </a:ext>
                          </a:extLst>
                        </p:cNvPr>
                        <p:cNvPicPr>
                          <a:picLocks noChangeArrowheads="1"/>
                        </p:cNvPicPr>
                        <p:nvPr/>
                      </p:nvPicPr>
                      <p:blipFill>
                        <a:blip r:embed="rId15"/>
                        <a:srcRect/>
                        <a:stretch>
                          <a:fillRect/>
                        </a:stretch>
                      </p:blipFill>
                      <p:spPr bwMode="auto">
                        <a:xfrm>
                          <a:off x="4027656" y="4674517"/>
                          <a:ext cx="492125" cy="298450"/>
                        </a:xfrm>
                        <a:prstGeom prst="rect">
                          <a:avLst/>
                        </a:prstGeom>
                        <a:solidFill>
                          <a:schemeClr val="bg1"/>
                        </a:solidFill>
                        <a:ln>
                          <a:noFill/>
                        </a:ln>
                        <a:effectLst/>
                      </p:spPr>
                    </p:pic>
                  </p:oleObj>
                </mc:Fallback>
              </mc:AlternateContent>
            </a:graphicData>
          </a:graphic>
        </p:graphicFrame>
        <p:graphicFrame>
          <p:nvGraphicFramePr>
            <p:cNvPr id="19" name="Object 9">
              <a:extLst>
                <a:ext uri="{FF2B5EF4-FFF2-40B4-BE49-F238E27FC236}">
                  <a16:creationId xmlns:a16="http://schemas.microsoft.com/office/drawing/2014/main" id="{6B0C7E94-8B10-449A-816C-CF948529703A}"/>
                </a:ext>
              </a:extLst>
            </p:cNvPr>
            <p:cNvGraphicFramePr>
              <a:graphicFrameLocks/>
            </p:cNvGraphicFramePr>
            <p:nvPr>
              <p:extLst>
                <p:ext uri="{D42A27DB-BD31-4B8C-83A1-F6EECF244321}">
                  <p14:modId xmlns:p14="http://schemas.microsoft.com/office/powerpoint/2010/main" val="1234971011"/>
                </p:ext>
              </p:extLst>
            </p:nvPr>
          </p:nvGraphicFramePr>
          <p:xfrm>
            <a:off x="1959645" y="5271616"/>
            <a:ext cx="412750" cy="577850"/>
          </p:xfrm>
          <a:graphic>
            <a:graphicData uri="http://schemas.openxmlformats.org/presentationml/2006/ole">
              <mc:AlternateContent xmlns:mc="http://schemas.openxmlformats.org/markup-compatibility/2006">
                <mc:Choice xmlns:v="urn:schemas-microsoft-com:vml" Requires="v">
                  <p:oleObj spid="_x0000_s25668" name="Equation" r:id="rId16" imgW="266400" imgH="393480" progId="Equation.DSMT4">
                    <p:embed/>
                  </p:oleObj>
                </mc:Choice>
                <mc:Fallback>
                  <p:oleObj name="Equation" r:id="rId16" imgW="266400" imgH="393480" progId="Equation.DSMT4">
                    <p:embed/>
                    <p:pic>
                      <p:nvPicPr>
                        <p:cNvPr id="18" name="Object 9">
                          <a:extLst>
                            <a:ext uri="{FF2B5EF4-FFF2-40B4-BE49-F238E27FC236}">
                              <a16:creationId xmlns:a16="http://schemas.microsoft.com/office/drawing/2014/main" id="{AA7BB3AA-4331-452C-B5BF-BDE4CA0DD425}"/>
                            </a:ext>
                          </a:extLst>
                        </p:cNvPr>
                        <p:cNvPicPr>
                          <a:picLocks noChangeArrowheads="1"/>
                        </p:cNvPicPr>
                        <p:nvPr/>
                      </p:nvPicPr>
                      <p:blipFill>
                        <a:blip r:embed="rId17"/>
                        <a:srcRect/>
                        <a:stretch>
                          <a:fillRect/>
                        </a:stretch>
                      </p:blipFill>
                      <p:spPr bwMode="auto">
                        <a:xfrm>
                          <a:off x="1959645" y="5271616"/>
                          <a:ext cx="412750" cy="577850"/>
                        </a:xfrm>
                        <a:prstGeom prst="rect">
                          <a:avLst/>
                        </a:prstGeom>
                        <a:solidFill>
                          <a:schemeClr val="bg1"/>
                        </a:solidFill>
                        <a:ln>
                          <a:noFill/>
                        </a:ln>
                        <a:effectLst/>
                      </p:spPr>
                    </p:pic>
                  </p:oleObj>
                </mc:Fallback>
              </mc:AlternateContent>
            </a:graphicData>
          </a:graphic>
        </p:graphicFrame>
        <p:graphicFrame>
          <p:nvGraphicFramePr>
            <p:cNvPr id="20" name="Object 9">
              <a:extLst>
                <a:ext uri="{FF2B5EF4-FFF2-40B4-BE49-F238E27FC236}">
                  <a16:creationId xmlns:a16="http://schemas.microsoft.com/office/drawing/2014/main" id="{A86DC7BF-84AE-4705-A0CC-29BFD4089F5B}"/>
                </a:ext>
              </a:extLst>
            </p:cNvPr>
            <p:cNvGraphicFramePr>
              <a:graphicFrameLocks/>
            </p:cNvGraphicFramePr>
            <p:nvPr>
              <p:extLst>
                <p:ext uri="{D42A27DB-BD31-4B8C-83A1-F6EECF244321}">
                  <p14:modId xmlns:p14="http://schemas.microsoft.com/office/powerpoint/2010/main" val="1250267322"/>
                </p:ext>
              </p:extLst>
            </p:nvPr>
          </p:nvGraphicFramePr>
          <p:xfrm>
            <a:off x="4027656" y="5066566"/>
            <a:ext cx="412750" cy="577850"/>
          </p:xfrm>
          <a:graphic>
            <a:graphicData uri="http://schemas.openxmlformats.org/presentationml/2006/ole">
              <mc:AlternateContent xmlns:mc="http://schemas.openxmlformats.org/markup-compatibility/2006">
                <mc:Choice xmlns:v="urn:schemas-microsoft-com:vml" Requires="v">
                  <p:oleObj spid="_x0000_s25669" name="Equation" r:id="rId18" imgW="266400" imgH="393480" progId="Equation.DSMT4">
                    <p:embed/>
                  </p:oleObj>
                </mc:Choice>
                <mc:Fallback>
                  <p:oleObj name="Equation" r:id="rId18" imgW="266400" imgH="393480" progId="Equation.DSMT4">
                    <p:embed/>
                    <p:pic>
                      <p:nvPicPr>
                        <p:cNvPr id="19" name="Object 9">
                          <a:extLst>
                            <a:ext uri="{FF2B5EF4-FFF2-40B4-BE49-F238E27FC236}">
                              <a16:creationId xmlns:a16="http://schemas.microsoft.com/office/drawing/2014/main" id="{6B0C7E94-8B10-449A-816C-CF948529703A}"/>
                            </a:ext>
                          </a:extLst>
                        </p:cNvPr>
                        <p:cNvPicPr>
                          <a:picLocks noChangeArrowheads="1"/>
                        </p:cNvPicPr>
                        <p:nvPr/>
                      </p:nvPicPr>
                      <p:blipFill>
                        <a:blip r:embed="rId19"/>
                        <a:srcRect/>
                        <a:stretch>
                          <a:fillRect/>
                        </a:stretch>
                      </p:blipFill>
                      <p:spPr bwMode="auto">
                        <a:xfrm>
                          <a:off x="4027656" y="5066566"/>
                          <a:ext cx="412750" cy="577850"/>
                        </a:xfrm>
                        <a:prstGeom prst="rect">
                          <a:avLst/>
                        </a:prstGeom>
                        <a:solidFill>
                          <a:schemeClr val="bg1"/>
                        </a:solidFill>
                        <a:ln>
                          <a:noFill/>
                        </a:ln>
                        <a:effectLst/>
                      </p:spPr>
                    </p:pic>
                  </p:oleObj>
                </mc:Fallback>
              </mc:AlternateContent>
            </a:graphicData>
          </a:graphic>
        </p:graphicFrame>
        <p:graphicFrame>
          <p:nvGraphicFramePr>
            <p:cNvPr id="21" name="Object 9">
              <a:extLst>
                <a:ext uri="{FF2B5EF4-FFF2-40B4-BE49-F238E27FC236}">
                  <a16:creationId xmlns:a16="http://schemas.microsoft.com/office/drawing/2014/main" id="{E926DC92-42A6-4356-B155-3DD376B890AF}"/>
                </a:ext>
              </a:extLst>
            </p:cNvPr>
            <p:cNvGraphicFramePr>
              <a:graphicFrameLocks/>
            </p:cNvGraphicFramePr>
            <p:nvPr>
              <p:extLst>
                <p:ext uri="{D42A27DB-BD31-4B8C-83A1-F6EECF244321}">
                  <p14:modId xmlns:p14="http://schemas.microsoft.com/office/powerpoint/2010/main" val="3882469823"/>
                </p:ext>
              </p:extLst>
            </p:nvPr>
          </p:nvGraphicFramePr>
          <p:xfrm>
            <a:off x="1959645" y="5929535"/>
            <a:ext cx="511175" cy="298450"/>
          </p:xfrm>
          <a:graphic>
            <a:graphicData uri="http://schemas.openxmlformats.org/presentationml/2006/ole">
              <mc:AlternateContent xmlns:mc="http://schemas.openxmlformats.org/markup-compatibility/2006">
                <mc:Choice xmlns:v="urn:schemas-microsoft-com:vml" Requires="v">
                  <p:oleObj spid="_x0000_s25670" name="Equation" r:id="rId20" imgW="330120" imgH="203040" progId="Equation.DSMT4">
                    <p:embed/>
                  </p:oleObj>
                </mc:Choice>
                <mc:Fallback>
                  <p:oleObj name="Equation" r:id="rId20" imgW="330120" imgH="203040" progId="Equation.DSMT4">
                    <p:embed/>
                    <p:pic>
                      <p:nvPicPr>
                        <p:cNvPr id="19" name="Object 9">
                          <a:extLst>
                            <a:ext uri="{FF2B5EF4-FFF2-40B4-BE49-F238E27FC236}">
                              <a16:creationId xmlns:a16="http://schemas.microsoft.com/office/drawing/2014/main" id="{6B0C7E94-8B10-449A-816C-CF948529703A}"/>
                            </a:ext>
                          </a:extLst>
                        </p:cNvPr>
                        <p:cNvPicPr>
                          <a:picLocks noChangeArrowheads="1"/>
                        </p:cNvPicPr>
                        <p:nvPr/>
                      </p:nvPicPr>
                      <p:blipFill>
                        <a:blip r:embed="rId21"/>
                        <a:srcRect/>
                        <a:stretch>
                          <a:fillRect/>
                        </a:stretch>
                      </p:blipFill>
                      <p:spPr bwMode="auto">
                        <a:xfrm>
                          <a:off x="1959645" y="5929535"/>
                          <a:ext cx="511175" cy="298450"/>
                        </a:xfrm>
                        <a:prstGeom prst="rect">
                          <a:avLst/>
                        </a:prstGeom>
                        <a:solidFill>
                          <a:schemeClr val="bg1"/>
                        </a:solidFill>
                        <a:ln>
                          <a:noFill/>
                        </a:ln>
                        <a:effectLst/>
                      </p:spPr>
                    </p:pic>
                  </p:oleObj>
                </mc:Fallback>
              </mc:AlternateContent>
            </a:graphicData>
          </a:graphic>
        </p:graphicFrame>
        <p:graphicFrame>
          <p:nvGraphicFramePr>
            <p:cNvPr id="22" name="Object 9">
              <a:extLst>
                <a:ext uri="{FF2B5EF4-FFF2-40B4-BE49-F238E27FC236}">
                  <a16:creationId xmlns:a16="http://schemas.microsoft.com/office/drawing/2014/main" id="{C7418509-CC0C-4CD6-A9B4-430123348F58}"/>
                </a:ext>
              </a:extLst>
            </p:cNvPr>
            <p:cNvGraphicFramePr>
              <a:graphicFrameLocks/>
            </p:cNvGraphicFramePr>
            <p:nvPr>
              <p:extLst>
                <p:ext uri="{D42A27DB-BD31-4B8C-83A1-F6EECF244321}">
                  <p14:modId xmlns:p14="http://schemas.microsoft.com/office/powerpoint/2010/main" val="1184011514"/>
                </p:ext>
              </p:extLst>
            </p:nvPr>
          </p:nvGraphicFramePr>
          <p:xfrm>
            <a:off x="4027656" y="5737152"/>
            <a:ext cx="688975" cy="577850"/>
          </p:xfrm>
          <a:graphic>
            <a:graphicData uri="http://schemas.openxmlformats.org/presentationml/2006/ole">
              <mc:AlternateContent xmlns:mc="http://schemas.openxmlformats.org/markup-compatibility/2006">
                <mc:Choice xmlns:v="urn:schemas-microsoft-com:vml" Requires="v">
                  <p:oleObj spid="_x0000_s25671" name="Equation" r:id="rId22" imgW="444240" imgH="393480" progId="Equation.DSMT4">
                    <p:embed/>
                  </p:oleObj>
                </mc:Choice>
                <mc:Fallback>
                  <p:oleObj name="Equation" r:id="rId22" imgW="444240" imgH="393480" progId="Equation.DSMT4">
                    <p:embed/>
                    <p:pic>
                      <p:nvPicPr>
                        <p:cNvPr id="21" name="Object 9">
                          <a:extLst>
                            <a:ext uri="{FF2B5EF4-FFF2-40B4-BE49-F238E27FC236}">
                              <a16:creationId xmlns:a16="http://schemas.microsoft.com/office/drawing/2014/main" id="{E926DC92-42A6-4356-B155-3DD376B890AF}"/>
                            </a:ext>
                          </a:extLst>
                        </p:cNvPr>
                        <p:cNvPicPr>
                          <a:picLocks noChangeArrowheads="1"/>
                        </p:cNvPicPr>
                        <p:nvPr/>
                      </p:nvPicPr>
                      <p:blipFill>
                        <a:blip r:embed="rId23"/>
                        <a:srcRect/>
                        <a:stretch>
                          <a:fillRect/>
                        </a:stretch>
                      </p:blipFill>
                      <p:spPr bwMode="auto">
                        <a:xfrm>
                          <a:off x="4027656" y="5737152"/>
                          <a:ext cx="688975" cy="577850"/>
                        </a:xfrm>
                        <a:prstGeom prst="rect">
                          <a:avLst/>
                        </a:prstGeom>
                        <a:solidFill>
                          <a:schemeClr val="bg1"/>
                        </a:solidFill>
                        <a:ln>
                          <a:noFill/>
                        </a:ln>
                        <a:effectLst/>
                      </p:spPr>
                    </p:pic>
                  </p:oleObj>
                </mc:Fallback>
              </mc:AlternateContent>
            </a:graphicData>
          </a:graphic>
        </p:graphicFrame>
      </p:grpSp>
    </p:spTree>
    <p:extLst>
      <p:ext uri="{BB962C8B-B14F-4D97-AF65-F5344CB8AC3E}">
        <p14:creationId xmlns:p14="http://schemas.microsoft.com/office/powerpoint/2010/main" val="1308239817"/>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reeform 2"/>
          <p:cNvSpPr>
            <a:spLocks/>
          </p:cNvSpPr>
          <p:nvPr/>
        </p:nvSpPr>
        <p:spPr bwMode="auto">
          <a:xfrm>
            <a:off x="5580063" y="1196975"/>
            <a:ext cx="3205162" cy="2881313"/>
          </a:xfrm>
          <a:custGeom>
            <a:avLst/>
            <a:gdLst>
              <a:gd name="T0" fmla="*/ 2147483647 w 1761"/>
              <a:gd name="T1" fmla="*/ 2147483647 h 1074"/>
              <a:gd name="T2" fmla="*/ 2147483647 w 1761"/>
              <a:gd name="T3" fmla="*/ 2147483647 h 1074"/>
              <a:gd name="T4" fmla="*/ 2147483647 w 1761"/>
              <a:gd name="T5" fmla="*/ 2147483647 h 1074"/>
              <a:gd name="T6" fmla="*/ 2147483647 w 1761"/>
              <a:gd name="T7" fmla="*/ 2147483647 h 1074"/>
              <a:gd name="T8" fmla="*/ 2147483647 w 1761"/>
              <a:gd name="T9" fmla="*/ 2147483647 h 1074"/>
              <a:gd name="T10" fmla="*/ 2147483647 w 1761"/>
              <a:gd name="T11" fmla="*/ 2147483647 h 1074"/>
              <a:gd name="T12" fmla="*/ 2147483647 w 1761"/>
              <a:gd name="T13" fmla="*/ 2147483647 h 1074"/>
              <a:gd name="T14" fmla="*/ 2147483647 w 1761"/>
              <a:gd name="T15" fmla="*/ 2147483647 h 1074"/>
              <a:gd name="T16" fmla="*/ 2147483647 w 1761"/>
              <a:gd name="T17" fmla="*/ 2147483647 h 1074"/>
              <a:gd name="T18" fmla="*/ 2147483647 w 1761"/>
              <a:gd name="T19" fmla="*/ 2147483647 h 10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339966"/>
          </a:solidFill>
          <a:ln w="9525">
            <a:round/>
            <a:headEnd/>
            <a:tailEnd/>
          </a:ln>
          <a:effectLst/>
          <a:scene3d>
            <a:camera prst="legacyPerspectiveFront">
              <a:rot lat="17699992" lon="0" rev="0"/>
            </a:camera>
            <a:lightRig rig="legacyFlat2" dir="t"/>
          </a:scene3d>
          <a:sp3d extrusionH="201600" prstMaterial="legacyMatte">
            <a:bevelT w="13500" h="13500" prst="angle"/>
            <a:bevelB w="13500" h="13500" prst="angle"/>
            <a:extrusionClr>
              <a:srgbClr val="339966"/>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31747" name="Rectangle 3"/>
          <p:cNvSpPr>
            <a:spLocks noChangeArrowheads="1"/>
          </p:cNvSpPr>
          <p:nvPr/>
        </p:nvSpPr>
        <p:spPr bwMode="auto">
          <a:xfrm>
            <a:off x="1143000" y="214313"/>
            <a:ext cx="605472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3200" b="1" dirty="0">
                <a:solidFill>
                  <a:srgbClr val="66FF33"/>
                </a:solidFill>
                <a:latin typeface="Times New Roman" pitchFamily="18" charset="0"/>
                <a:ea typeface="黑体" pitchFamily="49" charset="-122"/>
              </a:rPr>
              <a:t>6.3</a:t>
            </a:r>
            <a:r>
              <a:rPr kumimoji="1" lang="en-US" altLang="zh-CN" sz="3200" b="1" dirty="0">
                <a:solidFill>
                  <a:srgbClr val="66FF33"/>
                </a:solidFill>
                <a:latin typeface="黑体" pitchFamily="49" charset="-122"/>
                <a:ea typeface="黑体" pitchFamily="49" charset="-122"/>
              </a:rPr>
              <a:t> </a:t>
            </a:r>
            <a:r>
              <a:rPr lang="zh-CN" altLang="en-US" sz="3200" b="1" dirty="0">
                <a:solidFill>
                  <a:srgbClr val="66FF33"/>
                </a:solidFill>
                <a:latin typeface="黑体" pitchFamily="49" charset="-122"/>
                <a:ea typeface="黑体" pitchFamily="49" charset="-122"/>
              </a:rPr>
              <a:t>绕定轴转动刚体的动能定理</a:t>
            </a:r>
          </a:p>
        </p:txBody>
      </p:sp>
      <p:sp>
        <p:nvSpPr>
          <p:cNvPr id="31748" name="Text Box 4"/>
          <p:cNvSpPr txBox="1">
            <a:spLocks noChangeArrowheads="1"/>
          </p:cNvSpPr>
          <p:nvPr/>
        </p:nvSpPr>
        <p:spPr bwMode="auto">
          <a:xfrm>
            <a:off x="206375" y="863600"/>
            <a:ext cx="22971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800" b="1">
                <a:solidFill>
                  <a:srgbClr val="FFFF00"/>
                </a:solidFill>
                <a:latin typeface="Times New Roman" pitchFamily="18" charset="0"/>
              </a:rPr>
              <a:t>一</a:t>
            </a:r>
            <a:r>
              <a:rPr lang="en-US" altLang="zh-CN" sz="2800" b="1">
                <a:solidFill>
                  <a:srgbClr val="FFFF00"/>
                </a:solidFill>
                <a:latin typeface="Times New Roman" pitchFamily="18" charset="0"/>
              </a:rPr>
              <a:t>. </a:t>
            </a:r>
            <a:r>
              <a:rPr lang="zh-CN" altLang="en-US" sz="2800" b="1">
                <a:solidFill>
                  <a:srgbClr val="FFFF00"/>
                </a:solidFill>
                <a:latin typeface="Times New Roman" pitchFamily="18" charset="0"/>
              </a:rPr>
              <a:t>转动动能</a:t>
            </a:r>
          </a:p>
        </p:txBody>
      </p:sp>
      <p:sp>
        <p:nvSpPr>
          <p:cNvPr id="31749" name="Line 5"/>
          <p:cNvSpPr>
            <a:spLocks noChangeShapeType="1"/>
          </p:cNvSpPr>
          <p:nvPr/>
        </p:nvSpPr>
        <p:spPr bwMode="auto">
          <a:xfrm>
            <a:off x="6381750" y="1312863"/>
            <a:ext cx="0" cy="1295400"/>
          </a:xfrm>
          <a:prstGeom prst="line">
            <a:avLst/>
          </a:prstGeom>
          <a:noFill/>
          <a:ln w="508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0" name="Line 6"/>
          <p:cNvSpPr>
            <a:spLocks noChangeShapeType="1"/>
          </p:cNvSpPr>
          <p:nvPr/>
        </p:nvSpPr>
        <p:spPr bwMode="auto">
          <a:xfrm>
            <a:off x="6381750" y="3384550"/>
            <a:ext cx="0" cy="376238"/>
          </a:xfrm>
          <a:prstGeom prst="line">
            <a:avLst/>
          </a:prstGeom>
          <a:noFill/>
          <a:ln w="508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1" name="Text Box 7"/>
          <p:cNvSpPr txBox="1">
            <a:spLocks noChangeArrowheads="1"/>
          </p:cNvSpPr>
          <p:nvPr/>
        </p:nvSpPr>
        <p:spPr bwMode="auto">
          <a:xfrm>
            <a:off x="6443663" y="104298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FFFF00"/>
                </a:solidFill>
                <a:latin typeface="Times New Roman" pitchFamily="18" charset="0"/>
              </a:rPr>
              <a:t>z</a:t>
            </a:r>
            <a:endParaRPr lang="en-US" altLang="zh-CN" sz="2400" b="1" i="1">
              <a:solidFill>
                <a:schemeClr val="accent2"/>
              </a:solidFill>
              <a:latin typeface="Times New Roman" pitchFamily="18" charset="0"/>
            </a:endParaRPr>
          </a:p>
        </p:txBody>
      </p:sp>
      <p:sp>
        <p:nvSpPr>
          <p:cNvPr id="31752" name="Text Box 8"/>
          <p:cNvSpPr txBox="1">
            <a:spLocks noChangeArrowheads="1"/>
          </p:cNvSpPr>
          <p:nvPr/>
        </p:nvSpPr>
        <p:spPr bwMode="auto">
          <a:xfrm>
            <a:off x="6372225" y="1343025"/>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rgbClr val="FFFF00"/>
                </a:solidFill>
                <a:latin typeface="Times New Roman" pitchFamily="18" charset="0"/>
                <a:sym typeface="Symbol" pitchFamily="18" charset="2"/>
              </a:rPr>
              <a:t></a:t>
            </a:r>
            <a:endParaRPr lang="en-US" altLang="zh-CN" sz="2400" b="1" i="1">
              <a:solidFill>
                <a:schemeClr val="accent2"/>
              </a:solidFill>
              <a:latin typeface="Times New Roman" pitchFamily="18" charset="0"/>
            </a:endParaRPr>
          </a:p>
        </p:txBody>
      </p:sp>
      <p:sp>
        <p:nvSpPr>
          <p:cNvPr id="31753" name="Line 9"/>
          <p:cNvSpPr>
            <a:spLocks noChangeShapeType="1"/>
          </p:cNvSpPr>
          <p:nvPr/>
        </p:nvSpPr>
        <p:spPr bwMode="auto">
          <a:xfrm>
            <a:off x="6372225" y="2613025"/>
            <a:ext cx="1066800" cy="381000"/>
          </a:xfrm>
          <a:prstGeom prst="line">
            <a:avLst/>
          </a:prstGeom>
          <a:noFill/>
          <a:ln w="25400">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4" name="Text Box 10"/>
          <p:cNvSpPr txBox="1">
            <a:spLocks noChangeArrowheads="1"/>
          </p:cNvSpPr>
          <p:nvPr/>
        </p:nvSpPr>
        <p:spPr bwMode="auto">
          <a:xfrm>
            <a:off x="5981700" y="2341563"/>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chemeClr val="tx2"/>
                </a:solidFill>
                <a:latin typeface="Times New Roman" pitchFamily="18" charset="0"/>
              </a:rPr>
              <a:t>O</a:t>
            </a:r>
            <a:endParaRPr lang="en-US" altLang="zh-CN" sz="2400" i="1">
              <a:solidFill>
                <a:schemeClr val="accent2"/>
              </a:solidFill>
              <a:latin typeface="Times New Roman" pitchFamily="18" charset="0"/>
            </a:endParaRPr>
          </a:p>
        </p:txBody>
      </p:sp>
      <p:graphicFrame>
        <p:nvGraphicFramePr>
          <p:cNvPr id="31755" name="Object 11"/>
          <p:cNvGraphicFramePr>
            <a:graphicFrameLocks/>
          </p:cNvGraphicFramePr>
          <p:nvPr/>
        </p:nvGraphicFramePr>
        <p:xfrm>
          <a:off x="6807200" y="2303463"/>
          <a:ext cx="212725" cy="434975"/>
        </p:xfrm>
        <a:graphic>
          <a:graphicData uri="http://schemas.openxmlformats.org/presentationml/2006/ole">
            <mc:AlternateContent xmlns:mc="http://schemas.openxmlformats.org/markup-compatibility/2006">
              <mc:Choice xmlns:v="urn:schemas-microsoft-com:vml" Requires="v">
                <p:oleObj spid="_x0000_s26698" name="公式" r:id="rId3" imgW="215806" imgH="431613" progId="Equation.3">
                  <p:embed/>
                </p:oleObj>
              </mc:Choice>
              <mc:Fallback>
                <p:oleObj name="公式" r:id="rId3" imgW="215806" imgH="431613" progId="Equation.3">
                  <p:embed/>
                  <p:pic>
                    <p:nvPicPr>
                      <p:cNvPr id="0" name="Object 1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7200" y="2303463"/>
                        <a:ext cx="212725"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6" name="Object 12"/>
          <p:cNvGraphicFramePr>
            <a:graphicFrameLocks/>
          </p:cNvGraphicFramePr>
          <p:nvPr/>
        </p:nvGraphicFramePr>
        <p:xfrm>
          <a:off x="7740650" y="2090738"/>
          <a:ext cx="323850" cy="431800"/>
        </p:xfrm>
        <a:graphic>
          <a:graphicData uri="http://schemas.openxmlformats.org/presentationml/2006/ole">
            <mc:AlternateContent xmlns:mc="http://schemas.openxmlformats.org/markup-compatibility/2006">
              <mc:Choice xmlns:v="urn:schemas-microsoft-com:vml" Requires="v">
                <p:oleObj spid="_x0000_s26699" name="公式" r:id="rId5" imgW="279279" imgH="431613" progId="Equation.3">
                  <p:embed/>
                </p:oleObj>
              </mc:Choice>
              <mc:Fallback>
                <p:oleObj name="公式" r:id="rId5" imgW="279279" imgH="431613" progId="Equation.3">
                  <p:embed/>
                  <p:pic>
                    <p:nvPicPr>
                      <p:cNvPr id="0" name="Object 1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40650" y="2090738"/>
                        <a:ext cx="32385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7" name="Line 13"/>
          <p:cNvSpPr>
            <a:spLocks noChangeShapeType="1"/>
          </p:cNvSpPr>
          <p:nvPr/>
        </p:nvSpPr>
        <p:spPr bwMode="auto">
          <a:xfrm flipV="1">
            <a:off x="7448550" y="2303463"/>
            <a:ext cx="838200" cy="6858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1758" name="Object 14"/>
          <p:cNvGraphicFramePr>
            <a:graphicFrameLocks/>
          </p:cNvGraphicFramePr>
          <p:nvPr/>
        </p:nvGraphicFramePr>
        <p:xfrm>
          <a:off x="7597775" y="2814638"/>
          <a:ext cx="574675" cy="428625"/>
        </p:xfrm>
        <a:graphic>
          <a:graphicData uri="http://schemas.openxmlformats.org/presentationml/2006/ole">
            <mc:AlternateContent xmlns:mc="http://schemas.openxmlformats.org/markup-compatibility/2006">
              <mc:Choice xmlns:v="urn:schemas-microsoft-com:vml" Requires="v">
                <p:oleObj spid="_x0000_s26700" name="公式" r:id="rId7" imgW="571252" imgH="431613" progId="Equation.3">
                  <p:embed/>
                </p:oleObj>
              </mc:Choice>
              <mc:Fallback>
                <p:oleObj name="公式" r:id="rId7" imgW="571252" imgH="431613" progId="Equation.3">
                  <p:embed/>
                  <p:pic>
                    <p:nvPicPr>
                      <p:cNvPr id="0" name="Object 1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97775" y="2814638"/>
                        <a:ext cx="57467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9" name="Text Box 15"/>
          <p:cNvSpPr txBox="1">
            <a:spLocks noChangeArrowheads="1"/>
          </p:cNvSpPr>
          <p:nvPr/>
        </p:nvSpPr>
        <p:spPr bwMode="auto">
          <a:xfrm>
            <a:off x="2306638" y="914400"/>
            <a:ext cx="3605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chemeClr val="bg1"/>
                </a:solidFill>
                <a:latin typeface="Times New Roman" pitchFamily="18" charset="0"/>
              </a:rPr>
              <a:t>设系统包括有 </a:t>
            </a:r>
            <a:r>
              <a:rPr lang="en-US" altLang="zh-CN" sz="2400" b="1" i="1">
                <a:solidFill>
                  <a:srgbClr val="66FFFF"/>
                </a:solidFill>
                <a:latin typeface="Times New Roman" pitchFamily="18" charset="0"/>
              </a:rPr>
              <a:t>N</a:t>
            </a:r>
            <a:r>
              <a:rPr lang="en-US" altLang="zh-CN" sz="2400" b="1" i="1">
                <a:solidFill>
                  <a:schemeClr val="bg1"/>
                </a:solidFill>
                <a:latin typeface="Times New Roman" pitchFamily="18" charset="0"/>
              </a:rPr>
              <a:t> </a:t>
            </a:r>
            <a:r>
              <a:rPr lang="zh-CN" altLang="en-US" sz="2400" b="1">
                <a:solidFill>
                  <a:schemeClr val="bg1"/>
                </a:solidFill>
                <a:latin typeface="Times New Roman" pitchFamily="18" charset="0"/>
              </a:rPr>
              <a:t>个质量元</a:t>
            </a:r>
          </a:p>
        </p:txBody>
      </p:sp>
      <p:graphicFrame>
        <p:nvGraphicFramePr>
          <p:cNvPr id="31760" name="Object 16"/>
          <p:cNvGraphicFramePr>
            <a:graphicFrameLocks/>
          </p:cNvGraphicFramePr>
          <p:nvPr/>
        </p:nvGraphicFramePr>
        <p:xfrm>
          <a:off x="998538" y="1397000"/>
          <a:ext cx="4110037" cy="431800"/>
        </p:xfrm>
        <a:graphic>
          <a:graphicData uri="http://schemas.openxmlformats.org/presentationml/2006/ole">
            <mc:AlternateContent xmlns:mc="http://schemas.openxmlformats.org/markup-compatibility/2006">
              <mc:Choice xmlns:v="urn:schemas-microsoft-com:vml" Requires="v">
                <p:oleObj spid="_x0000_s26701" name="Equation" r:id="rId9" imgW="4029137" imgH="342816" progId="Equation.3">
                  <p:embed/>
                </p:oleObj>
              </mc:Choice>
              <mc:Fallback>
                <p:oleObj name="Equation" r:id="rId9" imgW="4029137" imgH="342816" progId="Equation.3">
                  <p:embed/>
                  <p:pic>
                    <p:nvPicPr>
                      <p:cNvPr id="0" name="Object 1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8538" y="1397000"/>
                        <a:ext cx="411003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1" name="Object 17"/>
          <p:cNvGraphicFramePr>
            <a:graphicFrameLocks/>
          </p:cNvGraphicFramePr>
          <p:nvPr/>
        </p:nvGraphicFramePr>
        <p:xfrm>
          <a:off x="971550" y="1892300"/>
          <a:ext cx="2093913" cy="457200"/>
        </p:xfrm>
        <a:graphic>
          <a:graphicData uri="http://schemas.openxmlformats.org/presentationml/2006/ole">
            <mc:AlternateContent xmlns:mc="http://schemas.openxmlformats.org/markup-compatibility/2006">
              <mc:Choice xmlns:v="urn:schemas-microsoft-com:vml" Requires="v">
                <p:oleObj spid="_x0000_s26702" name="Equation" r:id="rId11" imgW="2000262" imgH="361981" progId="Equation.3">
                  <p:embed/>
                </p:oleObj>
              </mc:Choice>
              <mc:Fallback>
                <p:oleObj name="Equation" r:id="rId11" imgW="2000262" imgH="361981" progId="Equation.3">
                  <p:embed/>
                  <p:pic>
                    <p:nvPicPr>
                      <p:cNvPr id="0" name="Object 1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1550" y="1892300"/>
                        <a:ext cx="20939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62" name="AutoShape 18"/>
          <p:cNvSpPr>
            <a:spLocks/>
          </p:cNvSpPr>
          <p:nvPr/>
        </p:nvSpPr>
        <p:spPr bwMode="auto">
          <a:xfrm>
            <a:off x="798513" y="1582738"/>
            <a:ext cx="227012" cy="1047750"/>
          </a:xfrm>
          <a:prstGeom prst="leftBrace">
            <a:avLst>
              <a:gd name="adj1" fmla="val 38462"/>
              <a:gd name="adj2" fmla="val 50000"/>
            </a:avLst>
          </a:prstGeom>
          <a:noFill/>
          <a:ln w="25400">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1763" name="Object 19"/>
          <p:cNvGraphicFramePr>
            <a:graphicFrameLocks/>
          </p:cNvGraphicFramePr>
          <p:nvPr/>
        </p:nvGraphicFramePr>
        <p:xfrm>
          <a:off x="981075" y="2420938"/>
          <a:ext cx="2716213" cy="431800"/>
        </p:xfrm>
        <a:graphic>
          <a:graphicData uri="http://schemas.openxmlformats.org/presentationml/2006/ole">
            <mc:AlternateContent xmlns:mc="http://schemas.openxmlformats.org/markup-compatibility/2006">
              <mc:Choice xmlns:v="urn:schemas-microsoft-com:vml" Requires="v">
                <p:oleObj spid="_x0000_s26703" name="公式" r:id="rId13" imgW="2628954" imgH="342816" progId="Equation.3">
                  <p:embed/>
                </p:oleObj>
              </mc:Choice>
              <mc:Fallback>
                <p:oleObj name="公式" r:id="rId13" imgW="2628954" imgH="342816" progId="Equation.3">
                  <p:embed/>
                  <p:pic>
                    <p:nvPicPr>
                      <p:cNvPr id="0" name="Object 1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81075" y="2420938"/>
                        <a:ext cx="27162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64" name="Text Box 20"/>
          <p:cNvSpPr txBox="1">
            <a:spLocks noChangeArrowheads="1"/>
          </p:cNvSpPr>
          <p:nvPr/>
        </p:nvSpPr>
        <p:spPr bwMode="auto">
          <a:xfrm>
            <a:off x="1865313" y="2976563"/>
            <a:ext cx="1655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a:solidFill>
                  <a:schemeClr val="bg1"/>
                </a:solidFill>
                <a:latin typeface="Times New Roman" pitchFamily="18" charset="0"/>
              </a:rPr>
              <a:t>,</a:t>
            </a:r>
            <a:r>
              <a:rPr lang="zh-CN" altLang="en-US" sz="2400" b="1">
                <a:solidFill>
                  <a:schemeClr val="bg1"/>
                </a:solidFill>
                <a:latin typeface="Times New Roman" pitchFamily="18" charset="0"/>
              </a:rPr>
              <a:t>其动能为</a:t>
            </a:r>
            <a:endParaRPr lang="zh-CN" altLang="en-US" sz="2400">
              <a:solidFill>
                <a:schemeClr val="bg1"/>
              </a:solidFill>
              <a:latin typeface="Times New Roman" pitchFamily="18" charset="0"/>
            </a:endParaRPr>
          </a:p>
        </p:txBody>
      </p:sp>
      <p:graphicFrame>
        <p:nvGraphicFramePr>
          <p:cNvPr id="31765" name="Object 21"/>
          <p:cNvGraphicFramePr>
            <a:graphicFrameLocks noChangeAspect="1"/>
          </p:cNvGraphicFramePr>
          <p:nvPr/>
        </p:nvGraphicFramePr>
        <p:xfrm>
          <a:off x="1247775" y="3011488"/>
          <a:ext cx="609600" cy="431800"/>
        </p:xfrm>
        <a:graphic>
          <a:graphicData uri="http://schemas.openxmlformats.org/presentationml/2006/ole">
            <mc:AlternateContent xmlns:mc="http://schemas.openxmlformats.org/markup-compatibility/2006">
              <mc:Choice xmlns:v="urn:schemas-microsoft-com:vml" Requires="v">
                <p:oleObj spid="_x0000_s26704" name="Equation" r:id="rId15" imgW="485894" imgH="342816" progId="Equation.3">
                  <p:embed/>
                </p:oleObj>
              </mc:Choice>
              <mc:Fallback>
                <p:oleObj name="Equation" r:id="rId15" imgW="485894" imgH="342816" progId="Equation.3">
                  <p:embed/>
                  <p:pic>
                    <p:nvPicPr>
                      <p:cNvPr id="0" name="Object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47775" y="3011488"/>
                        <a:ext cx="6096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6" name="Object 22"/>
          <p:cNvGraphicFramePr>
            <a:graphicFrameLocks/>
          </p:cNvGraphicFramePr>
          <p:nvPr/>
        </p:nvGraphicFramePr>
        <p:xfrm>
          <a:off x="1258888" y="3463925"/>
          <a:ext cx="1976437" cy="828675"/>
        </p:xfrm>
        <a:graphic>
          <a:graphicData uri="http://schemas.openxmlformats.org/presentationml/2006/ole">
            <mc:AlternateContent xmlns:mc="http://schemas.openxmlformats.org/markup-compatibility/2006">
              <mc:Choice xmlns:v="urn:schemas-microsoft-com:vml" Requires="v">
                <p:oleObj spid="_x0000_s26705" name="公式" r:id="rId17" imgW="1876359" imgH="733410" progId="Equation.3">
                  <p:embed/>
                </p:oleObj>
              </mc:Choice>
              <mc:Fallback>
                <p:oleObj name="公式" r:id="rId17" imgW="1876359" imgH="733410" progId="Equation.3">
                  <p:embed/>
                  <p:pic>
                    <p:nvPicPr>
                      <p:cNvPr id="0" name="Object 22"/>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58888" y="3463925"/>
                        <a:ext cx="1976437"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7" name="Object 23"/>
          <p:cNvGraphicFramePr>
            <a:graphicFrameLocks/>
          </p:cNvGraphicFramePr>
          <p:nvPr/>
        </p:nvGraphicFramePr>
        <p:xfrm>
          <a:off x="3221038" y="3478213"/>
          <a:ext cx="1755775" cy="827087"/>
        </p:xfrm>
        <a:graphic>
          <a:graphicData uri="http://schemas.openxmlformats.org/presentationml/2006/ole">
            <mc:AlternateContent xmlns:mc="http://schemas.openxmlformats.org/markup-compatibility/2006">
              <mc:Choice xmlns:v="urn:schemas-microsoft-com:vml" Requires="v">
                <p:oleObj spid="_x0000_s26706" name="Equation" r:id="rId19" imgW="1676333" imgH="733410" progId="Equation.3">
                  <p:embed/>
                </p:oleObj>
              </mc:Choice>
              <mc:Fallback>
                <p:oleObj name="Equation" r:id="rId19" imgW="1676333" imgH="733410" progId="Equation.3">
                  <p:embed/>
                  <p:pic>
                    <p:nvPicPr>
                      <p:cNvPr id="0" name="Object 23"/>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21038" y="3478213"/>
                        <a:ext cx="1755775"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68" name="AutoShape 24"/>
          <p:cNvSpPr>
            <a:spLocks noChangeArrowheads="1"/>
          </p:cNvSpPr>
          <p:nvPr/>
        </p:nvSpPr>
        <p:spPr bwMode="auto">
          <a:xfrm>
            <a:off x="5724525" y="3933825"/>
            <a:ext cx="2305050" cy="720725"/>
          </a:xfrm>
          <a:prstGeom prst="wedgeRectCallout">
            <a:avLst>
              <a:gd name="adj1" fmla="val -89736"/>
              <a:gd name="adj2" fmla="val -47134"/>
            </a:avLst>
          </a:prstGeom>
          <a:noFill/>
          <a:ln w="9525">
            <a:solidFill>
              <a:srgbClr val="66FFFF"/>
            </a:solidFill>
            <a:miter lim="800000"/>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zh-CN" altLang="en-US" sz="2000" b="1">
                <a:solidFill>
                  <a:schemeClr val="bg1"/>
                </a:solidFill>
                <a:latin typeface="Times New Roman" pitchFamily="18" charset="0"/>
                <a:ea typeface="楷体_GB2312" pitchFamily="49" charset="-122"/>
              </a:rPr>
              <a:t>各质量元速度不同，</a:t>
            </a:r>
          </a:p>
          <a:p>
            <a:pPr algn="ctr" eaLnBrk="0" hangingPunct="0"/>
            <a:r>
              <a:rPr lang="zh-CN" altLang="en-US" sz="2000" b="1">
                <a:solidFill>
                  <a:schemeClr val="bg1"/>
                </a:solidFill>
                <a:latin typeface="Times New Roman" pitchFamily="18" charset="0"/>
                <a:ea typeface="楷体_GB2312" pitchFamily="49" charset="-122"/>
              </a:rPr>
              <a:t>但角速度相同</a:t>
            </a:r>
          </a:p>
        </p:txBody>
      </p:sp>
      <p:graphicFrame>
        <p:nvGraphicFramePr>
          <p:cNvPr id="31769" name="Object 25"/>
          <p:cNvGraphicFramePr>
            <a:graphicFrameLocks/>
          </p:cNvGraphicFramePr>
          <p:nvPr/>
        </p:nvGraphicFramePr>
        <p:xfrm>
          <a:off x="900113" y="4868863"/>
          <a:ext cx="3879850" cy="828675"/>
        </p:xfrm>
        <a:graphic>
          <a:graphicData uri="http://schemas.openxmlformats.org/presentationml/2006/ole">
            <mc:AlternateContent xmlns:mc="http://schemas.openxmlformats.org/markup-compatibility/2006">
              <mc:Choice xmlns:v="urn:schemas-microsoft-com:vml" Requires="v">
                <p:oleObj spid="_x0000_s26707" name="Equation" r:id="rId21" imgW="3800498" imgH="733410" progId="Equation.3">
                  <p:embed/>
                </p:oleObj>
              </mc:Choice>
              <mc:Fallback>
                <p:oleObj name="Equation" r:id="rId21" imgW="3800498" imgH="733410" progId="Equation.3">
                  <p:embed/>
                  <p:pic>
                    <p:nvPicPr>
                      <p:cNvPr id="0" name="Object 25"/>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00113" y="4868863"/>
                        <a:ext cx="3879850"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70" name="Text Box 26"/>
          <p:cNvSpPr txBox="1">
            <a:spLocks noChangeArrowheads="1"/>
          </p:cNvSpPr>
          <p:nvPr/>
        </p:nvSpPr>
        <p:spPr bwMode="auto">
          <a:xfrm>
            <a:off x="755650" y="4365625"/>
            <a:ext cx="2589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chemeClr val="bg1"/>
                </a:solidFill>
                <a:latin typeface="Times New Roman" pitchFamily="18" charset="0"/>
              </a:rPr>
              <a:t>刚体的总动能</a:t>
            </a:r>
          </a:p>
        </p:txBody>
      </p:sp>
      <p:graphicFrame>
        <p:nvGraphicFramePr>
          <p:cNvPr id="31771" name="Object 27"/>
          <p:cNvGraphicFramePr>
            <a:graphicFrameLocks/>
          </p:cNvGraphicFramePr>
          <p:nvPr/>
        </p:nvGraphicFramePr>
        <p:xfrm>
          <a:off x="4787900" y="4868863"/>
          <a:ext cx="2386013" cy="828675"/>
        </p:xfrm>
        <a:graphic>
          <a:graphicData uri="http://schemas.openxmlformats.org/presentationml/2006/ole">
            <mc:AlternateContent xmlns:mc="http://schemas.openxmlformats.org/markup-compatibility/2006">
              <mc:Choice xmlns:v="urn:schemas-microsoft-com:vml" Requires="v">
                <p:oleObj spid="_x0000_s26708" name="Equation" r:id="rId23" imgW="2295577" imgH="733410" progId="Equation.3">
                  <p:embed/>
                </p:oleObj>
              </mc:Choice>
              <mc:Fallback>
                <p:oleObj name="Equation" r:id="rId23" imgW="2295577" imgH="733410" progId="Equation.3">
                  <p:embed/>
                  <p:pic>
                    <p:nvPicPr>
                      <p:cNvPr id="0" name="Object 27"/>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787900" y="4868863"/>
                        <a:ext cx="2386013"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72" name="Object 28"/>
          <p:cNvGraphicFramePr>
            <a:graphicFrameLocks/>
          </p:cNvGraphicFramePr>
          <p:nvPr/>
        </p:nvGraphicFramePr>
        <p:xfrm>
          <a:off x="7164388" y="4797425"/>
          <a:ext cx="1127125" cy="828675"/>
        </p:xfrm>
        <a:graphic>
          <a:graphicData uri="http://schemas.openxmlformats.org/presentationml/2006/ole">
            <mc:AlternateContent xmlns:mc="http://schemas.openxmlformats.org/markup-compatibility/2006">
              <mc:Choice xmlns:v="urn:schemas-microsoft-com:vml" Requires="v">
                <p:oleObj spid="_x0000_s26709" name="Equation" r:id="rId25" imgW="1038193" imgH="733410" progId="Equation.3">
                  <p:embed/>
                </p:oleObj>
              </mc:Choice>
              <mc:Fallback>
                <p:oleObj name="Equation" r:id="rId25" imgW="1038193" imgH="733410" progId="Equation.3">
                  <p:embed/>
                  <p:pic>
                    <p:nvPicPr>
                      <p:cNvPr id="0" name="Object 28"/>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164388" y="4797425"/>
                        <a:ext cx="1127125"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73" name="Text Box 29"/>
          <p:cNvSpPr txBox="1">
            <a:spLocks noChangeArrowheads="1"/>
          </p:cNvSpPr>
          <p:nvPr/>
        </p:nvSpPr>
        <p:spPr bwMode="auto">
          <a:xfrm>
            <a:off x="7264400" y="2420938"/>
            <a:ext cx="5778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800" i="1">
                <a:solidFill>
                  <a:srgbClr val="FFFF00"/>
                </a:solidFill>
                <a:latin typeface="Times New Roman" pitchFamily="18" charset="0"/>
              </a:rPr>
              <a:t>P</a:t>
            </a:r>
          </a:p>
        </p:txBody>
      </p:sp>
      <p:sp>
        <p:nvSpPr>
          <p:cNvPr id="31774" name="Rectangle 30"/>
          <p:cNvSpPr>
            <a:spLocks noChangeArrowheads="1"/>
          </p:cNvSpPr>
          <p:nvPr/>
        </p:nvSpPr>
        <p:spPr bwMode="auto">
          <a:xfrm>
            <a:off x="7277100" y="2757488"/>
            <a:ext cx="2905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just" eaLnBrk="0" hangingPunct="0"/>
            <a:r>
              <a:rPr lang="en-US" altLang="zh-CN" sz="2400" b="1" i="1">
                <a:solidFill>
                  <a:srgbClr val="FFFF00"/>
                </a:solidFill>
                <a:latin typeface="Times New Roman" pitchFamily="18" charset="0"/>
              </a:rPr>
              <a:t>•</a:t>
            </a:r>
          </a:p>
        </p:txBody>
      </p:sp>
      <p:sp>
        <p:nvSpPr>
          <p:cNvPr id="31775" name="Text Box 31"/>
          <p:cNvSpPr txBox="1">
            <a:spLocks noChangeArrowheads="1"/>
          </p:cNvSpPr>
          <p:nvPr/>
        </p:nvSpPr>
        <p:spPr bwMode="auto">
          <a:xfrm>
            <a:off x="1538288" y="5589588"/>
            <a:ext cx="6705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zh-CN" altLang="en-US" sz="2400" b="1">
                <a:solidFill>
                  <a:schemeClr val="bg1"/>
                </a:solidFill>
                <a:latin typeface="Times New Roman" pitchFamily="18" charset="0"/>
                <a:ea typeface="楷体_GB2312" pitchFamily="49" charset="-122"/>
              </a:rPr>
              <a:t>绕定轴转动刚体的动能等于刚体对转轴的转动惯量与其角速度平方乘积的一半</a:t>
            </a:r>
            <a:endParaRPr lang="zh-CN" altLang="en-US" sz="2400">
              <a:solidFill>
                <a:schemeClr val="bg1"/>
              </a:solidFill>
              <a:latin typeface="Times New Roman" pitchFamily="18" charset="0"/>
              <a:ea typeface="楷体_GB2312" pitchFamily="49" charset="-122"/>
            </a:endParaRPr>
          </a:p>
        </p:txBody>
      </p:sp>
      <p:sp>
        <p:nvSpPr>
          <p:cNvPr id="31776" name="Text Box 32"/>
          <p:cNvSpPr txBox="1">
            <a:spLocks noChangeArrowheads="1"/>
          </p:cNvSpPr>
          <p:nvPr/>
        </p:nvSpPr>
        <p:spPr bwMode="auto">
          <a:xfrm>
            <a:off x="719138" y="5627688"/>
            <a:ext cx="86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400" b="1">
                <a:solidFill>
                  <a:srgbClr val="FFFF00"/>
                </a:solidFill>
                <a:latin typeface="Times New Roman" pitchFamily="18" charset="0"/>
              </a:rPr>
              <a:t>结论</a:t>
            </a:r>
          </a:p>
        </p:txBody>
      </p:sp>
      <p:sp>
        <p:nvSpPr>
          <p:cNvPr id="31777" name="AutoShape 33"/>
          <p:cNvSpPr>
            <a:spLocks noChangeArrowheads="1"/>
          </p:cNvSpPr>
          <p:nvPr/>
        </p:nvSpPr>
        <p:spPr bwMode="auto">
          <a:xfrm>
            <a:off x="376238" y="5535613"/>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8" name="Text Box 34"/>
          <p:cNvSpPr txBox="1">
            <a:spLocks noChangeArrowheads="1"/>
          </p:cNvSpPr>
          <p:nvPr/>
        </p:nvSpPr>
        <p:spPr bwMode="auto">
          <a:xfrm>
            <a:off x="763588" y="2963863"/>
            <a:ext cx="792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a:solidFill>
                  <a:schemeClr val="bg1"/>
                </a:solidFill>
              </a:rPr>
              <a:t>取</a:t>
            </a:r>
          </a:p>
        </p:txBody>
      </p:sp>
      <p:sp>
        <p:nvSpPr>
          <p:cNvPr id="31779" name="Arc 35"/>
          <p:cNvSpPr>
            <a:spLocks/>
          </p:cNvSpPr>
          <p:nvPr/>
        </p:nvSpPr>
        <p:spPr bwMode="auto">
          <a:xfrm flipH="1">
            <a:off x="6137275" y="1773238"/>
            <a:ext cx="479425" cy="215900"/>
          </a:xfrm>
          <a:custGeom>
            <a:avLst/>
            <a:gdLst>
              <a:gd name="T0" fmla="*/ 2147483647 w 43200"/>
              <a:gd name="T1" fmla="*/ 0 h 38804"/>
              <a:gd name="T2" fmla="*/ 2147483647 w 43200"/>
              <a:gd name="T3" fmla="*/ 1395066676 h 38804"/>
              <a:gd name="T4" fmla="*/ 2147483647 w 43200"/>
              <a:gd name="T5" fmla="*/ 2147483647 h 38804"/>
              <a:gd name="T6" fmla="*/ 0 60000 65536"/>
              <a:gd name="T7" fmla="*/ 0 60000 65536"/>
              <a:gd name="T8" fmla="*/ 0 60000 65536"/>
            </a:gdLst>
            <a:ahLst/>
            <a:cxnLst>
              <a:cxn ang="T6">
                <a:pos x="T0" y="T1"/>
              </a:cxn>
              <a:cxn ang="T7">
                <a:pos x="T2" y="T3"/>
              </a:cxn>
              <a:cxn ang="T8">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lnTo>
                  <a:pt x="34660" y="0"/>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1746"/>
                                        </p:tgtEl>
                                        <p:attrNameLst>
                                          <p:attrName>style.visibility</p:attrName>
                                        </p:attrNameLst>
                                      </p:cBhvr>
                                      <p:to>
                                        <p:strVal val="visible"/>
                                      </p:to>
                                    </p:set>
                                    <p:anim calcmode="lin" valueType="num">
                                      <p:cBhvr>
                                        <p:cTn id="7" dur="500" fill="hold"/>
                                        <p:tgtEl>
                                          <p:spTgt spid="31746"/>
                                        </p:tgtEl>
                                        <p:attrNameLst>
                                          <p:attrName>ppt_w</p:attrName>
                                        </p:attrNameLst>
                                      </p:cBhvr>
                                      <p:tavLst>
                                        <p:tav tm="0">
                                          <p:val>
                                            <p:fltVal val="0"/>
                                          </p:val>
                                        </p:tav>
                                        <p:tav tm="100000">
                                          <p:val>
                                            <p:strVal val="#ppt_w"/>
                                          </p:val>
                                        </p:tav>
                                      </p:tavLst>
                                    </p:anim>
                                    <p:anim calcmode="lin" valueType="num">
                                      <p:cBhvr>
                                        <p:cTn id="8" dur="500" fill="hold"/>
                                        <p:tgtEl>
                                          <p:spTgt spid="31746"/>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1749"/>
                                        </p:tgtEl>
                                        <p:attrNameLst>
                                          <p:attrName>style.visibility</p:attrName>
                                        </p:attrNameLst>
                                      </p:cBhvr>
                                      <p:to>
                                        <p:strVal val="visible"/>
                                      </p:to>
                                    </p:set>
                                    <p:animEffect transition="in" filter="wipe(left)">
                                      <p:cBhvr>
                                        <p:cTn id="13" dur="500"/>
                                        <p:tgtEl>
                                          <p:spTgt spid="3174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1750"/>
                                        </p:tgtEl>
                                        <p:attrNameLst>
                                          <p:attrName>style.visibility</p:attrName>
                                        </p:attrNameLst>
                                      </p:cBhvr>
                                      <p:to>
                                        <p:strVal val="visible"/>
                                      </p:to>
                                    </p:set>
                                    <p:animEffect transition="in" filter="wipe(left)">
                                      <p:cBhvr>
                                        <p:cTn id="18" dur="500"/>
                                        <p:tgtEl>
                                          <p:spTgt spid="3175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1751"/>
                                        </p:tgtEl>
                                        <p:attrNameLst>
                                          <p:attrName>style.visibility</p:attrName>
                                        </p:attrNameLst>
                                      </p:cBhvr>
                                      <p:to>
                                        <p:strVal val="visible"/>
                                      </p:to>
                                    </p:set>
                                    <p:animEffect transition="in" filter="wipe(left)">
                                      <p:cBhvr>
                                        <p:cTn id="23" dur="500"/>
                                        <p:tgtEl>
                                          <p:spTgt spid="3175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1779"/>
                                        </p:tgtEl>
                                        <p:attrNameLst>
                                          <p:attrName>style.visibility</p:attrName>
                                        </p:attrNameLst>
                                      </p:cBhvr>
                                      <p:to>
                                        <p:strVal val="visible"/>
                                      </p:to>
                                    </p:set>
                                    <p:animEffect transition="in" filter="wipe(down)">
                                      <p:cBhvr>
                                        <p:cTn id="28" dur="500"/>
                                        <p:tgtEl>
                                          <p:spTgt spid="3177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1752"/>
                                        </p:tgtEl>
                                        <p:attrNameLst>
                                          <p:attrName>style.visibility</p:attrName>
                                        </p:attrNameLst>
                                      </p:cBhvr>
                                      <p:to>
                                        <p:strVal val="visible"/>
                                      </p:to>
                                    </p:set>
                                    <p:animEffect transition="in" filter="wipe(left)">
                                      <p:cBhvr>
                                        <p:cTn id="33" dur="500"/>
                                        <p:tgtEl>
                                          <p:spTgt spid="3175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1754"/>
                                        </p:tgtEl>
                                        <p:attrNameLst>
                                          <p:attrName>style.visibility</p:attrName>
                                        </p:attrNameLst>
                                      </p:cBhvr>
                                      <p:to>
                                        <p:strVal val="visible"/>
                                      </p:to>
                                    </p:set>
                                    <p:animEffect transition="in" filter="wipe(left)">
                                      <p:cBhvr>
                                        <p:cTn id="38" dur="500"/>
                                        <p:tgtEl>
                                          <p:spTgt spid="3175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1759"/>
                                        </p:tgtEl>
                                        <p:attrNameLst>
                                          <p:attrName>style.visibility</p:attrName>
                                        </p:attrNameLst>
                                      </p:cBhvr>
                                      <p:to>
                                        <p:strVal val="visible"/>
                                      </p:to>
                                    </p:set>
                                    <p:animEffect transition="in" filter="wipe(left)">
                                      <p:cBhvr>
                                        <p:cTn id="43" dur="500"/>
                                        <p:tgtEl>
                                          <p:spTgt spid="3175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31760"/>
                                        </p:tgtEl>
                                        <p:attrNameLst>
                                          <p:attrName>style.visibility</p:attrName>
                                        </p:attrNameLst>
                                      </p:cBhvr>
                                      <p:to>
                                        <p:strVal val="visible"/>
                                      </p:to>
                                    </p:set>
                                    <p:animEffect transition="in" filter="wipe(left)">
                                      <p:cBhvr>
                                        <p:cTn id="48" dur="500"/>
                                        <p:tgtEl>
                                          <p:spTgt spid="3176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31758"/>
                                        </p:tgtEl>
                                        <p:attrNameLst>
                                          <p:attrName>style.visibility</p:attrName>
                                        </p:attrNameLst>
                                      </p:cBhvr>
                                      <p:to>
                                        <p:strVal val="visible"/>
                                      </p:to>
                                    </p:set>
                                    <p:animEffect transition="in" filter="wipe(left)">
                                      <p:cBhvr>
                                        <p:cTn id="53" dur="500"/>
                                        <p:tgtEl>
                                          <p:spTgt spid="3175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31773"/>
                                        </p:tgtEl>
                                        <p:attrNameLst>
                                          <p:attrName>style.visibility</p:attrName>
                                        </p:attrNameLst>
                                      </p:cBhvr>
                                      <p:to>
                                        <p:strVal val="visible"/>
                                      </p:to>
                                    </p:set>
                                    <p:animEffect transition="in" filter="wipe(down)">
                                      <p:cBhvr>
                                        <p:cTn id="58" dur="500"/>
                                        <p:tgtEl>
                                          <p:spTgt spid="31773"/>
                                        </p:tgtEl>
                                      </p:cBhvr>
                                    </p:animEffect>
                                  </p:childTnLst>
                                </p:cTn>
                              </p:par>
                            </p:childTnLst>
                          </p:cTn>
                        </p:par>
                        <p:par>
                          <p:cTn id="59" fill="hold" nodeType="afterGroup">
                            <p:stCondLst>
                              <p:cond delay="500"/>
                            </p:stCondLst>
                            <p:childTnLst>
                              <p:par>
                                <p:cTn id="60" presetID="22" presetClass="entr" presetSubtype="4" fill="hold" grpId="0" nodeType="afterEffect">
                                  <p:stCondLst>
                                    <p:cond delay="0"/>
                                  </p:stCondLst>
                                  <p:childTnLst>
                                    <p:set>
                                      <p:cBhvr>
                                        <p:cTn id="61" dur="1" fill="hold">
                                          <p:stCondLst>
                                            <p:cond delay="0"/>
                                          </p:stCondLst>
                                        </p:cTn>
                                        <p:tgtEl>
                                          <p:spTgt spid="31774"/>
                                        </p:tgtEl>
                                        <p:attrNameLst>
                                          <p:attrName>style.visibility</p:attrName>
                                        </p:attrNameLst>
                                      </p:cBhvr>
                                      <p:to>
                                        <p:strVal val="visible"/>
                                      </p:to>
                                    </p:set>
                                    <p:animEffect transition="in" filter="wipe(down)">
                                      <p:cBhvr>
                                        <p:cTn id="62" dur="500"/>
                                        <p:tgtEl>
                                          <p:spTgt spid="3177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1753"/>
                                        </p:tgtEl>
                                        <p:attrNameLst>
                                          <p:attrName>style.visibility</p:attrName>
                                        </p:attrNameLst>
                                      </p:cBhvr>
                                      <p:to>
                                        <p:strVal val="visible"/>
                                      </p:to>
                                    </p:set>
                                    <p:animEffect transition="in" filter="wipe(left)">
                                      <p:cBhvr>
                                        <p:cTn id="67" dur="500"/>
                                        <p:tgtEl>
                                          <p:spTgt spid="3175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31755"/>
                                        </p:tgtEl>
                                        <p:attrNameLst>
                                          <p:attrName>style.visibility</p:attrName>
                                        </p:attrNameLst>
                                      </p:cBhvr>
                                      <p:to>
                                        <p:strVal val="visible"/>
                                      </p:to>
                                    </p:set>
                                    <p:animEffect transition="in" filter="wipe(left)">
                                      <p:cBhvr>
                                        <p:cTn id="72" dur="500"/>
                                        <p:tgtEl>
                                          <p:spTgt spid="3175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31761"/>
                                        </p:tgtEl>
                                        <p:attrNameLst>
                                          <p:attrName>style.visibility</p:attrName>
                                        </p:attrNameLst>
                                      </p:cBhvr>
                                      <p:to>
                                        <p:strVal val="visible"/>
                                      </p:to>
                                    </p:set>
                                    <p:animEffect transition="in" filter="wipe(left)">
                                      <p:cBhvr>
                                        <p:cTn id="77" dur="500"/>
                                        <p:tgtEl>
                                          <p:spTgt spid="3176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1757"/>
                                        </p:tgtEl>
                                        <p:attrNameLst>
                                          <p:attrName>style.visibility</p:attrName>
                                        </p:attrNameLst>
                                      </p:cBhvr>
                                      <p:to>
                                        <p:strVal val="visible"/>
                                      </p:to>
                                    </p:set>
                                    <p:animEffect transition="in" filter="wipe(left)">
                                      <p:cBhvr>
                                        <p:cTn id="82" dur="500"/>
                                        <p:tgtEl>
                                          <p:spTgt spid="3175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31756"/>
                                        </p:tgtEl>
                                        <p:attrNameLst>
                                          <p:attrName>style.visibility</p:attrName>
                                        </p:attrNameLst>
                                      </p:cBhvr>
                                      <p:to>
                                        <p:strVal val="visible"/>
                                      </p:to>
                                    </p:set>
                                    <p:animEffect transition="in" filter="wipe(left)">
                                      <p:cBhvr>
                                        <p:cTn id="87" dur="500"/>
                                        <p:tgtEl>
                                          <p:spTgt spid="31756"/>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31763"/>
                                        </p:tgtEl>
                                        <p:attrNameLst>
                                          <p:attrName>style.visibility</p:attrName>
                                        </p:attrNameLst>
                                      </p:cBhvr>
                                      <p:to>
                                        <p:strVal val="visible"/>
                                      </p:to>
                                    </p:set>
                                    <p:animEffect transition="in" filter="wipe(left)">
                                      <p:cBhvr>
                                        <p:cTn id="92" dur="500"/>
                                        <p:tgtEl>
                                          <p:spTgt spid="31763"/>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1762"/>
                                        </p:tgtEl>
                                        <p:attrNameLst>
                                          <p:attrName>style.visibility</p:attrName>
                                        </p:attrNameLst>
                                      </p:cBhvr>
                                      <p:to>
                                        <p:strVal val="visible"/>
                                      </p:to>
                                    </p:set>
                                    <p:animEffect transition="in" filter="wipe(left)">
                                      <p:cBhvr>
                                        <p:cTn id="97" dur="500"/>
                                        <p:tgtEl>
                                          <p:spTgt spid="31762"/>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31778"/>
                                        </p:tgtEl>
                                        <p:attrNameLst>
                                          <p:attrName>style.visibility</p:attrName>
                                        </p:attrNameLst>
                                      </p:cBhvr>
                                      <p:to>
                                        <p:strVal val="visible"/>
                                      </p:to>
                                    </p:set>
                                    <p:animEffect transition="in" filter="wipe(left)">
                                      <p:cBhvr>
                                        <p:cTn id="102" dur="500"/>
                                        <p:tgtEl>
                                          <p:spTgt spid="31778"/>
                                        </p:tgtEl>
                                      </p:cBhvr>
                                    </p:animEffect>
                                  </p:childTnLst>
                                </p:cTn>
                              </p:par>
                            </p:childTnLst>
                          </p:cTn>
                        </p:par>
                        <p:par>
                          <p:cTn id="103" fill="hold" nodeType="afterGroup">
                            <p:stCondLst>
                              <p:cond delay="500"/>
                            </p:stCondLst>
                            <p:childTnLst>
                              <p:par>
                                <p:cTn id="104" presetID="22" presetClass="entr" presetSubtype="8" fill="hold" nodeType="afterEffect">
                                  <p:stCondLst>
                                    <p:cond delay="0"/>
                                  </p:stCondLst>
                                  <p:childTnLst>
                                    <p:set>
                                      <p:cBhvr>
                                        <p:cTn id="105" dur="1" fill="hold">
                                          <p:stCondLst>
                                            <p:cond delay="0"/>
                                          </p:stCondLst>
                                        </p:cTn>
                                        <p:tgtEl>
                                          <p:spTgt spid="31765"/>
                                        </p:tgtEl>
                                        <p:attrNameLst>
                                          <p:attrName>style.visibility</p:attrName>
                                        </p:attrNameLst>
                                      </p:cBhvr>
                                      <p:to>
                                        <p:strVal val="visible"/>
                                      </p:to>
                                    </p:set>
                                    <p:animEffect transition="in" filter="wipe(left)">
                                      <p:cBhvr>
                                        <p:cTn id="106" dur="500"/>
                                        <p:tgtEl>
                                          <p:spTgt spid="31765"/>
                                        </p:tgtEl>
                                      </p:cBhvr>
                                    </p:animEffect>
                                  </p:childTnLst>
                                </p:cTn>
                              </p:par>
                            </p:childTnLst>
                          </p:cTn>
                        </p:par>
                        <p:par>
                          <p:cTn id="107" fill="hold" nodeType="afterGroup">
                            <p:stCondLst>
                              <p:cond delay="1000"/>
                            </p:stCondLst>
                            <p:childTnLst>
                              <p:par>
                                <p:cTn id="108" presetID="22" presetClass="entr" presetSubtype="8" fill="hold" grpId="0" nodeType="afterEffect">
                                  <p:stCondLst>
                                    <p:cond delay="0"/>
                                  </p:stCondLst>
                                  <p:childTnLst>
                                    <p:set>
                                      <p:cBhvr>
                                        <p:cTn id="109" dur="1" fill="hold">
                                          <p:stCondLst>
                                            <p:cond delay="0"/>
                                          </p:stCondLst>
                                        </p:cTn>
                                        <p:tgtEl>
                                          <p:spTgt spid="31764"/>
                                        </p:tgtEl>
                                        <p:attrNameLst>
                                          <p:attrName>style.visibility</p:attrName>
                                        </p:attrNameLst>
                                      </p:cBhvr>
                                      <p:to>
                                        <p:strVal val="visible"/>
                                      </p:to>
                                    </p:set>
                                    <p:animEffect transition="in" filter="wipe(left)">
                                      <p:cBhvr>
                                        <p:cTn id="110" dur="500"/>
                                        <p:tgtEl>
                                          <p:spTgt spid="31764"/>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31766"/>
                                        </p:tgtEl>
                                        <p:attrNameLst>
                                          <p:attrName>style.visibility</p:attrName>
                                        </p:attrNameLst>
                                      </p:cBhvr>
                                      <p:to>
                                        <p:strVal val="visible"/>
                                      </p:to>
                                    </p:set>
                                    <p:animEffect transition="in" filter="wipe(left)">
                                      <p:cBhvr>
                                        <p:cTn id="115" dur="500"/>
                                        <p:tgtEl>
                                          <p:spTgt spid="31766"/>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31767"/>
                                        </p:tgtEl>
                                        <p:attrNameLst>
                                          <p:attrName>style.visibility</p:attrName>
                                        </p:attrNameLst>
                                      </p:cBhvr>
                                      <p:to>
                                        <p:strVal val="visible"/>
                                      </p:to>
                                    </p:set>
                                    <p:animEffect transition="in" filter="wipe(left)">
                                      <p:cBhvr>
                                        <p:cTn id="120" dur="500"/>
                                        <p:tgtEl>
                                          <p:spTgt spid="31767"/>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31768"/>
                                        </p:tgtEl>
                                        <p:attrNameLst>
                                          <p:attrName>style.visibility</p:attrName>
                                        </p:attrNameLst>
                                      </p:cBhvr>
                                      <p:to>
                                        <p:strVal val="visible"/>
                                      </p:to>
                                    </p:set>
                                    <p:animEffect transition="in" filter="wipe(left)">
                                      <p:cBhvr>
                                        <p:cTn id="125" dur="500"/>
                                        <p:tgtEl>
                                          <p:spTgt spid="31768"/>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31770"/>
                                        </p:tgtEl>
                                        <p:attrNameLst>
                                          <p:attrName>style.visibility</p:attrName>
                                        </p:attrNameLst>
                                      </p:cBhvr>
                                      <p:to>
                                        <p:strVal val="visible"/>
                                      </p:to>
                                    </p:set>
                                    <p:animEffect transition="in" filter="wipe(left)">
                                      <p:cBhvr>
                                        <p:cTn id="130" dur="500"/>
                                        <p:tgtEl>
                                          <p:spTgt spid="31770"/>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nodeType="clickEffect">
                                  <p:stCondLst>
                                    <p:cond delay="0"/>
                                  </p:stCondLst>
                                  <p:childTnLst>
                                    <p:set>
                                      <p:cBhvr>
                                        <p:cTn id="134" dur="1" fill="hold">
                                          <p:stCondLst>
                                            <p:cond delay="0"/>
                                          </p:stCondLst>
                                        </p:cTn>
                                        <p:tgtEl>
                                          <p:spTgt spid="31769"/>
                                        </p:tgtEl>
                                        <p:attrNameLst>
                                          <p:attrName>style.visibility</p:attrName>
                                        </p:attrNameLst>
                                      </p:cBhvr>
                                      <p:to>
                                        <p:strVal val="visible"/>
                                      </p:to>
                                    </p:set>
                                    <p:animEffect transition="in" filter="wipe(left)">
                                      <p:cBhvr>
                                        <p:cTn id="135" dur="500"/>
                                        <p:tgtEl>
                                          <p:spTgt spid="31769"/>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nodeType="clickEffect">
                                  <p:stCondLst>
                                    <p:cond delay="0"/>
                                  </p:stCondLst>
                                  <p:childTnLst>
                                    <p:set>
                                      <p:cBhvr>
                                        <p:cTn id="139" dur="1" fill="hold">
                                          <p:stCondLst>
                                            <p:cond delay="0"/>
                                          </p:stCondLst>
                                        </p:cTn>
                                        <p:tgtEl>
                                          <p:spTgt spid="31771"/>
                                        </p:tgtEl>
                                        <p:attrNameLst>
                                          <p:attrName>style.visibility</p:attrName>
                                        </p:attrNameLst>
                                      </p:cBhvr>
                                      <p:to>
                                        <p:strVal val="visible"/>
                                      </p:to>
                                    </p:set>
                                    <p:animEffect transition="in" filter="wipe(left)">
                                      <p:cBhvr>
                                        <p:cTn id="140" dur="500"/>
                                        <p:tgtEl>
                                          <p:spTgt spid="31771"/>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nodeType="clickEffect">
                                  <p:stCondLst>
                                    <p:cond delay="0"/>
                                  </p:stCondLst>
                                  <p:childTnLst>
                                    <p:set>
                                      <p:cBhvr>
                                        <p:cTn id="144" dur="1" fill="hold">
                                          <p:stCondLst>
                                            <p:cond delay="0"/>
                                          </p:stCondLst>
                                        </p:cTn>
                                        <p:tgtEl>
                                          <p:spTgt spid="31772"/>
                                        </p:tgtEl>
                                        <p:attrNameLst>
                                          <p:attrName>style.visibility</p:attrName>
                                        </p:attrNameLst>
                                      </p:cBhvr>
                                      <p:to>
                                        <p:strVal val="visible"/>
                                      </p:to>
                                    </p:set>
                                    <p:animEffect transition="in" filter="wipe(left)">
                                      <p:cBhvr>
                                        <p:cTn id="145" dur="500"/>
                                        <p:tgtEl>
                                          <p:spTgt spid="31772"/>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50" presetClass="entr" presetSubtype="0" decel="100000" fill="hold" grpId="0" nodeType="clickEffect">
                                  <p:stCondLst>
                                    <p:cond delay="0"/>
                                  </p:stCondLst>
                                  <p:childTnLst>
                                    <p:set>
                                      <p:cBhvr>
                                        <p:cTn id="149" dur="1" fill="hold">
                                          <p:stCondLst>
                                            <p:cond delay="0"/>
                                          </p:stCondLst>
                                        </p:cTn>
                                        <p:tgtEl>
                                          <p:spTgt spid="31777"/>
                                        </p:tgtEl>
                                        <p:attrNameLst>
                                          <p:attrName>style.visibility</p:attrName>
                                        </p:attrNameLst>
                                      </p:cBhvr>
                                      <p:to>
                                        <p:strVal val="visible"/>
                                      </p:to>
                                    </p:set>
                                    <p:anim calcmode="lin" valueType="num">
                                      <p:cBhvr>
                                        <p:cTn id="150" dur="1000" fill="hold"/>
                                        <p:tgtEl>
                                          <p:spTgt spid="31777"/>
                                        </p:tgtEl>
                                        <p:attrNameLst>
                                          <p:attrName>ppt_w</p:attrName>
                                        </p:attrNameLst>
                                      </p:cBhvr>
                                      <p:tavLst>
                                        <p:tav tm="0">
                                          <p:val>
                                            <p:strVal val="#ppt_w+.3"/>
                                          </p:val>
                                        </p:tav>
                                        <p:tav tm="100000">
                                          <p:val>
                                            <p:strVal val="#ppt_w"/>
                                          </p:val>
                                        </p:tav>
                                      </p:tavLst>
                                    </p:anim>
                                    <p:anim calcmode="lin" valueType="num">
                                      <p:cBhvr>
                                        <p:cTn id="151" dur="1000" fill="hold"/>
                                        <p:tgtEl>
                                          <p:spTgt spid="31777"/>
                                        </p:tgtEl>
                                        <p:attrNameLst>
                                          <p:attrName>ppt_h</p:attrName>
                                        </p:attrNameLst>
                                      </p:cBhvr>
                                      <p:tavLst>
                                        <p:tav tm="0">
                                          <p:val>
                                            <p:strVal val="#ppt_h"/>
                                          </p:val>
                                        </p:tav>
                                        <p:tav tm="100000">
                                          <p:val>
                                            <p:strVal val="#ppt_h"/>
                                          </p:val>
                                        </p:tav>
                                      </p:tavLst>
                                    </p:anim>
                                    <p:animEffect transition="in" filter="fade">
                                      <p:cBhvr>
                                        <p:cTn id="152" dur="1000"/>
                                        <p:tgtEl>
                                          <p:spTgt spid="31777"/>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31776"/>
                                        </p:tgtEl>
                                        <p:attrNameLst>
                                          <p:attrName>style.visibility</p:attrName>
                                        </p:attrNameLst>
                                      </p:cBhvr>
                                      <p:to>
                                        <p:strVal val="visible"/>
                                      </p:to>
                                    </p:set>
                                    <p:animEffect transition="in" filter="wipe(left)">
                                      <p:cBhvr>
                                        <p:cTn id="157" dur="500"/>
                                        <p:tgtEl>
                                          <p:spTgt spid="31776"/>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31775"/>
                                        </p:tgtEl>
                                        <p:attrNameLst>
                                          <p:attrName>style.visibility</p:attrName>
                                        </p:attrNameLst>
                                      </p:cBhvr>
                                      <p:to>
                                        <p:strVal val="visible"/>
                                      </p:to>
                                    </p:set>
                                    <p:animEffect transition="in" filter="wipe(left)">
                                      <p:cBhvr>
                                        <p:cTn id="162" dur="500"/>
                                        <p:tgtEl>
                                          <p:spTgt spid="31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animBg="1"/>
      <p:bldP spid="31749" grpId="0" animBg="1"/>
      <p:bldP spid="31750" grpId="0" animBg="1"/>
      <p:bldP spid="31751" grpId="0" autoUpdateAnimBg="0"/>
      <p:bldP spid="31752" grpId="0" autoUpdateAnimBg="0"/>
      <p:bldP spid="31753" grpId="0" animBg="1"/>
      <p:bldP spid="31754" grpId="0" autoUpdateAnimBg="0"/>
      <p:bldP spid="31757" grpId="0" animBg="1"/>
      <p:bldP spid="31759" grpId="0" autoUpdateAnimBg="0"/>
      <p:bldP spid="31762" grpId="0" animBg="1"/>
      <p:bldP spid="31764" grpId="0" autoUpdateAnimBg="0"/>
      <p:bldP spid="31768" grpId="0" animBg="1" autoUpdateAnimBg="0"/>
      <p:bldP spid="31770" grpId="0" autoUpdateAnimBg="0"/>
      <p:bldP spid="31773" grpId="0"/>
      <p:bldP spid="31774" grpId="0"/>
      <p:bldP spid="31775" grpId="0"/>
      <p:bldP spid="31776" grpId="0"/>
      <p:bldP spid="31777" grpId="0" animBg="1"/>
      <p:bldP spid="31778" grpId="0"/>
      <p:bldP spid="3177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reeform 2"/>
          <p:cNvSpPr>
            <a:spLocks/>
          </p:cNvSpPr>
          <p:nvPr/>
        </p:nvSpPr>
        <p:spPr bwMode="auto">
          <a:xfrm>
            <a:off x="4787900" y="2060575"/>
            <a:ext cx="3132138" cy="2881313"/>
          </a:xfrm>
          <a:custGeom>
            <a:avLst/>
            <a:gdLst>
              <a:gd name="T0" fmla="*/ 2147483647 w 1761"/>
              <a:gd name="T1" fmla="*/ 2147483647 h 1074"/>
              <a:gd name="T2" fmla="*/ 2147483647 w 1761"/>
              <a:gd name="T3" fmla="*/ 2147483647 h 1074"/>
              <a:gd name="T4" fmla="*/ 2147483647 w 1761"/>
              <a:gd name="T5" fmla="*/ 2147483647 h 1074"/>
              <a:gd name="T6" fmla="*/ 2147483647 w 1761"/>
              <a:gd name="T7" fmla="*/ 2147483647 h 1074"/>
              <a:gd name="T8" fmla="*/ 2147483647 w 1761"/>
              <a:gd name="T9" fmla="*/ 2147483647 h 1074"/>
              <a:gd name="T10" fmla="*/ 2147483647 w 1761"/>
              <a:gd name="T11" fmla="*/ 2147483647 h 1074"/>
              <a:gd name="T12" fmla="*/ 2147483647 w 1761"/>
              <a:gd name="T13" fmla="*/ 2147483647 h 1074"/>
              <a:gd name="T14" fmla="*/ 2147483647 w 1761"/>
              <a:gd name="T15" fmla="*/ 2147483647 h 1074"/>
              <a:gd name="T16" fmla="*/ 2147483647 w 1761"/>
              <a:gd name="T17" fmla="*/ 2147483647 h 1074"/>
              <a:gd name="T18" fmla="*/ 2147483647 w 1761"/>
              <a:gd name="T19" fmla="*/ 2147483647 h 10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339966"/>
          </a:solidFill>
          <a:ln w="9525">
            <a:round/>
            <a:headEnd/>
            <a:tailEnd/>
          </a:ln>
          <a:effectLst/>
          <a:scene3d>
            <a:camera prst="legacyPerspectiveFront">
              <a:rot lat="17699992" lon="0" rev="0"/>
            </a:camera>
            <a:lightRig rig="legacyFlat2" dir="t"/>
          </a:scene3d>
          <a:sp3d extrusionH="201600" prstMaterial="legacyMatte">
            <a:bevelT w="13500" h="13500" prst="angle"/>
            <a:bevelB w="13500" h="13500" prst="angle"/>
            <a:extrusionClr>
              <a:srgbClr val="339966"/>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32771" name="Text Box 3"/>
          <p:cNvSpPr txBox="1">
            <a:spLocks noChangeArrowheads="1"/>
          </p:cNvSpPr>
          <p:nvPr/>
        </p:nvSpPr>
        <p:spPr bwMode="auto">
          <a:xfrm>
            <a:off x="179388" y="333375"/>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800" b="1">
                <a:solidFill>
                  <a:srgbClr val="FFFF00"/>
                </a:solidFill>
                <a:latin typeface="Times New Roman" pitchFamily="18" charset="0"/>
              </a:rPr>
              <a:t>二</a:t>
            </a:r>
            <a:r>
              <a:rPr lang="en-US" altLang="zh-CN" sz="2800" b="1">
                <a:solidFill>
                  <a:srgbClr val="FFFF00"/>
                </a:solidFill>
                <a:latin typeface="Times New Roman" pitchFamily="18" charset="0"/>
              </a:rPr>
              <a:t>. </a:t>
            </a:r>
            <a:r>
              <a:rPr lang="zh-CN" altLang="en-US" sz="2800" b="1">
                <a:solidFill>
                  <a:srgbClr val="FFFF00"/>
                </a:solidFill>
                <a:latin typeface="Times New Roman" pitchFamily="18" charset="0"/>
              </a:rPr>
              <a:t>力矩的功</a:t>
            </a:r>
          </a:p>
        </p:txBody>
      </p:sp>
      <p:sp>
        <p:nvSpPr>
          <p:cNvPr id="32772" name="Line 4"/>
          <p:cNvSpPr>
            <a:spLocks noChangeShapeType="1"/>
          </p:cNvSpPr>
          <p:nvPr/>
        </p:nvSpPr>
        <p:spPr bwMode="auto">
          <a:xfrm>
            <a:off x="5824538" y="2095500"/>
            <a:ext cx="0" cy="1295400"/>
          </a:xfrm>
          <a:prstGeom prst="line">
            <a:avLst/>
          </a:prstGeom>
          <a:noFill/>
          <a:ln w="508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3" name="Line 5"/>
          <p:cNvSpPr>
            <a:spLocks noChangeShapeType="1"/>
          </p:cNvSpPr>
          <p:nvPr/>
        </p:nvSpPr>
        <p:spPr bwMode="auto">
          <a:xfrm>
            <a:off x="5824538" y="4302125"/>
            <a:ext cx="0" cy="381000"/>
          </a:xfrm>
          <a:prstGeom prst="line">
            <a:avLst/>
          </a:prstGeom>
          <a:noFill/>
          <a:ln w="508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4" name="Text Box 6"/>
          <p:cNvSpPr txBox="1">
            <a:spLocks noChangeArrowheads="1"/>
          </p:cNvSpPr>
          <p:nvPr/>
        </p:nvSpPr>
        <p:spPr bwMode="auto">
          <a:xfrm>
            <a:off x="6010275" y="2108200"/>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sym typeface="Symbol" pitchFamily="18" charset="2"/>
              </a:rPr>
              <a:t></a:t>
            </a:r>
            <a:endParaRPr lang="en-US" altLang="zh-CN" sz="2400" i="1">
              <a:solidFill>
                <a:schemeClr val="accent2"/>
              </a:solidFill>
              <a:latin typeface="Times New Roman" pitchFamily="18" charset="0"/>
            </a:endParaRPr>
          </a:p>
        </p:txBody>
      </p:sp>
      <p:sp>
        <p:nvSpPr>
          <p:cNvPr id="32775" name="Line 7"/>
          <p:cNvSpPr>
            <a:spLocks noChangeShapeType="1"/>
          </p:cNvSpPr>
          <p:nvPr/>
        </p:nvSpPr>
        <p:spPr bwMode="auto">
          <a:xfrm>
            <a:off x="5824538" y="3390900"/>
            <a:ext cx="1066800" cy="457200"/>
          </a:xfrm>
          <a:prstGeom prst="line">
            <a:avLst/>
          </a:prstGeom>
          <a:noFill/>
          <a:ln w="254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6" name="Text Box 8"/>
          <p:cNvSpPr txBox="1">
            <a:spLocks noChangeArrowheads="1"/>
          </p:cNvSpPr>
          <p:nvPr/>
        </p:nvSpPr>
        <p:spPr bwMode="auto">
          <a:xfrm>
            <a:off x="5435600" y="3284538"/>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b="1" i="1">
                <a:solidFill>
                  <a:schemeClr val="accent2"/>
                </a:solidFill>
                <a:latin typeface="Times New Roman" pitchFamily="18" charset="0"/>
              </a:rPr>
              <a:t>O</a:t>
            </a:r>
          </a:p>
        </p:txBody>
      </p:sp>
      <p:graphicFrame>
        <p:nvGraphicFramePr>
          <p:cNvPr id="32777" name="Object 9"/>
          <p:cNvGraphicFramePr>
            <a:graphicFrameLocks/>
          </p:cNvGraphicFramePr>
          <p:nvPr/>
        </p:nvGraphicFramePr>
        <p:xfrm>
          <a:off x="6227763" y="3665538"/>
          <a:ext cx="215900" cy="292100"/>
        </p:xfrm>
        <a:graphic>
          <a:graphicData uri="http://schemas.openxmlformats.org/presentationml/2006/ole">
            <mc:AlternateContent xmlns:mc="http://schemas.openxmlformats.org/markup-compatibility/2006">
              <mc:Choice xmlns:v="urn:schemas-microsoft-com:vml" Requires="v">
                <p:oleObj spid="_x0000_s27722" name="公式" r:id="rId3" imgW="123903" imgH="200021" progId="Equation.3">
                  <p:embed/>
                </p:oleObj>
              </mc:Choice>
              <mc:Fallback>
                <p:oleObj name="公式" r:id="rId3" imgW="123903" imgH="200021" progId="Equation.3">
                  <p:embed/>
                  <p:pic>
                    <p:nvPicPr>
                      <p:cNvPr id="0" name="Object 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7763" y="3665538"/>
                        <a:ext cx="2159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8" name="Object 10"/>
          <p:cNvGraphicFramePr>
            <a:graphicFrameLocks/>
          </p:cNvGraphicFramePr>
          <p:nvPr/>
        </p:nvGraphicFramePr>
        <p:xfrm>
          <a:off x="7667625" y="2824163"/>
          <a:ext cx="306388" cy="341312"/>
        </p:xfrm>
        <a:graphic>
          <a:graphicData uri="http://schemas.openxmlformats.org/presentationml/2006/ole">
            <mc:AlternateContent xmlns:mc="http://schemas.openxmlformats.org/markup-compatibility/2006">
              <mc:Choice xmlns:v="urn:schemas-microsoft-com:vml" Requires="v">
                <p:oleObj spid="_x0000_s27723" name="公式" r:id="rId5" imgW="219192" imgH="257247" progId="Equation.3">
                  <p:embed/>
                </p:oleObj>
              </mc:Choice>
              <mc:Fallback>
                <p:oleObj name="公式" r:id="rId5" imgW="219192" imgH="257247" progId="Equation.3">
                  <p:embed/>
                  <p:pic>
                    <p:nvPicPr>
                      <p:cNvPr id="0" name="Object 1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67625" y="2824163"/>
                        <a:ext cx="306388"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9" name="Line 11"/>
          <p:cNvSpPr>
            <a:spLocks noChangeShapeType="1"/>
          </p:cNvSpPr>
          <p:nvPr/>
        </p:nvSpPr>
        <p:spPr bwMode="auto">
          <a:xfrm flipV="1">
            <a:off x="6891338" y="3162300"/>
            <a:ext cx="1143000" cy="685800"/>
          </a:xfrm>
          <a:prstGeom prst="line">
            <a:avLst/>
          </a:prstGeom>
          <a:noFill/>
          <a:ln w="38100">
            <a:solidFill>
              <a:srgbClr val="FFCC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0" name="Line 12"/>
          <p:cNvSpPr>
            <a:spLocks noChangeShapeType="1"/>
          </p:cNvSpPr>
          <p:nvPr/>
        </p:nvSpPr>
        <p:spPr bwMode="auto">
          <a:xfrm>
            <a:off x="6891338" y="3848100"/>
            <a:ext cx="762000" cy="304800"/>
          </a:xfrm>
          <a:prstGeom prst="line">
            <a:avLst/>
          </a:prstGeom>
          <a:noFill/>
          <a:ln w="19050">
            <a:solidFill>
              <a:schemeClr val="bg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1" name="Line 13"/>
          <p:cNvSpPr>
            <a:spLocks noChangeShapeType="1"/>
          </p:cNvSpPr>
          <p:nvPr/>
        </p:nvSpPr>
        <p:spPr bwMode="auto">
          <a:xfrm>
            <a:off x="5824538" y="3390900"/>
            <a:ext cx="1219200" cy="76200"/>
          </a:xfrm>
          <a:prstGeom prst="line">
            <a:avLst/>
          </a:prstGeom>
          <a:noFill/>
          <a:ln w="254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2" name="Line 14"/>
          <p:cNvSpPr>
            <a:spLocks noChangeShapeType="1"/>
          </p:cNvSpPr>
          <p:nvPr/>
        </p:nvSpPr>
        <p:spPr bwMode="auto">
          <a:xfrm flipV="1">
            <a:off x="6891338" y="3467100"/>
            <a:ext cx="152400" cy="381000"/>
          </a:xfrm>
          <a:prstGeom prst="line">
            <a:avLst/>
          </a:prstGeom>
          <a:noFill/>
          <a:ln w="412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2783" name="Object 15"/>
          <p:cNvGraphicFramePr>
            <a:graphicFrameLocks/>
          </p:cNvGraphicFramePr>
          <p:nvPr/>
        </p:nvGraphicFramePr>
        <p:xfrm>
          <a:off x="6580188" y="3090863"/>
          <a:ext cx="306387" cy="306387"/>
        </p:xfrm>
        <a:graphic>
          <a:graphicData uri="http://schemas.openxmlformats.org/presentationml/2006/ole">
            <mc:AlternateContent xmlns:mc="http://schemas.openxmlformats.org/markup-compatibility/2006">
              <mc:Choice xmlns:v="urn:schemas-microsoft-com:vml" Requires="v">
                <p:oleObj spid="_x0000_s27724" name="公式" r:id="rId7" imgW="219192" imgH="219186" progId="Equation.3">
                  <p:embed/>
                </p:oleObj>
              </mc:Choice>
              <mc:Fallback>
                <p:oleObj name="公式" r:id="rId7" imgW="219192" imgH="219186" progId="Equation.3">
                  <p:embed/>
                  <p:pic>
                    <p:nvPicPr>
                      <p:cNvPr id="0" name="Object 1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80188" y="3090863"/>
                        <a:ext cx="306387"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84" name="Object 16"/>
          <p:cNvGraphicFramePr>
            <a:graphicFrameLocks/>
          </p:cNvGraphicFramePr>
          <p:nvPr/>
        </p:nvGraphicFramePr>
        <p:xfrm>
          <a:off x="6916738" y="3065463"/>
          <a:ext cx="392112" cy="315912"/>
        </p:xfrm>
        <a:graphic>
          <a:graphicData uri="http://schemas.openxmlformats.org/presentationml/2006/ole">
            <mc:AlternateContent xmlns:mc="http://schemas.openxmlformats.org/markup-compatibility/2006">
              <mc:Choice xmlns:v="urn:schemas-microsoft-com:vml" Requires="v">
                <p:oleObj spid="_x0000_s27725" name="公式" r:id="rId9" imgW="304763" imgH="228634" progId="Equation.3">
                  <p:embed/>
                </p:oleObj>
              </mc:Choice>
              <mc:Fallback>
                <p:oleObj name="公式" r:id="rId9" imgW="304763" imgH="228634" progId="Equation.3">
                  <p:embed/>
                  <p:pic>
                    <p:nvPicPr>
                      <p:cNvPr id="0" name="Object 1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16738" y="3065463"/>
                        <a:ext cx="392112"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2785" name="Group 17"/>
          <p:cNvGrpSpPr>
            <a:grpSpLocks/>
          </p:cNvGrpSpPr>
          <p:nvPr/>
        </p:nvGrpSpPr>
        <p:grpSpPr bwMode="auto">
          <a:xfrm>
            <a:off x="6867525" y="2071688"/>
            <a:ext cx="762000" cy="533400"/>
            <a:chOff x="4649" y="618"/>
            <a:chExt cx="480" cy="336"/>
          </a:xfrm>
        </p:grpSpPr>
        <p:sp>
          <p:nvSpPr>
            <p:cNvPr id="34854" name="AutoShape 18"/>
            <p:cNvSpPr>
              <a:spLocks noChangeArrowheads="1"/>
            </p:cNvSpPr>
            <p:nvPr/>
          </p:nvSpPr>
          <p:spPr bwMode="auto">
            <a:xfrm>
              <a:off x="4649" y="618"/>
              <a:ext cx="480" cy="336"/>
            </a:xfrm>
            <a:prstGeom prst="wedgeRectCallout">
              <a:avLst>
                <a:gd name="adj1" fmla="val -124620"/>
                <a:gd name="adj2" fmla="val 217292"/>
              </a:avLst>
            </a:prstGeom>
            <a:solidFill>
              <a:srgbClr val="00CC99">
                <a:alpha val="59999"/>
              </a:srgbClr>
            </a:solidFill>
            <a:ln w="9525">
              <a:solidFill>
                <a:srgbClr val="5F5F5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zh-CN" sz="2400" b="1">
                <a:latin typeface="Times New Roman" pitchFamily="18" charset="0"/>
              </a:endParaRPr>
            </a:p>
          </p:txBody>
        </p:sp>
        <p:graphicFrame>
          <p:nvGraphicFramePr>
            <p:cNvPr id="34855" name="Object 19"/>
            <p:cNvGraphicFramePr>
              <a:graphicFrameLocks/>
            </p:cNvGraphicFramePr>
            <p:nvPr/>
          </p:nvGraphicFramePr>
          <p:xfrm>
            <a:off x="4734" y="676"/>
            <a:ext cx="281" cy="199"/>
          </p:xfrm>
          <a:graphic>
            <a:graphicData uri="http://schemas.openxmlformats.org/presentationml/2006/ole">
              <mc:AlternateContent xmlns:mc="http://schemas.openxmlformats.org/markup-compatibility/2006">
                <mc:Choice xmlns:v="urn:schemas-microsoft-com:vml" Requires="v">
                  <p:oleObj spid="_x0000_s27726" name="公式" r:id="rId11" imgW="444114" imgH="317225" progId="Equation.3">
                    <p:embed/>
                  </p:oleObj>
                </mc:Choice>
                <mc:Fallback>
                  <p:oleObj name="公式" r:id="rId11" imgW="444114" imgH="317225" progId="Equation.3">
                    <p:embed/>
                    <p:pic>
                      <p:nvPicPr>
                        <p:cNvPr id="0" name="Object 19"/>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34" y="676"/>
                          <a:ext cx="281"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2788" name="Object 20"/>
          <p:cNvGraphicFramePr>
            <a:graphicFrameLocks/>
          </p:cNvGraphicFramePr>
          <p:nvPr/>
        </p:nvGraphicFramePr>
        <p:xfrm>
          <a:off x="7072313" y="3338513"/>
          <a:ext cx="230187" cy="315912"/>
        </p:xfrm>
        <a:graphic>
          <a:graphicData uri="http://schemas.openxmlformats.org/presentationml/2006/ole">
            <mc:AlternateContent xmlns:mc="http://schemas.openxmlformats.org/markup-compatibility/2006">
              <mc:Choice xmlns:v="urn:schemas-microsoft-com:vml" Requires="v">
                <p:oleObj spid="_x0000_s27727" name="公式" r:id="rId13" imgW="133351" imgH="228634" progId="Equation.3">
                  <p:embed/>
                </p:oleObj>
              </mc:Choice>
              <mc:Fallback>
                <p:oleObj name="公式" r:id="rId13" imgW="133351" imgH="228634" progId="Equation.3">
                  <p:embed/>
                  <p:pic>
                    <p:nvPicPr>
                      <p:cNvPr id="0" name="Object 20"/>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72313" y="3338513"/>
                        <a:ext cx="230187" cy="31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89" name="Text Box 21"/>
          <p:cNvSpPr txBox="1">
            <a:spLocks noChangeArrowheads="1"/>
          </p:cNvSpPr>
          <p:nvPr/>
        </p:nvSpPr>
        <p:spPr bwMode="auto">
          <a:xfrm>
            <a:off x="1004888" y="1458913"/>
            <a:ext cx="1485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a:solidFill>
                  <a:schemeClr val="bg1"/>
                </a:solidFill>
                <a:latin typeface="Times New Roman" pitchFamily="18" charset="0"/>
              </a:rPr>
              <a:t> </a:t>
            </a:r>
            <a:r>
              <a:rPr lang="zh-CN" altLang="en-US" sz="2400" b="1">
                <a:solidFill>
                  <a:schemeClr val="bg1"/>
                </a:solidFill>
                <a:latin typeface="Times New Roman" pitchFamily="18" charset="0"/>
              </a:rPr>
              <a:t>功的定义</a:t>
            </a:r>
          </a:p>
        </p:txBody>
      </p:sp>
      <p:graphicFrame>
        <p:nvGraphicFramePr>
          <p:cNvPr id="32790" name="Object 22"/>
          <p:cNvGraphicFramePr>
            <a:graphicFrameLocks/>
          </p:cNvGraphicFramePr>
          <p:nvPr/>
        </p:nvGraphicFramePr>
        <p:xfrm>
          <a:off x="906463" y="2073275"/>
          <a:ext cx="3211512" cy="381000"/>
        </p:xfrm>
        <a:graphic>
          <a:graphicData uri="http://schemas.openxmlformats.org/presentationml/2006/ole">
            <mc:AlternateContent xmlns:mc="http://schemas.openxmlformats.org/markup-compatibility/2006">
              <mc:Choice xmlns:v="urn:schemas-microsoft-com:vml" Requires="v">
                <p:oleObj spid="_x0000_s27728" name="公式" r:id="rId15" imgW="3105130" imgH="295307" progId="Equation.3">
                  <p:embed/>
                </p:oleObj>
              </mc:Choice>
              <mc:Fallback>
                <p:oleObj name="公式" r:id="rId15" imgW="3105130" imgH="295307" progId="Equation.3">
                  <p:embed/>
                  <p:pic>
                    <p:nvPicPr>
                      <p:cNvPr id="0" name="Object 22"/>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06463" y="2073275"/>
                        <a:ext cx="32115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91" name="Object 23"/>
          <p:cNvGraphicFramePr>
            <a:graphicFrameLocks/>
          </p:cNvGraphicFramePr>
          <p:nvPr/>
        </p:nvGraphicFramePr>
        <p:xfrm>
          <a:off x="1428750" y="2752725"/>
          <a:ext cx="1749425" cy="315913"/>
        </p:xfrm>
        <a:graphic>
          <a:graphicData uri="http://schemas.openxmlformats.org/presentationml/2006/ole">
            <mc:AlternateContent xmlns:mc="http://schemas.openxmlformats.org/markup-compatibility/2006">
              <mc:Choice xmlns:v="urn:schemas-microsoft-com:vml" Requires="v">
                <p:oleObj spid="_x0000_s27729" name="公式" r:id="rId17" imgW="1666885" imgH="228634" progId="Equation.3">
                  <p:embed/>
                </p:oleObj>
              </mc:Choice>
              <mc:Fallback>
                <p:oleObj name="公式" r:id="rId17" imgW="1666885" imgH="228634" progId="Equation.3">
                  <p:embed/>
                  <p:pic>
                    <p:nvPicPr>
                      <p:cNvPr id="0" name="Object 23"/>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28750" y="2752725"/>
                        <a:ext cx="1749425"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92" name="Object 24"/>
          <p:cNvGraphicFramePr>
            <a:graphicFrameLocks/>
          </p:cNvGraphicFramePr>
          <p:nvPr/>
        </p:nvGraphicFramePr>
        <p:xfrm>
          <a:off x="1403350" y="3284538"/>
          <a:ext cx="1181100" cy="433387"/>
        </p:xfrm>
        <a:graphic>
          <a:graphicData uri="http://schemas.openxmlformats.org/presentationml/2006/ole">
            <mc:AlternateContent xmlns:mc="http://schemas.openxmlformats.org/markup-compatibility/2006">
              <mc:Choice xmlns:v="urn:schemas-microsoft-com:vml" Requires="v">
                <p:oleObj spid="_x0000_s27730" name="公式" r:id="rId19" imgW="1095420" imgH="342816" progId="Equation.3">
                  <p:embed/>
                </p:oleObj>
              </mc:Choice>
              <mc:Fallback>
                <p:oleObj name="公式" r:id="rId19" imgW="1095420" imgH="342816" progId="Equation.3">
                  <p:embed/>
                  <p:pic>
                    <p:nvPicPr>
                      <p:cNvPr id="0" name="Object 24"/>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03350" y="3284538"/>
                        <a:ext cx="1181100"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93" name="Text Box 25"/>
          <p:cNvSpPr txBox="1">
            <a:spLocks noChangeArrowheads="1"/>
          </p:cNvSpPr>
          <p:nvPr/>
        </p:nvSpPr>
        <p:spPr bwMode="auto">
          <a:xfrm>
            <a:off x="755650" y="4411663"/>
            <a:ext cx="441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chemeClr val="bg1"/>
                </a:solidFill>
                <a:latin typeface="Times New Roman" pitchFamily="18" charset="0"/>
                <a:ea typeface="楷体_GB2312" pitchFamily="49" charset="-122"/>
              </a:rPr>
              <a:t>力矩作功的</a:t>
            </a:r>
            <a:r>
              <a:rPr lang="zh-CN" altLang="en-US" sz="2400" b="1">
                <a:solidFill>
                  <a:srgbClr val="66FFFF"/>
                </a:solidFill>
                <a:latin typeface="Times New Roman" pitchFamily="18" charset="0"/>
                <a:ea typeface="楷体_GB2312" pitchFamily="49" charset="-122"/>
              </a:rPr>
              <a:t>微分形式</a:t>
            </a:r>
          </a:p>
        </p:txBody>
      </p:sp>
      <p:sp>
        <p:nvSpPr>
          <p:cNvPr id="32794" name="Text Box 26"/>
          <p:cNvSpPr txBox="1">
            <a:spLocks noChangeArrowheads="1"/>
          </p:cNvSpPr>
          <p:nvPr/>
        </p:nvSpPr>
        <p:spPr bwMode="auto">
          <a:xfrm>
            <a:off x="1111250" y="4987925"/>
            <a:ext cx="2022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chemeClr val="bg1"/>
                </a:solidFill>
                <a:latin typeface="Times New Roman" pitchFamily="18" charset="0"/>
              </a:rPr>
              <a:t>对一有限过程</a:t>
            </a:r>
          </a:p>
        </p:txBody>
      </p:sp>
      <p:graphicFrame>
        <p:nvGraphicFramePr>
          <p:cNvPr id="32795" name="Object 27"/>
          <p:cNvGraphicFramePr>
            <a:graphicFrameLocks/>
          </p:cNvGraphicFramePr>
          <p:nvPr/>
        </p:nvGraphicFramePr>
        <p:xfrm>
          <a:off x="755650" y="5678488"/>
          <a:ext cx="1766888" cy="738187"/>
        </p:xfrm>
        <a:graphic>
          <a:graphicData uri="http://schemas.openxmlformats.org/presentationml/2006/ole">
            <mc:AlternateContent xmlns:mc="http://schemas.openxmlformats.org/markup-compatibility/2006">
              <mc:Choice xmlns:v="urn:schemas-microsoft-com:vml" Requires="v">
                <p:oleObj spid="_x0000_s27731" name="公式" r:id="rId21" imgW="1676333" imgH="647571" progId="Equation.3">
                  <p:embed/>
                </p:oleObj>
              </mc:Choice>
              <mc:Fallback>
                <p:oleObj name="公式" r:id="rId21" imgW="1676333" imgH="647571" progId="Equation.3">
                  <p:embed/>
                  <p:pic>
                    <p:nvPicPr>
                      <p:cNvPr id="0" name="Object 27"/>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55650" y="5678488"/>
                        <a:ext cx="1766888" cy="738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96" name="Text Box 28"/>
          <p:cNvSpPr txBox="1">
            <a:spLocks noChangeArrowheads="1"/>
          </p:cNvSpPr>
          <p:nvPr/>
        </p:nvSpPr>
        <p:spPr bwMode="auto">
          <a:xfrm>
            <a:off x="4140200" y="5695950"/>
            <a:ext cx="11699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000" b="1">
                <a:solidFill>
                  <a:schemeClr val="bg1"/>
                </a:solidFill>
                <a:latin typeface="Times New Roman" pitchFamily="18" charset="0"/>
                <a:ea typeface="楷体_GB2312" pitchFamily="49" charset="-122"/>
              </a:rPr>
              <a:t>若</a:t>
            </a:r>
            <a:r>
              <a:rPr lang="zh-CN" altLang="en-US" sz="2000" b="1">
                <a:solidFill>
                  <a:schemeClr val="bg1"/>
                </a:solidFill>
                <a:latin typeface="Times New Roman" pitchFamily="18" charset="0"/>
              </a:rPr>
              <a:t> </a:t>
            </a:r>
            <a:r>
              <a:rPr lang="en-US" altLang="zh-CN" sz="2000" b="1" i="1">
                <a:solidFill>
                  <a:srgbClr val="66FFFF"/>
                </a:solidFill>
                <a:latin typeface="Times New Roman" pitchFamily="18" charset="0"/>
              </a:rPr>
              <a:t>M = C</a:t>
            </a:r>
            <a:endParaRPr lang="en-US" altLang="zh-CN" sz="2000" b="1">
              <a:solidFill>
                <a:schemeClr val="bg1"/>
              </a:solidFill>
              <a:latin typeface="Times New Roman" pitchFamily="18" charset="0"/>
            </a:endParaRPr>
          </a:p>
        </p:txBody>
      </p:sp>
      <p:graphicFrame>
        <p:nvGraphicFramePr>
          <p:cNvPr id="32797" name="Object 29"/>
          <p:cNvGraphicFramePr>
            <a:graphicFrameLocks/>
          </p:cNvGraphicFramePr>
          <p:nvPr/>
        </p:nvGraphicFramePr>
        <p:xfrm>
          <a:off x="5789613" y="5889625"/>
          <a:ext cx="2166937" cy="419100"/>
        </p:xfrm>
        <a:graphic>
          <a:graphicData uri="http://schemas.openxmlformats.org/presentationml/2006/ole">
            <mc:AlternateContent xmlns:mc="http://schemas.openxmlformats.org/markup-compatibility/2006">
              <mc:Choice xmlns:v="urn:schemas-microsoft-com:vml" Requires="v">
                <p:oleObj spid="_x0000_s27732" name="Equation" r:id="rId23" imgW="2086103" imgH="323920" progId="Equation.3">
                  <p:embed/>
                </p:oleObj>
              </mc:Choice>
              <mc:Fallback>
                <p:oleObj name="Equation" r:id="rId23" imgW="2086103" imgH="323920" progId="Equation.3">
                  <p:embed/>
                  <p:pic>
                    <p:nvPicPr>
                      <p:cNvPr id="0" name="Object 29"/>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789613" y="5889625"/>
                        <a:ext cx="2166937"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98" name="AutoShape 30"/>
          <p:cNvSpPr>
            <a:spLocks noChangeArrowheads="1"/>
          </p:cNvSpPr>
          <p:nvPr/>
        </p:nvSpPr>
        <p:spPr bwMode="auto">
          <a:xfrm>
            <a:off x="4140200" y="6015038"/>
            <a:ext cx="1471613" cy="160337"/>
          </a:xfrm>
          <a:prstGeom prst="rightArrow">
            <a:avLst>
              <a:gd name="adj1" fmla="val 50000"/>
              <a:gd name="adj2" fmla="val 229456"/>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9" name="Text Box 31"/>
          <p:cNvSpPr txBox="1">
            <a:spLocks noChangeArrowheads="1"/>
          </p:cNvSpPr>
          <p:nvPr/>
        </p:nvSpPr>
        <p:spPr bwMode="auto">
          <a:xfrm>
            <a:off x="2455863" y="5797550"/>
            <a:ext cx="21161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000" b="1">
                <a:solidFill>
                  <a:srgbClr val="66FFFF"/>
                </a:solidFill>
                <a:latin typeface="楷体_GB2312" pitchFamily="49" charset="-122"/>
                <a:ea typeface="楷体_GB2312" pitchFamily="49" charset="-122"/>
              </a:rPr>
              <a:t>( </a:t>
            </a:r>
            <a:r>
              <a:rPr lang="zh-CN" altLang="en-US" sz="2000" b="1">
                <a:solidFill>
                  <a:srgbClr val="66FFFF"/>
                </a:solidFill>
                <a:latin typeface="楷体_GB2312" pitchFamily="49" charset="-122"/>
                <a:ea typeface="楷体_GB2312" pitchFamily="49" charset="-122"/>
              </a:rPr>
              <a:t>积分形式 ）</a:t>
            </a:r>
          </a:p>
        </p:txBody>
      </p:sp>
      <p:graphicFrame>
        <p:nvGraphicFramePr>
          <p:cNvPr id="32800" name="Object 32"/>
          <p:cNvGraphicFramePr>
            <a:graphicFrameLocks/>
          </p:cNvGraphicFramePr>
          <p:nvPr/>
        </p:nvGraphicFramePr>
        <p:xfrm>
          <a:off x="1403350" y="3905250"/>
          <a:ext cx="1025525" cy="315913"/>
        </p:xfrm>
        <a:graphic>
          <a:graphicData uri="http://schemas.openxmlformats.org/presentationml/2006/ole">
            <mc:AlternateContent xmlns:mc="http://schemas.openxmlformats.org/markup-compatibility/2006">
              <mc:Choice xmlns:v="urn:schemas-microsoft-com:vml" Requires="v">
                <p:oleObj spid="_x0000_s27733" name="公式" r:id="rId25" imgW="933456" imgH="228634" progId="Equation.3">
                  <p:embed/>
                </p:oleObj>
              </mc:Choice>
              <mc:Fallback>
                <p:oleObj name="公式" r:id="rId25" imgW="933456" imgH="228634" progId="Equation.3">
                  <p:embed/>
                  <p:pic>
                    <p:nvPicPr>
                      <p:cNvPr id="0" name="Object 32"/>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403350" y="3905250"/>
                        <a:ext cx="1025525"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801" name="Text Box 33"/>
          <p:cNvSpPr txBox="1">
            <a:spLocks noChangeArrowheads="1"/>
          </p:cNvSpPr>
          <p:nvPr/>
        </p:nvSpPr>
        <p:spPr bwMode="auto">
          <a:xfrm>
            <a:off x="717550" y="908050"/>
            <a:ext cx="5976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chemeClr val="bg1"/>
                </a:solidFill>
                <a:latin typeface="Times New Roman" pitchFamily="18" charset="0"/>
              </a:rPr>
              <a:t>力的累积过程</a:t>
            </a:r>
            <a:r>
              <a:rPr lang="en-US" altLang="zh-CN" sz="2400" b="1">
                <a:solidFill>
                  <a:schemeClr val="bg1"/>
                </a:solidFill>
                <a:latin typeface="Times New Roman" pitchFamily="18" charset="0"/>
              </a:rPr>
              <a:t>——</a:t>
            </a:r>
            <a:r>
              <a:rPr lang="zh-CN" altLang="en-US" sz="2400" b="1">
                <a:solidFill>
                  <a:schemeClr val="bg1"/>
                </a:solidFill>
                <a:latin typeface="Times New Roman" pitchFamily="18" charset="0"/>
              </a:rPr>
              <a:t>力矩的空间累积效应</a:t>
            </a:r>
          </a:p>
        </p:txBody>
      </p:sp>
      <p:sp>
        <p:nvSpPr>
          <p:cNvPr id="32802" name="Rectangle 34"/>
          <p:cNvSpPr>
            <a:spLocks noChangeArrowheads="1"/>
          </p:cNvSpPr>
          <p:nvPr/>
        </p:nvSpPr>
        <p:spPr bwMode="auto">
          <a:xfrm>
            <a:off x="738188" y="1330325"/>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4000" b="1">
                <a:solidFill>
                  <a:srgbClr val="FFFF66"/>
                </a:solidFill>
                <a:latin typeface="Times New Roman" pitchFamily="18" charset="0"/>
              </a:rPr>
              <a:t>•</a:t>
            </a:r>
          </a:p>
        </p:txBody>
      </p:sp>
      <p:sp>
        <p:nvSpPr>
          <p:cNvPr id="32803" name="Rectangle 35"/>
          <p:cNvSpPr>
            <a:spLocks noChangeArrowheads="1"/>
          </p:cNvSpPr>
          <p:nvPr/>
        </p:nvSpPr>
        <p:spPr bwMode="auto">
          <a:xfrm>
            <a:off x="755650" y="4868863"/>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4000" b="1">
                <a:solidFill>
                  <a:srgbClr val="FFFF66"/>
                </a:solidFill>
                <a:latin typeface="Times New Roman" pitchFamily="18" charset="0"/>
              </a:rPr>
              <a:t>•</a:t>
            </a:r>
          </a:p>
        </p:txBody>
      </p:sp>
      <p:sp>
        <p:nvSpPr>
          <p:cNvPr id="32804" name="Text Box 36"/>
          <p:cNvSpPr txBox="1">
            <a:spLocks noChangeArrowheads="1"/>
          </p:cNvSpPr>
          <p:nvPr/>
        </p:nvSpPr>
        <p:spPr bwMode="auto">
          <a:xfrm>
            <a:off x="6770688" y="3352800"/>
            <a:ext cx="5048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4000" b="1" i="1">
                <a:solidFill>
                  <a:schemeClr val="tx2"/>
                </a:solidFill>
                <a:latin typeface="Times New Roman" pitchFamily="18" charset="0"/>
              </a:rPr>
              <a:t>.</a:t>
            </a:r>
          </a:p>
          <a:p>
            <a:pPr algn="just"/>
            <a:r>
              <a:rPr lang="en-US" altLang="zh-CN" sz="2800" i="1">
                <a:solidFill>
                  <a:srgbClr val="FFFF00"/>
                </a:solidFill>
                <a:latin typeface="Times New Roman" pitchFamily="18" charset="0"/>
              </a:rPr>
              <a:t>P</a:t>
            </a:r>
          </a:p>
          <a:p>
            <a:pPr algn="just"/>
            <a:endParaRPr lang="en-US" altLang="zh-CN" sz="2800" b="1" i="1">
              <a:solidFill>
                <a:schemeClr val="accent2"/>
              </a:solidFill>
              <a:latin typeface="Times New Roman" pitchFamily="18" charset="0"/>
            </a:endParaRPr>
          </a:p>
        </p:txBody>
      </p:sp>
      <p:sp>
        <p:nvSpPr>
          <p:cNvPr id="32805" name="Arc 37"/>
          <p:cNvSpPr>
            <a:spLocks/>
          </p:cNvSpPr>
          <p:nvPr/>
        </p:nvSpPr>
        <p:spPr bwMode="auto">
          <a:xfrm flipH="1">
            <a:off x="5580063" y="2420938"/>
            <a:ext cx="479425" cy="215900"/>
          </a:xfrm>
          <a:custGeom>
            <a:avLst/>
            <a:gdLst>
              <a:gd name="T0" fmla="*/ 2147483647 w 43200"/>
              <a:gd name="T1" fmla="*/ 0 h 38804"/>
              <a:gd name="T2" fmla="*/ 2147483647 w 43200"/>
              <a:gd name="T3" fmla="*/ 1395066676 h 38804"/>
              <a:gd name="T4" fmla="*/ 2147483647 w 43200"/>
              <a:gd name="T5" fmla="*/ 2147483647 h 38804"/>
              <a:gd name="T6" fmla="*/ 0 60000 65536"/>
              <a:gd name="T7" fmla="*/ 0 60000 65536"/>
              <a:gd name="T8" fmla="*/ 0 60000 65536"/>
            </a:gdLst>
            <a:ahLst/>
            <a:cxnLst>
              <a:cxn ang="T6">
                <a:pos x="T0" y="T1"/>
              </a:cxn>
              <a:cxn ang="T7">
                <a:pos x="T2" y="T3"/>
              </a:cxn>
              <a:cxn ang="T8">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lnTo>
                  <a:pt x="34660" y="0"/>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6" name="Arc 38"/>
          <p:cNvSpPr>
            <a:spLocks/>
          </p:cNvSpPr>
          <p:nvPr/>
        </p:nvSpPr>
        <p:spPr bwMode="auto">
          <a:xfrm flipH="1">
            <a:off x="5800725" y="3365500"/>
            <a:ext cx="463550" cy="200025"/>
          </a:xfrm>
          <a:custGeom>
            <a:avLst/>
            <a:gdLst>
              <a:gd name="T0" fmla="*/ 2147483647 w 21433"/>
              <a:gd name="T1" fmla="*/ 2147483647 h 10000"/>
              <a:gd name="T2" fmla="*/ 0 w 21433"/>
              <a:gd name="T3" fmla="*/ 2147483647 h 10000"/>
              <a:gd name="T4" fmla="*/ 2147483647 w 21433"/>
              <a:gd name="T5" fmla="*/ 0 h 10000"/>
              <a:gd name="T6" fmla="*/ 0 60000 65536"/>
              <a:gd name="T7" fmla="*/ 0 60000 65536"/>
              <a:gd name="T8" fmla="*/ 0 60000 65536"/>
            </a:gdLst>
            <a:ahLst/>
            <a:cxnLst>
              <a:cxn ang="T6">
                <a:pos x="T0" y="T1"/>
              </a:cxn>
              <a:cxn ang="T7">
                <a:pos x="T2" y="T3"/>
              </a:cxn>
              <a:cxn ang="T8">
                <a:pos x="T4" y="T5"/>
              </a:cxn>
            </a:cxnLst>
            <a:rect l="0" t="0" r="r" b="b"/>
            <a:pathLst>
              <a:path w="21433" h="10000" fill="none" extrusionOk="0">
                <a:moveTo>
                  <a:pt x="2287" y="9999"/>
                </a:moveTo>
                <a:cubicBezTo>
                  <a:pt x="1094" y="7717"/>
                  <a:pt x="320" y="5239"/>
                  <a:pt x="0" y="2683"/>
                </a:cubicBezTo>
              </a:path>
              <a:path w="21433" h="10000" stroke="0" extrusionOk="0">
                <a:moveTo>
                  <a:pt x="2287" y="9999"/>
                </a:moveTo>
                <a:cubicBezTo>
                  <a:pt x="1094" y="7717"/>
                  <a:pt x="320" y="5239"/>
                  <a:pt x="0" y="2683"/>
                </a:cubicBezTo>
                <a:lnTo>
                  <a:pt x="21433" y="0"/>
                </a:lnTo>
                <a:lnTo>
                  <a:pt x="2287" y="9999"/>
                </a:lnTo>
                <a:close/>
              </a:path>
            </a:pathLst>
          </a:custGeom>
          <a:noFill/>
          <a:ln w="28575">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7" name="Arc 39"/>
          <p:cNvSpPr>
            <a:spLocks/>
          </p:cNvSpPr>
          <p:nvPr/>
        </p:nvSpPr>
        <p:spPr bwMode="auto">
          <a:xfrm rot="16634215" flipH="1">
            <a:off x="6765926" y="3765550"/>
            <a:ext cx="463550" cy="200025"/>
          </a:xfrm>
          <a:custGeom>
            <a:avLst/>
            <a:gdLst>
              <a:gd name="T0" fmla="*/ 2147483647 w 21433"/>
              <a:gd name="T1" fmla="*/ 2147483647 h 10000"/>
              <a:gd name="T2" fmla="*/ 0 w 21433"/>
              <a:gd name="T3" fmla="*/ 2147483647 h 10000"/>
              <a:gd name="T4" fmla="*/ 2147483647 w 21433"/>
              <a:gd name="T5" fmla="*/ 0 h 10000"/>
              <a:gd name="T6" fmla="*/ 0 60000 65536"/>
              <a:gd name="T7" fmla="*/ 0 60000 65536"/>
              <a:gd name="T8" fmla="*/ 0 60000 65536"/>
            </a:gdLst>
            <a:ahLst/>
            <a:cxnLst>
              <a:cxn ang="T6">
                <a:pos x="T0" y="T1"/>
              </a:cxn>
              <a:cxn ang="T7">
                <a:pos x="T2" y="T3"/>
              </a:cxn>
              <a:cxn ang="T8">
                <a:pos x="T4" y="T5"/>
              </a:cxn>
            </a:cxnLst>
            <a:rect l="0" t="0" r="r" b="b"/>
            <a:pathLst>
              <a:path w="21433" h="10000" fill="none" extrusionOk="0">
                <a:moveTo>
                  <a:pt x="2287" y="9999"/>
                </a:moveTo>
                <a:cubicBezTo>
                  <a:pt x="1094" y="7717"/>
                  <a:pt x="320" y="5239"/>
                  <a:pt x="0" y="2683"/>
                </a:cubicBezTo>
              </a:path>
              <a:path w="21433" h="10000" stroke="0" extrusionOk="0">
                <a:moveTo>
                  <a:pt x="2287" y="9999"/>
                </a:moveTo>
                <a:cubicBezTo>
                  <a:pt x="1094" y="7717"/>
                  <a:pt x="320" y="5239"/>
                  <a:pt x="0" y="2683"/>
                </a:cubicBezTo>
                <a:lnTo>
                  <a:pt x="21433" y="0"/>
                </a:lnTo>
                <a:lnTo>
                  <a:pt x="2287" y="9999"/>
                </a:lnTo>
                <a:close/>
              </a:path>
            </a:pathLst>
          </a:custGeom>
          <a:noFill/>
          <a:ln w="28575">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2770"/>
                                        </p:tgtEl>
                                        <p:attrNameLst>
                                          <p:attrName>style.visibility</p:attrName>
                                        </p:attrNameLst>
                                      </p:cBhvr>
                                      <p:to>
                                        <p:strVal val="visible"/>
                                      </p:to>
                                    </p:set>
                                    <p:anim calcmode="lin" valueType="num">
                                      <p:cBhvr>
                                        <p:cTn id="7" dur="500" fill="hold"/>
                                        <p:tgtEl>
                                          <p:spTgt spid="32770"/>
                                        </p:tgtEl>
                                        <p:attrNameLst>
                                          <p:attrName>ppt_w</p:attrName>
                                        </p:attrNameLst>
                                      </p:cBhvr>
                                      <p:tavLst>
                                        <p:tav tm="0">
                                          <p:val>
                                            <p:fltVal val="0"/>
                                          </p:val>
                                        </p:tav>
                                        <p:tav tm="100000">
                                          <p:val>
                                            <p:strVal val="#ppt_w"/>
                                          </p:val>
                                        </p:tav>
                                      </p:tavLst>
                                    </p:anim>
                                    <p:anim calcmode="lin" valueType="num">
                                      <p:cBhvr>
                                        <p:cTn id="8" dur="500" fill="hold"/>
                                        <p:tgtEl>
                                          <p:spTgt spid="32770"/>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2772"/>
                                        </p:tgtEl>
                                        <p:attrNameLst>
                                          <p:attrName>style.visibility</p:attrName>
                                        </p:attrNameLst>
                                      </p:cBhvr>
                                      <p:to>
                                        <p:strVal val="visible"/>
                                      </p:to>
                                    </p:set>
                                    <p:animEffect transition="in" filter="wipe(left)">
                                      <p:cBhvr>
                                        <p:cTn id="13" dur="500"/>
                                        <p:tgtEl>
                                          <p:spTgt spid="3277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2773"/>
                                        </p:tgtEl>
                                        <p:attrNameLst>
                                          <p:attrName>style.visibility</p:attrName>
                                        </p:attrNameLst>
                                      </p:cBhvr>
                                      <p:to>
                                        <p:strVal val="visible"/>
                                      </p:to>
                                    </p:set>
                                    <p:animEffect transition="in" filter="wipe(left)">
                                      <p:cBhvr>
                                        <p:cTn id="18" dur="500"/>
                                        <p:tgtEl>
                                          <p:spTgt spid="3277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2776"/>
                                        </p:tgtEl>
                                        <p:attrNameLst>
                                          <p:attrName>style.visibility</p:attrName>
                                        </p:attrNameLst>
                                      </p:cBhvr>
                                      <p:to>
                                        <p:strVal val="visible"/>
                                      </p:to>
                                    </p:set>
                                    <p:animEffect transition="in" filter="wipe(left)">
                                      <p:cBhvr>
                                        <p:cTn id="23" dur="500"/>
                                        <p:tgtEl>
                                          <p:spTgt spid="3277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2804"/>
                                        </p:tgtEl>
                                        <p:attrNameLst>
                                          <p:attrName>style.visibility</p:attrName>
                                        </p:attrNameLst>
                                      </p:cBhvr>
                                      <p:to>
                                        <p:strVal val="visible"/>
                                      </p:to>
                                    </p:set>
                                    <p:animEffect transition="in" filter="wipe(left)">
                                      <p:cBhvr>
                                        <p:cTn id="28" dur="500"/>
                                        <p:tgtEl>
                                          <p:spTgt spid="3280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2779"/>
                                        </p:tgtEl>
                                        <p:attrNameLst>
                                          <p:attrName>style.visibility</p:attrName>
                                        </p:attrNameLst>
                                      </p:cBhvr>
                                      <p:to>
                                        <p:strVal val="visible"/>
                                      </p:to>
                                    </p:set>
                                    <p:animEffect transition="in" filter="wipe(left)">
                                      <p:cBhvr>
                                        <p:cTn id="33" dur="500"/>
                                        <p:tgtEl>
                                          <p:spTgt spid="3277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32778"/>
                                        </p:tgtEl>
                                        <p:attrNameLst>
                                          <p:attrName>style.visibility</p:attrName>
                                        </p:attrNameLst>
                                      </p:cBhvr>
                                      <p:to>
                                        <p:strVal val="visible"/>
                                      </p:to>
                                    </p:set>
                                    <p:animEffect transition="in" filter="wipe(left)">
                                      <p:cBhvr>
                                        <p:cTn id="38" dur="500"/>
                                        <p:tgtEl>
                                          <p:spTgt spid="3277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2775"/>
                                        </p:tgtEl>
                                        <p:attrNameLst>
                                          <p:attrName>style.visibility</p:attrName>
                                        </p:attrNameLst>
                                      </p:cBhvr>
                                      <p:to>
                                        <p:strVal val="visible"/>
                                      </p:to>
                                    </p:set>
                                    <p:animEffect transition="in" filter="wipe(left)">
                                      <p:cBhvr>
                                        <p:cTn id="43" dur="500"/>
                                        <p:tgtEl>
                                          <p:spTgt spid="3277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32777"/>
                                        </p:tgtEl>
                                        <p:attrNameLst>
                                          <p:attrName>style.visibility</p:attrName>
                                        </p:attrNameLst>
                                      </p:cBhvr>
                                      <p:to>
                                        <p:strVal val="visible"/>
                                      </p:to>
                                    </p:set>
                                    <p:animEffect transition="in" filter="wipe(left)">
                                      <p:cBhvr>
                                        <p:cTn id="48" dur="500"/>
                                        <p:tgtEl>
                                          <p:spTgt spid="3277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2780"/>
                                        </p:tgtEl>
                                        <p:attrNameLst>
                                          <p:attrName>style.visibility</p:attrName>
                                        </p:attrNameLst>
                                      </p:cBhvr>
                                      <p:to>
                                        <p:strVal val="visible"/>
                                      </p:to>
                                    </p:set>
                                    <p:animEffect transition="in" filter="wipe(left)">
                                      <p:cBhvr>
                                        <p:cTn id="53" dur="500"/>
                                        <p:tgtEl>
                                          <p:spTgt spid="3278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32805"/>
                                        </p:tgtEl>
                                        <p:attrNameLst>
                                          <p:attrName>style.visibility</p:attrName>
                                        </p:attrNameLst>
                                      </p:cBhvr>
                                      <p:to>
                                        <p:strVal val="visible"/>
                                      </p:to>
                                    </p:set>
                                    <p:animEffect transition="in" filter="wipe(down)">
                                      <p:cBhvr>
                                        <p:cTn id="58" dur="500"/>
                                        <p:tgtEl>
                                          <p:spTgt spid="3280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32774"/>
                                        </p:tgtEl>
                                        <p:attrNameLst>
                                          <p:attrName>style.visibility</p:attrName>
                                        </p:attrNameLst>
                                      </p:cBhvr>
                                      <p:to>
                                        <p:strVal val="visible"/>
                                      </p:to>
                                    </p:set>
                                    <p:animEffect transition="in" filter="wipe(left)">
                                      <p:cBhvr>
                                        <p:cTn id="63" dur="500"/>
                                        <p:tgtEl>
                                          <p:spTgt spid="3277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32781"/>
                                        </p:tgtEl>
                                        <p:attrNameLst>
                                          <p:attrName>style.visibility</p:attrName>
                                        </p:attrNameLst>
                                      </p:cBhvr>
                                      <p:to>
                                        <p:strVal val="visible"/>
                                      </p:to>
                                    </p:set>
                                    <p:animEffect transition="in" filter="wipe(left)">
                                      <p:cBhvr>
                                        <p:cTn id="68" dur="500"/>
                                        <p:tgtEl>
                                          <p:spTgt spid="3278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32783"/>
                                        </p:tgtEl>
                                        <p:attrNameLst>
                                          <p:attrName>style.visibility</p:attrName>
                                        </p:attrNameLst>
                                      </p:cBhvr>
                                      <p:to>
                                        <p:strVal val="visible"/>
                                      </p:to>
                                    </p:set>
                                    <p:animEffect transition="in" filter="wipe(left)">
                                      <p:cBhvr>
                                        <p:cTn id="73" dur="500"/>
                                        <p:tgtEl>
                                          <p:spTgt spid="32783"/>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32782"/>
                                        </p:tgtEl>
                                        <p:attrNameLst>
                                          <p:attrName>style.visibility</p:attrName>
                                        </p:attrNameLst>
                                      </p:cBhvr>
                                      <p:to>
                                        <p:strVal val="visible"/>
                                      </p:to>
                                    </p:set>
                                    <p:animEffect transition="in" filter="wipe(left)">
                                      <p:cBhvr>
                                        <p:cTn id="78" dur="500"/>
                                        <p:tgtEl>
                                          <p:spTgt spid="3278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32784"/>
                                        </p:tgtEl>
                                        <p:attrNameLst>
                                          <p:attrName>style.visibility</p:attrName>
                                        </p:attrNameLst>
                                      </p:cBhvr>
                                      <p:to>
                                        <p:strVal val="visible"/>
                                      </p:to>
                                    </p:set>
                                    <p:animEffect transition="in" filter="wipe(left)">
                                      <p:cBhvr>
                                        <p:cTn id="83" dur="500"/>
                                        <p:tgtEl>
                                          <p:spTgt spid="32784"/>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4" fill="hold" grpId="0" nodeType="clickEffect">
                                  <p:stCondLst>
                                    <p:cond delay="0"/>
                                  </p:stCondLst>
                                  <p:childTnLst>
                                    <p:set>
                                      <p:cBhvr>
                                        <p:cTn id="87" dur="1" fill="hold">
                                          <p:stCondLst>
                                            <p:cond delay="0"/>
                                          </p:stCondLst>
                                        </p:cTn>
                                        <p:tgtEl>
                                          <p:spTgt spid="32807"/>
                                        </p:tgtEl>
                                        <p:attrNameLst>
                                          <p:attrName>style.visibility</p:attrName>
                                        </p:attrNameLst>
                                      </p:cBhvr>
                                      <p:to>
                                        <p:strVal val="visible"/>
                                      </p:to>
                                    </p:set>
                                    <p:animEffect transition="in" filter="wipe(down)">
                                      <p:cBhvr>
                                        <p:cTn id="88" dur="500"/>
                                        <p:tgtEl>
                                          <p:spTgt spid="32807"/>
                                        </p:tgtEl>
                                      </p:cBhvr>
                                    </p:animEffect>
                                  </p:childTnLst>
                                </p:cTn>
                              </p:par>
                            </p:childTnLst>
                          </p:cTn>
                        </p:par>
                        <p:par>
                          <p:cTn id="89" fill="hold" nodeType="afterGroup">
                            <p:stCondLst>
                              <p:cond delay="500"/>
                            </p:stCondLst>
                            <p:childTnLst>
                              <p:par>
                                <p:cTn id="90" presetID="22" presetClass="entr" presetSubtype="8" fill="hold" nodeType="afterEffect">
                                  <p:stCondLst>
                                    <p:cond delay="0"/>
                                  </p:stCondLst>
                                  <p:childTnLst>
                                    <p:set>
                                      <p:cBhvr>
                                        <p:cTn id="91" dur="1" fill="hold">
                                          <p:stCondLst>
                                            <p:cond delay="0"/>
                                          </p:stCondLst>
                                        </p:cTn>
                                        <p:tgtEl>
                                          <p:spTgt spid="32788"/>
                                        </p:tgtEl>
                                        <p:attrNameLst>
                                          <p:attrName>style.visibility</p:attrName>
                                        </p:attrNameLst>
                                      </p:cBhvr>
                                      <p:to>
                                        <p:strVal val="visible"/>
                                      </p:to>
                                    </p:set>
                                    <p:animEffect transition="in" filter="wipe(left)">
                                      <p:cBhvr>
                                        <p:cTn id="92" dur="500"/>
                                        <p:tgtEl>
                                          <p:spTgt spid="32788"/>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32806"/>
                                        </p:tgtEl>
                                        <p:attrNameLst>
                                          <p:attrName>style.visibility</p:attrName>
                                        </p:attrNameLst>
                                      </p:cBhvr>
                                      <p:to>
                                        <p:strVal val="visible"/>
                                      </p:to>
                                    </p:set>
                                    <p:animEffect transition="in" filter="wipe(down)">
                                      <p:cBhvr>
                                        <p:cTn id="97" dur="500"/>
                                        <p:tgtEl>
                                          <p:spTgt spid="32806"/>
                                        </p:tgtEl>
                                      </p:cBhvr>
                                    </p:animEffect>
                                  </p:childTnLst>
                                </p:cTn>
                              </p:par>
                            </p:childTnLst>
                          </p:cTn>
                        </p:par>
                        <p:par>
                          <p:cTn id="98" fill="hold" nodeType="afterGroup">
                            <p:stCondLst>
                              <p:cond delay="500"/>
                            </p:stCondLst>
                            <p:childTnLst>
                              <p:par>
                                <p:cTn id="99" presetID="22" presetClass="entr" presetSubtype="4" fill="hold" nodeType="afterEffect">
                                  <p:stCondLst>
                                    <p:cond delay="0"/>
                                  </p:stCondLst>
                                  <p:childTnLst>
                                    <p:set>
                                      <p:cBhvr>
                                        <p:cTn id="100" dur="1" fill="hold">
                                          <p:stCondLst>
                                            <p:cond delay="0"/>
                                          </p:stCondLst>
                                        </p:cTn>
                                        <p:tgtEl>
                                          <p:spTgt spid="32785"/>
                                        </p:tgtEl>
                                        <p:attrNameLst>
                                          <p:attrName>style.visibility</p:attrName>
                                        </p:attrNameLst>
                                      </p:cBhvr>
                                      <p:to>
                                        <p:strVal val="visible"/>
                                      </p:to>
                                    </p:set>
                                    <p:animEffect transition="in" filter="wipe(down)">
                                      <p:cBhvr>
                                        <p:cTn id="101" dur="500"/>
                                        <p:tgtEl>
                                          <p:spTgt spid="32785"/>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32802"/>
                                        </p:tgtEl>
                                        <p:attrNameLst>
                                          <p:attrName>style.visibility</p:attrName>
                                        </p:attrNameLst>
                                      </p:cBhvr>
                                      <p:to>
                                        <p:strVal val="visible"/>
                                      </p:to>
                                    </p:set>
                                    <p:animEffect transition="in" filter="wipe(left)">
                                      <p:cBhvr>
                                        <p:cTn id="106" dur="500"/>
                                        <p:tgtEl>
                                          <p:spTgt spid="32802"/>
                                        </p:tgtEl>
                                      </p:cBhvr>
                                    </p:animEffect>
                                  </p:childTnLst>
                                </p:cTn>
                              </p:par>
                            </p:childTnLst>
                          </p:cTn>
                        </p:par>
                        <p:par>
                          <p:cTn id="107" fill="hold" nodeType="afterGroup">
                            <p:stCondLst>
                              <p:cond delay="500"/>
                            </p:stCondLst>
                            <p:childTnLst>
                              <p:par>
                                <p:cTn id="108" presetID="22" presetClass="entr" presetSubtype="8" fill="hold" grpId="0" nodeType="afterEffect">
                                  <p:stCondLst>
                                    <p:cond delay="0"/>
                                  </p:stCondLst>
                                  <p:childTnLst>
                                    <p:set>
                                      <p:cBhvr>
                                        <p:cTn id="109" dur="1" fill="hold">
                                          <p:stCondLst>
                                            <p:cond delay="0"/>
                                          </p:stCondLst>
                                        </p:cTn>
                                        <p:tgtEl>
                                          <p:spTgt spid="32789"/>
                                        </p:tgtEl>
                                        <p:attrNameLst>
                                          <p:attrName>style.visibility</p:attrName>
                                        </p:attrNameLst>
                                      </p:cBhvr>
                                      <p:to>
                                        <p:strVal val="visible"/>
                                      </p:to>
                                    </p:set>
                                    <p:animEffect transition="in" filter="wipe(left)">
                                      <p:cBhvr>
                                        <p:cTn id="110" dur="500"/>
                                        <p:tgtEl>
                                          <p:spTgt spid="32789"/>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32790"/>
                                        </p:tgtEl>
                                        <p:attrNameLst>
                                          <p:attrName>style.visibility</p:attrName>
                                        </p:attrNameLst>
                                      </p:cBhvr>
                                      <p:to>
                                        <p:strVal val="visible"/>
                                      </p:to>
                                    </p:set>
                                    <p:animEffect transition="in" filter="wipe(left)">
                                      <p:cBhvr>
                                        <p:cTn id="115" dur="500"/>
                                        <p:tgtEl>
                                          <p:spTgt spid="32790"/>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32791"/>
                                        </p:tgtEl>
                                        <p:attrNameLst>
                                          <p:attrName>style.visibility</p:attrName>
                                        </p:attrNameLst>
                                      </p:cBhvr>
                                      <p:to>
                                        <p:strVal val="visible"/>
                                      </p:to>
                                    </p:set>
                                    <p:animEffect transition="in" filter="wipe(left)">
                                      <p:cBhvr>
                                        <p:cTn id="120" dur="500"/>
                                        <p:tgtEl>
                                          <p:spTgt spid="32791"/>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32792"/>
                                        </p:tgtEl>
                                        <p:attrNameLst>
                                          <p:attrName>style.visibility</p:attrName>
                                        </p:attrNameLst>
                                      </p:cBhvr>
                                      <p:to>
                                        <p:strVal val="visible"/>
                                      </p:to>
                                    </p:set>
                                    <p:animEffect transition="in" filter="wipe(left)">
                                      <p:cBhvr>
                                        <p:cTn id="125" dur="500"/>
                                        <p:tgtEl>
                                          <p:spTgt spid="32792"/>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32800"/>
                                        </p:tgtEl>
                                        <p:attrNameLst>
                                          <p:attrName>style.visibility</p:attrName>
                                        </p:attrNameLst>
                                      </p:cBhvr>
                                      <p:to>
                                        <p:strVal val="visible"/>
                                      </p:to>
                                    </p:set>
                                    <p:animEffect transition="in" filter="wipe(left)">
                                      <p:cBhvr>
                                        <p:cTn id="130" dur="500"/>
                                        <p:tgtEl>
                                          <p:spTgt spid="32800"/>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32793"/>
                                        </p:tgtEl>
                                        <p:attrNameLst>
                                          <p:attrName>style.visibility</p:attrName>
                                        </p:attrNameLst>
                                      </p:cBhvr>
                                      <p:to>
                                        <p:strVal val="visible"/>
                                      </p:to>
                                    </p:set>
                                    <p:animEffect transition="in" filter="wipe(left)">
                                      <p:cBhvr>
                                        <p:cTn id="135" dur="500"/>
                                        <p:tgtEl>
                                          <p:spTgt spid="32793"/>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32803"/>
                                        </p:tgtEl>
                                        <p:attrNameLst>
                                          <p:attrName>style.visibility</p:attrName>
                                        </p:attrNameLst>
                                      </p:cBhvr>
                                      <p:to>
                                        <p:strVal val="visible"/>
                                      </p:to>
                                    </p:set>
                                    <p:animEffect transition="in" filter="wipe(left)">
                                      <p:cBhvr>
                                        <p:cTn id="140" dur="500"/>
                                        <p:tgtEl>
                                          <p:spTgt spid="32803"/>
                                        </p:tgtEl>
                                      </p:cBhvr>
                                    </p:animEffect>
                                  </p:childTnLst>
                                </p:cTn>
                              </p:par>
                            </p:childTnLst>
                          </p:cTn>
                        </p:par>
                        <p:par>
                          <p:cTn id="141" fill="hold" nodeType="afterGroup">
                            <p:stCondLst>
                              <p:cond delay="500"/>
                            </p:stCondLst>
                            <p:childTnLst>
                              <p:par>
                                <p:cTn id="142" presetID="22" presetClass="entr" presetSubtype="8" fill="hold" grpId="0" nodeType="afterEffect">
                                  <p:stCondLst>
                                    <p:cond delay="0"/>
                                  </p:stCondLst>
                                  <p:childTnLst>
                                    <p:set>
                                      <p:cBhvr>
                                        <p:cTn id="143" dur="1" fill="hold">
                                          <p:stCondLst>
                                            <p:cond delay="0"/>
                                          </p:stCondLst>
                                        </p:cTn>
                                        <p:tgtEl>
                                          <p:spTgt spid="32794"/>
                                        </p:tgtEl>
                                        <p:attrNameLst>
                                          <p:attrName>style.visibility</p:attrName>
                                        </p:attrNameLst>
                                      </p:cBhvr>
                                      <p:to>
                                        <p:strVal val="visible"/>
                                      </p:to>
                                    </p:set>
                                    <p:animEffect transition="in" filter="wipe(left)">
                                      <p:cBhvr>
                                        <p:cTn id="144" dur="500"/>
                                        <p:tgtEl>
                                          <p:spTgt spid="32794"/>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8" fill="hold" nodeType="clickEffect">
                                  <p:stCondLst>
                                    <p:cond delay="0"/>
                                  </p:stCondLst>
                                  <p:childTnLst>
                                    <p:set>
                                      <p:cBhvr>
                                        <p:cTn id="148" dur="1" fill="hold">
                                          <p:stCondLst>
                                            <p:cond delay="0"/>
                                          </p:stCondLst>
                                        </p:cTn>
                                        <p:tgtEl>
                                          <p:spTgt spid="32795"/>
                                        </p:tgtEl>
                                        <p:attrNameLst>
                                          <p:attrName>style.visibility</p:attrName>
                                        </p:attrNameLst>
                                      </p:cBhvr>
                                      <p:to>
                                        <p:strVal val="visible"/>
                                      </p:to>
                                    </p:set>
                                    <p:animEffect transition="in" filter="wipe(left)">
                                      <p:cBhvr>
                                        <p:cTn id="149" dur="500"/>
                                        <p:tgtEl>
                                          <p:spTgt spid="32795"/>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32799"/>
                                        </p:tgtEl>
                                        <p:attrNameLst>
                                          <p:attrName>style.visibility</p:attrName>
                                        </p:attrNameLst>
                                      </p:cBhvr>
                                      <p:to>
                                        <p:strVal val="visible"/>
                                      </p:to>
                                    </p:set>
                                    <p:animEffect transition="in" filter="wipe(left)">
                                      <p:cBhvr>
                                        <p:cTn id="154" dur="500"/>
                                        <p:tgtEl>
                                          <p:spTgt spid="32799"/>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2" presetClass="entr" presetSubtype="8" fill="hold" grpId="0" nodeType="clickEffect">
                                  <p:stCondLst>
                                    <p:cond delay="0"/>
                                  </p:stCondLst>
                                  <p:childTnLst>
                                    <p:set>
                                      <p:cBhvr>
                                        <p:cTn id="158" dur="1" fill="hold">
                                          <p:stCondLst>
                                            <p:cond delay="0"/>
                                          </p:stCondLst>
                                        </p:cTn>
                                        <p:tgtEl>
                                          <p:spTgt spid="32796"/>
                                        </p:tgtEl>
                                        <p:attrNameLst>
                                          <p:attrName>style.visibility</p:attrName>
                                        </p:attrNameLst>
                                      </p:cBhvr>
                                      <p:to>
                                        <p:strVal val="visible"/>
                                      </p:to>
                                    </p:set>
                                    <p:animEffect transition="in" filter="wipe(left)">
                                      <p:cBhvr>
                                        <p:cTn id="159" dur="500"/>
                                        <p:tgtEl>
                                          <p:spTgt spid="32796"/>
                                        </p:tgtEl>
                                      </p:cBhvr>
                                    </p:animEffect>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32798"/>
                                        </p:tgtEl>
                                        <p:attrNameLst>
                                          <p:attrName>style.visibility</p:attrName>
                                        </p:attrNameLst>
                                      </p:cBhvr>
                                      <p:to>
                                        <p:strVal val="visible"/>
                                      </p:to>
                                    </p:set>
                                    <p:animEffect transition="in" filter="wipe(left)">
                                      <p:cBhvr>
                                        <p:cTn id="164" dur="500"/>
                                        <p:tgtEl>
                                          <p:spTgt spid="32798"/>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22" presetClass="entr" presetSubtype="8" fill="hold" nodeType="clickEffect">
                                  <p:stCondLst>
                                    <p:cond delay="0"/>
                                  </p:stCondLst>
                                  <p:childTnLst>
                                    <p:set>
                                      <p:cBhvr>
                                        <p:cTn id="168" dur="1" fill="hold">
                                          <p:stCondLst>
                                            <p:cond delay="0"/>
                                          </p:stCondLst>
                                        </p:cTn>
                                        <p:tgtEl>
                                          <p:spTgt spid="32797"/>
                                        </p:tgtEl>
                                        <p:attrNameLst>
                                          <p:attrName>style.visibility</p:attrName>
                                        </p:attrNameLst>
                                      </p:cBhvr>
                                      <p:to>
                                        <p:strVal val="visible"/>
                                      </p:to>
                                    </p:set>
                                    <p:animEffect transition="in" filter="wipe(left)">
                                      <p:cBhvr>
                                        <p:cTn id="169" dur="500"/>
                                        <p:tgtEl>
                                          <p:spTgt spid="32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nimBg="1"/>
      <p:bldP spid="32772" grpId="0" animBg="1"/>
      <p:bldP spid="32773" grpId="0" animBg="1"/>
      <p:bldP spid="32774" grpId="0" autoUpdateAnimBg="0"/>
      <p:bldP spid="32775" grpId="0" animBg="1"/>
      <p:bldP spid="32776" grpId="0" autoUpdateAnimBg="0"/>
      <p:bldP spid="32779" grpId="0" animBg="1"/>
      <p:bldP spid="32780" grpId="0" animBg="1"/>
      <p:bldP spid="32781" grpId="0" animBg="1"/>
      <p:bldP spid="32782" grpId="0" animBg="1"/>
      <p:bldP spid="32789" grpId="0" autoUpdateAnimBg="0"/>
      <p:bldP spid="32793" grpId="0" autoUpdateAnimBg="0"/>
      <p:bldP spid="32794" grpId="0" autoUpdateAnimBg="0"/>
      <p:bldP spid="32796" grpId="0" autoUpdateAnimBg="0"/>
      <p:bldP spid="32798" grpId="0" animBg="1"/>
      <p:bldP spid="32799" grpId="0" autoUpdateAnimBg="0"/>
      <p:bldP spid="32802" grpId="0"/>
      <p:bldP spid="32803" grpId="0"/>
      <p:bldP spid="32804" grpId="0" autoUpdateAnimBg="0"/>
      <p:bldP spid="32805" grpId="0" animBg="1"/>
      <p:bldP spid="32806" grpId="0" animBg="1"/>
      <p:bldP spid="3280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4" name="Text Box 12"/>
          <p:cNvSpPr txBox="1">
            <a:spLocks noChangeArrowheads="1"/>
          </p:cNvSpPr>
          <p:nvPr/>
        </p:nvSpPr>
        <p:spPr bwMode="auto">
          <a:xfrm>
            <a:off x="604035" y="2354685"/>
            <a:ext cx="814442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dirty="0">
                <a:solidFill>
                  <a:schemeClr val="bg1"/>
                </a:solidFill>
                <a:latin typeface="Times New Roman" pitchFamily="18" charset="0"/>
              </a:rPr>
              <a:t>(2) </a:t>
            </a:r>
            <a:r>
              <a:rPr lang="zh-CN" altLang="en-US" sz="2400" b="1" dirty="0">
                <a:solidFill>
                  <a:schemeClr val="bg1"/>
                </a:solidFill>
                <a:latin typeface="Times New Roman" pitchFamily="18" charset="0"/>
                <a:ea typeface="楷体_GB2312" pitchFamily="49" charset="-122"/>
              </a:rPr>
              <a:t>力矩的功就是力的功。力矩引起的转动空间积累效果和力引起的空间位移积累效果是等价的。功作为能量转换的度量在任何物理过程中总是等价的。</a:t>
            </a:r>
            <a:endParaRPr lang="zh-CN" altLang="en-US" sz="2400" dirty="0">
              <a:solidFill>
                <a:schemeClr val="bg1"/>
              </a:solidFill>
              <a:latin typeface="Times New Roman" pitchFamily="18" charset="0"/>
              <a:ea typeface="楷体_GB2312" pitchFamily="49" charset="-122"/>
            </a:endParaRPr>
          </a:p>
        </p:txBody>
      </p:sp>
      <p:sp>
        <p:nvSpPr>
          <p:cNvPr id="33805" name="Text Box 13"/>
          <p:cNvSpPr txBox="1">
            <a:spLocks noChangeArrowheads="1"/>
          </p:cNvSpPr>
          <p:nvPr/>
        </p:nvSpPr>
        <p:spPr bwMode="auto">
          <a:xfrm>
            <a:off x="582543" y="4493017"/>
            <a:ext cx="825097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dirty="0">
                <a:solidFill>
                  <a:schemeClr val="bg1"/>
                </a:solidFill>
                <a:latin typeface="Times New Roman" pitchFamily="18" charset="0"/>
              </a:rPr>
              <a:t>(3) </a:t>
            </a:r>
            <a:r>
              <a:rPr lang="zh-CN" altLang="en-US" sz="2400" b="1" dirty="0">
                <a:solidFill>
                  <a:schemeClr val="bg1"/>
                </a:solidFill>
                <a:latin typeface="Times New Roman" pitchFamily="18" charset="0"/>
                <a:ea typeface="楷体_GB2312" pitchFamily="49" charset="-122"/>
              </a:rPr>
              <a:t>内力矩作功之和为零</a:t>
            </a:r>
            <a:r>
              <a:rPr lang="en-US" altLang="zh-CN" sz="2400" b="1" dirty="0">
                <a:solidFill>
                  <a:schemeClr val="bg1"/>
                </a:solidFill>
                <a:latin typeface="Times New Roman" pitchFamily="18" charset="0"/>
                <a:ea typeface="楷体_GB2312" pitchFamily="49" charset="-122"/>
              </a:rPr>
              <a:t>(</a:t>
            </a:r>
            <a:r>
              <a:rPr lang="zh-CN" altLang="en-US" sz="2400" b="1" dirty="0">
                <a:solidFill>
                  <a:schemeClr val="bg1"/>
                </a:solidFill>
                <a:latin typeface="Times New Roman" pitchFamily="18" charset="0"/>
                <a:ea typeface="楷体_GB2312" pitchFamily="49" charset="-122"/>
              </a:rPr>
              <a:t>因为刚体中各质点角位移总相等</a:t>
            </a:r>
            <a:r>
              <a:rPr lang="en-US" altLang="zh-CN" sz="2400" b="1" dirty="0">
                <a:solidFill>
                  <a:schemeClr val="bg1"/>
                </a:solidFill>
                <a:latin typeface="Times New Roman" pitchFamily="18" charset="0"/>
                <a:ea typeface="楷体_GB2312" pitchFamily="49" charset="-122"/>
              </a:rPr>
              <a:t>)</a:t>
            </a:r>
            <a:r>
              <a:rPr lang="zh-CN" altLang="en-US" sz="2400" b="1" dirty="0">
                <a:solidFill>
                  <a:schemeClr val="bg1"/>
                </a:solidFill>
                <a:latin typeface="Times New Roman" pitchFamily="18" charset="0"/>
                <a:ea typeface="楷体_GB2312" pitchFamily="49" charset="-122"/>
              </a:rPr>
              <a:t>。</a:t>
            </a:r>
            <a:endParaRPr lang="zh-CN" altLang="en-US" sz="2400" dirty="0">
              <a:solidFill>
                <a:schemeClr val="bg1"/>
              </a:solidFill>
              <a:latin typeface="Times New Roman" pitchFamily="18" charset="0"/>
              <a:ea typeface="楷体_GB2312" pitchFamily="49" charset="-122"/>
            </a:endParaRPr>
          </a:p>
        </p:txBody>
      </p:sp>
      <p:sp>
        <p:nvSpPr>
          <p:cNvPr id="33806" name="Text Box 14"/>
          <p:cNvSpPr txBox="1">
            <a:spLocks noChangeArrowheads="1"/>
          </p:cNvSpPr>
          <p:nvPr/>
        </p:nvSpPr>
        <p:spPr bwMode="auto">
          <a:xfrm>
            <a:off x="762000" y="269875"/>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FFFF00"/>
                </a:solidFill>
                <a:latin typeface="Times New Roman" pitchFamily="18" charset="0"/>
              </a:rPr>
              <a:t>讨论</a:t>
            </a:r>
            <a:endParaRPr lang="zh-CN" altLang="en-US" sz="2400">
              <a:solidFill>
                <a:srgbClr val="FFFF00"/>
              </a:solidFill>
              <a:latin typeface="Times New Roman" pitchFamily="18" charset="0"/>
            </a:endParaRPr>
          </a:p>
        </p:txBody>
      </p:sp>
      <p:sp>
        <p:nvSpPr>
          <p:cNvPr id="33807" name="Text Box 15"/>
          <p:cNvSpPr txBox="1">
            <a:spLocks noChangeArrowheads="1"/>
          </p:cNvSpPr>
          <p:nvPr/>
        </p:nvSpPr>
        <p:spPr bwMode="auto">
          <a:xfrm>
            <a:off x="755650" y="712788"/>
            <a:ext cx="3803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a:solidFill>
                  <a:schemeClr val="bg1"/>
                </a:solidFill>
                <a:latin typeface="Times New Roman" pitchFamily="18" charset="0"/>
              </a:rPr>
              <a:t>(1) </a:t>
            </a:r>
            <a:r>
              <a:rPr lang="zh-CN" altLang="en-US" sz="2400" b="1">
                <a:solidFill>
                  <a:schemeClr val="bg1"/>
                </a:solidFill>
                <a:latin typeface="Times New Roman" pitchFamily="18" charset="0"/>
                <a:ea typeface="楷体_GB2312" pitchFamily="49" charset="-122"/>
              </a:rPr>
              <a:t>合力矩的功</a:t>
            </a:r>
            <a:endParaRPr lang="zh-CN" altLang="en-US" sz="2400">
              <a:solidFill>
                <a:schemeClr val="bg1"/>
              </a:solidFill>
              <a:latin typeface="Times New Roman" pitchFamily="18" charset="0"/>
              <a:ea typeface="楷体_GB2312" pitchFamily="49" charset="-122"/>
            </a:endParaRPr>
          </a:p>
        </p:txBody>
      </p:sp>
      <p:graphicFrame>
        <p:nvGraphicFramePr>
          <p:cNvPr id="33808" name="Object 16"/>
          <p:cNvGraphicFramePr>
            <a:graphicFrameLocks/>
          </p:cNvGraphicFramePr>
          <p:nvPr>
            <p:extLst>
              <p:ext uri="{D42A27DB-BD31-4B8C-83A1-F6EECF244321}">
                <p14:modId xmlns:p14="http://schemas.microsoft.com/office/powerpoint/2010/main" val="3501820448"/>
              </p:ext>
            </p:extLst>
          </p:nvPr>
        </p:nvGraphicFramePr>
        <p:xfrm>
          <a:off x="1986230" y="1340768"/>
          <a:ext cx="5380037" cy="841375"/>
        </p:xfrm>
        <a:graphic>
          <a:graphicData uri="http://schemas.openxmlformats.org/presentationml/2006/ole">
            <mc:AlternateContent xmlns:mc="http://schemas.openxmlformats.org/markup-compatibility/2006">
              <mc:Choice xmlns:v="urn:schemas-microsoft-com:vml" Requires="v">
                <p:oleObj spid="_x0000_s28692" name="公式" r:id="rId3" imgW="5267356" imgH="752575" progId="Equation.3">
                  <p:embed/>
                </p:oleObj>
              </mc:Choice>
              <mc:Fallback>
                <p:oleObj name="公式" r:id="rId3" imgW="5267356" imgH="752575" progId="Equation.3">
                  <p:embed/>
                  <p:pic>
                    <p:nvPicPr>
                      <p:cNvPr id="0" name="Object 1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6230" y="1340768"/>
                        <a:ext cx="5380037" cy="84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809" name="AutoShape 17"/>
          <p:cNvSpPr>
            <a:spLocks noChangeArrowheads="1"/>
          </p:cNvSpPr>
          <p:nvPr/>
        </p:nvSpPr>
        <p:spPr bwMode="auto">
          <a:xfrm>
            <a:off x="395288" y="188913"/>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 name="对象 1"/>
          <p:cNvGraphicFramePr>
            <a:graphicFrameLocks/>
          </p:cNvGraphicFramePr>
          <p:nvPr>
            <p:extLst>
              <p:ext uri="{D42A27DB-BD31-4B8C-83A1-F6EECF244321}">
                <p14:modId xmlns:p14="http://schemas.microsoft.com/office/powerpoint/2010/main" val="2279639587"/>
              </p:ext>
            </p:extLst>
          </p:nvPr>
        </p:nvGraphicFramePr>
        <p:xfrm>
          <a:off x="2843808" y="3645024"/>
          <a:ext cx="2808312" cy="576262"/>
        </p:xfrm>
        <a:graphic>
          <a:graphicData uri="http://schemas.openxmlformats.org/presentationml/2006/ole">
            <mc:AlternateContent xmlns:mc="http://schemas.openxmlformats.org/markup-compatibility/2006">
              <mc:Choice xmlns:v="urn:schemas-microsoft-com:vml" Requires="v">
                <p:oleObj spid="_x0000_s28693" name="Equation" r:id="rId5" imgW="1180800" imgH="215640" progId="Equation.DSMT4">
                  <p:embed/>
                </p:oleObj>
              </mc:Choice>
              <mc:Fallback>
                <p:oleObj name="Equation" r:id="rId5" imgW="1180800" imgH="215640" progId="Equation.DSMT4">
                  <p:embed/>
                  <p:pic>
                    <p:nvPicPr>
                      <p:cNvPr id="0" name="Object 22"/>
                      <p:cNvPicPr>
                        <a:picLocks noChangeArrowheads="1"/>
                      </p:cNvPicPr>
                      <p:nvPr/>
                    </p:nvPicPr>
                    <p:blipFill>
                      <a:blip r:embed="rId6"/>
                      <a:srcRect/>
                      <a:stretch>
                        <a:fillRect/>
                      </a:stretch>
                    </p:blipFill>
                    <p:spPr bwMode="auto">
                      <a:xfrm>
                        <a:off x="2843808" y="3645024"/>
                        <a:ext cx="2808312" cy="576262"/>
                      </a:xfrm>
                      <a:prstGeom prst="rect">
                        <a:avLst/>
                      </a:prstGeom>
                      <a:noFill/>
                      <a:ln>
                        <a:noFill/>
                      </a:ln>
                      <a:effectLst/>
                    </p:spPr>
                  </p:pic>
                </p:oleObj>
              </mc:Fallback>
            </mc:AlternateContent>
          </a:graphicData>
        </a:graphic>
      </p:graphicFrame>
      <p:sp>
        <p:nvSpPr>
          <p:cNvPr id="3" name="TextBox 2"/>
          <p:cNvSpPr txBox="1"/>
          <p:nvPr/>
        </p:nvSpPr>
        <p:spPr>
          <a:xfrm>
            <a:off x="899592" y="5414062"/>
            <a:ext cx="2040943" cy="461665"/>
          </a:xfrm>
          <a:prstGeom prst="rect">
            <a:avLst/>
          </a:prstGeom>
          <a:noFill/>
        </p:spPr>
        <p:txBody>
          <a:bodyPr wrap="none" rtlCol="0">
            <a:spAutoFit/>
          </a:bodyPr>
          <a:lstStyle/>
          <a:p>
            <a:r>
              <a:rPr lang="zh-CN" altLang="en-US" sz="2400" b="1">
                <a:solidFill>
                  <a:srgbClr val="FFC000"/>
                </a:solidFill>
                <a:latin typeface="Times New Roman" pitchFamily="18" charset="0"/>
                <a:ea typeface="楷体_GB2312" pitchFamily="49" charset="-122"/>
              </a:rPr>
              <a:t>力矩的功率：</a:t>
            </a:r>
          </a:p>
        </p:txBody>
      </p:sp>
      <p:graphicFrame>
        <p:nvGraphicFramePr>
          <p:cNvPr id="4" name="对象 3"/>
          <p:cNvGraphicFramePr>
            <a:graphicFrameLocks noChangeAspect="1"/>
          </p:cNvGraphicFramePr>
          <p:nvPr>
            <p:extLst>
              <p:ext uri="{D42A27DB-BD31-4B8C-83A1-F6EECF244321}">
                <p14:modId xmlns:p14="http://schemas.microsoft.com/office/powerpoint/2010/main" val="414499326"/>
              </p:ext>
            </p:extLst>
          </p:nvPr>
        </p:nvGraphicFramePr>
        <p:xfrm>
          <a:off x="3491880" y="5265956"/>
          <a:ext cx="2779781" cy="790580"/>
        </p:xfrm>
        <a:graphic>
          <a:graphicData uri="http://schemas.openxmlformats.org/presentationml/2006/ole">
            <mc:AlternateContent xmlns:mc="http://schemas.openxmlformats.org/markup-compatibility/2006">
              <mc:Choice xmlns:v="urn:schemas-microsoft-com:vml" Requires="v">
                <p:oleObj spid="_x0000_s28694" name="Equation" r:id="rId7" imgW="1384200" imgH="393480" progId="Equation.DSMT4">
                  <p:embed/>
                </p:oleObj>
              </mc:Choice>
              <mc:Fallback>
                <p:oleObj name="Equation" r:id="rId7" imgW="1384200" imgH="393480" progId="Equation.DSMT4">
                  <p:embed/>
                  <p:pic>
                    <p:nvPicPr>
                      <p:cNvPr id="0" name=""/>
                      <p:cNvPicPr/>
                      <p:nvPr/>
                    </p:nvPicPr>
                    <p:blipFill>
                      <a:blip r:embed="rId8"/>
                      <a:stretch>
                        <a:fillRect/>
                      </a:stretch>
                    </p:blipFill>
                    <p:spPr>
                      <a:xfrm>
                        <a:off x="3491880" y="5265956"/>
                        <a:ext cx="2779781" cy="790580"/>
                      </a:xfrm>
                      <a:prstGeom prst="rect">
                        <a:avLst/>
                      </a:prstGeom>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3808"/>
                                        </p:tgtEl>
                                        <p:attrNameLst>
                                          <p:attrName>style.visibility</p:attrName>
                                        </p:attrNameLst>
                                      </p:cBhvr>
                                      <p:to>
                                        <p:strVal val="visible"/>
                                      </p:to>
                                    </p:set>
                                    <p:animEffect transition="in" filter="wipe(left)">
                                      <p:cBhvr>
                                        <p:cTn id="7" dur="500"/>
                                        <p:tgtEl>
                                          <p:spTgt spid="338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804"/>
                                        </p:tgtEl>
                                        <p:attrNameLst>
                                          <p:attrName>style.visibility</p:attrName>
                                        </p:attrNameLst>
                                      </p:cBhvr>
                                      <p:to>
                                        <p:strVal val="visible"/>
                                      </p:to>
                                    </p:set>
                                    <p:animEffect transition="in" filter="wipe(left)">
                                      <p:cBhvr>
                                        <p:cTn id="12" dur="500"/>
                                        <p:tgtEl>
                                          <p:spTgt spid="338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805"/>
                                        </p:tgtEl>
                                        <p:attrNameLst>
                                          <p:attrName>style.visibility</p:attrName>
                                        </p:attrNameLst>
                                      </p:cBhvr>
                                      <p:to>
                                        <p:strVal val="visible"/>
                                      </p:to>
                                    </p:set>
                                    <p:animEffect transition="in" filter="wipe(left)">
                                      <p:cBhvr>
                                        <p:cTn id="22" dur="500"/>
                                        <p:tgtEl>
                                          <p:spTgt spid="3380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4" grpId="0" autoUpdateAnimBg="0"/>
      <p:bldP spid="33805" grpId="0" autoUpdateAnimBg="0"/>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0750" y="33338"/>
            <a:ext cx="3190875" cy="336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2" name="TextBox 1"/>
              <p:cNvSpPr txBox="1"/>
              <p:nvPr/>
            </p:nvSpPr>
            <p:spPr>
              <a:xfrm>
                <a:off x="41462" y="46787"/>
                <a:ext cx="5959288" cy="2308324"/>
              </a:xfrm>
              <a:prstGeom prst="rect">
                <a:avLst/>
              </a:prstGeom>
              <a:noFill/>
            </p:spPr>
            <p:txBody>
              <a:bodyPr wrap="square" rtlCol="0">
                <a:spAutoFit/>
              </a:bodyPr>
              <a:lstStyle/>
              <a:p>
                <a:r>
                  <a:rPr lang="zh-CN" altLang="en-US" sz="2400" b="1" dirty="0">
                    <a:solidFill>
                      <a:schemeClr val="bg1"/>
                    </a:solidFill>
                    <a:latin typeface="Times New Roman" pitchFamily="18" charset="0"/>
                    <a:ea typeface="楷体_GB2312" pitchFamily="49" charset="-122"/>
                  </a:rPr>
                  <a:t>书上例题</a:t>
                </a:r>
                <a:r>
                  <a:rPr lang="en-US" altLang="zh-CN" sz="2400" b="1" dirty="0">
                    <a:solidFill>
                      <a:schemeClr val="bg1"/>
                    </a:solidFill>
                    <a:latin typeface="Times New Roman" pitchFamily="18" charset="0"/>
                    <a:ea typeface="楷体_GB2312" pitchFamily="49" charset="-122"/>
                  </a:rPr>
                  <a:t>6.6  </a:t>
                </a:r>
              </a:p>
              <a:p>
                <a:r>
                  <a:rPr lang="zh-CN" altLang="en-US" sz="2400" b="1" dirty="0">
                    <a:solidFill>
                      <a:schemeClr val="bg1"/>
                    </a:solidFill>
                    <a:latin typeface="Times New Roman" pitchFamily="18" charset="0"/>
                    <a:ea typeface="楷体_GB2312" pitchFamily="49" charset="-122"/>
                  </a:rPr>
                  <a:t>长为</a:t>
                </a:r>
                <a:r>
                  <a:rPr lang="en-US" altLang="zh-CN" sz="2400" b="1" i="1" dirty="0">
                    <a:solidFill>
                      <a:schemeClr val="bg1"/>
                    </a:solidFill>
                    <a:latin typeface="Times New Roman" pitchFamily="18" charset="0"/>
                    <a:ea typeface="楷体_GB2312" pitchFamily="49" charset="-122"/>
                  </a:rPr>
                  <a:t>l</a:t>
                </a:r>
                <a:r>
                  <a:rPr lang="zh-CN" altLang="en-US" sz="2400" b="1" dirty="0">
                    <a:solidFill>
                      <a:schemeClr val="bg1"/>
                    </a:solidFill>
                    <a:latin typeface="Times New Roman" pitchFamily="18" charset="0"/>
                    <a:ea typeface="楷体_GB2312" pitchFamily="49" charset="-122"/>
                  </a:rPr>
                  <a:t>质量分布不均匀的细杆，其线密度为</a:t>
                </a:r>
                <a14:m>
                  <m:oMath xmlns:m="http://schemas.openxmlformats.org/officeDocument/2006/math">
                    <m:r>
                      <a:rPr lang="zh-CN" altLang="en-US" sz="2400" b="1" i="1" smtClean="0">
                        <a:solidFill>
                          <a:schemeClr val="bg1"/>
                        </a:solidFill>
                        <a:latin typeface="Cambria Math"/>
                        <a:ea typeface="楷体_GB2312" pitchFamily="49" charset="-122"/>
                      </a:rPr>
                      <m:t>𝝀</m:t>
                    </m:r>
                    <m:r>
                      <a:rPr lang="en-US" altLang="zh-CN" sz="2400" b="1" i="1">
                        <a:solidFill>
                          <a:schemeClr val="bg1"/>
                        </a:solidFill>
                        <a:latin typeface="Cambria Math"/>
                        <a:ea typeface="楷体_GB2312" pitchFamily="49" charset="-122"/>
                      </a:rPr>
                      <m:t>=</m:t>
                    </m:r>
                    <m:r>
                      <a:rPr lang="en-US" altLang="zh-CN" sz="2400" b="1" i="1" smtClean="0">
                        <a:solidFill>
                          <a:schemeClr val="bg1"/>
                        </a:solidFill>
                        <a:latin typeface="Cambria Math"/>
                        <a:ea typeface="楷体_GB2312" pitchFamily="49" charset="-122"/>
                      </a:rPr>
                      <m:t>𝒂</m:t>
                    </m:r>
                    <m:r>
                      <a:rPr lang="en-US" altLang="zh-CN" sz="2400" b="1" i="1" smtClean="0">
                        <a:solidFill>
                          <a:schemeClr val="bg1"/>
                        </a:solidFill>
                        <a:latin typeface="Cambria Math"/>
                        <a:ea typeface="楷体_GB2312" pitchFamily="49" charset="-122"/>
                      </a:rPr>
                      <m:t>+</m:t>
                    </m:r>
                    <m:r>
                      <a:rPr lang="en-US" altLang="zh-CN" sz="2400" b="1" i="1" smtClean="0">
                        <a:solidFill>
                          <a:schemeClr val="bg1"/>
                        </a:solidFill>
                        <a:latin typeface="Cambria Math"/>
                        <a:ea typeface="楷体_GB2312" pitchFamily="49" charset="-122"/>
                      </a:rPr>
                      <m:t>𝒃𝒓</m:t>
                    </m:r>
                  </m:oMath>
                </a14:m>
                <a:r>
                  <a:rPr lang="en-US" altLang="zh-CN" sz="2400" b="1" dirty="0">
                    <a:solidFill>
                      <a:schemeClr val="bg1"/>
                    </a:solidFill>
                    <a:latin typeface="Times New Roman" pitchFamily="18" charset="0"/>
                    <a:ea typeface="楷体_GB2312" pitchFamily="49" charset="-122"/>
                  </a:rPr>
                  <a:t> (a</a:t>
                </a:r>
                <a:r>
                  <a:rPr lang="zh-CN" altLang="en-US" sz="2400" b="1" dirty="0">
                    <a:solidFill>
                      <a:schemeClr val="bg1"/>
                    </a:solidFill>
                    <a:latin typeface="Times New Roman" pitchFamily="18" charset="0"/>
                    <a:ea typeface="楷体_GB2312" pitchFamily="49" charset="-122"/>
                  </a:rPr>
                  <a:t>、</a:t>
                </a:r>
                <a:r>
                  <a:rPr lang="en-US" altLang="zh-CN" sz="2400" b="1" dirty="0">
                    <a:solidFill>
                      <a:schemeClr val="bg1"/>
                    </a:solidFill>
                    <a:latin typeface="Times New Roman" pitchFamily="18" charset="0"/>
                    <a:ea typeface="楷体_GB2312" pitchFamily="49" charset="-122"/>
                  </a:rPr>
                  <a:t>b</a:t>
                </a:r>
                <a:r>
                  <a:rPr lang="zh-CN" altLang="en-US" sz="2400" b="1" dirty="0">
                    <a:solidFill>
                      <a:schemeClr val="bg1"/>
                    </a:solidFill>
                    <a:latin typeface="Times New Roman" pitchFamily="18" charset="0"/>
                    <a:ea typeface="楷体_GB2312" pitchFamily="49" charset="-122"/>
                  </a:rPr>
                  <a:t>为常量</a:t>
                </a:r>
                <a:r>
                  <a:rPr lang="en-US" altLang="zh-CN" sz="2400" b="1" dirty="0">
                    <a:solidFill>
                      <a:schemeClr val="bg1"/>
                    </a:solidFill>
                    <a:latin typeface="Times New Roman" pitchFamily="18" charset="0"/>
                    <a:ea typeface="楷体_GB2312" pitchFamily="49" charset="-122"/>
                  </a:rPr>
                  <a:t>)</a:t>
                </a:r>
                <a:r>
                  <a:rPr lang="zh-CN" altLang="en-US" sz="2400" b="1" dirty="0">
                    <a:solidFill>
                      <a:schemeClr val="bg1"/>
                    </a:solidFill>
                    <a:latin typeface="Times New Roman" pitchFamily="18" charset="0"/>
                    <a:ea typeface="楷体_GB2312" pitchFamily="49" charset="-122"/>
                  </a:rPr>
                  <a:t>，该杆可绕</a:t>
                </a:r>
                <a:r>
                  <a:rPr lang="en-US" altLang="zh-CN" sz="2400" b="1" dirty="0">
                    <a:solidFill>
                      <a:schemeClr val="bg1"/>
                    </a:solidFill>
                    <a:latin typeface="Times New Roman" pitchFamily="18" charset="0"/>
                    <a:ea typeface="楷体_GB2312" pitchFamily="49" charset="-122"/>
                  </a:rPr>
                  <a:t>A</a:t>
                </a:r>
                <a:r>
                  <a:rPr lang="zh-CN" altLang="en-US" sz="2400" b="1" dirty="0">
                    <a:solidFill>
                      <a:schemeClr val="bg1"/>
                    </a:solidFill>
                    <a:latin typeface="Times New Roman" pitchFamily="18" charset="0"/>
                    <a:ea typeface="楷体_GB2312" pitchFamily="49" charset="-122"/>
                  </a:rPr>
                  <a:t>端的</a:t>
                </a:r>
                <a:r>
                  <a:rPr lang="en-US" altLang="zh-CN" sz="2400" b="1" i="1" dirty="0">
                    <a:solidFill>
                      <a:schemeClr val="bg1"/>
                    </a:solidFill>
                    <a:latin typeface="Times New Roman" pitchFamily="18" charset="0"/>
                    <a:ea typeface="楷体_GB2312" pitchFamily="49" charset="-122"/>
                  </a:rPr>
                  <a:t>z</a:t>
                </a:r>
                <a:r>
                  <a:rPr lang="zh-CN" altLang="en-US" sz="2400" b="1" dirty="0">
                    <a:solidFill>
                      <a:schemeClr val="bg1"/>
                    </a:solidFill>
                    <a:latin typeface="Times New Roman" pitchFamily="18" charset="0"/>
                    <a:ea typeface="楷体_GB2312" pitchFamily="49" charset="-122"/>
                  </a:rPr>
                  <a:t>轴在铅锤面内转动，如图所示。现将杆从水平位置（</a:t>
                </a:r>
                <a14:m>
                  <m:oMath xmlns:m="http://schemas.openxmlformats.org/officeDocument/2006/math">
                    <m:r>
                      <a:rPr lang="zh-CN" altLang="en-US" sz="2400" b="1" i="1" smtClean="0">
                        <a:solidFill>
                          <a:schemeClr val="bg1"/>
                        </a:solidFill>
                        <a:latin typeface="Cambria Math"/>
                        <a:ea typeface="楷体_GB2312" pitchFamily="49" charset="-122"/>
                      </a:rPr>
                      <m:t>𝜽</m:t>
                    </m:r>
                  </m:oMath>
                </a14:m>
                <a:r>
                  <a:rPr lang="en-US" altLang="zh-CN" sz="2400" b="1" dirty="0">
                    <a:solidFill>
                      <a:schemeClr val="bg1"/>
                    </a:solidFill>
                    <a:latin typeface="Times New Roman" pitchFamily="18" charset="0"/>
                    <a:ea typeface="楷体_GB2312" pitchFamily="49" charset="-122"/>
                  </a:rPr>
                  <a:t>=</a:t>
                </a:r>
                <a14:m>
                  <m:oMath xmlns:m="http://schemas.openxmlformats.org/officeDocument/2006/math">
                    <m:r>
                      <a:rPr lang="el-GR" altLang="zh-CN" sz="2400" b="1" i="1" smtClean="0">
                        <a:solidFill>
                          <a:schemeClr val="bg1"/>
                        </a:solidFill>
                        <a:latin typeface="Cambria Math"/>
                        <a:ea typeface="楷体_GB2312" pitchFamily="49" charset="-122"/>
                      </a:rPr>
                      <m:t>𝝅</m:t>
                    </m:r>
                    <m:r>
                      <a:rPr lang="en-US" altLang="zh-CN" sz="2400" b="1" i="1" smtClean="0">
                        <a:solidFill>
                          <a:schemeClr val="bg1"/>
                        </a:solidFill>
                        <a:latin typeface="Cambria Math"/>
                        <a:ea typeface="楷体_GB2312" pitchFamily="49" charset="-122"/>
                      </a:rPr>
                      <m:t>/</m:t>
                    </m:r>
                    <m:r>
                      <a:rPr lang="en-US" altLang="zh-CN" sz="2400" b="1" i="1" smtClean="0">
                        <a:solidFill>
                          <a:schemeClr val="bg1"/>
                        </a:solidFill>
                        <a:latin typeface="Cambria Math"/>
                        <a:ea typeface="楷体_GB2312" pitchFamily="49" charset="-122"/>
                      </a:rPr>
                      <m:t>𝟐</m:t>
                    </m:r>
                  </m:oMath>
                </a14:m>
                <a:r>
                  <a:rPr lang="zh-CN" altLang="en-US" sz="2400" b="1" dirty="0">
                    <a:solidFill>
                      <a:schemeClr val="bg1"/>
                    </a:solidFill>
                    <a:latin typeface="Times New Roman" pitchFamily="18" charset="0"/>
                    <a:ea typeface="楷体_GB2312" pitchFamily="49" charset="-122"/>
                  </a:rPr>
                  <a:t>）释放，求杆转到铅锤位置（</a:t>
                </a:r>
                <a14:m>
                  <m:oMath xmlns:m="http://schemas.openxmlformats.org/officeDocument/2006/math">
                    <m:r>
                      <a:rPr lang="zh-CN" altLang="en-US" sz="2400" b="1" i="1">
                        <a:solidFill>
                          <a:schemeClr val="bg1"/>
                        </a:solidFill>
                        <a:latin typeface="Cambria Math"/>
                        <a:ea typeface="楷体_GB2312" pitchFamily="49" charset="-122"/>
                      </a:rPr>
                      <m:t>𝜽</m:t>
                    </m:r>
                  </m:oMath>
                </a14:m>
                <a:r>
                  <a:rPr lang="en-US" altLang="zh-CN" sz="2400" b="1" dirty="0">
                    <a:solidFill>
                      <a:schemeClr val="bg1"/>
                    </a:solidFill>
                    <a:latin typeface="Times New Roman" pitchFamily="18" charset="0"/>
                    <a:ea typeface="楷体_GB2312" pitchFamily="49" charset="-122"/>
                  </a:rPr>
                  <a:t>=</a:t>
                </a:r>
                <a14:m>
                  <m:oMath xmlns:m="http://schemas.openxmlformats.org/officeDocument/2006/math">
                    <m:r>
                      <a:rPr lang="en-US" altLang="zh-CN" sz="2400" b="1" i="1" smtClean="0">
                        <a:solidFill>
                          <a:schemeClr val="bg1"/>
                        </a:solidFill>
                        <a:latin typeface="Cambria Math"/>
                        <a:ea typeface="楷体_GB2312" pitchFamily="49" charset="-122"/>
                      </a:rPr>
                      <m:t>𝟎</m:t>
                    </m:r>
                  </m:oMath>
                </a14:m>
                <a:r>
                  <a:rPr lang="zh-CN" altLang="en-US" sz="2400" b="1" dirty="0">
                    <a:solidFill>
                      <a:schemeClr val="bg1"/>
                    </a:solidFill>
                    <a:latin typeface="Times New Roman" pitchFamily="18" charset="0"/>
                    <a:ea typeface="楷体_GB2312" pitchFamily="49" charset="-122"/>
                  </a:rPr>
                  <a:t>）过程中，重力做的功。</a:t>
                </a:r>
              </a:p>
            </p:txBody>
          </p:sp>
        </mc:Choice>
        <mc:Fallback xmlns="">
          <p:sp>
            <p:nvSpPr>
              <p:cNvPr id="2" name="TextBox 1"/>
              <p:cNvSpPr txBox="1">
                <a:spLocks noRot="1" noChangeAspect="1" noMove="1" noResize="1" noEditPoints="1" noAdjustHandles="1" noChangeArrowheads="1" noChangeShapeType="1" noTextEdit="1"/>
              </p:cNvSpPr>
              <p:nvPr/>
            </p:nvSpPr>
            <p:spPr>
              <a:xfrm>
                <a:off x="41462" y="46787"/>
                <a:ext cx="5959288" cy="2308324"/>
              </a:xfrm>
              <a:prstGeom prst="rect">
                <a:avLst/>
              </a:prstGeom>
              <a:blipFill rotWithShape="1">
                <a:blip r:embed="rId5"/>
                <a:stretch>
                  <a:fillRect l="-1638" t="-2910" b="-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179513" y="2329215"/>
                <a:ext cx="5760640" cy="1200329"/>
              </a:xfrm>
              <a:prstGeom prst="rect">
                <a:avLst/>
              </a:prstGeom>
              <a:noFill/>
            </p:spPr>
            <p:txBody>
              <a:bodyPr wrap="square" rtlCol="0">
                <a:spAutoFit/>
              </a:bodyPr>
              <a:lstStyle/>
              <a:p>
                <a:r>
                  <a:rPr lang="zh-CN" altLang="en-US" sz="2400" b="1" dirty="0">
                    <a:solidFill>
                      <a:schemeClr val="bg1"/>
                    </a:solidFill>
                    <a:latin typeface="Times New Roman" pitchFamily="18" charset="0"/>
                    <a:ea typeface="楷体_GB2312" pitchFamily="49" charset="-122"/>
                  </a:rPr>
                  <a:t>解：距离转轴</a:t>
                </a:r>
                <a:r>
                  <a:rPr lang="en-US" altLang="zh-CN" sz="2400" b="1" i="1" dirty="0">
                    <a:solidFill>
                      <a:schemeClr val="bg1"/>
                    </a:solidFill>
                    <a:latin typeface="Times New Roman" pitchFamily="18" charset="0"/>
                    <a:ea typeface="楷体_GB2312" pitchFamily="49" charset="-122"/>
                  </a:rPr>
                  <a:t>r</a:t>
                </a:r>
                <a:r>
                  <a:rPr lang="zh-CN" altLang="en-US" sz="2400" b="1" dirty="0">
                    <a:solidFill>
                      <a:schemeClr val="bg1"/>
                    </a:solidFill>
                    <a:latin typeface="Times New Roman" pitchFamily="18" charset="0"/>
                    <a:ea typeface="楷体_GB2312" pitchFamily="49" charset="-122"/>
                  </a:rPr>
                  <a:t>处取线元</a:t>
                </a:r>
                <a:r>
                  <a:rPr lang="en-US" altLang="zh-CN" sz="2400" b="1" dirty="0" err="1">
                    <a:solidFill>
                      <a:schemeClr val="bg1"/>
                    </a:solidFill>
                    <a:latin typeface="Times New Roman" pitchFamily="18" charset="0"/>
                    <a:ea typeface="楷体_GB2312" pitchFamily="49" charset="-122"/>
                  </a:rPr>
                  <a:t>d</a:t>
                </a:r>
                <a:r>
                  <a:rPr lang="en-US" altLang="zh-CN" sz="2400" b="1" i="1" dirty="0" err="1">
                    <a:solidFill>
                      <a:schemeClr val="bg1"/>
                    </a:solidFill>
                    <a:latin typeface="Times New Roman" pitchFamily="18" charset="0"/>
                    <a:ea typeface="楷体_GB2312" pitchFamily="49" charset="-122"/>
                  </a:rPr>
                  <a:t>r</a:t>
                </a:r>
                <a:r>
                  <a:rPr lang="zh-CN" altLang="en-US" sz="2400" b="1" dirty="0">
                    <a:solidFill>
                      <a:schemeClr val="bg1"/>
                    </a:solidFill>
                    <a:latin typeface="Times New Roman" pitchFamily="18" charset="0"/>
                    <a:ea typeface="楷体_GB2312" pitchFamily="49" charset="-122"/>
                  </a:rPr>
                  <a:t>，线元质量为</a:t>
                </a:r>
                <a14:m>
                  <m:oMath xmlns:m="http://schemas.openxmlformats.org/officeDocument/2006/math">
                    <m:r>
                      <a:rPr lang="en-US" altLang="zh-CN" sz="2400" b="1" i="1" smtClean="0">
                        <a:solidFill>
                          <a:schemeClr val="bg1"/>
                        </a:solidFill>
                        <a:latin typeface="Cambria Math"/>
                        <a:ea typeface="楷体_GB2312" pitchFamily="49" charset="-122"/>
                      </a:rPr>
                      <m:t>𝒅𝒎</m:t>
                    </m:r>
                    <m:r>
                      <a:rPr lang="en-US" altLang="zh-CN" sz="2400" b="1" i="1">
                        <a:solidFill>
                          <a:schemeClr val="bg1"/>
                        </a:solidFill>
                        <a:latin typeface="Cambria Math"/>
                        <a:ea typeface="楷体_GB2312" pitchFamily="49" charset="-122"/>
                      </a:rPr>
                      <m:t>=</m:t>
                    </m:r>
                    <m:r>
                      <a:rPr lang="zh-CN" altLang="en-US" sz="2400" b="1" i="1" smtClean="0">
                        <a:solidFill>
                          <a:schemeClr val="bg1"/>
                        </a:solidFill>
                        <a:latin typeface="Cambria Math"/>
                        <a:ea typeface="楷体_GB2312" pitchFamily="49" charset="-122"/>
                      </a:rPr>
                      <m:t>𝝀</m:t>
                    </m:r>
                    <m:r>
                      <a:rPr lang="en-US" altLang="zh-CN" sz="2400" b="1" i="1" smtClean="0">
                        <a:solidFill>
                          <a:schemeClr val="bg1"/>
                        </a:solidFill>
                        <a:latin typeface="Cambria Math"/>
                        <a:ea typeface="楷体_GB2312" pitchFamily="49" charset="-122"/>
                      </a:rPr>
                      <m:t>𝒅𝒓</m:t>
                    </m:r>
                  </m:oMath>
                </a14:m>
                <a:r>
                  <a:rPr lang="en-US" altLang="zh-CN" sz="2400" b="1" dirty="0">
                    <a:solidFill>
                      <a:schemeClr val="bg1"/>
                    </a:solidFill>
                    <a:latin typeface="Times New Roman" pitchFamily="18" charset="0"/>
                    <a:ea typeface="楷体_GB2312" pitchFamily="49" charset="-122"/>
                  </a:rPr>
                  <a:t>.</a:t>
                </a:r>
                <a:r>
                  <a:rPr lang="zh-CN" altLang="en-US" sz="2400" b="1" dirty="0">
                    <a:solidFill>
                      <a:schemeClr val="bg1"/>
                    </a:solidFill>
                    <a:latin typeface="Times New Roman" pitchFamily="18" charset="0"/>
                    <a:ea typeface="楷体_GB2312" pitchFamily="49" charset="-122"/>
                  </a:rPr>
                  <a:t>当杆在任意位置</a:t>
                </a:r>
                <a14:m>
                  <m:oMath xmlns:m="http://schemas.openxmlformats.org/officeDocument/2006/math">
                    <m:r>
                      <a:rPr lang="zh-CN" altLang="en-US" sz="2400" b="1" i="1">
                        <a:solidFill>
                          <a:schemeClr val="bg1"/>
                        </a:solidFill>
                        <a:latin typeface="Cambria Math"/>
                        <a:ea typeface="楷体_GB2312" pitchFamily="49" charset="-122"/>
                      </a:rPr>
                      <m:t>𝜽</m:t>
                    </m:r>
                  </m:oMath>
                </a14:m>
                <a:r>
                  <a:rPr lang="zh-CN" altLang="en-US" sz="2400" b="1" dirty="0">
                    <a:solidFill>
                      <a:schemeClr val="bg1"/>
                    </a:solidFill>
                    <a:latin typeface="Times New Roman" pitchFamily="18" charset="0"/>
                    <a:ea typeface="楷体_GB2312" pitchFamily="49" charset="-122"/>
                  </a:rPr>
                  <a:t>时，该质元的重力对</a:t>
                </a:r>
                <a:r>
                  <a:rPr lang="en-US" altLang="zh-CN" sz="2400" b="1" dirty="0">
                    <a:solidFill>
                      <a:schemeClr val="bg1"/>
                    </a:solidFill>
                    <a:latin typeface="Times New Roman" pitchFamily="18" charset="0"/>
                    <a:ea typeface="楷体_GB2312" pitchFamily="49" charset="-122"/>
                  </a:rPr>
                  <a:t>z</a:t>
                </a:r>
                <a:r>
                  <a:rPr lang="zh-CN" altLang="en-US" sz="2400" b="1" dirty="0">
                    <a:solidFill>
                      <a:schemeClr val="bg1"/>
                    </a:solidFill>
                    <a:latin typeface="Times New Roman" pitchFamily="18" charset="0"/>
                    <a:ea typeface="楷体_GB2312" pitchFamily="49" charset="-122"/>
                  </a:rPr>
                  <a:t>轴的力矩为</a:t>
                </a:r>
                <a:endParaRPr lang="en-US" altLang="zh-CN" sz="2400" b="1" dirty="0">
                  <a:solidFill>
                    <a:schemeClr val="bg1"/>
                  </a:solidFill>
                  <a:latin typeface="Times New Roman" pitchFamily="18" charset="0"/>
                  <a:ea typeface="楷体_GB2312" pitchFamily="49" charset="-122"/>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179513" y="2329215"/>
                <a:ext cx="5760640" cy="1200329"/>
              </a:xfrm>
              <a:prstGeom prst="rect">
                <a:avLst/>
              </a:prstGeom>
              <a:blipFill rotWithShape="1">
                <a:blip r:embed="rId6"/>
                <a:stretch>
                  <a:fillRect l="-1587" t="-5584" b="-11168"/>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extLst>
              <p:ext uri="{D42A27DB-BD31-4B8C-83A1-F6EECF244321}">
                <p14:modId xmlns:p14="http://schemas.microsoft.com/office/powerpoint/2010/main" val="925101743"/>
              </p:ext>
            </p:extLst>
          </p:nvPr>
        </p:nvGraphicFramePr>
        <p:xfrm>
          <a:off x="3363594" y="3101897"/>
          <a:ext cx="2637156" cy="427647"/>
        </p:xfrm>
        <a:graphic>
          <a:graphicData uri="http://schemas.openxmlformats.org/presentationml/2006/ole">
            <mc:AlternateContent xmlns:mc="http://schemas.openxmlformats.org/markup-compatibility/2006">
              <mc:Choice xmlns:v="urn:schemas-microsoft-com:vml" Requires="v">
                <p:oleObj spid="_x0000_s29722" name="Equation" r:id="rId7" imgW="1409400" imgH="228600" progId="Equation.DSMT4">
                  <p:embed/>
                </p:oleObj>
              </mc:Choice>
              <mc:Fallback>
                <p:oleObj name="Equation" r:id="rId7" imgW="1409400" imgH="228600" progId="Equation.DSMT4">
                  <p:embed/>
                  <p:pic>
                    <p:nvPicPr>
                      <p:cNvPr id="0" name=""/>
                      <p:cNvPicPr/>
                      <p:nvPr/>
                    </p:nvPicPr>
                    <p:blipFill>
                      <a:blip r:embed="rId8"/>
                      <a:stretch>
                        <a:fillRect/>
                      </a:stretch>
                    </p:blipFill>
                    <p:spPr>
                      <a:xfrm>
                        <a:off x="3363594" y="3101897"/>
                        <a:ext cx="2637156" cy="427647"/>
                      </a:xfrm>
                      <a:prstGeom prst="rect">
                        <a:avLst/>
                      </a:prstGeom>
                    </p:spPr>
                  </p:pic>
                </p:oleObj>
              </mc:Fallback>
            </mc:AlternateContent>
          </a:graphicData>
        </a:graphic>
      </p:graphicFrame>
      <p:sp>
        <p:nvSpPr>
          <p:cNvPr id="5" name="矩形 4"/>
          <p:cNvSpPr/>
          <p:nvPr/>
        </p:nvSpPr>
        <p:spPr>
          <a:xfrm>
            <a:off x="413138" y="3645024"/>
            <a:ext cx="2646695" cy="830997"/>
          </a:xfrm>
          <a:prstGeom prst="rect">
            <a:avLst/>
          </a:prstGeom>
        </p:spPr>
        <p:txBody>
          <a:bodyPr wrap="square">
            <a:spAutoFit/>
          </a:bodyPr>
          <a:lstStyle/>
          <a:p>
            <a:r>
              <a:rPr lang="zh-CN" altLang="en-US" sz="2400" b="1" dirty="0">
                <a:solidFill>
                  <a:schemeClr val="bg1"/>
                </a:solidFill>
                <a:latin typeface="Times New Roman" pitchFamily="18" charset="0"/>
                <a:ea typeface="楷体_GB2312" pitchFamily="49" charset="-122"/>
              </a:rPr>
              <a:t>所以，杆的重力对</a:t>
            </a:r>
            <a:r>
              <a:rPr lang="en-US" altLang="zh-CN" sz="2400" b="1" dirty="0">
                <a:solidFill>
                  <a:schemeClr val="bg1"/>
                </a:solidFill>
                <a:latin typeface="Times New Roman" pitchFamily="18" charset="0"/>
                <a:ea typeface="楷体_GB2312" pitchFamily="49" charset="-122"/>
              </a:rPr>
              <a:t>z</a:t>
            </a:r>
            <a:r>
              <a:rPr lang="zh-CN" altLang="en-US" sz="2400" b="1" dirty="0">
                <a:solidFill>
                  <a:schemeClr val="bg1"/>
                </a:solidFill>
                <a:latin typeface="Times New Roman" pitchFamily="18" charset="0"/>
                <a:ea typeface="楷体_GB2312" pitchFamily="49" charset="-122"/>
              </a:rPr>
              <a:t>轴的总力矩为</a:t>
            </a:r>
            <a:endParaRPr lang="en-US" altLang="zh-CN" sz="2400" b="1" dirty="0">
              <a:solidFill>
                <a:schemeClr val="bg1"/>
              </a:solidFill>
              <a:latin typeface="Times New Roman" pitchFamily="18" charset="0"/>
              <a:ea typeface="楷体_GB2312" pitchFamily="49" charset="-122"/>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053635753"/>
              </p:ext>
            </p:extLst>
          </p:nvPr>
        </p:nvGraphicFramePr>
        <p:xfrm>
          <a:off x="3398838" y="3548063"/>
          <a:ext cx="5203825" cy="1377950"/>
        </p:xfrm>
        <a:graphic>
          <a:graphicData uri="http://schemas.openxmlformats.org/presentationml/2006/ole">
            <mc:AlternateContent xmlns:mc="http://schemas.openxmlformats.org/markup-compatibility/2006">
              <mc:Choice xmlns:v="urn:schemas-microsoft-com:vml" Requires="v">
                <p:oleObj spid="_x0000_s29723" name="Equation" r:id="rId9" imgW="2781000" imgH="736560" progId="Equation.DSMT4">
                  <p:embed/>
                </p:oleObj>
              </mc:Choice>
              <mc:Fallback>
                <p:oleObj name="Equation" r:id="rId9" imgW="2781000" imgH="736560" progId="Equation.DSMT4">
                  <p:embed/>
                  <p:pic>
                    <p:nvPicPr>
                      <p:cNvPr id="0" name="对象 3"/>
                      <p:cNvPicPr>
                        <a:picLocks noChangeAspect="1" noChangeArrowheads="1"/>
                      </p:cNvPicPr>
                      <p:nvPr/>
                    </p:nvPicPr>
                    <p:blipFill>
                      <a:blip r:embed="rId10"/>
                      <a:srcRect/>
                      <a:stretch>
                        <a:fillRect/>
                      </a:stretch>
                    </p:blipFill>
                    <p:spPr bwMode="auto">
                      <a:xfrm>
                        <a:off x="3398838" y="3548063"/>
                        <a:ext cx="5203825"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799205032"/>
              </p:ext>
            </p:extLst>
          </p:nvPr>
        </p:nvGraphicFramePr>
        <p:xfrm>
          <a:off x="2123728" y="5013176"/>
          <a:ext cx="4062412" cy="736600"/>
        </p:xfrm>
        <a:graphic>
          <a:graphicData uri="http://schemas.openxmlformats.org/presentationml/2006/ole">
            <mc:AlternateContent xmlns:mc="http://schemas.openxmlformats.org/markup-compatibility/2006">
              <mc:Choice xmlns:v="urn:schemas-microsoft-com:vml" Requires="v">
                <p:oleObj spid="_x0000_s29724" name="Equation" r:id="rId11" imgW="2171520" imgH="393480" progId="Equation.DSMT4">
                  <p:embed/>
                </p:oleObj>
              </mc:Choice>
              <mc:Fallback>
                <p:oleObj name="Equation" r:id="rId11" imgW="2171520" imgH="393480" progId="Equation.DSMT4">
                  <p:embed/>
                  <p:pic>
                    <p:nvPicPr>
                      <p:cNvPr id="0" name="对象 5"/>
                      <p:cNvPicPr>
                        <a:picLocks noChangeAspect="1" noChangeArrowheads="1"/>
                      </p:cNvPicPr>
                      <p:nvPr/>
                    </p:nvPicPr>
                    <p:blipFill>
                      <a:blip r:embed="rId12"/>
                      <a:srcRect/>
                      <a:stretch>
                        <a:fillRect/>
                      </a:stretch>
                    </p:blipFill>
                    <p:spPr bwMode="auto">
                      <a:xfrm>
                        <a:off x="2123728" y="5013176"/>
                        <a:ext cx="4062412"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901942266"/>
              </p:ext>
            </p:extLst>
          </p:nvPr>
        </p:nvGraphicFramePr>
        <p:xfrm>
          <a:off x="1619672" y="5805264"/>
          <a:ext cx="4989512" cy="736600"/>
        </p:xfrm>
        <a:graphic>
          <a:graphicData uri="http://schemas.openxmlformats.org/presentationml/2006/ole">
            <mc:AlternateContent xmlns:mc="http://schemas.openxmlformats.org/markup-compatibility/2006">
              <mc:Choice xmlns:v="urn:schemas-microsoft-com:vml" Requires="v">
                <p:oleObj spid="_x0000_s29725" name="Equation" r:id="rId13" imgW="2666880" imgH="393480" progId="Equation.DSMT4">
                  <p:embed/>
                </p:oleObj>
              </mc:Choice>
              <mc:Fallback>
                <p:oleObj name="Equation" r:id="rId13" imgW="2666880" imgH="393480" progId="Equation.DSMT4">
                  <p:embed/>
                  <p:pic>
                    <p:nvPicPr>
                      <p:cNvPr id="0" name="对象 6"/>
                      <p:cNvPicPr>
                        <a:picLocks noChangeAspect="1" noChangeArrowheads="1"/>
                      </p:cNvPicPr>
                      <p:nvPr/>
                    </p:nvPicPr>
                    <p:blipFill>
                      <a:blip r:embed="rId14"/>
                      <a:srcRect/>
                      <a:stretch>
                        <a:fillRect/>
                      </a:stretch>
                    </p:blipFill>
                    <p:spPr bwMode="auto">
                      <a:xfrm>
                        <a:off x="1619672" y="5805264"/>
                        <a:ext cx="4989512"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196849" y="439420"/>
            <a:ext cx="28622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800" b="1">
                <a:solidFill>
                  <a:srgbClr val="FFFF00"/>
                </a:solidFill>
                <a:latin typeface="Times New Roman" pitchFamily="18" charset="0"/>
              </a:rPr>
              <a:t>三</a:t>
            </a:r>
            <a:r>
              <a:rPr lang="en-US" altLang="zh-CN" sz="2800" b="1">
                <a:solidFill>
                  <a:srgbClr val="FFFF00"/>
                </a:solidFill>
                <a:latin typeface="Times New Roman" pitchFamily="18" charset="0"/>
              </a:rPr>
              <a:t>. </a:t>
            </a:r>
            <a:r>
              <a:rPr lang="zh-CN" altLang="en-US" sz="2800" b="1">
                <a:solidFill>
                  <a:srgbClr val="FFFF00"/>
                </a:solidFill>
                <a:latin typeface="Times New Roman" pitchFamily="18" charset="0"/>
              </a:rPr>
              <a:t>转动动能定理</a:t>
            </a:r>
          </a:p>
        </p:txBody>
      </p:sp>
      <p:sp>
        <p:nvSpPr>
          <p:cNvPr id="8" name="Text Box 3"/>
          <p:cNvSpPr txBox="1">
            <a:spLocks noChangeArrowheads="1"/>
          </p:cNvSpPr>
          <p:nvPr/>
        </p:nvSpPr>
        <p:spPr bwMode="auto">
          <a:xfrm>
            <a:off x="3184524" y="434657"/>
            <a:ext cx="3127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800" b="1">
                <a:solidFill>
                  <a:srgbClr val="66FFFF"/>
                </a:solidFill>
                <a:latin typeface="Times New Roman" pitchFamily="18" charset="0"/>
              </a:rPr>
              <a:t>—— </a:t>
            </a:r>
            <a:r>
              <a:rPr lang="zh-CN" altLang="en-US" sz="2800" b="1">
                <a:solidFill>
                  <a:srgbClr val="66FFFF"/>
                </a:solidFill>
                <a:latin typeface="Times New Roman" pitchFamily="18" charset="0"/>
              </a:rPr>
              <a:t>力矩功的效果</a:t>
            </a:r>
          </a:p>
        </p:txBody>
      </p:sp>
      <p:graphicFrame>
        <p:nvGraphicFramePr>
          <p:cNvPr id="9" name="Object 4"/>
          <p:cNvGraphicFramePr>
            <a:graphicFrameLocks/>
          </p:cNvGraphicFramePr>
          <p:nvPr>
            <p:extLst>
              <p:ext uri="{D42A27DB-BD31-4B8C-83A1-F6EECF244321}">
                <p14:modId xmlns:p14="http://schemas.microsoft.com/office/powerpoint/2010/main" val="1392921551"/>
              </p:ext>
            </p:extLst>
          </p:nvPr>
        </p:nvGraphicFramePr>
        <p:xfrm>
          <a:off x="5944195" y="1340768"/>
          <a:ext cx="1568450" cy="825500"/>
        </p:xfrm>
        <a:graphic>
          <a:graphicData uri="http://schemas.openxmlformats.org/presentationml/2006/ole">
            <mc:AlternateContent xmlns:mc="http://schemas.openxmlformats.org/markup-compatibility/2006">
              <mc:Choice xmlns:v="urn:schemas-microsoft-com:vml" Requires="v">
                <p:oleObj spid="_x0000_s30758" name="公式" r:id="rId3" imgW="1486024" imgH="733410" progId="Equation.3">
                  <p:embed/>
                </p:oleObj>
              </mc:Choice>
              <mc:Fallback>
                <p:oleObj name="公式" r:id="rId3" imgW="1486024" imgH="73341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4195" y="1340768"/>
                        <a:ext cx="156845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5"/>
          <p:cNvGraphicFramePr>
            <a:graphicFrameLocks/>
          </p:cNvGraphicFramePr>
          <p:nvPr>
            <p:extLst>
              <p:ext uri="{D42A27DB-BD31-4B8C-83A1-F6EECF244321}">
                <p14:modId xmlns:p14="http://schemas.microsoft.com/office/powerpoint/2010/main" val="2341593943"/>
              </p:ext>
            </p:extLst>
          </p:nvPr>
        </p:nvGraphicFramePr>
        <p:xfrm>
          <a:off x="1292820" y="1605880"/>
          <a:ext cx="1501775" cy="315913"/>
        </p:xfrm>
        <a:graphic>
          <a:graphicData uri="http://schemas.openxmlformats.org/presentationml/2006/ole">
            <mc:AlternateContent xmlns:mc="http://schemas.openxmlformats.org/markup-compatibility/2006">
              <mc:Choice xmlns:v="urn:schemas-microsoft-com:vml" Requires="v">
                <p:oleObj spid="_x0000_s30759" name="公式" r:id="rId5" imgW="1409631" imgH="228634" progId="Equation.3">
                  <p:embed/>
                </p:oleObj>
              </mc:Choice>
              <mc:Fallback>
                <p:oleObj name="公式" r:id="rId5" imgW="1409631" imgH="228634"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2820" y="1605880"/>
                        <a:ext cx="1501775"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6"/>
          <p:cNvGraphicFramePr>
            <a:graphicFrameLocks/>
          </p:cNvGraphicFramePr>
          <p:nvPr>
            <p:extLst>
              <p:ext uri="{D42A27DB-BD31-4B8C-83A1-F6EECF244321}">
                <p14:modId xmlns:p14="http://schemas.microsoft.com/office/powerpoint/2010/main" val="1114113844"/>
              </p:ext>
            </p:extLst>
          </p:nvPr>
        </p:nvGraphicFramePr>
        <p:xfrm>
          <a:off x="2843808" y="1340768"/>
          <a:ext cx="2955925" cy="822325"/>
        </p:xfrm>
        <a:graphic>
          <a:graphicData uri="http://schemas.openxmlformats.org/presentationml/2006/ole">
            <mc:AlternateContent xmlns:mc="http://schemas.openxmlformats.org/markup-compatibility/2006">
              <mc:Choice xmlns:v="urn:schemas-microsoft-com:vml" Requires="v">
                <p:oleObj spid="_x0000_s30760" name="公式" r:id="rId7" imgW="2857594" imgH="733410" progId="Equation.3">
                  <p:embed/>
                </p:oleObj>
              </mc:Choice>
              <mc:Fallback>
                <p:oleObj name="公式" r:id="rId7" imgW="2857594" imgH="73341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43808" y="1340768"/>
                        <a:ext cx="2955925"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7"/>
          <p:cNvSpPr txBox="1">
            <a:spLocks noChangeArrowheads="1"/>
          </p:cNvSpPr>
          <p:nvPr/>
        </p:nvSpPr>
        <p:spPr bwMode="auto">
          <a:xfrm>
            <a:off x="668236" y="242088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chemeClr val="bg1"/>
                </a:solidFill>
                <a:latin typeface="Times New Roman" pitchFamily="18" charset="0"/>
              </a:rPr>
              <a:t>对于一有限过程</a:t>
            </a:r>
            <a:endParaRPr lang="zh-CN" altLang="en-US" sz="2400">
              <a:solidFill>
                <a:schemeClr val="bg1"/>
              </a:solidFill>
              <a:latin typeface="Times New Roman" pitchFamily="18" charset="0"/>
            </a:endParaRPr>
          </a:p>
        </p:txBody>
      </p:sp>
      <p:graphicFrame>
        <p:nvGraphicFramePr>
          <p:cNvPr id="13" name="Object 8"/>
          <p:cNvGraphicFramePr>
            <a:graphicFrameLocks/>
          </p:cNvGraphicFramePr>
          <p:nvPr>
            <p:extLst>
              <p:ext uri="{D42A27DB-BD31-4B8C-83A1-F6EECF244321}">
                <p14:modId xmlns:p14="http://schemas.microsoft.com/office/powerpoint/2010/main" val="1492600478"/>
              </p:ext>
            </p:extLst>
          </p:nvPr>
        </p:nvGraphicFramePr>
        <p:xfrm>
          <a:off x="970979" y="3230438"/>
          <a:ext cx="3514725" cy="828675"/>
        </p:xfrm>
        <a:graphic>
          <a:graphicData uri="http://schemas.openxmlformats.org/presentationml/2006/ole">
            <mc:AlternateContent xmlns:mc="http://schemas.openxmlformats.org/markup-compatibility/2006">
              <mc:Choice xmlns:v="urn:schemas-microsoft-com:vml" Requires="v">
                <p:oleObj spid="_x0000_s30761" name="公式" r:id="rId9" imgW="3409893" imgH="733410" progId="Equation.3">
                  <p:embed/>
                </p:oleObj>
              </mc:Choice>
              <mc:Fallback>
                <p:oleObj name="公式" r:id="rId9" imgW="3409893" imgH="733410"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0979" y="3230438"/>
                        <a:ext cx="3514725"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9"/>
          <p:cNvGraphicFramePr>
            <a:graphicFrameLocks/>
          </p:cNvGraphicFramePr>
          <p:nvPr>
            <p:extLst>
              <p:ext uri="{D42A27DB-BD31-4B8C-83A1-F6EECF244321}">
                <p14:modId xmlns:p14="http://schemas.microsoft.com/office/powerpoint/2010/main" val="3396875076"/>
              </p:ext>
            </p:extLst>
          </p:nvPr>
        </p:nvGraphicFramePr>
        <p:xfrm>
          <a:off x="4499992" y="3212976"/>
          <a:ext cx="2443162" cy="822325"/>
        </p:xfrm>
        <a:graphic>
          <a:graphicData uri="http://schemas.openxmlformats.org/presentationml/2006/ole">
            <mc:AlternateContent xmlns:mc="http://schemas.openxmlformats.org/markup-compatibility/2006">
              <mc:Choice xmlns:v="urn:schemas-microsoft-com:vml" Requires="v">
                <p:oleObj spid="_x0000_s30762" name="Equation" r:id="rId11" imgW="2362253" imgH="733410" progId="Equation.3">
                  <p:embed/>
                </p:oleObj>
              </mc:Choice>
              <mc:Fallback>
                <p:oleObj name="Equation" r:id="rId11" imgW="2362253" imgH="733410"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99992" y="3212976"/>
                        <a:ext cx="2443162"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0"/>
          <p:cNvGraphicFramePr>
            <a:graphicFrameLocks/>
          </p:cNvGraphicFramePr>
          <p:nvPr>
            <p:extLst>
              <p:ext uri="{D42A27DB-BD31-4B8C-83A1-F6EECF244321}">
                <p14:modId xmlns:p14="http://schemas.microsoft.com/office/powerpoint/2010/main" val="4135161544"/>
              </p:ext>
            </p:extLst>
          </p:nvPr>
        </p:nvGraphicFramePr>
        <p:xfrm>
          <a:off x="6808217" y="3444751"/>
          <a:ext cx="874712" cy="428625"/>
        </p:xfrm>
        <a:graphic>
          <a:graphicData uri="http://schemas.openxmlformats.org/presentationml/2006/ole">
            <mc:AlternateContent xmlns:mc="http://schemas.openxmlformats.org/markup-compatibility/2006">
              <mc:Choice xmlns:v="urn:schemas-microsoft-com:vml" Requires="v">
                <p:oleObj spid="_x0000_s30763" name="Equation" r:id="rId13" imgW="790657" imgH="342816" progId="Equation.3">
                  <p:embed/>
                </p:oleObj>
              </mc:Choice>
              <mc:Fallback>
                <p:oleObj name="Equation" r:id="rId13" imgW="790657" imgH="342816"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08217" y="3444751"/>
                        <a:ext cx="874712"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Text Box 11"/>
          <p:cNvSpPr txBox="1">
            <a:spLocks noChangeArrowheads="1"/>
          </p:cNvSpPr>
          <p:nvPr/>
        </p:nvSpPr>
        <p:spPr bwMode="auto">
          <a:xfrm>
            <a:off x="788192" y="4365104"/>
            <a:ext cx="7920037" cy="1114425"/>
          </a:xfrm>
          <a:prstGeom prst="rect">
            <a:avLst/>
          </a:prstGeom>
          <a:solidFill>
            <a:srgbClr val="0033CC">
              <a:alpha val="50195"/>
            </a:srgbClr>
          </a:solidFill>
          <a:ln w="19050">
            <a:solidFill>
              <a:srgbClr val="0099CC">
                <a:alpha val="20000"/>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dirty="0">
                <a:solidFill>
                  <a:srgbClr val="FFFFFF"/>
                </a:solidFill>
                <a:latin typeface="Times New Roman" pitchFamily="18" charset="0"/>
                <a:ea typeface="楷体_GB2312" pitchFamily="49" charset="-122"/>
              </a:rPr>
              <a:t>绕定轴转动刚体在任一过程中动能的增量，等于在该过程中作用在刚体上所有外力所作功的总和。这就是绕定轴转动刚体的</a:t>
            </a:r>
            <a:r>
              <a:rPr lang="en-US" altLang="zh-CN" sz="2400" b="1" dirty="0">
                <a:solidFill>
                  <a:srgbClr val="FFFFFF"/>
                </a:solidFill>
                <a:latin typeface="华文楷体" pitchFamily="2" charset="-122"/>
                <a:ea typeface="楷体_GB2312" pitchFamily="49" charset="-122"/>
              </a:rPr>
              <a:t>——</a:t>
            </a:r>
            <a:r>
              <a:rPr lang="zh-CN" altLang="en-US" sz="2400" b="1" dirty="0">
                <a:solidFill>
                  <a:srgbClr val="66FFFF"/>
                </a:solidFill>
                <a:latin typeface="Times New Roman" pitchFamily="18" charset="0"/>
                <a:ea typeface="楷体_GB2312" pitchFamily="49" charset="-122"/>
              </a:rPr>
              <a:t>动能定理</a:t>
            </a:r>
            <a:endParaRPr lang="zh-CN" altLang="en-US" sz="2400" dirty="0">
              <a:solidFill>
                <a:srgbClr val="66FFFF"/>
              </a:solidFill>
              <a:latin typeface="Times New Roman" pitchFamily="18" charset="0"/>
              <a:ea typeface="楷体_GB2312" pitchFamily="49" charset="-122"/>
            </a:endParaRPr>
          </a:p>
        </p:txBody>
      </p:sp>
    </p:spTree>
    <p:extLst>
      <p:ext uri="{BB962C8B-B14F-4D97-AF65-F5344CB8AC3E}">
        <p14:creationId xmlns:p14="http://schemas.microsoft.com/office/powerpoint/2010/main" val="303357770"/>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2" grpId="0" autoUpdateAnimBg="0"/>
      <p:bldP spid="16"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1038225" y="381000"/>
            <a:ext cx="2101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a:solidFill>
                  <a:srgbClr val="66FFFF"/>
                </a:solidFill>
                <a:latin typeface="Times New Roman" pitchFamily="18" charset="0"/>
              </a:rPr>
              <a:t> </a:t>
            </a:r>
            <a:r>
              <a:rPr lang="zh-CN" altLang="en-US" sz="2400" b="1">
                <a:solidFill>
                  <a:srgbClr val="66FFFF"/>
                </a:solidFill>
                <a:latin typeface="Times New Roman" pitchFamily="18" charset="0"/>
              </a:rPr>
              <a:t>刚体的机械能</a:t>
            </a:r>
          </a:p>
        </p:txBody>
      </p:sp>
      <p:graphicFrame>
        <p:nvGraphicFramePr>
          <p:cNvPr id="34819" name="Object 3"/>
          <p:cNvGraphicFramePr>
            <a:graphicFrameLocks/>
          </p:cNvGraphicFramePr>
          <p:nvPr/>
        </p:nvGraphicFramePr>
        <p:xfrm>
          <a:off x="4191000" y="460375"/>
          <a:ext cx="1749425" cy="292100"/>
        </p:xfrm>
        <a:graphic>
          <a:graphicData uri="http://schemas.openxmlformats.org/presentationml/2006/ole">
            <mc:AlternateContent xmlns:mc="http://schemas.openxmlformats.org/markup-compatibility/2006">
              <mc:Choice xmlns:v="urn:schemas-microsoft-com:vml" Requires="v">
                <p:oleObj spid="_x0000_s31806" name="Equation" r:id="rId3" imgW="1666885" imgH="200021" progId="Equation.3">
                  <p:embed/>
                </p:oleObj>
              </mc:Choice>
              <mc:Fallback>
                <p:oleObj name="Equation" r:id="rId3" imgW="1666885" imgH="200021" progId="Equation.3">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460375"/>
                        <a:ext cx="1749425"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0" name="Rectangle 4"/>
          <p:cNvSpPr>
            <a:spLocks noChangeArrowheads="1"/>
          </p:cNvSpPr>
          <p:nvPr/>
        </p:nvSpPr>
        <p:spPr bwMode="auto">
          <a:xfrm>
            <a:off x="1187450" y="1052513"/>
            <a:ext cx="18415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400" b="1">
                <a:solidFill>
                  <a:srgbClr val="66FFFF"/>
                </a:solidFill>
                <a:latin typeface="宋体" pitchFamily="2" charset="-122"/>
              </a:rPr>
              <a:t>刚体重力势能</a:t>
            </a:r>
            <a:endParaRPr lang="zh-CN" altLang="en-US" sz="2400" b="1">
              <a:solidFill>
                <a:srgbClr val="66FFFF"/>
              </a:solidFill>
              <a:latin typeface="Times New Roman" pitchFamily="18" charset="0"/>
            </a:endParaRPr>
          </a:p>
        </p:txBody>
      </p:sp>
      <p:grpSp>
        <p:nvGrpSpPr>
          <p:cNvPr id="34821" name="Group 5"/>
          <p:cNvGrpSpPr>
            <a:grpSpLocks/>
          </p:cNvGrpSpPr>
          <p:nvPr/>
        </p:nvGrpSpPr>
        <p:grpSpPr bwMode="auto">
          <a:xfrm>
            <a:off x="1184275" y="1628775"/>
            <a:ext cx="1878013" cy="2773363"/>
            <a:chOff x="746" y="1026"/>
            <a:chExt cx="1183" cy="1747"/>
          </a:xfrm>
        </p:grpSpPr>
        <p:sp>
          <p:nvSpPr>
            <p:cNvPr id="36898" name="Freeform 6"/>
            <p:cNvSpPr>
              <a:spLocks/>
            </p:cNvSpPr>
            <p:nvPr/>
          </p:nvSpPr>
          <p:spPr bwMode="auto">
            <a:xfrm rot="14896355" flipH="1">
              <a:off x="839" y="933"/>
              <a:ext cx="998" cy="1183"/>
            </a:xfrm>
            <a:custGeom>
              <a:avLst/>
              <a:gdLst>
                <a:gd name="T0" fmla="*/ 0 w 2120"/>
                <a:gd name="T1" fmla="*/ 32 h 1720"/>
                <a:gd name="T2" fmla="*/ 0 w 2120"/>
                <a:gd name="T3" fmla="*/ 17 h 1720"/>
                <a:gd name="T4" fmla="*/ 0 w 2120"/>
                <a:gd name="T5" fmla="*/ 5 h 1720"/>
                <a:gd name="T6" fmla="*/ 1 w 2120"/>
                <a:gd name="T7" fmla="*/ 2 h 1720"/>
                <a:gd name="T8" fmla="*/ 1 w 2120"/>
                <a:gd name="T9" fmla="*/ 18 h 1720"/>
                <a:gd name="T10" fmla="*/ 1 w 2120"/>
                <a:gd name="T11" fmla="*/ 33 h 1720"/>
                <a:gd name="T12" fmla="*/ 0 w 2120"/>
                <a:gd name="T13" fmla="*/ 40 h 1720"/>
                <a:gd name="T14" fmla="*/ 0 w 2120"/>
                <a:gd name="T15" fmla="*/ 39 h 1720"/>
                <a:gd name="T16" fmla="*/ 0 w 2120"/>
                <a:gd name="T17" fmla="*/ 32 h 1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20" h="1720">
                  <a:moveTo>
                    <a:pt x="400" y="1380"/>
                  </a:moveTo>
                  <a:cubicBezTo>
                    <a:pt x="280" y="1228"/>
                    <a:pt x="0" y="930"/>
                    <a:pt x="25" y="735"/>
                  </a:cubicBezTo>
                  <a:cubicBezTo>
                    <a:pt x="50" y="540"/>
                    <a:pt x="315" y="317"/>
                    <a:pt x="550" y="210"/>
                  </a:cubicBezTo>
                  <a:cubicBezTo>
                    <a:pt x="785" y="103"/>
                    <a:pt x="1185" y="0"/>
                    <a:pt x="1435" y="90"/>
                  </a:cubicBezTo>
                  <a:cubicBezTo>
                    <a:pt x="1685" y="180"/>
                    <a:pt x="1980" y="530"/>
                    <a:pt x="2050" y="750"/>
                  </a:cubicBezTo>
                  <a:cubicBezTo>
                    <a:pt x="2120" y="970"/>
                    <a:pt x="1970" y="1255"/>
                    <a:pt x="1855" y="1410"/>
                  </a:cubicBezTo>
                  <a:cubicBezTo>
                    <a:pt x="1740" y="1565"/>
                    <a:pt x="1545" y="1640"/>
                    <a:pt x="1360" y="1680"/>
                  </a:cubicBezTo>
                  <a:cubicBezTo>
                    <a:pt x="1175" y="1720"/>
                    <a:pt x="910" y="1702"/>
                    <a:pt x="745" y="1650"/>
                  </a:cubicBezTo>
                  <a:cubicBezTo>
                    <a:pt x="580" y="1598"/>
                    <a:pt x="520" y="1532"/>
                    <a:pt x="400" y="1380"/>
                  </a:cubicBezTo>
                  <a:close/>
                </a:path>
              </a:pathLst>
            </a:custGeom>
            <a:solidFill>
              <a:srgbClr val="9B9A66"/>
            </a:solidFill>
            <a:ln w="38100" cmpd="sng">
              <a:solidFill>
                <a:srgbClr val="00FF00"/>
              </a:solidFill>
              <a:round/>
              <a:headEnd/>
              <a:tailEnd/>
            </a:ln>
          </p:spPr>
          <p:txBody>
            <a:bodyPr/>
            <a:lstStyle/>
            <a:p>
              <a:endParaRPr lang="zh-CN" altLang="en-US"/>
            </a:p>
          </p:txBody>
        </p:sp>
        <p:sp>
          <p:nvSpPr>
            <p:cNvPr id="36899" name="Line 7"/>
            <p:cNvSpPr>
              <a:spLocks noChangeShapeType="1"/>
            </p:cNvSpPr>
            <p:nvPr/>
          </p:nvSpPr>
          <p:spPr bwMode="auto">
            <a:xfrm>
              <a:off x="1242" y="1616"/>
              <a:ext cx="0" cy="1157"/>
            </a:xfrm>
            <a:prstGeom prst="line">
              <a:avLst/>
            </a:prstGeom>
            <a:noFill/>
            <a:ln w="38100">
              <a:solidFill>
                <a:srgbClr val="99FF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00" name="Line 8"/>
            <p:cNvSpPr>
              <a:spLocks noChangeShapeType="1"/>
            </p:cNvSpPr>
            <p:nvPr/>
          </p:nvSpPr>
          <p:spPr bwMode="auto">
            <a:xfrm>
              <a:off x="1500" y="1474"/>
              <a:ext cx="0" cy="1299"/>
            </a:xfrm>
            <a:prstGeom prst="line">
              <a:avLst/>
            </a:prstGeom>
            <a:noFill/>
            <a:ln w="38100">
              <a:solidFill>
                <a:srgbClr val="99FFCC"/>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34825" name="Object 9"/>
          <p:cNvGraphicFramePr>
            <a:graphicFrameLocks/>
          </p:cNvGraphicFramePr>
          <p:nvPr/>
        </p:nvGraphicFramePr>
        <p:xfrm>
          <a:off x="5219700" y="3397250"/>
          <a:ext cx="2560638" cy="784225"/>
        </p:xfrm>
        <a:graphic>
          <a:graphicData uri="http://schemas.openxmlformats.org/presentationml/2006/ole">
            <mc:AlternateContent xmlns:mc="http://schemas.openxmlformats.org/markup-compatibility/2006">
              <mc:Choice xmlns:v="urn:schemas-microsoft-com:vml" Requires="v">
                <p:oleObj spid="_x0000_s31807" name="公式" r:id="rId5" imgW="2466990" imgH="695349" progId="Equation.3">
                  <p:embed/>
                </p:oleObj>
              </mc:Choice>
              <mc:Fallback>
                <p:oleObj name="公式" r:id="rId5" imgW="2466990" imgH="695349" progId="Equation.3">
                  <p:embed/>
                  <p:pic>
                    <p:nvPicPr>
                      <p:cNvPr id="0" name="Object 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9700" y="3397250"/>
                        <a:ext cx="2560638" cy="78422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6" name="Object 10"/>
          <p:cNvGraphicFramePr>
            <a:graphicFrameLocks/>
          </p:cNvGraphicFramePr>
          <p:nvPr/>
        </p:nvGraphicFramePr>
        <p:xfrm>
          <a:off x="4049713" y="973138"/>
          <a:ext cx="2212975" cy="511175"/>
        </p:xfrm>
        <a:graphic>
          <a:graphicData uri="http://schemas.openxmlformats.org/presentationml/2006/ole">
            <mc:AlternateContent xmlns:mc="http://schemas.openxmlformats.org/markup-compatibility/2006">
              <mc:Choice xmlns:v="urn:schemas-microsoft-com:vml" Requires="v">
                <p:oleObj spid="_x0000_s31808" name="Equation" r:id="rId7" imgW="2124165" imgH="419207" progId="Equation.3">
                  <p:embed/>
                </p:oleObj>
              </mc:Choice>
              <mc:Fallback>
                <p:oleObj name="Equation" r:id="rId7" imgW="2124165" imgH="419207" progId="Equation.3">
                  <p:embed/>
                  <p:pic>
                    <p:nvPicPr>
                      <p:cNvPr id="0" name="Object 1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49713" y="973138"/>
                        <a:ext cx="2212975"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7" name="Object 11"/>
          <p:cNvGraphicFramePr>
            <a:graphicFrameLocks/>
          </p:cNvGraphicFramePr>
          <p:nvPr/>
        </p:nvGraphicFramePr>
        <p:xfrm>
          <a:off x="4533900" y="1638300"/>
          <a:ext cx="3157538" cy="850900"/>
        </p:xfrm>
        <a:graphic>
          <a:graphicData uri="http://schemas.openxmlformats.org/presentationml/2006/ole">
            <mc:AlternateContent xmlns:mc="http://schemas.openxmlformats.org/markup-compatibility/2006">
              <mc:Choice xmlns:v="urn:schemas-microsoft-com:vml" Requires="v">
                <p:oleObj spid="_x0000_s31809" name="公式" r:id="rId9" imgW="3057620" imgH="762022" progId="Equation.3">
                  <p:embed/>
                </p:oleObj>
              </mc:Choice>
              <mc:Fallback>
                <p:oleObj name="公式" r:id="rId9" imgW="3057620" imgH="762022" progId="Equation.3">
                  <p:embed/>
                  <p:pic>
                    <p:nvPicPr>
                      <p:cNvPr id="0" name="Object 1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33900" y="1638300"/>
                        <a:ext cx="3157538"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8" name="Text Box 12"/>
          <p:cNvSpPr txBox="1">
            <a:spLocks noChangeArrowheads="1"/>
          </p:cNvSpPr>
          <p:nvPr/>
        </p:nvSpPr>
        <p:spPr bwMode="auto">
          <a:xfrm>
            <a:off x="3992563" y="3357563"/>
            <a:ext cx="1371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66FFFF"/>
                </a:solidFill>
                <a:latin typeface="Times New Roman" pitchFamily="18" charset="0"/>
              </a:rPr>
              <a:t>刚体的机械能</a:t>
            </a:r>
          </a:p>
        </p:txBody>
      </p:sp>
      <p:sp>
        <p:nvSpPr>
          <p:cNvPr id="34829" name="AutoShape 13"/>
          <p:cNvSpPr>
            <a:spLocks noChangeArrowheads="1"/>
          </p:cNvSpPr>
          <p:nvPr/>
        </p:nvSpPr>
        <p:spPr bwMode="auto">
          <a:xfrm>
            <a:off x="5437188" y="2708275"/>
            <a:ext cx="1871662" cy="415925"/>
          </a:xfrm>
          <a:prstGeom prst="wedgeRectCallout">
            <a:avLst>
              <a:gd name="adj1" fmla="val 38806"/>
              <a:gd name="adj2" fmla="val -150764"/>
            </a:avLst>
          </a:prstGeom>
          <a:noFill/>
          <a:ln w="9525">
            <a:solidFill>
              <a:srgbClr val="66FFFF"/>
            </a:solidFill>
            <a:miter lim="800000"/>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r>
              <a:rPr lang="zh-CN" altLang="en-US" sz="2000" b="1">
                <a:solidFill>
                  <a:schemeClr val="bg1"/>
                </a:solidFill>
                <a:latin typeface="Times New Roman" pitchFamily="18" charset="0"/>
                <a:ea typeface="楷体_GB2312" pitchFamily="49" charset="-122"/>
              </a:rPr>
              <a:t>质心的势能</a:t>
            </a:r>
          </a:p>
        </p:txBody>
      </p:sp>
      <p:sp>
        <p:nvSpPr>
          <p:cNvPr id="34830" name="Text Box 14"/>
          <p:cNvSpPr txBox="1">
            <a:spLocks noChangeArrowheads="1"/>
          </p:cNvSpPr>
          <p:nvPr/>
        </p:nvSpPr>
        <p:spPr bwMode="auto">
          <a:xfrm>
            <a:off x="1116013" y="4772025"/>
            <a:ext cx="264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66FFFF"/>
                </a:solidFill>
                <a:latin typeface="Times New Roman" pitchFamily="18" charset="0"/>
              </a:rPr>
              <a:t>刚体的机械能守恒</a:t>
            </a:r>
            <a:endParaRPr lang="zh-CN" altLang="en-US" sz="2400">
              <a:solidFill>
                <a:srgbClr val="66FFFF"/>
              </a:solidFill>
              <a:latin typeface="Times New Roman" pitchFamily="18" charset="0"/>
            </a:endParaRPr>
          </a:p>
        </p:txBody>
      </p:sp>
      <p:graphicFrame>
        <p:nvGraphicFramePr>
          <p:cNvPr id="34831" name="Object 15"/>
          <p:cNvGraphicFramePr>
            <a:graphicFrameLocks/>
          </p:cNvGraphicFramePr>
          <p:nvPr/>
        </p:nvGraphicFramePr>
        <p:xfrm>
          <a:off x="5219700" y="4572000"/>
          <a:ext cx="2592388" cy="827088"/>
        </p:xfrm>
        <a:graphic>
          <a:graphicData uri="http://schemas.openxmlformats.org/presentationml/2006/ole">
            <mc:AlternateContent xmlns:mc="http://schemas.openxmlformats.org/markup-compatibility/2006">
              <mc:Choice xmlns:v="urn:schemas-microsoft-com:vml" Requires="v">
                <p:oleObj spid="_x0000_s31810" name="公式" r:id="rId11" imgW="2495603" imgH="733410" progId="Equation.3">
                  <p:embed/>
                </p:oleObj>
              </mc:Choice>
              <mc:Fallback>
                <p:oleObj name="公式" r:id="rId11" imgW="2495603" imgH="733410" progId="Equation.3">
                  <p:embed/>
                  <p:pic>
                    <p:nvPicPr>
                      <p:cNvPr id="0" name="Object 15"/>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19700" y="4572000"/>
                        <a:ext cx="2592388" cy="827088"/>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32" name="Text Box 16"/>
          <p:cNvSpPr txBox="1">
            <a:spLocks noChangeArrowheads="1"/>
          </p:cNvSpPr>
          <p:nvPr/>
        </p:nvSpPr>
        <p:spPr bwMode="auto">
          <a:xfrm>
            <a:off x="758825" y="5676900"/>
            <a:ext cx="8077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chemeClr val="bg1"/>
                </a:solidFill>
                <a:latin typeface="Times New Roman" pitchFamily="18" charset="0"/>
              </a:rPr>
              <a:t>对于包括刚体的系统，功能原理和机械能守恒定律仍成立</a:t>
            </a:r>
          </a:p>
        </p:txBody>
      </p:sp>
      <p:sp>
        <p:nvSpPr>
          <p:cNvPr id="34833" name="Rectangle 17"/>
          <p:cNvSpPr>
            <a:spLocks noChangeArrowheads="1"/>
          </p:cNvSpPr>
          <p:nvPr/>
        </p:nvSpPr>
        <p:spPr bwMode="auto">
          <a:xfrm>
            <a:off x="749300" y="4637088"/>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4000" b="1">
                <a:solidFill>
                  <a:srgbClr val="FFFF66"/>
                </a:solidFill>
                <a:latin typeface="Times New Roman" pitchFamily="18" charset="0"/>
              </a:rPr>
              <a:t>•</a:t>
            </a:r>
          </a:p>
        </p:txBody>
      </p:sp>
      <p:sp>
        <p:nvSpPr>
          <p:cNvPr id="34834" name="Rectangle 18"/>
          <p:cNvSpPr>
            <a:spLocks noChangeArrowheads="1"/>
          </p:cNvSpPr>
          <p:nvPr/>
        </p:nvSpPr>
        <p:spPr bwMode="auto">
          <a:xfrm>
            <a:off x="750888" y="246063"/>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4000" b="1">
                <a:solidFill>
                  <a:srgbClr val="FFFF66"/>
                </a:solidFill>
                <a:latin typeface="Times New Roman" pitchFamily="18" charset="0"/>
              </a:rPr>
              <a:t>•</a:t>
            </a:r>
          </a:p>
        </p:txBody>
      </p:sp>
      <p:grpSp>
        <p:nvGrpSpPr>
          <p:cNvPr id="34835" name="Group 19"/>
          <p:cNvGrpSpPr>
            <a:grpSpLocks/>
          </p:cNvGrpSpPr>
          <p:nvPr/>
        </p:nvGrpSpPr>
        <p:grpSpPr bwMode="auto">
          <a:xfrm>
            <a:off x="900113" y="4400550"/>
            <a:ext cx="2446337" cy="90488"/>
            <a:chOff x="567" y="2772"/>
            <a:chExt cx="1541" cy="57"/>
          </a:xfrm>
        </p:grpSpPr>
        <p:sp>
          <p:nvSpPr>
            <p:cNvPr id="36886" name="Line 20"/>
            <p:cNvSpPr>
              <a:spLocks noChangeShapeType="1"/>
            </p:cNvSpPr>
            <p:nvPr/>
          </p:nvSpPr>
          <p:spPr bwMode="auto">
            <a:xfrm>
              <a:off x="596" y="2772"/>
              <a:ext cx="1512" cy="0"/>
            </a:xfrm>
            <a:prstGeom prst="line">
              <a:avLst/>
            </a:prstGeom>
            <a:noFill/>
            <a:ln w="38100">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7" name="Line 21"/>
            <p:cNvSpPr>
              <a:spLocks noChangeShapeType="1"/>
            </p:cNvSpPr>
            <p:nvPr/>
          </p:nvSpPr>
          <p:spPr bwMode="auto">
            <a:xfrm flipH="1">
              <a:off x="567" y="2784"/>
              <a:ext cx="45" cy="45"/>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8" name="Line 22"/>
            <p:cNvSpPr>
              <a:spLocks noChangeShapeType="1"/>
            </p:cNvSpPr>
            <p:nvPr/>
          </p:nvSpPr>
          <p:spPr bwMode="auto">
            <a:xfrm flipH="1">
              <a:off x="714" y="2784"/>
              <a:ext cx="45" cy="45"/>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9" name="Line 23"/>
            <p:cNvSpPr>
              <a:spLocks noChangeShapeType="1"/>
            </p:cNvSpPr>
            <p:nvPr/>
          </p:nvSpPr>
          <p:spPr bwMode="auto">
            <a:xfrm flipH="1">
              <a:off x="861" y="2784"/>
              <a:ext cx="45" cy="45"/>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0" name="Line 24"/>
            <p:cNvSpPr>
              <a:spLocks noChangeShapeType="1"/>
            </p:cNvSpPr>
            <p:nvPr/>
          </p:nvSpPr>
          <p:spPr bwMode="auto">
            <a:xfrm flipH="1">
              <a:off x="1009" y="2784"/>
              <a:ext cx="45" cy="45"/>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1" name="Line 25"/>
            <p:cNvSpPr>
              <a:spLocks noChangeShapeType="1"/>
            </p:cNvSpPr>
            <p:nvPr/>
          </p:nvSpPr>
          <p:spPr bwMode="auto">
            <a:xfrm flipH="1">
              <a:off x="1156" y="2784"/>
              <a:ext cx="45" cy="45"/>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2" name="Line 26"/>
            <p:cNvSpPr>
              <a:spLocks noChangeShapeType="1"/>
            </p:cNvSpPr>
            <p:nvPr/>
          </p:nvSpPr>
          <p:spPr bwMode="auto">
            <a:xfrm flipH="1">
              <a:off x="1304" y="2784"/>
              <a:ext cx="45" cy="45"/>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3" name="Line 27"/>
            <p:cNvSpPr>
              <a:spLocks noChangeShapeType="1"/>
            </p:cNvSpPr>
            <p:nvPr/>
          </p:nvSpPr>
          <p:spPr bwMode="auto">
            <a:xfrm flipH="1">
              <a:off x="1451" y="2784"/>
              <a:ext cx="45" cy="45"/>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4" name="Line 28"/>
            <p:cNvSpPr>
              <a:spLocks noChangeShapeType="1"/>
            </p:cNvSpPr>
            <p:nvPr/>
          </p:nvSpPr>
          <p:spPr bwMode="auto">
            <a:xfrm flipH="1">
              <a:off x="1598" y="2784"/>
              <a:ext cx="45" cy="45"/>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5" name="Line 29"/>
            <p:cNvSpPr>
              <a:spLocks noChangeShapeType="1"/>
            </p:cNvSpPr>
            <p:nvPr/>
          </p:nvSpPr>
          <p:spPr bwMode="auto">
            <a:xfrm flipH="1">
              <a:off x="1746" y="2784"/>
              <a:ext cx="45" cy="45"/>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6" name="Line 30"/>
            <p:cNvSpPr>
              <a:spLocks noChangeShapeType="1"/>
            </p:cNvSpPr>
            <p:nvPr/>
          </p:nvSpPr>
          <p:spPr bwMode="auto">
            <a:xfrm flipH="1">
              <a:off x="1893" y="2784"/>
              <a:ext cx="45" cy="45"/>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7" name="Line 31"/>
            <p:cNvSpPr>
              <a:spLocks noChangeShapeType="1"/>
            </p:cNvSpPr>
            <p:nvPr/>
          </p:nvSpPr>
          <p:spPr bwMode="auto">
            <a:xfrm flipH="1">
              <a:off x="2041" y="2784"/>
              <a:ext cx="45" cy="45"/>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34848" name="Object 32"/>
          <p:cNvGraphicFramePr>
            <a:graphicFrameLocks noGrp="1"/>
          </p:cNvGraphicFramePr>
          <p:nvPr>
            <p:ph sz="quarter" idx="1"/>
          </p:nvPr>
        </p:nvGraphicFramePr>
        <p:xfrm>
          <a:off x="1581150" y="3429000"/>
          <a:ext cx="292100" cy="431800"/>
        </p:xfrm>
        <a:graphic>
          <a:graphicData uri="http://schemas.openxmlformats.org/presentationml/2006/ole">
            <mc:AlternateContent xmlns:mc="http://schemas.openxmlformats.org/markup-compatibility/2006">
              <mc:Choice xmlns:v="urn:schemas-microsoft-com:vml" Requires="v">
                <p:oleObj spid="_x0000_s31811" name="公式" r:id="rId13" imgW="200026" imgH="342816" progId="Equation.3">
                  <p:embed/>
                </p:oleObj>
              </mc:Choice>
              <mc:Fallback>
                <p:oleObj name="公式" r:id="rId13" imgW="200026" imgH="342816" progId="Equation.3">
                  <p:embed/>
                  <p:pic>
                    <p:nvPicPr>
                      <p:cNvPr id="0" name="Object 32"/>
                      <p:cNvPicPr>
                        <a:picLocks noGrp="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81150" y="3429000"/>
                        <a:ext cx="2921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49" name="Object 33"/>
          <p:cNvGraphicFramePr>
            <a:graphicFrameLocks noGrp="1"/>
          </p:cNvGraphicFramePr>
          <p:nvPr>
            <p:ph sz="quarter" idx="2"/>
          </p:nvPr>
        </p:nvGraphicFramePr>
        <p:xfrm>
          <a:off x="2508250" y="3944938"/>
          <a:ext cx="957263" cy="409575"/>
        </p:xfrm>
        <a:graphic>
          <a:graphicData uri="http://schemas.openxmlformats.org/presentationml/2006/ole">
            <mc:AlternateContent xmlns:mc="http://schemas.openxmlformats.org/markup-compatibility/2006">
              <mc:Choice xmlns:v="urn:schemas-microsoft-com:vml" Requires="v">
                <p:oleObj spid="_x0000_s31812" name="公式" r:id="rId15" imgW="885946" imgH="323920" progId="Equation.3">
                  <p:embed/>
                </p:oleObj>
              </mc:Choice>
              <mc:Fallback>
                <p:oleObj name="公式" r:id="rId15" imgW="885946" imgH="323920" progId="Equation.3">
                  <p:embed/>
                  <p:pic>
                    <p:nvPicPr>
                      <p:cNvPr id="0" name="Object 33"/>
                      <p:cNvPicPr>
                        <a:picLocks noGrp="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08250" y="3944938"/>
                        <a:ext cx="957263"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50" name="Object 34"/>
          <p:cNvGraphicFramePr>
            <a:graphicFrameLocks noGrp="1"/>
          </p:cNvGraphicFramePr>
          <p:nvPr>
            <p:ph sz="quarter" idx="3"/>
          </p:nvPr>
        </p:nvGraphicFramePr>
        <p:xfrm>
          <a:off x="1643063" y="2413000"/>
          <a:ext cx="411162" cy="258763"/>
        </p:xfrm>
        <a:graphic>
          <a:graphicData uri="http://schemas.openxmlformats.org/presentationml/2006/ole">
            <mc:AlternateContent xmlns:mc="http://schemas.openxmlformats.org/markup-compatibility/2006">
              <mc:Choice xmlns:v="urn:schemas-microsoft-com:vml" Requires="v">
                <p:oleObj spid="_x0000_s31813" name="公式" r:id="rId17" imgW="257254" imgH="123900" progId="Equation.3">
                  <p:embed/>
                </p:oleObj>
              </mc:Choice>
              <mc:Fallback>
                <p:oleObj name="公式" r:id="rId17" imgW="257254" imgH="123900" progId="Equation.3">
                  <p:embed/>
                  <p:pic>
                    <p:nvPicPr>
                      <p:cNvPr id="0" name="Object 34"/>
                      <p:cNvPicPr>
                        <a:picLocks noGrp="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43063" y="2413000"/>
                        <a:ext cx="411162" cy="25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51" name="Object 35"/>
          <p:cNvGraphicFramePr>
            <a:graphicFrameLocks noGrp="1"/>
          </p:cNvGraphicFramePr>
          <p:nvPr>
            <p:ph sz="quarter" idx="4"/>
          </p:nvPr>
        </p:nvGraphicFramePr>
        <p:xfrm>
          <a:off x="2317750" y="2028825"/>
          <a:ext cx="655638" cy="517525"/>
        </p:xfrm>
        <a:graphic>
          <a:graphicData uri="http://schemas.openxmlformats.org/presentationml/2006/ole">
            <mc:AlternateContent xmlns:mc="http://schemas.openxmlformats.org/markup-compatibility/2006">
              <mc:Choice xmlns:v="urn:schemas-microsoft-com:vml" Requires="v">
                <p:oleObj spid="_x0000_s31814" name="公式" r:id="rId19" imgW="457280" imgH="342816" progId="Equation.3">
                  <p:embed/>
                </p:oleObj>
              </mc:Choice>
              <mc:Fallback>
                <p:oleObj name="公式" r:id="rId19" imgW="457280" imgH="342816" progId="Equation.3">
                  <p:embed/>
                  <p:pic>
                    <p:nvPicPr>
                      <p:cNvPr id="0" name="Object 35"/>
                      <p:cNvPicPr>
                        <a:picLocks noGrp="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17750" y="2028825"/>
                        <a:ext cx="655638"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52" name="Object 36"/>
          <p:cNvGraphicFramePr>
            <a:graphicFrameLocks/>
          </p:cNvGraphicFramePr>
          <p:nvPr/>
        </p:nvGraphicFramePr>
        <p:xfrm>
          <a:off x="2452688" y="3429000"/>
          <a:ext cx="265112" cy="431800"/>
        </p:xfrm>
        <a:graphic>
          <a:graphicData uri="http://schemas.openxmlformats.org/presentationml/2006/ole">
            <mc:AlternateContent xmlns:mc="http://schemas.openxmlformats.org/markup-compatibility/2006">
              <mc:Choice xmlns:v="urn:schemas-microsoft-com:vml" Requires="v">
                <p:oleObj spid="_x0000_s31815" name="公式" r:id="rId21" imgW="171412" imgH="342816" progId="Equation.3">
                  <p:embed/>
                </p:oleObj>
              </mc:Choice>
              <mc:Fallback>
                <p:oleObj name="公式" r:id="rId21" imgW="171412" imgH="342816" progId="Equation.3">
                  <p:embed/>
                  <p:pic>
                    <p:nvPicPr>
                      <p:cNvPr id="0" name="Object 36"/>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52688" y="3429000"/>
                        <a:ext cx="265112"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7131" name="Picture 26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906587" y="6144344"/>
            <a:ext cx="5261214" cy="535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34"/>
                                        </p:tgtEl>
                                        <p:attrNameLst>
                                          <p:attrName>style.visibility</p:attrName>
                                        </p:attrNameLst>
                                      </p:cBhvr>
                                      <p:to>
                                        <p:strVal val="visible"/>
                                      </p:to>
                                    </p:set>
                                    <p:animEffect transition="in" filter="wipe(left)">
                                      <p:cBhvr>
                                        <p:cTn id="7" dur="500"/>
                                        <p:tgtEl>
                                          <p:spTgt spid="3483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4818"/>
                                        </p:tgtEl>
                                        <p:attrNameLst>
                                          <p:attrName>style.visibility</p:attrName>
                                        </p:attrNameLst>
                                      </p:cBhvr>
                                      <p:to>
                                        <p:strVal val="visible"/>
                                      </p:to>
                                    </p:set>
                                    <p:animEffect transition="in" filter="wipe(left)">
                                      <p:cBhvr>
                                        <p:cTn id="11" dur="500"/>
                                        <p:tgtEl>
                                          <p:spTgt spid="3481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4819"/>
                                        </p:tgtEl>
                                        <p:attrNameLst>
                                          <p:attrName>style.visibility</p:attrName>
                                        </p:attrNameLst>
                                      </p:cBhvr>
                                      <p:to>
                                        <p:strVal val="visible"/>
                                      </p:to>
                                    </p:set>
                                    <p:animEffect transition="in" filter="wipe(left)">
                                      <p:cBhvr>
                                        <p:cTn id="16" dur="500"/>
                                        <p:tgtEl>
                                          <p:spTgt spid="3481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4820"/>
                                        </p:tgtEl>
                                        <p:attrNameLst>
                                          <p:attrName>style.visibility</p:attrName>
                                        </p:attrNameLst>
                                      </p:cBhvr>
                                      <p:to>
                                        <p:strVal val="visible"/>
                                      </p:to>
                                    </p:set>
                                    <p:animEffect transition="in" filter="wipe(left)">
                                      <p:cBhvr>
                                        <p:cTn id="21" dur="500"/>
                                        <p:tgtEl>
                                          <p:spTgt spid="3482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34826"/>
                                        </p:tgtEl>
                                        <p:attrNameLst>
                                          <p:attrName>style.visibility</p:attrName>
                                        </p:attrNameLst>
                                      </p:cBhvr>
                                      <p:to>
                                        <p:strVal val="visible"/>
                                      </p:to>
                                    </p:set>
                                    <p:animEffect transition="in" filter="wipe(left)">
                                      <p:cBhvr>
                                        <p:cTn id="26" dur="500"/>
                                        <p:tgtEl>
                                          <p:spTgt spid="3482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4827"/>
                                        </p:tgtEl>
                                        <p:attrNameLst>
                                          <p:attrName>style.visibility</p:attrName>
                                        </p:attrNameLst>
                                      </p:cBhvr>
                                      <p:to>
                                        <p:strVal val="visible"/>
                                      </p:to>
                                    </p:set>
                                    <p:animEffect transition="in" filter="wipe(left)">
                                      <p:cBhvr>
                                        <p:cTn id="31" dur="500"/>
                                        <p:tgtEl>
                                          <p:spTgt spid="3482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32" fill="hold" nodeType="clickEffect">
                                  <p:stCondLst>
                                    <p:cond delay="0"/>
                                  </p:stCondLst>
                                  <p:childTnLst>
                                    <p:set>
                                      <p:cBhvr>
                                        <p:cTn id="35" dur="1" fill="hold">
                                          <p:stCondLst>
                                            <p:cond delay="0"/>
                                          </p:stCondLst>
                                        </p:cTn>
                                        <p:tgtEl>
                                          <p:spTgt spid="34821"/>
                                        </p:tgtEl>
                                        <p:attrNameLst>
                                          <p:attrName>style.visibility</p:attrName>
                                        </p:attrNameLst>
                                      </p:cBhvr>
                                      <p:to>
                                        <p:strVal val="visible"/>
                                      </p:to>
                                    </p:set>
                                    <p:animEffect transition="in" filter="box(out)">
                                      <p:cBhvr>
                                        <p:cTn id="36" dur="500"/>
                                        <p:tgtEl>
                                          <p:spTgt spid="34821"/>
                                        </p:tgtEl>
                                      </p:cBhvr>
                                    </p:animEffect>
                                  </p:childTnLst>
                                </p:cTn>
                              </p:par>
                            </p:childTnLst>
                          </p:cTn>
                        </p:par>
                        <p:par>
                          <p:cTn id="37" fill="hold" nodeType="afterGroup">
                            <p:stCondLst>
                              <p:cond delay="500"/>
                            </p:stCondLst>
                            <p:childTnLst>
                              <p:par>
                                <p:cTn id="38" presetID="4" presetClass="entr" presetSubtype="32" fill="hold" nodeType="afterEffect">
                                  <p:stCondLst>
                                    <p:cond delay="0"/>
                                  </p:stCondLst>
                                  <p:childTnLst>
                                    <p:set>
                                      <p:cBhvr>
                                        <p:cTn id="39" dur="1" fill="hold">
                                          <p:stCondLst>
                                            <p:cond delay="0"/>
                                          </p:stCondLst>
                                        </p:cTn>
                                        <p:tgtEl>
                                          <p:spTgt spid="34835"/>
                                        </p:tgtEl>
                                        <p:attrNameLst>
                                          <p:attrName>style.visibility</p:attrName>
                                        </p:attrNameLst>
                                      </p:cBhvr>
                                      <p:to>
                                        <p:strVal val="visible"/>
                                      </p:to>
                                    </p:set>
                                    <p:animEffect transition="in" filter="box(out)">
                                      <p:cBhvr>
                                        <p:cTn id="40" dur="500"/>
                                        <p:tgtEl>
                                          <p:spTgt spid="34835"/>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34851"/>
                                        </p:tgtEl>
                                        <p:attrNameLst>
                                          <p:attrName>style.visibility</p:attrName>
                                        </p:attrNameLst>
                                      </p:cBhvr>
                                      <p:to>
                                        <p:strVal val="visible"/>
                                      </p:to>
                                    </p:set>
                                    <p:animEffect transition="in" filter="wipe(left)">
                                      <p:cBhvr>
                                        <p:cTn id="44" dur="500"/>
                                        <p:tgtEl>
                                          <p:spTgt spid="34851"/>
                                        </p:tgtEl>
                                      </p:cBhvr>
                                    </p:animEffect>
                                  </p:childTnLst>
                                </p:cTn>
                              </p:par>
                            </p:childTnLst>
                          </p:cTn>
                        </p:par>
                        <p:par>
                          <p:cTn id="45" fill="hold" nodeType="afterGroup">
                            <p:stCondLst>
                              <p:cond delay="1500"/>
                            </p:stCondLst>
                            <p:childTnLst>
                              <p:par>
                                <p:cTn id="46" presetID="22" presetClass="entr" presetSubtype="8" fill="hold" nodeType="afterEffect">
                                  <p:stCondLst>
                                    <p:cond delay="0"/>
                                  </p:stCondLst>
                                  <p:childTnLst>
                                    <p:set>
                                      <p:cBhvr>
                                        <p:cTn id="47" dur="1" fill="hold">
                                          <p:stCondLst>
                                            <p:cond delay="0"/>
                                          </p:stCondLst>
                                        </p:cTn>
                                        <p:tgtEl>
                                          <p:spTgt spid="34850"/>
                                        </p:tgtEl>
                                        <p:attrNameLst>
                                          <p:attrName>style.visibility</p:attrName>
                                        </p:attrNameLst>
                                      </p:cBhvr>
                                      <p:to>
                                        <p:strVal val="visible"/>
                                      </p:to>
                                    </p:set>
                                    <p:animEffect transition="in" filter="wipe(left)">
                                      <p:cBhvr>
                                        <p:cTn id="48" dur="500"/>
                                        <p:tgtEl>
                                          <p:spTgt spid="34850"/>
                                        </p:tgtEl>
                                      </p:cBhvr>
                                    </p:animEffect>
                                  </p:childTnLst>
                                </p:cTn>
                              </p:par>
                            </p:childTnLst>
                          </p:cTn>
                        </p:par>
                        <p:par>
                          <p:cTn id="49" fill="hold" nodeType="afterGroup">
                            <p:stCondLst>
                              <p:cond delay="2000"/>
                            </p:stCondLst>
                            <p:childTnLst>
                              <p:par>
                                <p:cTn id="50" presetID="22" presetClass="entr" presetSubtype="8" fill="hold" nodeType="afterEffect">
                                  <p:stCondLst>
                                    <p:cond delay="0"/>
                                  </p:stCondLst>
                                  <p:childTnLst>
                                    <p:set>
                                      <p:cBhvr>
                                        <p:cTn id="51" dur="1" fill="hold">
                                          <p:stCondLst>
                                            <p:cond delay="0"/>
                                          </p:stCondLst>
                                        </p:cTn>
                                        <p:tgtEl>
                                          <p:spTgt spid="34848"/>
                                        </p:tgtEl>
                                        <p:attrNameLst>
                                          <p:attrName>style.visibility</p:attrName>
                                        </p:attrNameLst>
                                      </p:cBhvr>
                                      <p:to>
                                        <p:strVal val="visible"/>
                                      </p:to>
                                    </p:set>
                                    <p:animEffect transition="in" filter="wipe(left)">
                                      <p:cBhvr>
                                        <p:cTn id="52" dur="500"/>
                                        <p:tgtEl>
                                          <p:spTgt spid="34848"/>
                                        </p:tgtEl>
                                      </p:cBhvr>
                                    </p:animEffect>
                                  </p:childTnLst>
                                </p:cTn>
                              </p:par>
                            </p:childTnLst>
                          </p:cTn>
                        </p:par>
                        <p:par>
                          <p:cTn id="53" fill="hold" nodeType="afterGroup">
                            <p:stCondLst>
                              <p:cond delay="2500"/>
                            </p:stCondLst>
                            <p:childTnLst>
                              <p:par>
                                <p:cTn id="54" presetID="22" presetClass="entr" presetSubtype="8" fill="hold" nodeType="afterEffect">
                                  <p:stCondLst>
                                    <p:cond delay="0"/>
                                  </p:stCondLst>
                                  <p:childTnLst>
                                    <p:set>
                                      <p:cBhvr>
                                        <p:cTn id="55" dur="1" fill="hold">
                                          <p:stCondLst>
                                            <p:cond delay="0"/>
                                          </p:stCondLst>
                                        </p:cTn>
                                        <p:tgtEl>
                                          <p:spTgt spid="34852"/>
                                        </p:tgtEl>
                                        <p:attrNameLst>
                                          <p:attrName>style.visibility</p:attrName>
                                        </p:attrNameLst>
                                      </p:cBhvr>
                                      <p:to>
                                        <p:strVal val="visible"/>
                                      </p:to>
                                    </p:set>
                                    <p:animEffect transition="in" filter="wipe(left)">
                                      <p:cBhvr>
                                        <p:cTn id="56" dur="500"/>
                                        <p:tgtEl>
                                          <p:spTgt spid="34852"/>
                                        </p:tgtEl>
                                      </p:cBhvr>
                                    </p:animEffect>
                                  </p:childTnLst>
                                </p:cTn>
                              </p:par>
                            </p:childTnLst>
                          </p:cTn>
                        </p:par>
                        <p:par>
                          <p:cTn id="57" fill="hold" nodeType="afterGroup">
                            <p:stCondLst>
                              <p:cond delay="3000"/>
                            </p:stCondLst>
                            <p:childTnLst>
                              <p:par>
                                <p:cTn id="58" presetID="22" presetClass="entr" presetSubtype="8" fill="hold" nodeType="afterEffect">
                                  <p:stCondLst>
                                    <p:cond delay="0"/>
                                  </p:stCondLst>
                                  <p:childTnLst>
                                    <p:set>
                                      <p:cBhvr>
                                        <p:cTn id="59" dur="1" fill="hold">
                                          <p:stCondLst>
                                            <p:cond delay="0"/>
                                          </p:stCondLst>
                                        </p:cTn>
                                        <p:tgtEl>
                                          <p:spTgt spid="34849"/>
                                        </p:tgtEl>
                                        <p:attrNameLst>
                                          <p:attrName>style.visibility</p:attrName>
                                        </p:attrNameLst>
                                      </p:cBhvr>
                                      <p:to>
                                        <p:strVal val="visible"/>
                                      </p:to>
                                    </p:set>
                                    <p:animEffect transition="in" filter="wipe(left)">
                                      <p:cBhvr>
                                        <p:cTn id="60" dur="500"/>
                                        <p:tgtEl>
                                          <p:spTgt spid="3484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34829"/>
                                        </p:tgtEl>
                                        <p:attrNameLst>
                                          <p:attrName>style.visibility</p:attrName>
                                        </p:attrNameLst>
                                      </p:cBhvr>
                                      <p:to>
                                        <p:strVal val="visible"/>
                                      </p:to>
                                    </p:set>
                                    <p:animEffect transition="in" filter="wipe(left)">
                                      <p:cBhvr>
                                        <p:cTn id="65" dur="500"/>
                                        <p:tgtEl>
                                          <p:spTgt spid="34829"/>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34828"/>
                                        </p:tgtEl>
                                        <p:attrNameLst>
                                          <p:attrName>style.visibility</p:attrName>
                                        </p:attrNameLst>
                                      </p:cBhvr>
                                      <p:to>
                                        <p:strVal val="visible"/>
                                      </p:to>
                                    </p:set>
                                    <p:animEffect transition="in" filter="wipe(left)">
                                      <p:cBhvr>
                                        <p:cTn id="70" dur="500"/>
                                        <p:tgtEl>
                                          <p:spTgt spid="3482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34825"/>
                                        </p:tgtEl>
                                        <p:attrNameLst>
                                          <p:attrName>style.visibility</p:attrName>
                                        </p:attrNameLst>
                                      </p:cBhvr>
                                      <p:to>
                                        <p:strVal val="visible"/>
                                      </p:to>
                                    </p:set>
                                    <p:animEffect transition="in" filter="wipe(left)">
                                      <p:cBhvr>
                                        <p:cTn id="75" dur="500"/>
                                        <p:tgtEl>
                                          <p:spTgt spid="34825"/>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34833"/>
                                        </p:tgtEl>
                                        <p:attrNameLst>
                                          <p:attrName>style.visibility</p:attrName>
                                        </p:attrNameLst>
                                      </p:cBhvr>
                                      <p:to>
                                        <p:strVal val="visible"/>
                                      </p:to>
                                    </p:set>
                                    <p:animEffect transition="in" filter="wipe(left)">
                                      <p:cBhvr>
                                        <p:cTn id="80" dur="500"/>
                                        <p:tgtEl>
                                          <p:spTgt spid="34833"/>
                                        </p:tgtEl>
                                      </p:cBhvr>
                                    </p:animEffect>
                                  </p:childTnLst>
                                </p:cTn>
                              </p:par>
                            </p:childTnLst>
                          </p:cTn>
                        </p:par>
                        <p:par>
                          <p:cTn id="81" fill="hold" nodeType="afterGroup">
                            <p:stCondLst>
                              <p:cond delay="500"/>
                            </p:stCondLst>
                            <p:childTnLst>
                              <p:par>
                                <p:cTn id="82" presetID="22" presetClass="entr" presetSubtype="8" fill="hold" grpId="0" nodeType="afterEffect">
                                  <p:stCondLst>
                                    <p:cond delay="0"/>
                                  </p:stCondLst>
                                  <p:childTnLst>
                                    <p:set>
                                      <p:cBhvr>
                                        <p:cTn id="83" dur="1" fill="hold">
                                          <p:stCondLst>
                                            <p:cond delay="0"/>
                                          </p:stCondLst>
                                        </p:cTn>
                                        <p:tgtEl>
                                          <p:spTgt spid="34830"/>
                                        </p:tgtEl>
                                        <p:attrNameLst>
                                          <p:attrName>style.visibility</p:attrName>
                                        </p:attrNameLst>
                                      </p:cBhvr>
                                      <p:to>
                                        <p:strVal val="visible"/>
                                      </p:to>
                                    </p:set>
                                    <p:animEffect transition="in" filter="wipe(left)">
                                      <p:cBhvr>
                                        <p:cTn id="84" dur="500"/>
                                        <p:tgtEl>
                                          <p:spTgt spid="34830"/>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34831"/>
                                        </p:tgtEl>
                                        <p:attrNameLst>
                                          <p:attrName>style.visibility</p:attrName>
                                        </p:attrNameLst>
                                      </p:cBhvr>
                                      <p:to>
                                        <p:strVal val="visible"/>
                                      </p:to>
                                    </p:set>
                                    <p:animEffect transition="in" filter="wipe(left)">
                                      <p:cBhvr>
                                        <p:cTn id="89" dur="500"/>
                                        <p:tgtEl>
                                          <p:spTgt spid="34831"/>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34832"/>
                                        </p:tgtEl>
                                        <p:attrNameLst>
                                          <p:attrName>style.visibility</p:attrName>
                                        </p:attrNameLst>
                                      </p:cBhvr>
                                      <p:to>
                                        <p:strVal val="visible"/>
                                      </p:to>
                                    </p:set>
                                    <p:animEffect transition="in" filter="wipe(left)">
                                      <p:cBhvr>
                                        <p:cTn id="94" dur="500"/>
                                        <p:tgtEl>
                                          <p:spTgt spid="34832"/>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7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utoUpdateAnimBg="0"/>
      <p:bldP spid="34820" grpId="0" autoUpdateAnimBg="0"/>
      <p:bldP spid="34828" grpId="0" autoUpdateAnimBg="0"/>
      <p:bldP spid="34829" grpId="0" animBg="1" autoUpdateAnimBg="0"/>
      <p:bldP spid="34830" grpId="0" autoUpdateAnimBg="0"/>
      <p:bldP spid="34832" grpId="0"/>
      <p:bldP spid="34833" grpId="0"/>
      <p:bldP spid="3483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矩形 6"/>
          <p:cNvSpPr>
            <a:spLocks noChangeArrowheads="1"/>
          </p:cNvSpPr>
          <p:nvPr/>
        </p:nvSpPr>
        <p:spPr bwMode="auto">
          <a:xfrm>
            <a:off x="0" y="0"/>
            <a:ext cx="91567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FFC000"/>
                </a:solidFill>
                <a:latin typeface="+mn-lt"/>
              </a:rPr>
              <a:t>书中例题</a:t>
            </a:r>
            <a:r>
              <a:rPr lang="en-US" altLang="zh-CN" sz="2400" b="1">
                <a:solidFill>
                  <a:srgbClr val="FFC000"/>
                </a:solidFill>
                <a:latin typeface="+mn-lt"/>
              </a:rPr>
              <a:t>6.8</a:t>
            </a:r>
            <a:r>
              <a:rPr lang="zh-CN" altLang="en-US" sz="2400" b="1">
                <a:solidFill>
                  <a:srgbClr val="FFC000"/>
                </a:solidFill>
                <a:latin typeface="+mn-lt"/>
              </a:rPr>
              <a:t>，</a:t>
            </a:r>
            <a:r>
              <a:rPr lang="en-US" altLang="zh-CN" sz="2400" b="1">
                <a:solidFill>
                  <a:srgbClr val="FFC000"/>
                </a:solidFill>
                <a:latin typeface="+mn-lt"/>
              </a:rPr>
              <a:t>P209  </a:t>
            </a:r>
            <a:r>
              <a:rPr lang="zh-CN" altLang="zh-CN" sz="2400" b="1">
                <a:solidFill>
                  <a:schemeClr val="bg1"/>
                </a:solidFill>
                <a:latin typeface="+mn-lt"/>
              </a:rPr>
              <a:t>圆盘滑轮质量</a:t>
            </a:r>
            <a:r>
              <a:rPr lang="en-US" altLang="zh-CN" sz="2400" b="1" i="1">
                <a:solidFill>
                  <a:schemeClr val="bg1"/>
                </a:solidFill>
                <a:latin typeface="+mn-lt"/>
              </a:rPr>
              <a:t>M</a:t>
            </a:r>
            <a:r>
              <a:rPr lang="zh-CN" altLang="zh-CN" sz="2400" b="1">
                <a:solidFill>
                  <a:schemeClr val="bg1"/>
                </a:solidFill>
                <a:latin typeface="+mn-lt"/>
              </a:rPr>
              <a:t>，半径</a:t>
            </a:r>
            <a:r>
              <a:rPr lang="en-US" altLang="zh-CN" sz="2400" b="1" i="1">
                <a:solidFill>
                  <a:schemeClr val="bg1"/>
                </a:solidFill>
                <a:latin typeface="+mn-lt"/>
              </a:rPr>
              <a:t>R</a:t>
            </a:r>
            <a:r>
              <a:rPr lang="zh-CN" altLang="zh-CN" sz="2400" b="1">
                <a:solidFill>
                  <a:schemeClr val="bg1"/>
                </a:solidFill>
                <a:latin typeface="+mn-lt"/>
              </a:rPr>
              <a:t>，绕轻绳，绳的另一端系一质量</a:t>
            </a:r>
            <a:r>
              <a:rPr lang="en-US" altLang="zh-CN" sz="2400" b="1" i="1">
                <a:solidFill>
                  <a:schemeClr val="bg1"/>
                </a:solidFill>
                <a:latin typeface="+mn-lt"/>
              </a:rPr>
              <a:t>m</a:t>
            </a:r>
            <a:r>
              <a:rPr lang="zh-CN" altLang="zh-CN" sz="2400" b="1">
                <a:solidFill>
                  <a:schemeClr val="bg1"/>
                </a:solidFill>
                <a:latin typeface="+mn-lt"/>
              </a:rPr>
              <a:t>的物体，轴无摩擦，开始时系统静止。</a:t>
            </a:r>
          </a:p>
          <a:p>
            <a:r>
              <a:rPr lang="zh-CN" altLang="zh-CN" sz="2400" b="1">
                <a:solidFill>
                  <a:schemeClr val="bg1"/>
                </a:solidFill>
                <a:latin typeface="+mn-lt"/>
              </a:rPr>
              <a:t>求：物体下降</a:t>
            </a:r>
            <a:r>
              <a:rPr lang="en-US" altLang="zh-CN" sz="2400" b="1" i="1">
                <a:solidFill>
                  <a:schemeClr val="bg1"/>
                </a:solidFill>
                <a:latin typeface="+mn-lt"/>
              </a:rPr>
              <a:t>s</a:t>
            </a:r>
            <a:r>
              <a:rPr lang="zh-CN" altLang="zh-CN" sz="2400" b="1">
                <a:solidFill>
                  <a:schemeClr val="bg1"/>
                </a:solidFill>
                <a:latin typeface="+mn-lt"/>
              </a:rPr>
              <a:t>时，滑轮的角速度和角加速度。</a:t>
            </a:r>
          </a:p>
        </p:txBody>
      </p:sp>
      <p:sp>
        <p:nvSpPr>
          <p:cNvPr id="39939" name="Rectangle 5"/>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latin typeface="+mn-lt"/>
            </a:endParaRPr>
          </a:p>
        </p:txBody>
      </p:sp>
      <p:grpSp>
        <p:nvGrpSpPr>
          <p:cNvPr id="39940" name="Group 1"/>
          <p:cNvGrpSpPr>
            <a:grpSpLocks/>
          </p:cNvGrpSpPr>
          <p:nvPr/>
        </p:nvGrpSpPr>
        <p:grpSpPr bwMode="auto">
          <a:xfrm>
            <a:off x="7019925" y="617538"/>
            <a:ext cx="1549400" cy="2522537"/>
            <a:chOff x="6927" y="921"/>
            <a:chExt cx="1311" cy="2109"/>
          </a:xfrm>
        </p:grpSpPr>
        <p:sp>
          <p:nvSpPr>
            <p:cNvPr id="39943" name="Oval 4"/>
            <p:cNvSpPr>
              <a:spLocks noChangeArrowheads="1"/>
            </p:cNvSpPr>
            <p:nvPr/>
          </p:nvSpPr>
          <p:spPr bwMode="auto">
            <a:xfrm>
              <a:off x="7098" y="921"/>
              <a:ext cx="1140" cy="1140"/>
            </a:xfrm>
            <a:prstGeom prst="ellipse">
              <a:avLst/>
            </a:prstGeom>
            <a:solidFill>
              <a:srgbClr val="FFFFFF"/>
            </a:solidFill>
            <a:ln w="28575">
              <a:solidFill>
                <a:srgbClr val="000000"/>
              </a:solidFill>
              <a:round/>
              <a:headEnd/>
              <a:tailEnd/>
            </a:ln>
          </p:spPr>
          <p:txBody>
            <a:bodyPr/>
            <a:lstStyle/>
            <a:p>
              <a:endParaRPr lang="zh-CN" altLang="en-US">
                <a:latin typeface="+mn-lt"/>
              </a:endParaRPr>
            </a:p>
          </p:txBody>
        </p:sp>
        <p:sp>
          <p:nvSpPr>
            <p:cNvPr id="39944" name="Line 3"/>
            <p:cNvSpPr>
              <a:spLocks noChangeShapeType="1"/>
            </p:cNvSpPr>
            <p:nvPr/>
          </p:nvSpPr>
          <p:spPr bwMode="auto">
            <a:xfrm>
              <a:off x="7098" y="1491"/>
              <a:ext cx="0" cy="11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mn-lt"/>
              </a:endParaRPr>
            </a:p>
          </p:txBody>
        </p:sp>
        <p:sp>
          <p:nvSpPr>
            <p:cNvPr id="39945" name="Rectangle 2"/>
            <p:cNvSpPr>
              <a:spLocks noChangeArrowheads="1"/>
            </p:cNvSpPr>
            <p:nvPr/>
          </p:nvSpPr>
          <p:spPr bwMode="auto">
            <a:xfrm>
              <a:off x="6927" y="2631"/>
              <a:ext cx="342" cy="399"/>
            </a:xfrm>
            <a:prstGeom prst="rect">
              <a:avLst/>
            </a:prstGeom>
            <a:solidFill>
              <a:srgbClr val="FFFFFF"/>
            </a:solidFill>
            <a:ln w="19050">
              <a:solidFill>
                <a:srgbClr val="000000"/>
              </a:solidFill>
              <a:miter lim="800000"/>
              <a:headEnd/>
              <a:tailEnd/>
            </a:ln>
          </p:spPr>
          <p:txBody>
            <a:bodyPr/>
            <a:lstStyle/>
            <a:p>
              <a:endParaRPr lang="zh-CN" altLang="en-US">
                <a:latin typeface="+mn-lt"/>
              </a:endParaRPr>
            </a:p>
          </p:txBody>
        </p:sp>
      </p:grpSp>
      <p:sp>
        <p:nvSpPr>
          <p:cNvPr id="13" name="Rectangle 6"/>
          <p:cNvSpPr>
            <a:spLocks noChangeArrowheads="1"/>
          </p:cNvSpPr>
          <p:nvPr/>
        </p:nvSpPr>
        <p:spPr bwMode="auto">
          <a:xfrm>
            <a:off x="298862" y="1412776"/>
            <a:ext cx="611584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622300" eaLnBrk="0" hangingPunct="0"/>
            <a:r>
              <a:rPr lang="zh-CN" sz="2400" b="1">
                <a:solidFill>
                  <a:schemeClr val="bg1"/>
                </a:solidFill>
                <a:latin typeface="+mn-lt"/>
                <a:cs typeface="Times New Roman" pitchFamily="18" charset="0"/>
              </a:rPr>
              <a:t>解：轴无摩擦，系统机械能守恒</a:t>
            </a:r>
            <a:endParaRPr lang="zh-CN" sz="1100" b="1">
              <a:solidFill>
                <a:schemeClr val="bg1"/>
              </a:solidFill>
              <a:latin typeface="+mn-lt"/>
            </a:endParaRPr>
          </a:p>
          <a:p>
            <a:pPr indent="622300" eaLnBrk="0" hangingPunct="0"/>
            <a:r>
              <a:rPr lang="en-US" altLang="zh-CN" sz="2400" b="1">
                <a:solidFill>
                  <a:schemeClr val="bg1"/>
                </a:solidFill>
                <a:latin typeface="+mn-lt"/>
                <a:cs typeface="Times New Roman" pitchFamily="18" charset="0"/>
              </a:rPr>
              <a:t>            </a:t>
            </a:r>
            <a:r>
              <a:rPr lang="en-US" altLang="zh-CN" sz="2400" b="1" i="1">
                <a:solidFill>
                  <a:schemeClr val="bg1"/>
                </a:solidFill>
                <a:latin typeface="+mn-lt"/>
                <a:cs typeface="Times New Roman" pitchFamily="18" charset="0"/>
              </a:rPr>
              <a:t>m</a:t>
            </a:r>
            <a:r>
              <a:rPr lang="zh-CN" altLang="en-US" sz="2400" b="1">
                <a:solidFill>
                  <a:schemeClr val="bg1"/>
                </a:solidFill>
                <a:latin typeface="+mn-lt"/>
                <a:cs typeface="Times New Roman" pitchFamily="18" charset="0"/>
              </a:rPr>
              <a:t>动能  </a:t>
            </a:r>
            <a:r>
              <a:rPr lang="zh-CN" altLang="en-US" sz="2400" b="1" i="1">
                <a:solidFill>
                  <a:schemeClr val="bg1"/>
                </a:solidFill>
                <a:latin typeface="+mn-lt"/>
                <a:cs typeface="Times New Roman" pitchFamily="18" charset="0"/>
              </a:rPr>
              <a:t>      </a:t>
            </a:r>
            <a:r>
              <a:rPr lang="en-US" altLang="zh-CN" sz="2400" b="1" i="1">
                <a:solidFill>
                  <a:schemeClr val="bg1"/>
                </a:solidFill>
                <a:latin typeface="+mn-lt"/>
                <a:cs typeface="Times New Roman" pitchFamily="18" charset="0"/>
              </a:rPr>
              <a:t>m</a:t>
            </a:r>
            <a:r>
              <a:rPr lang="zh-CN" altLang="en-US" sz="2400" b="1">
                <a:solidFill>
                  <a:schemeClr val="bg1"/>
                </a:solidFill>
                <a:latin typeface="+mn-lt"/>
                <a:cs typeface="Times New Roman" pitchFamily="18" charset="0"/>
              </a:rPr>
              <a:t>势能         </a:t>
            </a:r>
            <a:r>
              <a:rPr lang="en-US" altLang="zh-CN" sz="2400" b="1" i="1">
                <a:solidFill>
                  <a:schemeClr val="bg1"/>
                </a:solidFill>
                <a:latin typeface="+mn-lt"/>
                <a:cs typeface="Times New Roman" pitchFamily="18" charset="0"/>
              </a:rPr>
              <a:t>M</a:t>
            </a:r>
            <a:r>
              <a:rPr lang="zh-CN" altLang="en-US" sz="2400" b="1">
                <a:solidFill>
                  <a:schemeClr val="bg1"/>
                </a:solidFill>
                <a:latin typeface="+mn-lt"/>
                <a:cs typeface="Times New Roman" pitchFamily="18" charset="0"/>
              </a:rPr>
              <a:t>动能</a:t>
            </a:r>
            <a:endParaRPr lang="zh-CN" altLang="en-US" sz="1100" b="1">
              <a:solidFill>
                <a:schemeClr val="bg1"/>
              </a:solidFill>
              <a:latin typeface="+mn-lt"/>
            </a:endParaRPr>
          </a:p>
          <a:p>
            <a:pPr indent="622300" eaLnBrk="0" hangingPunct="0"/>
            <a:r>
              <a:rPr lang="zh-CN" altLang="en-US" sz="2400" b="1">
                <a:solidFill>
                  <a:schemeClr val="bg1"/>
                </a:solidFill>
                <a:latin typeface="+mn-lt"/>
                <a:cs typeface="Times New Roman" pitchFamily="18" charset="0"/>
              </a:rPr>
              <a:t>初：    </a:t>
            </a:r>
            <a:r>
              <a:rPr lang="en-US" altLang="zh-CN" sz="2400" b="1">
                <a:solidFill>
                  <a:schemeClr val="bg1"/>
                </a:solidFill>
                <a:latin typeface="+mn-lt"/>
                <a:cs typeface="Times New Roman" pitchFamily="18" charset="0"/>
              </a:rPr>
              <a:t>0                  </a:t>
            </a:r>
            <a:r>
              <a:rPr lang="en-US" altLang="zh-CN" sz="2400" b="1" i="1">
                <a:solidFill>
                  <a:schemeClr val="bg1"/>
                </a:solidFill>
                <a:latin typeface="+mn-lt"/>
                <a:cs typeface="Times New Roman" pitchFamily="18" charset="0"/>
              </a:rPr>
              <a:t>mgs</a:t>
            </a:r>
            <a:r>
              <a:rPr lang="en-US" altLang="zh-CN" sz="2400" b="1">
                <a:solidFill>
                  <a:schemeClr val="bg1"/>
                </a:solidFill>
                <a:latin typeface="+mn-lt"/>
                <a:cs typeface="Times New Roman" pitchFamily="18" charset="0"/>
              </a:rPr>
              <a:t>		  0</a:t>
            </a:r>
            <a:endParaRPr lang="en-US" altLang="zh-CN" sz="1100" b="1">
              <a:solidFill>
                <a:schemeClr val="bg1"/>
              </a:solidFill>
              <a:latin typeface="+mn-lt"/>
            </a:endParaRPr>
          </a:p>
          <a:p>
            <a:pPr indent="622300" eaLnBrk="0" hangingPunct="0"/>
            <a:r>
              <a:rPr lang="zh-CN" altLang="en-US" sz="2400" b="1">
                <a:solidFill>
                  <a:schemeClr val="bg1"/>
                </a:solidFill>
                <a:latin typeface="+mn-lt"/>
                <a:cs typeface="Times New Roman" pitchFamily="18" charset="0"/>
              </a:rPr>
              <a:t>终：  </a:t>
            </a:r>
            <a:r>
              <a:rPr lang="en-US" altLang="zh-CN" sz="2400" b="1" i="1">
                <a:solidFill>
                  <a:schemeClr val="bg1"/>
                </a:solidFill>
                <a:latin typeface="+mn-lt"/>
                <a:cs typeface="Times New Roman" pitchFamily="18" charset="0"/>
              </a:rPr>
              <a:t>mv</a:t>
            </a:r>
            <a:r>
              <a:rPr lang="en-US" altLang="zh-CN" sz="2400" b="1" baseline="30000">
                <a:solidFill>
                  <a:schemeClr val="bg1"/>
                </a:solidFill>
                <a:latin typeface="+mn-lt"/>
                <a:cs typeface="Times New Roman" pitchFamily="18" charset="0"/>
              </a:rPr>
              <a:t>2</a:t>
            </a:r>
            <a:r>
              <a:rPr lang="en-US" altLang="zh-CN" sz="2400" b="1">
                <a:solidFill>
                  <a:schemeClr val="bg1"/>
                </a:solidFill>
                <a:latin typeface="+mn-lt"/>
                <a:cs typeface="Times New Roman" pitchFamily="18" charset="0"/>
              </a:rPr>
              <a:t>/2               0	             </a:t>
            </a:r>
            <a:r>
              <a:rPr lang="en-US" altLang="zh-CN" sz="2400" b="1" i="1">
                <a:solidFill>
                  <a:schemeClr val="bg1"/>
                </a:solidFill>
                <a:latin typeface="+mn-lt"/>
                <a:cs typeface="Times New Roman" pitchFamily="18" charset="0"/>
              </a:rPr>
              <a:t>J</a:t>
            </a:r>
            <a:r>
              <a:rPr lang="en-US" altLang="zh-CN" sz="2400" b="1" i="1" baseline="-30000">
                <a:solidFill>
                  <a:schemeClr val="bg1"/>
                </a:solidFill>
                <a:latin typeface="+mn-lt"/>
                <a:cs typeface="Times New Roman" pitchFamily="18" charset="0"/>
              </a:rPr>
              <a:t>z</a:t>
            </a:r>
            <a:r>
              <a:rPr lang="en-US" altLang="zh-CN" sz="2400" b="1" i="1">
                <a:solidFill>
                  <a:schemeClr val="bg1"/>
                </a:solidFill>
                <a:latin typeface="+mn-lt"/>
                <a:cs typeface="Times New Roman" pitchFamily="18" charset="0"/>
              </a:rPr>
              <a:t>ω</a:t>
            </a:r>
            <a:r>
              <a:rPr lang="en-US" altLang="zh-CN" sz="2400" b="1" baseline="30000">
                <a:solidFill>
                  <a:schemeClr val="bg1"/>
                </a:solidFill>
                <a:latin typeface="+mn-lt"/>
                <a:cs typeface="Times New Roman" pitchFamily="18" charset="0"/>
              </a:rPr>
              <a:t>2</a:t>
            </a:r>
            <a:r>
              <a:rPr lang="en-US" altLang="zh-CN" sz="2400" b="1">
                <a:solidFill>
                  <a:srgbClr val="FFFFFF"/>
                </a:solidFill>
                <a:latin typeface="Times New Roman"/>
                <a:cs typeface="Times New Roman" pitchFamily="18" charset="0"/>
              </a:rPr>
              <a:t>/2</a:t>
            </a:r>
          </a:p>
          <a:p>
            <a:pPr indent="622300" eaLnBrk="0" hangingPunct="0"/>
            <a:endParaRPr lang="en-US" altLang="zh-CN" sz="2400" b="1">
              <a:solidFill>
                <a:srgbClr val="FFFFFF"/>
              </a:solidFill>
              <a:latin typeface="Times New Roman"/>
              <a:cs typeface="Times New Roman" pitchFamily="18" charset="0"/>
            </a:endParaRPr>
          </a:p>
          <a:p>
            <a:pPr indent="622300" eaLnBrk="0" hangingPunct="0"/>
            <a:r>
              <a:rPr lang="zh-CN" altLang="en-US" sz="2400" b="1">
                <a:solidFill>
                  <a:schemeClr val="bg1"/>
                </a:solidFill>
                <a:latin typeface="+mn-lt"/>
                <a:cs typeface="Times New Roman" pitchFamily="18" charset="0"/>
              </a:rPr>
              <a:t>牵连关系：</a:t>
            </a:r>
            <a:r>
              <a:rPr lang="en-US" altLang="zh-CN" sz="2400" b="1" i="1">
                <a:solidFill>
                  <a:schemeClr val="bg1"/>
                </a:solidFill>
                <a:latin typeface="+mn-lt"/>
                <a:cs typeface="Times New Roman" pitchFamily="18" charset="0"/>
              </a:rPr>
              <a:t>v</a:t>
            </a:r>
            <a:r>
              <a:rPr lang="zh-CN" altLang="en-US" sz="2400" b="1">
                <a:solidFill>
                  <a:schemeClr val="bg1"/>
                </a:solidFill>
                <a:latin typeface="+mn-lt"/>
                <a:cs typeface="Times New Roman" pitchFamily="18" charset="0"/>
              </a:rPr>
              <a:t>＝</a:t>
            </a:r>
            <a:r>
              <a:rPr lang="en-US" altLang="zh-CN" sz="2400" b="1" i="1">
                <a:solidFill>
                  <a:schemeClr val="bg1"/>
                </a:solidFill>
                <a:latin typeface="+mn-lt"/>
                <a:cs typeface="Times New Roman" pitchFamily="18" charset="0"/>
              </a:rPr>
              <a:t>ωR</a:t>
            </a:r>
            <a:r>
              <a:rPr lang="zh-CN" altLang="en-US" sz="2400" b="1">
                <a:solidFill>
                  <a:schemeClr val="bg1"/>
                </a:solidFill>
                <a:latin typeface="+mn-lt"/>
                <a:cs typeface="Times New Roman" pitchFamily="18" charset="0"/>
              </a:rPr>
              <a:t>，</a:t>
            </a:r>
            <a:r>
              <a:rPr lang="en-US" altLang="zh-CN" sz="2400" b="1" i="1">
                <a:solidFill>
                  <a:schemeClr val="bg1"/>
                </a:solidFill>
                <a:latin typeface="+mn-lt"/>
                <a:cs typeface="Times New Roman" pitchFamily="18" charset="0"/>
              </a:rPr>
              <a:t>J</a:t>
            </a:r>
            <a:r>
              <a:rPr lang="en-US" altLang="zh-CN" sz="2400" b="1" i="1" baseline="-30000">
                <a:solidFill>
                  <a:schemeClr val="bg1"/>
                </a:solidFill>
                <a:latin typeface="+mn-lt"/>
                <a:cs typeface="Times New Roman" pitchFamily="18" charset="0"/>
              </a:rPr>
              <a:t>z</a:t>
            </a:r>
            <a:r>
              <a:rPr lang="zh-CN" altLang="en-US" sz="2400" b="1">
                <a:solidFill>
                  <a:schemeClr val="bg1"/>
                </a:solidFill>
                <a:latin typeface="+mn-lt"/>
                <a:cs typeface="Times New Roman" pitchFamily="18" charset="0"/>
              </a:rPr>
              <a:t>＝</a:t>
            </a:r>
            <a:r>
              <a:rPr lang="en-US" altLang="zh-CN" sz="2400" b="1">
                <a:solidFill>
                  <a:schemeClr val="bg1"/>
                </a:solidFill>
                <a:latin typeface="+mn-lt"/>
                <a:cs typeface="Times New Roman" pitchFamily="18" charset="0"/>
              </a:rPr>
              <a:t>1/2 </a:t>
            </a:r>
            <a:r>
              <a:rPr lang="en-US" altLang="zh-CN" sz="2400" b="1" i="1">
                <a:solidFill>
                  <a:schemeClr val="bg1"/>
                </a:solidFill>
                <a:latin typeface="+mn-lt"/>
                <a:cs typeface="Times New Roman" pitchFamily="18" charset="0"/>
              </a:rPr>
              <a:t>MR</a:t>
            </a:r>
            <a:r>
              <a:rPr lang="en-US" altLang="zh-CN" sz="2400" b="1" baseline="30000">
                <a:solidFill>
                  <a:schemeClr val="bg1"/>
                </a:solidFill>
                <a:latin typeface="+mn-lt"/>
                <a:cs typeface="Times New Roman" pitchFamily="18" charset="0"/>
              </a:rPr>
              <a:t>2</a:t>
            </a:r>
            <a:endParaRPr lang="en-US" altLang="zh-CN" sz="3200" b="1">
              <a:solidFill>
                <a:schemeClr val="bg1"/>
              </a:solidFill>
              <a:latin typeface="+mn-lt"/>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130794024"/>
              </p:ext>
            </p:extLst>
          </p:nvPr>
        </p:nvGraphicFramePr>
        <p:xfrm>
          <a:off x="1434632" y="4221088"/>
          <a:ext cx="6287435" cy="504056"/>
        </p:xfrm>
        <a:graphic>
          <a:graphicData uri="http://schemas.openxmlformats.org/presentationml/2006/ole">
            <mc:AlternateContent xmlns:mc="http://schemas.openxmlformats.org/markup-compatibility/2006">
              <mc:Choice xmlns:v="urn:schemas-microsoft-com:vml" Requires="v">
                <p:oleObj spid="_x0000_s32782" name="Equation" r:id="rId3" imgW="3009600" imgH="241200" progId="Equation.DSMT4">
                  <p:embed/>
                </p:oleObj>
              </mc:Choice>
              <mc:Fallback>
                <p:oleObj name="Equation" r:id="rId3" imgW="3009600" imgH="241200" progId="Equation.DSMT4">
                  <p:embed/>
                  <p:pic>
                    <p:nvPicPr>
                      <p:cNvPr id="0" name=""/>
                      <p:cNvPicPr/>
                      <p:nvPr/>
                    </p:nvPicPr>
                    <p:blipFill>
                      <a:blip r:embed="rId4"/>
                      <a:stretch>
                        <a:fillRect/>
                      </a:stretch>
                    </p:blipFill>
                    <p:spPr>
                      <a:xfrm>
                        <a:off x="1434632" y="4221088"/>
                        <a:ext cx="6287435" cy="504056"/>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977885492"/>
              </p:ext>
            </p:extLst>
          </p:nvPr>
        </p:nvGraphicFramePr>
        <p:xfrm>
          <a:off x="3203848" y="5085184"/>
          <a:ext cx="2147887" cy="927100"/>
        </p:xfrm>
        <a:graphic>
          <a:graphicData uri="http://schemas.openxmlformats.org/presentationml/2006/ole">
            <mc:AlternateContent xmlns:mc="http://schemas.openxmlformats.org/markup-compatibility/2006">
              <mc:Choice xmlns:v="urn:schemas-microsoft-com:vml" Requires="v">
                <p:oleObj spid="_x0000_s32783" name="Equation" r:id="rId5" imgW="1028520" imgH="444240" progId="Equation.DSMT4">
                  <p:embed/>
                </p:oleObj>
              </mc:Choice>
              <mc:Fallback>
                <p:oleObj name="Equation" r:id="rId5" imgW="1028520" imgH="444240" progId="Equation.DSMT4">
                  <p:embed/>
                  <p:pic>
                    <p:nvPicPr>
                      <p:cNvPr id="0" name="对象 1"/>
                      <p:cNvPicPr>
                        <a:picLocks noChangeAspect="1" noChangeArrowheads="1"/>
                      </p:cNvPicPr>
                      <p:nvPr/>
                    </p:nvPicPr>
                    <p:blipFill>
                      <a:blip r:embed="rId6"/>
                      <a:srcRect/>
                      <a:stretch>
                        <a:fillRect/>
                      </a:stretch>
                    </p:blipFill>
                    <p:spPr bwMode="auto">
                      <a:xfrm>
                        <a:off x="3203848" y="5085184"/>
                        <a:ext cx="2147887"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854993" y="4158568"/>
            <a:ext cx="7162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chemeClr val="bg1"/>
                </a:solidFill>
              </a:rPr>
              <a:t>以上用刚体运动学的方法由角速度求导求角加速度，</a:t>
            </a:r>
            <a:r>
              <a:rPr lang="zh-CN" altLang="en-US" sz="2400" b="1" dirty="0">
                <a:solidFill>
                  <a:srgbClr val="FFC000"/>
                </a:solidFill>
              </a:rPr>
              <a:t>思考：</a:t>
            </a:r>
            <a:r>
              <a:rPr lang="zh-CN" altLang="en-US" sz="2400" b="1" dirty="0">
                <a:solidFill>
                  <a:schemeClr val="bg1"/>
                </a:solidFill>
              </a:rPr>
              <a:t>如何由动力学方法求角加速度 </a:t>
            </a:r>
            <a:r>
              <a:rPr lang="zh-CN" altLang="en-US" sz="2400" b="1" dirty="0">
                <a:solidFill>
                  <a:srgbClr val="FFC000"/>
                </a:solidFill>
                <a:latin typeface="Times New Roman" pitchFamily="18" charset="0"/>
              </a:rPr>
              <a:t>转动定律</a:t>
            </a:r>
            <a:endParaRPr lang="zh-CN" altLang="en-US" sz="2400" dirty="0"/>
          </a:p>
        </p:txBody>
      </p:sp>
      <p:sp>
        <p:nvSpPr>
          <p:cNvPr id="3" name="矩形 2"/>
          <p:cNvSpPr/>
          <p:nvPr/>
        </p:nvSpPr>
        <p:spPr>
          <a:xfrm>
            <a:off x="278929" y="448630"/>
            <a:ext cx="2040943" cy="461665"/>
          </a:xfrm>
          <a:prstGeom prst="rect">
            <a:avLst/>
          </a:prstGeom>
        </p:spPr>
        <p:txBody>
          <a:bodyPr wrap="none">
            <a:spAutoFit/>
          </a:bodyPr>
          <a:lstStyle/>
          <a:p>
            <a:r>
              <a:rPr lang="zh-CN" altLang="zh-CN" sz="2400" b="1">
                <a:solidFill>
                  <a:schemeClr val="bg1"/>
                </a:solidFill>
              </a:rPr>
              <a:t>求角加速度：</a:t>
            </a:r>
          </a:p>
        </p:txBody>
      </p:sp>
      <p:pic>
        <p:nvPicPr>
          <p:cNvPr id="7680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23145" y="565292"/>
            <a:ext cx="5328592" cy="884822"/>
          </a:xfrm>
          <a:prstGeom prst="rect">
            <a:avLst/>
          </a:prstGeom>
          <a:solidFill>
            <a:schemeClr val="bg1"/>
          </a:solidFill>
          <a:ln>
            <a:noFill/>
          </a:ln>
        </p:spPr>
      </p:pic>
      <p:pic>
        <p:nvPicPr>
          <p:cNvPr id="7680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04492" y="1638288"/>
            <a:ext cx="5321509" cy="864096"/>
          </a:xfrm>
          <a:prstGeom prst="rect">
            <a:avLst/>
          </a:prstGeom>
          <a:solidFill>
            <a:schemeClr val="bg1"/>
          </a:solidFill>
          <a:ln>
            <a:noFill/>
          </a:ln>
        </p:spPr>
      </p:pic>
      <p:sp>
        <p:nvSpPr>
          <p:cNvPr id="6" name="Rectangle 8"/>
          <p:cNvSpPr>
            <a:spLocks noChangeArrowheads="1"/>
          </p:cNvSpPr>
          <p:nvPr/>
        </p:nvSpPr>
        <p:spPr bwMode="auto">
          <a:xfrm>
            <a:off x="422944" y="2631568"/>
            <a:ext cx="531748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zh-CN" sz="2400" b="1">
                <a:solidFill>
                  <a:schemeClr val="bg1"/>
                </a:solidFill>
                <a:latin typeface="+mn-lt"/>
              </a:rPr>
              <a:t>其中</a:t>
            </a:r>
            <a:r>
              <a:rPr lang="en-US" altLang="zh-CN" sz="2400" b="1">
                <a:solidFill>
                  <a:schemeClr val="bg1"/>
                </a:solidFill>
                <a:latin typeface="+mn-lt"/>
              </a:rPr>
              <a:t>d</a:t>
            </a:r>
            <a:r>
              <a:rPr lang="en-US" altLang="zh-CN" sz="2400" b="1" i="1">
                <a:solidFill>
                  <a:schemeClr val="bg1"/>
                </a:solidFill>
                <a:latin typeface="+mn-lt"/>
              </a:rPr>
              <a:t>s</a:t>
            </a:r>
            <a:r>
              <a:rPr lang="en-US" altLang="zh-CN" sz="2400" b="1">
                <a:solidFill>
                  <a:schemeClr val="bg1"/>
                </a:solidFill>
                <a:latin typeface="+mn-lt"/>
              </a:rPr>
              <a:t>/d</a:t>
            </a:r>
            <a:r>
              <a:rPr lang="en-US" altLang="zh-CN" sz="2400" b="1" i="1">
                <a:solidFill>
                  <a:schemeClr val="bg1"/>
                </a:solidFill>
                <a:latin typeface="+mn-lt"/>
              </a:rPr>
              <a:t>t</a:t>
            </a:r>
            <a:r>
              <a:rPr lang="zh-CN" altLang="en-US" sz="2400" b="1">
                <a:solidFill>
                  <a:schemeClr val="bg1"/>
                </a:solidFill>
                <a:latin typeface="+mn-lt"/>
              </a:rPr>
              <a:t>＝</a:t>
            </a:r>
            <a:r>
              <a:rPr lang="en-US" altLang="zh-CN" sz="2400" b="1" i="1">
                <a:solidFill>
                  <a:schemeClr val="bg1"/>
                </a:solidFill>
                <a:latin typeface="+mn-lt"/>
              </a:rPr>
              <a:t>v</a:t>
            </a:r>
            <a:r>
              <a:rPr lang="zh-CN" altLang="en-US" sz="2400" b="1">
                <a:solidFill>
                  <a:schemeClr val="bg1"/>
                </a:solidFill>
                <a:latin typeface="+mn-lt"/>
              </a:rPr>
              <a:t>＝</a:t>
            </a:r>
            <a:r>
              <a:rPr lang="en-US" altLang="zh-CN" sz="2400" b="1" i="1">
                <a:solidFill>
                  <a:schemeClr val="bg1"/>
                </a:solidFill>
                <a:latin typeface="+mn-lt"/>
              </a:rPr>
              <a:t>ωR</a:t>
            </a:r>
            <a:r>
              <a:rPr lang="zh-CN" altLang="en-US" sz="2400" b="1">
                <a:solidFill>
                  <a:schemeClr val="bg1"/>
                </a:solidFill>
                <a:latin typeface="+mn-lt"/>
              </a:rPr>
              <a:t>，并将</a:t>
            </a:r>
            <a:r>
              <a:rPr lang="en-US" altLang="zh-CN" sz="2400" b="1" i="1">
                <a:solidFill>
                  <a:schemeClr val="bg1"/>
                </a:solidFill>
                <a:latin typeface="+mn-lt"/>
              </a:rPr>
              <a:t>ω</a:t>
            </a:r>
            <a:r>
              <a:rPr lang="zh-CN" altLang="en-US" sz="2400" b="1">
                <a:solidFill>
                  <a:schemeClr val="bg1"/>
                </a:solidFill>
                <a:latin typeface="+mn-lt"/>
              </a:rPr>
              <a:t>值代入得：</a:t>
            </a:r>
          </a:p>
        </p:txBody>
      </p:sp>
      <p:pic>
        <p:nvPicPr>
          <p:cNvPr id="76807"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409" y="826728"/>
            <a:ext cx="114300" cy="180975"/>
          </a:xfrm>
          <a:prstGeom prst="rect">
            <a:avLst/>
          </a:prstGeom>
          <a:noFill/>
          <a:extLst>
            <a:ext uri="{909E8E84-426E-40DD-AFC4-6F175D3DCCD1}">
              <a14:hiddenFill xmlns:a14="http://schemas.microsoft.com/office/drawing/2010/main">
                <a:solidFill>
                  <a:srgbClr val="FFFFFF"/>
                </a:solidFill>
              </a14:hiddenFill>
            </a:ext>
          </a:extLst>
        </p:spPr>
      </p:pic>
      <p:pic>
        <p:nvPicPr>
          <p:cNvPr id="76810" name="Picture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152155" y="3222464"/>
            <a:ext cx="4856408" cy="792088"/>
          </a:xfrm>
          <a:prstGeom prst="rect">
            <a:avLst/>
          </a:prstGeom>
          <a:solidFill>
            <a:schemeClr val="bg1"/>
          </a:solidFill>
          <a:ln>
            <a:noFill/>
          </a:ln>
        </p:spPr>
      </p:pic>
      <p:graphicFrame>
        <p:nvGraphicFramePr>
          <p:cNvPr id="4" name="对象 3"/>
          <p:cNvGraphicFramePr>
            <a:graphicFrameLocks noChangeAspect="1"/>
          </p:cNvGraphicFramePr>
          <p:nvPr>
            <p:extLst>
              <p:ext uri="{D42A27DB-BD31-4B8C-83A1-F6EECF244321}">
                <p14:modId xmlns:p14="http://schemas.microsoft.com/office/powerpoint/2010/main" val="776886418"/>
              </p:ext>
            </p:extLst>
          </p:nvPr>
        </p:nvGraphicFramePr>
        <p:xfrm>
          <a:off x="1602654" y="5238688"/>
          <a:ext cx="1697037" cy="874712"/>
        </p:xfrm>
        <a:graphic>
          <a:graphicData uri="http://schemas.openxmlformats.org/presentationml/2006/ole">
            <mc:AlternateContent xmlns:mc="http://schemas.openxmlformats.org/markup-compatibility/2006">
              <mc:Choice xmlns:v="urn:schemas-microsoft-com:vml" Requires="v">
                <p:oleObj spid="_x0000_s33812" name="Equation" r:id="rId7" imgW="812520" imgH="419040" progId="Equation.DSMT4">
                  <p:embed/>
                </p:oleObj>
              </mc:Choice>
              <mc:Fallback>
                <p:oleObj name="Equation" r:id="rId7" imgW="812520" imgH="419040" progId="Equation.DSMT4">
                  <p:embed/>
                  <p:pic>
                    <p:nvPicPr>
                      <p:cNvPr id="0" name="对象 2"/>
                      <p:cNvPicPr>
                        <a:picLocks noChangeAspect="1" noChangeArrowheads="1"/>
                      </p:cNvPicPr>
                      <p:nvPr/>
                    </p:nvPicPr>
                    <p:blipFill>
                      <a:blip r:embed="rId8"/>
                      <a:srcRect/>
                      <a:stretch>
                        <a:fillRect/>
                      </a:stretch>
                    </p:blipFill>
                    <p:spPr bwMode="auto">
                      <a:xfrm>
                        <a:off x="1602654" y="5238688"/>
                        <a:ext cx="1697037" cy="874712"/>
                      </a:xfrm>
                      <a:prstGeom prst="rect">
                        <a:avLst/>
                      </a:prstGeom>
                      <a:solidFill>
                        <a:schemeClr val="bg1"/>
                      </a:solidFill>
                      <a:ln>
                        <a:noFill/>
                      </a:ln>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856692311"/>
              </p:ext>
            </p:extLst>
          </p:nvPr>
        </p:nvGraphicFramePr>
        <p:xfrm>
          <a:off x="4122934" y="5454712"/>
          <a:ext cx="1697037" cy="423862"/>
        </p:xfrm>
        <a:graphic>
          <a:graphicData uri="http://schemas.openxmlformats.org/presentationml/2006/ole">
            <mc:AlternateContent xmlns:mc="http://schemas.openxmlformats.org/markup-compatibility/2006">
              <mc:Choice xmlns:v="urn:schemas-microsoft-com:vml" Requires="v">
                <p:oleObj spid="_x0000_s33813" name="Equation" r:id="rId9" imgW="812520" imgH="203040" progId="Equation.DSMT4">
                  <p:embed/>
                </p:oleObj>
              </mc:Choice>
              <mc:Fallback>
                <p:oleObj name="Equation" r:id="rId9" imgW="812520" imgH="203040" progId="Equation.DSMT4">
                  <p:embed/>
                  <p:pic>
                    <p:nvPicPr>
                      <p:cNvPr id="0" name="对象 3"/>
                      <p:cNvPicPr>
                        <a:picLocks noChangeAspect="1" noChangeArrowheads="1"/>
                      </p:cNvPicPr>
                      <p:nvPr/>
                    </p:nvPicPr>
                    <p:blipFill>
                      <a:blip r:embed="rId10"/>
                      <a:srcRect/>
                      <a:stretch>
                        <a:fillRect/>
                      </a:stretch>
                    </p:blipFill>
                    <p:spPr bwMode="auto">
                      <a:xfrm>
                        <a:off x="4122934" y="5454712"/>
                        <a:ext cx="1697037" cy="4238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170091081"/>
              </p:ext>
            </p:extLst>
          </p:nvPr>
        </p:nvGraphicFramePr>
        <p:xfrm>
          <a:off x="6571206" y="5454712"/>
          <a:ext cx="874713" cy="423862"/>
        </p:xfrm>
        <a:graphic>
          <a:graphicData uri="http://schemas.openxmlformats.org/presentationml/2006/ole">
            <mc:AlternateContent xmlns:mc="http://schemas.openxmlformats.org/markup-compatibility/2006">
              <mc:Choice xmlns:v="urn:schemas-microsoft-com:vml" Requires="v">
                <p:oleObj spid="_x0000_s33814" name="Equation" r:id="rId11" imgW="419040" imgH="203040" progId="Equation.DSMT4">
                  <p:embed/>
                </p:oleObj>
              </mc:Choice>
              <mc:Fallback>
                <p:oleObj name="Equation" r:id="rId11" imgW="419040" imgH="203040" progId="Equation.DSMT4">
                  <p:embed/>
                  <p:pic>
                    <p:nvPicPr>
                      <p:cNvPr id="0" name="对象 4"/>
                      <p:cNvPicPr>
                        <a:picLocks noChangeAspect="1" noChangeArrowheads="1"/>
                      </p:cNvPicPr>
                      <p:nvPr/>
                    </p:nvPicPr>
                    <p:blipFill>
                      <a:blip r:embed="rId12"/>
                      <a:srcRect/>
                      <a:stretch>
                        <a:fillRect/>
                      </a:stretch>
                    </p:blipFill>
                    <p:spPr bwMode="auto">
                      <a:xfrm>
                        <a:off x="6571206" y="5454712"/>
                        <a:ext cx="874713" cy="4238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680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680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680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68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矩形 1"/>
          <p:cNvSpPr>
            <a:spLocks noChangeArrowheads="1"/>
          </p:cNvSpPr>
          <p:nvPr/>
        </p:nvSpPr>
        <p:spPr bwMode="auto">
          <a:xfrm>
            <a:off x="70055" y="0"/>
            <a:ext cx="45799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dirty="0">
                <a:solidFill>
                  <a:srgbClr val="FFC000"/>
                </a:solidFill>
              </a:rPr>
              <a:t>书中习题</a:t>
            </a:r>
            <a:r>
              <a:rPr lang="en-US" altLang="zh-CN" sz="2400" b="1" dirty="0">
                <a:solidFill>
                  <a:srgbClr val="FFC000"/>
                </a:solidFill>
              </a:rPr>
              <a:t>6.13</a:t>
            </a:r>
            <a:r>
              <a:rPr lang="zh-CN" altLang="zh-CN" sz="2400" b="1" dirty="0">
                <a:solidFill>
                  <a:srgbClr val="FFC000"/>
                </a:solidFill>
              </a:rPr>
              <a:t>（</a:t>
            </a:r>
            <a:r>
              <a:rPr lang="en-US" altLang="zh-CN" sz="2400" b="1" dirty="0">
                <a:solidFill>
                  <a:srgbClr val="FFC000"/>
                </a:solidFill>
              </a:rPr>
              <a:t>p227</a:t>
            </a:r>
            <a:r>
              <a:rPr lang="zh-CN" altLang="zh-CN" sz="2400" b="1" dirty="0">
                <a:solidFill>
                  <a:srgbClr val="FFC000"/>
                </a:solidFill>
              </a:rPr>
              <a:t>）（重点）</a:t>
            </a:r>
          </a:p>
        </p:txBody>
      </p:sp>
      <p:sp>
        <p:nvSpPr>
          <p:cNvPr id="57347" name="矩形 2"/>
          <p:cNvSpPr>
            <a:spLocks noChangeArrowheads="1"/>
          </p:cNvSpPr>
          <p:nvPr/>
        </p:nvSpPr>
        <p:spPr bwMode="auto">
          <a:xfrm>
            <a:off x="201293" y="461963"/>
            <a:ext cx="689098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sz="2400" b="1" dirty="0">
                <a:solidFill>
                  <a:schemeClr val="bg1"/>
                </a:solidFill>
                <a:latin typeface="+mn-lt"/>
              </a:rPr>
              <a:t>以力</a:t>
            </a:r>
            <a:r>
              <a:rPr lang="en-US" altLang="zh-CN" sz="2400" b="1" i="1" dirty="0">
                <a:solidFill>
                  <a:schemeClr val="bg1"/>
                </a:solidFill>
                <a:latin typeface="+mn-lt"/>
              </a:rPr>
              <a:t>F</a:t>
            </a:r>
            <a:r>
              <a:rPr lang="zh-CN" altLang="zh-CN" sz="2400" b="1" dirty="0">
                <a:solidFill>
                  <a:schemeClr val="bg1"/>
                </a:solidFill>
                <a:latin typeface="+mn-lt"/>
              </a:rPr>
              <a:t>将一块粗糙平面均匀压在轮上，平面与轮之间的滑动摩擦系数为</a:t>
            </a:r>
            <a:r>
              <a:rPr lang="en-US" altLang="zh-CN" sz="2400" b="1" i="1" dirty="0">
                <a:solidFill>
                  <a:schemeClr val="bg1"/>
                </a:solidFill>
                <a:latin typeface="+mn-lt"/>
              </a:rPr>
              <a:t>μ</a:t>
            </a:r>
            <a:r>
              <a:rPr lang="zh-CN" altLang="zh-CN" sz="2400" b="1" dirty="0">
                <a:solidFill>
                  <a:schemeClr val="bg1"/>
                </a:solidFill>
                <a:latin typeface="+mn-lt"/>
              </a:rPr>
              <a:t>，轮为匀质圆盘，半径为</a:t>
            </a:r>
            <a:r>
              <a:rPr lang="en-US" altLang="zh-CN" sz="2400" b="1" i="1" dirty="0">
                <a:solidFill>
                  <a:schemeClr val="bg1"/>
                </a:solidFill>
                <a:latin typeface="+mn-lt"/>
              </a:rPr>
              <a:t>R</a:t>
            </a:r>
            <a:r>
              <a:rPr lang="zh-CN" altLang="zh-CN" sz="2400" b="1" dirty="0">
                <a:solidFill>
                  <a:schemeClr val="bg1"/>
                </a:solidFill>
                <a:latin typeface="+mn-lt"/>
              </a:rPr>
              <a:t>，质量为</a:t>
            </a:r>
            <a:r>
              <a:rPr lang="en-US" altLang="zh-CN" sz="2400" b="1" i="1" dirty="0">
                <a:solidFill>
                  <a:schemeClr val="bg1"/>
                </a:solidFill>
                <a:latin typeface="+mn-lt"/>
              </a:rPr>
              <a:t>M</a:t>
            </a:r>
            <a:r>
              <a:rPr lang="zh-CN" altLang="zh-CN" sz="2400" b="1" dirty="0">
                <a:solidFill>
                  <a:schemeClr val="bg1"/>
                </a:solidFill>
                <a:latin typeface="+mn-lt"/>
              </a:rPr>
              <a:t>，轴处摩擦力不计，轮的初角速度为</a:t>
            </a:r>
            <a:r>
              <a:rPr lang="en-US" altLang="zh-CN" sz="2400" b="1" i="1" dirty="0">
                <a:solidFill>
                  <a:schemeClr val="bg1"/>
                </a:solidFill>
                <a:latin typeface="+mn-lt"/>
              </a:rPr>
              <a:t>ω</a:t>
            </a:r>
            <a:r>
              <a:rPr lang="en-US" altLang="zh-CN" sz="2400" b="1" baseline="-25000" dirty="0">
                <a:solidFill>
                  <a:schemeClr val="bg1"/>
                </a:solidFill>
                <a:latin typeface="+mn-lt"/>
              </a:rPr>
              <a:t>0</a:t>
            </a:r>
            <a:r>
              <a:rPr lang="zh-CN" altLang="zh-CN" sz="2400" b="1" dirty="0">
                <a:solidFill>
                  <a:schemeClr val="bg1"/>
                </a:solidFill>
                <a:latin typeface="+mn-lt"/>
              </a:rPr>
              <a:t>，问：轮转过多少度时即停止转动。</a:t>
            </a:r>
          </a:p>
        </p:txBody>
      </p:sp>
      <p:pic>
        <p:nvPicPr>
          <p:cNvPr id="5734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3338" y="-16839"/>
            <a:ext cx="2171987" cy="204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2" name="TextBox 1"/>
              <p:cNvSpPr txBox="1"/>
              <p:nvPr/>
            </p:nvSpPr>
            <p:spPr>
              <a:xfrm>
                <a:off x="416783" y="2004275"/>
                <a:ext cx="8550281" cy="1185453"/>
              </a:xfrm>
              <a:prstGeom prst="rect">
                <a:avLst/>
              </a:prstGeom>
              <a:noFill/>
            </p:spPr>
            <p:txBody>
              <a:bodyPr wrap="square" rtlCol="0">
                <a:spAutoFit/>
              </a:bodyPr>
              <a:lstStyle/>
              <a:p>
                <a:r>
                  <a:rPr lang="zh-CN" altLang="en-US" sz="2400" b="1">
                    <a:solidFill>
                      <a:schemeClr val="bg1"/>
                    </a:solidFill>
                    <a:latin typeface="+mn-lt"/>
                  </a:rPr>
                  <a:t>解： 盘面单位面积上的压力为</a:t>
                </a:r>
                <a14:m>
                  <m:oMath xmlns:m="http://schemas.openxmlformats.org/officeDocument/2006/math">
                    <m:f>
                      <m:fPr>
                        <m:ctrlPr>
                          <a:rPr lang="en-US" altLang="zh-CN" sz="3200" b="1" i="1">
                            <a:solidFill>
                              <a:schemeClr val="bg1"/>
                            </a:solidFill>
                            <a:latin typeface="Cambria Math" panose="02040503050406030204" pitchFamily="18" charset="0"/>
                          </a:rPr>
                        </m:ctrlPr>
                      </m:fPr>
                      <m:num>
                        <m:r>
                          <a:rPr lang="en-US" altLang="zh-CN" sz="3200" b="1">
                            <a:solidFill>
                              <a:schemeClr val="bg1"/>
                            </a:solidFill>
                            <a:latin typeface="Cambria Math"/>
                          </a:rPr>
                          <m:t>𝐹</m:t>
                        </m:r>
                      </m:num>
                      <m:den>
                        <m:sSup>
                          <m:sSupPr>
                            <m:ctrlPr>
                              <a:rPr lang="en-US" altLang="zh-CN" sz="3200" b="1" i="1">
                                <a:solidFill>
                                  <a:schemeClr val="bg1"/>
                                </a:solidFill>
                                <a:latin typeface="Cambria Math" panose="02040503050406030204" pitchFamily="18" charset="0"/>
                              </a:rPr>
                            </m:ctrlPr>
                          </m:sSupPr>
                          <m:e>
                            <m:r>
                              <a:rPr lang="zh-CN" altLang="en-US" sz="3200" b="1">
                                <a:solidFill>
                                  <a:schemeClr val="bg1"/>
                                </a:solidFill>
                                <a:latin typeface="Cambria Math"/>
                              </a:rPr>
                              <m:t>𝜋</m:t>
                            </m:r>
                            <m:r>
                              <a:rPr lang="en-US" altLang="zh-CN" sz="3200" b="1">
                                <a:solidFill>
                                  <a:schemeClr val="bg1"/>
                                </a:solidFill>
                                <a:latin typeface="Cambria Math"/>
                              </a:rPr>
                              <m:t>𝑅</m:t>
                            </m:r>
                          </m:e>
                          <m:sup>
                            <m:r>
                              <a:rPr lang="en-US" altLang="zh-CN" sz="3200" b="1">
                                <a:solidFill>
                                  <a:schemeClr val="bg1"/>
                                </a:solidFill>
                                <a:latin typeface="Cambria Math"/>
                              </a:rPr>
                              <m:t>2</m:t>
                            </m:r>
                          </m:sup>
                        </m:sSup>
                      </m:den>
                    </m:f>
                  </m:oMath>
                </a14:m>
                <a:r>
                  <a:rPr lang="en-US" altLang="zh-CN" sz="2400" b="1">
                    <a:solidFill>
                      <a:schemeClr val="bg1"/>
                    </a:solidFill>
                    <a:latin typeface="+mn-lt"/>
                  </a:rPr>
                  <a:t>,</a:t>
                </a:r>
                <a:r>
                  <a:rPr lang="zh-CN" altLang="en-US" sz="2400" b="1">
                    <a:solidFill>
                      <a:schemeClr val="bg1"/>
                    </a:solidFill>
                    <a:latin typeface="+mn-lt"/>
                  </a:rPr>
                  <a:t>以轮心为中心，以</a:t>
                </a:r>
                <a:r>
                  <a:rPr lang="en-US" altLang="zh-CN" sz="2400" b="1" i="1">
                    <a:solidFill>
                      <a:schemeClr val="bg1"/>
                    </a:solidFill>
                    <a:latin typeface="+mn-lt"/>
                  </a:rPr>
                  <a:t>r</a:t>
                </a:r>
                <a:r>
                  <a:rPr lang="zh-CN" altLang="en-US" sz="2400" b="1">
                    <a:solidFill>
                      <a:schemeClr val="bg1"/>
                    </a:solidFill>
                    <a:latin typeface="+mn-lt"/>
                  </a:rPr>
                  <a:t>为半径，取宽为</a:t>
                </a:r>
                <a:r>
                  <a:rPr lang="en-US" altLang="zh-CN" sz="2400" b="1">
                    <a:solidFill>
                      <a:schemeClr val="bg1"/>
                    </a:solidFill>
                    <a:latin typeface="+mn-lt"/>
                  </a:rPr>
                  <a:t>d</a:t>
                </a:r>
                <a:r>
                  <a:rPr lang="en-US" altLang="zh-CN" sz="2400" b="1" i="1">
                    <a:solidFill>
                      <a:schemeClr val="bg1"/>
                    </a:solidFill>
                    <a:latin typeface="+mn-lt"/>
                  </a:rPr>
                  <a:t>r</a:t>
                </a:r>
                <a:r>
                  <a:rPr lang="zh-CN" altLang="en-US" sz="2400" b="1">
                    <a:solidFill>
                      <a:schemeClr val="bg1"/>
                    </a:solidFill>
                    <a:latin typeface="+mn-lt"/>
                  </a:rPr>
                  <a:t>的环，则环上压力为</a:t>
                </a:r>
                <a:endParaRPr lang="zh-CN" altLang="en-US" sz="3200" b="1">
                  <a:solidFill>
                    <a:schemeClr val="bg1"/>
                  </a:solidFill>
                  <a:latin typeface="+mn-lt"/>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416783" y="2004275"/>
                <a:ext cx="8550281" cy="1185453"/>
              </a:xfrm>
              <a:prstGeom prst="rect">
                <a:avLst/>
              </a:prstGeom>
              <a:blipFill rotWithShape="1">
                <a:blip r:embed="rId4"/>
                <a:stretch>
                  <a:fillRect l="-1069" r="-4633" b="-11340"/>
                </a:stretch>
              </a:blipFill>
            </p:spPr>
            <p:txBody>
              <a:bodyPr/>
              <a:lstStyle/>
              <a:p>
                <a:r>
                  <a:rPr lang="zh-CN" altLang="en-US">
                    <a:noFill/>
                  </a:rPr>
                  <a:t> </a:t>
                </a:r>
              </a:p>
            </p:txBody>
          </p:sp>
        </mc:Fallback>
      </mc:AlternateContent>
      <p:graphicFrame>
        <p:nvGraphicFramePr>
          <p:cNvPr id="3" name="对象 2"/>
          <p:cNvGraphicFramePr>
            <a:graphicFrameLocks noChangeAspect="1"/>
          </p:cNvGraphicFramePr>
          <p:nvPr>
            <p:extLst>
              <p:ext uri="{D42A27DB-BD31-4B8C-83A1-F6EECF244321}">
                <p14:modId xmlns:p14="http://schemas.microsoft.com/office/powerpoint/2010/main" val="853720857"/>
              </p:ext>
            </p:extLst>
          </p:nvPr>
        </p:nvGraphicFramePr>
        <p:xfrm>
          <a:off x="5292080" y="2613181"/>
          <a:ext cx="2233870" cy="728947"/>
        </p:xfrm>
        <a:graphic>
          <a:graphicData uri="http://schemas.openxmlformats.org/presentationml/2006/ole">
            <mc:AlternateContent xmlns:mc="http://schemas.openxmlformats.org/markup-compatibility/2006">
              <mc:Choice xmlns:v="urn:schemas-microsoft-com:vml" Requires="v">
                <p:oleObj spid="_x0000_s34854" name="Equation" r:id="rId5" imgW="1206360" imgH="393480" progId="Equation.DSMT4">
                  <p:embed/>
                </p:oleObj>
              </mc:Choice>
              <mc:Fallback>
                <p:oleObj name="Equation" r:id="rId5" imgW="1206360" imgH="393480" progId="Equation.DSMT4">
                  <p:embed/>
                  <p:pic>
                    <p:nvPicPr>
                      <p:cNvPr id="0" name=""/>
                      <p:cNvPicPr/>
                      <p:nvPr/>
                    </p:nvPicPr>
                    <p:blipFill>
                      <a:blip r:embed="rId6"/>
                      <a:stretch>
                        <a:fillRect/>
                      </a:stretch>
                    </p:blipFill>
                    <p:spPr>
                      <a:xfrm>
                        <a:off x="5292080" y="2613181"/>
                        <a:ext cx="2233870" cy="728947"/>
                      </a:xfrm>
                      <a:prstGeom prst="rect">
                        <a:avLst/>
                      </a:prstGeom>
                    </p:spPr>
                  </p:pic>
                </p:oleObj>
              </mc:Fallback>
            </mc:AlternateContent>
          </a:graphicData>
        </a:graphic>
      </p:graphicFrame>
      <p:sp>
        <p:nvSpPr>
          <p:cNvPr id="8" name="TextBox 7"/>
          <p:cNvSpPr txBox="1"/>
          <p:nvPr/>
        </p:nvSpPr>
        <p:spPr>
          <a:xfrm>
            <a:off x="416783" y="3342128"/>
            <a:ext cx="8550281" cy="461665"/>
          </a:xfrm>
          <a:prstGeom prst="rect">
            <a:avLst/>
          </a:prstGeom>
          <a:noFill/>
        </p:spPr>
        <p:txBody>
          <a:bodyPr wrap="square" rtlCol="0">
            <a:spAutoFit/>
          </a:bodyPr>
          <a:lstStyle/>
          <a:p>
            <a:r>
              <a:rPr lang="zh-CN" altLang="en-US" sz="2400" b="1">
                <a:solidFill>
                  <a:schemeClr val="bg1"/>
                </a:solidFill>
                <a:latin typeface="+mn-lt"/>
              </a:rPr>
              <a:t>环上的摩擦力为</a:t>
            </a:r>
            <a:endParaRPr lang="zh-CN" altLang="en-US" sz="3200" b="1">
              <a:solidFill>
                <a:schemeClr val="bg1"/>
              </a:solidFill>
              <a:latin typeface="+mn-lt"/>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283036530"/>
              </p:ext>
            </p:extLst>
          </p:nvPr>
        </p:nvGraphicFramePr>
        <p:xfrm>
          <a:off x="2915816" y="3244438"/>
          <a:ext cx="4803046" cy="755614"/>
        </p:xfrm>
        <a:graphic>
          <a:graphicData uri="http://schemas.openxmlformats.org/presentationml/2006/ole">
            <mc:AlternateContent xmlns:mc="http://schemas.openxmlformats.org/markup-compatibility/2006">
              <mc:Choice xmlns:v="urn:schemas-microsoft-com:vml" Requires="v">
                <p:oleObj spid="_x0000_s34855" name="Equation" r:id="rId7" imgW="2501640" imgH="393480" progId="Equation.DSMT4">
                  <p:embed/>
                </p:oleObj>
              </mc:Choice>
              <mc:Fallback>
                <p:oleObj name="Equation" r:id="rId7" imgW="2501640" imgH="393480" progId="Equation.DSMT4">
                  <p:embed/>
                  <p:pic>
                    <p:nvPicPr>
                      <p:cNvPr id="0" name="对象 2"/>
                      <p:cNvPicPr>
                        <a:picLocks noChangeAspect="1" noChangeArrowheads="1"/>
                      </p:cNvPicPr>
                      <p:nvPr/>
                    </p:nvPicPr>
                    <p:blipFill>
                      <a:blip r:embed="rId8"/>
                      <a:srcRect/>
                      <a:stretch>
                        <a:fillRect/>
                      </a:stretch>
                    </p:blipFill>
                    <p:spPr bwMode="auto">
                      <a:xfrm>
                        <a:off x="2915816" y="3244438"/>
                        <a:ext cx="4803046" cy="755614"/>
                      </a:xfrm>
                      <a:prstGeom prst="rect">
                        <a:avLst/>
                      </a:prstGeom>
                      <a:noFill/>
                      <a:ln>
                        <a:noFill/>
                      </a:ln>
                    </p:spPr>
                  </p:pic>
                </p:oleObj>
              </mc:Fallback>
            </mc:AlternateContent>
          </a:graphicData>
        </a:graphic>
      </p:graphicFrame>
      <p:sp>
        <p:nvSpPr>
          <p:cNvPr id="10" name="TextBox 9"/>
          <p:cNvSpPr txBox="1"/>
          <p:nvPr/>
        </p:nvSpPr>
        <p:spPr>
          <a:xfrm>
            <a:off x="434540" y="3933056"/>
            <a:ext cx="2423287" cy="461665"/>
          </a:xfrm>
          <a:prstGeom prst="rect">
            <a:avLst/>
          </a:prstGeom>
          <a:noFill/>
        </p:spPr>
        <p:txBody>
          <a:bodyPr wrap="square" rtlCol="0">
            <a:spAutoFit/>
          </a:bodyPr>
          <a:lstStyle/>
          <a:p>
            <a:r>
              <a:rPr lang="en-US" altLang="zh-CN" sz="2400" b="1" i="1">
                <a:solidFill>
                  <a:schemeClr val="bg1"/>
                </a:solidFill>
                <a:latin typeface="+mn-lt"/>
              </a:rPr>
              <a:t>df</a:t>
            </a:r>
            <a:r>
              <a:rPr lang="zh-CN" altLang="en-US" sz="2400" b="1">
                <a:solidFill>
                  <a:schemeClr val="bg1"/>
                </a:solidFill>
                <a:latin typeface="+mn-lt"/>
              </a:rPr>
              <a:t>对轴的力矩为</a:t>
            </a:r>
            <a:endParaRPr lang="zh-CN" altLang="en-US" sz="2400" b="1" i="1">
              <a:solidFill>
                <a:schemeClr val="bg1"/>
              </a:solidFill>
              <a:latin typeface="+mn-lt"/>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812854741"/>
              </p:ext>
            </p:extLst>
          </p:nvPr>
        </p:nvGraphicFramePr>
        <p:xfrm>
          <a:off x="2857827" y="3803793"/>
          <a:ext cx="2122487" cy="755650"/>
        </p:xfrm>
        <a:graphic>
          <a:graphicData uri="http://schemas.openxmlformats.org/presentationml/2006/ole">
            <mc:AlternateContent xmlns:mc="http://schemas.openxmlformats.org/markup-compatibility/2006">
              <mc:Choice xmlns:v="urn:schemas-microsoft-com:vml" Requires="v">
                <p:oleObj spid="_x0000_s34856" name="Equation" r:id="rId9" imgW="1104840" imgH="393480" progId="Equation.DSMT4">
                  <p:embed/>
                </p:oleObj>
              </mc:Choice>
              <mc:Fallback>
                <p:oleObj name="Equation" r:id="rId9" imgW="1104840" imgH="393480" progId="Equation.DSMT4">
                  <p:embed/>
                  <p:pic>
                    <p:nvPicPr>
                      <p:cNvPr id="0" name="对象 3"/>
                      <p:cNvPicPr>
                        <a:picLocks noChangeAspect="1" noChangeArrowheads="1"/>
                      </p:cNvPicPr>
                      <p:nvPr/>
                    </p:nvPicPr>
                    <p:blipFill>
                      <a:blip r:embed="rId10"/>
                      <a:srcRect/>
                      <a:stretch>
                        <a:fillRect/>
                      </a:stretch>
                    </p:blipFill>
                    <p:spPr bwMode="auto">
                      <a:xfrm>
                        <a:off x="2857827" y="3803793"/>
                        <a:ext cx="2122487"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12"/>
          <p:cNvSpPr txBox="1"/>
          <p:nvPr/>
        </p:nvSpPr>
        <p:spPr>
          <a:xfrm>
            <a:off x="539552" y="4642022"/>
            <a:ext cx="4320480" cy="461665"/>
          </a:xfrm>
          <a:prstGeom prst="rect">
            <a:avLst/>
          </a:prstGeom>
          <a:noFill/>
        </p:spPr>
        <p:txBody>
          <a:bodyPr wrap="square" rtlCol="0">
            <a:spAutoFit/>
          </a:bodyPr>
          <a:lstStyle/>
          <a:p>
            <a:r>
              <a:rPr lang="zh-CN" altLang="en-US" sz="2400" b="1">
                <a:solidFill>
                  <a:schemeClr val="bg1"/>
                </a:solidFill>
                <a:latin typeface="+mn-lt"/>
              </a:rPr>
              <a:t>整个圆盘受到的摩擦力矩为</a:t>
            </a:r>
          </a:p>
        </p:txBody>
      </p:sp>
      <p:graphicFrame>
        <p:nvGraphicFramePr>
          <p:cNvPr id="6" name="对象 5"/>
          <p:cNvGraphicFramePr>
            <a:graphicFrameLocks noChangeAspect="1"/>
          </p:cNvGraphicFramePr>
          <p:nvPr>
            <p:extLst>
              <p:ext uri="{D42A27DB-BD31-4B8C-83A1-F6EECF244321}">
                <p14:modId xmlns:p14="http://schemas.microsoft.com/office/powerpoint/2010/main" val="3270066590"/>
              </p:ext>
            </p:extLst>
          </p:nvPr>
        </p:nvGraphicFramePr>
        <p:xfrm>
          <a:off x="4649992" y="4495029"/>
          <a:ext cx="3316288" cy="755650"/>
        </p:xfrm>
        <a:graphic>
          <a:graphicData uri="http://schemas.openxmlformats.org/presentationml/2006/ole">
            <mc:AlternateContent xmlns:mc="http://schemas.openxmlformats.org/markup-compatibility/2006">
              <mc:Choice xmlns:v="urn:schemas-microsoft-com:vml" Requires="v">
                <p:oleObj spid="_x0000_s34857" name="Equation" r:id="rId11" imgW="1726920" imgH="393480" progId="Equation.DSMT4">
                  <p:embed/>
                </p:oleObj>
              </mc:Choice>
              <mc:Fallback>
                <p:oleObj name="Equation" r:id="rId11" imgW="1726920" imgH="393480" progId="Equation.DSMT4">
                  <p:embed/>
                  <p:pic>
                    <p:nvPicPr>
                      <p:cNvPr id="0" name="对象 4"/>
                      <p:cNvPicPr>
                        <a:picLocks noChangeAspect="1" noChangeArrowheads="1"/>
                      </p:cNvPicPr>
                      <p:nvPr/>
                    </p:nvPicPr>
                    <p:blipFill>
                      <a:blip r:embed="rId12"/>
                      <a:srcRect/>
                      <a:stretch>
                        <a:fillRect/>
                      </a:stretch>
                    </p:blipFill>
                    <p:spPr bwMode="auto">
                      <a:xfrm>
                        <a:off x="4649992" y="4495029"/>
                        <a:ext cx="3316288"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Box 14"/>
          <p:cNvSpPr txBox="1"/>
          <p:nvPr/>
        </p:nvSpPr>
        <p:spPr>
          <a:xfrm>
            <a:off x="550123" y="5254374"/>
            <a:ext cx="4320480" cy="461665"/>
          </a:xfrm>
          <a:prstGeom prst="rect">
            <a:avLst/>
          </a:prstGeom>
          <a:noFill/>
        </p:spPr>
        <p:txBody>
          <a:bodyPr wrap="square" rtlCol="0">
            <a:spAutoFit/>
          </a:bodyPr>
          <a:lstStyle/>
          <a:p>
            <a:r>
              <a:rPr lang="zh-CN" altLang="en-US" sz="2400" b="1">
                <a:solidFill>
                  <a:schemeClr val="bg1"/>
                </a:solidFill>
                <a:latin typeface="+mn-lt"/>
              </a:rPr>
              <a:t>由动能定理，有</a:t>
            </a:r>
          </a:p>
        </p:txBody>
      </p:sp>
      <p:graphicFrame>
        <p:nvGraphicFramePr>
          <p:cNvPr id="7" name="对象 6"/>
          <p:cNvGraphicFramePr>
            <a:graphicFrameLocks noChangeAspect="1"/>
          </p:cNvGraphicFramePr>
          <p:nvPr>
            <p:extLst>
              <p:ext uri="{D42A27DB-BD31-4B8C-83A1-F6EECF244321}">
                <p14:modId xmlns:p14="http://schemas.microsoft.com/office/powerpoint/2010/main" val="646264580"/>
              </p:ext>
            </p:extLst>
          </p:nvPr>
        </p:nvGraphicFramePr>
        <p:xfrm>
          <a:off x="3290629" y="5266131"/>
          <a:ext cx="2268538" cy="438150"/>
        </p:xfrm>
        <a:graphic>
          <a:graphicData uri="http://schemas.openxmlformats.org/presentationml/2006/ole">
            <mc:AlternateContent xmlns:mc="http://schemas.openxmlformats.org/markup-compatibility/2006">
              <mc:Choice xmlns:v="urn:schemas-microsoft-com:vml" Requires="v">
                <p:oleObj spid="_x0000_s34858" name="Equation" r:id="rId13" imgW="1180800" imgH="228600" progId="Equation.DSMT4">
                  <p:embed/>
                </p:oleObj>
              </mc:Choice>
              <mc:Fallback>
                <p:oleObj name="Equation" r:id="rId13" imgW="1180800" imgH="228600" progId="Equation.DSMT4">
                  <p:embed/>
                  <p:pic>
                    <p:nvPicPr>
                      <p:cNvPr id="0" name="对象 5"/>
                      <p:cNvPicPr>
                        <a:picLocks noChangeAspect="1" noChangeArrowheads="1"/>
                      </p:cNvPicPr>
                      <p:nvPr/>
                    </p:nvPicPr>
                    <p:blipFill>
                      <a:blip r:embed="rId14"/>
                      <a:srcRect/>
                      <a:stretch>
                        <a:fillRect/>
                      </a:stretch>
                    </p:blipFill>
                    <p:spPr bwMode="auto">
                      <a:xfrm>
                        <a:off x="3290629" y="5266131"/>
                        <a:ext cx="2268538"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954063"/>
              </p:ext>
            </p:extLst>
          </p:nvPr>
        </p:nvGraphicFramePr>
        <p:xfrm>
          <a:off x="3111500" y="5743575"/>
          <a:ext cx="1463675" cy="850900"/>
        </p:xfrm>
        <a:graphic>
          <a:graphicData uri="http://schemas.openxmlformats.org/presentationml/2006/ole">
            <mc:AlternateContent xmlns:mc="http://schemas.openxmlformats.org/markup-compatibility/2006">
              <mc:Choice xmlns:v="urn:schemas-microsoft-com:vml" Requires="v">
                <p:oleObj spid="_x0000_s34859" name="Equation" r:id="rId15" imgW="761760" imgH="444240" progId="Equation.DSMT4">
                  <p:embed/>
                </p:oleObj>
              </mc:Choice>
              <mc:Fallback>
                <p:oleObj name="Equation" r:id="rId15" imgW="761760" imgH="444240" progId="Equation.DSMT4">
                  <p:embed/>
                  <p:pic>
                    <p:nvPicPr>
                      <p:cNvPr id="0" name="对象 6"/>
                      <p:cNvPicPr>
                        <a:picLocks noChangeAspect="1" noChangeArrowheads="1"/>
                      </p:cNvPicPr>
                      <p:nvPr/>
                    </p:nvPicPr>
                    <p:blipFill>
                      <a:blip r:embed="rId16"/>
                      <a:srcRect/>
                      <a:stretch>
                        <a:fillRect/>
                      </a:stretch>
                    </p:blipFill>
                    <p:spPr bwMode="auto">
                      <a:xfrm>
                        <a:off x="3111500" y="5743575"/>
                        <a:ext cx="1463675"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0" grpId="0"/>
      <p:bldP spid="13" grpId="0"/>
      <p:bldP spid="1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67796" y="1211918"/>
            <a:ext cx="545035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800" b="1" dirty="0">
                <a:solidFill>
                  <a:srgbClr val="FFFF00"/>
                </a:solidFill>
                <a:latin typeface="Times New Roman" pitchFamily="18" charset="0"/>
              </a:rPr>
              <a:t>一</a:t>
            </a:r>
            <a:r>
              <a:rPr lang="en-US" altLang="zh-CN" sz="2800" b="1" dirty="0">
                <a:solidFill>
                  <a:srgbClr val="FFFF00"/>
                </a:solidFill>
                <a:latin typeface="Times New Roman" pitchFamily="18" charset="0"/>
              </a:rPr>
              <a:t>. </a:t>
            </a:r>
            <a:r>
              <a:rPr lang="zh-CN" altLang="en-US" sz="2800" b="1" dirty="0">
                <a:solidFill>
                  <a:srgbClr val="FFFF00"/>
                </a:solidFill>
                <a:latin typeface="Times New Roman" pitchFamily="18" charset="0"/>
              </a:rPr>
              <a:t>回顾：质点动量矩 </a:t>
            </a:r>
            <a:r>
              <a:rPr lang="en-US" altLang="zh-CN" sz="2800" b="1" dirty="0">
                <a:solidFill>
                  <a:srgbClr val="FFFF00"/>
                </a:solidFill>
                <a:latin typeface="Times New Roman" pitchFamily="18" charset="0"/>
              </a:rPr>
              <a:t>(</a:t>
            </a:r>
            <a:r>
              <a:rPr lang="zh-CN" altLang="en-US" sz="2800" b="1" dirty="0">
                <a:solidFill>
                  <a:srgbClr val="FFFF00"/>
                </a:solidFill>
                <a:latin typeface="Times New Roman" pitchFamily="18" charset="0"/>
              </a:rPr>
              <a:t>角动量</a:t>
            </a:r>
            <a:r>
              <a:rPr lang="en-US" altLang="zh-CN" sz="2800" b="1" dirty="0">
                <a:solidFill>
                  <a:srgbClr val="FFFF00"/>
                </a:solidFill>
                <a:latin typeface="Times New Roman" pitchFamily="18" charset="0"/>
              </a:rPr>
              <a:t>)</a:t>
            </a:r>
            <a:endParaRPr lang="zh-CN" altLang="en-US" sz="2800" dirty="0">
              <a:solidFill>
                <a:srgbClr val="FFFF00"/>
              </a:solidFill>
              <a:latin typeface="Times New Roman" pitchFamily="18" charset="0"/>
            </a:endParaRPr>
          </a:p>
        </p:txBody>
      </p:sp>
      <p:graphicFrame>
        <p:nvGraphicFramePr>
          <p:cNvPr id="38916" name="Object 4"/>
          <p:cNvGraphicFramePr>
            <a:graphicFrameLocks/>
          </p:cNvGraphicFramePr>
          <p:nvPr/>
        </p:nvGraphicFramePr>
        <p:xfrm>
          <a:off x="1274763" y="2447925"/>
          <a:ext cx="2798762" cy="469900"/>
        </p:xfrm>
        <a:graphic>
          <a:graphicData uri="http://schemas.openxmlformats.org/presentationml/2006/ole">
            <mc:AlternateContent xmlns:mc="http://schemas.openxmlformats.org/markup-compatibility/2006">
              <mc:Choice xmlns:v="urn:schemas-microsoft-com:vml" Requires="v">
                <p:oleObj spid="_x0000_s35878" name="公式" r:id="rId3" imgW="2705077" imgH="380876" progId="Equation.3">
                  <p:embed/>
                </p:oleObj>
              </mc:Choice>
              <mc:Fallback>
                <p:oleObj name="公式" r:id="rId3" imgW="2705077" imgH="380876" progId="Equation.3">
                  <p:embed/>
                  <p:pic>
                    <p:nvPicPr>
                      <p:cNvPr id="38916"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4763" y="2447925"/>
                        <a:ext cx="2798762"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7" name="Text Box 5"/>
          <p:cNvSpPr txBox="1">
            <a:spLocks noChangeArrowheads="1"/>
          </p:cNvSpPr>
          <p:nvPr/>
        </p:nvSpPr>
        <p:spPr bwMode="auto">
          <a:xfrm>
            <a:off x="630238" y="3068638"/>
            <a:ext cx="134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400" b="1">
                <a:solidFill>
                  <a:schemeClr val="bg1"/>
                </a:solidFill>
                <a:latin typeface="Times New Roman" pitchFamily="18" charset="0"/>
              </a:rPr>
              <a:t>其大小</a:t>
            </a:r>
            <a:endParaRPr lang="zh-CN" altLang="en-US" sz="2400">
              <a:solidFill>
                <a:schemeClr val="bg1"/>
              </a:solidFill>
              <a:latin typeface="Times New Roman" pitchFamily="18" charset="0"/>
            </a:endParaRPr>
          </a:p>
        </p:txBody>
      </p:sp>
      <p:graphicFrame>
        <p:nvGraphicFramePr>
          <p:cNvPr id="38918" name="Object 6"/>
          <p:cNvGraphicFramePr>
            <a:graphicFrameLocks/>
          </p:cNvGraphicFramePr>
          <p:nvPr/>
        </p:nvGraphicFramePr>
        <p:xfrm>
          <a:off x="1262063" y="3770313"/>
          <a:ext cx="3360737" cy="431800"/>
        </p:xfrm>
        <a:graphic>
          <a:graphicData uri="http://schemas.openxmlformats.org/presentationml/2006/ole">
            <mc:AlternateContent xmlns:mc="http://schemas.openxmlformats.org/markup-compatibility/2006">
              <mc:Choice xmlns:v="urn:schemas-microsoft-com:vml" Requires="v">
                <p:oleObj spid="_x0000_s35879" name="公式" r:id="rId5" imgW="3276542" imgH="342816" progId="Equation.3">
                  <p:embed/>
                </p:oleObj>
              </mc:Choice>
              <mc:Fallback>
                <p:oleObj name="公式" r:id="rId5" imgW="3276542" imgH="342816" progId="Equation.3">
                  <p:embed/>
                  <p:pic>
                    <p:nvPicPr>
                      <p:cNvPr id="38918" name="Object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2063" y="3770313"/>
                        <a:ext cx="336073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0" name="Text Box 8"/>
          <p:cNvSpPr txBox="1">
            <a:spLocks noChangeArrowheads="1"/>
          </p:cNvSpPr>
          <p:nvPr/>
        </p:nvSpPr>
        <p:spPr bwMode="auto">
          <a:xfrm>
            <a:off x="765175" y="4437063"/>
            <a:ext cx="324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400" b="1">
                <a:solidFill>
                  <a:srgbClr val="66FFFF"/>
                </a:solidFill>
                <a:latin typeface="Times New Roman" pitchFamily="18" charset="0"/>
              </a:rPr>
              <a:t>特例：</a:t>
            </a:r>
            <a:r>
              <a:rPr lang="zh-CN" altLang="en-US" sz="2400" b="1">
                <a:solidFill>
                  <a:schemeClr val="bg1"/>
                </a:solidFill>
                <a:latin typeface="Times New Roman" pitchFamily="18" charset="0"/>
              </a:rPr>
              <a:t>质点作圆周运动</a:t>
            </a:r>
            <a:endParaRPr lang="zh-CN" altLang="en-US" sz="2400">
              <a:solidFill>
                <a:schemeClr val="bg1"/>
              </a:solidFill>
              <a:latin typeface="Times New Roman" pitchFamily="18" charset="0"/>
            </a:endParaRPr>
          </a:p>
        </p:txBody>
      </p:sp>
      <p:graphicFrame>
        <p:nvGraphicFramePr>
          <p:cNvPr id="38921" name="Object 9"/>
          <p:cNvGraphicFramePr>
            <a:graphicFrameLocks/>
          </p:cNvGraphicFramePr>
          <p:nvPr/>
        </p:nvGraphicFramePr>
        <p:xfrm>
          <a:off x="4427538" y="4506913"/>
          <a:ext cx="1928812" cy="381000"/>
        </p:xfrm>
        <a:graphic>
          <a:graphicData uri="http://schemas.openxmlformats.org/presentationml/2006/ole">
            <mc:AlternateContent xmlns:mc="http://schemas.openxmlformats.org/markup-compatibility/2006">
              <mc:Choice xmlns:v="urn:schemas-microsoft-com:vml" Requires="v">
                <p:oleObj spid="_x0000_s35880" name="公式" r:id="rId7" imgW="1838297" imgH="295307" progId="Equation.3">
                  <p:embed/>
                </p:oleObj>
              </mc:Choice>
              <mc:Fallback>
                <p:oleObj name="公式" r:id="rId7" imgW="1838297" imgH="295307" progId="Equation.3">
                  <p:embed/>
                  <p:pic>
                    <p:nvPicPr>
                      <p:cNvPr id="38921" name="Object 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27538" y="4506913"/>
                        <a:ext cx="19288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2" name="Rectangle 10"/>
          <p:cNvSpPr>
            <a:spLocks noChangeArrowheads="1"/>
          </p:cNvSpPr>
          <p:nvPr/>
        </p:nvSpPr>
        <p:spPr bwMode="auto">
          <a:xfrm>
            <a:off x="1763713" y="328613"/>
            <a:ext cx="56428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3200" b="1" dirty="0">
                <a:solidFill>
                  <a:srgbClr val="66FF33"/>
                </a:solidFill>
                <a:latin typeface="Times New Roman" pitchFamily="18" charset="0"/>
                <a:ea typeface="黑体" pitchFamily="49" charset="-122"/>
              </a:rPr>
              <a:t>6.4</a:t>
            </a:r>
            <a:r>
              <a:rPr kumimoji="1" lang="en-US" altLang="zh-CN" sz="3200" b="1" dirty="0">
                <a:solidFill>
                  <a:srgbClr val="66FF33"/>
                </a:solidFill>
                <a:latin typeface="黑体" pitchFamily="49" charset="-122"/>
                <a:ea typeface="黑体" pitchFamily="49" charset="-122"/>
              </a:rPr>
              <a:t>  </a:t>
            </a:r>
            <a:r>
              <a:rPr lang="zh-CN" altLang="en-US" sz="3200" b="1" dirty="0">
                <a:solidFill>
                  <a:srgbClr val="66FF33"/>
                </a:solidFill>
                <a:latin typeface="黑体" pitchFamily="49" charset="-122"/>
                <a:ea typeface="黑体" pitchFamily="49" charset="-122"/>
              </a:rPr>
              <a:t>动量矩和动量矩守恒定律</a:t>
            </a:r>
          </a:p>
        </p:txBody>
      </p:sp>
      <p:graphicFrame>
        <p:nvGraphicFramePr>
          <p:cNvPr id="38925" name="Object 13"/>
          <p:cNvGraphicFramePr>
            <a:graphicFrameLocks/>
          </p:cNvGraphicFramePr>
          <p:nvPr/>
        </p:nvGraphicFramePr>
        <p:xfrm>
          <a:off x="7308850" y="1735138"/>
          <a:ext cx="393700" cy="469900"/>
        </p:xfrm>
        <a:graphic>
          <a:graphicData uri="http://schemas.openxmlformats.org/presentationml/2006/ole">
            <mc:AlternateContent xmlns:mc="http://schemas.openxmlformats.org/markup-compatibility/2006">
              <mc:Choice xmlns:v="urn:schemas-microsoft-com:vml" Requires="v">
                <p:oleObj spid="_x0000_s35881" name="公式" r:id="rId9" imgW="304763" imgH="380876" progId="Equation.3">
                  <p:embed/>
                </p:oleObj>
              </mc:Choice>
              <mc:Fallback>
                <p:oleObj name="公式" r:id="rId9" imgW="304763" imgH="380876" progId="Equation.3">
                  <p:embed/>
                  <p:pic>
                    <p:nvPicPr>
                      <p:cNvPr id="38925" name="Object 1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08850" y="1735138"/>
                        <a:ext cx="3937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26" name="AutoShape 14"/>
          <p:cNvSpPr>
            <a:spLocks noChangeArrowheads="1"/>
          </p:cNvSpPr>
          <p:nvPr/>
        </p:nvSpPr>
        <p:spPr bwMode="auto">
          <a:xfrm>
            <a:off x="4413250" y="2520950"/>
            <a:ext cx="4191000" cy="1066800"/>
          </a:xfrm>
          <a:prstGeom prst="parallelogram">
            <a:avLst>
              <a:gd name="adj" fmla="val 92267"/>
            </a:avLst>
          </a:prstGeom>
          <a:solidFill>
            <a:srgbClr val="000099">
              <a:alpha val="25882"/>
            </a:srgbClr>
          </a:solidFill>
          <a:ln w="9525">
            <a:solidFill>
              <a:srgbClr val="000000">
                <a:alpha val="18039"/>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7" name="Line 15"/>
          <p:cNvSpPr>
            <a:spLocks noChangeShapeType="1"/>
          </p:cNvSpPr>
          <p:nvPr/>
        </p:nvSpPr>
        <p:spPr bwMode="auto">
          <a:xfrm flipH="1">
            <a:off x="5099050" y="3054350"/>
            <a:ext cx="838200" cy="0"/>
          </a:xfrm>
          <a:prstGeom prst="line">
            <a:avLst/>
          </a:prstGeom>
          <a:noFill/>
          <a:ln w="222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8" name="Text Box 16"/>
          <p:cNvSpPr txBox="1">
            <a:spLocks noChangeArrowheads="1"/>
          </p:cNvSpPr>
          <p:nvPr/>
        </p:nvSpPr>
        <p:spPr bwMode="auto">
          <a:xfrm>
            <a:off x="7308850" y="2825750"/>
            <a:ext cx="441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800" b="1" i="1">
                <a:solidFill>
                  <a:srgbClr val="CC0000"/>
                </a:solidFill>
                <a:latin typeface="Times New Roman" pitchFamily="18" charset="0"/>
              </a:rPr>
              <a:t>O</a:t>
            </a:r>
          </a:p>
        </p:txBody>
      </p:sp>
      <p:sp>
        <p:nvSpPr>
          <p:cNvPr id="38929" name="Text Box 17"/>
          <p:cNvSpPr txBox="1">
            <a:spLocks noChangeArrowheads="1"/>
          </p:cNvSpPr>
          <p:nvPr/>
        </p:nvSpPr>
        <p:spPr bwMode="auto">
          <a:xfrm>
            <a:off x="5326063" y="2960688"/>
            <a:ext cx="5318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000" b="1" i="1">
                <a:solidFill>
                  <a:srgbClr val="FF9900"/>
                </a:solidFill>
                <a:latin typeface="Times New Roman" pitchFamily="18" charset="0"/>
                <a:sym typeface="Symbol" pitchFamily="18" charset="2"/>
              </a:rPr>
              <a:t></a:t>
            </a:r>
            <a:endParaRPr lang="en-US" altLang="zh-CN" sz="2000" b="1" i="1">
              <a:solidFill>
                <a:srgbClr val="FF9900"/>
              </a:solidFill>
              <a:latin typeface="Times New Roman" pitchFamily="18" charset="0"/>
            </a:endParaRPr>
          </a:p>
        </p:txBody>
      </p:sp>
      <p:graphicFrame>
        <p:nvGraphicFramePr>
          <p:cNvPr id="38930" name="Object 18"/>
          <p:cNvGraphicFramePr>
            <a:graphicFrameLocks noChangeAspect="1"/>
          </p:cNvGraphicFramePr>
          <p:nvPr/>
        </p:nvGraphicFramePr>
        <p:xfrm>
          <a:off x="6807200" y="2641600"/>
          <a:ext cx="285750" cy="385763"/>
        </p:xfrm>
        <a:graphic>
          <a:graphicData uri="http://schemas.openxmlformats.org/presentationml/2006/ole">
            <mc:AlternateContent xmlns:mc="http://schemas.openxmlformats.org/markup-compatibility/2006">
              <mc:Choice xmlns:v="urn:schemas-microsoft-com:vml" Requires="v">
                <p:oleObj spid="_x0000_s35882" name="公式" r:id="rId11" imgW="123903" imgH="200021" progId="Equation.3">
                  <p:embed/>
                </p:oleObj>
              </mc:Choice>
              <mc:Fallback>
                <p:oleObj name="公式" r:id="rId11" imgW="123903" imgH="200021" progId="Equation.3">
                  <p:embed/>
                  <p:pic>
                    <p:nvPicPr>
                      <p:cNvPr id="3893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07200" y="2641600"/>
                        <a:ext cx="285750"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31" name="Line 19"/>
          <p:cNvSpPr>
            <a:spLocks noChangeShapeType="1"/>
          </p:cNvSpPr>
          <p:nvPr/>
        </p:nvSpPr>
        <p:spPr bwMode="auto">
          <a:xfrm flipH="1">
            <a:off x="5937250" y="3054350"/>
            <a:ext cx="1371600" cy="0"/>
          </a:xfrm>
          <a:prstGeom prst="line">
            <a:avLst/>
          </a:prstGeom>
          <a:noFill/>
          <a:ln w="38100">
            <a:solidFill>
              <a:srgbClr val="FF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32" name="Line 20"/>
          <p:cNvSpPr>
            <a:spLocks noChangeShapeType="1"/>
          </p:cNvSpPr>
          <p:nvPr/>
        </p:nvSpPr>
        <p:spPr bwMode="auto">
          <a:xfrm flipH="1">
            <a:off x="5651500" y="3054350"/>
            <a:ext cx="285750" cy="466725"/>
          </a:xfrm>
          <a:prstGeom prst="line">
            <a:avLst/>
          </a:prstGeom>
          <a:noFill/>
          <a:ln w="38100">
            <a:solidFill>
              <a:srgbClr val="00CC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33" name="Arc 21"/>
          <p:cNvSpPr>
            <a:spLocks/>
          </p:cNvSpPr>
          <p:nvPr/>
        </p:nvSpPr>
        <p:spPr bwMode="auto">
          <a:xfrm rot="10800000">
            <a:off x="5715000" y="3054350"/>
            <a:ext cx="144463" cy="206375"/>
          </a:xfrm>
          <a:custGeom>
            <a:avLst/>
            <a:gdLst>
              <a:gd name="T0" fmla="*/ 2147483647 w 21600"/>
              <a:gd name="T1" fmla="*/ 0 h 20612"/>
              <a:gd name="T2" fmla="*/ 2147483647 w 21600"/>
              <a:gd name="T3" fmla="*/ 2147483647 h 20612"/>
              <a:gd name="T4" fmla="*/ 0 w 21600"/>
              <a:gd name="T5" fmla="*/ 2147483647 h 20612"/>
              <a:gd name="T6" fmla="*/ 0 60000 65536"/>
              <a:gd name="T7" fmla="*/ 0 60000 65536"/>
              <a:gd name="T8" fmla="*/ 0 60000 65536"/>
            </a:gdLst>
            <a:ahLst/>
            <a:cxnLst>
              <a:cxn ang="T6">
                <a:pos x="T0" y="T1"/>
              </a:cxn>
              <a:cxn ang="T7">
                <a:pos x="T2" y="T3"/>
              </a:cxn>
              <a:cxn ang="T8">
                <a:pos x="T4" y="T5"/>
              </a:cxn>
            </a:cxnLst>
            <a:rect l="0" t="0" r="r" b="b"/>
            <a:pathLst>
              <a:path w="21600" h="20612" fill="none" extrusionOk="0">
                <a:moveTo>
                  <a:pt x="6457" y="0"/>
                </a:moveTo>
                <a:cubicBezTo>
                  <a:pt x="15467" y="2822"/>
                  <a:pt x="21600" y="11170"/>
                  <a:pt x="21600" y="20612"/>
                </a:cubicBezTo>
              </a:path>
              <a:path w="21600" h="20612" stroke="0" extrusionOk="0">
                <a:moveTo>
                  <a:pt x="6457" y="0"/>
                </a:moveTo>
                <a:cubicBezTo>
                  <a:pt x="15467" y="2822"/>
                  <a:pt x="21600" y="11170"/>
                  <a:pt x="21600" y="20612"/>
                </a:cubicBezTo>
                <a:lnTo>
                  <a:pt x="0" y="20612"/>
                </a:lnTo>
                <a:lnTo>
                  <a:pt x="6457" y="0"/>
                </a:lnTo>
                <a:close/>
              </a:path>
            </a:pathLst>
          </a:cu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8934" name="Object 22"/>
          <p:cNvGraphicFramePr>
            <a:graphicFrameLocks/>
          </p:cNvGraphicFramePr>
          <p:nvPr/>
        </p:nvGraphicFramePr>
        <p:xfrm>
          <a:off x="5803900" y="3213100"/>
          <a:ext cx="280988" cy="366713"/>
        </p:xfrm>
        <a:graphic>
          <a:graphicData uri="http://schemas.openxmlformats.org/presentationml/2006/ole">
            <mc:AlternateContent xmlns:mc="http://schemas.openxmlformats.org/markup-compatibility/2006">
              <mc:Choice xmlns:v="urn:schemas-microsoft-com:vml" Requires="v">
                <p:oleObj spid="_x0000_s35883" name="公式" r:id="rId13" imgW="190578" imgH="276142" progId="Equation.3">
                  <p:embed/>
                </p:oleObj>
              </mc:Choice>
              <mc:Fallback>
                <p:oleObj name="公式" r:id="rId13" imgW="190578" imgH="276142" progId="Equation.3">
                  <p:embed/>
                  <p:pic>
                    <p:nvPicPr>
                      <p:cNvPr id="38934" name="Object 22"/>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03900" y="3213100"/>
                        <a:ext cx="2809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35" name="Text Box 23"/>
          <p:cNvSpPr txBox="1">
            <a:spLocks noChangeArrowheads="1"/>
          </p:cNvSpPr>
          <p:nvPr/>
        </p:nvSpPr>
        <p:spPr bwMode="auto">
          <a:xfrm>
            <a:off x="4643438" y="317658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i="1">
                <a:solidFill>
                  <a:srgbClr val="FF0000"/>
                </a:solidFill>
                <a:latin typeface="Times New Roman" pitchFamily="18" charset="0"/>
                <a:sym typeface="Symbol" pitchFamily="18" charset="2"/>
              </a:rPr>
              <a:t>S</a:t>
            </a:r>
          </a:p>
        </p:txBody>
      </p:sp>
      <p:sp>
        <p:nvSpPr>
          <p:cNvPr id="38936" name="Line 24"/>
          <p:cNvSpPr>
            <a:spLocks noChangeShapeType="1"/>
          </p:cNvSpPr>
          <p:nvPr/>
        </p:nvSpPr>
        <p:spPr bwMode="auto">
          <a:xfrm flipV="1">
            <a:off x="7294563" y="2060575"/>
            <a:ext cx="0" cy="1000125"/>
          </a:xfrm>
          <a:prstGeom prst="line">
            <a:avLst/>
          </a:prstGeom>
          <a:noFill/>
          <a:ln w="50800">
            <a:solidFill>
              <a:srgbClr val="FFCC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37" name="Oval 25"/>
          <p:cNvSpPr>
            <a:spLocks noChangeArrowheads="1"/>
          </p:cNvSpPr>
          <p:nvPr/>
        </p:nvSpPr>
        <p:spPr bwMode="auto">
          <a:xfrm>
            <a:off x="5856288" y="2984500"/>
            <a:ext cx="136525" cy="136525"/>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38" name="Text Box 26"/>
          <p:cNvSpPr txBox="1">
            <a:spLocks noChangeArrowheads="1"/>
          </p:cNvSpPr>
          <p:nvPr/>
        </p:nvSpPr>
        <p:spPr bwMode="auto">
          <a:xfrm>
            <a:off x="5076825" y="3789363"/>
            <a:ext cx="2228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400" b="1">
                <a:solidFill>
                  <a:schemeClr val="bg1"/>
                </a:solidFill>
                <a:latin typeface="Times New Roman" pitchFamily="18" charset="0"/>
                <a:ea typeface="楷体_GB2312" pitchFamily="49" charset="-122"/>
              </a:rPr>
              <a:t>惯性参照系</a:t>
            </a:r>
            <a:endParaRPr lang="zh-CN" altLang="en-US" sz="2400">
              <a:solidFill>
                <a:schemeClr val="bg1"/>
              </a:solidFill>
              <a:latin typeface="Times New Roman" pitchFamily="18" charset="0"/>
              <a:ea typeface="楷体_GB2312" pitchFamily="49" charset="-122"/>
            </a:endParaRPr>
          </a:p>
        </p:txBody>
      </p:sp>
      <p:sp>
        <p:nvSpPr>
          <p:cNvPr id="38939" name="Oval 27"/>
          <p:cNvSpPr>
            <a:spLocks noChangeAspect="1" noChangeArrowheads="1"/>
          </p:cNvSpPr>
          <p:nvPr/>
        </p:nvSpPr>
        <p:spPr bwMode="auto">
          <a:xfrm>
            <a:off x="7253288" y="3019425"/>
            <a:ext cx="71437" cy="71438"/>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zh-CN" sz="2400">
              <a:solidFill>
                <a:srgbClr val="FFFF99"/>
              </a:solidFill>
              <a:latin typeface="Times New Roman" pitchFamily="18" charset="0"/>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8926"/>
                                        </p:tgtEl>
                                        <p:attrNameLst>
                                          <p:attrName>style.visibility</p:attrName>
                                        </p:attrNameLst>
                                      </p:cBhvr>
                                      <p:to>
                                        <p:strVal val="visible"/>
                                      </p:to>
                                    </p:set>
                                    <p:anim calcmode="lin" valueType="num">
                                      <p:cBhvr>
                                        <p:cTn id="7" dur="500" fill="hold"/>
                                        <p:tgtEl>
                                          <p:spTgt spid="38926"/>
                                        </p:tgtEl>
                                        <p:attrNameLst>
                                          <p:attrName>ppt_w</p:attrName>
                                        </p:attrNameLst>
                                      </p:cBhvr>
                                      <p:tavLst>
                                        <p:tav tm="0">
                                          <p:val>
                                            <p:fltVal val="0"/>
                                          </p:val>
                                        </p:tav>
                                        <p:tav tm="100000">
                                          <p:val>
                                            <p:strVal val="#ppt_w"/>
                                          </p:val>
                                        </p:tav>
                                      </p:tavLst>
                                    </p:anim>
                                    <p:anim calcmode="lin" valueType="num">
                                      <p:cBhvr>
                                        <p:cTn id="8" dur="500" fill="hold"/>
                                        <p:tgtEl>
                                          <p:spTgt spid="38926"/>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8935"/>
                                        </p:tgtEl>
                                        <p:attrNameLst>
                                          <p:attrName>style.visibility</p:attrName>
                                        </p:attrNameLst>
                                      </p:cBhvr>
                                      <p:to>
                                        <p:strVal val="visible"/>
                                      </p:to>
                                    </p:set>
                                    <p:animEffect transition="in" filter="wipe(left)">
                                      <p:cBhvr>
                                        <p:cTn id="12" dur="500"/>
                                        <p:tgtEl>
                                          <p:spTgt spid="38935"/>
                                        </p:tgtEl>
                                      </p:cBhvr>
                                    </p:animEffect>
                                  </p:childTnLst>
                                </p:cTn>
                              </p:par>
                            </p:childTnLst>
                          </p:cTn>
                        </p:par>
                        <p:par>
                          <p:cTn id="13" fill="hold" nodeType="afterGroup">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8938"/>
                                        </p:tgtEl>
                                        <p:attrNameLst>
                                          <p:attrName>style.visibility</p:attrName>
                                        </p:attrNameLst>
                                      </p:cBhvr>
                                      <p:to>
                                        <p:strVal val="visible"/>
                                      </p:to>
                                    </p:set>
                                    <p:animEffect transition="in" filter="wipe(left)">
                                      <p:cBhvr>
                                        <p:cTn id="16" dur="500"/>
                                        <p:tgtEl>
                                          <p:spTgt spid="3893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38939"/>
                                        </p:tgtEl>
                                        <p:attrNameLst>
                                          <p:attrName>style.visibility</p:attrName>
                                        </p:attrNameLst>
                                      </p:cBhvr>
                                      <p:to>
                                        <p:strVal val="visible"/>
                                      </p:to>
                                    </p:set>
                                    <p:animEffect transition="in" filter="wipe(down)">
                                      <p:cBhvr>
                                        <p:cTn id="21" dur="500"/>
                                        <p:tgtEl>
                                          <p:spTgt spid="38939"/>
                                        </p:tgtEl>
                                      </p:cBhvr>
                                    </p:animEffect>
                                  </p:childTnLst>
                                </p:cTn>
                              </p:par>
                            </p:childTnLst>
                          </p:cTn>
                        </p:par>
                        <p:par>
                          <p:cTn id="22" fill="hold" nodeType="afterGroup">
                            <p:stCondLst>
                              <p:cond delay="500"/>
                            </p:stCondLst>
                            <p:childTnLst>
                              <p:par>
                                <p:cTn id="23" presetID="22" presetClass="entr" presetSubtype="4" fill="hold" grpId="0" nodeType="afterEffect">
                                  <p:stCondLst>
                                    <p:cond delay="0"/>
                                  </p:stCondLst>
                                  <p:childTnLst>
                                    <p:set>
                                      <p:cBhvr>
                                        <p:cTn id="24" dur="1" fill="hold">
                                          <p:stCondLst>
                                            <p:cond delay="0"/>
                                          </p:stCondLst>
                                        </p:cTn>
                                        <p:tgtEl>
                                          <p:spTgt spid="38928"/>
                                        </p:tgtEl>
                                        <p:attrNameLst>
                                          <p:attrName>style.visibility</p:attrName>
                                        </p:attrNameLst>
                                      </p:cBhvr>
                                      <p:to>
                                        <p:strVal val="visible"/>
                                      </p:to>
                                    </p:set>
                                    <p:animEffect transition="in" filter="wipe(down)">
                                      <p:cBhvr>
                                        <p:cTn id="25" dur="500"/>
                                        <p:tgtEl>
                                          <p:spTgt spid="3892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38937"/>
                                        </p:tgtEl>
                                        <p:attrNameLst>
                                          <p:attrName>style.visibility</p:attrName>
                                        </p:attrNameLst>
                                      </p:cBhvr>
                                      <p:to>
                                        <p:strVal val="visible"/>
                                      </p:to>
                                    </p:set>
                                    <p:anim calcmode="lin" valueType="num">
                                      <p:cBhvr>
                                        <p:cTn id="30" dur="500" fill="hold"/>
                                        <p:tgtEl>
                                          <p:spTgt spid="38937"/>
                                        </p:tgtEl>
                                        <p:attrNameLst>
                                          <p:attrName>ppt_w</p:attrName>
                                        </p:attrNameLst>
                                      </p:cBhvr>
                                      <p:tavLst>
                                        <p:tav tm="0">
                                          <p:val>
                                            <p:fltVal val="0"/>
                                          </p:val>
                                        </p:tav>
                                        <p:tav tm="100000">
                                          <p:val>
                                            <p:strVal val="#ppt_w"/>
                                          </p:val>
                                        </p:tav>
                                      </p:tavLst>
                                    </p:anim>
                                    <p:anim calcmode="lin" valueType="num">
                                      <p:cBhvr>
                                        <p:cTn id="31" dur="500" fill="hold"/>
                                        <p:tgtEl>
                                          <p:spTgt spid="38937"/>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38932"/>
                                        </p:tgtEl>
                                        <p:attrNameLst>
                                          <p:attrName>style.visibility</p:attrName>
                                        </p:attrNameLst>
                                      </p:cBhvr>
                                      <p:to>
                                        <p:strVal val="visible"/>
                                      </p:to>
                                    </p:set>
                                    <p:animEffect transition="in" filter="wipe(up)">
                                      <p:cBhvr>
                                        <p:cTn id="36" dur="500"/>
                                        <p:tgtEl>
                                          <p:spTgt spid="38932"/>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38934"/>
                                        </p:tgtEl>
                                        <p:attrNameLst>
                                          <p:attrName>style.visibility</p:attrName>
                                        </p:attrNameLst>
                                      </p:cBhvr>
                                      <p:to>
                                        <p:strVal val="visible"/>
                                      </p:to>
                                    </p:set>
                                    <p:animEffect transition="in" filter="wipe(left)">
                                      <p:cBhvr>
                                        <p:cTn id="40" dur="500"/>
                                        <p:tgtEl>
                                          <p:spTgt spid="3893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2" fill="hold" grpId="0" nodeType="clickEffect">
                                  <p:stCondLst>
                                    <p:cond delay="0"/>
                                  </p:stCondLst>
                                  <p:childTnLst>
                                    <p:set>
                                      <p:cBhvr>
                                        <p:cTn id="44" dur="1" fill="hold">
                                          <p:stCondLst>
                                            <p:cond delay="0"/>
                                          </p:stCondLst>
                                        </p:cTn>
                                        <p:tgtEl>
                                          <p:spTgt spid="38931"/>
                                        </p:tgtEl>
                                        <p:attrNameLst>
                                          <p:attrName>style.visibility</p:attrName>
                                        </p:attrNameLst>
                                      </p:cBhvr>
                                      <p:to>
                                        <p:strVal val="visible"/>
                                      </p:to>
                                    </p:set>
                                    <p:animEffect transition="in" filter="wipe(right)">
                                      <p:cBhvr>
                                        <p:cTn id="45" dur="500"/>
                                        <p:tgtEl>
                                          <p:spTgt spid="38931"/>
                                        </p:tgtEl>
                                      </p:cBhvr>
                                    </p:animEffect>
                                  </p:childTnLst>
                                </p:cTn>
                              </p:par>
                            </p:childTnLst>
                          </p:cTn>
                        </p:par>
                        <p:par>
                          <p:cTn id="46" fill="hold" nodeType="afterGroup">
                            <p:stCondLst>
                              <p:cond delay="500"/>
                            </p:stCondLst>
                            <p:childTnLst>
                              <p:par>
                                <p:cTn id="47" presetID="22" presetClass="entr" presetSubtype="4" fill="hold" nodeType="afterEffect">
                                  <p:stCondLst>
                                    <p:cond delay="0"/>
                                  </p:stCondLst>
                                  <p:childTnLst>
                                    <p:set>
                                      <p:cBhvr>
                                        <p:cTn id="48" dur="1" fill="hold">
                                          <p:stCondLst>
                                            <p:cond delay="0"/>
                                          </p:stCondLst>
                                        </p:cTn>
                                        <p:tgtEl>
                                          <p:spTgt spid="38930"/>
                                        </p:tgtEl>
                                        <p:attrNameLst>
                                          <p:attrName>style.visibility</p:attrName>
                                        </p:attrNameLst>
                                      </p:cBhvr>
                                      <p:to>
                                        <p:strVal val="visible"/>
                                      </p:to>
                                    </p:set>
                                    <p:animEffect transition="in" filter="wipe(down)">
                                      <p:cBhvr>
                                        <p:cTn id="49" dur="500"/>
                                        <p:tgtEl>
                                          <p:spTgt spid="3893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2" fill="hold" grpId="0" nodeType="clickEffect">
                                  <p:stCondLst>
                                    <p:cond delay="0"/>
                                  </p:stCondLst>
                                  <p:childTnLst>
                                    <p:set>
                                      <p:cBhvr>
                                        <p:cTn id="53" dur="1" fill="hold">
                                          <p:stCondLst>
                                            <p:cond delay="0"/>
                                          </p:stCondLst>
                                        </p:cTn>
                                        <p:tgtEl>
                                          <p:spTgt spid="38927"/>
                                        </p:tgtEl>
                                        <p:attrNameLst>
                                          <p:attrName>style.visibility</p:attrName>
                                        </p:attrNameLst>
                                      </p:cBhvr>
                                      <p:to>
                                        <p:strVal val="visible"/>
                                      </p:to>
                                    </p:set>
                                    <p:animEffect transition="in" filter="wipe(right)">
                                      <p:cBhvr>
                                        <p:cTn id="54" dur="500"/>
                                        <p:tgtEl>
                                          <p:spTgt spid="38927"/>
                                        </p:tgtEl>
                                      </p:cBhvr>
                                    </p:animEffect>
                                  </p:childTnLst>
                                </p:cTn>
                              </p:par>
                            </p:childTnLst>
                          </p:cTn>
                        </p:par>
                        <p:par>
                          <p:cTn id="55" fill="hold" nodeType="afterGroup">
                            <p:stCondLst>
                              <p:cond delay="500"/>
                            </p:stCondLst>
                            <p:childTnLst>
                              <p:par>
                                <p:cTn id="56" presetID="22" presetClass="entr" presetSubtype="4" fill="hold" grpId="0" nodeType="afterEffect">
                                  <p:stCondLst>
                                    <p:cond delay="0"/>
                                  </p:stCondLst>
                                  <p:childTnLst>
                                    <p:set>
                                      <p:cBhvr>
                                        <p:cTn id="57" dur="1" fill="hold">
                                          <p:stCondLst>
                                            <p:cond delay="0"/>
                                          </p:stCondLst>
                                        </p:cTn>
                                        <p:tgtEl>
                                          <p:spTgt spid="38933"/>
                                        </p:tgtEl>
                                        <p:attrNameLst>
                                          <p:attrName>style.visibility</p:attrName>
                                        </p:attrNameLst>
                                      </p:cBhvr>
                                      <p:to>
                                        <p:strVal val="visible"/>
                                      </p:to>
                                    </p:set>
                                    <p:animEffect transition="in" filter="wipe(down)">
                                      <p:cBhvr>
                                        <p:cTn id="58" dur="500"/>
                                        <p:tgtEl>
                                          <p:spTgt spid="38933"/>
                                        </p:tgtEl>
                                      </p:cBhvr>
                                    </p:animEffect>
                                  </p:childTnLst>
                                </p:cTn>
                              </p:par>
                            </p:childTnLst>
                          </p:cTn>
                        </p:par>
                        <p:par>
                          <p:cTn id="59" fill="hold" nodeType="afterGroup">
                            <p:stCondLst>
                              <p:cond delay="1000"/>
                            </p:stCondLst>
                            <p:childTnLst>
                              <p:par>
                                <p:cTn id="60" presetID="22" presetClass="entr" presetSubtype="8" fill="hold" grpId="0" nodeType="afterEffect">
                                  <p:stCondLst>
                                    <p:cond delay="0"/>
                                  </p:stCondLst>
                                  <p:childTnLst>
                                    <p:set>
                                      <p:cBhvr>
                                        <p:cTn id="61" dur="1" fill="hold">
                                          <p:stCondLst>
                                            <p:cond delay="0"/>
                                          </p:stCondLst>
                                        </p:cTn>
                                        <p:tgtEl>
                                          <p:spTgt spid="38929"/>
                                        </p:tgtEl>
                                        <p:attrNameLst>
                                          <p:attrName>style.visibility</p:attrName>
                                        </p:attrNameLst>
                                      </p:cBhvr>
                                      <p:to>
                                        <p:strVal val="visible"/>
                                      </p:to>
                                    </p:set>
                                    <p:animEffect transition="in" filter="wipe(left)">
                                      <p:cBhvr>
                                        <p:cTn id="62" dur="500"/>
                                        <p:tgtEl>
                                          <p:spTgt spid="3892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38916"/>
                                        </p:tgtEl>
                                        <p:attrNameLst>
                                          <p:attrName>style.visibility</p:attrName>
                                        </p:attrNameLst>
                                      </p:cBhvr>
                                      <p:to>
                                        <p:strVal val="visible"/>
                                      </p:to>
                                    </p:set>
                                    <p:animEffect transition="in" filter="wipe(left)">
                                      <p:cBhvr>
                                        <p:cTn id="67" dur="500"/>
                                        <p:tgtEl>
                                          <p:spTgt spid="3891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38936"/>
                                        </p:tgtEl>
                                        <p:attrNameLst>
                                          <p:attrName>style.visibility</p:attrName>
                                        </p:attrNameLst>
                                      </p:cBhvr>
                                      <p:to>
                                        <p:strVal val="visible"/>
                                      </p:to>
                                    </p:set>
                                    <p:animEffect transition="in" filter="wipe(down)">
                                      <p:cBhvr>
                                        <p:cTn id="72" dur="500"/>
                                        <p:tgtEl>
                                          <p:spTgt spid="38936"/>
                                        </p:tgtEl>
                                      </p:cBhvr>
                                    </p:animEffect>
                                  </p:childTnLst>
                                </p:cTn>
                              </p:par>
                            </p:childTnLst>
                          </p:cTn>
                        </p:par>
                        <p:par>
                          <p:cTn id="73" fill="hold" nodeType="afterGroup">
                            <p:stCondLst>
                              <p:cond delay="500"/>
                            </p:stCondLst>
                            <p:childTnLst>
                              <p:par>
                                <p:cTn id="74" presetID="22" presetClass="entr" presetSubtype="4" fill="hold" nodeType="afterEffect">
                                  <p:stCondLst>
                                    <p:cond delay="0"/>
                                  </p:stCondLst>
                                  <p:childTnLst>
                                    <p:set>
                                      <p:cBhvr>
                                        <p:cTn id="75" dur="1" fill="hold">
                                          <p:stCondLst>
                                            <p:cond delay="0"/>
                                          </p:stCondLst>
                                        </p:cTn>
                                        <p:tgtEl>
                                          <p:spTgt spid="38925"/>
                                        </p:tgtEl>
                                        <p:attrNameLst>
                                          <p:attrName>style.visibility</p:attrName>
                                        </p:attrNameLst>
                                      </p:cBhvr>
                                      <p:to>
                                        <p:strVal val="visible"/>
                                      </p:to>
                                    </p:set>
                                    <p:animEffect transition="in" filter="wipe(down)">
                                      <p:cBhvr>
                                        <p:cTn id="76" dur="500"/>
                                        <p:tgtEl>
                                          <p:spTgt spid="38925"/>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38917"/>
                                        </p:tgtEl>
                                        <p:attrNameLst>
                                          <p:attrName>style.visibility</p:attrName>
                                        </p:attrNameLst>
                                      </p:cBhvr>
                                      <p:to>
                                        <p:strVal val="visible"/>
                                      </p:to>
                                    </p:set>
                                    <p:animEffect transition="in" filter="wipe(left)">
                                      <p:cBhvr>
                                        <p:cTn id="81" dur="500"/>
                                        <p:tgtEl>
                                          <p:spTgt spid="38917"/>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38918"/>
                                        </p:tgtEl>
                                        <p:attrNameLst>
                                          <p:attrName>style.visibility</p:attrName>
                                        </p:attrNameLst>
                                      </p:cBhvr>
                                      <p:to>
                                        <p:strVal val="visible"/>
                                      </p:to>
                                    </p:set>
                                    <p:animEffect transition="in" filter="wipe(left)">
                                      <p:cBhvr>
                                        <p:cTn id="86" dur="500"/>
                                        <p:tgtEl>
                                          <p:spTgt spid="38918"/>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38920"/>
                                        </p:tgtEl>
                                        <p:attrNameLst>
                                          <p:attrName>style.visibility</p:attrName>
                                        </p:attrNameLst>
                                      </p:cBhvr>
                                      <p:to>
                                        <p:strVal val="visible"/>
                                      </p:to>
                                    </p:set>
                                    <p:animEffect transition="in" filter="wipe(left)">
                                      <p:cBhvr>
                                        <p:cTn id="91" dur="500"/>
                                        <p:tgtEl>
                                          <p:spTgt spid="38920"/>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38921"/>
                                        </p:tgtEl>
                                        <p:attrNameLst>
                                          <p:attrName>style.visibility</p:attrName>
                                        </p:attrNameLst>
                                      </p:cBhvr>
                                      <p:to>
                                        <p:strVal val="visible"/>
                                      </p:to>
                                    </p:set>
                                    <p:animEffect transition="in" filter="wipe(left)">
                                      <p:cBhvr>
                                        <p:cTn id="96" dur="500"/>
                                        <p:tgtEl>
                                          <p:spTgt spid="38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utoUpdateAnimBg="0"/>
      <p:bldP spid="38920" grpId="0" autoUpdateAnimBg="0"/>
      <p:bldP spid="38926" grpId="0" animBg="1"/>
      <p:bldP spid="38927" grpId="0" animBg="1"/>
      <p:bldP spid="38928" grpId="0"/>
      <p:bldP spid="38929" grpId="0"/>
      <p:bldP spid="38931" grpId="0" animBg="1"/>
      <p:bldP spid="38932" grpId="0" animBg="1"/>
      <p:bldP spid="38933" grpId="0" animBg="1"/>
      <p:bldP spid="38935" grpId="0"/>
      <p:bldP spid="38936" grpId="0" animBg="1"/>
      <p:bldP spid="38937" grpId="0" animBg="1"/>
      <p:bldP spid="38938" grpId="0" autoUpdateAnimBg="0"/>
      <p:bldP spid="3893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2" name="Text Box 8"/>
          <p:cNvSpPr txBox="1">
            <a:spLocks noChangeArrowheads="1"/>
          </p:cNvSpPr>
          <p:nvPr/>
        </p:nvSpPr>
        <p:spPr bwMode="auto">
          <a:xfrm>
            <a:off x="190500" y="333375"/>
            <a:ext cx="78295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800" b="1" dirty="0">
                <a:solidFill>
                  <a:srgbClr val="FFFF00"/>
                </a:solidFill>
                <a:latin typeface="Times New Roman" pitchFamily="18" charset="0"/>
              </a:rPr>
              <a:t>二</a:t>
            </a:r>
            <a:r>
              <a:rPr lang="en-US" altLang="zh-CN" sz="2800" b="1" dirty="0">
                <a:solidFill>
                  <a:srgbClr val="FFFF00"/>
                </a:solidFill>
                <a:latin typeface="Times New Roman" pitchFamily="18" charset="0"/>
              </a:rPr>
              <a:t>. </a:t>
            </a:r>
            <a:r>
              <a:rPr lang="zh-CN" altLang="en-US" sz="2800" b="1" dirty="0">
                <a:solidFill>
                  <a:srgbClr val="FFFF00"/>
                </a:solidFill>
                <a:latin typeface="Times New Roman" pitchFamily="18" charset="0"/>
              </a:rPr>
              <a:t>刚体定轴转动的动量矩定理和动量矩守恒定律</a:t>
            </a:r>
          </a:p>
        </p:txBody>
      </p:sp>
      <p:sp>
        <p:nvSpPr>
          <p:cNvPr id="47113" name="Text Box 9"/>
          <p:cNvSpPr txBox="1">
            <a:spLocks noChangeArrowheads="1"/>
          </p:cNvSpPr>
          <p:nvPr/>
        </p:nvSpPr>
        <p:spPr bwMode="auto">
          <a:xfrm>
            <a:off x="204788" y="981075"/>
            <a:ext cx="39893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2400" b="1">
                <a:solidFill>
                  <a:srgbClr val="66FFFF"/>
                </a:solidFill>
                <a:latin typeface="Times New Roman" pitchFamily="18" charset="0"/>
                <a:sym typeface="Symbol" pitchFamily="18" charset="2"/>
              </a:rPr>
              <a:t>1. </a:t>
            </a:r>
            <a:r>
              <a:rPr lang="zh-CN" altLang="en-US" sz="2400" b="1">
                <a:solidFill>
                  <a:srgbClr val="66FFFF"/>
                </a:solidFill>
                <a:latin typeface="Times New Roman" pitchFamily="18" charset="0"/>
              </a:rPr>
              <a:t>刚体定轴转动的动量矩</a:t>
            </a:r>
            <a:endParaRPr lang="zh-CN" altLang="en-US" sz="2400">
              <a:solidFill>
                <a:srgbClr val="66FFFF"/>
              </a:solidFill>
              <a:latin typeface="Times New Roman" pitchFamily="18" charset="0"/>
            </a:endParaRPr>
          </a:p>
        </p:txBody>
      </p:sp>
      <p:sp>
        <p:nvSpPr>
          <p:cNvPr id="47114" name="Text Box 10"/>
          <p:cNvSpPr txBox="1">
            <a:spLocks noChangeArrowheads="1"/>
          </p:cNvSpPr>
          <p:nvPr/>
        </p:nvSpPr>
        <p:spPr bwMode="auto">
          <a:xfrm>
            <a:off x="752475" y="1412875"/>
            <a:ext cx="473075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lang="zh-CN" altLang="en-US" sz="2400" b="1">
                <a:solidFill>
                  <a:schemeClr val="bg1"/>
                </a:solidFill>
                <a:latin typeface="Times New Roman" pitchFamily="18" charset="0"/>
              </a:rPr>
              <a:t>刚体上任一质点对 </a:t>
            </a:r>
            <a:r>
              <a:rPr lang="en-US" altLang="zh-CN" sz="2400" b="1" i="1">
                <a:solidFill>
                  <a:srgbClr val="66FFFF"/>
                </a:solidFill>
                <a:latin typeface="Times New Roman" pitchFamily="18" charset="0"/>
              </a:rPr>
              <a:t>Z </a:t>
            </a:r>
            <a:r>
              <a:rPr lang="zh-CN" altLang="en-US" sz="2400" b="1">
                <a:solidFill>
                  <a:schemeClr val="bg1"/>
                </a:solidFill>
                <a:latin typeface="Times New Roman" pitchFamily="18" charset="0"/>
              </a:rPr>
              <a:t>轴的动量矩都具有相同的方向</a:t>
            </a:r>
            <a:endParaRPr lang="zh-CN" altLang="en-US"/>
          </a:p>
        </p:txBody>
      </p:sp>
      <p:graphicFrame>
        <p:nvGraphicFramePr>
          <p:cNvPr id="47115" name="Object 11"/>
          <p:cNvGraphicFramePr>
            <a:graphicFrameLocks/>
          </p:cNvGraphicFramePr>
          <p:nvPr/>
        </p:nvGraphicFramePr>
        <p:xfrm>
          <a:off x="3375025" y="2644775"/>
          <a:ext cx="1585913" cy="647700"/>
        </p:xfrm>
        <a:graphic>
          <a:graphicData uri="http://schemas.openxmlformats.org/presentationml/2006/ole">
            <mc:AlternateContent xmlns:mc="http://schemas.openxmlformats.org/markup-compatibility/2006">
              <mc:Choice xmlns:v="urn:schemas-microsoft-com:vml" Requires="v">
                <p:oleObj spid="_x0000_s36932" name="公式" r:id="rId3" imgW="1714394" imgH="647571" progId="Equation.3">
                  <p:embed/>
                </p:oleObj>
              </mc:Choice>
              <mc:Fallback>
                <p:oleObj name="公式" r:id="rId3" imgW="1714394" imgH="647571" progId="Equation.3">
                  <p:embed/>
                  <p:pic>
                    <p:nvPicPr>
                      <p:cNvPr id="0" name="Object 1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5025" y="2644775"/>
                        <a:ext cx="1585913"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6" name="Object 12"/>
          <p:cNvGraphicFramePr>
            <a:graphicFrameLocks/>
          </p:cNvGraphicFramePr>
          <p:nvPr/>
        </p:nvGraphicFramePr>
        <p:xfrm>
          <a:off x="5105400" y="2692400"/>
          <a:ext cx="815975" cy="368300"/>
        </p:xfrm>
        <a:graphic>
          <a:graphicData uri="http://schemas.openxmlformats.org/presentationml/2006/ole">
            <mc:AlternateContent xmlns:mc="http://schemas.openxmlformats.org/markup-compatibility/2006">
              <mc:Choice xmlns:v="urn:schemas-microsoft-com:vml" Requires="v">
                <p:oleObj spid="_x0000_s36933" name="公式" r:id="rId5" imgW="838166" imgH="323920" progId="Equation.3">
                  <p:embed/>
                </p:oleObj>
              </mc:Choice>
              <mc:Fallback>
                <p:oleObj name="公式" r:id="rId5" imgW="838166" imgH="323920" progId="Equation.3">
                  <p:embed/>
                  <p:pic>
                    <p:nvPicPr>
                      <p:cNvPr id="0" name="Object 1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5400" y="2692400"/>
                        <a:ext cx="81597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7117" name="Group 13"/>
          <p:cNvGrpSpPr>
            <a:grpSpLocks/>
          </p:cNvGrpSpPr>
          <p:nvPr/>
        </p:nvGrpSpPr>
        <p:grpSpPr bwMode="auto">
          <a:xfrm>
            <a:off x="6516688" y="944563"/>
            <a:ext cx="1871662" cy="3276600"/>
            <a:chOff x="4267" y="983"/>
            <a:chExt cx="1289" cy="2064"/>
          </a:xfrm>
        </p:grpSpPr>
        <p:sp>
          <p:nvSpPr>
            <p:cNvPr id="50208" name="Freeform 14"/>
            <p:cNvSpPr>
              <a:spLocks/>
            </p:cNvSpPr>
            <p:nvPr/>
          </p:nvSpPr>
          <p:spPr bwMode="auto">
            <a:xfrm>
              <a:off x="4267" y="1463"/>
              <a:ext cx="1289" cy="1267"/>
            </a:xfrm>
            <a:custGeom>
              <a:avLst/>
              <a:gdLst>
                <a:gd name="T0" fmla="*/ 1022 w 1289"/>
                <a:gd name="T1" fmla="*/ 268 h 1267"/>
                <a:gd name="T2" fmla="*/ 965 w 1289"/>
                <a:gd name="T3" fmla="*/ 190 h 1267"/>
                <a:gd name="T4" fmla="*/ 909 w 1289"/>
                <a:gd name="T5" fmla="*/ 120 h 1267"/>
                <a:gd name="T6" fmla="*/ 824 w 1289"/>
                <a:gd name="T7" fmla="*/ 57 h 1267"/>
                <a:gd name="T8" fmla="*/ 782 w 1289"/>
                <a:gd name="T9" fmla="*/ 28 h 1267"/>
                <a:gd name="T10" fmla="*/ 726 w 1289"/>
                <a:gd name="T11" fmla="*/ 14 h 1267"/>
                <a:gd name="T12" fmla="*/ 684 w 1289"/>
                <a:gd name="T13" fmla="*/ 0 h 1267"/>
                <a:gd name="T14" fmla="*/ 641 w 1289"/>
                <a:gd name="T15" fmla="*/ 0 h 1267"/>
                <a:gd name="T16" fmla="*/ 599 w 1289"/>
                <a:gd name="T17" fmla="*/ 0 h 1267"/>
                <a:gd name="T18" fmla="*/ 557 w 1289"/>
                <a:gd name="T19" fmla="*/ 14 h 1267"/>
                <a:gd name="T20" fmla="*/ 500 w 1289"/>
                <a:gd name="T21" fmla="*/ 28 h 1267"/>
                <a:gd name="T22" fmla="*/ 458 w 1289"/>
                <a:gd name="T23" fmla="*/ 57 h 1267"/>
                <a:gd name="T24" fmla="*/ 381 w 1289"/>
                <a:gd name="T25" fmla="*/ 120 h 1267"/>
                <a:gd name="T26" fmla="*/ 317 w 1289"/>
                <a:gd name="T27" fmla="*/ 190 h 1267"/>
                <a:gd name="T28" fmla="*/ 268 w 1289"/>
                <a:gd name="T29" fmla="*/ 268 h 1267"/>
                <a:gd name="T30" fmla="*/ 233 w 1289"/>
                <a:gd name="T31" fmla="*/ 310 h 1267"/>
                <a:gd name="T32" fmla="*/ 190 w 1289"/>
                <a:gd name="T33" fmla="*/ 359 h 1267"/>
                <a:gd name="T34" fmla="*/ 106 w 1289"/>
                <a:gd name="T35" fmla="*/ 451 h 1267"/>
                <a:gd name="T36" fmla="*/ 64 w 1289"/>
                <a:gd name="T37" fmla="*/ 500 h 1267"/>
                <a:gd name="T38" fmla="*/ 28 w 1289"/>
                <a:gd name="T39" fmla="*/ 549 h 1267"/>
                <a:gd name="T40" fmla="*/ 7 w 1289"/>
                <a:gd name="T41" fmla="*/ 598 h 1267"/>
                <a:gd name="T42" fmla="*/ 0 w 1289"/>
                <a:gd name="T43" fmla="*/ 648 h 1267"/>
                <a:gd name="T44" fmla="*/ 0 w 1289"/>
                <a:gd name="T45" fmla="*/ 683 h 1267"/>
                <a:gd name="T46" fmla="*/ 14 w 1289"/>
                <a:gd name="T47" fmla="*/ 725 h 1267"/>
                <a:gd name="T48" fmla="*/ 35 w 1289"/>
                <a:gd name="T49" fmla="*/ 753 h 1267"/>
                <a:gd name="T50" fmla="*/ 56 w 1289"/>
                <a:gd name="T51" fmla="*/ 788 h 1267"/>
                <a:gd name="T52" fmla="*/ 120 w 1289"/>
                <a:gd name="T53" fmla="*/ 852 h 1267"/>
                <a:gd name="T54" fmla="*/ 183 w 1289"/>
                <a:gd name="T55" fmla="*/ 908 h 1267"/>
                <a:gd name="T56" fmla="*/ 247 w 1289"/>
                <a:gd name="T57" fmla="*/ 971 h 1267"/>
                <a:gd name="T58" fmla="*/ 303 w 1289"/>
                <a:gd name="T59" fmla="*/ 1042 h 1267"/>
                <a:gd name="T60" fmla="*/ 359 w 1289"/>
                <a:gd name="T61" fmla="*/ 1105 h 1267"/>
                <a:gd name="T62" fmla="*/ 416 w 1289"/>
                <a:gd name="T63" fmla="*/ 1168 h 1267"/>
                <a:gd name="T64" fmla="*/ 465 w 1289"/>
                <a:gd name="T65" fmla="*/ 1210 h 1267"/>
                <a:gd name="T66" fmla="*/ 514 w 1289"/>
                <a:gd name="T67" fmla="*/ 1239 h 1267"/>
                <a:gd name="T68" fmla="*/ 578 w 1289"/>
                <a:gd name="T69" fmla="*/ 1260 h 1267"/>
                <a:gd name="T70" fmla="*/ 641 w 1289"/>
                <a:gd name="T71" fmla="*/ 1267 h 1267"/>
                <a:gd name="T72" fmla="*/ 705 w 1289"/>
                <a:gd name="T73" fmla="*/ 1260 h 1267"/>
                <a:gd name="T74" fmla="*/ 768 w 1289"/>
                <a:gd name="T75" fmla="*/ 1239 h 1267"/>
                <a:gd name="T76" fmla="*/ 817 w 1289"/>
                <a:gd name="T77" fmla="*/ 1210 h 1267"/>
                <a:gd name="T78" fmla="*/ 867 w 1289"/>
                <a:gd name="T79" fmla="*/ 1168 h 1267"/>
                <a:gd name="T80" fmla="*/ 930 w 1289"/>
                <a:gd name="T81" fmla="*/ 1105 h 1267"/>
                <a:gd name="T82" fmla="*/ 987 w 1289"/>
                <a:gd name="T83" fmla="*/ 1042 h 1267"/>
                <a:gd name="T84" fmla="*/ 1036 w 1289"/>
                <a:gd name="T85" fmla="*/ 971 h 1267"/>
                <a:gd name="T86" fmla="*/ 1099 w 1289"/>
                <a:gd name="T87" fmla="*/ 908 h 1267"/>
                <a:gd name="T88" fmla="*/ 1170 w 1289"/>
                <a:gd name="T89" fmla="*/ 852 h 1267"/>
                <a:gd name="T90" fmla="*/ 1226 w 1289"/>
                <a:gd name="T91" fmla="*/ 788 h 1267"/>
                <a:gd name="T92" fmla="*/ 1275 w 1289"/>
                <a:gd name="T93" fmla="*/ 725 h 1267"/>
                <a:gd name="T94" fmla="*/ 1282 w 1289"/>
                <a:gd name="T95" fmla="*/ 683 h 1267"/>
                <a:gd name="T96" fmla="*/ 1289 w 1289"/>
                <a:gd name="T97" fmla="*/ 648 h 1267"/>
                <a:gd name="T98" fmla="*/ 1282 w 1289"/>
                <a:gd name="T99" fmla="*/ 598 h 1267"/>
                <a:gd name="T100" fmla="*/ 1254 w 1289"/>
                <a:gd name="T101" fmla="*/ 549 h 1267"/>
                <a:gd name="T102" fmla="*/ 1219 w 1289"/>
                <a:gd name="T103" fmla="*/ 500 h 1267"/>
                <a:gd name="T104" fmla="*/ 1184 w 1289"/>
                <a:gd name="T105" fmla="*/ 451 h 1267"/>
                <a:gd name="T106" fmla="*/ 1092 w 1289"/>
                <a:gd name="T107" fmla="*/ 359 h 1267"/>
                <a:gd name="T108" fmla="*/ 1057 w 1289"/>
                <a:gd name="T109" fmla="*/ 310 h 1267"/>
                <a:gd name="T110" fmla="*/ 1022 w 1289"/>
                <a:gd name="T111" fmla="*/ 268 h 1267"/>
                <a:gd name="T112" fmla="*/ 1022 w 1289"/>
                <a:gd name="T113" fmla="*/ 268 h 126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289" h="1267">
                  <a:moveTo>
                    <a:pt x="1022" y="268"/>
                  </a:moveTo>
                  <a:lnTo>
                    <a:pt x="965" y="190"/>
                  </a:lnTo>
                  <a:lnTo>
                    <a:pt x="909" y="120"/>
                  </a:lnTo>
                  <a:lnTo>
                    <a:pt x="824" y="57"/>
                  </a:lnTo>
                  <a:lnTo>
                    <a:pt x="782" y="28"/>
                  </a:lnTo>
                  <a:lnTo>
                    <a:pt x="726" y="14"/>
                  </a:lnTo>
                  <a:lnTo>
                    <a:pt x="684" y="0"/>
                  </a:lnTo>
                  <a:lnTo>
                    <a:pt x="641" y="0"/>
                  </a:lnTo>
                  <a:lnTo>
                    <a:pt x="599" y="0"/>
                  </a:lnTo>
                  <a:lnTo>
                    <a:pt x="557" y="14"/>
                  </a:lnTo>
                  <a:lnTo>
                    <a:pt x="500" y="28"/>
                  </a:lnTo>
                  <a:lnTo>
                    <a:pt x="458" y="57"/>
                  </a:lnTo>
                  <a:lnTo>
                    <a:pt x="381" y="120"/>
                  </a:lnTo>
                  <a:lnTo>
                    <a:pt x="317" y="190"/>
                  </a:lnTo>
                  <a:lnTo>
                    <a:pt x="268" y="268"/>
                  </a:lnTo>
                  <a:lnTo>
                    <a:pt x="233" y="310"/>
                  </a:lnTo>
                  <a:lnTo>
                    <a:pt x="190" y="359"/>
                  </a:lnTo>
                  <a:lnTo>
                    <a:pt x="106" y="451"/>
                  </a:lnTo>
                  <a:lnTo>
                    <a:pt x="64" y="500"/>
                  </a:lnTo>
                  <a:lnTo>
                    <a:pt x="28" y="549"/>
                  </a:lnTo>
                  <a:lnTo>
                    <a:pt x="7" y="598"/>
                  </a:lnTo>
                  <a:lnTo>
                    <a:pt x="0" y="648"/>
                  </a:lnTo>
                  <a:lnTo>
                    <a:pt x="0" y="683"/>
                  </a:lnTo>
                  <a:lnTo>
                    <a:pt x="14" y="725"/>
                  </a:lnTo>
                  <a:lnTo>
                    <a:pt x="35" y="753"/>
                  </a:lnTo>
                  <a:lnTo>
                    <a:pt x="56" y="788"/>
                  </a:lnTo>
                  <a:lnTo>
                    <a:pt x="120" y="852"/>
                  </a:lnTo>
                  <a:lnTo>
                    <a:pt x="183" y="908"/>
                  </a:lnTo>
                  <a:lnTo>
                    <a:pt x="247" y="971"/>
                  </a:lnTo>
                  <a:lnTo>
                    <a:pt x="303" y="1042"/>
                  </a:lnTo>
                  <a:lnTo>
                    <a:pt x="359" y="1105"/>
                  </a:lnTo>
                  <a:lnTo>
                    <a:pt x="416" y="1168"/>
                  </a:lnTo>
                  <a:lnTo>
                    <a:pt x="465" y="1210"/>
                  </a:lnTo>
                  <a:lnTo>
                    <a:pt x="514" y="1239"/>
                  </a:lnTo>
                  <a:lnTo>
                    <a:pt x="578" y="1260"/>
                  </a:lnTo>
                  <a:lnTo>
                    <a:pt x="641" y="1267"/>
                  </a:lnTo>
                  <a:lnTo>
                    <a:pt x="705" y="1260"/>
                  </a:lnTo>
                  <a:lnTo>
                    <a:pt x="768" y="1239"/>
                  </a:lnTo>
                  <a:lnTo>
                    <a:pt x="817" y="1210"/>
                  </a:lnTo>
                  <a:lnTo>
                    <a:pt x="867" y="1168"/>
                  </a:lnTo>
                  <a:lnTo>
                    <a:pt x="930" y="1105"/>
                  </a:lnTo>
                  <a:lnTo>
                    <a:pt x="987" y="1042"/>
                  </a:lnTo>
                  <a:lnTo>
                    <a:pt x="1036" y="971"/>
                  </a:lnTo>
                  <a:lnTo>
                    <a:pt x="1099" y="908"/>
                  </a:lnTo>
                  <a:lnTo>
                    <a:pt x="1170" y="852"/>
                  </a:lnTo>
                  <a:lnTo>
                    <a:pt x="1226" y="788"/>
                  </a:lnTo>
                  <a:lnTo>
                    <a:pt x="1275" y="725"/>
                  </a:lnTo>
                  <a:lnTo>
                    <a:pt x="1282" y="683"/>
                  </a:lnTo>
                  <a:lnTo>
                    <a:pt x="1289" y="648"/>
                  </a:lnTo>
                  <a:lnTo>
                    <a:pt x="1282" y="598"/>
                  </a:lnTo>
                  <a:lnTo>
                    <a:pt x="1254" y="549"/>
                  </a:lnTo>
                  <a:lnTo>
                    <a:pt x="1219" y="500"/>
                  </a:lnTo>
                  <a:lnTo>
                    <a:pt x="1184" y="451"/>
                  </a:lnTo>
                  <a:lnTo>
                    <a:pt x="1092" y="359"/>
                  </a:lnTo>
                  <a:lnTo>
                    <a:pt x="1057" y="310"/>
                  </a:lnTo>
                  <a:lnTo>
                    <a:pt x="1022" y="268"/>
                  </a:lnTo>
                  <a:close/>
                </a:path>
              </a:pathLst>
            </a:custGeom>
            <a:solidFill>
              <a:schemeClr val="accent1"/>
            </a:solidFill>
            <a:ln w="9525">
              <a:round/>
              <a:headEnd/>
              <a:tailEnd/>
            </a:ln>
            <a:effectLst/>
            <a:scene3d>
              <a:camera prst="legacyPerspectiveTop"/>
              <a:lightRig rig="legacyFlat3" dir="b"/>
            </a:scene3d>
            <a:sp3d extrusionH="887400" prstMaterial="legacyMatte">
              <a:bevelT w="13500" h="13500" prst="angle"/>
              <a:bevelB w="13500" h="13500" prst="angle"/>
              <a:extrusionClr>
                <a:schemeClr val="accent1"/>
              </a:extrusion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endParaRPr lang="zh-CN" altLang="en-US"/>
            </a:p>
          </p:txBody>
        </p:sp>
        <p:sp>
          <p:nvSpPr>
            <p:cNvPr id="50209" name="Freeform 15"/>
            <p:cNvSpPr>
              <a:spLocks/>
            </p:cNvSpPr>
            <p:nvPr/>
          </p:nvSpPr>
          <p:spPr bwMode="auto">
            <a:xfrm>
              <a:off x="5289" y="1724"/>
              <a:ext cx="7" cy="7"/>
            </a:xfrm>
            <a:custGeom>
              <a:avLst/>
              <a:gdLst>
                <a:gd name="T0" fmla="*/ 7 w 7"/>
                <a:gd name="T1" fmla="*/ 0 h 7"/>
                <a:gd name="T2" fmla="*/ 7 w 7"/>
                <a:gd name="T3" fmla="*/ 0 h 7"/>
                <a:gd name="T4" fmla="*/ 7 w 7"/>
                <a:gd name="T5" fmla="*/ 0 h 7"/>
                <a:gd name="T6" fmla="*/ 0 w 7"/>
                <a:gd name="T7" fmla="*/ 7 h 7"/>
                <a:gd name="T8" fmla="*/ 7 w 7"/>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7">
                  <a:moveTo>
                    <a:pt x="7" y="0"/>
                  </a:moveTo>
                  <a:lnTo>
                    <a:pt x="7" y="0"/>
                  </a:lnTo>
                  <a:lnTo>
                    <a:pt x="0" y="7"/>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210" name="Line 16"/>
            <p:cNvSpPr>
              <a:spLocks noChangeShapeType="1"/>
            </p:cNvSpPr>
            <p:nvPr/>
          </p:nvSpPr>
          <p:spPr bwMode="auto">
            <a:xfrm flipV="1">
              <a:off x="4939" y="1415"/>
              <a:ext cx="0" cy="1344"/>
            </a:xfrm>
            <a:prstGeom prst="line">
              <a:avLst/>
            </a:prstGeom>
            <a:noFill/>
            <a:ln w="57150">
              <a:solidFill>
                <a:srgbClr val="FFFF66"/>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0211" name="Group 17"/>
            <p:cNvGrpSpPr>
              <a:grpSpLocks/>
            </p:cNvGrpSpPr>
            <p:nvPr/>
          </p:nvGrpSpPr>
          <p:grpSpPr bwMode="auto">
            <a:xfrm>
              <a:off x="4699" y="2903"/>
              <a:ext cx="480" cy="144"/>
              <a:chOff x="4176" y="2496"/>
              <a:chExt cx="480" cy="144"/>
            </a:xfrm>
          </p:grpSpPr>
          <p:sp>
            <p:nvSpPr>
              <p:cNvPr id="50217" name="Line 18"/>
              <p:cNvSpPr>
                <a:spLocks noChangeShapeType="1"/>
              </p:cNvSpPr>
              <p:nvPr/>
            </p:nvSpPr>
            <p:spPr bwMode="auto">
              <a:xfrm>
                <a:off x="4320" y="2496"/>
                <a:ext cx="0" cy="144"/>
              </a:xfrm>
              <a:prstGeom prst="line">
                <a:avLst/>
              </a:prstGeom>
              <a:noFill/>
              <a:ln w="76200">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218" name="Line 19"/>
              <p:cNvSpPr>
                <a:spLocks noChangeShapeType="1"/>
              </p:cNvSpPr>
              <p:nvPr/>
            </p:nvSpPr>
            <p:spPr bwMode="auto">
              <a:xfrm>
                <a:off x="4176" y="2640"/>
                <a:ext cx="480" cy="0"/>
              </a:xfrm>
              <a:prstGeom prst="line">
                <a:avLst/>
              </a:prstGeom>
              <a:noFill/>
              <a:ln w="76200">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219" name="Line 20"/>
              <p:cNvSpPr>
                <a:spLocks noChangeShapeType="1"/>
              </p:cNvSpPr>
              <p:nvPr/>
            </p:nvSpPr>
            <p:spPr bwMode="auto">
              <a:xfrm>
                <a:off x="4512" y="2496"/>
                <a:ext cx="0" cy="144"/>
              </a:xfrm>
              <a:prstGeom prst="line">
                <a:avLst/>
              </a:prstGeom>
              <a:noFill/>
              <a:ln w="76200">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50212" name="Line 21"/>
            <p:cNvSpPr>
              <a:spLocks noChangeShapeType="1"/>
            </p:cNvSpPr>
            <p:nvPr/>
          </p:nvSpPr>
          <p:spPr bwMode="auto">
            <a:xfrm flipV="1">
              <a:off x="4939" y="983"/>
              <a:ext cx="0" cy="480"/>
            </a:xfrm>
            <a:prstGeom prst="line">
              <a:avLst/>
            </a:prstGeom>
            <a:noFill/>
            <a:ln w="57150">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213" name="Line 22"/>
            <p:cNvSpPr>
              <a:spLocks noChangeShapeType="1"/>
            </p:cNvSpPr>
            <p:nvPr/>
          </p:nvSpPr>
          <p:spPr bwMode="auto">
            <a:xfrm flipV="1">
              <a:off x="4939" y="2711"/>
              <a:ext cx="0" cy="336"/>
            </a:xfrm>
            <a:prstGeom prst="line">
              <a:avLst/>
            </a:prstGeom>
            <a:noFill/>
            <a:ln w="57150">
              <a:solidFill>
                <a:srgbClr val="00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50214" name="Group 23"/>
            <p:cNvGrpSpPr>
              <a:grpSpLocks/>
            </p:cNvGrpSpPr>
            <p:nvPr/>
          </p:nvGrpSpPr>
          <p:grpSpPr bwMode="auto">
            <a:xfrm>
              <a:off x="4843" y="1127"/>
              <a:ext cx="192" cy="288"/>
              <a:chOff x="4320" y="720"/>
              <a:chExt cx="192" cy="288"/>
            </a:xfrm>
          </p:grpSpPr>
          <p:sp>
            <p:nvSpPr>
              <p:cNvPr id="50215" name="Line 24"/>
              <p:cNvSpPr>
                <a:spLocks noChangeShapeType="1"/>
              </p:cNvSpPr>
              <p:nvPr/>
            </p:nvSpPr>
            <p:spPr bwMode="auto">
              <a:xfrm>
                <a:off x="4320" y="720"/>
                <a:ext cx="0" cy="288"/>
              </a:xfrm>
              <a:prstGeom prst="line">
                <a:avLst/>
              </a:prstGeom>
              <a:noFill/>
              <a:ln w="76200">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216" name="Line 25"/>
              <p:cNvSpPr>
                <a:spLocks noChangeShapeType="1"/>
              </p:cNvSpPr>
              <p:nvPr/>
            </p:nvSpPr>
            <p:spPr bwMode="auto">
              <a:xfrm>
                <a:off x="4512" y="720"/>
                <a:ext cx="0" cy="288"/>
              </a:xfrm>
              <a:prstGeom prst="line">
                <a:avLst/>
              </a:prstGeom>
              <a:noFill/>
              <a:ln w="76200">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sp>
        <p:nvSpPr>
          <p:cNvPr id="47130" name="Oval 26"/>
          <p:cNvSpPr>
            <a:spLocks noChangeArrowheads="1"/>
          </p:cNvSpPr>
          <p:nvPr/>
        </p:nvSpPr>
        <p:spPr bwMode="auto">
          <a:xfrm>
            <a:off x="6646863" y="2468563"/>
            <a:ext cx="1524000" cy="533400"/>
          </a:xfrm>
          <a:prstGeom prst="ellipse">
            <a:avLst/>
          </a:prstGeom>
          <a:noFill/>
          <a:ln w="28575">
            <a:solidFill>
              <a:srgbClr val="FFFF00"/>
            </a:solidFill>
            <a:prstDash val="sysDot"/>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131" name="Line 27"/>
          <p:cNvSpPr>
            <a:spLocks noChangeShapeType="1"/>
          </p:cNvSpPr>
          <p:nvPr/>
        </p:nvSpPr>
        <p:spPr bwMode="auto">
          <a:xfrm flipV="1">
            <a:off x="7837488" y="2797175"/>
            <a:ext cx="457200" cy="152400"/>
          </a:xfrm>
          <a:prstGeom prst="line">
            <a:avLst/>
          </a:prstGeom>
          <a:noFill/>
          <a:ln w="38100">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132" name="Rectangle 28"/>
          <p:cNvSpPr>
            <a:spLocks noChangeArrowheads="1"/>
          </p:cNvSpPr>
          <p:nvPr/>
        </p:nvSpPr>
        <p:spPr bwMode="auto">
          <a:xfrm>
            <a:off x="7637463" y="2697163"/>
            <a:ext cx="3254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400" b="1">
                <a:solidFill>
                  <a:srgbClr val="FFFF00"/>
                </a:solidFill>
                <a:latin typeface="Times New Roman" pitchFamily="18" charset="0"/>
                <a:sym typeface="Symbol" pitchFamily="18" charset="2"/>
              </a:rPr>
              <a:t></a:t>
            </a:r>
            <a:endParaRPr lang="en-US" altLang="zh-CN"/>
          </a:p>
        </p:txBody>
      </p:sp>
      <p:graphicFrame>
        <p:nvGraphicFramePr>
          <p:cNvPr id="47133" name="Object 29"/>
          <p:cNvGraphicFramePr>
            <a:graphicFrameLocks/>
          </p:cNvGraphicFramePr>
          <p:nvPr/>
        </p:nvGraphicFramePr>
        <p:xfrm>
          <a:off x="7600950" y="2998788"/>
          <a:ext cx="571500" cy="431800"/>
        </p:xfrm>
        <a:graphic>
          <a:graphicData uri="http://schemas.openxmlformats.org/presentationml/2006/ole">
            <mc:AlternateContent xmlns:mc="http://schemas.openxmlformats.org/markup-compatibility/2006">
              <mc:Choice xmlns:v="urn:schemas-microsoft-com:vml" Requires="v">
                <p:oleObj spid="_x0000_s36934" name="公式" r:id="rId7" imgW="485894" imgH="342816" progId="Equation.3">
                  <p:embed/>
                </p:oleObj>
              </mc:Choice>
              <mc:Fallback>
                <p:oleObj name="公式" r:id="rId7" imgW="485894" imgH="342816" progId="Equation.3">
                  <p:embed/>
                  <p:pic>
                    <p:nvPicPr>
                      <p:cNvPr id="0" name="Object 2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00950" y="2998788"/>
                        <a:ext cx="5715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34" name="Object 30"/>
          <p:cNvGraphicFramePr>
            <a:graphicFrameLocks/>
          </p:cNvGraphicFramePr>
          <p:nvPr/>
        </p:nvGraphicFramePr>
        <p:xfrm>
          <a:off x="7581900" y="2490788"/>
          <a:ext cx="215900" cy="431800"/>
        </p:xfrm>
        <a:graphic>
          <a:graphicData uri="http://schemas.openxmlformats.org/presentationml/2006/ole">
            <mc:AlternateContent xmlns:mc="http://schemas.openxmlformats.org/markup-compatibility/2006">
              <mc:Choice xmlns:v="urn:schemas-microsoft-com:vml" Requires="v">
                <p:oleObj spid="_x0000_s36935" name="公式" r:id="rId9" imgW="123903" imgH="342816" progId="Equation.3">
                  <p:embed/>
                </p:oleObj>
              </mc:Choice>
              <mc:Fallback>
                <p:oleObj name="公式" r:id="rId9" imgW="123903" imgH="342816" progId="Equation.3">
                  <p:embed/>
                  <p:pic>
                    <p:nvPicPr>
                      <p:cNvPr id="0" name="Object 3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81900" y="2490788"/>
                        <a:ext cx="2159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35" name="Object 31"/>
          <p:cNvGraphicFramePr>
            <a:graphicFrameLocks/>
          </p:cNvGraphicFramePr>
          <p:nvPr/>
        </p:nvGraphicFramePr>
        <p:xfrm>
          <a:off x="8101013" y="2308225"/>
          <a:ext cx="280987" cy="431800"/>
        </p:xfrm>
        <a:graphic>
          <a:graphicData uri="http://schemas.openxmlformats.org/presentationml/2006/ole">
            <mc:AlternateContent xmlns:mc="http://schemas.openxmlformats.org/markup-compatibility/2006">
              <mc:Choice xmlns:v="urn:schemas-microsoft-com:vml" Requires="v">
                <p:oleObj spid="_x0000_s36936" name="公式" r:id="rId11" imgW="190578" imgH="342816" progId="Equation.3">
                  <p:embed/>
                </p:oleObj>
              </mc:Choice>
              <mc:Fallback>
                <p:oleObj name="公式" r:id="rId11" imgW="190578" imgH="342816" progId="Equation.3">
                  <p:embed/>
                  <p:pic>
                    <p:nvPicPr>
                      <p:cNvPr id="0" name="Object 31"/>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01013" y="2308225"/>
                        <a:ext cx="28098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36" name="Text Box 32"/>
          <p:cNvSpPr txBox="1">
            <a:spLocks noChangeArrowheads="1"/>
          </p:cNvSpPr>
          <p:nvPr/>
        </p:nvSpPr>
        <p:spPr bwMode="auto">
          <a:xfrm>
            <a:off x="6996113" y="2544763"/>
            <a:ext cx="457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2400" b="1" i="1">
                <a:solidFill>
                  <a:srgbClr val="00FFFF"/>
                </a:solidFill>
                <a:latin typeface="Times New Roman" pitchFamily="18" charset="0"/>
              </a:rPr>
              <a:t>O</a:t>
            </a:r>
            <a:endParaRPr lang="en-US" altLang="zh-CN"/>
          </a:p>
        </p:txBody>
      </p:sp>
      <p:sp>
        <p:nvSpPr>
          <p:cNvPr id="47137" name="Text Box 33"/>
          <p:cNvSpPr txBox="1">
            <a:spLocks noChangeArrowheads="1"/>
          </p:cNvSpPr>
          <p:nvPr/>
        </p:nvSpPr>
        <p:spPr bwMode="auto">
          <a:xfrm>
            <a:off x="2427288" y="3367088"/>
            <a:ext cx="3657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2000" b="1">
                <a:solidFill>
                  <a:srgbClr val="66FFFF"/>
                </a:solidFill>
                <a:latin typeface="Times New Roman" pitchFamily="18" charset="0"/>
                <a:ea typeface="楷体_GB2312" pitchFamily="49" charset="-122"/>
              </a:rPr>
              <a:t>(</a:t>
            </a:r>
            <a:r>
              <a:rPr lang="zh-CN" altLang="en-US" sz="2000" b="1">
                <a:solidFill>
                  <a:srgbClr val="66FFFF"/>
                </a:solidFill>
                <a:latin typeface="Times New Roman" pitchFamily="18" charset="0"/>
                <a:ea typeface="楷体_GB2312" pitchFamily="49" charset="-122"/>
              </a:rPr>
              <a:t>所有质元的动量矩之和</a:t>
            </a:r>
            <a:r>
              <a:rPr lang="en-US" altLang="zh-CN" sz="2000" b="1">
                <a:solidFill>
                  <a:srgbClr val="66FFFF"/>
                </a:solidFill>
                <a:latin typeface="Times New Roman" pitchFamily="18" charset="0"/>
                <a:ea typeface="楷体_GB2312" pitchFamily="49" charset="-122"/>
              </a:rPr>
              <a:t>)</a:t>
            </a:r>
            <a:endParaRPr lang="en-US" altLang="zh-CN" sz="2000">
              <a:ea typeface="楷体_GB2312" pitchFamily="49" charset="-122"/>
            </a:endParaRPr>
          </a:p>
        </p:txBody>
      </p:sp>
      <p:graphicFrame>
        <p:nvGraphicFramePr>
          <p:cNvPr id="47138" name="Object 34"/>
          <p:cNvGraphicFramePr>
            <a:graphicFrameLocks/>
          </p:cNvGraphicFramePr>
          <p:nvPr/>
        </p:nvGraphicFramePr>
        <p:xfrm>
          <a:off x="7573963" y="890588"/>
          <a:ext cx="223837" cy="233362"/>
        </p:xfrm>
        <a:graphic>
          <a:graphicData uri="http://schemas.openxmlformats.org/presentationml/2006/ole">
            <mc:AlternateContent xmlns:mc="http://schemas.openxmlformats.org/markup-compatibility/2006">
              <mc:Choice xmlns:v="urn:schemas-microsoft-com:vml" Requires="v">
                <p:oleObj spid="_x0000_s36937" name="公式" r:id="rId13" imgW="190578" imgH="200021" progId="Equation.3">
                  <p:embed/>
                </p:oleObj>
              </mc:Choice>
              <mc:Fallback>
                <p:oleObj name="公式" r:id="rId13" imgW="190578" imgH="200021" progId="Equation.3">
                  <p:embed/>
                  <p:pic>
                    <p:nvPicPr>
                      <p:cNvPr id="0" name="Object 34"/>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73963" y="890588"/>
                        <a:ext cx="223837" cy="233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39" name="Line 35"/>
          <p:cNvSpPr>
            <a:spLocks noChangeShapeType="1"/>
          </p:cNvSpPr>
          <p:nvPr/>
        </p:nvSpPr>
        <p:spPr bwMode="auto">
          <a:xfrm>
            <a:off x="7489825" y="2908300"/>
            <a:ext cx="312738" cy="4445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47140" name="Object 36"/>
          <p:cNvGraphicFramePr>
            <a:graphicFrameLocks/>
          </p:cNvGraphicFramePr>
          <p:nvPr/>
        </p:nvGraphicFramePr>
        <p:xfrm>
          <a:off x="1360488" y="3357563"/>
          <a:ext cx="1217612" cy="368300"/>
        </p:xfrm>
        <a:graphic>
          <a:graphicData uri="http://schemas.openxmlformats.org/presentationml/2006/ole">
            <mc:AlternateContent xmlns:mc="http://schemas.openxmlformats.org/markup-compatibility/2006">
              <mc:Choice xmlns:v="urn:schemas-microsoft-com:vml" Requires="v">
                <p:oleObj spid="_x0000_s36938" name="公式" r:id="rId15" imgW="1295446" imgH="323920" progId="Equation.3">
                  <p:embed/>
                </p:oleObj>
              </mc:Choice>
              <mc:Fallback>
                <p:oleObj name="公式" r:id="rId15" imgW="1295446" imgH="323920" progId="Equation.3">
                  <p:embed/>
                  <p:pic>
                    <p:nvPicPr>
                      <p:cNvPr id="0" name="Object 36"/>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60488" y="3357563"/>
                        <a:ext cx="12176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41" name="Object 37"/>
          <p:cNvGraphicFramePr>
            <a:graphicFrameLocks/>
          </p:cNvGraphicFramePr>
          <p:nvPr/>
        </p:nvGraphicFramePr>
        <p:xfrm>
          <a:off x="1343025" y="2636838"/>
          <a:ext cx="1909763" cy="636587"/>
        </p:xfrm>
        <a:graphic>
          <a:graphicData uri="http://schemas.openxmlformats.org/presentationml/2006/ole">
            <mc:AlternateContent xmlns:mc="http://schemas.openxmlformats.org/markup-compatibility/2006">
              <mc:Choice xmlns:v="urn:schemas-microsoft-com:vml" Requires="v">
                <p:oleObj spid="_x0000_s36939" name="公式" r:id="rId17" imgW="2086103" imgH="628675" progId="Equation.3">
                  <p:embed/>
                </p:oleObj>
              </mc:Choice>
              <mc:Fallback>
                <p:oleObj name="公式" r:id="rId17" imgW="2086103" imgH="628675" progId="Equation.3">
                  <p:embed/>
                  <p:pic>
                    <p:nvPicPr>
                      <p:cNvPr id="0" name="Object 37"/>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43025" y="2636838"/>
                        <a:ext cx="1909763" cy="636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46" name="Text Box 42"/>
          <p:cNvSpPr txBox="1">
            <a:spLocks noChangeArrowheads="1"/>
          </p:cNvSpPr>
          <p:nvPr/>
        </p:nvSpPr>
        <p:spPr bwMode="auto">
          <a:xfrm>
            <a:off x="396875" y="3960813"/>
            <a:ext cx="41465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a:solidFill>
                  <a:srgbClr val="66FFFF"/>
                </a:solidFill>
                <a:latin typeface="Times New Roman" pitchFamily="18" charset="0"/>
                <a:sym typeface="Symbol" pitchFamily="18" charset="2"/>
              </a:rPr>
              <a:t>2. </a:t>
            </a:r>
            <a:r>
              <a:rPr lang="zh-CN" altLang="en-US" sz="2400" b="1">
                <a:solidFill>
                  <a:srgbClr val="66FFFF"/>
                </a:solidFill>
                <a:latin typeface="Times New Roman" pitchFamily="18" charset="0"/>
              </a:rPr>
              <a:t>刚体定轴转动的动量矩定理</a:t>
            </a:r>
          </a:p>
        </p:txBody>
      </p:sp>
      <p:graphicFrame>
        <p:nvGraphicFramePr>
          <p:cNvPr id="47147" name="Object 43"/>
          <p:cNvGraphicFramePr>
            <a:graphicFrameLocks/>
          </p:cNvGraphicFramePr>
          <p:nvPr/>
        </p:nvGraphicFramePr>
        <p:xfrm>
          <a:off x="2413000" y="4537075"/>
          <a:ext cx="1408113" cy="727075"/>
        </p:xfrm>
        <a:graphic>
          <a:graphicData uri="http://schemas.openxmlformats.org/presentationml/2006/ole">
            <mc:AlternateContent xmlns:mc="http://schemas.openxmlformats.org/markup-compatibility/2006">
              <mc:Choice xmlns:v="urn:schemas-microsoft-com:vml" Requires="v">
                <p:oleObj spid="_x0000_s36940" name="公式" r:id="rId19" imgW="1504920" imgH="733410" progId="Equation.3">
                  <p:embed/>
                </p:oleObj>
              </mc:Choice>
              <mc:Fallback>
                <p:oleObj name="公式" r:id="rId19" imgW="1504920" imgH="733410" progId="Equation.3">
                  <p:embed/>
                  <p:pic>
                    <p:nvPicPr>
                      <p:cNvPr id="0" name="Object 43"/>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13000" y="4537075"/>
                        <a:ext cx="1408113" cy="7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48" name="Text Box 44"/>
          <p:cNvSpPr txBox="1">
            <a:spLocks noChangeArrowheads="1"/>
          </p:cNvSpPr>
          <p:nvPr/>
        </p:nvSpPr>
        <p:spPr bwMode="auto">
          <a:xfrm>
            <a:off x="685800" y="4579938"/>
            <a:ext cx="237648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zh-CN" altLang="en-US" sz="2400" b="1">
                <a:solidFill>
                  <a:schemeClr val="bg1"/>
                </a:solidFill>
                <a:latin typeface="Times New Roman" pitchFamily="18" charset="0"/>
              </a:rPr>
              <a:t>由转动定律</a:t>
            </a:r>
          </a:p>
        </p:txBody>
      </p:sp>
      <p:graphicFrame>
        <p:nvGraphicFramePr>
          <p:cNvPr id="47149" name="Object 45"/>
          <p:cNvGraphicFramePr>
            <a:graphicFrameLocks/>
          </p:cNvGraphicFramePr>
          <p:nvPr/>
        </p:nvGraphicFramePr>
        <p:xfrm>
          <a:off x="4400550" y="4738688"/>
          <a:ext cx="2649538" cy="366712"/>
        </p:xfrm>
        <a:graphic>
          <a:graphicData uri="http://schemas.openxmlformats.org/presentationml/2006/ole">
            <mc:AlternateContent xmlns:mc="http://schemas.openxmlformats.org/markup-compatibility/2006">
              <mc:Choice xmlns:v="urn:schemas-microsoft-com:vml" Requires="v">
                <p:oleObj spid="_x0000_s36941" name="公式" r:id="rId21" imgW="2895656" imgH="323920" progId="Equation.3">
                  <p:embed/>
                </p:oleObj>
              </mc:Choice>
              <mc:Fallback>
                <p:oleObj name="公式" r:id="rId21" imgW="2895656" imgH="323920" progId="Equation.3">
                  <p:embed/>
                  <p:pic>
                    <p:nvPicPr>
                      <p:cNvPr id="0" name="Object 45"/>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400550" y="4738688"/>
                        <a:ext cx="26495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50" name="AutoShape 46"/>
          <p:cNvSpPr>
            <a:spLocks noChangeArrowheads="1"/>
          </p:cNvSpPr>
          <p:nvPr/>
        </p:nvSpPr>
        <p:spPr bwMode="auto">
          <a:xfrm>
            <a:off x="3997325" y="4795838"/>
            <a:ext cx="288925" cy="284162"/>
          </a:xfrm>
          <a:prstGeom prst="rightArrow">
            <a:avLst>
              <a:gd name="adj1" fmla="val 50000"/>
              <a:gd name="adj2" fmla="val 25419"/>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151" name="Object 47"/>
          <p:cNvGraphicFramePr>
            <a:graphicFrameLocks/>
          </p:cNvGraphicFramePr>
          <p:nvPr/>
        </p:nvGraphicFramePr>
        <p:xfrm>
          <a:off x="987425" y="5316538"/>
          <a:ext cx="3662363" cy="581025"/>
        </p:xfrm>
        <a:graphic>
          <a:graphicData uri="http://schemas.openxmlformats.org/presentationml/2006/ole">
            <mc:AlternateContent xmlns:mc="http://schemas.openxmlformats.org/markup-compatibility/2006">
              <mc:Choice xmlns:v="urn:schemas-microsoft-com:vml" Requires="v">
                <p:oleObj spid="_x0000_s36942" name="公式" r:id="rId23" imgW="4571989" imgH="647571" progId="Equation.3">
                  <p:embed/>
                </p:oleObj>
              </mc:Choice>
              <mc:Fallback>
                <p:oleObj name="公式" r:id="rId23" imgW="4571989" imgH="647571" progId="Equation.3">
                  <p:embed/>
                  <p:pic>
                    <p:nvPicPr>
                      <p:cNvPr id="0" name="Object 47"/>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87425" y="5316538"/>
                        <a:ext cx="366236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52" name="Text Box 48"/>
          <p:cNvSpPr txBox="1">
            <a:spLocks noChangeArrowheads="1"/>
          </p:cNvSpPr>
          <p:nvPr/>
        </p:nvSpPr>
        <p:spPr bwMode="auto">
          <a:xfrm>
            <a:off x="4646613" y="5370513"/>
            <a:ext cx="2994025" cy="434975"/>
          </a:xfrm>
          <a:prstGeom prst="rect">
            <a:avLst/>
          </a:prstGeom>
          <a:noFill/>
          <a:ln>
            <a:noFill/>
          </a:ln>
          <a:effectLst/>
          <a:extLst>
            <a:ext uri="{909E8E84-426E-40DD-AFC4-6F175D3DCCD1}">
              <a14:hiddenFill xmlns:a14="http://schemas.microsoft.com/office/drawing/2010/main">
                <a:solidFill>
                  <a:srgbClr val="00CCFF">
                    <a:alpha val="14902"/>
                  </a:srgbClr>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lang="zh-CN" altLang="en-US" b="1">
                <a:solidFill>
                  <a:schemeClr val="bg1"/>
                </a:solidFill>
                <a:ea typeface="楷体_GB2312" pitchFamily="49" charset="-122"/>
              </a:rPr>
              <a:t>（动量矩定理</a:t>
            </a:r>
            <a:r>
              <a:rPr lang="zh-CN" altLang="en-US" b="1">
                <a:solidFill>
                  <a:schemeClr val="bg1"/>
                </a:solidFill>
                <a:latin typeface="Times New Roman" pitchFamily="18" charset="0"/>
                <a:ea typeface="楷体_GB2312" pitchFamily="49" charset="-122"/>
              </a:rPr>
              <a:t>积分形式）</a:t>
            </a:r>
          </a:p>
        </p:txBody>
      </p:sp>
      <p:sp>
        <p:nvSpPr>
          <p:cNvPr id="47153" name="Rectangle 49"/>
          <p:cNvSpPr>
            <a:spLocks noChangeArrowheads="1"/>
          </p:cNvSpPr>
          <p:nvPr/>
        </p:nvSpPr>
        <p:spPr bwMode="auto">
          <a:xfrm>
            <a:off x="828675" y="6049963"/>
            <a:ext cx="7991475" cy="466725"/>
          </a:xfrm>
          <a:prstGeom prst="rect">
            <a:avLst/>
          </a:prstGeom>
          <a:noFill/>
          <a:ln w="9525">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zh-CN" altLang="en-US" sz="2400" b="1">
                <a:solidFill>
                  <a:schemeClr val="bg1"/>
                </a:solidFill>
                <a:latin typeface="宋体" pitchFamily="2" charset="-122"/>
                <a:ea typeface="楷体_GB2312" pitchFamily="49" charset="-122"/>
              </a:rPr>
              <a:t>定轴转动刚体所受合外力矩的冲量矩等于其动量矩的增量</a:t>
            </a:r>
            <a:endParaRPr lang="zh-CN" altLang="en-US" sz="2400" b="1">
              <a:solidFill>
                <a:schemeClr val="bg1"/>
              </a:solidFill>
              <a:latin typeface="Times New Roman" pitchFamily="18" charset="0"/>
              <a:ea typeface="楷体_GB2312" pitchFamily="49" charset="-122"/>
            </a:endParaRPr>
          </a:p>
        </p:txBody>
      </p:sp>
      <p:grpSp>
        <p:nvGrpSpPr>
          <p:cNvPr id="47154" name="Group 50"/>
          <p:cNvGrpSpPr>
            <a:grpSpLocks/>
          </p:cNvGrpSpPr>
          <p:nvPr/>
        </p:nvGrpSpPr>
        <p:grpSpPr bwMode="auto">
          <a:xfrm>
            <a:off x="7094538" y="4522788"/>
            <a:ext cx="1439862" cy="749300"/>
            <a:chOff x="4649" y="536"/>
            <a:chExt cx="907" cy="537"/>
          </a:xfrm>
        </p:grpSpPr>
        <p:sp>
          <p:nvSpPr>
            <p:cNvPr id="50205" name="Text Box 51"/>
            <p:cNvSpPr txBox="1">
              <a:spLocks noChangeArrowheads="1"/>
            </p:cNvSpPr>
            <p:nvPr/>
          </p:nvSpPr>
          <p:spPr bwMode="auto">
            <a:xfrm>
              <a:off x="4649" y="536"/>
              <a:ext cx="907" cy="537"/>
            </a:xfrm>
            <a:prstGeom prst="rect">
              <a:avLst/>
            </a:prstGeom>
            <a:noFill/>
            <a:ln>
              <a:noFill/>
            </a:ln>
            <a:effectLst/>
            <a:extLst>
              <a:ext uri="{909E8E84-426E-40DD-AFC4-6F175D3DCCD1}">
                <a14:hiddenFill xmlns:a14="http://schemas.microsoft.com/office/drawing/2010/main">
                  <a:solidFill>
                    <a:srgbClr val="00CCFF">
                      <a:alpha val="14902"/>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lnSpc>
                  <a:spcPct val="125000"/>
                </a:lnSpc>
              </a:pPr>
              <a:r>
                <a:rPr lang="zh-CN" altLang="en-US" b="1">
                  <a:solidFill>
                    <a:schemeClr val="bg1"/>
                  </a:solidFill>
                  <a:latin typeface="Times New Roman" pitchFamily="18" charset="0"/>
                  <a:ea typeface="楷体_GB2312" pitchFamily="49" charset="-122"/>
                </a:rPr>
                <a:t>动量矩定理微分形式</a:t>
              </a:r>
            </a:p>
          </p:txBody>
        </p:sp>
        <p:sp>
          <p:nvSpPr>
            <p:cNvPr id="50206" name="AutoShape 52"/>
            <p:cNvSpPr>
              <a:spLocks/>
            </p:cNvSpPr>
            <p:nvPr/>
          </p:nvSpPr>
          <p:spPr bwMode="auto">
            <a:xfrm>
              <a:off x="4706" y="637"/>
              <a:ext cx="44" cy="363"/>
            </a:xfrm>
            <a:prstGeom prst="leftBracket">
              <a:avLst>
                <a:gd name="adj" fmla="val 68750"/>
              </a:avLst>
            </a:prstGeom>
            <a:noFill/>
            <a:ln w="9525">
              <a:solidFill>
                <a:schemeClr val="bg1"/>
              </a:solidFill>
              <a:round/>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207" name="AutoShape 53"/>
            <p:cNvSpPr>
              <a:spLocks/>
            </p:cNvSpPr>
            <p:nvPr/>
          </p:nvSpPr>
          <p:spPr bwMode="auto">
            <a:xfrm flipH="1">
              <a:off x="5483" y="645"/>
              <a:ext cx="45" cy="363"/>
            </a:xfrm>
            <a:prstGeom prst="leftBracket">
              <a:avLst>
                <a:gd name="adj" fmla="val 67222"/>
              </a:avLst>
            </a:prstGeom>
            <a:noFill/>
            <a:ln w="9525">
              <a:solidFill>
                <a:schemeClr val="bg1"/>
              </a:solidFill>
              <a:round/>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47117"/>
                                        </p:tgtEl>
                                        <p:attrNameLst>
                                          <p:attrName>style.visibility</p:attrName>
                                        </p:attrNameLst>
                                      </p:cBhvr>
                                      <p:to>
                                        <p:strVal val="visible"/>
                                      </p:to>
                                    </p:set>
                                    <p:anim calcmode="lin" valueType="num">
                                      <p:cBhvr>
                                        <p:cTn id="7" dur="500" fill="hold"/>
                                        <p:tgtEl>
                                          <p:spTgt spid="47117"/>
                                        </p:tgtEl>
                                        <p:attrNameLst>
                                          <p:attrName>ppt_w</p:attrName>
                                        </p:attrNameLst>
                                      </p:cBhvr>
                                      <p:tavLst>
                                        <p:tav tm="0">
                                          <p:val>
                                            <p:fltVal val="0"/>
                                          </p:val>
                                        </p:tav>
                                        <p:tav tm="100000">
                                          <p:val>
                                            <p:strVal val="#ppt_w"/>
                                          </p:val>
                                        </p:tav>
                                      </p:tavLst>
                                    </p:anim>
                                    <p:anim calcmode="lin" valueType="num">
                                      <p:cBhvr>
                                        <p:cTn id="8" dur="500" fill="hold"/>
                                        <p:tgtEl>
                                          <p:spTgt spid="47117"/>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22" presetClass="entr" presetSubtype="8" fill="hold" nodeType="afterEffect">
                                  <p:stCondLst>
                                    <p:cond delay="0"/>
                                  </p:stCondLst>
                                  <p:childTnLst>
                                    <p:set>
                                      <p:cBhvr>
                                        <p:cTn id="11" dur="1" fill="hold">
                                          <p:stCondLst>
                                            <p:cond delay="0"/>
                                          </p:stCondLst>
                                        </p:cTn>
                                        <p:tgtEl>
                                          <p:spTgt spid="47138"/>
                                        </p:tgtEl>
                                        <p:attrNameLst>
                                          <p:attrName>style.visibility</p:attrName>
                                        </p:attrNameLst>
                                      </p:cBhvr>
                                      <p:to>
                                        <p:strVal val="visible"/>
                                      </p:to>
                                    </p:set>
                                    <p:animEffect transition="in" filter="wipe(left)">
                                      <p:cBhvr>
                                        <p:cTn id="12" dur="500"/>
                                        <p:tgtEl>
                                          <p:spTgt spid="471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114"/>
                                        </p:tgtEl>
                                        <p:attrNameLst>
                                          <p:attrName>style.visibility</p:attrName>
                                        </p:attrNameLst>
                                      </p:cBhvr>
                                      <p:to>
                                        <p:strVal val="visible"/>
                                      </p:to>
                                    </p:set>
                                    <p:animEffect transition="in" filter="wipe(left)">
                                      <p:cBhvr>
                                        <p:cTn id="17" dur="500"/>
                                        <p:tgtEl>
                                          <p:spTgt spid="471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7132"/>
                                        </p:tgtEl>
                                        <p:attrNameLst>
                                          <p:attrName>style.visibility</p:attrName>
                                        </p:attrNameLst>
                                      </p:cBhvr>
                                      <p:to>
                                        <p:strVal val="visible"/>
                                      </p:to>
                                    </p:set>
                                    <p:animEffect transition="in" filter="wipe(left)">
                                      <p:cBhvr>
                                        <p:cTn id="22" dur="500"/>
                                        <p:tgtEl>
                                          <p:spTgt spid="471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7133"/>
                                        </p:tgtEl>
                                        <p:attrNameLst>
                                          <p:attrName>style.visibility</p:attrName>
                                        </p:attrNameLst>
                                      </p:cBhvr>
                                      <p:to>
                                        <p:strVal val="visible"/>
                                      </p:to>
                                    </p:set>
                                    <p:animEffect transition="in" filter="wipe(left)">
                                      <p:cBhvr>
                                        <p:cTn id="27" dur="500"/>
                                        <p:tgtEl>
                                          <p:spTgt spid="471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7131"/>
                                        </p:tgtEl>
                                        <p:attrNameLst>
                                          <p:attrName>style.visibility</p:attrName>
                                        </p:attrNameLst>
                                      </p:cBhvr>
                                      <p:to>
                                        <p:strVal val="visible"/>
                                      </p:to>
                                    </p:set>
                                    <p:animEffect transition="in" filter="wipe(left)">
                                      <p:cBhvr>
                                        <p:cTn id="32" dur="500"/>
                                        <p:tgtEl>
                                          <p:spTgt spid="471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7135"/>
                                        </p:tgtEl>
                                        <p:attrNameLst>
                                          <p:attrName>style.visibility</p:attrName>
                                        </p:attrNameLst>
                                      </p:cBhvr>
                                      <p:to>
                                        <p:strVal val="visible"/>
                                      </p:to>
                                    </p:set>
                                    <p:animEffect transition="in" filter="wipe(left)">
                                      <p:cBhvr>
                                        <p:cTn id="37" dur="500"/>
                                        <p:tgtEl>
                                          <p:spTgt spid="471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47130"/>
                                        </p:tgtEl>
                                        <p:attrNameLst>
                                          <p:attrName>style.visibility</p:attrName>
                                        </p:attrNameLst>
                                      </p:cBhvr>
                                      <p:to>
                                        <p:strVal val="visible"/>
                                      </p:to>
                                    </p:set>
                                    <p:animEffect transition="in" filter="box(out)">
                                      <p:cBhvr>
                                        <p:cTn id="42" dur="500"/>
                                        <p:tgtEl>
                                          <p:spTgt spid="4713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7136"/>
                                        </p:tgtEl>
                                        <p:attrNameLst>
                                          <p:attrName>style.visibility</p:attrName>
                                        </p:attrNameLst>
                                      </p:cBhvr>
                                      <p:to>
                                        <p:strVal val="visible"/>
                                      </p:to>
                                    </p:set>
                                    <p:animEffect transition="in" filter="wipe(left)">
                                      <p:cBhvr>
                                        <p:cTn id="47" dur="500"/>
                                        <p:tgtEl>
                                          <p:spTgt spid="4713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7139"/>
                                        </p:tgtEl>
                                        <p:attrNameLst>
                                          <p:attrName>style.visibility</p:attrName>
                                        </p:attrNameLst>
                                      </p:cBhvr>
                                      <p:to>
                                        <p:strVal val="visible"/>
                                      </p:to>
                                    </p:set>
                                    <p:animEffect transition="in" filter="wipe(left)">
                                      <p:cBhvr>
                                        <p:cTn id="52" dur="500"/>
                                        <p:tgtEl>
                                          <p:spTgt spid="4713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47134"/>
                                        </p:tgtEl>
                                        <p:attrNameLst>
                                          <p:attrName>style.visibility</p:attrName>
                                        </p:attrNameLst>
                                      </p:cBhvr>
                                      <p:to>
                                        <p:strVal val="visible"/>
                                      </p:to>
                                    </p:set>
                                    <p:animEffect transition="in" filter="wipe(left)">
                                      <p:cBhvr>
                                        <p:cTn id="57" dur="500"/>
                                        <p:tgtEl>
                                          <p:spTgt spid="4713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47141"/>
                                        </p:tgtEl>
                                        <p:attrNameLst>
                                          <p:attrName>style.visibility</p:attrName>
                                        </p:attrNameLst>
                                      </p:cBhvr>
                                      <p:to>
                                        <p:strVal val="visible"/>
                                      </p:to>
                                    </p:set>
                                    <p:animEffect transition="in" filter="wipe(left)">
                                      <p:cBhvr>
                                        <p:cTn id="62" dur="500"/>
                                        <p:tgtEl>
                                          <p:spTgt spid="4714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47115"/>
                                        </p:tgtEl>
                                        <p:attrNameLst>
                                          <p:attrName>style.visibility</p:attrName>
                                        </p:attrNameLst>
                                      </p:cBhvr>
                                      <p:to>
                                        <p:strVal val="visible"/>
                                      </p:to>
                                    </p:set>
                                    <p:animEffect transition="in" filter="wipe(left)">
                                      <p:cBhvr>
                                        <p:cTn id="67" dur="500"/>
                                        <p:tgtEl>
                                          <p:spTgt spid="4711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47116"/>
                                        </p:tgtEl>
                                        <p:attrNameLst>
                                          <p:attrName>style.visibility</p:attrName>
                                        </p:attrNameLst>
                                      </p:cBhvr>
                                      <p:to>
                                        <p:strVal val="visible"/>
                                      </p:to>
                                    </p:set>
                                    <p:animEffect transition="in" filter="wipe(left)">
                                      <p:cBhvr>
                                        <p:cTn id="72" dur="500"/>
                                        <p:tgtEl>
                                          <p:spTgt spid="4711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47140"/>
                                        </p:tgtEl>
                                        <p:attrNameLst>
                                          <p:attrName>style.visibility</p:attrName>
                                        </p:attrNameLst>
                                      </p:cBhvr>
                                      <p:to>
                                        <p:strVal val="visible"/>
                                      </p:to>
                                    </p:set>
                                    <p:animEffect transition="in" filter="wipe(left)">
                                      <p:cBhvr>
                                        <p:cTn id="77" dur="500"/>
                                        <p:tgtEl>
                                          <p:spTgt spid="4714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47137"/>
                                        </p:tgtEl>
                                        <p:attrNameLst>
                                          <p:attrName>style.visibility</p:attrName>
                                        </p:attrNameLst>
                                      </p:cBhvr>
                                      <p:to>
                                        <p:strVal val="visible"/>
                                      </p:to>
                                    </p:set>
                                    <p:animEffect transition="in" filter="wipe(left)">
                                      <p:cBhvr>
                                        <p:cTn id="82" dur="500"/>
                                        <p:tgtEl>
                                          <p:spTgt spid="4713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47146"/>
                                        </p:tgtEl>
                                        <p:attrNameLst>
                                          <p:attrName>style.visibility</p:attrName>
                                        </p:attrNameLst>
                                      </p:cBhvr>
                                      <p:to>
                                        <p:strVal val="visible"/>
                                      </p:to>
                                    </p:set>
                                    <p:animEffect transition="in" filter="wipe(left)">
                                      <p:cBhvr>
                                        <p:cTn id="87" dur="500"/>
                                        <p:tgtEl>
                                          <p:spTgt spid="47146"/>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47148"/>
                                        </p:tgtEl>
                                        <p:attrNameLst>
                                          <p:attrName>style.visibility</p:attrName>
                                        </p:attrNameLst>
                                      </p:cBhvr>
                                      <p:to>
                                        <p:strVal val="visible"/>
                                      </p:to>
                                    </p:set>
                                    <p:animEffect transition="in" filter="wipe(left)">
                                      <p:cBhvr>
                                        <p:cTn id="92" dur="500"/>
                                        <p:tgtEl>
                                          <p:spTgt spid="47148"/>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47147"/>
                                        </p:tgtEl>
                                        <p:attrNameLst>
                                          <p:attrName>style.visibility</p:attrName>
                                        </p:attrNameLst>
                                      </p:cBhvr>
                                      <p:to>
                                        <p:strVal val="visible"/>
                                      </p:to>
                                    </p:set>
                                    <p:animEffect transition="in" filter="wipe(left)">
                                      <p:cBhvr>
                                        <p:cTn id="97" dur="500"/>
                                        <p:tgtEl>
                                          <p:spTgt spid="47147"/>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47150"/>
                                        </p:tgtEl>
                                        <p:attrNameLst>
                                          <p:attrName>style.visibility</p:attrName>
                                        </p:attrNameLst>
                                      </p:cBhvr>
                                      <p:to>
                                        <p:strVal val="visible"/>
                                      </p:to>
                                    </p:set>
                                    <p:animEffect transition="in" filter="wipe(left)">
                                      <p:cBhvr>
                                        <p:cTn id="102" dur="500"/>
                                        <p:tgtEl>
                                          <p:spTgt spid="47150"/>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47149"/>
                                        </p:tgtEl>
                                        <p:attrNameLst>
                                          <p:attrName>style.visibility</p:attrName>
                                        </p:attrNameLst>
                                      </p:cBhvr>
                                      <p:to>
                                        <p:strVal val="visible"/>
                                      </p:to>
                                    </p:set>
                                    <p:animEffect transition="in" filter="wipe(left)">
                                      <p:cBhvr>
                                        <p:cTn id="107" dur="500"/>
                                        <p:tgtEl>
                                          <p:spTgt spid="47149"/>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47154"/>
                                        </p:tgtEl>
                                        <p:attrNameLst>
                                          <p:attrName>style.visibility</p:attrName>
                                        </p:attrNameLst>
                                      </p:cBhvr>
                                      <p:to>
                                        <p:strVal val="visible"/>
                                      </p:to>
                                    </p:set>
                                    <p:animEffect transition="in" filter="wipe(left)">
                                      <p:cBhvr>
                                        <p:cTn id="112" dur="500"/>
                                        <p:tgtEl>
                                          <p:spTgt spid="47154"/>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47151"/>
                                        </p:tgtEl>
                                        <p:attrNameLst>
                                          <p:attrName>style.visibility</p:attrName>
                                        </p:attrNameLst>
                                      </p:cBhvr>
                                      <p:to>
                                        <p:strVal val="visible"/>
                                      </p:to>
                                    </p:set>
                                    <p:animEffect transition="in" filter="wipe(left)">
                                      <p:cBhvr>
                                        <p:cTn id="117" dur="500"/>
                                        <p:tgtEl>
                                          <p:spTgt spid="47151"/>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47152"/>
                                        </p:tgtEl>
                                        <p:attrNameLst>
                                          <p:attrName>style.visibility</p:attrName>
                                        </p:attrNameLst>
                                      </p:cBhvr>
                                      <p:to>
                                        <p:strVal val="visible"/>
                                      </p:to>
                                    </p:set>
                                    <p:animEffect transition="in" filter="wipe(left)">
                                      <p:cBhvr>
                                        <p:cTn id="122" dur="500"/>
                                        <p:tgtEl>
                                          <p:spTgt spid="47152"/>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47153"/>
                                        </p:tgtEl>
                                        <p:attrNameLst>
                                          <p:attrName>style.visibility</p:attrName>
                                        </p:attrNameLst>
                                      </p:cBhvr>
                                      <p:to>
                                        <p:strVal val="visible"/>
                                      </p:to>
                                    </p:set>
                                    <p:animEffect transition="in" filter="wipe(left)">
                                      <p:cBhvr>
                                        <p:cTn id="127" dur="500"/>
                                        <p:tgtEl>
                                          <p:spTgt spid="47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4" grpId="0" autoUpdateAnimBg="0"/>
      <p:bldP spid="47130" grpId="0" animBg="1"/>
      <p:bldP spid="47131" grpId="0" animBg="1"/>
      <p:bldP spid="47132" grpId="0" autoUpdateAnimBg="0"/>
      <p:bldP spid="47136" grpId="0" autoUpdateAnimBg="0"/>
      <p:bldP spid="47137" grpId="0" autoUpdateAnimBg="0"/>
      <p:bldP spid="47139" grpId="0" animBg="1"/>
      <p:bldP spid="47146" grpId="0" autoUpdateAnimBg="0"/>
      <p:bldP spid="47148" grpId="0"/>
      <p:bldP spid="47150" grpId="0" animBg="1"/>
      <p:bldP spid="47152" grpId="0"/>
      <p:bldP spid="47153" grpId="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矩形 1"/>
          <p:cNvSpPr>
            <a:spLocks noChangeArrowheads="1"/>
          </p:cNvSpPr>
          <p:nvPr/>
        </p:nvSpPr>
        <p:spPr bwMode="auto">
          <a:xfrm>
            <a:off x="35496" y="1814909"/>
            <a:ext cx="301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a:solidFill>
                  <a:srgbClr val="FFC000"/>
                </a:solidFill>
              </a:rPr>
              <a:t>书中例题</a:t>
            </a:r>
            <a:r>
              <a:rPr lang="en-US" altLang="zh-CN" sz="2400" b="1">
                <a:solidFill>
                  <a:srgbClr val="FFC000"/>
                </a:solidFill>
              </a:rPr>
              <a:t>6.13(p.217)</a:t>
            </a:r>
          </a:p>
        </p:txBody>
      </p:sp>
      <p:pic>
        <p:nvPicPr>
          <p:cNvPr id="522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4328" y="2348880"/>
            <a:ext cx="12573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p:cNvGraphicFramePr>
            <a:graphicFrameLocks noChangeAspect="1"/>
          </p:cNvGraphicFramePr>
          <p:nvPr>
            <p:extLst>
              <p:ext uri="{D42A27DB-BD31-4B8C-83A1-F6EECF244321}">
                <p14:modId xmlns:p14="http://schemas.microsoft.com/office/powerpoint/2010/main" val="1073082809"/>
              </p:ext>
            </p:extLst>
          </p:nvPr>
        </p:nvGraphicFramePr>
        <p:xfrm>
          <a:off x="2267744" y="404664"/>
          <a:ext cx="4341813" cy="1135063"/>
        </p:xfrm>
        <a:graphic>
          <a:graphicData uri="http://schemas.openxmlformats.org/presentationml/2006/ole">
            <mc:AlternateContent xmlns:mc="http://schemas.openxmlformats.org/markup-compatibility/2006">
              <mc:Choice xmlns:v="urn:schemas-microsoft-com:vml" Requires="v">
                <p:oleObj spid="_x0000_s37920" name="Equation" r:id="rId4" imgW="1892160" imgH="495000" progId="Equation.DSMT4">
                  <p:embed/>
                </p:oleObj>
              </mc:Choice>
              <mc:Fallback>
                <p:oleObj name="Equation" r:id="rId4" imgW="1892160" imgH="495000" progId="Equation.DSMT4">
                  <p:embed/>
                  <p:pic>
                    <p:nvPicPr>
                      <p:cNvPr id="0" name=""/>
                      <p:cNvPicPr/>
                      <p:nvPr/>
                    </p:nvPicPr>
                    <p:blipFill>
                      <a:blip r:embed="rId5"/>
                      <a:stretch>
                        <a:fillRect/>
                      </a:stretch>
                    </p:blipFill>
                    <p:spPr>
                      <a:xfrm>
                        <a:off x="2267744" y="404664"/>
                        <a:ext cx="4341813" cy="1135063"/>
                      </a:xfrm>
                      <a:prstGeom prst="rect">
                        <a:avLst/>
                      </a:prstGeom>
                      <a:noFill/>
                    </p:spPr>
                  </p:pic>
                </p:oleObj>
              </mc:Fallback>
            </mc:AlternateContent>
          </a:graphicData>
        </a:graphic>
      </p:graphicFrame>
      <p:sp>
        <p:nvSpPr>
          <p:cNvPr id="4" name="矩形 3"/>
          <p:cNvSpPr/>
          <p:nvPr/>
        </p:nvSpPr>
        <p:spPr>
          <a:xfrm>
            <a:off x="251520" y="2277973"/>
            <a:ext cx="6984776" cy="1200329"/>
          </a:xfrm>
          <a:prstGeom prst="rect">
            <a:avLst/>
          </a:prstGeom>
        </p:spPr>
        <p:txBody>
          <a:bodyPr wrap="square">
            <a:spAutoFit/>
          </a:bodyPr>
          <a:lstStyle/>
          <a:p>
            <a:r>
              <a:rPr lang="zh-CN" altLang="zh-CN" sz="2400" b="1">
                <a:solidFill>
                  <a:schemeClr val="bg1"/>
                </a:solidFill>
                <a:latin typeface="+mn-lt"/>
              </a:rPr>
              <a:t>长</a:t>
            </a:r>
            <a:r>
              <a:rPr lang="en-US" altLang="zh-CN" sz="2400" b="1" i="1">
                <a:solidFill>
                  <a:schemeClr val="bg1"/>
                </a:solidFill>
                <a:latin typeface="+mn-lt"/>
              </a:rPr>
              <a:t>l</a:t>
            </a:r>
            <a:r>
              <a:rPr lang="zh-CN" altLang="zh-CN" sz="2400" b="1">
                <a:solidFill>
                  <a:schemeClr val="bg1"/>
                </a:solidFill>
                <a:latin typeface="+mn-lt"/>
              </a:rPr>
              <a:t>，质量</a:t>
            </a:r>
            <a:r>
              <a:rPr lang="en-US" altLang="zh-CN" sz="2400" b="1" i="1">
                <a:solidFill>
                  <a:schemeClr val="bg1"/>
                </a:solidFill>
                <a:latin typeface="+mn-lt"/>
              </a:rPr>
              <a:t>M</a:t>
            </a:r>
            <a:r>
              <a:rPr lang="zh-CN" altLang="zh-CN" sz="2400" b="1">
                <a:solidFill>
                  <a:schemeClr val="bg1"/>
                </a:solidFill>
                <a:latin typeface="+mn-lt"/>
              </a:rPr>
              <a:t>，铅直悬挂，初始处于静止状态</a:t>
            </a:r>
            <a:r>
              <a:rPr lang="zh-CN" altLang="en-US" sz="2400" b="1">
                <a:solidFill>
                  <a:schemeClr val="bg1"/>
                </a:solidFill>
                <a:latin typeface="+mn-lt"/>
              </a:rPr>
              <a:t>，</a:t>
            </a:r>
            <a:r>
              <a:rPr lang="zh-CN" altLang="zh-CN" sz="2400" b="1">
                <a:solidFill>
                  <a:schemeClr val="bg1"/>
                </a:solidFill>
                <a:latin typeface="+mn-lt"/>
              </a:rPr>
              <a:t>杆的中心受一冲量</a:t>
            </a:r>
            <a:r>
              <a:rPr lang="en-US" altLang="zh-CN" sz="2400" b="1" i="1">
                <a:solidFill>
                  <a:schemeClr val="bg1"/>
                </a:solidFill>
                <a:latin typeface="+mn-lt"/>
              </a:rPr>
              <a:t>I</a:t>
            </a:r>
            <a:r>
              <a:rPr lang="zh-CN" altLang="zh-CN" sz="2400" b="1">
                <a:solidFill>
                  <a:schemeClr val="bg1"/>
                </a:solidFill>
                <a:latin typeface="+mn-lt"/>
              </a:rPr>
              <a:t>作用，方向与杆垂直。</a:t>
            </a:r>
          </a:p>
          <a:p>
            <a:r>
              <a:rPr lang="zh-CN" altLang="zh-CN" sz="2400" b="1">
                <a:solidFill>
                  <a:schemeClr val="bg1"/>
                </a:solidFill>
                <a:latin typeface="+mn-lt"/>
              </a:rPr>
              <a:t>求：冲量作用结束时，杆的角速度。</a:t>
            </a:r>
          </a:p>
        </p:txBody>
      </p:sp>
      <p:sp>
        <p:nvSpPr>
          <p:cNvPr id="5" name="矩形 4"/>
          <p:cNvSpPr/>
          <p:nvPr/>
        </p:nvSpPr>
        <p:spPr>
          <a:xfrm>
            <a:off x="539552" y="3613666"/>
            <a:ext cx="3897221" cy="461665"/>
          </a:xfrm>
          <a:prstGeom prst="rect">
            <a:avLst/>
          </a:prstGeom>
        </p:spPr>
        <p:txBody>
          <a:bodyPr wrap="none">
            <a:spAutoFit/>
          </a:bodyPr>
          <a:lstStyle/>
          <a:p>
            <a:r>
              <a:rPr lang="zh-CN" altLang="zh-CN" sz="2400" b="1">
                <a:solidFill>
                  <a:schemeClr val="bg1"/>
                </a:solidFill>
                <a:latin typeface="+mn-lt"/>
              </a:rPr>
              <a:t>解：冲量对转轴的冲量矩为</a:t>
            </a:r>
            <a:endParaRPr lang="zh-CN" altLang="en-US" sz="2400" b="1">
              <a:solidFill>
                <a:schemeClr val="bg1"/>
              </a:solidFill>
              <a:latin typeface="+mn-lt"/>
            </a:endParaRPr>
          </a:p>
        </p:txBody>
      </p:sp>
      <p:sp>
        <p:nvSpPr>
          <p:cNvPr id="6" name="矩形 5"/>
          <p:cNvSpPr/>
          <p:nvPr/>
        </p:nvSpPr>
        <p:spPr>
          <a:xfrm>
            <a:off x="683568" y="4509120"/>
            <a:ext cx="5280613" cy="461665"/>
          </a:xfrm>
          <a:prstGeom prst="rect">
            <a:avLst/>
          </a:prstGeom>
        </p:spPr>
        <p:txBody>
          <a:bodyPr wrap="none">
            <a:spAutoFit/>
          </a:bodyPr>
          <a:lstStyle/>
          <a:p>
            <a:r>
              <a:rPr lang="zh-CN" altLang="zh-CN" sz="2400" b="1">
                <a:solidFill>
                  <a:schemeClr val="bg1"/>
                </a:solidFill>
                <a:latin typeface="+mn-lt"/>
              </a:rPr>
              <a:t>根据动量矩定理：</a:t>
            </a:r>
            <a:r>
              <a:rPr lang="en-US" altLang="zh-CN" sz="2400" b="1">
                <a:solidFill>
                  <a:schemeClr val="bg1"/>
                </a:solidFill>
                <a:latin typeface="+mn-lt"/>
              </a:rPr>
              <a:t>                      </a:t>
            </a:r>
            <a:r>
              <a:rPr lang="zh-CN" altLang="en-US" sz="2400" b="1">
                <a:solidFill>
                  <a:schemeClr val="bg1"/>
                </a:solidFill>
                <a:latin typeface="+mn-lt"/>
              </a:rPr>
              <a:t>其中，</a:t>
            </a:r>
          </a:p>
        </p:txBody>
      </p:sp>
      <p:graphicFrame>
        <p:nvGraphicFramePr>
          <p:cNvPr id="7" name="对象 6"/>
          <p:cNvGraphicFramePr>
            <a:graphicFrameLocks noChangeAspect="1"/>
          </p:cNvGraphicFramePr>
          <p:nvPr>
            <p:extLst>
              <p:ext uri="{D42A27DB-BD31-4B8C-83A1-F6EECF244321}">
                <p14:modId xmlns:p14="http://schemas.microsoft.com/office/powerpoint/2010/main" val="619974738"/>
              </p:ext>
            </p:extLst>
          </p:nvPr>
        </p:nvGraphicFramePr>
        <p:xfrm>
          <a:off x="4436773" y="3478302"/>
          <a:ext cx="468903" cy="765052"/>
        </p:xfrm>
        <a:graphic>
          <a:graphicData uri="http://schemas.openxmlformats.org/presentationml/2006/ole">
            <mc:AlternateContent xmlns:mc="http://schemas.openxmlformats.org/markup-compatibility/2006">
              <mc:Choice xmlns:v="urn:schemas-microsoft-com:vml" Requires="v">
                <p:oleObj spid="_x0000_s37921" name="Equation" r:id="rId6" imgW="241200" imgH="393480" progId="Equation.DSMT4">
                  <p:embed/>
                </p:oleObj>
              </mc:Choice>
              <mc:Fallback>
                <p:oleObj name="Equation" r:id="rId6" imgW="241200" imgH="393480" progId="Equation.DSMT4">
                  <p:embed/>
                  <p:pic>
                    <p:nvPicPr>
                      <p:cNvPr id="0" name=""/>
                      <p:cNvPicPr/>
                      <p:nvPr/>
                    </p:nvPicPr>
                    <p:blipFill>
                      <a:blip r:embed="rId7"/>
                      <a:stretch>
                        <a:fillRect/>
                      </a:stretch>
                    </p:blipFill>
                    <p:spPr>
                      <a:xfrm>
                        <a:off x="4436773" y="3478302"/>
                        <a:ext cx="468903" cy="765052"/>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592690008"/>
              </p:ext>
            </p:extLst>
          </p:nvPr>
        </p:nvGraphicFramePr>
        <p:xfrm>
          <a:off x="3343270" y="4357364"/>
          <a:ext cx="1158875" cy="765175"/>
        </p:xfrm>
        <a:graphic>
          <a:graphicData uri="http://schemas.openxmlformats.org/presentationml/2006/ole">
            <mc:AlternateContent xmlns:mc="http://schemas.openxmlformats.org/markup-compatibility/2006">
              <mc:Choice xmlns:v="urn:schemas-microsoft-com:vml" Requires="v">
                <p:oleObj spid="_x0000_s37922" name="Equation" r:id="rId8" imgW="596880" imgH="393480" progId="Equation.DSMT4">
                  <p:embed/>
                </p:oleObj>
              </mc:Choice>
              <mc:Fallback>
                <p:oleObj name="Equation" r:id="rId8" imgW="596880" imgH="393480" progId="Equation.DSMT4">
                  <p:embed/>
                  <p:pic>
                    <p:nvPicPr>
                      <p:cNvPr id="0" name="对象 6"/>
                      <p:cNvPicPr>
                        <a:picLocks noChangeAspect="1" noChangeArrowheads="1"/>
                      </p:cNvPicPr>
                      <p:nvPr/>
                    </p:nvPicPr>
                    <p:blipFill>
                      <a:blip r:embed="rId9"/>
                      <a:srcRect/>
                      <a:stretch>
                        <a:fillRect/>
                      </a:stretch>
                    </p:blipFill>
                    <p:spPr bwMode="auto">
                      <a:xfrm>
                        <a:off x="3343270" y="4357364"/>
                        <a:ext cx="1158875"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399855207"/>
              </p:ext>
            </p:extLst>
          </p:nvPr>
        </p:nvGraphicFramePr>
        <p:xfrm>
          <a:off x="5818188" y="4357688"/>
          <a:ext cx="1257300" cy="765175"/>
        </p:xfrm>
        <a:graphic>
          <a:graphicData uri="http://schemas.openxmlformats.org/presentationml/2006/ole">
            <mc:AlternateContent xmlns:mc="http://schemas.openxmlformats.org/markup-compatibility/2006">
              <mc:Choice xmlns:v="urn:schemas-microsoft-com:vml" Requires="v">
                <p:oleObj spid="_x0000_s37923" name="Equation" r:id="rId10" imgW="647640" imgH="393480" progId="Equation.DSMT4">
                  <p:embed/>
                </p:oleObj>
              </mc:Choice>
              <mc:Fallback>
                <p:oleObj name="Equation" r:id="rId10" imgW="647640" imgH="393480" progId="Equation.DSMT4">
                  <p:embed/>
                  <p:pic>
                    <p:nvPicPr>
                      <p:cNvPr id="0" name="对象 7"/>
                      <p:cNvPicPr>
                        <a:picLocks noChangeAspect="1" noChangeArrowheads="1"/>
                      </p:cNvPicPr>
                      <p:nvPr/>
                    </p:nvPicPr>
                    <p:blipFill>
                      <a:blip r:embed="rId11"/>
                      <a:srcRect/>
                      <a:stretch>
                        <a:fillRect/>
                      </a:stretch>
                    </p:blipFill>
                    <p:spPr bwMode="auto">
                      <a:xfrm>
                        <a:off x="5818188" y="4357688"/>
                        <a:ext cx="12573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421266860"/>
              </p:ext>
            </p:extLst>
          </p:nvPr>
        </p:nvGraphicFramePr>
        <p:xfrm>
          <a:off x="3082243" y="5373216"/>
          <a:ext cx="1058863" cy="765175"/>
        </p:xfrm>
        <a:graphic>
          <a:graphicData uri="http://schemas.openxmlformats.org/presentationml/2006/ole">
            <mc:AlternateContent xmlns:mc="http://schemas.openxmlformats.org/markup-compatibility/2006">
              <mc:Choice xmlns:v="urn:schemas-microsoft-com:vml" Requires="v">
                <p:oleObj spid="_x0000_s37924" name="Equation" r:id="rId12" imgW="545760" imgH="393480" progId="Equation.DSMT4">
                  <p:embed/>
                </p:oleObj>
              </mc:Choice>
              <mc:Fallback>
                <p:oleObj name="Equation" r:id="rId12" imgW="545760" imgH="393480" progId="Equation.DSMT4">
                  <p:embed/>
                  <p:pic>
                    <p:nvPicPr>
                      <p:cNvPr id="0" name="对象 8"/>
                      <p:cNvPicPr>
                        <a:picLocks noChangeAspect="1" noChangeArrowheads="1"/>
                      </p:cNvPicPr>
                      <p:nvPr/>
                    </p:nvPicPr>
                    <p:blipFill>
                      <a:blip r:embed="rId13"/>
                      <a:srcRect/>
                      <a:stretch>
                        <a:fillRect/>
                      </a:stretch>
                    </p:blipFill>
                    <p:spPr bwMode="auto">
                      <a:xfrm>
                        <a:off x="3082243" y="5373216"/>
                        <a:ext cx="1058863"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2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p:bldP spid="4" grpId="0"/>
      <p:bldP spid="5" grpId="0"/>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38" name="Object 10"/>
          <p:cNvGraphicFramePr>
            <a:graphicFrameLocks/>
          </p:cNvGraphicFramePr>
          <p:nvPr/>
        </p:nvGraphicFramePr>
        <p:xfrm>
          <a:off x="2303463" y="1477963"/>
          <a:ext cx="925512" cy="366712"/>
        </p:xfrm>
        <a:graphic>
          <a:graphicData uri="http://schemas.openxmlformats.org/presentationml/2006/ole">
            <mc:AlternateContent xmlns:mc="http://schemas.openxmlformats.org/markup-compatibility/2006">
              <mc:Choice xmlns:v="urn:schemas-microsoft-com:vml" Requires="v">
                <p:oleObj spid="_x0000_s38932" name="公式" r:id="rId3" imgW="952621" imgH="323920" progId="Equation.3">
                  <p:embed/>
                </p:oleObj>
              </mc:Choice>
              <mc:Fallback>
                <p:oleObj name="公式" r:id="rId3" imgW="952621" imgH="323920" progId="Equation.3">
                  <p:embed/>
                  <p:pic>
                    <p:nvPicPr>
                      <p:cNvPr id="0" name="Object 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3463" y="1477963"/>
                        <a:ext cx="9255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39" name="Object 11"/>
          <p:cNvGraphicFramePr>
            <a:graphicFrameLocks/>
          </p:cNvGraphicFramePr>
          <p:nvPr>
            <p:extLst>
              <p:ext uri="{D42A27DB-BD31-4B8C-83A1-F6EECF244321}">
                <p14:modId xmlns:p14="http://schemas.microsoft.com/office/powerpoint/2010/main" val="3272002440"/>
              </p:ext>
            </p:extLst>
          </p:nvPr>
        </p:nvGraphicFramePr>
        <p:xfrm>
          <a:off x="4562372" y="1536700"/>
          <a:ext cx="865559" cy="284163"/>
        </p:xfrm>
        <a:graphic>
          <a:graphicData uri="http://schemas.openxmlformats.org/presentationml/2006/ole">
            <mc:AlternateContent xmlns:mc="http://schemas.openxmlformats.org/markup-compatibility/2006">
              <mc:Choice xmlns:v="urn:schemas-microsoft-com:vml" Requires="v">
                <p:oleObj spid="_x0000_s38933" name="公式" r:id="rId5" imgW="895394" imgH="228634" progId="Equation.3">
                  <p:embed/>
                </p:oleObj>
              </mc:Choice>
              <mc:Fallback>
                <p:oleObj name="公式" r:id="rId5" imgW="895394" imgH="228634" progId="Equation.3">
                  <p:embed/>
                  <p:pic>
                    <p:nvPicPr>
                      <p:cNvPr id="0" name="Object 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62372" y="1536700"/>
                        <a:ext cx="865559" cy="284163"/>
                      </a:xfrm>
                      <a:prstGeom prst="rect">
                        <a:avLst/>
                      </a:prstGeom>
                      <a:noFill/>
                      <a:ln>
                        <a:noFill/>
                      </a:ln>
                      <a:effectLst/>
                    </p:spPr>
                  </p:pic>
                </p:oleObj>
              </mc:Fallback>
            </mc:AlternateContent>
          </a:graphicData>
        </a:graphic>
      </p:graphicFrame>
      <p:sp>
        <p:nvSpPr>
          <p:cNvPr id="48140" name="AutoShape 12"/>
          <p:cNvSpPr>
            <a:spLocks noChangeArrowheads="1"/>
          </p:cNvSpPr>
          <p:nvPr/>
        </p:nvSpPr>
        <p:spPr bwMode="auto">
          <a:xfrm>
            <a:off x="3527425" y="1536700"/>
            <a:ext cx="719138" cy="284163"/>
          </a:xfrm>
          <a:prstGeom prst="rightArrow">
            <a:avLst>
              <a:gd name="adj1" fmla="val 50000"/>
              <a:gd name="adj2" fmla="val 63268"/>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8141" name="Object 13"/>
          <p:cNvGraphicFramePr>
            <a:graphicFrameLocks/>
          </p:cNvGraphicFramePr>
          <p:nvPr>
            <p:extLst>
              <p:ext uri="{D42A27DB-BD31-4B8C-83A1-F6EECF244321}">
                <p14:modId xmlns:p14="http://schemas.microsoft.com/office/powerpoint/2010/main" val="1087072081"/>
              </p:ext>
            </p:extLst>
          </p:nvPr>
        </p:nvGraphicFramePr>
        <p:xfrm>
          <a:off x="5724128" y="1474207"/>
          <a:ext cx="1872208" cy="378595"/>
        </p:xfrm>
        <a:graphic>
          <a:graphicData uri="http://schemas.openxmlformats.org/presentationml/2006/ole">
            <mc:AlternateContent xmlns:mc="http://schemas.openxmlformats.org/markup-compatibility/2006">
              <mc:Choice xmlns:v="urn:schemas-microsoft-com:vml" Requires="v">
                <p:oleObj spid="_x0000_s38934" name="Equation" r:id="rId7" imgW="685800" imgH="177480" progId="Equation.DSMT4">
                  <p:embed/>
                </p:oleObj>
              </mc:Choice>
              <mc:Fallback>
                <p:oleObj name="Equation" r:id="rId7" imgW="685800" imgH="177480" progId="Equation.DSMT4">
                  <p:embed/>
                  <p:pic>
                    <p:nvPicPr>
                      <p:cNvPr id="0" name="Object 13"/>
                      <p:cNvPicPr>
                        <a:picLocks noChangeArrowheads="1"/>
                      </p:cNvPicPr>
                      <p:nvPr/>
                    </p:nvPicPr>
                    <p:blipFill>
                      <a:blip r:embed="rId8"/>
                      <a:srcRect/>
                      <a:stretch>
                        <a:fillRect/>
                      </a:stretch>
                    </p:blipFill>
                    <p:spPr bwMode="auto">
                      <a:xfrm>
                        <a:off x="5724128" y="1474207"/>
                        <a:ext cx="1872208" cy="378595"/>
                      </a:xfrm>
                      <a:prstGeom prst="rect">
                        <a:avLst/>
                      </a:prstGeom>
                      <a:noFill/>
                      <a:ln>
                        <a:noFill/>
                      </a:ln>
                      <a:effectLst/>
                    </p:spPr>
                  </p:pic>
                </p:oleObj>
              </mc:Fallback>
            </mc:AlternateContent>
          </a:graphicData>
        </a:graphic>
      </p:graphicFrame>
      <p:sp>
        <p:nvSpPr>
          <p:cNvPr id="48146" name="Text Box 18"/>
          <p:cNvSpPr txBox="1">
            <a:spLocks noChangeArrowheads="1"/>
          </p:cNvSpPr>
          <p:nvPr/>
        </p:nvSpPr>
        <p:spPr bwMode="auto">
          <a:xfrm>
            <a:off x="395288" y="331788"/>
            <a:ext cx="4756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a:solidFill>
                  <a:srgbClr val="66FFFF"/>
                </a:solidFill>
                <a:latin typeface="Times New Roman" pitchFamily="18" charset="0"/>
                <a:sym typeface="Symbol" pitchFamily="18" charset="2"/>
              </a:rPr>
              <a:t>3. </a:t>
            </a:r>
            <a:r>
              <a:rPr lang="zh-CN" altLang="en-US" sz="2400" b="1">
                <a:solidFill>
                  <a:srgbClr val="66FFFF"/>
                </a:solidFill>
                <a:latin typeface="Times New Roman" pitchFamily="18" charset="0"/>
              </a:rPr>
              <a:t>刚体定轴转动的动量矩守恒定律</a:t>
            </a:r>
          </a:p>
        </p:txBody>
      </p:sp>
      <p:sp>
        <p:nvSpPr>
          <p:cNvPr id="48147" name="Rectangle 19"/>
          <p:cNvSpPr>
            <a:spLocks noChangeArrowheads="1"/>
          </p:cNvSpPr>
          <p:nvPr/>
        </p:nvSpPr>
        <p:spPr bwMode="auto">
          <a:xfrm>
            <a:off x="684213" y="882650"/>
            <a:ext cx="33131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a:solidFill>
                  <a:schemeClr val="bg1"/>
                </a:solidFill>
                <a:latin typeface="宋体" pitchFamily="2" charset="-122"/>
              </a:rPr>
              <a:t>对</a:t>
            </a:r>
            <a:r>
              <a:rPr lang="zh-CN" altLang="en-US" sz="2400" b="1">
                <a:solidFill>
                  <a:schemeClr val="bg1"/>
                </a:solidFill>
                <a:latin typeface="Times New Roman" pitchFamily="18" charset="0"/>
              </a:rPr>
              <a:t>定轴转动刚体</a:t>
            </a:r>
          </a:p>
        </p:txBody>
      </p:sp>
      <p:pic>
        <p:nvPicPr>
          <p:cNvPr id="51431" name="Picture 2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5288" y="2132856"/>
            <a:ext cx="4711685" cy="1112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432" name="Picture 2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3356992"/>
            <a:ext cx="4260701" cy="1652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95288" y="5157192"/>
            <a:ext cx="8425184" cy="830997"/>
          </a:xfrm>
          <a:prstGeom prst="rect">
            <a:avLst/>
          </a:prstGeom>
          <a:solidFill>
            <a:schemeClr val="bg1"/>
          </a:solidFill>
        </p:spPr>
        <p:txBody>
          <a:bodyPr wrap="square" rtlCol="0">
            <a:spAutoFit/>
          </a:bodyPr>
          <a:lstStyle/>
          <a:p>
            <a:r>
              <a:rPr lang="en-US" altLang="zh-CN" sz="2400" b="1" dirty="0">
                <a:latin typeface="黑体" pitchFamily="49" charset="-122"/>
                <a:ea typeface="黑体" pitchFamily="49" charset="-122"/>
              </a:rPr>
              <a:t>3</a:t>
            </a:r>
            <a:r>
              <a:rPr lang="zh-CN" altLang="en-US" sz="2400" b="1" dirty="0">
                <a:latin typeface="黑体" pitchFamily="49" charset="-122"/>
                <a:ea typeface="黑体" pitchFamily="49" charset="-122"/>
              </a:rPr>
              <a:t>）运用动量矩定理和动量矩守恒定理时，应在将系统中的所有质点和刚体的运动物理量变换到同一惯性参照系下使用。</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147"/>
                                        </p:tgtEl>
                                        <p:attrNameLst>
                                          <p:attrName>style.visibility</p:attrName>
                                        </p:attrNameLst>
                                      </p:cBhvr>
                                      <p:to>
                                        <p:strVal val="visible"/>
                                      </p:to>
                                    </p:set>
                                    <p:animEffect transition="in" filter="wipe(left)">
                                      <p:cBhvr>
                                        <p:cTn id="7" dur="500"/>
                                        <p:tgtEl>
                                          <p:spTgt spid="481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8138"/>
                                        </p:tgtEl>
                                        <p:attrNameLst>
                                          <p:attrName>style.visibility</p:attrName>
                                        </p:attrNameLst>
                                      </p:cBhvr>
                                      <p:to>
                                        <p:strVal val="visible"/>
                                      </p:to>
                                    </p:set>
                                    <p:animEffect transition="in" filter="wipe(left)">
                                      <p:cBhvr>
                                        <p:cTn id="12" dur="500"/>
                                        <p:tgtEl>
                                          <p:spTgt spid="481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8140"/>
                                        </p:tgtEl>
                                        <p:attrNameLst>
                                          <p:attrName>style.visibility</p:attrName>
                                        </p:attrNameLst>
                                      </p:cBhvr>
                                      <p:to>
                                        <p:strVal val="visible"/>
                                      </p:to>
                                    </p:set>
                                    <p:animEffect transition="in" filter="wipe(left)">
                                      <p:cBhvr>
                                        <p:cTn id="17" dur="500"/>
                                        <p:tgtEl>
                                          <p:spTgt spid="481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8139"/>
                                        </p:tgtEl>
                                        <p:attrNameLst>
                                          <p:attrName>style.visibility</p:attrName>
                                        </p:attrNameLst>
                                      </p:cBhvr>
                                      <p:to>
                                        <p:strVal val="visible"/>
                                      </p:to>
                                    </p:set>
                                    <p:animEffect transition="in" filter="wipe(left)">
                                      <p:cBhvr>
                                        <p:cTn id="22" dur="500"/>
                                        <p:tgtEl>
                                          <p:spTgt spid="481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8141"/>
                                        </p:tgtEl>
                                        <p:attrNameLst>
                                          <p:attrName>style.visibility</p:attrName>
                                        </p:attrNameLst>
                                      </p:cBhvr>
                                      <p:to>
                                        <p:strVal val="visible"/>
                                      </p:to>
                                    </p:set>
                                    <p:animEffect transition="in" filter="wipe(left)">
                                      <p:cBhvr>
                                        <p:cTn id="27" dur="500"/>
                                        <p:tgtEl>
                                          <p:spTgt spid="4814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143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143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40" grpId="0" animBg="1"/>
      <p:bldP spid="48147" grpId="0"/>
      <p:bldP spid="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37586" y="188640"/>
            <a:ext cx="5594801" cy="523220"/>
          </a:xfrm>
          <a:prstGeom prst="rect">
            <a:avLst/>
          </a:prstGeom>
        </p:spPr>
        <p:txBody>
          <a:bodyPr wrap="none">
            <a:spAutoFit/>
          </a:bodyPr>
          <a:lstStyle/>
          <a:p>
            <a:r>
              <a:rPr lang="zh-CN" altLang="en-US" sz="2800" b="1" dirty="0">
                <a:solidFill>
                  <a:srgbClr val="FFC000"/>
                </a:solidFill>
              </a:rPr>
              <a:t>动量矩守恒定律适用情形举例说明</a:t>
            </a:r>
          </a:p>
        </p:txBody>
      </p:sp>
      <p:pic>
        <p:nvPicPr>
          <p:cNvPr id="6964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07" y="720380"/>
            <a:ext cx="3073896" cy="1563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41"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440" y="2308572"/>
            <a:ext cx="3071462" cy="3700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42"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616" y="6120372"/>
            <a:ext cx="6696744" cy="421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43"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1524" y="2099301"/>
            <a:ext cx="5298343" cy="3910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18"/>
          <p:cNvSpPr txBox="1"/>
          <p:nvPr/>
        </p:nvSpPr>
        <p:spPr>
          <a:xfrm>
            <a:off x="3347864" y="696744"/>
            <a:ext cx="5400600" cy="1200329"/>
          </a:xfrm>
          <a:prstGeom prst="rect">
            <a:avLst/>
          </a:prstGeom>
          <a:noFill/>
        </p:spPr>
        <p:txBody>
          <a:bodyPr wrap="square" rtlCol="0">
            <a:spAutoFit/>
          </a:bodyPr>
          <a:lstStyle/>
          <a:p>
            <a:r>
              <a:rPr lang="zh-CN" altLang="en-US" sz="2400" b="1" dirty="0">
                <a:solidFill>
                  <a:schemeClr val="bg1"/>
                </a:solidFill>
              </a:rPr>
              <a:t>对质点、刚体、形变体及其它们组成的系统均适用，对一切宏观、微观物体的转动问题均适用。</a:t>
            </a:r>
          </a:p>
        </p:txBody>
      </p:sp>
    </p:spTree>
    <p:extLst>
      <p:ext uri="{BB962C8B-B14F-4D97-AF65-F5344CB8AC3E}">
        <p14:creationId xmlns:p14="http://schemas.microsoft.com/office/powerpoint/2010/main" val="88809047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6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6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698" y="107910"/>
            <a:ext cx="4407701" cy="2775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66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7" y="3019425"/>
            <a:ext cx="2886075" cy="383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66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0093" y="298552"/>
            <a:ext cx="4238625"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664"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3399" y="3294427"/>
            <a:ext cx="4043249" cy="296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726212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6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6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矩形 1"/>
          <p:cNvSpPr>
            <a:spLocks noChangeArrowheads="1"/>
          </p:cNvSpPr>
          <p:nvPr/>
        </p:nvSpPr>
        <p:spPr bwMode="auto">
          <a:xfrm>
            <a:off x="0" y="0"/>
            <a:ext cx="301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a:solidFill>
                  <a:srgbClr val="FFC000"/>
                </a:solidFill>
              </a:rPr>
              <a:t>书中例题</a:t>
            </a:r>
            <a:r>
              <a:rPr lang="en-US" altLang="zh-CN" sz="2400" b="1">
                <a:solidFill>
                  <a:srgbClr val="FFC000"/>
                </a:solidFill>
              </a:rPr>
              <a:t>6.15(p.220)</a:t>
            </a:r>
          </a:p>
        </p:txBody>
      </p:sp>
      <p:pic>
        <p:nvPicPr>
          <p:cNvPr id="5325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7084" y="116632"/>
            <a:ext cx="3202826" cy="28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2" name="TextBox 1"/>
              <p:cNvSpPr txBox="1"/>
              <p:nvPr/>
            </p:nvSpPr>
            <p:spPr>
              <a:xfrm>
                <a:off x="-17585" y="448639"/>
                <a:ext cx="5957737" cy="2800767"/>
              </a:xfrm>
              <a:prstGeom prst="rect">
                <a:avLst/>
              </a:prstGeom>
              <a:noFill/>
            </p:spPr>
            <p:txBody>
              <a:bodyPr wrap="square" rtlCol="0">
                <a:spAutoFit/>
              </a:bodyPr>
              <a:lstStyle/>
              <a:p>
                <a:r>
                  <a:rPr lang="zh-CN" altLang="en-US" sz="2200" b="1">
                    <a:solidFill>
                      <a:schemeClr val="bg1"/>
                    </a:solidFill>
                    <a:latin typeface="+mn-lt"/>
                    <a:ea typeface="+mn-ea"/>
                  </a:rPr>
                  <a:t>半径为</a:t>
                </a:r>
                <a:r>
                  <a:rPr lang="en-US" altLang="zh-CN" sz="2200" b="1" i="1">
                    <a:solidFill>
                      <a:schemeClr val="bg1"/>
                    </a:solidFill>
                    <a:latin typeface="+mn-lt"/>
                    <a:ea typeface="+mn-ea"/>
                  </a:rPr>
                  <a:t>R</a:t>
                </a:r>
                <a:r>
                  <a:rPr lang="zh-CN" altLang="en-US" sz="2200" b="1">
                    <a:solidFill>
                      <a:schemeClr val="bg1"/>
                    </a:solidFill>
                    <a:latin typeface="+mn-lt"/>
                    <a:ea typeface="+mn-ea"/>
                  </a:rPr>
                  <a:t>，质量为</a:t>
                </a:r>
                <a:r>
                  <a:rPr lang="en-US" altLang="zh-CN" sz="2200" b="1">
                    <a:solidFill>
                      <a:schemeClr val="bg1"/>
                    </a:solidFill>
                    <a:latin typeface="+mn-lt"/>
                    <a:ea typeface="+mn-ea"/>
                  </a:rPr>
                  <a:t>4</a:t>
                </a:r>
                <a:r>
                  <a:rPr lang="en-US" altLang="zh-CN" sz="2200" b="1" i="1">
                    <a:solidFill>
                      <a:schemeClr val="bg1"/>
                    </a:solidFill>
                    <a:latin typeface="+mn-lt"/>
                    <a:ea typeface="+mn-ea"/>
                  </a:rPr>
                  <a:t>m</a:t>
                </a:r>
                <a:r>
                  <a:rPr lang="zh-CN" altLang="en-US" sz="2200" b="1">
                    <a:solidFill>
                      <a:schemeClr val="bg1"/>
                    </a:solidFill>
                    <a:latin typeface="+mn-lt"/>
                    <a:ea typeface="+mn-ea"/>
                  </a:rPr>
                  <a:t>且均匀分布的转盘可绕铅垂轴无摩擦地转动，盘上站有质量为</a:t>
                </a:r>
                <a:r>
                  <a:rPr lang="en-US" altLang="zh-CN" sz="2200" b="1" i="1">
                    <a:solidFill>
                      <a:schemeClr val="bg1"/>
                    </a:solidFill>
                    <a:latin typeface="+mn-lt"/>
                    <a:ea typeface="+mn-ea"/>
                  </a:rPr>
                  <a:t>m</a:t>
                </a:r>
                <a:r>
                  <a:rPr lang="zh-CN" altLang="en-US" sz="2200" b="1">
                    <a:solidFill>
                      <a:schemeClr val="bg1"/>
                    </a:solidFill>
                    <a:latin typeface="+mn-lt"/>
                    <a:ea typeface="+mn-ea"/>
                  </a:rPr>
                  <a:t>的四个人，两个人站在盘的边沿，两个人站在</a:t>
                </a:r>
                <a:r>
                  <a:rPr lang="en-US" altLang="zh-CN" sz="2200" b="1" i="1">
                    <a:solidFill>
                      <a:schemeClr val="bg1"/>
                    </a:solidFill>
                    <a:latin typeface="+mn-lt"/>
                    <a:ea typeface="+mn-ea"/>
                  </a:rPr>
                  <a:t>R</a:t>
                </a:r>
                <a:r>
                  <a:rPr lang="en-US" altLang="zh-CN" sz="2200" b="1">
                    <a:solidFill>
                      <a:schemeClr val="bg1"/>
                    </a:solidFill>
                    <a:latin typeface="+mn-lt"/>
                    <a:ea typeface="+mn-ea"/>
                  </a:rPr>
                  <a:t>/2</a:t>
                </a:r>
                <a:r>
                  <a:rPr lang="zh-CN" altLang="en-US" sz="2200" b="1">
                    <a:solidFill>
                      <a:schemeClr val="bg1"/>
                    </a:solidFill>
                    <a:latin typeface="+mn-lt"/>
                    <a:ea typeface="+mn-ea"/>
                  </a:rPr>
                  <a:t>处，整个系统开始以角速度</a:t>
                </a:r>
                <a14:m>
                  <m:oMath xmlns:m="http://schemas.openxmlformats.org/officeDocument/2006/math">
                    <m:sSub>
                      <m:sSubPr>
                        <m:ctrlPr>
                          <a:rPr lang="en-US" altLang="zh-CN" sz="2200" b="1" i="1" smtClean="0">
                            <a:solidFill>
                              <a:schemeClr val="bg1"/>
                            </a:solidFill>
                            <a:latin typeface="Cambria Math" panose="02040503050406030204" pitchFamily="18" charset="0"/>
                            <a:ea typeface="+mn-ea"/>
                          </a:rPr>
                        </m:ctrlPr>
                      </m:sSubPr>
                      <m:e>
                        <m:r>
                          <a:rPr lang="zh-CN" altLang="en-US" sz="2200" b="1" i="1" smtClean="0">
                            <a:solidFill>
                              <a:schemeClr val="bg1"/>
                            </a:solidFill>
                            <a:latin typeface="Cambria Math"/>
                            <a:ea typeface="+mn-ea"/>
                          </a:rPr>
                          <m:t>𝝎</m:t>
                        </m:r>
                      </m:e>
                      <m:sub>
                        <m:r>
                          <a:rPr lang="en-US" altLang="zh-CN" sz="2200" b="1" i="1" smtClean="0">
                            <a:solidFill>
                              <a:schemeClr val="bg1"/>
                            </a:solidFill>
                            <a:latin typeface="Cambria Math"/>
                            <a:ea typeface="+mn-ea"/>
                          </a:rPr>
                          <m:t>𝟎</m:t>
                        </m:r>
                      </m:sub>
                    </m:sSub>
                  </m:oMath>
                </a14:m>
                <a:r>
                  <a:rPr lang="zh-CN" altLang="en-US" sz="2200" b="1">
                    <a:solidFill>
                      <a:schemeClr val="bg1"/>
                    </a:solidFill>
                    <a:latin typeface="+mn-lt"/>
                    <a:ea typeface="+mn-ea"/>
                  </a:rPr>
                  <a:t>转动。此后，人相对于盘作圆周运动，站在边沿上的两人相对于盘的速度为</a:t>
                </a:r>
                <a14:m>
                  <m:oMath xmlns:m="http://schemas.openxmlformats.org/officeDocument/2006/math">
                    <m:r>
                      <a:rPr lang="zh-CN" altLang="en-US" sz="2200" b="1" i="1" smtClean="0">
                        <a:solidFill>
                          <a:schemeClr val="bg1"/>
                        </a:solidFill>
                        <a:latin typeface="Cambria Math"/>
                        <a:ea typeface="+mn-ea"/>
                      </a:rPr>
                      <m:t>𝝁</m:t>
                    </m:r>
                  </m:oMath>
                </a14:m>
                <a:r>
                  <a:rPr lang="zh-CN" altLang="en-US" sz="2200" b="1">
                    <a:solidFill>
                      <a:schemeClr val="bg1"/>
                    </a:solidFill>
                    <a:latin typeface="+mn-lt"/>
                    <a:ea typeface="+mn-ea"/>
                  </a:rPr>
                  <a:t>，站在</a:t>
                </a:r>
                <a:r>
                  <a:rPr lang="en-US" altLang="zh-CN" sz="2200" b="1" i="1">
                    <a:solidFill>
                      <a:schemeClr val="bg1"/>
                    </a:solidFill>
                    <a:latin typeface="+mn-lt"/>
                    <a:ea typeface="+mn-ea"/>
                  </a:rPr>
                  <a:t>R</a:t>
                </a:r>
                <a:r>
                  <a:rPr lang="en-US" altLang="zh-CN" sz="2200" b="1">
                    <a:solidFill>
                      <a:schemeClr val="bg1"/>
                    </a:solidFill>
                    <a:latin typeface="+mn-lt"/>
                    <a:ea typeface="+mn-ea"/>
                  </a:rPr>
                  <a:t>/2</a:t>
                </a:r>
                <a:r>
                  <a:rPr lang="zh-CN" altLang="en-US" sz="2200" b="1">
                    <a:solidFill>
                      <a:schemeClr val="bg1"/>
                    </a:solidFill>
                    <a:latin typeface="+mn-lt"/>
                    <a:ea typeface="+mn-ea"/>
                  </a:rPr>
                  <a:t>处的两人相对于盘的速度为</a:t>
                </a:r>
                <a:r>
                  <a:rPr lang="en-US" altLang="zh-CN" sz="2200" b="1">
                    <a:solidFill>
                      <a:schemeClr val="bg1"/>
                    </a:solidFill>
                    <a:latin typeface="+mn-lt"/>
                    <a:ea typeface="+mn-ea"/>
                  </a:rPr>
                  <a:t>2</a:t>
                </a:r>
                <a14:m>
                  <m:oMath xmlns:m="http://schemas.openxmlformats.org/officeDocument/2006/math">
                    <m:r>
                      <a:rPr lang="zh-CN" altLang="en-US" sz="2200" b="1" i="1">
                        <a:solidFill>
                          <a:schemeClr val="bg1"/>
                        </a:solidFill>
                        <a:latin typeface="Cambria Math"/>
                      </a:rPr>
                      <m:t>𝝁</m:t>
                    </m:r>
                  </m:oMath>
                </a14:m>
                <a:r>
                  <a:rPr lang="zh-CN" altLang="en-US" sz="2200" b="1">
                    <a:solidFill>
                      <a:schemeClr val="bg1"/>
                    </a:solidFill>
                    <a:latin typeface="+mn-lt"/>
                    <a:ea typeface="+mn-ea"/>
                  </a:rPr>
                  <a:t>。求</a:t>
                </a:r>
                <a:r>
                  <a:rPr lang="en-US" altLang="zh-CN" sz="2200" b="1">
                    <a:solidFill>
                      <a:schemeClr val="bg1"/>
                    </a:solidFill>
                    <a:latin typeface="+mn-lt"/>
                    <a:ea typeface="+mn-ea"/>
                    <a:sym typeface="Wingdings" pitchFamily="2" charset="2"/>
                  </a:rPr>
                  <a:t>: (1)</a:t>
                </a:r>
                <a:r>
                  <a:rPr lang="zh-CN" altLang="en-US" sz="2200" b="1">
                    <a:solidFill>
                      <a:schemeClr val="bg1"/>
                    </a:solidFill>
                    <a:latin typeface="+mn-lt"/>
                    <a:ea typeface="+mn-ea"/>
                  </a:rPr>
                  <a:t>人走动后，转盘的角速度；</a:t>
                </a:r>
                <a:r>
                  <a:rPr lang="en-US" altLang="zh-CN" sz="2200" b="1">
                    <a:solidFill>
                      <a:schemeClr val="bg1"/>
                    </a:solidFill>
                    <a:latin typeface="+mn-lt"/>
                    <a:ea typeface="+mn-ea"/>
                  </a:rPr>
                  <a:t>(2)</a:t>
                </a:r>
                <a:r>
                  <a:rPr lang="zh-CN" altLang="en-US" sz="2200" b="1">
                    <a:solidFill>
                      <a:schemeClr val="bg1"/>
                    </a:solidFill>
                    <a:latin typeface="+mn-lt"/>
                    <a:ea typeface="+mn-ea"/>
                  </a:rPr>
                  <a:t>要使转盘停止转动</a:t>
                </a:r>
                <a14:m>
                  <m:oMath xmlns:m="http://schemas.openxmlformats.org/officeDocument/2006/math">
                    <m:r>
                      <a:rPr lang="zh-CN" altLang="en-US" sz="2200" b="1" i="1" smtClean="0">
                        <a:solidFill>
                          <a:schemeClr val="bg1"/>
                        </a:solidFill>
                        <a:latin typeface="Cambria Math"/>
                      </a:rPr>
                      <m:t>，</m:t>
                    </m:r>
                    <m:r>
                      <a:rPr lang="zh-CN" altLang="en-US" sz="2200" b="1" i="1">
                        <a:solidFill>
                          <a:schemeClr val="bg1"/>
                        </a:solidFill>
                        <a:latin typeface="Cambria Math"/>
                      </a:rPr>
                      <m:t>𝝁</m:t>
                    </m:r>
                  </m:oMath>
                </a14:m>
                <a:r>
                  <a:rPr lang="zh-CN" altLang="en-US" sz="2200" b="1">
                    <a:solidFill>
                      <a:schemeClr val="bg1"/>
                    </a:solidFill>
                    <a:latin typeface="+mn-lt"/>
                    <a:ea typeface="+mn-ea"/>
                  </a:rPr>
                  <a:t>的大小。</a:t>
                </a:r>
              </a:p>
            </p:txBody>
          </p:sp>
        </mc:Choice>
        <mc:Fallback xmlns="">
          <p:sp>
            <p:nvSpPr>
              <p:cNvPr id="2" name="TextBox 1"/>
              <p:cNvSpPr txBox="1">
                <a:spLocks noRot="1" noChangeAspect="1" noMove="1" noResize="1" noEditPoints="1" noAdjustHandles="1" noChangeArrowheads="1" noChangeShapeType="1" noTextEdit="1"/>
              </p:cNvSpPr>
              <p:nvPr/>
            </p:nvSpPr>
            <p:spPr>
              <a:xfrm>
                <a:off x="-17585" y="448639"/>
                <a:ext cx="5957737" cy="2800767"/>
              </a:xfrm>
              <a:prstGeom prst="rect">
                <a:avLst/>
              </a:prstGeom>
              <a:blipFill rotWithShape="1">
                <a:blip r:embed="rId5"/>
                <a:stretch>
                  <a:fillRect l="-1228" t="-1961" r="-1228" b="-2832"/>
                </a:stretch>
              </a:blipFill>
            </p:spPr>
            <p:txBody>
              <a:bodyPr/>
              <a:lstStyle/>
              <a:p>
                <a:r>
                  <a:rPr lang="zh-CN" altLang="en-US">
                    <a:noFill/>
                  </a:rPr>
                  <a:t> </a:t>
                </a:r>
              </a:p>
            </p:txBody>
          </p:sp>
        </mc:Fallback>
      </mc:AlternateContent>
      <p:sp>
        <p:nvSpPr>
          <p:cNvPr id="3" name="TextBox 2"/>
          <p:cNvSpPr txBox="1"/>
          <p:nvPr/>
        </p:nvSpPr>
        <p:spPr>
          <a:xfrm>
            <a:off x="251518" y="3140968"/>
            <a:ext cx="8481257" cy="769441"/>
          </a:xfrm>
          <a:prstGeom prst="rect">
            <a:avLst/>
          </a:prstGeom>
          <a:noFill/>
        </p:spPr>
        <p:txBody>
          <a:bodyPr wrap="square" rtlCol="0">
            <a:spAutoFit/>
          </a:bodyPr>
          <a:lstStyle/>
          <a:p>
            <a:r>
              <a:rPr lang="zh-CN" altLang="en-US" sz="2200" b="1">
                <a:solidFill>
                  <a:schemeClr val="bg1"/>
                </a:solidFill>
                <a:latin typeface="+mn-lt"/>
                <a:ea typeface="+mn-ea"/>
              </a:rPr>
              <a:t>解</a:t>
            </a:r>
            <a:r>
              <a:rPr lang="zh-CN" altLang="en-US" sz="2200" b="1">
                <a:solidFill>
                  <a:schemeClr val="bg1"/>
                </a:solidFill>
                <a:latin typeface="+mn-lt"/>
                <a:ea typeface="+mn-ea"/>
                <a:sym typeface="Wingdings" pitchFamily="2" charset="2"/>
              </a:rPr>
              <a:t>：</a:t>
            </a:r>
            <a:r>
              <a:rPr lang="en-US" altLang="zh-CN" sz="2200" b="1">
                <a:solidFill>
                  <a:schemeClr val="bg1"/>
                </a:solidFill>
                <a:latin typeface="+mn-lt"/>
                <a:ea typeface="+mn-ea"/>
                <a:sym typeface="Wingdings" pitchFamily="2" charset="2"/>
              </a:rPr>
              <a:t>(1)</a:t>
            </a:r>
            <a:r>
              <a:rPr lang="zh-CN" altLang="en-US" sz="2200" b="1">
                <a:solidFill>
                  <a:schemeClr val="bg1"/>
                </a:solidFill>
                <a:latin typeface="+mn-lt"/>
                <a:ea typeface="+mn-ea"/>
              </a:rPr>
              <a:t>以人和盘组成的系统对轴的外力矩为</a:t>
            </a:r>
            <a:r>
              <a:rPr lang="en-US" altLang="zh-CN" sz="2200" b="1">
                <a:solidFill>
                  <a:schemeClr val="bg1"/>
                </a:solidFill>
                <a:latin typeface="+mn-lt"/>
                <a:ea typeface="+mn-ea"/>
              </a:rPr>
              <a:t>0</a:t>
            </a:r>
            <a:r>
              <a:rPr lang="zh-CN" altLang="en-US" sz="2200" b="1">
                <a:solidFill>
                  <a:schemeClr val="bg1"/>
                </a:solidFill>
                <a:latin typeface="+mn-lt"/>
                <a:ea typeface="+mn-ea"/>
              </a:rPr>
              <a:t>，故系统对轴的动量矩守恒，即</a:t>
            </a:r>
          </a:p>
        </p:txBody>
      </p:sp>
      <p:graphicFrame>
        <p:nvGraphicFramePr>
          <p:cNvPr id="4" name="对象 3"/>
          <p:cNvGraphicFramePr>
            <a:graphicFrameLocks noChangeAspect="1"/>
          </p:cNvGraphicFramePr>
          <p:nvPr>
            <p:extLst>
              <p:ext uri="{D42A27DB-BD31-4B8C-83A1-F6EECF244321}">
                <p14:modId xmlns:p14="http://schemas.microsoft.com/office/powerpoint/2010/main" val="1636635618"/>
              </p:ext>
            </p:extLst>
          </p:nvPr>
        </p:nvGraphicFramePr>
        <p:xfrm>
          <a:off x="91035" y="3842856"/>
          <a:ext cx="9052965" cy="823413"/>
        </p:xfrm>
        <a:graphic>
          <a:graphicData uri="http://schemas.openxmlformats.org/presentationml/2006/ole">
            <mc:AlternateContent xmlns:mc="http://schemas.openxmlformats.org/markup-compatibility/2006">
              <mc:Choice xmlns:v="urn:schemas-microsoft-com:vml" Requires="v">
                <p:oleObj spid="_x0000_s39956" name="Equation" r:id="rId6" imgW="5587920" imgH="507960" progId="Equation.DSMT4">
                  <p:embed/>
                </p:oleObj>
              </mc:Choice>
              <mc:Fallback>
                <p:oleObj name="Equation" r:id="rId6" imgW="5587920" imgH="507960" progId="Equation.DSMT4">
                  <p:embed/>
                  <p:pic>
                    <p:nvPicPr>
                      <p:cNvPr id="0" name=""/>
                      <p:cNvPicPr/>
                      <p:nvPr/>
                    </p:nvPicPr>
                    <p:blipFill>
                      <a:blip r:embed="rId7"/>
                      <a:stretch>
                        <a:fillRect/>
                      </a:stretch>
                    </p:blipFill>
                    <p:spPr>
                      <a:xfrm>
                        <a:off x="91035" y="3842856"/>
                        <a:ext cx="9052965" cy="823413"/>
                      </a:xfrm>
                      <a:prstGeom prst="rect">
                        <a:avLst/>
                      </a:prstGeom>
                    </p:spPr>
                  </p:pic>
                </p:oleObj>
              </mc:Fallback>
            </mc:AlternateContent>
          </a:graphicData>
        </a:graphic>
      </p:graphicFrame>
      <p:cxnSp>
        <p:nvCxnSpPr>
          <p:cNvPr id="6" name="直接连接符 5"/>
          <p:cNvCxnSpPr/>
          <p:nvPr/>
        </p:nvCxnSpPr>
        <p:spPr>
          <a:xfrm>
            <a:off x="5847916" y="4596035"/>
            <a:ext cx="1059172"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7991570" y="4596035"/>
            <a:ext cx="1059172"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51518" y="4666269"/>
            <a:ext cx="1991251" cy="400110"/>
          </a:xfrm>
          <a:prstGeom prst="rect">
            <a:avLst/>
          </a:prstGeom>
          <a:noFill/>
        </p:spPr>
        <p:txBody>
          <a:bodyPr wrap="none" rtlCol="0">
            <a:spAutoFit/>
          </a:bodyPr>
          <a:lstStyle/>
          <a:p>
            <a:r>
              <a:rPr lang="zh-CN" altLang="en-US" sz="2000" b="1">
                <a:solidFill>
                  <a:schemeClr val="bg1"/>
                </a:solidFill>
                <a:latin typeface="+mn-lt"/>
                <a:ea typeface="+mn-ea"/>
              </a:rPr>
              <a:t>求解得人走动后</a:t>
            </a:r>
          </a:p>
        </p:txBody>
      </p:sp>
      <p:graphicFrame>
        <p:nvGraphicFramePr>
          <p:cNvPr id="9" name="对象 8"/>
          <p:cNvGraphicFramePr>
            <a:graphicFrameLocks noChangeAspect="1"/>
          </p:cNvGraphicFramePr>
          <p:nvPr>
            <p:extLst>
              <p:ext uri="{D42A27DB-BD31-4B8C-83A1-F6EECF244321}">
                <p14:modId xmlns:p14="http://schemas.microsoft.com/office/powerpoint/2010/main" val="2157697429"/>
              </p:ext>
            </p:extLst>
          </p:nvPr>
        </p:nvGraphicFramePr>
        <p:xfrm>
          <a:off x="2917762" y="4539184"/>
          <a:ext cx="1224136" cy="654279"/>
        </p:xfrm>
        <a:graphic>
          <a:graphicData uri="http://schemas.openxmlformats.org/presentationml/2006/ole">
            <mc:AlternateContent xmlns:mc="http://schemas.openxmlformats.org/markup-compatibility/2006">
              <mc:Choice xmlns:v="urn:schemas-microsoft-com:vml" Requires="v">
                <p:oleObj spid="_x0000_s39957" name="Equation" r:id="rId8" imgW="736560" imgH="393480" progId="Equation.DSMT4">
                  <p:embed/>
                </p:oleObj>
              </mc:Choice>
              <mc:Fallback>
                <p:oleObj name="Equation" r:id="rId8" imgW="736560" imgH="393480" progId="Equation.DSMT4">
                  <p:embed/>
                  <p:pic>
                    <p:nvPicPr>
                      <p:cNvPr id="0" name=""/>
                      <p:cNvPicPr/>
                      <p:nvPr/>
                    </p:nvPicPr>
                    <p:blipFill>
                      <a:blip r:embed="rId9"/>
                      <a:stretch>
                        <a:fillRect/>
                      </a:stretch>
                    </p:blipFill>
                    <p:spPr>
                      <a:xfrm>
                        <a:off x="2917762" y="4539184"/>
                        <a:ext cx="1224136" cy="654279"/>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6" name="TextBox 15"/>
              <p:cNvSpPr txBox="1"/>
              <p:nvPr/>
            </p:nvSpPr>
            <p:spPr>
              <a:xfrm>
                <a:off x="251518" y="5157192"/>
                <a:ext cx="8481257" cy="430887"/>
              </a:xfrm>
              <a:prstGeom prst="rect">
                <a:avLst/>
              </a:prstGeom>
              <a:noFill/>
            </p:spPr>
            <p:txBody>
              <a:bodyPr wrap="square" rtlCol="0">
                <a:spAutoFit/>
              </a:bodyPr>
              <a:lstStyle/>
              <a:p>
                <a:r>
                  <a:rPr lang="en-US" altLang="zh-CN" sz="2200" b="1">
                    <a:solidFill>
                      <a:schemeClr val="bg1"/>
                    </a:solidFill>
                    <a:latin typeface="+mn-lt"/>
                    <a:ea typeface="+mn-ea"/>
                    <a:sym typeface="Wingdings" pitchFamily="2" charset="2"/>
                  </a:rPr>
                  <a:t>(2)</a:t>
                </a:r>
                <a:r>
                  <a:rPr lang="zh-CN" altLang="en-US" sz="2200" b="1">
                    <a:solidFill>
                      <a:schemeClr val="bg1"/>
                    </a:solidFill>
                    <a:latin typeface="+mn-lt"/>
                    <a:ea typeface="+mn-ea"/>
                    <a:sym typeface="Wingdings" pitchFamily="2" charset="2"/>
                  </a:rPr>
                  <a:t>令</a:t>
                </a:r>
                <a14:m>
                  <m:oMath xmlns:m="http://schemas.openxmlformats.org/officeDocument/2006/math">
                    <m:r>
                      <a:rPr lang="zh-CN" altLang="en-US" sz="2200" b="1" i="1" smtClean="0">
                        <a:solidFill>
                          <a:schemeClr val="bg1"/>
                        </a:solidFill>
                        <a:latin typeface="Cambria Math"/>
                        <a:ea typeface="+mn-ea"/>
                        <a:sym typeface="Wingdings" pitchFamily="2" charset="2"/>
                      </a:rPr>
                      <m:t>𝝎</m:t>
                    </m:r>
                    <m:r>
                      <a:rPr lang="en-US" altLang="zh-CN" sz="2200" b="1" i="1" smtClean="0">
                        <a:solidFill>
                          <a:schemeClr val="bg1"/>
                        </a:solidFill>
                        <a:latin typeface="Cambria Math"/>
                        <a:ea typeface="+mn-ea"/>
                        <a:sym typeface="Wingdings" pitchFamily="2" charset="2"/>
                      </a:rPr>
                      <m:t>=</m:t>
                    </m:r>
                    <m:r>
                      <a:rPr lang="en-US" altLang="zh-CN" sz="2200" b="1" i="1" smtClean="0">
                        <a:solidFill>
                          <a:schemeClr val="bg1"/>
                        </a:solidFill>
                        <a:latin typeface="Cambria Math"/>
                        <a:ea typeface="+mn-ea"/>
                        <a:sym typeface="Wingdings" pitchFamily="2" charset="2"/>
                      </a:rPr>
                      <m:t>𝟎</m:t>
                    </m:r>
                  </m:oMath>
                </a14:m>
                <a:r>
                  <a:rPr lang="zh-CN" altLang="en-US" sz="2200" b="1">
                    <a:solidFill>
                      <a:schemeClr val="bg1"/>
                    </a:solidFill>
                    <a:latin typeface="+mn-lt"/>
                    <a:ea typeface="+mn-ea"/>
                  </a:rPr>
                  <a:t>，可求出使转盘停止转动的</a:t>
                </a:r>
                <a14:m>
                  <m:oMath xmlns:m="http://schemas.openxmlformats.org/officeDocument/2006/math">
                    <m:r>
                      <a:rPr lang="zh-CN" altLang="en-US" sz="2200" b="1" i="1">
                        <a:solidFill>
                          <a:schemeClr val="bg1"/>
                        </a:solidFill>
                        <a:latin typeface="Cambria Math"/>
                      </a:rPr>
                      <m:t>𝝁</m:t>
                    </m:r>
                  </m:oMath>
                </a14:m>
                <a:r>
                  <a:rPr lang="zh-CN" altLang="en-US" sz="2200" b="1">
                    <a:solidFill>
                      <a:schemeClr val="bg1"/>
                    </a:solidFill>
                  </a:rPr>
                  <a:t>的大小</a:t>
                </a:r>
              </a:p>
            </p:txBody>
          </p:sp>
        </mc:Choice>
        <mc:Fallback xmlns="">
          <p:sp>
            <p:nvSpPr>
              <p:cNvPr id="16" name="TextBox 15"/>
              <p:cNvSpPr txBox="1">
                <a:spLocks noRot="1" noChangeAspect="1" noMove="1" noResize="1" noEditPoints="1" noAdjustHandles="1" noChangeArrowheads="1" noChangeShapeType="1" noTextEdit="1"/>
              </p:cNvSpPr>
              <p:nvPr/>
            </p:nvSpPr>
            <p:spPr>
              <a:xfrm>
                <a:off x="251518" y="5157192"/>
                <a:ext cx="8481257" cy="430887"/>
              </a:xfrm>
              <a:prstGeom prst="rect">
                <a:avLst/>
              </a:prstGeom>
              <a:blipFill rotWithShape="1">
                <a:blip r:embed="rId10"/>
                <a:stretch>
                  <a:fillRect l="-862" t="-12676" b="-28169"/>
                </a:stretch>
              </a:blipFill>
            </p:spPr>
            <p:txBody>
              <a:bodyPr/>
              <a:lstStyle/>
              <a:p>
                <a:r>
                  <a:rPr lang="zh-CN" altLang="en-US">
                    <a:noFill/>
                  </a:rPr>
                  <a:t> </a:t>
                </a:r>
              </a:p>
            </p:txBody>
          </p:sp>
        </mc:Fallback>
      </mc:AlternateContent>
      <p:graphicFrame>
        <p:nvGraphicFramePr>
          <p:cNvPr id="10" name="对象 9"/>
          <p:cNvGraphicFramePr>
            <a:graphicFrameLocks noChangeAspect="1"/>
          </p:cNvGraphicFramePr>
          <p:nvPr>
            <p:extLst>
              <p:ext uri="{D42A27DB-BD31-4B8C-83A1-F6EECF244321}">
                <p14:modId xmlns:p14="http://schemas.microsoft.com/office/powerpoint/2010/main" val="1262955246"/>
              </p:ext>
            </p:extLst>
          </p:nvPr>
        </p:nvGraphicFramePr>
        <p:xfrm>
          <a:off x="6342679" y="5051580"/>
          <a:ext cx="2384425" cy="654050"/>
        </p:xfrm>
        <a:graphic>
          <a:graphicData uri="http://schemas.openxmlformats.org/presentationml/2006/ole">
            <mc:AlternateContent xmlns:mc="http://schemas.openxmlformats.org/markup-compatibility/2006">
              <mc:Choice xmlns:v="urn:schemas-microsoft-com:vml" Requires="v">
                <p:oleObj spid="_x0000_s39958" name="Equation" r:id="rId11" imgW="1434960" imgH="393480" progId="Equation.DSMT4">
                  <p:embed/>
                </p:oleObj>
              </mc:Choice>
              <mc:Fallback>
                <p:oleObj name="Equation" r:id="rId11" imgW="1434960" imgH="393480" progId="Equation.DSMT4">
                  <p:embed/>
                  <p:pic>
                    <p:nvPicPr>
                      <p:cNvPr id="0" name="对象 8"/>
                      <p:cNvPicPr>
                        <a:picLocks noChangeAspect="1" noChangeArrowheads="1"/>
                      </p:cNvPicPr>
                      <p:nvPr/>
                    </p:nvPicPr>
                    <p:blipFill>
                      <a:blip r:embed="rId12"/>
                      <a:srcRect/>
                      <a:stretch>
                        <a:fillRect/>
                      </a:stretch>
                    </p:blipFill>
                    <p:spPr bwMode="auto">
                      <a:xfrm>
                        <a:off x="6342679" y="5051580"/>
                        <a:ext cx="2384425"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extBox 17"/>
          <p:cNvSpPr txBox="1"/>
          <p:nvPr/>
        </p:nvSpPr>
        <p:spPr>
          <a:xfrm>
            <a:off x="323528" y="5661248"/>
            <a:ext cx="8481257" cy="769441"/>
          </a:xfrm>
          <a:prstGeom prst="rect">
            <a:avLst/>
          </a:prstGeom>
          <a:noFill/>
        </p:spPr>
        <p:txBody>
          <a:bodyPr wrap="square" rtlCol="0">
            <a:spAutoFit/>
          </a:bodyPr>
          <a:lstStyle/>
          <a:p>
            <a:pPr marL="342900" indent="-342900">
              <a:buFont typeface="Arial" pitchFamily="34" charset="0"/>
              <a:buChar char="•"/>
            </a:pPr>
            <a:r>
              <a:rPr lang="zh-CN" altLang="en-US" sz="2200" b="1">
                <a:solidFill>
                  <a:srgbClr val="FFC000"/>
                </a:solidFill>
              </a:rPr>
              <a:t>动量矩定理和动量矩守恒定理适用于惯性系</a:t>
            </a:r>
            <a:r>
              <a:rPr lang="zh-CN" altLang="en-US" sz="2200" b="1">
                <a:solidFill>
                  <a:schemeClr val="bg1"/>
                </a:solidFill>
              </a:rPr>
              <a:t>，解题时应该把所有研究对象放在同一惯性系中进行研究。</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P spid="16" grpId="0"/>
      <p:bldP spid="1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5AF9367-B9F4-4EB6-847B-F1785CFD781E}"/>
              </a:ext>
            </a:extLst>
          </p:cNvPr>
          <p:cNvSpPr txBox="1"/>
          <p:nvPr/>
        </p:nvSpPr>
        <p:spPr>
          <a:xfrm>
            <a:off x="107504" y="188640"/>
            <a:ext cx="1627369" cy="523220"/>
          </a:xfrm>
          <a:prstGeom prst="rect">
            <a:avLst/>
          </a:prstGeom>
          <a:noFill/>
        </p:spPr>
        <p:txBody>
          <a:bodyPr wrap="none" rtlCol="0">
            <a:spAutoFit/>
          </a:bodyPr>
          <a:lstStyle/>
          <a:p>
            <a:r>
              <a:rPr lang="zh-CN" altLang="en-US" sz="2800" b="1" dirty="0">
                <a:solidFill>
                  <a:srgbClr val="FFC000"/>
                </a:solidFill>
                <a:latin typeface="宋体" pitchFamily="2" charset="-122"/>
              </a:rPr>
              <a:t>课堂练习</a:t>
            </a:r>
          </a:p>
        </p:txBody>
      </p:sp>
      <p:sp>
        <p:nvSpPr>
          <p:cNvPr id="5" name="文本框 4">
            <a:extLst>
              <a:ext uri="{FF2B5EF4-FFF2-40B4-BE49-F238E27FC236}">
                <a16:creationId xmlns:a16="http://schemas.microsoft.com/office/drawing/2014/main" id="{03CC1A01-72D9-4F66-8A64-3B863FCFAA1D}"/>
              </a:ext>
            </a:extLst>
          </p:cNvPr>
          <p:cNvSpPr txBox="1"/>
          <p:nvPr/>
        </p:nvSpPr>
        <p:spPr>
          <a:xfrm>
            <a:off x="251520" y="908720"/>
            <a:ext cx="8568951" cy="1323439"/>
          </a:xfrm>
          <a:prstGeom prst="rect">
            <a:avLst/>
          </a:prstGeom>
          <a:noFill/>
        </p:spPr>
        <p:txBody>
          <a:bodyPr wrap="square" rtlCol="0">
            <a:spAutoFit/>
          </a:bodyPr>
          <a:lstStyle/>
          <a:p>
            <a:r>
              <a:rPr lang="en-US" altLang="zh-CN" sz="2000" b="1" dirty="0">
                <a:solidFill>
                  <a:schemeClr val="bg1"/>
                </a:solidFill>
              </a:rPr>
              <a:t>1. </a:t>
            </a:r>
            <a:r>
              <a:rPr lang="zh-CN" altLang="en-US" sz="2000" b="1" dirty="0">
                <a:solidFill>
                  <a:schemeClr val="bg1"/>
                </a:solidFill>
              </a:rPr>
              <a:t>一个圆盘通过盘心垂直于盘面的水平轴转动，轴承间摩擦不计。如图所示，对射来两个质量、速率均相同、速度方向相反并在同一直线上的子弹，它们同时入射到圆盘边并留在盘边沿处，问子弹入射后，圆盘和子弹组成的系统的动量矩和角速度如何变化？    （      ）</a:t>
            </a:r>
            <a:r>
              <a:rPr lang="en-US" altLang="zh-CN" sz="2000" b="1" dirty="0">
                <a:solidFill>
                  <a:schemeClr val="bg1"/>
                </a:solidFill>
              </a:rPr>
              <a:t>  </a:t>
            </a:r>
            <a:endParaRPr lang="zh-CN" altLang="en-US" sz="2000" b="1" dirty="0">
              <a:solidFill>
                <a:schemeClr val="bg1"/>
              </a:solidFill>
            </a:endParaRPr>
          </a:p>
        </p:txBody>
      </p:sp>
      <p:sp>
        <p:nvSpPr>
          <p:cNvPr id="7" name="文本框 6">
            <a:extLst>
              <a:ext uri="{FF2B5EF4-FFF2-40B4-BE49-F238E27FC236}">
                <a16:creationId xmlns:a16="http://schemas.microsoft.com/office/drawing/2014/main" id="{EE4C79DB-D261-4481-8916-8C9E15AB0473}"/>
              </a:ext>
            </a:extLst>
          </p:cNvPr>
          <p:cNvSpPr txBox="1"/>
          <p:nvPr/>
        </p:nvSpPr>
        <p:spPr>
          <a:xfrm>
            <a:off x="681039" y="2487379"/>
            <a:ext cx="7821251" cy="1323439"/>
          </a:xfrm>
          <a:prstGeom prst="rect">
            <a:avLst/>
          </a:prstGeom>
          <a:noFill/>
        </p:spPr>
        <p:txBody>
          <a:bodyPr wrap="square">
            <a:spAutoFit/>
          </a:bodyPr>
          <a:lstStyle/>
          <a:p>
            <a:pPr algn="l"/>
            <a:r>
              <a:rPr lang="zh-CN" altLang="en-US" sz="2000" b="1" i="0" u="none" strike="noStrike" baseline="0" dirty="0">
                <a:solidFill>
                  <a:schemeClr val="bg1"/>
                </a:solidFill>
                <a:latin typeface="Symbol01"/>
              </a:rPr>
              <a:t>（</a:t>
            </a:r>
            <a:r>
              <a:rPr lang="en-US" altLang="zh-CN" sz="2000" b="1" i="0" u="none" strike="noStrike" baseline="0" dirty="0">
                <a:solidFill>
                  <a:schemeClr val="bg1"/>
                </a:solidFill>
                <a:latin typeface="E-BZ"/>
              </a:rPr>
              <a:t>A</a:t>
            </a:r>
            <a:r>
              <a:rPr lang="zh-CN" altLang="en-US" sz="2000" b="1" i="0" u="none" strike="noStrike" baseline="0" dirty="0">
                <a:solidFill>
                  <a:schemeClr val="bg1"/>
                </a:solidFill>
                <a:latin typeface="Symbol01"/>
              </a:rPr>
              <a:t>）动量矩变小，角速度变小                       </a:t>
            </a:r>
            <a:endParaRPr lang="en-US" altLang="zh-CN" sz="2000" b="1" i="0" u="none" strike="noStrike" baseline="0" dirty="0">
              <a:solidFill>
                <a:schemeClr val="bg1"/>
              </a:solidFill>
              <a:latin typeface="Symbol01"/>
            </a:endParaRPr>
          </a:p>
          <a:p>
            <a:pPr algn="l"/>
            <a:r>
              <a:rPr lang="zh-CN" altLang="en-US" sz="2000" b="1" i="0" u="none" strike="noStrike" baseline="0" dirty="0">
                <a:solidFill>
                  <a:schemeClr val="bg1"/>
                </a:solidFill>
                <a:latin typeface="Symbol01"/>
              </a:rPr>
              <a:t>（</a:t>
            </a:r>
            <a:r>
              <a:rPr lang="en-US" altLang="zh-CN" sz="2000" b="1" i="0" u="none" strike="noStrike" baseline="0" dirty="0">
                <a:solidFill>
                  <a:schemeClr val="bg1"/>
                </a:solidFill>
                <a:latin typeface="E-BZ"/>
              </a:rPr>
              <a:t>B</a:t>
            </a:r>
            <a:r>
              <a:rPr lang="zh-CN" altLang="en-US" sz="2000" b="1" i="0" u="none" strike="noStrike" baseline="0" dirty="0">
                <a:solidFill>
                  <a:schemeClr val="bg1"/>
                </a:solidFill>
                <a:latin typeface="Symbol01"/>
              </a:rPr>
              <a:t>）动量矩变大，角速度变大</a:t>
            </a:r>
            <a:r>
              <a:rPr lang="en-US" altLang="zh-CN" sz="2000" b="1" i="0" u="none" strike="noStrike" baseline="0" dirty="0">
                <a:solidFill>
                  <a:schemeClr val="bg1"/>
                </a:solidFill>
                <a:latin typeface="E-BX"/>
              </a:rPr>
              <a:t> </a:t>
            </a:r>
          </a:p>
          <a:p>
            <a:pPr algn="l"/>
            <a:r>
              <a:rPr lang="zh-CN" altLang="en-US" sz="2000" b="1" i="0" u="none" strike="noStrike" baseline="0" dirty="0">
                <a:solidFill>
                  <a:schemeClr val="bg1"/>
                </a:solidFill>
                <a:latin typeface="Symbol01"/>
              </a:rPr>
              <a:t>（</a:t>
            </a:r>
            <a:r>
              <a:rPr lang="en-US" altLang="zh-CN" sz="2000" b="1" i="0" u="none" strike="noStrike" baseline="0" dirty="0">
                <a:solidFill>
                  <a:schemeClr val="bg1"/>
                </a:solidFill>
                <a:latin typeface="E-BZ"/>
              </a:rPr>
              <a:t>C</a:t>
            </a:r>
            <a:r>
              <a:rPr lang="zh-CN" altLang="en-US" sz="2000" b="1" i="0" u="none" strike="noStrike" baseline="0" dirty="0">
                <a:solidFill>
                  <a:schemeClr val="bg1"/>
                </a:solidFill>
                <a:latin typeface="Symbol01"/>
              </a:rPr>
              <a:t>）动量矩不变，角速度变小                       </a:t>
            </a:r>
            <a:endParaRPr lang="en-US" altLang="zh-CN" sz="2000" b="1" i="0" u="none" strike="noStrike" baseline="0" dirty="0">
              <a:solidFill>
                <a:schemeClr val="bg1"/>
              </a:solidFill>
              <a:latin typeface="Symbol01"/>
            </a:endParaRPr>
          </a:p>
          <a:p>
            <a:pPr algn="l"/>
            <a:r>
              <a:rPr lang="zh-CN" altLang="en-US" sz="2000" b="1" i="0" u="none" strike="noStrike" baseline="0" dirty="0">
                <a:solidFill>
                  <a:schemeClr val="bg1"/>
                </a:solidFill>
                <a:latin typeface="Symbol01"/>
              </a:rPr>
              <a:t>（</a:t>
            </a:r>
            <a:r>
              <a:rPr lang="en-US" altLang="zh-CN" sz="2000" b="1" i="0" u="none" strike="noStrike" baseline="0" dirty="0">
                <a:solidFill>
                  <a:schemeClr val="bg1"/>
                </a:solidFill>
                <a:latin typeface="E-BZ"/>
              </a:rPr>
              <a:t>D</a:t>
            </a:r>
            <a:r>
              <a:rPr lang="zh-CN" altLang="en-US" sz="2000" b="1" i="0" u="none" strike="noStrike" baseline="0" dirty="0">
                <a:solidFill>
                  <a:schemeClr val="bg1"/>
                </a:solidFill>
                <a:latin typeface="Symbol01"/>
              </a:rPr>
              <a:t>）动量矩不变，角速度不变</a:t>
            </a:r>
            <a:endParaRPr lang="zh-CN" altLang="en-US" sz="2000" b="1" dirty="0">
              <a:solidFill>
                <a:schemeClr val="bg1"/>
              </a:solidFill>
            </a:endParaRPr>
          </a:p>
        </p:txBody>
      </p:sp>
      <p:grpSp>
        <p:nvGrpSpPr>
          <p:cNvPr id="25" name="组合 24">
            <a:extLst>
              <a:ext uri="{FF2B5EF4-FFF2-40B4-BE49-F238E27FC236}">
                <a16:creationId xmlns:a16="http://schemas.microsoft.com/office/drawing/2014/main" id="{C36F22DB-0725-4868-9C31-C0E6B0314A45}"/>
              </a:ext>
            </a:extLst>
          </p:cNvPr>
          <p:cNvGrpSpPr/>
          <p:nvPr/>
        </p:nvGrpSpPr>
        <p:grpSpPr>
          <a:xfrm>
            <a:off x="5654649" y="2429019"/>
            <a:ext cx="2808312" cy="1440160"/>
            <a:chOff x="5508104" y="3717032"/>
            <a:chExt cx="2808312" cy="1440160"/>
          </a:xfrm>
        </p:grpSpPr>
        <p:sp>
          <p:nvSpPr>
            <p:cNvPr id="2" name="椭圆 1">
              <a:extLst>
                <a:ext uri="{FF2B5EF4-FFF2-40B4-BE49-F238E27FC236}">
                  <a16:creationId xmlns:a16="http://schemas.microsoft.com/office/drawing/2014/main" id="{0EB61321-4CEA-4919-88B4-BCED3591B56A}"/>
                </a:ext>
              </a:extLst>
            </p:cNvPr>
            <p:cNvSpPr/>
            <p:nvPr/>
          </p:nvSpPr>
          <p:spPr>
            <a:xfrm>
              <a:off x="6156176" y="3717032"/>
              <a:ext cx="1440160" cy="1440160"/>
            </a:xfrm>
            <a:prstGeom prst="ellipse">
              <a:avLst/>
            </a:prstGeom>
            <a:noFill/>
            <a:ln>
              <a:solidFill>
                <a:schemeClr val="bg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sp>
          <p:nvSpPr>
            <p:cNvPr id="3" name="椭圆 2">
              <a:extLst>
                <a:ext uri="{FF2B5EF4-FFF2-40B4-BE49-F238E27FC236}">
                  <a16:creationId xmlns:a16="http://schemas.microsoft.com/office/drawing/2014/main" id="{96F209EE-42E4-41B2-B41E-8CED8CF5E513}"/>
                </a:ext>
              </a:extLst>
            </p:cNvPr>
            <p:cNvSpPr/>
            <p:nvPr/>
          </p:nvSpPr>
          <p:spPr>
            <a:xfrm>
              <a:off x="6804248" y="4365104"/>
              <a:ext cx="144016" cy="14401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 name="箭头: 下 5">
              <a:extLst>
                <a:ext uri="{FF2B5EF4-FFF2-40B4-BE49-F238E27FC236}">
                  <a16:creationId xmlns:a16="http://schemas.microsoft.com/office/drawing/2014/main" id="{FA209A71-A451-4826-9FAA-B133FCC1E815}"/>
                </a:ext>
              </a:extLst>
            </p:cNvPr>
            <p:cNvSpPr/>
            <p:nvPr/>
          </p:nvSpPr>
          <p:spPr>
            <a:xfrm rot="16200000">
              <a:off x="5757568" y="3861048"/>
              <a:ext cx="144016" cy="288032"/>
            </a:xfrm>
            <a:prstGeom prst="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下 23">
              <a:extLst>
                <a:ext uri="{FF2B5EF4-FFF2-40B4-BE49-F238E27FC236}">
                  <a16:creationId xmlns:a16="http://schemas.microsoft.com/office/drawing/2014/main" id="{B7A795C0-56D3-44C7-BEE9-FD5EC16AC7D9}"/>
                </a:ext>
              </a:extLst>
            </p:cNvPr>
            <p:cNvSpPr/>
            <p:nvPr/>
          </p:nvSpPr>
          <p:spPr>
            <a:xfrm rot="16200000" flipV="1">
              <a:off x="7895625" y="3861046"/>
              <a:ext cx="144017" cy="288034"/>
            </a:xfrm>
            <a:prstGeom prst="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a:extLst>
                <a:ext uri="{FF2B5EF4-FFF2-40B4-BE49-F238E27FC236}">
                  <a16:creationId xmlns:a16="http://schemas.microsoft.com/office/drawing/2014/main" id="{E853EB97-5DF1-4E9B-BA65-181B162E30B0}"/>
                </a:ext>
              </a:extLst>
            </p:cNvPr>
            <p:cNvCxnSpPr/>
            <p:nvPr/>
          </p:nvCxnSpPr>
          <p:spPr>
            <a:xfrm>
              <a:off x="5508104" y="4005063"/>
              <a:ext cx="2808312" cy="0"/>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51128876"/>
      </p:ext>
    </p:extLst>
  </p:cSld>
  <p:clrMapOvr>
    <a:masterClrMapping/>
  </p:clrMapOvr>
  <p:transition spd="slow">
    <p:wipe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矩形 1"/>
          <p:cNvSpPr>
            <a:spLocks noChangeArrowheads="1"/>
          </p:cNvSpPr>
          <p:nvPr/>
        </p:nvSpPr>
        <p:spPr bwMode="auto">
          <a:xfrm>
            <a:off x="0" y="0"/>
            <a:ext cx="673893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b="1">
                <a:solidFill>
                  <a:srgbClr val="FFC000"/>
                </a:solidFill>
                <a:latin typeface="+mn-lt"/>
              </a:rPr>
              <a:t>书中例题</a:t>
            </a:r>
            <a:r>
              <a:rPr lang="en-US" altLang="zh-CN" sz="2400" b="1">
                <a:solidFill>
                  <a:srgbClr val="FFC000"/>
                </a:solidFill>
                <a:latin typeface="+mn-lt"/>
              </a:rPr>
              <a:t>6.16(p.221)  </a:t>
            </a:r>
            <a:r>
              <a:rPr lang="zh-CN" altLang="en-US" sz="2400" b="1">
                <a:solidFill>
                  <a:srgbClr val="FFC000"/>
                </a:solidFill>
                <a:latin typeface="+mn-lt"/>
              </a:rPr>
              <a:t>重点</a:t>
            </a:r>
            <a:endParaRPr lang="en-US" altLang="zh-CN" sz="2400" b="1">
              <a:solidFill>
                <a:srgbClr val="FFC000"/>
              </a:solidFill>
              <a:latin typeface="+mn-lt"/>
            </a:endParaRPr>
          </a:p>
          <a:p>
            <a:r>
              <a:rPr lang="zh-CN" altLang="en-US" sz="2400" b="1">
                <a:solidFill>
                  <a:schemeClr val="bg1"/>
                </a:solidFill>
                <a:latin typeface="+mn-lt"/>
              </a:rPr>
              <a:t>长为</a:t>
            </a:r>
            <a:r>
              <a:rPr lang="en-US" altLang="zh-CN" sz="2400" b="1" i="1">
                <a:solidFill>
                  <a:schemeClr val="bg1"/>
                </a:solidFill>
                <a:latin typeface="+mn-lt"/>
              </a:rPr>
              <a:t>L</a:t>
            </a:r>
            <a:r>
              <a:rPr lang="zh-CN" altLang="en-US" sz="2400" b="1">
                <a:solidFill>
                  <a:schemeClr val="bg1"/>
                </a:solidFill>
                <a:latin typeface="+mn-lt"/>
              </a:rPr>
              <a:t>，质量为</a:t>
            </a:r>
            <a:r>
              <a:rPr lang="en-US" altLang="zh-CN" sz="2400" b="1" i="1">
                <a:solidFill>
                  <a:schemeClr val="bg1"/>
                </a:solidFill>
                <a:latin typeface="+mn-lt"/>
              </a:rPr>
              <a:t>M</a:t>
            </a:r>
            <a:r>
              <a:rPr lang="zh-CN" altLang="en-US" sz="2400" b="1">
                <a:solidFill>
                  <a:schemeClr val="bg1"/>
                </a:solidFill>
                <a:latin typeface="+mn-lt"/>
              </a:rPr>
              <a:t>的均匀杆，一端悬挂，由水平位置无初速度地下落，在铅直位置与质量为</a:t>
            </a:r>
            <a:r>
              <a:rPr lang="en-US" altLang="zh-CN" sz="2400" b="1" i="1">
                <a:solidFill>
                  <a:schemeClr val="bg1"/>
                </a:solidFill>
                <a:latin typeface="+mn-lt"/>
              </a:rPr>
              <a:t>m</a:t>
            </a:r>
            <a:r>
              <a:rPr lang="zh-CN" altLang="en-US" sz="2400" b="1">
                <a:solidFill>
                  <a:schemeClr val="bg1"/>
                </a:solidFill>
                <a:latin typeface="+mn-lt"/>
              </a:rPr>
              <a:t>的物体</a:t>
            </a:r>
            <a:r>
              <a:rPr lang="en-US" altLang="zh-CN" sz="2400" b="1">
                <a:solidFill>
                  <a:schemeClr val="bg1"/>
                </a:solidFill>
                <a:latin typeface="+mn-lt"/>
              </a:rPr>
              <a:t>A</a:t>
            </a:r>
            <a:r>
              <a:rPr lang="zh-CN" altLang="en-US" sz="2400" b="1">
                <a:solidFill>
                  <a:schemeClr val="bg1"/>
                </a:solidFill>
                <a:latin typeface="+mn-lt"/>
              </a:rPr>
              <a:t>做完全非弹性碰撞，碰后，物体</a:t>
            </a:r>
            <a:r>
              <a:rPr lang="en-US" altLang="zh-CN" sz="2400" b="1">
                <a:solidFill>
                  <a:schemeClr val="bg1"/>
                </a:solidFill>
                <a:latin typeface="+mn-lt"/>
              </a:rPr>
              <a:t>A</a:t>
            </a:r>
            <a:r>
              <a:rPr lang="zh-CN" altLang="en-US" sz="2400" b="1">
                <a:solidFill>
                  <a:schemeClr val="bg1"/>
                </a:solidFill>
                <a:latin typeface="+mn-lt"/>
              </a:rPr>
              <a:t>沿摩擦系数为</a:t>
            </a:r>
            <a:r>
              <a:rPr lang="en-US" altLang="zh-CN" sz="2400" b="1">
                <a:solidFill>
                  <a:schemeClr val="bg1"/>
                </a:solidFill>
                <a:latin typeface="+mn-lt"/>
              </a:rPr>
              <a:t>μ</a:t>
            </a:r>
            <a:r>
              <a:rPr lang="zh-CN" altLang="en-US" sz="2400" b="1">
                <a:solidFill>
                  <a:schemeClr val="bg1"/>
                </a:solidFill>
                <a:latin typeface="+mn-lt"/>
              </a:rPr>
              <a:t>的水平面滑动。</a:t>
            </a:r>
            <a:endParaRPr lang="en-US" altLang="zh-CN" sz="2400" b="1">
              <a:solidFill>
                <a:schemeClr val="bg1"/>
              </a:solidFill>
              <a:latin typeface="+mn-lt"/>
            </a:endParaRPr>
          </a:p>
          <a:p>
            <a:r>
              <a:rPr lang="zh-CN" altLang="en-US" sz="2400" b="1">
                <a:solidFill>
                  <a:schemeClr val="bg1"/>
                </a:solidFill>
                <a:latin typeface="+mn-lt"/>
              </a:rPr>
              <a:t>求：物体</a:t>
            </a:r>
            <a:r>
              <a:rPr lang="en-US" altLang="zh-CN" sz="2400" b="1">
                <a:solidFill>
                  <a:schemeClr val="bg1"/>
                </a:solidFill>
                <a:latin typeface="+mn-lt"/>
              </a:rPr>
              <a:t>A</a:t>
            </a:r>
            <a:r>
              <a:rPr lang="zh-CN" altLang="en-US" sz="2400" b="1">
                <a:solidFill>
                  <a:schemeClr val="bg1"/>
                </a:solidFill>
                <a:latin typeface="+mn-lt"/>
              </a:rPr>
              <a:t>滑动的距离。</a:t>
            </a:r>
            <a:endParaRPr lang="en-US" altLang="zh-CN" sz="2400" b="1">
              <a:solidFill>
                <a:schemeClr val="bg1"/>
              </a:solidFill>
              <a:latin typeface="+mn-lt"/>
            </a:endParaRPr>
          </a:p>
        </p:txBody>
      </p:sp>
      <p:pic>
        <p:nvPicPr>
          <p:cNvPr id="5529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6280" y="260648"/>
            <a:ext cx="2236788" cy="193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a:spLocks noChangeArrowheads="1"/>
          </p:cNvSpPr>
          <p:nvPr/>
        </p:nvSpPr>
        <p:spPr bwMode="auto">
          <a:xfrm>
            <a:off x="251520" y="2311433"/>
            <a:ext cx="841362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hangingPunct="0"/>
            <a:r>
              <a:rPr lang="zh-CN" sz="2400" b="1" dirty="0">
                <a:solidFill>
                  <a:schemeClr val="bg1"/>
                </a:solidFill>
                <a:latin typeface="+mn-lt"/>
                <a:cs typeface="Times New Roman" pitchFamily="18" charset="0"/>
              </a:rPr>
              <a:t>解：整个过程分为三个阶段：</a:t>
            </a:r>
            <a:endParaRPr lang="zh-CN" sz="1100" b="1" dirty="0">
              <a:solidFill>
                <a:schemeClr val="bg1"/>
              </a:solidFill>
              <a:latin typeface="+mn-lt"/>
            </a:endParaRPr>
          </a:p>
          <a:p>
            <a:pPr eaLnBrk="0" hangingPunct="0"/>
            <a:r>
              <a:rPr lang="en-US" altLang="zh-CN" sz="2400" b="1" dirty="0">
                <a:solidFill>
                  <a:schemeClr val="bg1"/>
                </a:solidFill>
                <a:latin typeface="+mn-lt"/>
                <a:cs typeface="Times New Roman" pitchFamily="18" charset="0"/>
              </a:rPr>
              <a:t>1</a:t>
            </a:r>
            <a:r>
              <a:rPr lang="zh-CN" altLang="en-US" sz="2400" b="1" dirty="0">
                <a:solidFill>
                  <a:schemeClr val="bg1"/>
                </a:solidFill>
                <a:latin typeface="+mn-lt"/>
                <a:cs typeface="Times New Roman" pitchFamily="18" charset="0"/>
              </a:rPr>
              <a:t>、杆由水平位置绕端点的轴转动：刚体机械能守恒</a:t>
            </a:r>
            <a:endParaRPr lang="zh-CN" altLang="en-US" sz="1100" b="1" dirty="0">
              <a:solidFill>
                <a:schemeClr val="bg1"/>
              </a:solidFill>
              <a:latin typeface="+mn-lt"/>
            </a:endParaRPr>
          </a:p>
          <a:p>
            <a:pPr eaLnBrk="0" hangingPunct="0"/>
            <a:r>
              <a:rPr lang="en-US" altLang="zh-CN" sz="2400" b="1" dirty="0">
                <a:solidFill>
                  <a:schemeClr val="bg1"/>
                </a:solidFill>
                <a:latin typeface="+mn-lt"/>
                <a:cs typeface="Times New Roman" pitchFamily="18" charset="0"/>
              </a:rPr>
              <a:t>2</a:t>
            </a:r>
            <a:r>
              <a:rPr lang="zh-CN" altLang="en-US" sz="2400" b="1" dirty="0">
                <a:solidFill>
                  <a:schemeClr val="bg1"/>
                </a:solidFill>
                <a:latin typeface="+mn-lt"/>
                <a:cs typeface="Times New Roman" pitchFamily="18" charset="0"/>
              </a:rPr>
              <a:t>、杆与</a:t>
            </a:r>
            <a:r>
              <a:rPr lang="en-US" altLang="zh-CN" sz="2400" b="1" dirty="0">
                <a:solidFill>
                  <a:schemeClr val="bg1"/>
                </a:solidFill>
                <a:latin typeface="+mn-lt"/>
                <a:cs typeface="Times New Roman" pitchFamily="18" charset="0"/>
              </a:rPr>
              <a:t>A</a:t>
            </a:r>
            <a:r>
              <a:rPr lang="zh-CN" altLang="en-US" sz="2400" b="1" dirty="0">
                <a:solidFill>
                  <a:schemeClr val="bg1"/>
                </a:solidFill>
                <a:latin typeface="+mn-lt"/>
                <a:cs typeface="Times New Roman" pitchFamily="18" charset="0"/>
              </a:rPr>
              <a:t>作完全非弹性碰撞，刚体与质点组成的系统</a:t>
            </a:r>
            <a:r>
              <a:rPr lang="zh-CN" altLang="en-US" sz="2400" b="1" dirty="0">
                <a:solidFill>
                  <a:srgbClr val="FFC000"/>
                </a:solidFill>
                <a:latin typeface="+mn-lt"/>
                <a:cs typeface="Times New Roman" pitchFamily="18" charset="0"/>
              </a:rPr>
              <a:t>动量矩守恒，注意不是动量守恒！    </a:t>
            </a:r>
            <a:r>
              <a:rPr lang="en-US" altLang="zh-CN" sz="2400" b="1" dirty="0">
                <a:solidFill>
                  <a:srgbClr val="FFC000"/>
                </a:solidFill>
                <a:latin typeface="+mn-lt"/>
                <a:cs typeface="Times New Roman" pitchFamily="18" charset="0"/>
              </a:rPr>
              <a:t>(</a:t>
            </a:r>
            <a:r>
              <a:rPr lang="zh-CN" altLang="en-US" sz="2400" b="1" dirty="0">
                <a:solidFill>
                  <a:srgbClr val="FFC000"/>
                </a:solidFill>
                <a:latin typeface="+mn-lt"/>
                <a:cs typeface="Times New Roman" pitchFamily="18" charset="0"/>
              </a:rPr>
              <a:t>思考为什么？</a:t>
            </a:r>
            <a:r>
              <a:rPr lang="en-US" altLang="zh-CN" sz="2400" b="1" dirty="0">
                <a:solidFill>
                  <a:srgbClr val="FFC000"/>
                </a:solidFill>
                <a:latin typeface="+mn-lt"/>
                <a:cs typeface="Times New Roman" pitchFamily="18" charset="0"/>
              </a:rPr>
              <a:t>)</a:t>
            </a:r>
            <a:endParaRPr lang="zh-CN" altLang="en-US" sz="1100" b="1" dirty="0">
              <a:solidFill>
                <a:srgbClr val="FFC000"/>
              </a:solidFill>
              <a:latin typeface="+mn-lt"/>
            </a:endParaRPr>
          </a:p>
          <a:p>
            <a:pPr eaLnBrk="0" hangingPunct="0"/>
            <a:r>
              <a:rPr lang="en-US" altLang="zh-CN" sz="2400" b="1" dirty="0">
                <a:solidFill>
                  <a:schemeClr val="bg1"/>
                </a:solidFill>
                <a:latin typeface="+mn-lt"/>
                <a:cs typeface="Times New Roman" pitchFamily="18" charset="0"/>
              </a:rPr>
              <a:t>3</a:t>
            </a:r>
            <a:r>
              <a:rPr lang="zh-CN" altLang="en-US" sz="2400" b="1" dirty="0">
                <a:solidFill>
                  <a:schemeClr val="bg1"/>
                </a:solidFill>
                <a:latin typeface="+mn-lt"/>
                <a:cs typeface="Times New Roman" pitchFamily="18" charset="0"/>
              </a:rPr>
              <a:t>、质点</a:t>
            </a:r>
            <a:r>
              <a:rPr lang="en-US" altLang="zh-CN" sz="2400" b="1" dirty="0">
                <a:solidFill>
                  <a:schemeClr val="bg1"/>
                </a:solidFill>
                <a:latin typeface="+mn-lt"/>
                <a:cs typeface="Times New Roman" pitchFamily="18" charset="0"/>
              </a:rPr>
              <a:t>A</a:t>
            </a:r>
            <a:r>
              <a:rPr lang="zh-CN" altLang="en-US" sz="2400" b="1" dirty="0">
                <a:solidFill>
                  <a:schemeClr val="bg1"/>
                </a:solidFill>
                <a:latin typeface="+mn-lt"/>
                <a:cs typeface="Times New Roman" pitchFamily="18" charset="0"/>
              </a:rPr>
              <a:t>滑动：动能被摩擦力耗散掉。</a:t>
            </a:r>
            <a:endParaRPr lang="zh-CN" altLang="en-US" sz="1100" b="1" dirty="0">
              <a:solidFill>
                <a:schemeClr val="bg1"/>
              </a:solidFill>
              <a:latin typeface="+mn-lt"/>
            </a:endParaRPr>
          </a:p>
        </p:txBody>
      </p:sp>
      <p:sp>
        <p:nvSpPr>
          <p:cNvPr id="4" name="Rectangle 4"/>
          <p:cNvSpPr>
            <a:spLocks noChangeArrowheads="1"/>
          </p:cNvSpPr>
          <p:nvPr/>
        </p:nvSpPr>
        <p:spPr bwMode="auto">
          <a:xfrm>
            <a:off x="1331640" y="4300538"/>
            <a:ext cx="5688632"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hangingPunct="0"/>
            <a:r>
              <a:rPr lang="zh-CN" sz="2400" b="1" dirty="0">
                <a:solidFill>
                  <a:schemeClr val="bg1"/>
                </a:solidFill>
                <a:latin typeface="+mn-lt"/>
                <a:cs typeface="Times New Roman" pitchFamily="18" charset="0"/>
              </a:rPr>
              <a:t>第一阶段：机械能守恒</a:t>
            </a:r>
            <a:endParaRPr lang="en-US" altLang="zh-CN" sz="1100" b="1" dirty="0">
              <a:solidFill>
                <a:schemeClr val="bg1"/>
              </a:solidFill>
              <a:latin typeface="+mn-lt"/>
            </a:endParaRPr>
          </a:p>
          <a:p>
            <a:pPr eaLnBrk="0" hangingPunct="0"/>
            <a:r>
              <a:rPr lang="en-US" altLang="zh-CN" sz="1100" b="1" dirty="0">
                <a:solidFill>
                  <a:schemeClr val="bg1"/>
                </a:solidFill>
                <a:latin typeface="+mn-lt"/>
                <a:cs typeface="Times New Roman" pitchFamily="18" charset="0"/>
              </a:rPr>
              <a:t>                      </a:t>
            </a:r>
            <a:r>
              <a:rPr lang="zh-CN" altLang="en-US" sz="2400" b="1" dirty="0">
                <a:solidFill>
                  <a:schemeClr val="bg1"/>
                </a:solidFill>
                <a:latin typeface="+mn-lt"/>
                <a:cs typeface="Times New Roman" pitchFamily="18" charset="0"/>
              </a:rPr>
              <a:t>动能	</a:t>
            </a:r>
            <a:r>
              <a:rPr lang="zh-CN" altLang="en-US" sz="2400" b="1">
                <a:solidFill>
                  <a:schemeClr val="bg1"/>
                </a:solidFill>
                <a:latin typeface="+mn-lt"/>
                <a:cs typeface="Times New Roman" pitchFamily="18" charset="0"/>
              </a:rPr>
              <a:t>	           </a:t>
            </a:r>
            <a:r>
              <a:rPr lang="zh-CN" altLang="en-US" sz="2400" b="1" dirty="0">
                <a:solidFill>
                  <a:schemeClr val="bg1"/>
                </a:solidFill>
                <a:latin typeface="+mn-lt"/>
                <a:cs typeface="Times New Roman" pitchFamily="18" charset="0"/>
              </a:rPr>
              <a:t>	势能</a:t>
            </a:r>
            <a:endParaRPr lang="zh-CN" altLang="en-US" sz="1100" b="1" dirty="0">
              <a:solidFill>
                <a:schemeClr val="bg1"/>
              </a:solidFill>
              <a:latin typeface="+mn-lt"/>
            </a:endParaRPr>
          </a:p>
          <a:p>
            <a:pPr eaLnBrk="0" hangingPunct="0"/>
            <a:r>
              <a:rPr lang="zh-CN" altLang="en-US" sz="2400" b="1" dirty="0">
                <a:solidFill>
                  <a:schemeClr val="bg1"/>
                </a:solidFill>
                <a:latin typeface="+mn-lt"/>
                <a:cs typeface="Times New Roman" pitchFamily="18" charset="0"/>
              </a:rPr>
              <a:t>初：     </a:t>
            </a:r>
            <a:r>
              <a:rPr lang="en-US" altLang="zh-CN" sz="2400" b="1">
                <a:solidFill>
                  <a:schemeClr val="bg1"/>
                </a:solidFill>
                <a:latin typeface="+mn-lt"/>
                <a:cs typeface="Times New Roman" pitchFamily="18" charset="0"/>
              </a:rPr>
              <a:t>0                              </a:t>
            </a:r>
            <a:r>
              <a:rPr lang="en-US" altLang="zh-CN" sz="2400" b="1" i="1">
                <a:solidFill>
                  <a:schemeClr val="bg1"/>
                </a:solidFill>
                <a:latin typeface="+mn-lt"/>
                <a:cs typeface="Times New Roman" pitchFamily="18" charset="0"/>
              </a:rPr>
              <a:t>MgL</a:t>
            </a:r>
            <a:r>
              <a:rPr lang="en-US" altLang="zh-CN" sz="2400" b="1">
                <a:solidFill>
                  <a:schemeClr val="bg1"/>
                </a:solidFill>
                <a:latin typeface="+mn-lt"/>
                <a:cs typeface="Times New Roman" pitchFamily="18" charset="0"/>
              </a:rPr>
              <a:t>/2</a:t>
            </a:r>
            <a:endParaRPr lang="en-US" altLang="zh-CN" sz="1100" b="1" dirty="0">
              <a:solidFill>
                <a:schemeClr val="bg1"/>
              </a:solidFill>
              <a:latin typeface="+mn-lt"/>
            </a:endParaRPr>
          </a:p>
          <a:p>
            <a:pPr eaLnBrk="0" hangingPunct="0"/>
            <a:r>
              <a:rPr lang="zh-CN" altLang="en-US" sz="2400" b="1" dirty="0">
                <a:solidFill>
                  <a:schemeClr val="bg1"/>
                </a:solidFill>
                <a:latin typeface="+mn-lt"/>
                <a:cs typeface="Times New Roman" pitchFamily="18" charset="0"/>
              </a:rPr>
              <a:t>终：	  </a:t>
            </a:r>
            <a:r>
              <a:rPr lang="en-US" altLang="zh-CN" sz="2400" b="1" dirty="0">
                <a:solidFill>
                  <a:schemeClr val="bg1"/>
                </a:solidFill>
                <a:latin typeface="+mn-lt"/>
                <a:cs typeface="Times New Roman" pitchFamily="18" charset="0"/>
              </a:rPr>
              <a:t>1/2</a:t>
            </a:r>
            <a:r>
              <a:rPr lang="en-US" altLang="zh-CN" sz="2400" b="1" i="1" dirty="0">
                <a:solidFill>
                  <a:schemeClr val="bg1"/>
                </a:solidFill>
                <a:latin typeface="+mn-lt"/>
                <a:cs typeface="Times New Roman" pitchFamily="18" charset="0"/>
              </a:rPr>
              <a:t>J</a:t>
            </a:r>
            <a:r>
              <a:rPr lang="en-US" altLang="zh-CN" sz="2400" b="1" i="1" baseline="-30000" dirty="0">
                <a:solidFill>
                  <a:schemeClr val="bg1"/>
                </a:solidFill>
                <a:latin typeface="+mn-lt"/>
                <a:cs typeface="Times New Roman" pitchFamily="18" charset="0"/>
              </a:rPr>
              <a:t>z</a:t>
            </a:r>
            <a:r>
              <a:rPr lang="en-US" altLang="zh-CN" sz="2400" b="1" i="1" dirty="0">
                <a:solidFill>
                  <a:schemeClr val="bg1"/>
                </a:solidFill>
                <a:latin typeface="+mn-lt"/>
                <a:cs typeface="Times New Roman" pitchFamily="18" charset="0"/>
              </a:rPr>
              <a:t>ω</a:t>
            </a:r>
            <a:r>
              <a:rPr lang="en-US" altLang="zh-CN" sz="2400" b="1" baseline="30000" dirty="0">
                <a:solidFill>
                  <a:schemeClr val="bg1"/>
                </a:solidFill>
                <a:latin typeface="+mn-lt"/>
                <a:cs typeface="Times New Roman" pitchFamily="18" charset="0"/>
              </a:rPr>
              <a:t>2</a:t>
            </a:r>
            <a:r>
              <a:rPr lang="en-US" altLang="zh-CN" sz="2400" b="1" dirty="0">
                <a:solidFill>
                  <a:schemeClr val="bg1"/>
                </a:solidFill>
                <a:latin typeface="+mn-lt"/>
                <a:cs typeface="Times New Roman" pitchFamily="18" charset="0"/>
              </a:rPr>
              <a:t>                         0</a:t>
            </a:r>
            <a:endParaRPr lang="en-US" altLang="zh-CN" sz="1100" b="1" dirty="0">
              <a:solidFill>
                <a:schemeClr val="bg1"/>
              </a:solidFill>
              <a:latin typeface="+mn-lt"/>
            </a:endParaRPr>
          </a:p>
          <a:p>
            <a:pPr eaLnBrk="0" hangingPunct="0"/>
            <a:r>
              <a:rPr lang="en-US" altLang="zh-CN" sz="2400" b="1" dirty="0">
                <a:solidFill>
                  <a:schemeClr val="bg1"/>
                </a:solidFill>
                <a:latin typeface="+mn-lt"/>
                <a:cs typeface="Times New Roman" pitchFamily="18" charset="0"/>
              </a:rPr>
              <a:t>∴  1/2</a:t>
            </a:r>
            <a:r>
              <a:rPr lang="en-US" altLang="zh-CN" sz="2400" b="1" i="1" dirty="0">
                <a:solidFill>
                  <a:schemeClr val="bg1"/>
                </a:solidFill>
                <a:latin typeface="+mn-lt"/>
                <a:cs typeface="Times New Roman" pitchFamily="18" charset="0"/>
              </a:rPr>
              <a:t>J</a:t>
            </a:r>
            <a:r>
              <a:rPr lang="en-US" altLang="zh-CN" sz="2400" b="1" i="1" baseline="-30000" dirty="0">
                <a:solidFill>
                  <a:schemeClr val="bg1"/>
                </a:solidFill>
                <a:latin typeface="+mn-lt"/>
                <a:cs typeface="Times New Roman" pitchFamily="18" charset="0"/>
              </a:rPr>
              <a:t>z</a:t>
            </a:r>
            <a:r>
              <a:rPr lang="en-US" altLang="zh-CN" sz="2400" b="1" i="1" dirty="0">
                <a:solidFill>
                  <a:schemeClr val="bg1"/>
                </a:solidFill>
                <a:latin typeface="+mn-lt"/>
                <a:cs typeface="Times New Roman" pitchFamily="18" charset="0"/>
              </a:rPr>
              <a:t>ω</a:t>
            </a:r>
            <a:r>
              <a:rPr lang="en-US" altLang="zh-CN" sz="2400" b="1" baseline="30000" dirty="0">
                <a:solidFill>
                  <a:schemeClr val="bg1"/>
                </a:solidFill>
                <a:latin typeface="+mn-lt"/>
                <a:cs typeface="Times New Roman" pitchFamily="18" charset="0"/>
              </a:rPr>
              <a:t>2</a:t>
            </a:r>
            <a:r>
              <a:rPr lang="zh-CN" altLang="en-US" sz="2400" b="1">
                <a:solidFill>
                  <a:schemeClr val="bg1"/>
                </a:solidFill>
                <a:latin typeface="+mn-lt"/>
                <a:cs typeface="Times New Roman" pitchFamily="18" charset="0"/>
              </a:rPr>
              <a:t>＝</a:t>
            </a:r>
            <a:r>
              <a:rPr lang="en-US" altLang="zh-CN" sz="2400" b="1" i="1">
                <a:solidFill>
                  <a:schemeClr val="bg1"/>
                </a:solidFill>
                <a:latin typeface="+mn-lt"/>
                <a:cs typeface="Times New Roman" pitchFamily="18" charset="0"/>
              </a:rPr>
              <a:t>MgL</a:t>
            </a:r>
            <a:r>
              <a:rPr lang="en-US" altLang="zh-CN" sz="2400" b="1">
                <a:solidFill>
                  <a:schemeClr val="bg1"/>
                </a:solidFill>
                <a:latin typeface="+mn-lt"/>
                <a:cs typeface="Times New Roman" pitchFamily="18" charset="0"/>
              </a:rPr>
              <a:t>/2     </a:t>
            </a:r>
            <a:r>
              <a:rPr lang="zh-CN" altLang="en-US" sz="2400" b="1" dirty="0">
                <a:solidFill>
                  <a:schemeClr val="bg1"/>
                </a:solidFill>
                <a:latin typeface="+mn-lt"/>
                <a:cs typeface="Times New Roman" pitchFamily="18" charset="0"/>
              </a:rPr>
              <a:t>其中</a:t>
            </a:r>
            <a:r>
              <a:rPr lang="en-US" altLang="zh-CN" sz="2400" b="1" i="1" dirty="0" err="1">
                <a:solidFill>
                  <a:schemeClr val="bg1"/>
                </a:solidFill>
                <a:latin typeface="+mn-lt"/>
                <a:cs typeface="Times New Roman" pitchFamily="18" charset="0"/>
              </a:rPr>
              <a:t>J</a:t>
            </a:r>
            <a:r>
              <a:rPr lang="en-US" altLang="zh-CN" sz="2400" b="1" i="1" baseline="-30000" dirty="0" err="1">
                <a:solidFill>
                  <a:schemeClr val="bg1"/>
                </a:solidFill>
                <a:latin typeface="+mn-lt"/>
                <a:cs typeface="Times New Roman" pitchFamily="18" charset="0"/>
              </a:rPr>
              <a:t>z</a:t>
            </a:r>
            <a:r>
              <a:rPr lang="zh-CN" altLang="en-US" sz="2400" b="1" dirty="0">
                <a:solidFill>
                  <a:schemeClr val="bg1"/>
                </a:solidFill>
                <a:latin typeface="+mn-lt"/>
                <a:cs typeface="Times New Roman" pitchFamily="18" charset="0"/>
              </a:rPr>
              <a:t>＝</a:t>
            </a:r>
            <a:r>
              <a:rPr lang="en-US" altLang="zh-CN" sz="2400" b="1" dirty="0">
                <a:solidFill>
                  <a:schemeClr val="bg1"/>
                </a:solidFill>
                <a:latin typeface="+mn-lt"/>
                <a:cs typeface="Times New Roman" pitchFamily="18" charset="0"/>
              </a:rPr>
              <a:t>1/3</a:t>
            </a:r>
            <a:r>
              <a:rPr lang="en-US" altLang="zh-CN" sz="2400" b="1" i="1" dirty="0">
                <a:solidFill>
                  <a:schemeClr val="bg1"/>
                </a:solidFill>
                <a:latin typeface="+mn-lt"/>
                <a:cs typeface="Times New Roman" pitchFamily="18" charset="0"/>
              </a:rPr>
              <a:t>ML</a:t>
            </a:r>
            <a:r>
              <a:rPr lang="en-US" altLang="zh-CN" sz="2400" b="1" baseline="30000" dirty="0">
                <a:solidFill>
                  <a:schemeClr val="bg1"/>
                </a:solidFill>
                <a:latin typeface="+mn-lt"/>
                <a:cs typeface="Times New Roman" pitchFamily="18" charset="0"/>
              </a:rPr>
              <a:t>2</a:t>
            </a:r>
            <a:endParaRPr lang="en-US" altLang="zh-CN" sz="1100" b="1" dirty="0">
              <a:solidFill>
                <a:schemeClr val="bg1"/>
              </a:solidFill>
              <a:latin typeface="+mn-lt"/>
            </a:endParaRPr>
          </a:p>
          <a:p>
            <a:pPr eaLnBrk="0" hangingPunct="0"/>
            <a:r>
              <a:rPr lang="en-US" altLang="zh-CN" sz="2400" b="1" dirty="0">
                <a:solidFill>
                  <a:schemeClr val="bg1"/>
                </a:solidFill>
                <a:latin typeface="+mn-lt"/>
                <a:cs typeface="Times New Roman" pitchFamily="18" charset="0"/>
              </a:rPr>
              <a:t>∴  </a:t>
            </a:r>
            <a:r>
              <a:rPr lang="en-US" altLang="zh-CN" sz="2400" b="1" i="1" dirty="0">
                <a:solidFill>
                  <a:schemeClr val="bg1"/>
                </a:solidFill>
                <a:latin typeface="+mn-lt"/>
                <a:cs typeface="Times New Roman" pitchFamily="18" charset="0"/>
              </a:rPr>
              <a:t>ω</a:t>
            </a:r>
            <a:r>
              <a:rPr lang="en-US" altLang="zh-CN" sz="2400" b="1" baseline="30000" dirty="0">
                <a:solidFill>
                  <a:schemeClr val="bg1"/>
                </a:solidFill>
                <a:latin typeface="+mn-lt"/>
                <a:cs typeface="Times New Roman" pitchFamily="18" charset="0"/>
              </a:rPr>
              <a:t>2</a:t>
            </a:r>
            <a:r>
              <a:rPr lang="zh-CN" altLang="en-US" sz="2400" b="1" dirty="0">
                <a:solidFill>
                  <a:schemeClr val="bg1"/>
                </a:solidFill>
                <a:latin typeface="+mn-lt"/>
                <a:cs typeface="Times New Roman" pitchFamily="18" charset="0"/>
              </a:rPr>
              <a:t>＝</a:t>
            </a:r>
            <a:r>
              <a:rPr lang="en-US" altLang="zh-CN" sz="2400" b="1" dirty="0">
                <a:solidFill>
                  <a:schemeClr val="bg1"/>
                </a:solidFill>
                <a:latin typeface="+mn-lt"/>
                <a:cs typeface="Times New Roman" pitchFamily="18" charset="0"/>
              </a:rPr>
              <a:t>3</a:t>
            </a:r>
            <a:r>
              <a:rPr lang="en-US" altLang="zh-CN" sz="2400" b="1" i="1" dirty="0">
                <a:solidFill>
                  <a:schemeClr val="bg1"/>
                </a:solidFill>
                <a:latin typeface="+mn-lt"/>
                <a:cs typeface="Times New Roman" pitchFamily="18" charset="0"/>
              </a:rPr>
              <a:t>g/L</a:t>
            </a:r>
            <a:endParaRPr lang="en-US" altLang="zh-CN" sz="1100" b="1" i="1" dirty="0">
              <a:solidFill>
                <a:schemeClr val="bg1"/>
              </a:solidFill>
              <a:latin typeface="+mn-lt"/>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942444" y="228600"/>
            <a:ext cx="7273106" cy="3910989"/>
            <a:chOff x="986573" y="330883"/>
            <a:chExt cx="7273106" cy="3910989"/>
          </a:xfrm>
        </p:grpSpPr>
        <p:sp>
          <p:nvSpPr>
            <p:cNvPr id="56322" name="矩形 1"/>
            <p:cNvSpPr>
              <a:spLocks noChangeArrowheads="1"/>
            </p:cNvSpPr>
            <p:nvPr/>
          </p:nvSpPr>
          <p:spPr bwMode="auto">
            <a:xfrm>
              <a:off x="986573" y="330883"/>
              <a:ext cx="727310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400" b="1" dirty="0">
                  <a:solidFill>
                    <a:srgbClr val="FFFFFF"/>
                  </a:solidFill>
                  <a:latin typeface="Times New Roman" pitchFamily="18" charset="0"/>
                  <a:cs typeface="Times New Roman" pitchFamily="18" charset="0"/>
                </a:rPr>
                <a:t>第二阶段：杆和质点</a:t>
              </a:r>
              <a:r>
                <a:rPr lang="en-US" altLang="zh-CN" sz="2400" b="1" dirty="0">
                  <a:solidFill>
                    <a:srgbClr val="FFFFFF"/>
                  </a:solidFill>
                  <a:latin typeface="Times New Roman" pitchFamily="18" charset="0"/>
                  <a:cs typeface="Times New Roman" pitchFamily="18" charset="0"/>
                </a:rPr>
                <a:t>A</a:t>
              </a:r>
              <a:r>
                <a:rPr lang="zh-CN" altLang="en-US" sz="2400" b="1" dirty="0">
                  <a:solidFill>
                    <a:srgbClr val="FFFFFF"/>
                  </a:solidFill>
                  <a:latin typeface="Times New Roman" pitchFamily="18" charset="0"/>
                  <a:cs typeface="Times New Roman" pitchFamily="18" charset="0"/>
                </a:rPr>
                <a:t>组成的系统动量矩守恒</a:t>
              </a:r>
              <a:endParaRPr lang="zh-CN" altLang="en-US" sz="1100" b="1" dirty="0">
                <a:solidFill>
                  <a:srgbClr val="FFFFFF"/>
                </a:solidFill>
              </a:endParaRPr>
            </a:p>
            <a:p>
              <a:pPr eaLnBrk="0" hangingPunct="0"/>
              <a:r>
                <a:rPr lang="zh-CN" altLang="en-US" sz="2400" b="1" dirty="0">
                  <a:solidFill>
                    <a:srgbClr val="FFFFFF"/>
                  </a:solidFill>
                  <a:latin typeface="Times New Roman" pitchFamily="18" charset="0"/>
                  <a:cs typeface="Times New Roman" pitchFamily="18" charset="0"/>
                </a:rPr>
                <a:t>需要分别求出初、末状态</a:t>
              </a:r>
              <a:r>
                <a:rPr lang="zh-CN" altLang="en-US" sz="2400" b="1" dirty="0">
                  <a:solidFill>
                    <a:srgbClr val="FFC000"/>
                  </a:solidFill>
                  <a:latin typeface="Times New Roman" pitchFamily="18" charset="0"/>
                  <a:cs typeface="Times New Roman" pitchFamily="18" charset="0"/>
                </a:rPr>
                <a:t>杆和质点的动量矩</a:t>
              </a:r>
              <a:endParaRPr lang="en-US" altLang="zh-CN" sz="2400" b="1" dirty="0">
                <a:solidFill>
                  <a:srgbClr val="FFC000"/>
                </a:solidFill>
                <a:latin typeface="Times New Roman" pitchFamily="18" charset="0"/>
                <a:cs typeface="Times New Roman" pitchFamily="18" charset="0"/>
              </a:endParaRPr>
            </a:p>
            <a:p>
              <a:pPr eaLnBrk="0" hangingPunct="0"/>
              <a:r>
                <a:rPr lang="zh-CN" altLang="en-US" sz="2400" b="1" dirty="0">
                  <a:solidFill>
                    <a:srgbClr val="FFFFFF"/>
                  </a:solidFill>
                  <a:latin typeface="Times New Roman" pitchFamily="18" charset="0"/>
                  <a:cs typeface="Times New Roman" pitchFamily="18" charset="0"/>
                </a:rPr>
                <a:t>初： </a:t>
              </a:r>
              <a:r>
                <a:rPr lang="en-US" altLang="zh-CN" sz="2400" b="1" i="1" dirty="0" err="1">
                  <a:solidFill>
                    <a:srgbClr val="FFFFFF"/>
                  </a:solidFill>
                  <a:latin typeface="Times New Roman" pitchFamily="18" charset="0"/>
                  <a:cs typeface="Times New Roman" pitchFamily="18" charset="0"/>
                </a:rPr>
                <a:t>J</a:t>
              </a:r>
              <a:r>
                <a:rPr lang="en-US" altLang="zh-CN" sz="2400" b="1" i="1" baseline="-30000" dirty="0" err="1">
                  <a:solidFill>
                    <a:srgbClr val="FFFFFF"/>
                  </a:solidFill>
                  <a:latin typeface="Times New Roman" pitchFamily="18" charset="0"/>
                  <a:cs typeface="Times New Roman" pitchFamily="18" charset="0"/>
                </a:rPr>
                <a:t>z</a:t>
              </a:r>
              <a:r>
                <a:rPr lang="en-US" altLang="zh-CN" sz="2400" b="1" i="1" dirty="0" err="1">
                  <a:solidFill>
                    <a:srgbClr val="FFFFFF"/>
                  </a:solidFill>
                  <a:latin typeface="Times New Roman" pitchFamily="18" charset="0"/>
                  <a:cs typeface="Times New Roman" pitchFamily="18" charset="0"/>
                </a:rPr>
                <a:t>ω</a:t>
              </a:r>
              <a:r>
                <a:rPr lang="en-US" altLang="zh-CN" sz="2400" b="1" dirty="0">
                  <a:solidFill>
                    <a:srgbClr val="FFFFFF"/>
                  </a:solidFill>
                  <a:latin typeface="Times New Roman" pitchFamily="18" charset="0"/>
                  <a:cs typeface="Times New Roman" pitchFamily="18" charset="0"/>
                </a:rPr>
                <a:t>  </a:t>
              </a:r>
              <a:r>
                <a:rPr lang="zh-CN" altLang="en-US" sz="2400" b="1" dirty="0">
                  <a:solidFill>
                    <a:srgbClr val="FFFFFF"/>
                  </a:solidFill>
                  <a:latin typeface="Times New Roman" pitchFamily="18" charset="0"/>
                  <a:cs typeface="Times New Roman" pitchFamily="18" charset="0"/>
                </a:rPr>
                <a:t>； </a:t>
              </a:r>
              <a:endParaRPr lang="en-US" altLang="zh-CN" sz="2400" b="1" dirty="0">
                <a:solidFill>
                  <a:srgbClr val="FFFFFF"/>
                </a:solidFill>
                <a:latin typeface="Times New Roman" pitchFamily="18" charset="0"/>
                <a:cs typeface="Times New Roman" pitchFamily="18" charset="0"/>
              </a:endParaRPr>
            </a:p>
            <a:p>
              <a:pPr eaLnBrk="0" hangingPunct="0"/>
              <a:r>
                <a:rPr lang="zh-CN" altLang="en-US" sz="2400" b="1" dirty="0">
                  <a:solidFill>
                    <a:srgbClr val="FFFFFF"/>
                  </a:solidFill>
                  <a:latin typeface="Times New Roman" pitchFamily="18" charset="0"/>
                  <a:cs typeface="Times New Roman" pitchFamily="18" charset="0"/>
                </a:rPr>
                <a:t>终： </a:t>
              </a:r>
              <a:r>
                <a:rPr lang="en-US" altLang="zh-CN" sz="2400" b="1" i="1" dirty="0" err="1">
                  <a:solidFill>
                    <a:srgbClr val="FFFFFF"/>
                  </a:solidFill>
                  <a:latin typeface="Times New Roman" pitchFamily="18" charset="0"/>
                  <a:cs typeface="Times New Roman" pitchFamily="18" charset="0"/>
                </a:rPr>
                <a:t>J</a:t>
              </a:r>
              <a:r>
                <a:rPr lang="en-US" altLang="zh-CN" sz="2400" b="1" i="1" baseline="-30000" dirty="0" err="1">
                  <a:solidFill>
                    <a:srgbClr val="FFFFFF"/>
                  </a:solidFill>
                  <a:latin typeface="Times New Roman" pitchFamily="18" charset="0"/>
                  <a:cs typeface="Times New Roman" pitchFamily="18" charset="0"/>
                </a:rPr>
                <a:t>z</a:t>
              </a:r>
              <a:r>
                <a:rPr lang="en-US" altLang="zh-CN" sz="2400" b="1" i="1" dirty="0" err="1">
                  <a:solidFill>
                    <a:srgbClr val="FFFFFF"/>
                  </a:solidFill>
                  <a:latin typeface="Times New Roman" pitchFamily="18" charset="0"/>
                  <a:cs typeface="Times New Roman" pitchFamily="18" charset="0"/>
                </a:rPr>
                <a:t>ω</a:t>
              </a:r>
              <a:r>
                <a:rPr lang="en-US" altLang="zh-CN" sz="2400" b="1" i="1" dirty="0">
                  <a:solidFill>
                    <a:srgbClr val="FFFFFF"/>
                  </a:solidFill>
                  <a:cs typeface="Times New Roman" pitchFamily="18" charset="0"/>
                </a:rPr>
                <a:t>’</a:t>
              </a:r>
              <a:r>
                <a:rPr lang="en-US" altLang="zh-CN" sz="2400" b="1" dirty="0">
                  <a:solidFill>
                    <a:srgbClr val="FFFFFF"/>
                  </a:solidFill>
                  <a:latin typeface="Times New Roman" pitchFamily="18" charset="0"/>
                  <a:cs typeface="Times New Roman" pitchFamily="18" charset="0"/>
                </a:rPr>
                <a:t> </a:t>
              </a:r>
              <a:r>
                <a:rPr lang="zh-CN" altLang="en-US" sz="2400" b="1" dirty="0">
                  <a:solidFill>
                    <a:srgbClr val="FFFFFF"/>
                  </a:solidFill>
                  <a:latin typeface="Times New Roman" pitchFamily="18" charset="0"/>
                  <a:cs typeface="Times New Roman" pitchFamily="18" charset="0"/>
                </a:rPr>
                <a:t>＋ </a:t>
              </a:r>
              <a:r>
                <a:rPr lang="en-US" altLang="zh-CN" sz="2400" b="1" i="1" dirty="0">
                  <a:solidFill>
                    <a:srgbClr val="FFFFFF"/>
                  </a:solidFill>
                  <a:latin typeface="Times New Roman" pitchFamily="18" charset="0"/>
                  <a:cs typeface="Times New Roman" pitchFamily="18" charset="0"/>
                </a:rPr>
                <a:t>mL</a:t>
              </a:r>
              <a:r>
                <a:rPr lang="en-US" altLang="zh-CN" sz="2400" b="1" baseline="30000" dirty="0">
                  <a:solidFill>
                    <a:srgbClr val="FFFFFF"/>
                  </a:solidFill>
                  <a:latin typeface="Times New Roman" pitchFamily="18" charset="0"/>
                  <a:cs typeface="Times New Roman" pitchFamily="18" charset="0"/>
                </a:rPr>
                <a:t>2</a:t>
              </a:r>
              <a:r>
                <a:rPr lang="en-US" altLang="zh-CN" sz="2400" b="1" i="1" dirty="0">
                  <a:solidFill>
                    <a:srgbClr val="FFFFFF"/>
                  </a:solidFill>
                  <a:latin typeface="Times New Roman" pitchFamily="18" charset="0"/>
                  <a:cs typeface="Times New Roman" pitchFamily="18" charset="0"/>
                </a:rPr>
                <a:t>ω</a:t>
              </a:r>
              <a:r>
                <a:rPr lang="en-US" altLang="zh-CN" sz="2400" b="1" dirty="0">
                  <a:solidFill>
                    <a:srgbClr val="FFFFFF"/>
                  </a:solidFill>
                  <a:cs typeface="Times New Roman" pitchFamily="18" charset="0"/>
                </a:rPr>
                <a:t>’</a:t>
              </a:r>
              <a:endParaRPr lang="en-US" altLang="zh-CN" sz="2400" b="1" dirty="0">
                <a:solidFill>
                  <a:srgbClr val="FFFFFF"/>
                </a:solidFill>
                <a:latin typeface="Times New Roman" pitchFamily="18" charset="0"/>
                <a:cs typeface="Times New Roman" pitchFamily="18" charset="0"/>
              </a:endParaRPr>
            </a:p>
            <a:p>
              <a:pPr eaLnBrk="0" hangingPunct="0"/>
              <a:r>
                <a:rPr lang="en-US" altLang="zh-CN" sz="2400" b="1" dirty="0">
                  <a:solidFill>
                    <a:srgbClr val="FFFFFF"/>
                  </a:solidFill>
                  <a:latin typeface="Times New Roman" pitchFamily="18" charset="0"/>
                  <a:cs typeface="Times New Roman" pitchFamily="18" charset="0"/>
                </a:rPr>
                <a:t>∴  </a:t>
              </a:r>
              <a:r>
                <a:rPr lang="en-US" altLang="zh-CN" sz="2400" b="1" i="1" dirty="0" err="1">
                  <a:solidFill>
                    <a:srgbClr val="FFFFFF"/>
                  </a:solidFill>
                  <a:latin typeface="Times New Roman" pitchFamily="18" charset="0"/>
                  <a:cs typeface="Times New Roman" pitchFamily="18" charset="0"/>
                </a:rPr>
                <a:t>J</a:t>
              </a:r>
              <a:r>
                <a:rPr lang="en-US" altLang="zh-CN" sz="2400" b="1" i="1" baseline="-30000" dirty="0" err="1">
                  <a:solidFill>
                    <a:srgbClr val="FFFFFF"/>
                  </a:solidFill>
                  <a:latin typeface="Times New Roman" pitchFamily="18" charset="0"/>
                  <a:cs typeface="Times New Roman" pitchFamily="18" charset="0"/>
                </a:rPr>
                <a:t>z</a:t>
              </a:r>
              <a:r>
                <a:rPr lang="en-US" altLang="zh-CN" sz="2400" b="1" i="1" dirty="0" err="1">
                  <a:solidFill>
                    <a:srgbClr val="FFFFFF"/>
                  </a:solidFill>
                  <a:latin typeface="Times New Roman" pitchFamily="18" charset="0"/>
                  <a:cs typeface="Times New Roman" pitchFamily="18" charset="0"/>
                </a:rPr>
                <a:t>ω</a:t>
              </a:r>
              <a:r>
                <a:rPr lang="zh-CN" altLang="en-US" sz="2400" b="1" dirty="0">
                  <a:solidFill>
                    <a:srgbClr val="FFFFFF"/>
                  </a:solidFill>
                  <a:latin typeface="Times New Roman" pitchFamily="18" charset="0"/>
                  <a:cs typeface="Times New Roman" pitchFamily="18" charset="0"/>
                </a:rPr>
                <a:t>＝</a:t>
              </a:r>
              <a:r>
                <a:rPr lang="en-US" altLang="zh-CN" sz="2400" b="1" i="1" dirty="0" err="1">
                  <a:solidFill>
                    <a:srgbClr val="FFFFFF"/>
                  </a:solidFill>
                  <a:latin typeface="Times New Roman" pitchFamily="18" charset="0"/>
                  <a:cs typeface="Times New Roman" pitchFamily="18" charset="0"/>
                </a:rPr>
                <a:t>J</a:t>
              </a:r>
              <a:r>
                <a:rPr lang="en-US" altLang="zh-CN" sz="2400" b="1" i="1" baseline="-30000" dirty="0" err="1">
                  <a:solidFill>
                    <a:srgbClr val="FFFFFF"/>
                  </a:solidFill>
                  <a:latin typeface="Times New Roman" pitchFamily="18" charset="0"/>
                  <a:cs typeface="Times New Roman" pitchFamily="18" charset="0"/>
                </a:rPr>
                <a:t>z</a:t>
              </a:r>
              <a:r>
                <a:rPr lang="en-US" altLang="zh-CN" sz="2400" b="1" i="1" dirty="0" err="1">
                  <a:solidFill>
                    <a:srgbClr val="FFFFFF"/>
                  </a:solidFill>
                  <a:latin typeface="Times New Roman" pitchFamily="18" charset="0"/>
                  <a:cs typeface="Times New Roman" pitchFamily="18" charset="0"/>
                </a:rPr>
                <a:t>ω</a:t>
              </a:r>
              <a:r>
                <a:rPr lang="en-US" altLang="zh-CN" sz="2400" b="1" dirty="0">
                  <a:solidFill>
                    <a:srgbClr val="FFFFFF"/>
                  </a:solidFill>
                  <a:cs typeface="Times New Roman" pitchFamily="18" charset="0"/>
                </a:rPr>
                <a:t>’</a:t>
              </a:r>
              <a:r>
                <a:rPr lang="en-US" altLang="zh-CN" sz="2400" b="1" dirty="0">
                  <a:solidFill>
                    <a:srgbClr val="FFFFFF"/>
                  </a:solidFill>
                  <a:latin typeface="Times New Roman" pitchFamily="18" charset="0"/>
                  <a:cs typeface="Times New Roman" pitchFamily="18" charset="0"/>
                </a:rPr>
                <a:t> </a:t>
              </a:r>
              <a:r>
                <a:rPr lang="zh-CN" altLang="en-US" sz="2400" b="1" dirty="0">
                  <a:solidFill>
                    <a:srgbClr val="FFFFFF"/>
                  </a:solidFill>
                  <a:latin typeface="Times New Roman" pitchFamily="18" charset="0"/>
                  <a:cs typeface="Times New Roman" pitchFamily="18" charset="0"/>
                </a:rPr>
                <a:t>＋ </a:t>
              </a:r>
              <a:r>
                <a:rPr lang="en-US" altLang="zh-CN" sz="2400" b="1" i="1" dirty="0">
                  <a:solidFill>
                    <a:srgbClr val="FFFFFF"/>
                  </a:solidFill>
                  <a:latin typeface="Times New Roman" pitchFamily="18" charset="0"/>
                  <a:cs typeface="Times New Roman" pitchFamily="18" charset="0"/>
                </a:rPr>
                <a:t>mL</a:t>
              </a:r>
              <a:r>
                <a:rPr lang="en-US" altLang="zh-CN" sz="2400" b="1" baseline="30000" dirty="0">
                  <a:solidFill>
                    <a:srgbClr val="FFFFFF"/>
                  </a:solidFill>
                  <a:latin typeface="Times New Roman" pitchFamily="18" charset="0"/>
                  <a:cs typeface="Times New Roman" pitchFamily="18" charset="0"/>
                </a:rPr>
                <a:t>2</a:t>
              </a:r>
              <a:r>
                <a:rPr lang="en-US" altLang="zh-CN" sz="2400" b="1" i="1" dirty="0">
                  <a:solidFill>
                    <a:srgbClr val="FFFFFF"/>
                  </a:solidFill>
                  <a:latin typeface="Times New Roman" pitchFamily="18" charset="0"/>
                  <a:cs typeface="Times New Roman" pitchFamily="18" charset="0"/>
                </a:rPr>
                <a:t>ω</a:t>
              </a:r>
              <a:r>
                <a:rPr lang="en-US" altLang="zh-CN" sz="2400" b="1" dirty="0">
                  <a:solidFill>
                    <a:srgbClr val="FFFFFF"/>
                  </a:solidFill>
                  <a:cs typeface="Times New Roman" pitchFamily="18" charset="0"/>
                </a:rPr>
                <a:t>’</a:t>
              </a:r>
              <a:endParaRPr lang="en-US" altLang="zh-CN" sz="3200" b="1" dirty="0">
                <a:solidFill>
                  <a:srgbClr val="FFFFFF"/>
                </a:solidFill>
              </a:endParaRPr>
            </a:p>
          </p:txBody>
        </p:sp>
        <p:sp>
          <p:nvSpPr>
            <p:cNvPr id="56323" name="矩形 2"/>
            <p:cNvSpPr>
              <a:spLocks noChangeArrowheads="1"/>
            </p:cNvSpPr>
            <p:nvPr/>
          </p:nvSpPr>
          <p:spPr bwMode="auto">
            <a:xfrm>
              <a:off x="1036707" y="2444196"/>
              <a:ext cx="28841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dirty="0">
                  <a:solidFill>
                    <a:schemeClr val="bg1"/>
                  </a:solidFill>
                </a:rPr>
                <a:t>代入</a:t>
              </a:r>
              <a:r>
                <a:rPr lang="en-US" altLang="zh-CN" sz="2400" b="1" i="1" dirty="0" err="1">
                  <a:solidFill>
                    <a:schemeClr val="bg1"/>
                  </a:solidFill>
                  <a:latin typeface="+mn-lt"/>
                </a:rPr>
                <a:t>J</a:t>
              </a:r>
              <a:r>
                <a:rPr lang="en-US" altLang="zh-CN" sz="2400" b="1" i="1" baseline="-25000" dirty="0" err="1">
                  <a:solidFill>
                    <a:schemeClr val="bg1"/>
                  </a:solidFill>
                  <a:latin typeface="+mn-lt"/>
                </a:rPr>
                <a:t>z</a:t>
              </a:r>
              <a:r>
                <a:rPr lang="zh-CN" altLang="zh-CN" sz="2400" b="1" dirty="0">
                  <a:solidFill>
                    <a:schemeClr val="bg1"/>
                  </a:solidFill>
                  <a:latin typeface="+mn-lt"/>
                </a:rPr>
                <a:t>和</a:t>
              </a:r>
              <a:r>
                <a:rPr lang="en-US" altLang="zh-CN" sz="2400" b="1" i="1" dirty="0">
                  <a:solidFill>
                    <a:schemeClr val="bg1"/>
                  </a:solidFill>
                  <a:latin typeface="+mn-lt"/>
                </a:rPr>
                <a:t>ω</a:t>
              </a:r>
              <a:r>
                <a:rPr lang="zh-CN" altLang="zh-CN" sz="2400" b="1" dirty="0">
                  <a:solidFill>
                    <a:schemeClr val="bg1"/>
                  </a:solidFill>
                  <a:latin typeface="+mn-lt"/>
                </a:rPr>
                <a:t>值</a:t>
              </a:r>
              <a:r>
                <a:rPr lang="zh-CN" altLang="en-US" sz="2400" b="1" dirty="0">
                  <a:solidFill>
                    <a:schemeClr val="bg1"/>
                  </a:solidFill>
                  <a:latin typeface="+mn-lt"/>
                </a:rPr>
                <a:t>，</a:t>
              </a:r>
              <a:r>
                <a:rPr lang="zh-CN" altLang="zh-CN" sz="2400" b="1" dirty="0">
                  <a:solidFill>
                    <a:schemeClr val="bg1"/>
                  </a:solidFill>
                  <a:latin typeface="+mn-lt"/>
                </a:rPr>
                <a:t>得：</a:t>
              </a:r>
            </a:p>
          </p:txBody>
        </p:sp>
        <p:pic>
          <p:nvPicPr>
            <p:cNvPr id="5632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6707" y="3277173"/>
              <a:ext cx="3614737" cy="863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6325"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36096" y="3111572"/>
              <a:ext cx="1570038" cy="1130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6326"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327" name="Rectangle 4"/>
          <p:cNvSpPr>
            <a:spLocks noChangeArrowheads="1"/>
          </p:cNvSpPr>
          <p:nvPr/>
        </p:nvSpPr>
        <p:spPr bwMode="auto">
          <a:xfrm>
            <a:off x="0" y="10287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5" name="组合 4"/>
          <p:cNvGrpSpPr/>
          <p:nvPr/>
        </p:nvGrpSpPr>
        <p:grpSpPr>
          <a:xfrm>
            <a:off x="683568" y="4440163"/>
            <a:ext cx="7203254" cy="1895131"/>
            <a:chOff x="1043608" y="3332167"/>
            <a:chExt cx="7203254" cy="1895131"/>
          </a:xfrm>
        </p:grpSpPr>
        <p:pic>
          <p:nvPicPr>
            <p:cNvPr id="7577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70077" y="4301759"/>
              <a:ext cx="2393445" cy="811512"/>
            </a:xfrm>
            <a:prstGeom prst="rect">
              <a:avLst/>
            </a:prstGeom>
            <a:solidFill>
              <a:schemeClr val="bg1"/>
            </a:solidFill>
          </p:spPr>
        </p:pic>
        <p:pic>
          <p:nvPicPr>
            <p:cNvPr id="75777" name="Picture 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49980" y="4289995"/>
              <a:ext cx="2348296" cy="937303"/>
            </a:xfrm>
            <a:prstGeom prst="rect">
              <a:avLst/>
            </a:prstGeom>
            <a:solidFill>
              <a:schemeClr val="bg1"/>
            </a:solidFill>
          </p:spPr>
        </p:pic>
        <p:sp>
          <p:nvSpPr>
            <p:cNvPr id="2" name="Rectangle 3"/>
            <p:cNvSpPr>
              <a:spLocks noChangeArrowheads="1"/>
            </p:cNvSpPr>
            <p:nvPr/>
          </p:nvSpPr>
          <p:spPr bwMode="auto">
            <a:xfrm>
              <a:off x="1043608" y="3332167"/>
              <a:ext cx="7203254"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55600" algn="l" defTabSz="914400" rtl="0" eaLnBrk="1" fontAlgn="base" latinLnBrk="0" hangingPunct="1">
                <a:lnSpc>
                  <a:spcPct val="100000"/>
                </a:lnSpc>
                <a:spcBef>
                  <a:spcPct val="0"/>
                </a:spcBef>
                <a:spcAft>
                  <a:spcPct val="0"/>
                </a:spcAft>
                <a:buClrTx/>
                <a:buSzTx/>
                <a:buFontTx/>
                <a:buNone/>
                <a:tabLst/>
              </a:pPr>
              <a:r>
                <a:rPr lang="zh-CN" sz="2400" b="1" dirty="0">
                  <a:solidFill>
                    <a:srgbClr val="FFFFFF"/>
                  </a:solidFill>
                  <a:latin typeface="Times New Roman" pitchFamily="18" charset="0"/>
                  <a:cs typeface="Times New Roman" pitchFamily="18" charset="0"/>
                </a:rPr>
                <a:t>第三阶段，动能定理</a:t>
              </a:r>
            </a:p>
            <a:p>
              <a:pPr marL="0" marR="0" lvl="0" indent="355600" algn="l" defTabSz="914400" rtl="0" eaLnBrk="0" fontAlgn="base" latinLnBrk="0" hangingPunct="0">
                <a:lnSpc>
                  <a:spcPct val="100000"/>
                </a:lnSpc>
                <a:spcBef>
                  <a:spcPct val="0"/>
                </a:spcBef>
                <a:spcAft>
                  <a:spcPct val="0"/>
                </a:spcAft>
                <a:buClrTx/>
                <a:buSzTx/>
                <a:buFontTx/>
                <a:buNone/>
                <a:tabLst/>
              </a:pPr>
              <a:r>
                <a:rPr lang="zh-CN" altLang="en-US" sz="2400" b="1" dirty="0">
                  <a:solidFill>
                    <a:srgbClr val="FFFFFF"/>
                  </a:solidFill>
                  <a:latin typeface="Times New Roman" pitchFamily="18" charset="0"/>
                  <a:cs typeface="Times New Roman" pitchFamily="18" charset="0"/>
                </a:rPr>
                <a:t>物体</a:t>
              </a:r>
              <a:r>
                <a:rPr lang="en-US" altLang="zh-CN" sz="2400" b="1" dirty="0">
                  <a:solidFill>
                    <a:srgbClr val="FFFFFF"/>
                  </a:solidFill>
                  <a:latin typeface="Times New Roman" pitchFamily="18" charset="0"/>
                  <a:cs typeface="Times New Roman" pitchFamily="18" charset="0"/>
                </a:rPr>
                <a:t>A</a:t>
              </a:r>
              <a:r>
                <a:rPr lang="zh-CN" altLang="en-US" sz="2400" b="1" dirty="0">
                  <a:solidFill>
                    <a:srgbClr val="FFFFFF"/>
                  </a:solidFill>
                  <a:latin typeface="Times New Roman" pitchFamily="18" charset="0"/>
                  <a:cs typeface="Times New Roman" pitchFamily="18" charset="0"/>
                </a:rPr>
                <a:t>的速度：</a:t>
              </a:r>
              <a:r>
                <a:rPr lang="en-US" altLang="zh-CN" sz="2400" b="1" i="1" dirty="0" err="1">
                  <a:solidFill>
                    <a:srgbClr val="FFFFFF"/>
                  </a:solidFill>
                  <a:latin typeface="Times New Roman" pitchFamily="18" charset="0"/>
                  <a:cs typeface="Times New Roman" pitchFamily="18" charset="0"/>
                </a:rPr>
                <a:t>ω’L</a:t>
              </a:r>
              <a:r>
                <a:rPr lang="en-US" altLang="zh-CN" sz="2400" b="1" dirty="0">
                  <a:solidFill>
                    <a:srgbClr val="FFFFFF"/>
                  </a:solidFill>
                  <a:latin typeface="Times New Roman" pitchFamily="18" charset="0"/>
                  <a:cs typeface="Times New Roman" pitchFamily="18" charset="0"/>
                </a:rPr>
                <a:t> </a:t>
              </a:r>
              <a:r>
                <a:rPr lang="zh-CN" altLang="en-US" sz="2400" b="1" dirty="0">
                  <a:solidFill>
                    <a:srgbClr val="FFFFFF"/>
                  </a:solidFill>
                  <a:latin typeface="Times New Roman" pitchFamily="18" charset="0"/>
                  <a:cs typeface="Times New Roman" pitchFamily="18" charset="0"/>
                </a:rPr>
                <a:t>；摩擦力</a:t>
              </a:r>
              <a:r>
                <a:rPr lang="en-US" altLang="zh-CN" sz="2400" b="1" i="1" dirty="0" err="1">
                  <a:solidFill>
                    <a:srgbClr val="FFFFFF"/>
                  </a:solidFill>
                  <a:latin typeface="Times New Roman" pitchFamily="18" charset="0"/>
                  <a:cs typeface="Times New Roman" pitchFamily="18" charset="0"/>
                </a:rPr>
                <a:t>mgμ</a:t>
              </a:r>
              <a:r>
                <a:rPr lang="zh-CN" altLang="en-US" sz="2400" b="1" dirty="0">
                  <a:solidFill>
                    <a:srgbClr val="FFFFFF"/>
                  </a:solidFill>
                  <a:latin typeface="Times New Roman" pitchFamily="18" charset="0"/>
                  <a:cs typeface="Times New Roman" pitchFamily="18" charset="0"/>
                </a:rPr>
                <a:t>做功，动能减少</a:t>
              </a:r>
              <a:endParaRPr lang="en-US" altLang="zh-CN" sz="2400" b="1" dirty="0">
                <a:solidFill>
                  <a:srgbClr val="FFFFFF"/>
                </a:solidFill>
                <a:latin typeface="Times New Roman" pitchFamily="18" charset="0"/>
                <a:cs typeface="Times New Roman" pitchFamily="18" charset="0"/>
              </a:endParaRPr>
            </a:p>
            <a:p>
              <a:pPr marL="0" marR="0" lvl="0" indent="3556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grpSp>
      <p:sp>
        <p:nvSpPr>
          <p:cNvPr id="3" name="Rectangle 4"/>
          <p:cNvSpPr>
            <a:spLocks noChangeArrowheads="1"/>
          </p:cNvSpPr>
          <p:nvPr/>
        </p:nvSpPr>
        <p:spPr bwMode="auto">
          <a:xfrm>
            <a:off x="275253" y="112284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228600" y="404813"/>
            <a:ext cx="4378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b="1">
                <a:solidFill>
                  <a:srgbClr val="FFFF00"/>
                </a:solidFill>
                <a:latin typeface="Times New Roman" pitchFamily="18" charset="0"/>
              </a:rPr>
              <a:t>例</a:t>
            </a:r>
            <a:r>
              <a:rPr lang="zh-CN" altLang="en-US" sz="2400" b="1">
                <a:solidFill>
                  <a:srgbClr val="99CCFF"/>
                </a:solidFill>
                <a:latin typeface="Times New Roman" pitchFamily="18" charset="0"/>
              </a:rPr>
              <a:t>   </a:t>
            </a:r>
            <a:r>
              <a:rPr lang="zh-CN" altLang="en-US" sz="2400" b="1">
                <a:solidFill>
                  <a:schemeClr val="bg1"/>
                </a:solidFill>
                <a:latin typeface="Times New Roman" pitchFamily="18" charset="0"/>
              </a:rPr>
              <a:t>一个刚体系统，如图所示，</a:t>
            </a:r>
          </a:p>
        </p:txBody>
      </p:sp>
      <p:sp>
        <p:nvSpPr>
          <p:cNvPr id="29699" name="Rectangle 3"/>
          <p:cNvSpPr>
            <a:spLocks noChangeArrowheads="1"/>
          </p:cNvSpPr>
          <p:nvPr/>
        </p:nvSpPr>
        <p:spPr bwMode="auto">
          <a:xfrm>
            <a:off x="4402138" y="369888"/>
            <a:ext cx="2308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b="1">
                <a:solidFill>
                  <a:schemeClr val="bg1"/>
                </a:solidFill>
                <a:latin typeface="Times New Roman" pitchFamily="18" charset="0"/>
              </a:rPr>
              <a:t>已知，转动惯量</a:t>
            </a:r>
          </a:p>
        </p:txBody>
      </p:sp>
      <p:graphicFrame>
        <p:nvGraphicFramePr>
          <p:cNvPr id="29700" name="Object 4"/>
          <p:cNvGraphicFramePr>
            <a:graphicFrameLocks noChangeAspect="1"/>
          </p:cNvGraphicFramePr>
          <p:nvPr/>
        </p:nvGraphicFramePr>
        <p:xfrm>
          <a:off x="757238" y="836613"/>
          <a:ext cx="1600200" cy="838200"/>
        </p:xfrm>
        <a:graphic>
          <a:graphicData uri="http://schemas.openxmlformats.org/presentationml/2006/ole">
            <mc:AlternateContent xmlns:mc="http://schemas.openxmlformats.org/markup-compatibility/2006">
              <mc:Choice xmlns:v="urn:schemas-microsoft-com:vml" Requires="v">
                <p:oleObj spid="_x0000_s41058" name="Equation" r:id="rId3" imgW="647640" imgH="393480" progId="Equation.3">
                  <p:embed/>
                </p:oleObj>
              </mc:Choice>
              <mc:Fallback>
                <p:oleObj name="Equation" r:id="rId3" imgW="64764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7238" y="836613"/>
                        <a:ext cx="16002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1" name="Rectangle 5"/>
          <p:cNvSpPr>
            <a:spLocks noChangeArrowheads="1"/>
          </p:cNvSpPr>
          <p:nvPr/>
        </p:nvSpPr>
        <p:spPr bwMode="auto">
          <a:xfrm>
            <a:off x="2000250" y="1054100"/>
            <a:ext cx="4816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b="1">
                <a:solidFill>
                  <a:schemeClr val="bg1"/>
                </a:solidFill>
                <a:latin typeface="Times New Roman" pitchFamily="18" charset="0"/>
              </a:rPr>
              <a:t>，现有一水平力作用于距轴为</a:t>
            </a:r>
            <a:r>
              <a:rPr lang="zh-CN" altLang="en-US" sz="2400" b="1">
                <a:solidFill>
                  <a:schemeClr val="hlink"/>
                </a:solidFill>
                <a:latin typeface="Times New Roman" pitchFamily="18" charset="0"/>
              </a:rPr>
              <a:t> </a:t>
            </a:r>
            <a:r>
              <a:rPr lang="en-US" altLang="zh-CN" sz="2400" b="1" i="1">
                <a:solidFill>
                  <a:srgbClr val="66FFFF"/>
                </a:solidFill>
                <a:latin typeface="Times New Roman" pitchFamily="18" charset="0"/>
              </a:rPr>
              <a:t>l'</a:t>
            </a:r>
            <a:r>
              <a:rPr lang="en-US" altLang="zh-CN" sz="2400" b="1" i="1">
                <a:solidFill>
                  <a:srgbClr val="FFFF00"/>
                </a:solidFill>
                <a:latin typeface="Times New Roman" pitchFamily="18" charset="0"/>
              </a:rPr>
              <a:t> </a:t>
            </a:r>
            <a:r>
              <a:rPr lang="zh-CN" altLang="en-US" sz="2400" b="1">
                <a:solidFill>
                  <a:schemeClr val="bg1"/>
                </a:solidFill>
                <a:latin typeface="Times New Roman" pitchFamily="18" charset="0"/>
              </a:rPr>
              <a:t>处</a:t>
            </a:r>
          </a:p>
        </p:txBody>
      </p:sp>
      <p:sp>
        <p:nvSpPr>
          <p:cNvPr id="29702" name="Rectangle 6"/>
          <p:cNvSpPr>
            <a:spLocks noChangeArrowheads="1"/>
          </p:cNvSpPr>
          <p:nvPr/>
        </p:nvSpPr>
        <p:spPr bwMode="auto">
          <a:xfrm>
            <a:off x="266700" y="1747838"/>
            <a:ext cx="526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b="1">
                <a:solidFill>
                  <a:srgbClr val="FFFF00"/>
                </a:solidFill>
                <a:latin typeface="Times New Roman" pitchFamily="18" charset="0"/>
              </a:rPr>
              <a:t>求</a:t>
            </a:r>
            <a:r>
              <a:rPr lang="zh-CN" altLang="en-US" sz="2400" b="1">
                <a:solidFill>
                  <a:schemeClr val="bg1"/>
                </a:solidFill>
                <a:latin typeface="Times New Roman" pitchFamily="18" charset="0"/>
              </a:rPr>
              <a:t>  轴对棒的作用力（也称轴反力）。</a:t>
            </a:r>
          </a:p>
        </p:txBody>
      </p:sp>
      <p:sp>
        <p:nvSpPr>
          <p:cNvPr id="29703" name="Rectangle 7"/>
          <p:cNvSpPr>
            <a:spLocks noChangeArrowheads="1"/>
          </p:cNvSpPr>
          <p:nvPr/>
        </p:nvSpPr>
        <p:spPr bwMode="auto">
          <a:xfrm>
            <a:off x="276225" y="227647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a:solidFill>
                  <a:srgbClr val="FFFF00"/>
                </a:solidFill>
                <a:latin typeface="Times New Roman" pitchFamily="18" charset="0"/>
              </a:rPr>
              <a:t>解</a:t>
            </a:r>
          </a:p>
        </p:txBody>
      </p:sp>
      <p:sp>
        <p:nvSpPr>
          <p:cNvPr id="29704" name="Rectangle 8"/>
          <p:cNvSpPr>
            <a:spLocks noChangeArrowheads="1"/>
          </p:cNvSpPr>
          <p:nvPr/>
        </p:nvSpPr>
        <p:spPr bwMode="auto">
          <a:xfrm>
            <a:off x="720725" y="2276475"/>
            <a:ext cx="3252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b="1">
                <a:solidFill>
                  <a:schemeClr val="bg1"/>
                </a:solidFill>
                <a:latin typeface="Times New Roman" pitchFamily="18" charset="0"/>
              </a:rPr>
              <a:t>设轴对棒的作用力为 </a:t>
            </a:r>
            <a:r>
              <a:rPr lang="en-US" altLang="zh-CN" sz="2400" b="1" i="1">
                <a:solidFill>
                  <a:srgbClr val="66FFFF"/>
                </a:solidFill>
                <a:latin typeface="Times New Roman" pitchFamily="18" charset="0"/>
              </a:rPr>
              <a:t>N</a:t>
            </a:r>
            <a:endParaRPr lang="en-US" altLang="zh-CN" sz="2400" b="1" i="1">
              <a:solidFill>
                <a:schemeClr val="bg1"/>
              </a:solidFill>
              <a:latin typeface="Times New Roman" pitchFamily="18" charset="0"/>
            </a:endParaRPr>
          </a:p>
        </p:txBody>
      </p:sp>
      <p:sp>
        <p:nvSpPr>
          <p:cNvPr id="29705" name="AutoShape 9"/>
          <p:cNvSpPr>
            <a:spLocks noChangeArrowheads="1"/>
          </p:cNvSpPr>
          <p:nvPr/>
        </p:nvSpPr>
        <p:spPr bwMode="auto">
          <a:xfrm>
            <a:off x="4140200" y="2373313"/>
            <a:ext cx="647700" cy="215900"/>
          </a:xfrm>
          <a:prstGeom prst="rightArrow">
            <a:avLst>
              <a:gd name="adj1" fmla="val 50000"/>
              <a:gd name="adj2" fmla="val 7500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06" name="Object 10"/>
          <p:cNvGraphicFramePr>
            <a:graphicFrameLocks/>
          </p:cNvGraphicFramePr>
          <p:nvPr/>
        </p:nvGraphicFramePr>
        <p:xfrm>
          <a:off x="5003800" y="2397125"/>
          <a:ext cx="879475" cy="422275"/>
        </p:xfrm>
        <a:graphic>
          <a:graphicData uri="http://schemas.openxmlformats.org/presentationml/2006/ole">
            <mc:AlternateContent xmlns:mc="http://schemas.openxmlformats.org/markup-compatibility/2006">
              <mc:Choice xmlns:v="urn:schemas-microsoft-com:vml" Requires="v">
                <p:oleObj spid="_x0000_s41059" name="公式" r:id="rId5" imgW="977760" imgH="469800" progId="Equation.3">
                  <p:embed/>
                </p:oleObj>
              </mc:Choice>
              <mc:Fallback>
                <p:oleObj name="公式" r:id="rId5" imgW="977760" imgH="4698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3800" y="2397125"/>
                        <a:ext cx="879475"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7" name="Object 11"/>
          <p:cNvGraphicFramePr>
            <a:graphicFrameLocks/>
          </p:cNvGraphicFramePr>
          <p:nvPr/>
        </p:nvGraphicFramePr>
        <p:xfrm>
          <a:off x="2852738" y="2963863"/>
          <a:ext cx="1062037" cy="354012"/>
        </p:xfrm>
        <a:graphic>
          <a:graphicData uri="http://schemas.openxmlformats.org/presentationml/2006/ole">
            <mc:AlternateContent xmlns:mc="http://schemas.openxmlformats.org/markup-compatibility/2006">
              <mc:Choice xmlns:v="urn:schemas-microsoft-com:vml" Requires="v">
                <p:oleObj spid="_x0000_s41060" name="Equation" r:id="rId7" imgW="1180800" imgH="393480" progId="Equation.3">
                  <p:embed/>
                </p:oleObj>
              </mc:Choice>
              <mc:Fallback>
                <p:oleObj name="Equation" r:id="rId7" imgW="1180800" imgH="39348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52738" y="2963863"/>
                        <a:ext cx="1062037" cy="354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8" name="Rectangle 12"/>
          <p:cNvSpPr>
            <a:spLocks noChangeArrowheads="1"/>
          </p:cNvSpPr>
          <p:nvPr/>
        </p:nvSpPr>
        <p:spPr bwMode="auto">
          <a:xfrm>
            <a:off x="744538" y="3614738"/>
            <a:ext cx="1524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a:solidFill>
                  <a:schemeClr val="bg1"/>
                </a:solidFill>
                <a:latin typeface="Times New Roman" pitchFamily="18" charset="0"/>
              </a:rPr>
              <a:t>由质心运动定理</a:t>
            </a:r>
            <a:endParaRPr lang="zh-CN" altLang="en-US" sz="2400" b="1" i="1">
              <a:solidFill>
                <a:schemeClr val="bg1"/>
              </a:solidFill>
              <a:latin typeface="Times New Roman" pitchFamily="18" charset="0"/>
            </a:endParaRPr>
          </a:p>
        </p:txBody>
      </p:sp>
      <p:graphicFrame>
        <p:nvGraphicFramePr>
          <p:cNvPr id="29709" name="Object 13"/>
          <p:cNvGraphicFramePr>
            <a:graphicFrameLocks/>
          </p:cNvGraphicFramePr>
          <p:nvPr/>
        </p:nvGraphicFramePr>
        <p:xfrm>
          <a:off x="2401888" y="3327400"/>
          <a:ext cx="2913062" cy="742950"/>
        </p:xfrm>
        <a:graphic>
          <a:graphicData uri="http://schemas.openxmlformats.org/presentationml/2006/ole">
            <mc:AlternateContent xmlns:mc="http://schemas.openxmlformats.org/markup-compatibility/2006">
              <mc:Choice xmlns:v="urn:schemas-microsoft-com:vml" Requires="v">
                <p:oleObj spid="_x0000_s41061" name="Equation" r:id="rId9" imgW="3238200" imgH="825480" progId="Equation.3">
                  <p:embed/>
                </p:oleObj>
              </mc:Choice>
              <mc:Fallback>
                <p:oleObj name="Equation" r:id="rId9" imgW="3238200" imgH="825480"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01888" y="3327400"/>
                        <a:ext cx="2913062"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10" name="Object 14"/>
          <p:cNvGraphicFramePr>
            <a:graphicFrameLocks/>
          </p:cNvGraphicFramePr>
          <p:nvPr/>
        </p:nvGraphicFramePr>
        <p:xfrm>
          <a:off x="2371725" y="4214813"/>
          <a:ext cx="3713163" cy="742950"/>
        </p:xfrm>
        <a:graphic>
          <a:graphicData uri="http://schemas.openxmlformats.org/presentationml/2006/ole">
            <mc:AlternateContent xmlns:mc="http://schemas.openxmlformats.org/markup-compatibility/2006">
              <mc:Choice xmlns:v="urn:schemas-microsoft-com:vml" Requires="v">
                <p:oleObj spid="_x0000_s41062" name="Equation" r:id="rId11" imgW="4127400" imgH="825480" progId="Equation.3">
                  <p:embed/>
                </p:oleObj>
              </mc:Choice>
              <mc:Fallback>
                <p:oleObj name="Equation" r:id="rId11" imgW="4127400" imgH="825480"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1725" y="4214813"/>
                        <a:ext cx="3713163"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1" name="AutoShape 15"/>
          <p:cNvSpPr>
            <a:spLocks/>
          </p:cNvSpPr>
          <p:nvPr/>
        </p:nvSpPr>
        <p:spPr bwMode="auto">
          <a:xfrm>
            <a:off x="2195513" y="3716338"/>
            <a:ext cx="117475" cy="863600"/>
          </a:xfrm>
          <a:prstGeom prst="leftBrace">
            <a:avLst>
              <a:gd name="adj1" fmla="val 61261"/>
              <a:gd name="adj2" fmla="val 50000"/>
            </a:avLst>
          </a:prstGeom>
          <a:noFill/>
          <a:ln w="19050">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12" name="Object 16"/>
          <p:cNvGraphicFramePr>
            <a:graphicFrameLocks/>
          </p:cNvGraphicFramePr>
          <p:nvPr/>
        </p:nvGraphicFramePr>
        <p:xfrm>
          <a:off x="1293813" y="5157788"/>
          <a:ext cx="3565525" cy="742950"/>
        </p:xfrm>
        <a:graphic>
          <a:graphicData uri="http://schemas.openxmlformats.org/presentationml/2006/ole">
            <mc:AlternateContent xmlns:mc="http://schemas.openxmlformats.org/markup-compatibility/2006">
              <mc:Choice xmlns:v="urn:schemas-microsoft-com:vml" Requires="v">
                <p:oleObj spid="_x0000_s41063" name="Equation" r:id="rId13" imgW="3962160" imgH="825480" progId="Equation.3">
                  <p:embed/>
                </p:oleObj>
              </mc:Choice>
              <mc:Fallback>
                <p:oleObj name="Equation" r:id="rId13" imgW="3962160" imgH="825480"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93813" y="5157788"/>
                        <a:ext cx="3565525"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13" name="Object 17"/>
          <p:cNvGraphicFramePr>
            <a:graphicFrameLocks/>
          </p:cNvGraphicFramePr>
          <p:nvPr/>
        </p:nvGraphicFramePr>
        <p:xfrm>
          <a:off x="1335088" y="6084888"/>
          <a:ext cx="1165225" cy="422275"/>
        </p:xfrm>
        <a:graphic>
          <a:graphicData uri="http://schemas.openxmlformats.org/presentationml/2006/ole">
            <mc:AlternateContent xmlns:mc="http://schemas.openxmlformats.org/markup-compatibility/2006">
              <mc:Choice xmlns:v="urn:schemas-microsoft-com:vml" Requires="v">
                <p:oleObj spid="_x0000_s41064" name="Equation" r:id="rId15" imgW="1295280" imgH="469800" progId="Equation.3">
                  <p:embed/>
                </p:oleObj>
              </mc:Choice>
              <mc:Fallback>
                <p:oleObj name="Equation" r:id="rId15" imgW="1295280" imgH="469800" progId="Equation.3">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35088" y="6084888"/>
                        <a:ext cx="1165225"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4" name="AutoShape 18"/>
          <p:cNvSpPr>
            <a:spLocks/>
          </p:cNvSpPr>
          <p:nvPr/>
        </p:nvSpPr>
        <p:spPr bwMode="auto">
          <a:xfrm>
            <a:off x="969963" y="5499100"/>
            <a:ext cx="287337" cy="846138"/>
          </a:xfrm>
          <a:prstGeom prst="leftBrace">
            <a:avLst>
              <a:gd name="adj1" fmla="val 24540"/>
              <a:gd name="adj2" fmla="val 50000"/>
            </a:avLst>
          </a:prstGeom>
          <a:noFill/>
          <a:ln w="19050">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5" name="AutoShape 19"/>
          <p:cNvSpPr>
            <a:spLocks noChangeArrowheads="1"/>
          </p:cNvSpPr>
          <p:nvPr/>
        </p:nvSpPr>
        <p:spPr bwMode="auto">
          <a:xfrm>
            <a:off x="5148263" y="5395913"/>
            <a:ext cx="533400" cy="231775"/>
          </a:xfrm>
          <a:prstGeom prst="rightArrow">
            <a:avLst>
              <a:gd name="adj1" fmla="val 50000"/>
              <a:gd name="adj2" fmla="val 57534"/>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16" name="Object 20"/>
          <p:cNvGraphicFramePr>
            <a:graphicFrameLocks/>
          </p:cNvGraphicFramePr>
          <p:nvPr/>
        </p:nvGraphicFramePr>
        <p:xfrm>
          <a:off x="5770563" y="5203825"/>
          <a:ext cx="800100" cy="742950"/>
        </p:xfrm>
        <a:graphic>
          <a:graphicData uri="http://schemas.openxmlformats.org/presentationml/2006/ole">
            <mc:AlternateContent xmlns:mc="http://schemas.openxmlformats.org/markup-compatibility/2006">
              <mc:Choice xmlns:v="urn:schemas-microsoft-com:vml" Requires="v">
                <p:oleObj spid="_x0000_s41065" name="公式" r:id="rId17" imgW="888840" imgH="825480" progId="Equation.3">
                  <p:embed/>
                </p:oleObj>
              </mc:Choice>
              <mc:Fallback>
                <p:oleObj name="公式" r:id="rId17" imgW="888840" imgH="825480" progId="Equation.3">
                  <p:embed/>
                  <p:pic>
                    <p:nvPicPr>
                      <p:cNvPr id="0" name=""/>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70563" y="5203825"/>
                        <a:ext cx="800100"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7" name="AutoShape 21"/>
          <p:cNvSpPr>
            <a:spLocks noChangeArrowheads="1"/>
          </p:cNvSpPr>
          <p:nvPr/>
        </p:nvSpPr>
        <p:spPr bwMode="auto">
          <a:xfrm>
            <a:off x="6789738" y="5414963"/>
            <a:ext cx="538162" cy="217487"/>
          </a:xfrm>
          <a:prstGeom prst="rightArrow">
            <a:avLst>
              <a:gd name="adj1" fmla="val 50000"/>
              <a:gd name="adj2" fmla="val 61861"/>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18" name="Object 22"/>
          <p:cNvGraphicFramePr>
            <a:graphicFrameLocks/>
          </p:cNvGraphicFramePr>
          <p:nvPr/>
        </p:nvGraphicFramePr>
        <p:xfrm>
          <a:off x="7453313" y="5426075"/>
          <a:ext cx="890587" cy="388938"/>
        </p:xfrm>
        <a:graphic>
          <a:graphicData uri="http://schemas.openxmlformats.org/presentationml/2006/ole">
            <mc:AlternateContent xmlns:mc="http://schemas.openxmlformats.org/markup-compatibility/2006">
              <mc:Choice xmlns:v="urn:schemas-microsoft-com:vml" Requires="v">
                <p:oleObj spid="_x0000_s41066" name="Equation" r:id="rId19" imgW="990360" imgH="431640" progId="Equation.3">
                  <p:embed/>
                </p:oleObj>
              </mc:Choice>
              <mc:Fallback>
                <p:oleObj name="Equation" r:id="rId19" imgW="990360" imgH="431640" progId="Equation.3">
                  <p:embed/>
                  <p:pic>
                    <p:nvPicPr>
                      <p:cNvPr id="0" name=""/>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453313" y="5426075"/>
                        <a:ext cx="890587"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9" name="AutoShape 23"/>
          <p:cNvSpPr>
            <a:spLocks noChangeArrowheads="1"/>
          </p:cNvSpPr>
          <p:nvPr/>
        </p:nvSpPr>
        <p:spPr bwMode="auto">
          <a:xfrm>
            <a:off x="6804025" y="4581525"/>
            <a:ext cx="1308100" cy="460375"/>
          </a:xfrm>
          <a:prstGeom prst="wedgeRectCallout">
            <a:avLst>
              <a:gd name="adj1" fmla="val -78398"/>
              <a:gd name="adj2" fmla="val 77241"/>
            </a:avLst>
          </a:prstGeom>
          <a:noFill/>
          <a:ln w="9525">
            <a:solidFill>
              <a:srgbClr val="66FFFF"/>
            </a:solidFill>
            <a:miter lim="800000"/>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zh-CN" altLang="en-US" sz="2000" b="1">
                <a:solidFill>
                  <a:schemeClr val="bg1"/>
                </a:solidFill>
                <a:latin typeface="Times New Roman" pitchFamily="18" charset="0"/>
                <a:ea typeface="楷体_GB2312" pitchFamily="49" charset="-122"/>
              </a:rPr>
              <a:t>打击中心</a:t>
            </a:r>
          </a:p>
        </p:txBody>
      </p:sp>
      <p:grpSp>
        <p:nvGrpSpPr>
          <p:cNvPr id="29721" name="Group 25"/>
          <p:cNvGrpSpPr>
            <a:grpSpLocks/>
          </p:cNvGrpSpPr>
          <p:nvPr/>
        </p:nvGrpSpPr>
        <p:grpSpPr bwMode="auto">
          <a:xfrm>
            <a:off x="6916738" y="1066800"/>
            <a:ext cx="1828800" cy="2743200"/>
            <a:chOff x="4320" y="336"/>
            <a:chExt cx="1152" cy="1728"/>
          </a:xfrm>
        </p:grpSpPr>
        <p:sp>
          <p:nvSpPr>
            <p:cNvPr id="29722" name="Line 26"/>
            <p:cNvSpPr>
              <a:spLocks noChangeShapeType="1"/>
            </p:cNvSpPr>
            <p:nvPr/>
          </p:nvSpPr>
          <p:spPr bwMode="auto">
            <a:xfrm>
              <a:off x="4320" y="336"/>
              <a:ext cx="1152" cy="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3" name="Rectangle 27"/>
            <p:cNvSpPr>
              <a:spLocks noChangeArrowheads="1"/>
            </p:cNvSpPr>
            <p:nvPr/>
          </p:nvSpPr>
          <p:spPr bwMode="auto">
            <a:xfrm>
              <a:off x="4800" y="480"/>
              <a:ext cx="144" cy="15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4" name="AutoShape 28"/>
            <p:cNvSpPr>
              <a:spLocks noChangeArrowheads="1"/>
            </p:cNvSpPr>
            <p:nvPr/>
          </p:nvSpPr>
          <p:spPr bwMode="auto">
            <a:xfrm rot="10688603">
              <a:off x="4800" y="336"/>
              <a:ext cx="144" cy="240"/>
            </a:xfrm>
            <a:prstGeom prst="triangle">
              <a:avLst>
                <a:gd name="adj" fmla="val 50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9725" name="Line 29"/>
          <p:cNvSpPr>
            <a:spLocks noChangeShapeType="1"/>
          </p:cNvSpPr>
          <p:nvPr/>
        </p:nvSpPr>
        <p:spPr bwMode="auto">
          <a:xfrm>
            <a:off x="7797800" y="2514600"/>
            <a:ext cx="0" cy="762000"/>
          </a:xfrm>
          <a:prstGeom prst="line">
            <a:avLst/>
          </a:prstGeom>
          <a:noFill/>
          <a:ln w="603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6" name="Line 30"/>
          <p:cNvSpPr>
            <a:spLocks noChangeShapeType="1"/>
          </p:cNvSpPr>
          <p:nvPr/>
        </p:nvSpPr>
        <p:spPr bwMode="auto">
          <a:xfrm>
            <a:off x="7754938" y="1371600"/>
            <a:ext cx="762000"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7" name="Line 31"/>
          <p:cNvSpPr>
            <a:spLocks noChangeShapeType="1"/>
          </p:cNvSpPr>
          <p:nvPr/>
        </p:nvSpPr>
        <p:spPr bwMode="auto">
          <a:xfrm flipV="1">
            <a:off x="7797800" y="533400"/>
            <a:ext cx="0" cy="838200"/>
          </a:xfrm>
          <a:prstGeom prst="line">
            <a:avLst/>
          </a:prstGeom>
          <a:noFill/>
          <a:ln w="349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28" name="Object 32"/>
          <p:cNvGraphicFramePr>
            <a:graphicFrameLocks/>
          </p:cNvGraphicFramePr>
          <p:nvPr/>
        </p:nvGraphicFramePr>
        <p:xfrm>
          <a:off x="8258175" y="1484313"/>
          <a:ext cx="417513" cy="431800"/>
        </p:xfrm>
        <a:graphic>
          <a:graphicData uri="http://schemas.openxmlformats.org/presentationml/2006/ole">
            <mc:AlternateContent xmlns:mc="http://schemas.openxmlformats.org/markup-compatibility/2006">
              <mc:Choice xmlns:v="urn:schemas-microsoft-com:vml" Requires="v">
                <p:oleObj spid="_x0000_s41067" name="公式" r:id="rId21" imgW="419040" imgH="431640" progId="Equation.3">
                  <p:embed/>
                </p:oleObj>
              </mc:Choice>
              <mc:Fallback>
                <p:oleObj name="公式" r:id="rId21" imgW="419040" imgH="431640" progId="Equation.3">
                  <p:embed/>
                  <p:pic>
                    <p:nvPicPr>
                      <p:cNvPr id="0" name=""/>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258175" y="1484313"/>
                        <a:ext cx="4175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29" name="Object 33"/>
          <p:cNvGraphicFramePr>
            <a:graphicFrameLocks/>
          </p:cNvGraphicFramePr>
          <p:nvPr/>
        </p:nvGraphicFramePr>
        <p:xfrm>
          <a:off x="7793038" y="436563"/>
          <a:ext cx="446087" cy="471487"/>
        </p:xfrm>
        <a:graphic>
          <a:graphicData uri="http://schemas.openxmlformats.org/presentationml/2006/ole">
            <mc:AlternateContent xmlns:mc="http://schemas.openxmlformats.org/markup-compatibility/2006">
              <mc:Choice xmlns:v="urn:schemas-microsoft-com:vml" Requires="v">
                <p:oleObj spid="_x0000_s41068" name="公式" r:id="rId23" imgW="444240" imgH="469800" progId="Equation.3">
                  <p:embed/>
                </p:oleObj>
              </mc:Choice>
              <mc:Fallback>
                <p:oleObj name="公式" r:id="rId23" imgW="444240" imgH="469800" progId="Equation.3">
                  <p:embed/>
                  <p:pic>
                    <p:nvPicPr>
                      <p:cNvPr id="0" name=""/>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793038" y="436563"/>
                        <a:ext cx="446087"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0" name="Object 34"/>
          <p:cNvGraphicFramePr>
            <a:graphicFrameLocks/>
          </p:cNvGraphicFramePr>
          <p:nvPr/>
        </p:nvGraphicFramePr>
        <p:xfrm>
          <a:off x="7375525" y="1052513"/>
          <a:ext cx="292100" cy="315912"/>
        </p:xfrm>
        <a:graphic>
          <a:graphicData uri="http://schemas.openxmlformats.org/presentationml/2006/ole">
            <mc:AlternateContent xmlns:mc="http://schemas.openxmlformats.org/markup-compatibility/2006">
              <mc:Choice xmlns:v="urn:schemas-microsoft-com:vml" Requires="v">
                <p:oleObj spid="_x0000_s41069" name="公式" r:id="rId25" imgW="291960" imgH="317160" progId="Equation.3">
                  <p:embed/>
                </p:oleObj>
              </mc:Choice>
              <mc:Fallback>
                <p:oleObj name="公式" r:id="rId25" imgW="291960" imgH="317160" progId="Equation.3">
                  <p:embed/>
                  <p:pic>
                    <p:nvPicPr>
                      <p:cNvPr id="0" name=""/>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375525" y="1052513"/>
                        <a:ext cx="2921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1" name="Object 35"/>
          <p:cNvGraphicFramePr>
            <a:graphicFrameLocks/>
          </p:cNvGraphicFramePr>
          <p:nvPr/>
        </p:nvGraphicFramePr>
        <p:xfrm>
          <a:off x="7970838" y="2176463"/>
          <a:ext cx="266700" cy="315912"/>
        </p:xfrm>
        <a:graphic>
          <a:graphicData uri="http://schemas.openxmlformats.org/presentationml/2006/ole">
            <mc:AlternateContent xmlns:mc="http://schemas.openxmlformats.org/markup-compatibility/2006">
              <mc:Choice xmlns:v="urn:schemas-microsoft-com:vml" Requires="v">
                <p:oleObj spid="_x0000_s41070" name="公式" r:id="rId27" imgW="266400" imgH="317160" progId="Equation.3">
                  <p:embed/>
                </p:oleObj>
              </mc:Choice>
              <mc:Fallback>
                <p:oleObj name="公式" r:id="rId27" imgW="266400" imgH="317160" progId="Equation.3">
                  <p:embed/>
                  <p:pic>
                    <p:nvPicPr>
                      <p:cNvPr id="0" name=""/>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970838" y="2176463"/>
                        <a:ext cx="2667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2" name="Object 36"/>
          <p:cNvGraphicFramePr>
            <a:graphicFrameLocks/>
          </p:cNvGraphicFramePr>
          <p:nvPr/>
        </p:nvGraphicFramePr>
        <p:xfrm>
          <a:off x="7956550" y="2978150"/>
          <a:ext cx="493713" cy="306388"/>
        </p:xfrm>
        <a:graphic>
          <a:graphicData uri="http://schemas.openxmlformats.org/presentationml/2006/ole">
            <mc:AlternateContent xmlns:mc="http://schemas.openxmlformats.org/markup-compatibility/2006">
              <mc:Choice xmlns:v="urn:schemas-microsoft-com:vml" Requires="v">
                <p:oleObj spid="_x0000_s41071" name="公式" r:id="rId29" imgW="495000" imgH="304560" progId="Equation.3">
                  <p:embed/>
                </p:oleObj>
              </mc:Choice>
              <mc:Fallback>
                <p:oleObj name="公式" r:id="rId29" imgW="495000" imgH="304560" progId="Equation.3">
                  <p:embed/>
                  <p:pic>
                    <p:nvPicPr>
                      <p:cNvPr id="0" name=""/>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956550" y="2978150"/>
                        <a:ext cx="493713"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33" name="Line 37"/>
          <p:cNvSpPr>
            <a:spLocks noChangeShapeType="1"/>
          </p:cNvSpPr>
          <p:nvPr/>
        </p:nvSpPr>
        <p:spPr bwMode="auto">
          <a:xfrm>
            <a:off x="6840538" y="3352800"/>
            <a:ext cx="838200" cy="0"/>
          </a:xfrm>
          <a:prstGeom prst="line">
            <a:avLst/>
          </a:prstGeom>
          <a:noFill/>
          <a:ln w="508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34" name="Line 38"/>
          <p:cNvSpPr>
            <a:spLocks noChangeShapeType="1"/>
          </p:cNvSpPr>
          <p:nvPr/>
        </p:nvSpPr>
        <p:spPr bwMode="auto">
          <a:xfrm>
            <a:off x="6916738" y="1371600"/>
            <a:ext cx="914400" cy="0"/>
          </a:xfrm>
          <a:prstGeom prst="line">
            <a:avLst/>
          </a:prstGeom>
          <a:noFill/>
          <a:ln w="222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35" name="Line 39"/>
          <p:cNvSpPr>
            <a:spLocks noChangeShapeType="1"/>
          </p:cNvSpPr>
          <p:nvPr/>
        </p:nvSpPr>
        <p:spPr bwMode="auto">
          <a:xfrm>
            <a:off x="6992938" y="1371600"/>
            <a:ext cx="0" cy="1981200"/>
          </a:xfrm>
          <a:prstGeom prst="line">
            <a:avLst/>
          </a:prstGeom>
          <a:noFill/>
          <a:ln w="22225">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36" name="Object 40"/>
          <p:cNvGraphicFramePr>
            <a:graphicFrameLocks/>
          </p:cNvGraphicFramePr>
          <p:nvPr/>
        </p:nvGraphicFramePr>
        <p:xfrm>
          <a:off x="7092950" y="2176463"/>
          <a:ext cx="215900" cy="315912"/>
        </p:xfrm>
        <a:graphic>
          <a:graphicData uri="http://schemas.openxmlformats.org/presentationml/2006/ole">
            <mc:AlternateContent xmlns:mc="http://schemas.openxmlformats.org/markup-compatibility/2006">
              <mc:Choice xmlns:v="urn:schemas-microsoft-com:vml" Requires="v">
                <p:oleObj spid="_x0000_s41072" name="公式" r:id="rId31" imgW="215640" imgH="317160" progId="Equation.3">
                  <p:embed/>
                </p:oleObj>
              </mc:Choice>
              <mc:Fallback>
                <p:oleObj name="公式" r:id="rId31" imgW="215640" imgH="317160" progId="Equation.3">
                  <p:embed/>
                  <p:pic>
                    <p:nvPicPr>
                      <p:cNvPr id="0" name=""/>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092950" y="2176463"/>
                        <a:ext cx="2159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7" name="Object 41"/>
          <p:cNvGraphicFramePr>
            <a:graphicFrameLocks/>
          </p:cNvGraphicFramePr>
          <p:nvPr/>
        </p:nvGraphicFramePr>
        <p:xfrm>
          <a:off x="7078663" y="2781300"/>
          <a:ext cx="301625" cy="366713"/>
        </p:xfrm>
        <a:graphic>
          <a:graphicData uri="http://schemas.openxmlformats.org/presentationml/2006/ole">
            <mc:AlternateContent xmlns:mc="http://schemas.openxmlformats.org/markup-compatibility/2006">
              <mc:Choice xmlns:v="urn:schemas-microsoft-com:vml" Requires="v">
                <p:oleObj spid="_x0000_s41073" name="公式" r:id="rId33" imgW="304560" imgH="368280" progId="Equation.3">
                  <p:embed/>
                </p:oleObj>
              </mc:Choice>
              <mc:Fallback>
                <p:oleObj name="公式" r:id="rId33" imgW="304560" imgH="368280" progId="Equation.3">
                  <p:embed/>
                  <p:pic>
                    <p:nvPicPr>
                      <p:cNvPr id="0" name=""/>
                      <p:cNvPicPr>
                        <a:picLocks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078663" y="2781300"/>
                        <a:ext cx="301625"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38" name="Text Box 42"/>
          <p:cNvSpPr txBox="1">
            <a:spLocks noChangeArrowheads="1"/>
          </p:cNvSpPr>
          <p:nvPr/>
        </p:nvSpPr>
        <p:spPr bwMode="auto">
          <a:xfrm>
            <a:off x="7856538" y="3998913"/>
            <a:ext cx="11080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b="1">
                <a:solidFill>
                  <a:srgbClr val="99FF66"/>
                </a:solidFill>
                <a:latin typeface="Times New Roman" pitchFamily="18" charset="0"/>
                <a:ea typeface="楷体_GB2312" pitchFamily="49" charset="-122"/>
              </a:rPr>
              <a:t>质点系</a:t>
            </a:r>
          </a:p>
        </p:txBody>
      </p:sp>
      <p:sp>
        <p:nvSpPr>
          <p:cNvPr id="29739" name="Line 43"/>
          <p:cNvSpPr>
            <a:spLocks noChangeShapeType="1"/>
          </p:cNvSpPr>
          <p:nvPr/>
        </p:nvSpPr>
        <p:spPr bwMode="auto">
          <a:xfrm flipH="1" flipV="1">
            <a:off x="7820025" y="3451225"/>
            <a:ext cx="468313" cy="587375"/>
          </a:xfrm>
          <a:prstGeom prst="line">
            <a:avLst/>
          </a:prstGeom>
          <a:noFill/>
          <a:ln w="222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40" name="Oval 44"/>
          <p:cNvSpPr>
            <a:spLocks noChangeArrowheads="1"/>
          </p:cNvSpPr>
          <p:nvPr/>
        </p:nvSpPr>
        <p:spPr bwMode="auto">
          <a:xfrm>
            <a:off x="7721600" y="2362200"/>
            <a:ext cx="152400" cy="152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41" name="Text Box 45"/>
          <p:cNvSpPr txBox="1">
            <a:spLocks noChangeArrowheads="1"/>
          </p:cNvSpPr>
          <p:nvPr/>
        </p:nvSpPr>
        <p:spPr bwMode="auto">
          <a:xfrm>
            <a:off x="717550" y="2827338"/>
            <a:ext cx="1724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b="1">
                <a:solidFill>
                  <a:schemeClr val="bg1"/>
                </a:solidFill>
                <a:latin typeface="Times New Roman" pitchFamily="18" charset="0"/>
              </a:rPr>
              <a:t>由转动定律</a:t>
            </a:r>
          </a:p>
        </p:txBody>
      </p:sp>
    </p:spTree>
    <p:extLst>
      <p:ext uri="{BB962C8B-B14F-4D97-AF65-F5344CB8AC3E}">
        <p14:creationId xmlns:p14="http://schemas.microsoft.com/office/powerpoint/2010/main" val="762472194"/>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9730"/>
                                        </p:tgtEl>
                                        <p:attrNameLst>
                                          <p:attrName>style.visibility</p:attrName>
                                        </p:attrNameLst>
                                      </p:cBhvr>
                                      <p:to>
                                        <p:strVal val="visible"/>
                                      </p:to>
                                    </p:set>
                                    <p:animEffect transition="in" filter="wipe(left)">
                                      <p:cBhvr>
                                        <p:cTn id="7" dur="500"/>
                                        <p:tgtEl>
                                          <p:spTgt spid="297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734"/>
                                        </p:tgtEl>
                                        <p:attrNameLst>
                                          <p:attrName>style.visibility</p:attrName>
                                        </p:attrNameLst>
                                      </p:cBhvr>
                                      <p:to>
                                        <p:strVal val="visible"/>
                                      </p:to>
                                    </p:set>
                                    <p:animEffect transition="in" filter="wipe(left)">
                                      <p:cBhvr>
                                        <p:cTn id="12" dur="500"/>
                                        <p:tgtEl>
                                          <p:spTgt spid="297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733"/>
                                        </p:tgtEl>
                                        <p:attrNameLst>
                                          <p:attrName>style.visibility</p:attrName>
                                        </p:attrNameLst>
                                      </p:cBhvr>
                                      <p:to>
                                        <p:strVal val="visible"/>
                                      </p:to>
                                    </p:set>
                                    <p:animEffect transition="in" filter="wipe(left)">
                                      <p:cBhvr>
                                        <p:cTn id="17" dur="500"/>
                                        <p:tgtEl>
                                          <p:spTgt spid="2973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9737"/>
                                        </p:tgtEl>
                                        <p:attrNameLst>
                                          <p:attrName>style.visibility</p:attrName>
                                        </p:attrNameLst>
                                      </p:cBhvr>
                                      <p:to>
                                        <p:strVal val="visible"/>
                                      </p:to>
                                    </p:set>
                                    <p:animEffect transition="in" filter="wipe(left)">
                                      <p:cBhvr>
                                        <p:cTn id="22" dur="500"/>
                                        <p:tgtEl>
                                          <p:spTgt spid="297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9735"/>
                                        </p:tgtEl>
                                        <p:attrNameLst>
                                          <p:attrName>style.visibility</p:attrName>
                                        </p:attrNameLst>
                                      </p:cBhvr>
                                      <p:to>
                                        <p:strVal val="visible"/>
                                      </p:to>
                                    </p:set>
                                    <p:animEffect transition="in" filter="wipe(left)">
                                      <p:cBhvr>
                                        <p:cTn id="27" dur="500"/>
                                        <p:tgtEl>
                                          <p:spTgt spid="297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9736"/>
                                        </p:tgtEl>
                                        <p:attrNameLst>
                                          <p:attrName>style.visibility</p:attrName>
                                        </p:attrNameLst>
                                      </p:cBhvr>
                                      <p:to>
                                        <p:strVal val="visible"/>
                                      </p:to>
                                    </p:set>
                                    <p:animEffect transition="in" filter="wipe(left)">
                                      <p:cBhvr>
                                        <p:cTn id="32" dur="500"/>
                                        <p:tgtEl>
                                          <p:spTgt spid="297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9703"/>
                                        </p:tgtEl>
                                        <p:attrNameLst>
                                          <p:attrName>style.visibility</p:attrName>
                                        </p:attrNameLst>
                                      </p:cBhvr>
                                      <p:to>
                                        <p:strVal val="visible"/>
                                      </p:to>
                                    </p:set>
                                    <p:animEffect transition="in" filter="wipe(left)">
                                      <p:cBhvr>
                                        <p:cTn id="37" dur="500"/>
                                        <p:tgtEl>
                                          <p:spTgt spid="2970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9704"/>
                                        </p:tgtEl>
                                        <p:attrNameLst>
                                          <p:attrName>style.visibility</p:attrName>
                                        </p:attrNameLst>
                                      </p:cBhvr>
                                      <p:to>
                                        <p:strVal val="visible"/>
                                      </p:to>
                                    </p:set>
                                    <p:animEffect transition="in" filter="wipe(left)">
                                      <p:cBhvr>
                                        <p:cTn id="42" dur="500"/>
                                        <p:tgtEl>
                                          <p:spTgt spid="2970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9705"/>
                                        </p:tgtEl>
                                        <p:attrNameLst>
                                          <p:attrName>style.visibility</p:attrName>
                                        </p:attrNameLst>
                                      </p:cBhvr>
                                      <p:to>
                                        <p:strVal val="visible"/>
                                      </p:to>
                                    </p:set>
                                    <p:animEffect transition="in" filter="wipe(left)">
                                      <p:cBhvr>
                                        <p:cTn id="47" dur="500"/>
                                        <p:tgtEl>
                                          <p:spTgt spid="2970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9706"/>
                                        </p:tgtEl>
                                        <p:attrNameLst>
                                          <p:attrName>style.visibility</p:attrName>
                                        </p:attrNameLst>
                                      </p:cBhvr>
                                      <p:to>
                                        <p:strVal val="visible"/>
                                      </p:to>
                                    </p:set>
                                    <p:animEffect transition="in" filter="wipe(left)">
                                      <p:cBhvr>
                                        <p:cTn id="52" dur="500"/>
                                        <p:tgtEl>
                                          <p:spTgt spid="2970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9726"/>
                                        </p:tgtEl>
                                        <p:attrNameLst>
                                          <p:attrName>style.visibility</p:attrName>
                                        </p:attrNameLst>
                                      </p:cBhvr>
                                      <p:to>
                                        <p:strVal val="visible"/>
                                      </p:to>
                                    </p:set>
                                    <p:animEffect transition="in" filter="wipe(left)">
                                      <p:cBhvr>
                                        <p:cTn id="57" dur="500"/>
                                        <p:tgtEl>
                                          <p:spTgt spid="2972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9728"/>
                                        </p:tgtEl>
                                        <p:attrNameLst>
                                          <p:attrName>style.visibility</p:attrName>
                                        </p:attrNameLst>
                                      </p:cBhvr>
                                      <p:to>
                                        <p:strVal val="visible"/>
                                      </p:to>
                                    </p:set>
                                    <p:animEffect transition="in" filter="wipe(left)">
                                      <p:cBhvr>
                                        <p:cTn id="62" dur="500"/>
                                        <p:tgtEl>
                                          <p:spTgt spid="2972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9727"/>
                                        </p:tgtEl>
                                        <p:attrNameLst>
                                          <p:attrName>style.visibility</p:attrName>
                                        </p:attrNameLst>
                                      </p:cBhvr>
                                      <p:to>
                                        <p:strVal val="visible"/>
                                      </p:to>
                                    </p:set>
                                    <p:animEffect transition="in" filter="wipe(left)">
                                      <p:cBhvr>
                                        <p:cTn id="67" dur="500"/>
                                        <p:tgtEl>
                                          <p:spTgt spid="2972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9729"/>
                                        </p:tgtEl>
                                        <p:attrNameLst>
                                          <p:attrName>style.visibility</p:attrName>
                                        </p:attrNameLst>
                                      </p:cBhvr>
                                      <p:to>
                                        <p:strVal val="visible"/>
                                      </p:to>
                                    </p:set>
                                    <p:animEffect transition="in" filter="wipe(left)">
                                      <p:cBhvr>
                                        <p:cTn id="72" dur="500"/>
                                        <p:tgtEl>
                                          <p:spTgt spid="2972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9741"/>
                                        </p:tgtEl>
                                        <p:attrNameLst>
                                          <p:attrName>style.visibility</p:attrName>
                                        </p:attrNameLst>
                                      </p:cBhvr>
                                      <p:to>
                                        <p:strVal val="visible"/>
                                      </p:to>
                                    </p:set>
                                    <p:animEffect transition="in" filter="wipe(left)">
                                      <p:cBhvr>
                                        <p:cTn id="77" dur="500"/>
                                        <p:tgtEl>
                                          <p:spTgt spid="2974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29707"/>
                                        </p:tgtEl>
                                        <p:attrNameLst>
                                          <p:attrName>style.visibility</p:attrName>
                                        </p:attrNameLst>
                                      </p:cBhvr>
                                      <p:to>
                                        <p:strVal val="visible"/>
                                      </p:to>
                                    </p:set>
                                    <p:animEffect transition="in" filter="wipe(left)">
                                      <p:cBhvr>
                                        <p:cTn id="82" dur="500"/>
                                        <p:tgtEl>
                                          <p:spTgt spid="2970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9738"/>
                                        </p:tgtEl>
                                        <p:attrNameLst>
                                          <p:attrName>style.visibility</p:attrName>
                                        </p:attrNameLst>
                                      </p:cBhvr>
                                      <p:to>
                                        <p:strVal val="visible"/>
                                      </p:to>
                                    </p:set>
                                    <p:animEffect transition="in" filter="wipe(left)">
                                      <p:cBhvr>
                                        <p:cTn id="87" dur="500"/>
                                        <p:tgtEl>
                                          <p:spTgt spid="2973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9739"/>
                                        </p:tgtEl>
                                        <p:attrNameLst>
                                          <p:attrName>style.visibility</p:attrName>
                                        </p:attrNameLst>
                                      </p:cBhvr>
                                      <p:to>
                                        <p:strVal val="visible"/>
                                      </p:to>
                                    </p:set>
                                    <p:animEffect transition="in" filter="wipe(left)">
                                      <p:cBhvr>
                                        <p:cTn id="92" dur="500"/>
                                        <p:tgtEl>
                                          <p:spTgt spid="2973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9740"/>
                                        </p:tgtEl>
                                        <p:attrNameLst>
                                          <p:attrName>style.visibility</p:attrName>
                                        </p:attrNameLst>
                                      </p:cBhvr>
                                      <p:to>
                                        <p:strVal val="visible"/>
                                      </p:to>
                                    </p:set>
                                    <p:animEffect transition="in" filter="wipe(left)">
                                      <p:cBhvr>
                                        <p:cTn id="97" dur="500"/>
                                        <p:tgtEl>
                                          <p:spTgt spid="29740"/>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29731"/>
                                        </p:tgtEl>
                                        <p:attrNameLst>
                                          <p:attrName>style.visibility</p:attrName>
                                        </p:attrNameLst>
                                      </p:cBhvr>
                                      <p:to>
                                        <p:strVal val="visible"/>
                                      </p:to>
                                    </p:set>
                                    <p:animEffect transition="in" filter="wipe(left)">
                                      <p:cBhvr>
                                        <p:cTn id="102" dur="500"/>
                                        <p:tgtEl>
                                          <p:spTgt spid="2973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9725"/>
                                        </p:tgtEl>
                                        <p:attrNameLst>
                                          <p:attrName>style.visibility</p:attrName>
                                        </p:attrNameLst>
                                      </p:cBhvr>
                                      <p:to>
                                        <p:strVal val="visible"/>
                                      </p:to>
                                    </p:set>
                                    <p:animEffect transition="in" filter="wipe(left)">
                                      <p:cBhvr>
                                        <p:cTn id="107" dur="500"/>
                                        <p:tgtEl>
                                          <p:spTgt spid="29725"/>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29732"/>
                                        </p:tgtEl>
                                        <p:attrNameLst>
                                          <p:attrName>style.visibility</p:attrName>
                                        </p:attrNameLst>
                                      </p:cBhvr>
                                      <p:to>
                                        <p:strVal val="visible"/>
                                      </p:to>
                                    </p:set>
                                    <p:animEffect transition="in" filter="wipe(left)">
                                      <p:cBhvr>
                                        <p:cTn id="112" dur="500"/>
                                        <p:tgtEl>
                                          <p:spTgt spid="29732"/>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29708"/>
                                        </p:tgtEl>
                                        <p:attrNameLst>
                                          <p:attrName>style.visibility</p:attrName>
                                        </p:attrNameLst>
                                      </p:cBhvr>
                                      <p:to>
                                        <p:strVal val="visible"/>
                                      </p:to>
                                    </p:set>
                                    <p:animEffect transition="in" filter="wipe(left)">
                                      <p:cBhvr>
                                        <p:cTn id="117" dur="500"/>
                                        <p:tgtEl>
                                          <p:spTgt spid="29708"/>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29711"/>
                                        </p:tgtEl>
                                        <p:attrNameLst>
                                          <p:attrName>style.visibility</p:attrName>
                                        </p:attrNameLst>
                                      </p:cBhvr>
                                      <p:to>
                                        <p:strVal val="visible"/>
                                      </p:to>
                                    </p:set>
                                    <p:animEffect transition="in" filter="wipe(left)">
                                      <p:cBhvr>
                                        <p:cTn id="122" dur="500"/>
                                        <p:tgtEl>
                                          <p:spTgt spid="29711"/>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nodeType="clickEffect">
                                  <p:stCondLst>
                                    <p:cond delay="0"/>
                                  </p:stCondLst>
                                  <p:childTnLst>
                                    <p:set>
                                      <p:cBhvr>
                                        <p:cTn id="126" dur="1" fill="hold">
                                          <p:stCondLst>
                                            <p:cond delay="0"/>
                                          </p:stCondLst>
                                        </p:cTn>
                                        <p:tgtEl>
                                          <p:spTgt spid="29709"/>
                                        </p:tgtEl>
                                        <p:attrNameLst>
                                          <p:attrName>style.visibility</p:attrName>
                                        </p:attrNameLst>
                                      </p:cBhvr>
                                      <p:to>
                                        <p:strVal val="visible"/>
                                      </p:to>
                                    </p:set>
                                    <p:animEffect transition="in" filter="wipe(left)">
                                      <p:cBhvr>
                                        <p:cTn id="127" dur="500"/>
                                        <p:tgtEl>
                                          <p:spTgt spid="29709"/>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29710"/>
                                        </p:tgtEl>
                                        <p:attrNameLst>
                                          <p:attrName>style.visibility</p:attrName>
                                        </p:attrNameLst>
                                      </p:cBhvr>
                                      <p:to>
                                        <p:strVal val="visible"/>
                                      </p:to>
                                    </p:set>
                                    <p:animEffect transition="in" filter="wipe(left)">
                                      <p:cBhvr>
                                        <p:cTn id="132" dur="500"/>
                                        <p:tgtEl>
                                          <p:spTgt spid="29710"/>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nodeType="clickEffect">
                                  <p:stCondLst>
                                    <p:cond delay="0"/>
                                  </p:stCondLst>
                                  <p:childTnLst>
                                    <p:set>
                                      <p:cBhvr>
                                        <p:cTn id="136" dur="1" fill="hold">
                                          <p:stCondLst>
                                            <p:cond delay="0"/>
                                          </p:stCondLst>
                                        </p:cTn>
                                        <p:tgtEl>
                                          <p:spTgt spid="29712"/>
                                        </p:tgtEl>
                                        <p:attrNameLst>
                                          <p:attrName>style.visibility</p:attrName>
                                        </p:attrNameLst>
                                      </p:cBhvr>
                                      <p:to>
                                        <p:strVal val="visible"/>
                                      </p:to>
                                    </p:set>
                                    <p:animEffect transition="in" filter="wipe(left)">
                                      <p:cBhvr>
                                        <p:cTn id="137" dur="500"/>
                                        <p:tgtEl>
                                          <p:spTgt spid="29712"/>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nodeType="clickEffect">
                                  <p:stCondLst>
                                    <p:cond delay="0"/>
                                  </p:stCondLst>
                                  <p:childTnLst>
                                    <p:set>
                                      <p:cBhvr>
                                        <p:cTn id="141" dur="1" fill="hold">
                                          <p:stCondLst>
                                            <p:cond delay="0"/>
                                          </p:stCondLst>
                                        </p:cTn>
                                        <p:tgtEl>
                                          <p:spTgt spid="29713"/>
                                        </p:tgtEl>
                                        <p:attrNameLst>
                                          <p:attrName>style.visibility</p:attrName>
                                        </p:attrNameLst>
                                      </p:cBhvr>
                                      <p:to>
                                        <p:strVal val="visible"/>
                                      </p:to>
                                    </p:set>
                                    <p:animEffect transition="in" filter="wipe(left)">
                                      <p:cBhvr>
                                        <p:cTn id="142" dur="500"/>
                                        <p:tgtEl>
                                          <p:spTgt spid="29713"/>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29714"/>
                                        </p:tgtEl>
                                        <p:attrNameLst>
                                          <p:attrName>style.visibility</p:attrName>
                                        </p:attrNameLst>
                                      </p:cBhvr>
                                      <p:to>
                                        <p:strVal val="visible"/>
                                      </p:to>
                                    </p:set>
                                    <p:animEffect transition="in" filter="wipe(left)">
                                      <p:cBhvr>
                                        <p:cTn id="147" dur="500"/>
                                        <p:tgtEl>
                                          <p:spTgt spid="29714"/>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8" fill="hold" grpId="0" nodeType="clickEffect">
                                  <p:stCondLst>
                                    <p:cond delay="0"/>
                                  </p:stCondLst>
                                  <p:childTnLst>
                                    <p:set>
                                      <p:cBhvr>
                                        <p:cTn id="151" dur="1" fill="hold">
                                          <p:stCondLst>
                                            <p:cond delay="0"/>
                                          </p:stCondLst>
                                        </p:cTn>
                                        <p:tgtEl>
                                          <p:spTgt spid="29715"/>
                                        </p:tgtEl>
                                        <p:attrNameLst>
                                          <p:attrName>style.visibility</p:attrName>
                                        </p:attrNameLst>
                                      </p:cBhvr>
                                      <p:to>
                                        <p:strVal val="visible"/>
                                      </p:to>
                                    </p:set>
                                    <p:animEffect transition="in" filter="wipe(left)">
                                      <p:cBhvr>
                                        <p:cTn id="152" dur="500"/>
                                        <p:tgtEl>
                                          <p:spTgt spid="29715"/>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nodeType="clickEffect">
                                  <p:stCondLst>
                                    <p:cond delay="0"/>
                                  </p:stCondLst>
                                  <p:childTnLst>
                                    <p:set>
                                      <p:cBhvr>
                                        <p:cTn id="156" dur="1" fill="hold">
                                          <p:stCondLst>
                                            <p:cond delay="0"/>
                                          </p:stCondLst>
                                        </p:cTn>
                                        <p:tgtEl>
                                          <p:spTgt spid="29716"/>
                                        </p:tgtEl>
                                        <p:attrNameLst>
                                          <p:attrName>style.visibility</p:attrName>
                                        </p:attrNameLst>
                                      </p:cBhvr>
                                      <p:to>
                                        <p:strVal val="visible"/>
                                      </p:to>
                                    </p:set>
                                    <p:animEffect transition="in" filter="wipe(left)">
                                      <p:cBhvr>
                                        <p:cTn id="157" dur="500"/>
                                        <p:tgtEl>
                                          <p:spTgt spid="29716"/>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29717"/>
                                        </p:tgtEl>
                                        <p:attrNameLst>
                                          <p:attrName>style.visibility</p:attrName>
                                        </p:attrNameLst>
                                      </p:cBhvr>
                                      <p:to>
                                        <p:strVal val="visible"/>
                                      </p:to>
                                    </p:set>
                                    <p:animEffect transition="in" filter="wipe(left)">
                                      <p:cBhvr>
                                        <p:cTn id="162" dur="500"/>
                                        <p:tgtEl>
                                          <p:spTgt spid="29717"/>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8" fill="hold" nodeType="clickEffect">
                                  <p:stCondLst>
                                    <p:cond delay="0"/>
                                  </p:stCondLst>
                                  <p:childTnLst>
                                    <p:set>
                                      <p:cBhvr>
                                        <p:cTn id="166" dur="1" fill="hold">
                                          <p:stCondLst>
                                            <p:cond delay="0"/>
                                          </p:stCondLst>
                                        </p:cTn>
                                        <p:tgtEl>
                                          <p:spTgt spid="29718"/>
                                        </p:tgtEl>
                                        <p:attrNameLst>
                                          <p:attrName>style.visibility</p:attrName>
                                        </p:attrNameLst>
                                      </p:cBhvr>
                                      <p:to>
                                        <p:strVal val="visible"/>
                                      </p:to>
                                    </p:set>
                                    <p:animEffect transition="in" filter="wipe(left)">
                                      <p:cBhvr>
                                        <p:cTn id="167" dur="500"/>
                                        <p:tgtEl>
                                          <p:spTgt spid="29718"/>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8" fill="hold" grpId="0" nodeType="clickEffect">
                                  <p:stCondLst>
                                    <p:cond delay="0"/>
                                  </p:stCondLst>
                                  <p:childTnLst>
                                    <p:set>
                                      <p:cBhvr>
                                        <p:cTn id="171" dur="1" fill="hold">
                                          <p:stCondLst>
                                            <p:cond delay="0"/>
                                          </p:stCondLst>
                                        </p:cTn>
                                        <p:tgtEl>
                                          <p:spTgt spid="29719"/>
                                        </p:tgtEl>
                                        <p:attrNameLst>
                                          <p:attrName>style.visibility</p:attrName>
                                        </p:attrNameLst>
                                      </p:cBhvr>
                                      <p:to>
                                        <p:strVal val="visible"/>
                                      </p:to>
                                    </p:set>
                                    <p:animEffect transition="in" filter="wipe(left)">
                                      <p:cBhvr>
                                        <p:cTn id="172" dur="500"/>
                                        <p:tgtEl>
                                          <p:spTgt spid="297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autoUpdateAnimBg="0"/>
      <p:bldP spid="29704" grpId="0" autoUpdateAnimBg="0"/>
      <p:bldP spid="29705" grpId="0" animBg="1"/>
      <p:bldP spid="29708" grpId="0" autoUpdateAnimBg="0"/>
      <p:bldP spid="29711" grpId="0" animBg="1"/>
      <p:bldP spid="29714" grpId="0" animBg="1"/>
      <p:bldP spid="29715" grpId="0" animBg="1"/>
      <p:bldP spid="29717" grpId="0" animBg="1"/>
      <p:bldP spid="29719" grpId="0" animBg="1" autoUpdateAnimBg="0"/>
      <p:bldP spid="29725" grpId="0" animBg="1"/>
      <p:bldP spid="29726" grpId="0" animBg="1"/>
      <p:bldP spid="29727" grpId="0" animBg="1"/>
      <p:bldP spid="29733" grpId="0" animBg="1"/>
      <p:bldP spid="29734" grpId="0" animBg="1"/>
      <p:bldP spid="29735" grpId="0" animBg="1"/>
      <p:bldP spid="29738" grpId="0" autoUpdateAnimBg="0"/>
      <p:bldP spid="29739" grpId="0" animBg="1"/>
      <p:bldP spid="29740" grpId="0" animBg="1"/>
      <p:bldP spid="2974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32" y="268964"/>
            <a:ext cx="3389661" cy="6080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0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1613" y="908439"/>
            <a:ext cx="5121487" cy="2277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0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888" y="3912270"/>
            <a:ext cx="5277679" cy="233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8611480"/>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p:cNvGrpSpPr>
          <p:nvPr/>
        </p:nvGrpSpPr>
        <p:grpSpPr bwMode="auto">
          <a:xfrm>
            <a:off x="7220" y="-16836"/>
            <a:ext cx="9150350" cy="3506787"/>
            <a:chOff x="-6785" y="3121940"/>
            <a:chExt cx="9150785" cy="3507730"/>
          </a:xfrm>
        </p:grpSpPr>
        <p:sp>
          <p:nvSpPr>
            <p:cNvPr id="58372" name="矩形 1"/>
            <p:cNvSpPr>
              <a:spLocks noChangeArrowheads="1"/>
            </p:cNvSpPr>
            <p:nvPr/>
          </p:nvSpPr>
          <p:spPr bwMode="auto">
            <a:xfrm>
              <a:off x="-6785" y="3121940"/>
              <a:ext cx="45799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dirty="0">
                  <a:solidFill>
                    <a:srgbClr val="FFC000"/>
                  </a:solidFill>
                </a:rPr>
                <a:t>书中习题</a:t>
              </a:r>
              <a:r>
                <a:rPr lang="en-US" altLang="zh-CN" sz="2400" b="1" dirty="0">
                  <a:solidFill>
                    <a:srgbClr val="FFC000"/>
                  </a:solidFill>
                </a:rPr>
                <a:t>6.22</a:t>
              </a:r>
              <a:r>
                <a:rPr lang="zh-CN" altLang="zh-CN" sz="2400" b="1" dirty="0">
                  <a:solidFill>
                    <a:srgbClr val="FFC000"/>
                  </a:solidFill>
                </a:rPr>
                <a:t>（</a:t>
              </a:r>
              <a:r>
                <a:rPr lang="en-US" altLang="zh-CN" sz="2400" b="1" dirty="0">
                  <a:solidFill>
                    <a:srgbClr val="FFC000"/>
                  </a:solidFill>
                </a:rPr>
                <a:t>p228</a:t>
              </a:r>
              <a:r>
                <a:rPr lang="zh-CN" altLang="zh-CN" sz="2400" b="1" dirty="0">
                  <a:solidFill>
                    <a:srgbClr val="FFC000"/>
                  </a:solidFill>
                </a:rPr>
                <a:t>）（重点）</a:t>
              </a:r>
            </a:p>
          </p:txBody>
        </p:sp>
        <p:pic>
          <p:nvPicPr>
            <p:cNvPr id="5837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4289" y="3846647"/>
              <a:ext cx="2689711"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37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583903"/>
              <a:ext cx="6531129" cy="3045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2060" y="3635830"/>
            <a:ext cx="6843713" cy="296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5"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767" y="240225"/>
            <a:ext cx="2251931" cy="2293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305"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767" y="2665918"/>
            <a:ext cx="8142288" cy="356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3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6495" y="4309387"/>
            <a:ext cx="6252702" cy="2411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组合 2"/>
          <p:cNvGrpSpPr/>
          <p:nvPr/>
        </p:nvGrpSpPr>
        <p:grpSpPr>
          <a:xfrm>
            <a:off x="1406683" y="2204864"/>
            <a:ext cx="5139337" cy="2315759"/>
            <a:chOff x="1438656" y="2349722"/>
            <a:chExt cx="5139337" cy="2315759"/>
          </a:xfrm>
        </p:grpSpPr>
        <p:pic>
          <p:nvPicPr>
            <p:cNvPr id="7168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9468" y="2731313"/>
              <a:ext cx="343852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8656" y="2349722"/>
              <a:ext cx="1675457" cy="2315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 name="组合 1"/>
          <p:cNvGrpSpPr/>
          <p:nvPr/>
        </p:nvGrpSpPr>
        <p:grpSpPr>
          <a:xfrm>
            <a:off x="323528" y="225647"/>
            <a:ext cx="8800189" cy="2124075"/>
            <a:chOff x="323528" y="225647"/>
            <a:chExt cx="8800189" cy="2124075"/>
          </a:xfrm>
        </p:grpSpPr>
        <p:pic>
          <p:nvPicPr>
            <p:cNvPr id="7168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528" y="225647"/>
              <a:ext cx="1647825"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8"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2668" y="249378"/>
              <a:ext cx="2857500"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9"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12668" y="1088638"/>
              <a:ext cx="7011049"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751027487"/>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750888" y="347663"/>
            <a:ext cx="8069262" cy="2378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5000"/>
              </a:lnSpc>
            </a:pPr>
            <a:r>
              <a:rPr lang="zh-CN" altLang="en-US" sz="2400" b="1">
                <a:solidFill>
                  <a:schemeClr val="bg1"/>
                </a:solidFill>
                <a:latin typeface="宋体" charset="-122"/>
              </a:rPr>
              <a:t>一长为</a:t>
            </a:r>
            <a:r>
              <a:rPr lang="zh-CN" altLang="en-US" sz="2400" b="1">
                <a:solidFill>
                  <a:schemeClr val="bg1"/>
                </a:solidFill>
                <a:latin typeface="Times New Roman" pitchFamily="18" charset="0"/>
              </a:rPr>
              <a:t> </a:t>
            </a:r>
            <a:r>
              <a:rPr lang="en-US" altLang="zh-CN" sz="2400" b="1" i="1">
                <a:solidFill>
                  <a:srgbClr val="66FFFF"/>
                </a:solidFill>
                <a:latin typeface="Times New Roman" pitchFamily="18" charset="0"/>
              </a:rPr>
              <a:t>l </a:t>
            </a:r>
            <a:r>
              <a:rPr lang="en-US" altLang="zh-CN" sz="2400" b="1" i="1">
                <a:solidFill>
                  <a:schemeClr val="bg1"/>
                </a:solidFill>
                <a:latin typeface="Times New Roman" pitchFamily="18" charset="0"/>
              </a:rPr>
              <a:t> </a:t>
            </a:r>
            <a:r>
              <a:rPr lang="zh-CN" altLang="en-US" sz="2400" b="1">
                <a:solidFill>
                  <a:schemeClr val="bg1"/>
                </a:solidFill>
                <a:latin typeface="宋体" charset="-122"/>
              </a:rPr>
              <a:t>的匀质细杆，可绕通过中心的固定水平轴在铅垂面内自由转动，开始时杆静止于水平位置。一质量与杆相同的昆虫以速度</a:t>
            </a:r>
            <a:r>
              <a:rPr lang="zh-CN" altLang="en-US" sz="2400" b="1">
                <a:solidFill>
                  <a:schemeClr val="bg1"/>
                </a:solidFill>
                <a:latin typeface="Times New Roman" pitchFamily="18" charset="0"/>
              </a:rPr>
              <a:t> </a:t>
            </a:r>
            <a:r>
              <a:rPr lang="en-US" altLang="zh-CN" sz="2400" i="1">
                <a:solidFill>
                  <a:srgbClr val="66FFFF"/>
                </a:solidFill>
                <a:latin typeface="Bookman Old Style" pitchFamily="18" charset="0"/>
              </a:rPr>
              <a:t>v</a:t>
            </a:r>
            <a:r>
              <a:rPr lang="en-US" altLang="zh-CN" sz="2000" i="1" baseline="-25000">
                <a:solidFill>
                  <a:srgbClr val="66FFFF"/>
                </a:solidFill>
                <a:latin typeface="Bookman Old Style" pitchFamily="18" charset="0"/>
              </a:rPr>
              <a:t>0</a:t>
            </a:r>
            <a:r>
              <a:rPr lang="en-US" altLang="zh-CN" sz="2000" i="1" baseline="-25000">
                <a:solidFill>
                  <a:srgbClr val="66FFFF"/>
                </a:solidFill>
                <a:latin typeface="Times New Roman" pitchFamily="18" charset="0"/>
              </a:rPr>
              <a:t> </a:t>
            </a:r>
            <a:r>
              <a:rPr lang="zh-CN" altLang="en-US" sz="2400" b="1">
                <a:solidFill>
                  <a:schemeClr val="bg1"/>
                </a:solidFill>
                <a:latin typeface="宋体" charset="-122"/>
              </a:rPr>
              <a:t>垂直落到距点</a:t>
            </a:r>
            <a:r>
              <a:rPr lang="zh-CN" altLang="en-US" sz="2400" b="1">
                <a:solidFill>
                  <a:schemeClr val="bg1"/>
                </a:solidFill>
                <a:latin typeface="Times New Roman" pitchFamily="18" charset="0"/>
              </a:rPr>
              <a:t> </a:t>
            </a:r>
            <a:r>
              <a:rPr lang="en-US" altLang="zh-CN" sz="2400" b="1" i="1">
                <a:solidFill>
                  <a:schemeClr val="bg1"/>
                </a:solidFill>
                <a:latin typeface="Times New Roman" pitchFamily="18" charset="0"/>
              </a:rPr>
              <a:t>O</a:t>
            </a:r>
            <a:r>
              <a:rPr lang="en-US" altLang="zh-CN" sz="2400" b="1">
                <a:solidFill>
                  <a:schemeClr val="bg1"/>
                </a:solidFill>
                <a:latin typeface="Times New Roman" pitchFamily="18" charset="0"/>
              </a:rPr>
              <a:t> </a:t>
            </a:r>
            <a:r>
              <a:rPr lang="en-US" altLang="zh-CN" sz="2400" b="1" i="1">
                <a:solidFill>
                  <a:srgbClr val="66FFFF"/>
                </a:solidFill>
                <a:latin typeface="Times New Roman" pitchFamily="18" charset="0"/>
              </a:rPr>
              <a:t>l</a:t>
            </a:r>
            <a:r>
              <a:rPr lang="en-US" altLang="zh-CN" sz="2400" b="1">
                <a:solidFill>
                  <a:srgbClr val="66FFFF"/>
                </a:solidFill>
                <a:latin typeface="Times New Roman" pitchFamily="18" charset="0"/>
              </a:rPr>
              <a:t>/4</a:t>
            </a:r>
            <a:r>
              <a:rPr lang="en-US" altLang="zh-CN" sz="2400" b="1" i="1">
                <a:solidFill>
                  <a:srgbClr val="66FFFF"/>
                </a:solidFill>
                <a:latin typeface="Times New Roman" pitchFamily="18" charset="0"/>
              </a:rPr>
              <a:t> </a:t>
            </a:r>
            <a:r>
              <a:rPr lang="zh-CN" altLang="en-US" sz="2400" b="1">
                <a:solidFill>
                  <a:schemeClr val="bg1"/>
                </a:solidFill>
                <a:latin typeface="宋体" charset="-122"/>
              </a:rPr>
              <a:t>处的杆上，昆虫落下后立即向杆的端点爬行，如图所示。若要使杆以</a:t>
            </a:r>
            <a:r>
              <a:rPr lang="zh-CN" altLang="en-US" sz="2400" b="1">
                <a:solidFill>
                  <a:srgbClr val="66FFFF"/>
                </a:solidFill>
                <a:latin typeface="宋体" charset="-122"/>
              </a:rPr>
              <a:t>匀角速度转动</a:t>
            </a:r>
          </a:p>
        </p:txBody>
      </p:sp>
      <p:graphicFrame>
        <p:nvGraphicFramePr>
          <p:cNvPr id="51203" name="Object 3"/>
          <p:cNvGraphicFramePr>
            <a:graphicFrameLocks/>
          </p:cNvGraphicFramePr>
          <p:nvPr/>
        </p:nvGraphicFramePr>
        <p:xfrm>
          <a:off x="1733550" y="4838700"/>
          <a:ext cx="3846513" cy="822325"/>
        </p:xfrm>
        <a:graphic>
          <a:graphicData uri="http://schemas.openxmlformats.org/presentationml/2006/ole">
            <mc:AlternateContent xmlns:mc="http://schemas.openxmlformats.org/markup-compatibility/2006">
              <mc:Choice xmlns:v="urn:schemas-microsoft-com:vml" Requires="v">
                <p:oleObj spid="_x0000_s42004" name="Equation" r:id="rId3" imgW="3860640" imgH="825480" progId="Equation.3">
                  <p:embed/>
                </p:oleObj>
              </mc:Choice>
              <mc:Fallback>
                <p:oleObj name="Equation" r:id="rId3" imgW="3860640" imgH="82548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3550" y="4838700"/>
                        <a:ext cx="38465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04" name="Object 4"/>
          <p:cNvGraphicFramePr>
            <a:graphicFrameLocks/>
          </p:cNvGraphicFramePr>
          <p:nvPr/>
        </p:nvGraphicFramePr>
        <p:xfrm>
          <a:off x="1722438" y="5734050"/>
          <a:ext cx="1374775" cy="827088"/>
        </p:xfrm>
        <a:graphic>
          <a:graphicData uri="http://schemas.openxmlformats.org/presentationml/2006/ole">
            <mc:AlternateContent xmlns:mc="http://schemas.openxmlformats.org/markup-compatibility/2006">
              <mc:Choice xmlns:v="urn:schemas-microsoft-com:vml" Requires="v">
                <p:oleObj spid="_x0000_s42005" name="Equation" r:id="rId5" imgW="1371600" imgH="825480" progId="Equation.3">
                  <p:embed/>
                </p:oleObj>
              </mc:Choice>
              <mc:Fallback>
                <p:oleObj name="Equation" r:id="rId5" imgW="1371600" imgH="82548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2438" y="5734050"/>
                        <a:ext cx="1374775" cy="827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1205" name="Group 5"/>
          <p:cNvGrpSpPr>
            <a:grpSpLocks/>
          </p:cNvGrpSpPr>
          <p:nvPr/>
        </p:nvGrpSpPr>
        <p:grpSpPr bwMode="auto">
          <a:xfrm>
            <a:off x="7716838" y="3463925"/>
            <a:ext cx="180975" cy="322263"/>
            <a:chOff x="4495" y="2334"/>
            <a:chExt cx="114" cy="203"/>
          </a:xfrm>
        </p:grpSpPr>
        <p:grpSp>
          <p:nvGrpSpPr>
            <p:cNvPr id="51206" name="Group 6"/>
            <p:cNvGrpSpPr>
              <a:grpSpLocks/>
            </p:cNvGrpSpPr>
            <p:nvPr/>
          </p:nvGrpSpPr>
          <p:grpSpPr bwMode="auto">
            <a:xfrm>
              <a:off x="4495" y="2334"/>
              <a:ext cx="114" cy="203"/>
              <a:chOff x="4495" y="2334"/>
              <a:chExt cx="114" cy="203"/>
            </a:xfrm>
          </p:grpSpPr>
          <p:sp>
            <p:nvSpPr>
              <p:cNvPr id="51207" name="Freeform 7"/>
              <p:cNvSpPr>
                <a:spLocks/>
              </p:cNvSpPr>
              <p:nvPr/>
            </p:nvSpPr>
            <p:spPr bwMode="auto">
              <a:xfrm>
                <a:off x="4513" y="2346"/>
                <a:ext cx="36" cy="71"/>
              </a:xfrm>
              <a:custGeom>
                <a:avLst/>
                <a:gdLst>
                  <a:gd name="T0" fmla="*/ 36 w 36"/>
                  <a:gd name="T1" fmla="*/ 71 h 71"/>
                  <a:gd name="T2" fmla="*/ 30 w 36"/>
                  <a:gd name="T3" fmla="*/ 71 h 71"/>
                  <a:gd name="T4" fmla="*/ 24 w 36"/>
                  <a:gd name="T5" fmla="*/ 71 h 71"/>
                  <a:gd name="T6" fmla="*/ 12 w 36"/>
                  <a:gd name="T7" fmla="*/ 65 h 71"/>
                  <a:gd name="T8" fmla="*/ 6 w 36"/>
                  <a:gd name="T9" fmla="*/ 59 h 71"/>
                  <a:gd name="T10" fmla="*/ 0 w 36"/>
                  <a:gd name="T11" fmla="*/ 54 h 71"/>
                  <a:gd name="T12" fmla="*/ 0 w 36"/>
                  <a:gd name="T13" fmla="*/ 48 h 71"/>
                  <a:gd name="T14" fmla="*/ 0 w 36"/>
                  <a:gd name="T15" fmla="*/ 42 h 71"/>
                  <a:gd name="T16" fmla="*/ 0 w 36"/>
                  <a:gd name="T17" fmla="*/ 42 h 71"/>
                  <a:gd name="T18" fmla="*/ 6 w 36"/>
                  <a:gd name="T19" fmla="*/ 36 h 71"/>
                  <a:gd name="T20" fmla="*/ 12 w 36"/>
                  <a:gd name="T21" fmla="*/ 30 h 71"/>
                  <a:gd name="T22" fmla="*/ 12 w 36"/>
                  <a:gd name="T23" fmla="*/ 30 h 71"/>
                  <a:gd name="T24" fmla="*/ 12 w 36"/>
                  <a:gd name="T25" fmla="*/ 12 h 71"/>
                  <a:gd name="T26" fmla="*/ 12 w 36"/>
                  <a:gd name="T27" fmla="*/ 0 h 71"/>
                  <a:gd name="T28" fmla="*/ 12 w 36"/>
                  <a:gd name="T29" fmla="*/ 12 h 71"/>
                  <a:gd name="T30" fmla="*/ 12 w 36"/>
                  <a:gd name="T31" fmla="*/ 6 h 71"/>
                  <a:gd name="T32" fmla="*/ 12 w 36"/>
                  <a:gd name="T33" fmla="*/ 12 h 71"/>
                  <a:gd name="T34" fmla="*/ 18 w 36"/>
                  <a:gd name="T35" fmla="*/ 18 h 71"/>
                  <a:gd name="T36" fmla="*/ 18 w 36"/>
                  <a:gd name="T37" fmla="*/ 24 h 71"/>
                  <a:gd name="T38" fmla="*/ 18 w 36"/>
                  <a:gd name="T39" fmla="*/ 24 h 71"/>
                  <a:gd name="T40" fmla="*/ 18 w 36"/>
                  <a:gd name="T41" fmla="*/ 24 h 71"/>
                  <a:gd name="T42" fmla="*/ 18 w 36"/>
                  <a:gd name="T43" fmla="*/ 24 h 71"/>
                  <a:gd name="T44" fmla="*/ 18 w 36"/>
                  <a:gd name="T45" fmla="*/ 30 h 71"/>
                  <a:gd name="T46" fmla="*/ 18 w 36"/>
                  <a:gd name="T47" fmla="*/ 36 h 71"/>
                  <a:gd name="T48" fmla="*/ 12 w 36"/>
                  <a:gd name="T49" fmla="*/ 42 h 71"/>
                  <a:gd name="T50" fmla="*/ 0 w 36"/>
                  <a:gd name="T51" fmla="*/ 48 h 71"/>
                  <a:gd name="T52" fmla="*/ 6 w 36"/>
                  <a:gd name="T53" fmla="*/ 48 h 71"/>
                  <a:gd name="T54" fmla="*/ 6 w 36"/>
                  <a:gd name="T55" fmla="*/ 48 h 71"/>
                  <a:gd name="T56" fmla="*/ 12 w 36"/>
                  <a:gd name="T57" fmla="*/ 48 h 71"/>
                  <a:gd name="T58" fmla="*/ 18 w 36"/>
                  <a:gd name="T59" fmla="*/ 54 h 71"/>
                  <a:gd name="T60" fmla="*/ 30 w 36"/>
                  <a:gd name="T61" fmla="*/ 54 h 71"/>
                  <a:gd name="T62" fmla="*/ 36 w 36"/>
                  <a:gd name="T63" fmla="*/ 59 h 71"/>
                  <a:gd name="T64" fmla="*/ 36 w 36"/>
                  <a:gd name="T65" fmla="*/ 71 h 71"/>
                  <a:gd name="T66" fmla="*/ 36 w 36"/>
                  <a:gd name="T67"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6" h="71">
                    <a:moveTo>
                      <a:pt x="36" y="71"/>
                    </a:moveTo>
                    <a:lnTo>
                      <a:pt x="30" y="71"/>
                    </a:lnTo>
                    <a:lnTo>
                      <a:pt x="24" y="71"/>
                    </a:lnTo>
                    <a:lnTo>
                      <a:pt x="12" y="65"/>
                    </a:lnTo>
                    <a:lnTo>
                      <a:pt x="6" y="59"/>
                    </a:lnTo>
                    <a:lnTo>
                      <a:pt x="0" y="54"/>
                    </a:lnTo>
                    <a:lnTo>
                      <a:pt x="0" y="48"/>
                    </a:lnTo>
                    <a:lnTo>
                      <a:pt x="0" y="42"/>
                    </a:lnTo>
                    <a:lnTo>
                      <a:pt x="0" y="42"/>
                    </a:lnTo>
                    <a:lnTo>
                      <a:pt x="6" y="36"/>
                    </a:lnTo>
                    <a:lnTo>
                      <a:pt x="12" y="30"/>
                    </a:lnTo>
                    <a:lnTo>
                      <a:pt x="12" y="30"/>
                    </a:lnTo>
                    <a:lnTo>
                      <a:pt x="12" y="12"/>
                    </a:lnTo>
                    <a:lnTo>
                      <a:pt x="12" y="0"/>
                    </a:lnTo>
                    <a:lnTo>
                      <a:pt x="12" y="12"/>
                    </a:lnTo>
                    <a:lnTo>
                      <a:pt x="12" y="6"/>
                    </a:lnTo>
                    <a:lnTo>
                      <a:pt x="12" y="12"/>
                    </a:lnTo>
                    <a:lnTo>
                      <a:pt x="18" y="18"/>
                    </a:lnTo>
                    <a:lnTo>
                      <a:pt x="18" y="24"/>
                    </a:lnTo>
                    <a:lnTo>
                      <a:pt x="18" y="24"/>
                    </a:lnTo>
                    <a:lnTo>
                      <a:pt x="18" y="24"/>
                    </a:lnTo>
                    <a:lnTo>
                      <a:pt x="18" y="24"/>
                    </a:lnTo>
                    <a:lnTo>
                      <a:pt x="18" y="30"/>
                    </a:lnTo>
                    <a:lnTo>
                      <a:pt x="18" y="36"/>
                    </a:lnTo>
                    <a:lnTo>
                      <a:pt x="12" y="42"/>
                    </a:lnTo>
                    <a:lnTo>
                      <a:pt x="0" y="48"/>
                    </a:lnTo>
                    <a:lnTo>
                      <a:pt x="6" y="48"/>
                    </a:lnTo>
                    <a:lnTo>
                      <a:pt x="6" y="48"/>
                    </a:lnTo>
                    <a:lnTo>
                      <a:pt x="12" y="48"/>
                    </a:lnTo>
                    <a:lnTo>
                      <a:pt x="18" y="54"/>
                    </a:lnTo>
                    <a:lnTo>
                      <a:pt x="30" y="54"/>
                    </a:lnTo>
                    <a:lnTo>
                      <a:pt x="36" y="59"/>
                    </a:lnTo>
                    <a:lnTo>
                      <a:pt x="36" y="71"/>
                    </a:lnTo>
                    <a:lnTo>
                      <a:pt x="36" y="71"/>
                    </a:lnTo>
                    <a:close/>
                  </a:path>
                </a:pathLst>
              </a:custGeom>
              <a:solidFill>
                <a:srgbClr val="00FF00"/>
              </a:solidFill>
              <a:ln w="9525">
                <a:solidFill>
                  <a:srgbClr val="00FF00"/>
                </a:solidFill>
                <a:round/>
                <a:headEnd/>
                <a:tailEnd/>
              </a:ln>
            </p:spPr>
            <p:txBody>
              <a:bodyPr/>
              <a:lstStyle/>
              <a:p>
                <a:endParaRPr lang="zh-CN" altLang="en-US"/>
              </a:p>
            </p:txBody>
          </p:sp>
          <p:sp>
            <p:nvSpPr>
              <p:cNvPr id="51208" name="Freeform 8"/>
              <p:cNvSpPr>
                <a:spLocks/>
              </p:cNvSpPr>
              <p:nvPr/>
            </p:nvSpPr>
            <p:spPr bwMode="auto">
              <a:xfrm>
                <a:off x="4513" y="2400"/>
                <a:ext cx="42" cy="35"/>
              </a:xfrm>
              <a:custGeom>
                <a:avLst/>
                <a:gdLst>
                  <a:gd name="T0" fmla="*/ 30 w 42"/>
                  <a:gd name="T1" fmla="*/ 11 h 35"/>
                  <a:gd name="T2" fmla="*/ 36 w 42"/>
                  <a:gd name="T3" fmla="*/ 5 h 35"/>
                  <a:gd name="T4" fmla="*/ 30 w 42"/>
                  <a:gd name="T5" fmla="*/ 5 h 35"/>
                  <a:gd name="T6" fmla="*/ 18 w 42"/>
                  <a:gd name="T7" fmla="*/ 0 h 35"/>
                  <a:gd name="T8" fmla="*/ 0 w 42"/>
                  <a:gd name="T9" fmla="*/ 17 h 35"/>
                  <a:gd name="T10" fmla="*/ 18 w 42"/>
                  <a:gd name="T11" fmla="*/ 29 h 35"/>
                  <a:gd name="T12" fmla="*/ 30 w 42"/>
                  <a:gd name="T13" fmla="*/ 35 h 35"/>
                  <a:gd name="T14" fmla="*/ 42 w 42"/>
                  <a:gd name="T15" fmla="*/ 29 h 35"/>
                  <a:gd name="T16" fmla="*/ 30 w 42"/>
                  <a:gd name="T1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5">
                    <a:moveTo>
                      <a:pt x="30" y="11"/>
                    </a:moveTo>
                    <a:lnTo>
                      <a:pt x="36" y="5"/>
                    </a:lnTo>
                    <a:lnTo>
                      <a:pt x="30" y="5"/>
                    </a:lnTo>
                    <a:lnTo>
                      <a:pt x="18" y="0"/>
                    </a:lnTo>
                    <a:lnTo>
                      <a:pt x="0" y="17"/>
                    </a:lnTo>
                    <a:lnTo>
                      <a:pt x="18" y="29"/>
                    </a:lnTo>
                    <a:lnTo>
                      <a:pt x="30" y="35"/>
                    </a:lnTo>
                    <a:lnTo>
                      <a:pt x="42" y="29"/>
                    </a:lnTo>
                    <a:lnTo>
                      <a:pt x="30" y="11"/>
                    </a:lnTo>
                    <a:close/>
                  </a:path>
                </a:pathLst>
              </a:custGeom>
              <a:solidFill>
                <a:srgbClr val="00FF00"/>
              </a:solidFill>
              <a:ln w="9525">
                <a:solidFill>
                  <a:srgbClr val="00FF00"/>
                </a:solidFill>
                <a:round/>
                <a:headEnd/>
                <a:tailEnd/>
              </a:ln>
            </p:spPr>
            <p:txBody>
              <a:bodyPr/>
              <a:lstStyle/>
              <a:p>
                <a:endParaRPr lang="zh-CN" altLang="en-US"/>
              </a:p>
            </p:txBody>
          </p:sp>
          <p:sp>
            <p:nvSpPr>
              <p:cNvPr id="51209" name="Freeform 9"/>
              <p:cNvSpPr>
                <a:spLocks noEditPoints="1"/>
              </p:cNvSpPr>
              <p:nvPr/>
            </p:nvSpPr>
            <p:spPr bwMode="auto">
              <a:xfrm>
                <a:off x="4507" y="2388"/>
                <a:ext cx="24" cy="29"/>
              </a:xfrm>
              <a:custGeom>
                <a:avLst/>
                <a:gdLst>
                  <a:gd name="T0" fmla="*/ 24 w 24"/>
                  <a:gd name="T1" fmla="*/ 12 h 29"/>
                  <a:gd name="T2" fmla="*/ 24 w 24"/>
                  <a:gd name="T3" fmla="*/ 6 h 29"/>
                  <a:gd name="T4" fmla="*/ 18 w 24"/>
                  <a:gd name="T5" fmla="*/ 6 h 29"/>
                  <a:gd name="T6" fmla="*/ 6 w 24"/>
                  <a:gd name="T7" fmla="*/ 0 h 29"/>
                  <a:gd name="T8" fmla="*/ 6 w 24"/>
                  <a:gd name="T9" fmla="*/ 23 h 29"/>
                  <a:gd name="T10" fmla="*/ 0 w 24"/>
                  <a:gd name="T11" fmla="*/ 23 h 29"/>
                  <a:gd name="T12" fmla="*/ 6 w 24"/>
                  <a:gd name="T13" fmla="*/ 29 h 29"/>
                  <a:gd name="T14" fmla="*/ 6 w 24"/>
                  <a:gd name="T15" fmla="*/ 29 h 29"/>
                  <a:gd name="T16" fmla="*/ 6 w 24"/>
                  <a:gd name="T17" fmla="*/ 29 h 29"/>
                  <a:gd name="T18" fmla="*/ 24 w 24"/>
                  <a:gd name="T19" fmla="*/ 12 h 29"/>
                  <a:gd name="T20" fmla="*/ 6 w 24"/>
                  <a:gd name="T21" fmla="*/ 29 h 29"/>
                  <a:gd name="T22" fmla="*/ 6 w 24"/>
                  <a:gd name="T23" fmla="*/ 29 h 29"/>
                  <a:gd name="T24" fmla="*/ 6 w 24"/>
                  <a:gd name="T25" fmla="*/ 29 h 29"/>
                  <a:gd name="T26" fmla="*/ 18 w 24"/>
                  <a:gd name="T27" fmla="*/ 23 h 29"/>
                  <a:gd name="T28" fmla="*/ 6 w 24"/>
                  <a:gd name="T29"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9">
                    <a:moveTo>
                      <a:pt x="24" y="12"/>
                    </a:moveTo>
                    <a:lnTo>
                      <a:pt x="24" y="6"/>
                    </a:lnTo>
                    <a:lnTo>
                      <a:pt x="18" y="6"/>
                    </a:lnTo>
                    <a:lnTo>
                      <a:pt x="6" y="0"/>
                    </a:lnTo>
                    <a:lnTo>
                      <a:pt x="6" y="23"/>
                    </a:lnTo>
                    <a:lnTo>
                      <a:pt x="0" y="23"/>
                    </a:lnTo>
                    <a:lnTo>
                      <a:pt x="6" y="29"/>
                    </a:lnTo>
                    <a:lnTo>
                      <a:pt x="6" y="29"/>
                    </a:lnTo>
                    <a:lnTo>
                      <a:pt x="6" y="29"/>
                    </a:lnTo>
                    <a:lnTo>
                      <a:pt x="24" y="12"/>
                    </a:lnTo>
                    <a:close/>
                    <a:moveTo>
                      <a:pt x="6" y="29"/>
                    </a:moveTo>
                    <a:lnTo>
                      <a:pt x="6" y="29"/>
                    </a:lnTo>
                    <a:lnTo>
                      <a:pt x="6" y="29"/>
                    </a:lnTo>
                    <a:lnTo>
                      <a:pt x="18" y="23"/>
                    </a:lnTo>
                    <a:lnTo>
                      <a:pt x="6" y="29"/>
                    </a:lnTo>
                    <a:close/>
                  </a:path>
                </a:pathLst>
              </a:custGeom>
              <a:solidFill>
                <a:srgbClr val="00FF00"/>
              </a:solidFill>
              <a:ln w="9525">
                <a:solidFill>
                  <a:srgbClr val="00FF00"/>
                </a:solidFill>
                <a:round/>
                <a:headEnd/>
                <a:tailEnd/>
              </a:ln>
            </p:spPr>
            <p:txBody>
              <a:bodyPr/>
              <a:lstStyle/>
              <a:p>
                <a:endParaRPr lang="zh-CN" altLang="en-US"/>
              </a:p>
            </p:txBody>
          </p:sp>
          <p:sp>
            <p:nvSpPr>
              <p:cNvPr id="51210" name="Freeform 10"/>
              <p:cNvSpPr>
                <a:spLocks noEditPoints="1"/>
              </p:cNvSpPr>
              <p:nvPr/>
            </p:nvSpPr>
            <p:spPr bwMode="auto">
              <a:xfrm>
                <a:off x="4495" y="2382"/>
                <a:ext cx="24" cy="35"/>
              </a:xfrm>
              <a:custGeom>
                <a:avLst/>
                <a:gdLst>
                  <a:gd name="T0" fmla="*/ 24 w 24"/>
                  <a:gd name="T1" fmla="*/ 12 h 35"/>
                  <a:gd name="T2" fmla="*/ 24 w 24"/>
                  <a:gd name="T3" fmla="*/ 12 h 35"/>
                  <a:gd name="T4" fmla="*/ 24 w 24"/>
                  <a:gd name="T5" fmla="*/ 18 h 35"/>
                  <a:gd name="T6" fmla="*/ 6 w 24"/>
                  <a:gd name="T7" fmla="*/ 0 h 35"/>
                  <a:gd name="T8" fmla="*/ 0 w 24"/>
                  <a:gd name="T9" fmla="*/ 12 h 35"/>
                  <a:gd name="T10" fmla="*/ 6 w 24"/>
                  <a:gd name="T11" fmla="*/ 23 h 35"/>
                  <a:gd name="T12" fmla="*/ 12 w 24"/>
                  <a:gd name="T13" fmla="*/ 29 h 35"/>
                  <a:gd name="T14" fmla="*/ 12 w 24"/>
                  <a:gd name="T15" fmla="*/ 29 h 35"/>
                  <a:gd name="T16" fmla="*/ 24 w 24"/>
                  <a:gd name="T17" fmla="*/ 12 h 35"/>
                  <a:gd name="T18" fmla="*/ 12 w 24"/>
                  <a:gd name="T19" fmla="*/ 29 h 35"/>
                  <a:gd name="T20" fmla="*/ 18 w 24"/>
                  <a:gd name="T21" fmla="*/ 35 h 35"/>
                  <a:gd name="T22" fmla="*/ 18 w 24"/>
                  <a:gd name="T23" fmla="*/ 29 h 35"/>
                  <a:gd name="T24" fmla="*/ 18 w 24"/>
                  <a:gd name="T25" fmla="*/ 18 h 35"/>
                  <a:gd name="T26" fmla="*/ 12 w 24"/>
                  <a:gd name="T27" fmla="*/ 2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5">
                    <a:moveTo>
                      <a:pt x="24" y="12"/>
                    </a:moveTo>
                    <a:lnTo>
                      <a:pt x="24" y="12"/>
                    </a:lnTo>
                    <a:lnTo>
                      <a:pt x="24" y="18"/>
                    </a:lnTo>
                    <a:lnTo>
                      <a:pt x="6" y="0"/>
                    </a:lnTo>
                    <a:lnTo>
                      <a:pt x="0" y="12"/>
                    </a:lnTo>
                    <a:lnTo>
                      <a:pt x="6" y="23"/>
                    </a:lnTo>
                    <a:lnTo>
                      <a:pt x="12" y="29"/>
                    </a:lnTo>
                    <a:lnTo>
                      <a:pt x="12" y="29"/>
                    </a:lnTo>
                    <a:lnTo>
                      <a:pt x="24" y="12"/>
                    </a:lnTo>
                    <a:close/>
                    <a:moveTo>
                      <a:pt x="12" y="29"/>
                    </a:moveTo>
                    <a:lnTo>
                      <a:pt x="18" y="35"/>
                    </a:lnTo>
                    <a:lnTo>
                      <a:pt x="18" y="29"/>
                    </a:lnTo>
                    <a:lnTo>
                      <a:pt x="18" y="18"/>
                    </a:lnTo>
                    <a:lnTo>
                      <a:pt x="12" y="29"/>
                    </a:lnTo>
                    <a:close/>
                  </a:path>
                </a:pathLst>
              </a:custGeom>
              <a:solidFill>
                <a:srgbClr val="00FF00"/>
              </a:solidFill>
              <a:ln w="9525">
                <a:solidFill>
                  <a:srgbClr val="00FF00"/>
                </a:solidFill>
                <a:round/>
                <a:headEnd/>
                <a:tailEnd/>
              </a:ln>
            </p:spPr>
            <p:txBody>
              <a:bodyPr/>
              <a:lstStyle/>
              <a:p>
                <a:endParaRPr lang="zh-CN" altLang="en-US"/>
              </a:p>
            </p:txBody>
          </p:sp>
          <p:sp>
            <p:nvSpPr>
              <p:cNvPr id="51211" name="Freeform 11"/>
              <p:cNvSpPr>
                <a:spLocks noEditPoints="1"/>
              </p:cNvSpPr>
              <p:nvPr/>
            </p:nvSpPr>
            <p:spPr bwMode="auto">
              <a:xfrm>
                <a:off x="4501" y="2370"/>
                <a:ext cx="36" cy="30"/>
              </a:xfrm>
              <a:custGeom>
                <a:avLst/>
                <a:gdLst>
                  <a:gd name="T0" fmla="*/ 18 w 36"/>
                  <a:gd name="T1" fmla="*/ 30 h 30"/>
                  <a:gd name="T2" fmla="*/ 24 w 36"/>
                  <a:gd name="T3" fmla="*/ 30 h 30"/>
                  <a:gd name="T4" fmla="*/ 30 w 36"/>
                  <a:gd name="T5" fmla="*/ 24 h 30"/>
                  <a:gd name="T6" fmla="*/ 36 w 36"/>
                  <a:gd name="T7" fmla="*/ 12 h 30"/>
                  <a:gd name="T8" fmla="*/ 36 w 36"/>
                  <a:gd name="T9" fmla="*/ 6 h 30"/>
                  <a:gd name="T10" fmla="*/ 18 w 36"/>
                  <a:gd name="T11" fmla="*/ 12 h 30"/>
                  <a:gd name="T12" fmla="*/ 12 w 36"/>
                  <a:gd name="T13" fmla="*/ 0 h 30"/>
                  <a:gd name="T14" fmla="*/ 12 w 36"/>
                  <a:gd name="T15" fmla="*/ 6 h 30"/>
                  <a:gd name="T16" fmla="*/ 6 w 36"/>
                  <a:gd name="T17" fmla="*/ 12 h 30"/>
                  <a:gd name="T18" fmla="*/ 6 w 36"/>
                  <a:gd name="T19" fmla="*/ 12 h 30"/>
                  <a:gd name="T20" fmla="*/ 18 w 36"/>
                  <a:gd name="T21" fmla="*/ 30 h 30"/>
                  <a:gd name="T22" fmla="*/ 6 w 36"/>
                  <a:gd name="T23" fmla="*/ 12 h 30"/>
                  <a:gd name="T24" fmla="*/ 0 w 36"/>
                  <a:gd name="T25" fmla="*/ 12 h 30"/>
                  <a:gd name="T26" fmla="*/ 0 w 36"/>
                  <a:gd name="T27" fmla="*/ 12 h 30"/>
                  <a:gd name="T28" fmla="*/ 12 w 36"/>
                  <a:gd name="T29" fmla="*/ 18 h 30"/>
                  <a:gd name="T30" fmla="*/ 6 w 36"/>
                  <a:gd name="T31"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 h="30">
                    <a:moveTo>
                      <a:pt x="18" y="30"/>
                    </a:moveTo>
                    <a:lnTo>
                      <a:pt x="24" y="30"/>
                    </a:lnTo>
                    <a:lnTo>
                      <a:pt x="30" y="24"/>
                    </a:lnTo>
                    <a:lnTo>
                      <a:pt x="36" y="12"/>
                    </a:lnTo>
                    <a:lnTo>
                      <a:pt x="36" y="6"/>
                    </a:lnTo>
                    <a:lnTo>
                      <a:pt x="18" y="12"/>
                    </a:lnTo>
                    <a:lnTo>
                      <a:pt x="12" y="0"/>
                    </a:lnTo>
                    <a:lnTo>
                      <a:pt x="12" y="6"/>
                    </a:lnTo>
                    <a:lnTo>
                      <a:pt x="6" y="12"/>
                    </a:lnTo>
                    <a:lnTo>
                      <a:pt x="6" y="12"/>
                    </a:lnTo>
                    <a:lnTo>
                      <a:pt x="18" y="30"/>
                    </a:lnTo>
                    <a:close/>
                    <a:moveTo>
                      <a:pt x="6" y="12"/>
                    </a:moveTo>
                    <a:lnTo>
                      <a:pt x="0" y="12"/>
                    </a:lnTo>
                    <a:lnTo>
                      <a:pt x="0" y="12"/>
                    </a:lnTo>
                    <a:lnTo>
                      <a:pt x="12" y="18"/>
                    </a:lnTo>
                    <a:lnTo>
                      <a:pt x="6" y="12"/>
                    </a:lnTo>
                    <a:close/>
                  </a:path>
                </a:pathLst>
              </a:custGeom>
              <a:solidFill>
                <a:srgbClr val="00FF00"/>
              </a:solidFill>
              <a:ln w="9525">
                <a:solidFill>
                  <a:srgbClr val="00FF00"/>
                </a:solidFill>
                <a:round/>
                <a:headEnd/>
                <a:tailEnd/>
              </a:ln>
            </p:spPr>
            <p:txBody>
              <a:bodyPr/>
              <a:lstStyle/>
              <a:p>
                <a:endParaRPr lang="zh-CN" altLang="en-US"/>
              </a:p>
            </p:txBody>
          </p:sp>
          <p:sp>
            <p:nvSpPr>
              <p:cNvPr id="51212" name="Freeform 12"/>
              <p:cNvSpPr>
                <a:spLocks noEditPoints="1"/>
              </p:cNvSpPr>
              <p:nvPr/>
            </p:nvSpPr>
            <p:spPr bwMode="auto">
              <a:xfrm>
                <a:off x="4513" y="2352"/>
                <a:ext cx="24" cy="30"/>
              </a:xfrm>
              <a:custGeom>
                <a:avLst/>
                <a:gdLst>
                  <a:gd name="T0" fmla="*/ 24 w 24"/>
                  <a:gd name="T1" fmla="*/ 18 h 30"/>
                  <a:gd name="T2" fmla="*/ 24 w 24"/>
                  <a:gd name="T3" fmla="*/ 0 h 30"/>
                  <a:gd name="T4" fmla="*/ 0 w 24"/>
                  <a:gd name="T5" fmla="*/ 6 h 30"/>
                  <a:gd name="T6" fmla="*/ 0 w 24"/>
                  <a:gd name="T7" fmla="*/ 24 h 30"/>
                  <a:gd name="T8" fmla="*/ 24 w 24"/>
                  <a:gd name="T9" fmla="*/ 18 h 30"/>
                  <a:gd name="T10" fmla="*/ 0 w 24"/>
                  <a:gd name="T11" fmla="*/ 24 h 30"/>
                  <a:gd name="T12" fmla="*/ 0 w 24"/>
                  <a:gd name="T13" fmla="*/ 30 h 30"/>
                  <a:gd name="T14" fmla="*/ 6 w 24"/>
                  <a:gd name="T15" fmla="*/ 30 h 30"/>
                  <a:gd name="T16" fmla="*/ 12 w 24"/>
                  <a:gd name="T17" fmla="*/ 24 h 30"/>
                  <a:gd name="T18" fmla="*/ 0 w 24"/>
                  <a:gd name="T19"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0">
                    <a:moveTo>
                      <a:pt x="24" y="18"/>
                    </a:moveTo>
                    <a:lnTo>
                      <a:pt x="24" y="0"/>
                    </a:lnTo>
                    <a:lnTo>
                      <a:pt x="0" y="6"/>
                    </a:lnTo>
                    <a:lnTo>
                      <a:pt x="0" y="24"/>
                    </a:lnTo>
                    <a:lnTo>
                      <a:pt x="24" y="18"/>
                    </a:lnTo>
                    <a:close/>
                    <a:moveTo>
                      <a:pt x="0" y="24"/>
                    </a:moveTo>
                    <a:lnTo>
                      <a:pt x="0" y="30"/>
                    </a:lnTo>
                    <a:lnTo>
                      <a:pt x="6" y="30"/>
                    </a:lnTo>
                    <a:lnTo>
                      <a:pt x="12" y="24"/>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51213" name="Freeform 13"/>
              <p:cNvSpPr>
                <a:spLocks noEditPoints="1"/>
              </p:cNvSpPr>
              <p:nvPr/>
            </p:nvSpPr>
            <p:spPr bwMode="auto">
              <a:xfrm>
                <a:off x="4513" y="2346"/>
                <a:ext cx="24" cy="12"/>
              </a:xfrm>
              <a:custGeom>
                <a:avLst/>
                <a:gdLst>
                  <a:gd name="T0" fmla="*/ 24 w 24"/>
                  <a:gd name="T1" fmla="*/ 6 h 12"/>
                  <a:gd name="T2" fmla="*/ 24 w 24"/>
                  <a:gd name="T3" fmla="*/ 0 h 12"/>
                  <a:gd name="T4" fmla="*/ 0 w 24"/>
                  <a:gd name="T5" fmla="*/ 6 h 12"/>
                  <a:gd name="T6" fmla="*/ 0 w 24"/>
                  <a:gd name="T7" fmla="*/ 12 h 12"/>
                  <a:gd name="T8" fmla="*/ 24 w 24"/>
                  <a:gd name="T9" fmla="*/ 6 h 12"/>
                  <a:gd name="T10" fmla="*/ 24 w 24"/>
                  <a:gd name="T11" fmla="*/ 6 h 12"/>
                  <a:gd name="T12" fmla="*/ 24 w 24"/>
                  <a:gd name="T13" fmla="*/ 6 h 12"/>
                  <a:gd name="T14" fmla="*/ 24 w 24"/>
                  <a:gd name="T15" fmla="*/ 6 h 12"/>
                  <a:gd name="T16" fmla="*/ 12 w 24"/>
                  <a:gd name="T17" fmla="*/ 12 h 12"/>
                  <a:gd name="T18" fmla="*/ 24 w 24"/>
                  <a:gd name="T19"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2">
                    <a:moveTo>
                      <a:pt x="24" y="6"/>
                    </a:moveTo>
                    <a:lnTo>
                      <a:pt x="24" y="0"/>
                    </a:lnTo>
                    <a:lnTo>
                      <a:pt x="0" y="6"/>
                    </a:lnTo>
                    <a:lnTo>
                      <a:pt x="0" y="12"/>
                    </a:lnTo>
                    <a:lnTo>
                      <a:pt x="24" y="6"/>
                    </a:lnTo>
                    <a:close/>
                    <a:moveTo>
                      <a:pt x="24" y="6"/>
                    </a:moveTo>
                    <a:lnTo>
                      <a:pt x="24" y="6"/>
                    </a:lnTo>
                    <a:lnTo>
                      <a:pt x="24" y="6"/>
                    </a:lnTo>
                    <a:lnTo>
                      <a:pt x="12" y="12"/>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51214" name="Freeform 14"/>
              <p:cNvSpPr>
                <a:spLocks noEditPoints="1"/>
              </p:cNvSpPr>
              <p:nvPr/>
            </p:nvSpPr>
            <p:spPr bwMode="auto">
              <a:xfrm>
                <a:off x="4513" y="2346"/>
                <a:ext cx="24" cy="12"/>
              </a:xfrm>
              <a:custGeom>
                <a:avLst/>
                <a:gdLst>
                  <a:gd name="T0" fmla="*/ 0 w 24"/>
                  <a:gd name="T1" fmla="*/ 6 h 12"/>
                  <a:gd name="T2" fmla="*/ 0 w 24"/>
                  <a:gd name="T3" fmla="*/ 12 h 12"/>
                  <a:gd name="T4" fmla="*/ 24 w 24"/>
                  <a:gd name="T5" fmla="*/ 6 h 12"/>
                  <a:gd name="T6" fmla="*/ 24 w 24"/>
                  <a:gd name="T7" fmla="*/ 0 h 12"/>
                  <a:gd name="T8" fmla="*/ 0 w 24"/>
                  <a:gd name="T9" fmla="*/ 6 h 12"/>
                  <a:gd name="T10" fmla="*/ 24 w 24"/>
                  <a:gd name="T11" fmla="*/ 0 h 12"/>
                  <a:gd name="T12" fmla="*/ 0 w 24"/>
                  <a:gd name="T13" fmla="*/ 6 h 12"/>
                  <a:gd name="T14" fmla="*/ 24 w 24"/>
                  <a:gd name="T15" fmla="*/ 0 h 12"/>
                  <a:gd name="T16" fmla="*/ 0 w 24"/>
                  <a:gd name="T17" fmla="*/ 6 h 12"/>
                  <a:gd name="T18" fmla="*/ 24 w 24"/>
                  <a:gd name="T19"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2">
                    <a:moveTo>
                      <a:pt x="0" y="6"/>
                    </a:moveTo>
                    <a:lnTo>
                      <a:pt x="0" y="12"/>
                    </a:lnTo>
                    <a:lnTo>
                      <a:pt x="24" y="6"/>
                    </a:lnTo>
                    <a:lnTo>
                      <a:pt x="24" y="0"/>
                    </a:lnTo>
                    <a:lnTo>
                      <a:pt x="0" y="6"/>
                    </a:lnTo>
                    <a:close/>
                    <a:moveTo>
                      <a:pt x="24" y="0"/>
                    </a:moveTo>
                    <a:lnTo>
                      <a:pt x="0" y="6"/>
                    </a:lnTo>
                    <a:lnTo>
                      <a:pt x="24" y="0"/>
                    </a:lnTo>
                    <a:lnTo>
                      <a:pt x="0" y="6"/>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51215" name="Freeform 15"/>
              <p:cNvSpPr>
                <a:spLocks noEditPoints="1"/>
              </p:cNvSpPr>
              <p:nvPr/>
            </p:nvSpPr>
            <p:spPr bwMode="auto">
              <a:xfrm>
                <a:off x="4513" y="2352"/>
                <a:ext cx="24" cy="6"/>
              </a:xfrm>
              <a:custGeom>
                <a:avLst/>
                <a:gdLst>
                  <a:gd name="T0" fmla="*/ 24 w 24"/>
                  <a:gd name="T1" fmla="*/ 6 h 6"/>
                  <a:gd name="T2" fmla="*/ 24 w 24"/>
                  <a:gd name="T3" fmla="*/ 0 h 6"/>
                  <a:gd name="T4" fmla="*/ 0 w 24"/>
                  <a:gd name="T5" fmla="*/ 0 h 6"/>
                  <a:gd name="T6" fmla="*/ 0 w 24"/>
                  <a:gd name="T7" fmla="*/ 6 h 6"/>
                  <a:gd name="T8" fmla="*/ 24 w 24"/>
                  <a:gd name="T9" fmla="*/ 6 h 6"/>
                  <a:gd name="T10" fmla="*/ 0 w 24"/>
                  <a:gd name="T11" fmla="*/ 6 h 6"/>
                  <a:gd name="T12" fmla="*/ 24 w 24"/>
                  <a:gd name="T13" fmla="*/ 6 h 6"/>
                  <a:gd name="T14" fmla="*/ 0 w 24"/>
                  <a:gd name="T15" fmla="*/ 6 h 6"/>
                  <a:gd name="T16" fmla="*/ 24 w 24"/>
                  <a:gd name="T17" fmla="*/ 0 h 6"/>
                  <a:gd name="T18" fmla="*/ 0 w 24"/>
                  <a:gd name="T19"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6">
                    <a:moveTo>
                      <a:pt x="24" y="6"/>
                    </a:moveTo>
                    <a:lnTo>
                      <a:pt x="24" y="0"/>
                    </a:lnTo>
                    <a:lnTo>
                      <a:pt x="0" y="0"/>
                    </a:lnTo>
                    <a:lnTo>
                      <a:pt x="0" y="6"/>
                    </a:lnTo>
                    <a:lnTo>
                      <a:pt x="24" y="6"/>
                    </a:lnTo>
                    <a:close/>
                    <a:moveTo>
                      <a:pt x="0" y="6"/>
                    </a:moveTo>
                    <a:lnTo>
                      <a:pt x="24" y="6"/>
                    </a:lnTo>
                    <a:lnTo>
                      <a:pt x="0" y="6"/>
                    </a:lnTo>
                    <a:lnTo>
                      <a:pt x="24" y="0"/>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216" name="Freeform 16"/>
              <p:cNvSpPr>
                <a:spLocks noEditPoints="1"/>
              </p:cNvSpPr>
              <p:nvPr/>
            </p:nvSpPr>
            <p:spPr bwMode="auto">
              <a:xfrm>
                <a:off x="4513" y="2352"/>
                <a:ext cx="24" cy="24"/>
              </a:xfrm>
              <a:custGeom>
                <a:avLst/>
                <a:gdLst>
                  <a:gd name="T0" fmla="*/ 0 w 24"/>
                  <a:gd name="T1" fmla="*/ 6 h 24"/>
                  <a:gd name="T2" fmla="*/ 0 w 24"/>
                  <a:gd name="T3" fmla="*/ 6 h 24"/>
                  <a:gd name="T4" fmla="*/ 0 w 24"/>
                  <a:gd name="T5" fmla="*/ 12 h 24"/>
                  <a:gd name="T6" fmla="*/ 6 w 24"/>
                  <a:gd name="T7" fmla="*/ 24 h 24"/>
                  <a:gd name="T8" fmla="*/ 6 w 24"/>
                  <a:gd name="T9" fmla="*/ 24 h 24"/>
                  <a:gd name="T10" fmla="*/ 6 w 24"/>
                  <a:gd name="T11" fmla="*/ 24 h 24"/>
                  <a:gd name="T12" fmla="*/ 6 w 24"/>
                  <a:gd name="T13" fmla="*/ 12 h 24"/>
                  <a:gd name="T14" fmla="*/ 24 w 24"/>
                  <a:gd name="T15" fmla="*/ 12 h 24"/>
                  <a:gd name="T16" fmla="*/ 24 w 24"/>
                  <a:gd name="T17" fmla="*/ 6 h 24"/>
                  <a:gd name="T18" fmla="*/ 24 w 24"/>
                  <a:gd name="T19" fmla="*/ 6 h 24"/>
                  <a:gd name="T20" fmla="*/ 24 w 24"/>
                  <a:gd name="T21" fmla="*/ 0 h 24"/>
                  <a:gd name="T22" fmla="*/ 0 w 24"/>
                  <a:gd name="T23" fmla="*/ 6 h 24"/>
                  <a:gd name="T24" fmla="*/ 24 w 24"/>
                  <a:gd name="T25" fmla="*/ 0 h 24"/>
                  <a:gd name="T26" fmla="*/ 0 w 24"/>
                  <a:gd name="T27" fmla="*/ 6 h 24"/>
                  <a:gd name="T28" fmla="*/ 24 w 24"/>
                  <a:gd name="T29" fmla="*/ 0 h 24"/>
                  <a:gd name="T30" fmla="*/ 0 w 24"/>
                  <a:gd name="T31" fmla="*/ 0 h 24"/>
                  <a:gd name="T32" fmla="*/ 24 w 24"/>
                  <a:gd name="T3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24">
                    <a:moveTo>
                      <a:pt x="0" y="6"/>
                    </a:moveTo>
                    <a:lnTo>
                      <a:pt x="0" y="6"/>
                    </a:lnTo>
                    <a:lnTo>
                      <a:pt x="0" y="12"/>
                    </a:lnTo>
                    <a:lnTo>
                      <a:pt x="6" y="24"/>
                    </a:lnTo>
                    <a:lnTo>
                      <a:pt x="6" y="24"/>
                    </a:lnTo>
                    <a:lnTo>
                      <a:pt x="6" y="24"/>
                    </a:lnTo>
                    <a:lnTo>
                      <a:pt x="6" y="12"/>
                    </a:lnTo>
                    <a:lnTo>
                      <a:pt x="24" y="12"/>
                    </a:lnTo>
                    <a:lnTo>
                      <a:pt x="24" y="6"/>
                    </a:lnTo>
                    <a:lnTo>
                      <a:pt x="24" y="6"/>
                    </a:lnTo>
                    <a:lnTo>
                      <a:pt x="24" y="0"/>
                    </a:lnTo>
                    <a:lnTo>
                      <a:pt x="0" y="6"/>
                    </a:lnTo>
                    <a:close/>
                    <a:moveTo>
                      <a:pt x="24" y="0"/>
                    </a:moveTo>
                    <a:lnTo>
                      <a:pt x="0" y="6"/>
                    </a:lnTo>
                    <a:lnTo>
                      <a:pt x="24" y="0"/>
                    </a:lnTo>
                    <a:lnTo>
                      <a:pt x="0" y="0"/>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51217" name="Freeform 17"/>
              <p:cNvSpPr>
                <a:spLocks noEditPoints="1"/>
              </p:cNvSpPr>
              <p:nvPr/>
            </p:nvSpPr>
            <p:spPr bwMode="auto">
              <a:xfrm>
                <a:off x="4519" y="2358"/>
                <a:ext cx="24" cy="18"/>
              </a:xfrm>
              <a:custGeom>
                <a:avLst/>
                <a:gdLst>
                  <a:gd name="T0" fmla="*/ 18 w 24"/>
                  <a:gd name="T1" fmla="*/ 18 h 18"/>
                  <a:gd name="T2" fmla="*/ 24 w 24"/>
                  <a:gd name="T3" fmla="*/ 18 h 18"/>
                  <a:gd name="T4" fmla="*/ 6 w 24"/>
                  <a:gd name="T5" fmla="*/ 0 h 18"/>
                  <a:gd name="T6" fmla="*/ 0 w 24"/>
                  <a:gd name="T7" fmla="*/ 0 h 18"/>
                  <a:gd name="T8" fmla="*/ 18 w 24"/>
                  <a:gd name="T9" fmla="*/ 18 h 18"/>
                  <a:gd name="T10" fmla="*/ 0 w 24"/>
                  <a:gd name="T11" fmla="*/ 0 h 18"/>
                  <a:gd name="T12" fmla="*/ 0 w 24"/>
                  <a:gd name="T13" fmla="*/ 6 h 18"/>
                  <a:gd name="T14" fmla="*/ 0 w 24"/>
                  <a:gd name="T15" fmla="*/ 6 h 18"/>
                  <a:gd name="T16" fmla="*/ 12 w 24"/>
                  <a:gd name="T17" fmla="*/ 12 h 18"/>
                  <a:gd name="T18" fmla="*/ 0 w 24"/>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18" y="18"/>
                    </a:moveTo>
                    <a:lnTo>
                      <a:pt x="24" y="18"/>
                    </a:lnTo>
                    <a:lnTo>
                      <a:pt x="6" y="0"/>
                    </a:lnTo>
                    <a:lnTo>
                      <a:pt x="0" y="0"/>
                    </a:lnTo>
                    <a:lnTo>
                      <a:pt x="18" y="18"/>
                    </a:lnTo>
                    <a:close/>
                    <a:moveTo>
                      <a:pt x="0" y="0"/>
                    </a:moveTo>
                    <a:lnTo>
                      <a:pt x="0" y="6"/>
                    </a:lnTo>
                    <a:lnTo>
                      <a:pt x="0" y="6"/>
                    </a:lnTo>
                    <a:lnTo>
                      <a:pt x="12" y="12"/>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51218" name="Freeform 18"/>
              <p:cNvSpPr>
                <a:spLocks noEditPoints="1"/>
              </p:cNvSpPr>
              <p:nvPr/>
            </p:nvSpPr>
            <p:spPr bwMode="auto">
              <a:xfrm>
                <a:off x="4519" y="2346"/>
                <a:ext cx="24" cy="36"/>
              </a:xfrm>
              <a:custGeom>
                <a:avLst/>
                <a:gdLst>
                  <a:gd name="T0" fmla="*/ 0 w 24"/>
                  <a:gd name="T1" fmla="*/ 24 h 36"/>
                  <a:gd name="T2" fmla="*/ 0 w 24"/>
                  <a:gd name="T3" fmla="*/ 24 h 36"/>
                  <a:gd name="T4" fmla="*/ 24 w 24"/>
                  <a:gd name="T5" fmla="*/ 36 h 36"/>
                  <a:gd name="T6" fmla="*/ 24 w 24"/>
                  <a:gd name="T7" fmla="*/ 24 h 36"/>
                  <a:gd name="T8" fmla="*/ 24 w 24"/>
                  <a:gd name="T9" fmla="*/ 18 h 36"/>
                  <a:gd name="T10" fmla="*/ 0 w 24"/>
                  <a:gd name="T11" fmla="*/ 24 h 36"/>
                  <a:gd name="T12" fmla="*/ 24 w 24"/>
                  <a:gd name="T13" fmla="*/ 18 h 36"/>
                  <a:gd name="T14" fmla="*/ 18 w 24"/>
                  <a:gd name="T15" fmla="*/ 0 h 36"/>
                  <a:gd name="T16" fmla="*/ 6 w 24"/>
                  <a:gd name="T17" fmla="*/ 12 h 36"/>
                  <a:gd name="T18" fmla="*/ 12 w 24"/>
                  <a:gd name="T19" fmla="*/ 24 h 36"/>
                  <a:gd name="T20" fmla="*/ 24 w 24"/>
                  <a:gd name="T21"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36">
                    <a:moveTo>
                      <a:pt x="0" y="24"/>
                    </a:moveTo>
                    <a:lnTo>
                      <a:pt x="0" y="24"/>
                    </a:lnTo>
                    <a:lnTo>
                      <a:pt x="24" y="36"/>
                    </a:lnTo>
                    <a:lnTo>
                      <a:pt x="24" y="24"/>
                    </a:lnTo>
                    <a:lnTo>
                      <a:pt x="24" y="18"/>
                    </a:lnTo>
                    <a:lnTo>
                      <a:pt x="0" y="24"/>
                    </a:lnTo>
                    <a:close/>
                    <a:moveTo>
                      <a:pt x="24" y="18"/>
                    </a:moveTo>
                    <a:lnTo>
                      <a:pt x="18" y="0"/>
                    </a:lnTo>
                    <a:lnTo>
                      <a:pt x="6" y="12"/>
                    </a:lnTo>
                    <a:lnTo>
                      <a:pt x="12" y="24"/>
                    </a:lnTo>
                    <a:lnTo>
                      <a:pt x="24" y="18"/>
                    </a:lnTo>
                    <a:close/>
                  </a:path>
                </a:pathLst>
              </a:custGeom>
              <a:solidFill>
                <a:srgbClr val="00FF00"/>
              </a:solidFill>
              <a:ln w="9525">
                <a:solidFill>
                  <a:srgbClr val="00FF00"/>
                </a:solidFill>
                <a:round/>
                <a:headEnd/>
                <a:tailEnd/>
              </a:ln>
            </p:spPr>
            <p:txBody>
              <a:bodyPr/>
              <a:lstStyle/>
              <a:p>
                <a:endParaRPr lang="zh-CN" altLang="en-US"/>
              </a:p>
            </p:txBody>
          </p:sp>
          <p:sp>
            <p:nvSpPr>
              <p:cNvPr id="51219" name="Freeform 19"/>
              <p:cNvSpPr>
                <a:spLocks noEditPoints="1"/>
              </p:cNvSpPr>
              <p:nvPr/>
            </p:nvSpPr>
            <p:spPr bwMode="auto">
              <a:xfrm>
                <a:off x="4507" y="2370"/>
                <a:ext cx="36" cy="35"/>
              </a:xfrm>
              <a:custGeom>
                <a:avLst/>
                <a:gdLst>
                  <a:gd name="T0" fmla="*/ 12 w 36"/>
                  <a:gd name="T1" fmla="*/ 6 h 35"/>
                  <a:gd name="T2" fmla="*/ 12 w 36"/>
                  <a:gd name="T3" fmla="*/ 6 h 35"/>
                  <a:gd name="T4" fmla="*/ 0 w 36"/>
                  <a:gd name="T5" fmla="*/ 12 h 35"/>
                  <a:gd name="T6" fmla="*/ 12 w 36"/>
                  <a:gd name="T7" fmla="*/ 35 h 35"/>
                  <a:gd name="T8" fmla="*/ 30 w 36"/>
                  <a:gd name="T9" fmla="*/ 18 h 35"/>
                  <a:gd name="T10" fmla="*/ 36 w 36"/>
                  <a:gd name="T11" fmla="*/ 6 h 35"/>
                  <a:gd name="T12" fmla="*/ 12 w 36"/>
                  <a:gd name="T13" fmla="*/ 6 h 35"/>
                  <a:gd name="T14" fmla="*/ 12 w 36"/>
                  <a:gd name="T15" fmla="*/ 0 h 35"/>
                  <a:gd name="T16" fmla="*/ 12 w 36"/>
                  <a:gd name="T17" fmla="*/ 0 h 35"/>
                  <a:gd name="T18" fmla="*/ 12 w 36"/>
                  <a:gd name="T19" fmla="*/ 6 h 35"/>
                  <a:gd name="T20" fmla="*/ 24 w 36"/>
                  <a:gd name="T21" fmla="*/ 6 h 35"/>
                  <a:gd name="T22" fmla="*/ 12 w 36"/>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35">
                    <a:moveTo>
                      <a:pt x="12" y="6"/>
                    </a:moveTo>
                    <a:lnTo>
                      <a:pt x="12" y="6"/>
                    </a:lnTo>
                    <a:lnTo>
                      <a:pt x="0" y="12"/>
                    </a:lnTo>
                    <a:lnTo>
                      <a:pt x="12" y="35"/>
                    </a:lnTo>
                    <a:lnTo>
                      <a:pt x="30" y="18"/>
                    </a:lnTo>
                    <a:lnTo>
                      <a:pt x="36" y="6"/>
                    </a:lnTo>
                    <a:lnTo>
                      <a:pt x="12" y="6"/>
                    </a:lnTo>
                    <a:close/>
                    <a:moveTo>
                      <a:pt x="12" y="0"/>
                    </a:moveTo>
                    <a:lnTo>
                      <a:pt x="12" y="0"/>
                    </a:lnTo>
                    <a:lnTo>
                      <a:pt x="12" y="6"/>
                    </a:lnTo>
                    <a:lnTo>
                      <a:pt x="24" y="6"/>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220" name="Freeform 20"/>
              <p:cNvSpPr>
                <a:spLocks noEditPoints="1"/>
              </p:cNvSpPr>
              <p:nvPr/>
            </p:nvSpPr>
            <p:spPr bwMode="auto">
              <a:xfrm>
                <a:off x="4495" y="2382"/>
                <a:ext cx="30" cy="18"/>
              </a:xfrm>
              <a:custGeom>
                <a:avLst/>
                <a:gdLst>
                  <a:gd name="T0" fmla="*/ 12 w 30"/>
                  <a:gd name="T1" fmla="*/ 18 h 18"/>
                  <a:gd name="T2" fmla="*/ 12 w 30"/>
                  <a:gd name="T3" fmla="*/ 18 h 18"/>
                  <a:gd name="T4" fmla="*/ 12 w 30"/>
                  <a:gd name="T5" fmla="*/ 18 h 18"/>
                  <a:gd name="T6" fmla="*/ 30 w 30"/>
                  <a:gd name="T7" fmla="*/ 6 h 18"/>
                  <a:gd name="T8" fmla="*/ 30 w 30"/>
                  <a:gd name="T9" fmla="*/ 6 h 18"/>
                  <a:gd name="T10" fmla="*/ 24 w 30"/>
                  <a:gd name="T11" fmla="*/ 0 h 18"/>
                  <a:gd name="T12" fmla="*/ 12 w 30"/>
                  <a:gd name="T13" fmla="*/ 18 h 18"/>
                  <a:gd name="T14" fmla="*/ 12 w 30"/>
                  <a:gd name="T15" fmla="*/ 0 h 18"/>
                  <a:gd name="T16" fmla="*/ 0 w 30"/>
                  <a:gd name="T17" fmla="*/ 12 h 18"/>
                  <a:gd name="T18" fmla="*/ 12 w 30"/>
                  <a:gd name="T19" fmla="*/ 18 h 18"/>
                  <a:gd name="T20" fmla="*/ 18 w 30"/>
                  <a:gd name="T21" fmla="*/ 12 h 18"/>
                  <a:gd name="T22" fmla="*/ 12 w 30"/>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 h="18">
                    <a:moveTo>
                      <a:pt x="12" y="18"/>
                    </a:moveTo>
                    <a:lnTo>
                      <a:pt x="12" y="18"/>
                    </a:lnTo>
                    <a:lnTo>
                      <a:pt x="12" y="18"/>
                    </a:lnTo>
                    <a:lnTo>
                      <a:pt x="30" y="6"/>
                    </a:lnTo>
                    <a:lnTo>
                      <a:pt x="30" y="6"/>
                    </a:lnTo>
                    <a:lnTo>
                      <a:pt x="24" y="0"/>
                    </a:lnTo>
                    <a:lnTo>
                      <a:pt x="12" y="18"/>
                    </a:lnTo>
                    <a:close/>
                    <a:moveTo>
                      <a:pt x="12" y="0"/>
                    </a:moveTo>
                    <a:lnTo>
                      <a:pt x="0" y="12"/>
                    </a:lnTo>
                    <a:lnTo>
                      <a:pt x="12" y="18"/>
                    </a:lnTo>
                    <a:lnTo>
                      <a:pt x="18"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221" name="Freeform 21"/>
              <p:cNvSpPr>
                <a:spLocks noEditPoints="1"/>
              </p:cNvSpPr>
              <p:nvPr/>
            </p:nvSpPr>
            <p:spPr bwMode="auto">
              <a:xfrm>
                <a:off x="4507" y="2382"/>
                <a:ext cx="48" cy="29"/>
              </a:xfrm>
              <a:custGeom>
                <a:avLst/>
                <a:gdLst>
                  <a:gd name="T0" fmla="*/ 6 w 48"/>
                  <a:gd name="T1" fmla="*/ 23 h 29"/>
                  <a:gd name="T2" fmla="*/ 12 w 48"/>
                  <a:gd name="T3" fmla="*/ 23 h 29"/>
                  <a:gd name="T4" fmla="*/ 18 w 48"/>
                  <a:gd name="T5" fmla="*/ 29 h 29"/>
                  <a:gd name="T6" fmla="*/ 30 w 48"/>
                  <a:gd name="T7" fmla="*/ 29 h 29"/>
                  <a:gd name="T8" fmla="*/ 30 w 48"/>
                  <a:gd name="T9" fmla="*/ 29 h 29"/>
                  <a:gd name="T10" fmla="*/ 48 w 48"/>
                  <a:gd name="T11" fmla="*/ 12 h 29"/>
                  <a:gd name="T12" fmla="*/ 24 w 48"/>
                  <a:gd name="T13" fmla="*/ 6 h 29"/>
                  <a:gd name="T14" fmla="*/ 18 w 48"/>
                  <a:gd name="T15" fmla="*/ 6 h 29"/>
                  <a:gd name="T16" fmla="*/ 12 w 48"/>
                  <a:gd name="T17" fmla="*/ 0 h 29"/>
                  <a:gd name="T18" fmla="*/ 6 w 48"/>
                  <a:gd name="T19" fmla="*/ 23 h 29"/>
                  <a:gd name="T20" fmla="*/ 0 w 48"/>
                  <a:gd name="T21" fmla="*/ 18 h 29"/>
                  <a:gd name="T22" fmla="*/ 0 w 48"/>
                  <a:gd name="T23" fmla="*/ 23 h 29"/>
                  <a:gd name="T24" fmla="*/ 6 w 48"/>
                  <a:gd name="T25" fmla="*/ 23 h 29"/>
                  <a:gd name="T26" fmla="*/ 12 w 48"/>
                  <a:gd name="T27" fmla="*/ 12 h 29"/>
                  <a:gd name="T28" fmla="*/ 0 w 48"/>
                  <a:gd name="T29" fmla="*/ 18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29">
                    <a:moveTo>
                      <a:pt x="6" y="23"/>
                    </a:moveTo>
                    <a:lnTo>
                      <a:pt x="12" y="23"/>
                    </a:lnTo>
                    <a:lnTo>
                      <a:pt x="18" y="29"/>
                    </a:lnTo>
                    <a:lnTo>
                      <a:pt x="30" y="29"/>
                    </a:lnTo>
                    <a:lnTo>
                      <a:pt x="30" y="29"/>
                    </a:lnTo>
                    <a:lnTo>
                      <a:pt x="48" y="12"/>
                    </a:lnTo>
                    <a:lnTo>
                      <a:pt x="24" y="6"/>
                    </a:lnTo>
                    <a:lnTo>
                      <a:pt x="18" y="6"/>
                    </a:lnTo>
                    <a:lnTo>
                      <a:pt x="12" y="0"/>
                    </a:lnTo>
                    <a:lnTo>
                      <a:pt x="6" y="23"/>
                    </a:lnTo>
                    <a:close/>
                    <a:moveTo>
                      <a:pt x="0" y="18"/>
                    </a:moveTo>
                    <a:lnTo>
                      <a:pt x="0" y="23"/>
                    </a:lnTo>
                    <a:lnTo>
                      <a:pt x="6" y="23"/>
                    </a:lnTo>
                    <a:lnTo>
                      <a:pt x="12" y="12"/>
                    </a:lnTo>
                    <a:lnTo>
                      <a:pt x="0" y="18"/>
                    </a:lnTo>
                    <a:close/>
                  </a:path>
                </a:pathLst>
              </a:custGeom>
              <a:solidFill>
                <a:srgbClr val="00FF00"/>
              </a:solidFill>
              <a:ln w="9525">
                <a:solidFill>
                  <a:srgbClr val="00FF00"/>
                </a:solidFill>
                <a:round/>
                <a:headEnd/>
                <a:tailEnd/>
              </a:ln>
            </p:spPr>
            <p:txBody>
              <a:bodyPr/>
              <a:lstStyle/>
              <a:p>
                <a:endParaRPr lang="zh-CN" altLang="en-US"/>
              </a:p>
            </p:txBody>
          </p:sp>
          <p:sp>
            <p:nvSpPr>
              <p:cNvPr id="51222" name="Freeform 22"/>
              <p:cNvSpPr>
                <a:spLocks noEditPoints="1"/>
              </p:cNvSpPr>
              <p:nvPr/>
            </p:nvSpPr>
            <p:spPr bwMode="auto">
              <a:xfrm>
                <a:off x="4537" y="2394"/>
                <a:ext cx="24" cy="29"/>
              </a:xfrm>
              <a:custGeom>
                <a:avLst/>
                <a:gdLst>
                  <a:gd name="T0" fmla="*/ 0 w 24"/>
                  <a:gd name="T1" fmla="*/ 11 h 29"/>
                  <a:gd name="T2" fmla="*/ 0 w 24"/>
                  <a:gd name="T3" fmla="*/ 29 h 29"/>
                  <a:gd name="T4" fmla="*/ 24 w 24"/>
                  <a:gd name="T5" fmla="*/ 23 h 29"/>
                  <a:gd name="T6" fmla="*/ 24 w 24"/>
                  <a:gd name="T7" fmla="*/ 6 h 29"/>
                  <a:gd name="T8" fmla="*/ 0 w 24"/>
                  <a:gd name="T9" fmla="*/ 11 h 29"/>
                  <a:gd name="T10" fmla="*/ 24 w 24"/>
                  <a:gd name="T11" fmla="*/ 6 h 29"/>
                  <a:gd name="T12" fmla="*/ 18 w 24"/>
                  <a:gd name="T13" fmla="*/ 6 h 29"/>
                  <a:gd name="T14" fmla="*/ 18 w 24"/>
                  <a:gd name="T15" fmla="*/ 0 h 29"/>
                  <a:gd name="T16" fmla="*/ 12 w 24"/>
                  <a:gd name="T17" fmla="*/ 11 h 29"/>
                  <a:gd name="T18" fmla="*/ 24 w 24"/>
                  <a:gd name="T19"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9">
                    <a:moveTo>
                      <a:pt x="0" y="11"/>
                    </a:moveTo>
                    <a:lnTo>
                      <a:pt x="0" y="29"/>
                    </a:lnTo>
                    <a:lnTo>
                      <a:pt x="24" y="23"/>
                    </a:lnTo>
                    <a:lnTo>
                      <a:pt x="24" y="6"/>
                    </a:lnTo>
                    <a:lnTo>
                      <a:pt x="0" y="11"/>
                    </a:lnTo>
                    <a:close/>
                    <a:moveTo>
                      <a:pt x="24" y="6"/>
                    </a:moveTo>
                    <a:lnTo>
                      <a:pt x="18" y="6"/>
                    </a:lnTo>
                    <a:lnTo>
                      <a:pt x="18" y="0"/>
                    </a:lnTo>
                    <a:lnTo>
                      <a:pt x="12" y="11"/>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51223" name="Freeform 23"/>
              <p:cNvSpPr>
                <a:spLocks/>
              </p:cNvSpPr>
              <p:nvPr/>
            </p:nvSpPr>
            <p:spPr bwMode="auto">
              <a:xfrm>
                <a:off x="4549" y="2417"/>
                <a:ext cx="12" cy="12"/>
              </a:xfrm>
              <a:custGeom>
                <a:avLst/>
                <a:gdLst>
                  <a:gd name="T0" fmla="*/ 6 w 12"/>
                  <a:gd name="T1" fmla="*/ 12 h 12"/>
                  <a:gd name="T2" fmla="*/ 12 w 12"/>
                  <a:gd name="T3" fmla="*/ 6 h 12"/>
                  <a:gd name="T4" fmla="*/ 12 w 12"/>
                  <a:gd name="T5" fmla="*/ 0 h 12"/>
                  <a:gd name="T6" fmla="*/ 0 w 12"/>
                  <a:gd name="T7" fmla="*/ 0 h 12"/>
                  <a:gd name="T8" fmla="*/ 6 w 12"/>
                  <a:gd name="T9" fmla="*/ 12 h 12"/>
                </a:gdLst>
                <a:ahLst/>
                <a:cxnLst>
                  <a:cxn ang="0">
                    <a:pos x="T0" y="T1"/>
                  </a:cxn>
                  <a:cxn ang="0">
                    <a:pos x="T2" y="T3"/>
                  </a:cxn>
                  <a:cxn ang="0">
                    <a:pos x="T4" y="T5"/>
                  </a:cxn>
                  <a:cxn ang="0">
                    <a:pos x="T6" y="T7"/>
                  </a:cxn>
                  <a:cxn ang="0">
                    <a:pos x="T8" y="T9"/>
                  </a:cxn>
                </a:cxnLst>
                <a:rect l="0" t="0" r="r" b="b"/>
                <a:pathLst>
                  <a:path w="12" h="12">
                    <a:moveTo>
                      <a:pt x="6" y="12"/>
                    </a:moveTo>
                    <a:lnTo>
                      <a:pt x="12" y="6"/>
                    </a:lnTo>
                    <a:lnTo>
                      <a:pt x="12" y="0"/>
                    </a:lnTo>
                    <a:lnTo>
                      <a:pt x="0" y="0"/>
                    </a:lnTo>
                    <a:lnTo>
                      <a:pt x="6" y="12"/>
                    </a:lnTo>
                    <a:close/>
                  </a:path>
                </a:pathLst>
              </a:custGeom>
              <a:solidFill>
                <a:srgbClr val="00FF00"/>
              </a:solidFill>
              <a:ln w="9525">
                <a:solidFill>
                  <a:srgbClr val="00FF00"/>
                </a:solidFill>
                <a:round/>
                <a:headEnd/>
                <a:tailEnd/>
              </a:ln>
            </p:spPr>
            <p:txBody>
              <a:bodyPr/>
              <a:lstStyle/>
              <a:p>
                <a:endParaRPr lang="zh-CN" altLang="en-US"/>
              </a:p>
            </p:txBody>
          </p:sp>
          <p:sp>
            <p:nvSpPr>
              <p:cNvPr id="51224" name="Freeform 24"/>
              <p:cNvSpPr>
                <a:spLocks/>
              </p:cNvSpPr>
              <p:nvPr/>
            </p:nvSpPr>
            <p:spPr bwMode="auto">
              <a:xfrm>
                <a:off x="4555" y="2459"/>
                <a:ext cx="6" cy="6"/>
              </a:xfrm>
              <a:custGeom>
                <a:avLst/>
                <a:gdLst>
                  <a:gd name="T0" fmla="*/ 6 w 6"/>
                  <a:gd name="T1" fmla="*/ 0 h 6"/>
                  <a:gd name="T2" fmla="*/ 0 w 6"/>
                  <a:gd name="T3" fmla="*/ 0 h 6"/>
                  <a:gd name="T4" fmla="*/ 0 w 6"/>
                  <a:gd name="T5" fmla="*/ 0 h 6"/>
                  <a:gd name="T6" fmla="*/ 0 w 6"/>
                  <a:gd name="T7" fmla="*/ 6 h 6"/>
                  <a:gd name="T8" fmla="*/ 6 w 6"/>
                  <a:gd name="T9" fmla="*/ 6 h 6"/>
                  <a:gd name="T10" fmla="*/ 6 w 6"/>
                  <a:gd name="T11" fmla="*/ 6 h 6"/>
                  <a:gd name="T12" fmla="*/ 6 w 6"/>
                  <a:gd name="T13" fmla="*/ 0 h 6"/>
                  <a:gd name="T14" fmla="*/ 6 w 6"/>
                  <a:gd name="T15" fmla="*/ 0 h 6"/>
                  <a:gd name="T16" fmla="*/ 6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6" y="0"/>
                    </a:moveTo>
                    <a:lnTo>
                      <a:pt x="0" y="0"/>
                    </a:lnTo>
                    <a:lnTo>
                      <a:pt x="0" y="0"/>
                    </a:lnTo>
                    <a:lnTo>
                      <a:pt x="0" y="6"/>
                    </a:lnTo>
                    <a:lnTo>
                      <a:pt x="6" y="6"/>
                    </a:lnTo>
                    <a:lnTo>
                      <a:pt x="6" y="6"/>
                    </a:lnTo>
                    <a:lnTo>
                      <a:pt x="6" y="0"/>
                    </a:lnTo>
                    <a:lnTo>
                      <a:pt x="6" y="0"/>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225" name="Freeform 25"/>
              <p:cNvSpPr>
                <a:spLocks/>
              </p:cNvSpPr>
              <p:nvPr/>
            </p:nvSpPr>
            <p:spPr bwMode="auto">
              <a:xfrm>
                <a:off x="4537" y="2459"/>
                <a:ext cx="12" cy="6"/>
              </a:xfrm>
              <a:custGeom>
                <a:avLst/>
                <a:gdLst>
                  <a:gd name="T0" fmla="*/ 6 w 12"/>
                  <a:gd name="T1" fmla="*/ 0 h 6"/>
                  <a:gd name="T2" fmla="*/ 6 w 12"/>
                  <a:gd name="T3" fmla="*/ 0 h 6"/>
                  <a:gd name="T4" fmla="*/ 0 w 12"/>
                  <a:gd name="T5" fmla="*/ 0 h 6"/>
                  <a:gd name="T6" fmla="*/ 6 w 12"/>
                  <a:gd name="T7" fmla="*/ 6 h 6"/>
                  <a:gd name="T8" fmla="*/ 6 w 12"/>
                  <a:gd name="T9" fmla="*/ 6 h 6"/>
                  <a:gd name="T10" fmla="*/ 12 w 12"/>
                  <a:gd name="T11" fmla="*/ 6 h 6"/>
                  <a:gd name="T12" fmla="*/ 12 w 12"/>
                  <a:gd name="T13" fmla="*/ 0 h 6"/>
                  <a:gd name="T14" fmla="*/ 12 w 12"/>
                  <a:gd name="T15" fmla="*/ 0 h 6"/>
                  <a:gd name="T16" fmla="*/ 6 w 12"/>
                  <a:gd name="T17" fmla="*/ 0 h 6"/>
                  <a:gd name="T18" fmla="*/ 6 w 12"/>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6">
                    <a:moveTo>
                      <a:pt x="6" y="0"/>
                    </a:moveTo>
                    <a:lnTo>
                      <a:pt x="6" y="0"/>
                    </a:lnTo>
                    <a:lnTo>
                      <a:pt x="0" y="0"/>
                    </a:lnTo>
                    <a:lnTo>
                      <a:pt x="6" y="6"/>
                    </a:lnTo>
                    <a:lnTo>
                      <a:pt x="6" y="6"/>
                    </a:lnTo>
                    <a:lnTo>
                      <a:pt x="12" y="6"/>
                    </a:lnTo>
                    <a:lnTo>
                      <a:pt x="12" y="0"/>
                    </a:lnTo>
                    <a:lnTo>
                      <a:pt x="12" y="0"/>
                    </a:lnTo>
                    <a:lnTo>
                      <a:pt x="6" y="0"/>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226" name="Freeform 26"/>
              <p:cNvSpPr>
                <a:spLocks/>
              </p:cNvSpPr>
              <p:nvPr/>
            </p:nvSpPr>
            <p:spPr bwMode="auto">
              <a:xfrm>
                <a:off x="4549" y="2358"/>
                <a:ext cx="1" cy="12"/>
              </a:xfrm>
              <a:custGeom>
                <a:avLst/>
                <a:gdLst>
                  <a:gd name="T0" fmla="*/ 12 h 12"/>
                  <a:gd name="T1" fmla="*/ 6 h 12"/>
                  <a:gd name="T2" fmla="*/ 0 h 12"/>
                  <a:gd name="T3" fmla="*/ 6 h 12"/>
                  <a:gd name="T4" fmla="*/ 12 h 12"/>
                  <a:gd name="T5" fmla="*/ 12 h 12"/>
                  <a:gd name="T6" fmla="*/ 12 h 12"/>
                </a:gdLst>
                <a:ahLst/>
                <a:cxnLst>
                  <a:cxn ang="0">
                    <a:pos x="0" y="T0"/>
                  </a:cxn>
                  <a:cxn ang="0">
                    <a:pos x="0" y="T1"/>
                  </a:cxn>
                  <a:cxn ang="0">
                    <a:pos x="0" y="T2"/>
                  </a:cxn>
                  <a:cxn ang="0">
                    <a:pos x="0" y="T3"/>
                  </a:cxn>
                  <a:cxn ang="0">
                    <a:pos x="0" y="T4"/>
                  </a:cxn>
                  <a:cxn ang="0">
                    <a:pos x="0" y="T5"/>
                  </a:cxn>
                  <a:cxn ang="0">
                    <a:pos x="0" y="T6"/>
                  </a:cxn>
                </a:cxnLst>
                <a:rect l="0" t="0" r="r" b="b"/>
                <a:pathLst>
                  <a:path h="12">
                    <a:moveTo>
                      <a:pt x="0" y="12"/>
                    </a:moveTo>
                    <a:lnTo>
                      <a:pt x="0" y="6"/>
                    </a:lnTo>
                    <a:lnTo>
                      <a:pt x="0" y="0"/>
                    </a:lnTo>
                    <a:lnTo>
                      <a:pt x="0" y="6"/>
                    </a:lnTo>
                    <a:lnTo>
                      <a:pt x="0" y="12"/>
                    </a:lnTo>
                    <a:lnTo>
                      <a:pt x="0" y="12"/>
                    </a:lnTo>
                    <a:lnTo>
                      <a:pt x="0" y="12"/>
                    </a:lnTo>
                    <a:close/>
                  </a:path>
                </a:pathLst>
              </a:custGeom>
              <a:solidFill>
                <a:srgbClr val="00FF00"/>
              </a:solidFill>
              <a:ln w="9525">
                <a:solidFill>
                  <a:srgbClr val="00FF00"/>
                </a:solidFill>
                <a:round/>
                <a:headEnd/>
                <a:tailEnd/>
              </a:ln>
            </p:spPr>
            <p:txBody>
              <a:bodyPr/>
              <a:lstStyle/>
              <a:p>
                <a:endParaRPr lang="zh-CN" altLang="en-US"/>
              </a:p>
            </p:txBody>
          </p:sp>
          <p:sp>
            <p:nvSpPr>
              <p:cNvPr id="51227" name="Freeform 27"/>
              <p:cNvSpPr>
                <a:spLocks/>
              </p:cNvSpPr>
              <p:nvPr/>
            </p:nvSpPr>
            <p:spPr bwMode="auto">
              <a:xfrm>
                <a:off x="4555" y="2346"/>
                <a:ext cx="12" cy="30"/>
              </a:xfrm>
              <a:custGeom>
                <a:avLst/>
                <a:gdLst>
                  <a:gd name="T0" fmla="*/ 0 w 12"/>
                  <a:gd name="T1" fmla="*/ 30 h 30"/>
                  <a:gd name="T2" fmla="*/ 6 w 12"/>
                  <a:gd name="T3" fmla="*/ 6 h 30"/>
                  <a:gd name="T4" fmla="*/ 6 w 12"/>
                  <a:gd name="T5" fmla="*/ 6 h 30"/>
                  <a:gd name="T6" fmla="*/ 12 w 12"/>
                  <a:gd name="T7" fmla="*/ 0 h 30"/>
                  <a:gd name="T8" fmla="*/ 12 w 12"/>
                  <a:gd name="T9" fmla="*/ 0 h 30"/>
                  <a:gd name="T10" fmla="*/ 6 w 12"/>
                  <a:gd name="T11" fmla="*/ 6 h 30"/>
                  <a:gd name="T12" fmla="*/ 6 w 12"/>
                  <a:gd name="T13" fmla="*/ 12 h 30"/>
                  <a:gd name="T14" fmla="*/ 6 w 12"/>
                  <a:gd name="T15" fmla="*/ 18 h 30"/>
                  <a:gd name="T16" fmla="*/ 0 w 12"/>
                  <a:gd name="T17" fmla="*/ 24 h 30"/>
                  <a:gd name="T18" fmla="*/ 0 w 12"/>
                  <a:gd name="T19" fmla="*/ 24 h 30"/>
                  <a:gd name="T20" fmla="*/ 0 w 12"/>
                  <a:gd name="T21" fmla="*/ 30 h 30"/>
                  <a:gd name="T22" fmla="*/ 0 w 12"/>
                  <a:gd name="T23" fmla="*/ 30 h 30"/>
                  <a:gd name="T24" fmla="*/ 0 w 12"/>
                  <a:gd name="T25" fmla="*/ 30 h 30"/>
                  <a:gd name="T26" fmla="*/ 0 w 12"/>
                  <a:gd name="T2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 h="30">
                    <a:moveTo>
                      <a:pt x="0" y="30"/>
                    </a:moveTo>
                    <a:lnTo>
                      <a:pt x="6" y="6"/>
                    </a:lnTo>
                    <a:lnTo>
                      <a:pt x="6" y="6"/>
                    </a:lnTo>
                    <a:lnTo>
                      <a:pt x="12" y="0"/>
                    </a:lnTo>
                    <a:lnTo>
                      <a:pt x="12" y="0"/>
                    </a:lnTo>
                    <a:lnTo>
                      <a:pt x="6" y="6"/>
                    </a:lnTo>
                    <a:lnTo>
                      <a:pt x="6" y="12"/>
                    </a:lnTo>
                    <a:lnTo>
                      <a:pt x="6" y="18"/>
                    </a:lnTo>
                    <a:lnTo>
                      <a:pt x="0" y="24"/>
                    </a:lnTo>
                    <a:lnTo>
                      <a:pt x="0" y="24"/>
                    </a:lnTo>
                    <a:lnTo>
                      <a:pt x="0" y="30"/>
                    </a:lnTo>
                    <a:lnTo>
                      <a:pt x="0" y="30"/>
                    </a:lnTo>
                    <a:lnTo>
                      <a:pt x="0" y="30"/>
                    </a:lnTo>
                    <a:lnTo>
                      <a:pt x="0" y="30"/>
                    </a:lnTo>
                    <a:close/>
                  </a:path>
                </a:pathLst>
              </a:custGeom>
              <a:solidFill>
                <a:srgbClr val="00FF00"/>
              </a:solidFill>
              <a:ln w="9525">
                <a:solidFill>
                  <a:srgbClr val="00FF00"/>
                </a:solidFill>
                <a:round/>
                <a:headEnd/>
                <a:tailEnd/>
              </a:ln>
            </p:spPr>
            <p:txBody>
              <a:bodyPr/>
              <a:lstStyle/>
              <a:p>
                <a:endParaRPr lang="zh-CN" altLang="en-US"/>
              </a:p>
            </p:txBody>
          </p:sp>
          <p:sp>
            <p:nvSpPr>
              <p:cNvPr id="51228" name="Freeform 28"/>
              <p:cNvSpPr>
                <a:spLocks/>
              </p:cNvSpPr>
              <p:nvPr/>
            </p:nvSpPr>
            <p:spPr bwMode="auto">
              <a:xfrm>
                <a:off x="4543" y="2352"/>
                <a:ext cx="30" cy="30"/>
              </a:xfrm>
              <a:custGeom>
                <a:avLst/>
                <a:gdLst>
                  <a:gd name="T0" fmla="*/ 24 w 30"/>
                  <a:gd name="T1" fmla="*/ 30 h 30"/>
                  <a:gd name="T2" fmla="*/ 30 w 30"/>
                  <a:gd name="T3" fmla="*/ 6 h 30"/>
                  <a:gd name="T4" fmla="*/ 6 w 30"/>
                  <a:gd name="T5" fmla="*/ 0 h 30"/>
                  <a:gd name="T6" fmla="*/ 0 w 30"/>
                  <a:gd name="T7" fmla="*/ 24 h 30"/>
                  <a:gd name="T8" fmla="*/ 24 w 30"/>
                  <a:gd name="T9" fmla="*/ 30 h 30"/>
                </a:gdLst>
                <a:ahLst/>
                <a:cxnLst>
                  <a:cxn ang="0">
                    <a:pos x="T0" y="T1"/>
                  </a:cxn>
                  <a:cxn ang="0">
                    <a:pos x="T2" y="T3"/>
                  </a:cxn>
                  <a:cxn ang="0">
                    <a:pos x="T4" y="T5"/>
                  </a:cxn>
                  <a:cxn ang="0">
                    <a:pos x="T6" y="T7"/>
                  </a:cxn>
                  <a:cxn ang="0">
                    <a:pos x="T8" y="T9"/>
                  </a:cxn>
                </a:cxnLst>
                <a:rect l="0" t="0" r="r" b="b"/>
                <a:pathLst>
                  <a:path w="30" h="30">
                    <a:moveTo>
                      <a:pt x="24" y="30"/>
                    </a:moveTo>
                    <a:lnTo>
                      <a:pt x="30" y="6"/>
                    </a:lnTo>
                    <a:lnTo>
                      <a:pt x="6" y="0"/>
                    </a:lnTo>
                    <a:lnTo>
                      <a:pt x="0" y="24"/>
                    </a:lnTo>
                    <a:lnTo>
                      <a:pt x="24" y="30"/>
                    </a:lnTo>
                    <a:close/>
                  </a:path>
                </a:pathLst>
              </a:custGeom>
              <a:solidFill>
                <a:srgbClr val="00FF00"/>
              </a:solidFill>
              <a:ln w="9525">
                <a:solidFill>
                  <a:srgbClr val="00FF00"/>
                </a:solidFill>
                <a:round/>
                <a:headEnd/>
                <a:tailEnd/>
              </a:ln>
            </p:spPr>
            <p:txBody>
              <a:bodyPr/>
              <a:lstStyle/>
              <a:p>
                <a:endParaRPr lang="zh-CN" altLang="en-US"/>
              </a:p>
            </p:txBody>
          </p:sp>
          <p:sp>
            <p:nvSpPr>
              <p:cNvPr id="51229" name="Freeform 29"/>
              <p:cNvSpPr>
                <a:spLocks noEditPoints="1"/>
              </p:cNvSpPr>
              <p:nvPr/>
            </p:nvSpPr>
            <p:spPr bwMode="auto">
              <a:xfrm>
                <a:off x="4549" y="2334"/>
                <a:ext cx="24" cy="24"/>
              </a:xfrm>
              <a:custGeom>
                <a:avLst/>
                <a:gdLst>
                  <a:gd name="T0" fmla="*/ 24 w 24"/>
                  <a:gd name="T1" fmla="*/ 24 h 24"/>
                  <a:gd name="T2" fmla="*/ 24 w 24"/>
                  <a:gd name="T3" fmla="*/ 18 h 24"/>
                  <a:gd name="T4" fmla="*/ 24 w 24"/>
                  <a:gd name="T5" fmla="*/ 18 h 24"/>
                  <a:gd name="T6" fmla="*/ 24 w 24"/>
                  <a:gd name="T7" fmla="*/ 24 h 24"/>
                  <a:gd name="T8" fmla="*/ 12 w 24"/>
                  <a:gd name="T9" fmla="*/ 0 h 24"/>
                  <a:gd name="T10" fmla="*/ 0 w 24"/>
                  <a:gd name="T11" fmla="*/ 12 h 24"/>
                  <a:gd name="T12" fmla="*/ 0 w 24"/>
                  <a:gd name="T13" fmla="*/ 18 h 24"/>
                  <a:gd name="T14" fmla="*/ 24 w 24"/>
                  <a:gd name="T15" fmla="*/ 24 h 24"/>
                  <a:gd name="T16" fmla="*/ 24 w 24"/>
                  <a:gd name="T17" fmla="*/ 24 h 24"/>
                  <a:gd name="T18" fmla="*/ 24 w 24"/>
                  <a:gd name="T19" fmla="*/ 24 h 24"/>
                  <a:gd name="T20" fmla="*/ 24 w 24"/>
                  <a:gd name="T21" fmla="*/ 24 h 24"/>
                  <a:gd name="T22" fmla="*/ 12 w 24"/>
                  <a:gd name="T23" fmla="*/ 18 h 24"/>
                  <a:gd name="T24" fmla="*/ 24 w 24"/>
                  <a:gd name="T25"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24" y="24"/>
                    </a:moveTo>
                    <a:lnTo>
                      <a:pt x="24" y="18"/>
                    </a:lnTo>
                    <a:lnTo>
                      <a:pt x="24" y="18"/>
                    </a:lnTo>
                    <a:lnTo>
                      <a:pt x="24" y="24"/>
                    </a:lnTo>
                    <a:lnTo>
                      <a:pt x="12" y="0"/>
                    </a:lnTo>
                    <a:lnTo>
                      <a:pt x="0" y="12"/>
                    </a:lnTo>
                    <a:lnTo>
                      <a:pt x="0" y="18"/>
                    </a:lnTo>
                    <a:lnTo>
                      <a:pt x="24" y="24"/>
                    </a:lnTo>
                    <a:close/>
                    <a:moveTo>
                      <a:pt x="24" y="24"/>
                    </a:moveTo>
                    <a:lnTo>
                      <a:pt x="24" y="24"/>
                    </a:lnTo>
                    <a:lnTo>
                      <a:pt x="24" y="24"/>
                    </a:lnTo>
                    <a:lnTo>
                      <a:pt x="12" y="18"/>
                    </a:lnTo>
                    <a:lnTo>
                      <a:pt x="24" y="24"/>
                    </a:lnTo>
                    <a:close/>
                  </a:path>
                </a:pathLst>
              </a:custGeom>
              <a:solidFill>
                <a:srgbClr val="00FF00"/>
              </a:solidFill>
              <a:ln w="9525">
                <a:solidFill>
                  <a:srgbClr val="00FF00"/>
                </a:solidFill>
                <a:round/>
                <a:headEnd/>
                <a:tailEnd/>
              </a:ln>
            </p:spPr>
            <p:txBody>
              <a:bodyPr/>
              <a:lstStyle/>
              <a:p>
                <a:endParaRPr lang="zh-CN" altLang="en-US"/>
              </a:p>
            </p:txBody>
          </p:sp>
          <p:sp>
            <p:nvSpPr>
              <p:cNvPr id="51230" name="Freeform 30"/>
              <p:cNvSpPr>
                <a:spLocks noEditPoints="1"/>
              </p:cNvSpPr>
              <p:nvPr/>
            </p:nvSpPr>
            <p:spPr bwMode="auto">
              <a:xfrm>
                <a:off x="4549" y="2334"/>
                <a:ext cx="24" cy="24"/>
              </a:xfrm>
              <a:custGeom>
                <a:avLst/>
                <a:gdLst>
                  <a:gd name="T0" fmla="*/ 12 w 24"/>
                  <a:gd name="T1" fmla="*/ 0 h 24"/>
                  <a:gd name="T2" fmla="*/ 6 w 24"/>
                  <a:gd name="T3" fmla="*/ 6 h 24"/>
                  <a:gd name="T4" fmla="*/ 0 w 24"/>
                  <a:gd name="T5" fmla="*/ 18 h 24"/>
                  <a:gd name="T6" fmla="*/ 24 w 24"/>
                  <a:gd name="T7" fmla="*/ 24 h 24"/>
                  <a:gd name="T8" fmla="*/ 24 w 24"/>
                  <a:gd name="T9" fmla="*/ 24 h 24"/>
                  <a:gd name="T10" fmla="*/ 24 w 24"/>
                  <a:gd name="T11" fmla="*/ 18 h 24"/>
                  <a:gd name="T12" fmla="*/ 12 w 24"/>
                  <a:gd name="T13" fmla="*/ 0 h 24"/>
                  <a:gd name="T14" fmla="*/ 24 w 24"/>
                  <a:gd name="T15" fmla="*/ 24 h 24"/>
                  <a:gd name="T16" fmla="*/ 12 w 24"/>
                  <a:gd name="T17" fmla="*/ 0 h 24"/>
                  <a:gd name="T18" fmla="*/ 24 w 24"/>
                  <a:gd name="T19" fmla="*/ 18 h 24"/>
                  <a:gd name="T20" fmla="*/ 12 w 24"/>
                  <a:gd name="T21" fmla="*/ 0 h 24"/>
                  <a:gd name="T22" fmla="*/ 24 w 24"/>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2" y="0"/>
                    </a:moveTo>
                    <a:lnTo>
                      <a:pt x="6" y="6"/>
                    </a:lnTo>
                    <a:lnTo>
                      <a:pt x="0" y="18"/>
                    </a:lnTo>
                    <a:lnTo>
                      <a:pt x="24" y="24"/>
                    </a:lnTo>
                    <a:lnTo>
                      <a:pt x="24" y="24"/>
                    </a:lnTo>
                    <a:lnTo>
                      <a:pt x="24" y="18"/>
                    </a:lnTo>
                    <a:lnTo>
                      <a:pt x="12" y="0"/>
                    </a:lnTo>
                    <a:close/>
                    <a:moveTo>
                      <a:pt x="24" y="24"/>
                    </a:moveTo>
                    <a:lnTo>
                      <a:pt x="12" y="0"/>
                    </a:lnTo>
                    <a:lnTo>
                      <a:pt x="24" y="18"/>
                    </a:lnTo>
                    <a:lnTo>
                      <a:pt x="12" y="0"/>
                    </a:lnTo>
                    <a:lnTo>
                      <a:pt x="24" y="24"/>
                    </a:lnTo>
                    <a:close/>
                  </a:path>
                </a:pathLst>
              </a:custGeom>
              <a:solidFill>
                <a:srgbClr val="00FF00"/>
              </a:solidFill>
              <a:ln w="9525">
                <a:solidFill>
                  <a:srgbClr val="00FF00"/>
                </a:solidFill>
                <a:round/>
                <a:headEnd/>
                <a:tailEnd/>
              </a:ln>
            </p:spPr>
            <p:txBody>
              <a:bodyPr/>
              <a:lstStyle/>
              <a:p>
                <a:endParaRPr lang="zh-CN" altLang="en-US"/>
              </a:p>
            </p:txBody>
          </p:sp>
          <p:sp>
            <p:nvSpPr>
              <p:cNvPr id="51231" name="Freeform 31"/>
              <p:cNvSpPr>
                <a:spLocks noEditPoints="1"/>
              </p:cNvSpPr>
              <p:nvPr/>
            </p:nvSpPr>
            <p:spPr bwMode="auto">
              <a:xfrm>
                <a:off x="4543" y="2346"/>
                <a:ext cx="30" cy="30"/>
              </a:xfrm>
              <a:custGeom>
                <a:avLst/>
                <a:gdLst>
                  <a:gd name="T0" fmla="*/ 6 w 30"/>
                  <a:gd name="T1" fmla="*/ 0 h 30"/>
                  <a:gd name="T2" fmla="*/ 6 w 30"/>
                  <a:gd name="T3" fmla="*/ 12 h 30"/>
                  <a:gd name="T4" fmla="*/ 0 w 30"/>
                  <a:gd name="T5" fmla="*/ 30 h 30"/>
                  <a:gd name="T6" fmla="*/ 24 w 30"/>
                  <a:gd name="T7" fmla="*/ 24 h 30"/>
                  <a:gd name="T8" fmla="*/ 24 w 30"/>
                  <a:gd name="T9" fmla="*/ 24 h 30"/>
                  <a:gd name="T10" fmla="*/ 30 w 30"/>
                  <a:gd name="T11" fmla="*/ 18 h 30"/>
                  <a:gd name="T12" fmla="*/ 30 w 30"/>
                  <a:gd name="T13" fmla="*/ 12 h 30"/>
                  <a:gd name="T14" fmla="*/ 30 w 30"/>
                  <a:gd name="T15" fmla="*/ 12 h 30"/>
                  <a:gd name="T16" fmla="*/ 6 w 30"/>
                  <a:gd name="T17" fmla="*/ 0 h 30"/>
                  <a:gd name="T18" fmla="*/ 30 w 30"/>
                  <a:gd name="T19" fmla="*/ 12 h 30"/>
                  <a:gd name="T20" fmla="*/ 30 w 30"/>
                  <a:gd name="T21" fmla="*/ 12 h 30"/>
                  <a:gd name="T22" fmla="*/ 30 w 30"/>
                  <a:gd name="T23" fmla="*/ 12 h 30"/>
                  <a:gd name="T24" fmla="*/ 18 w 30"/>
                  <a:gd name="T25" fmla="*/ 6 h 30"/>
                  <a:gd name="T26" fmla="*/ 30 w 30"/>
                  <a:gd name="T27"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0">
                    <a:moveTo>
                      <a:pt x="6" y="0"/>
                    </a:moveTo>
                    <a:lnTo>
                      <a:pt x="6" y="12"/>
                    </a:lnTo>
                    <a:lnTo>
                      <a:pt x="0" y="30"/>
                    </a:lnTo>
                    <a:lnTo>
                      <a:pt x="24" y="24"/>
                    </a:lnTo>
                    <a:lnTo>
                      <a:pt x="24" y="24"/>
                    </a:lnTo>
                    <a:lnTo>
                      <a:pt x="30" y="18"/>
                    </a:lnTo>
                    <a:lnTo>
                      <a:pt x="30" y="12"/>
                    </a:lnTo>
                    <a:lnTo>
                      <a:pt x="30" y="12"/>
                    </a:lnTo>
                    <a:lnTo>
                      <a:pt x="6" y="0"/>
                    </a:lnTo>
                    <a:close/>
                    <a:moveTo>
                      <a:pt x="30" y="12"/>
                    </a:moveTo>
                    <a:lnTo>
                      <a:pt x="30" y="12"/>
                    </a:lnTo>
                    <a:lnTo>
                      <a:pt x="30" y="12"/>
                    </a:lnTo>
                    <a:lnTo>
                      <a:pt x="18" y="6"/>
                    </a:lnTo>
                    <a:lnTo>
                      <a:pt x="30" y="12"/>
                    </a:lnTo>
                    <a:close/>
                  </a:path>
                </a:pathLst>
              </a:custGeom>
              <a:solidFill>
                <a:srgbClr val="00FF00"/>
              </a:solidFill>
              <a:ln w="9525">
                <a:solidFill>
                  <a:srgbClr val="00FF00"/>
                </a:solidFill>
                <a:round/>
                <a:headEnd/>
                <a:tailEnd/>
              </a:ln>
            </p:spPr>
            <p:txBody>
              <a:bodyPr/>
              <a:lstStyle/>
              <a:p>
                <a:endParaRPr lang="zh-CN" altLang="en-US"/>
              </a:p>
            </p:txBody>
          </p:sp>
          <p:sp>
            <p:nvSpPr>
              <p:cNvPr id="51232" name="Freeform 32"/>
              <p:cNvSpPr>
                <a:spLocks noEditPoints="1"/>
              </p:cNvSpPr>
              <p:nvPr/>
            </p:nvSpPr>
            <p:spPr bwMode="auto">
              <a:xfrm>
                <a:off x="4543" y="2364"/>
                <a:ext cx="24" cy="24"/>
              </a:xfrm>
              <a:custGeom>
                <a:avLst/>
                <a:gdLst>
                  <a:gd name="T0" fmla="*/ 0 w 24"/>
                  <a:gd name="T1" fmla="*/ 6 h 24"/>
                  <a:gd name="T2" fmla="*/ 0 w 24"/>
                  <a:gd name="T3" fmla="*/ 6 h 24"/>
                  <a:gd name="T4" fmla="*/ 0 w 24"/>
                  <a:gd name="T5" fmla="*/ 6 h 24"/>
                  <a:gd name="T6" fmla="*/ 12 w 24"/>
                  <a:gd name="T7" fmla="*/ 0 h 24"/>
                  <a:gd name="T8" fmla="*/ 6 w 24"/>
                  <a:gd name="T9" fmla="*/ 24 h 24"/>
                  <a:gd name="T10" fmla="*/ 18 w 24"/>
                  <a:gd name="T11" fmla="*/ 18 h 24"/>
                  <a:gd name="T12" fmla="*/ 24 w 24"/>
                  <a:gd name="T13" fmla="*/ 12 h 24"/>
                  <a:gd name="T14" fmla="*/ 24 w 24"/>
                  <a:gd name="T15" fmla="*/ 12 h 24"/>
                  <a:gd name="T16" fmla="*/ 24 w 24"/>
                  <a:gd name="T17" fmla="*/ 12 h 24"/>
                  <a:gd name="T18" fmla="*/ 0 w 24"/>
                  <a:gd name="T19" fmla="*/ 6 h 24"/>
                  <a:gd name="T20" fmla="*/ 24 w 24"/>
                  <a:gd name="T21" fmla="*/ 12 h 24"/>
                  <a:gd name="T22" fmla="*/ 24 w 24"/>
                  <a:gd name="T23" fmla="*/ 6 h 24"/>
                  <a:gd name="T24" fmla="*/ 24 w 24"/>
                  <a:gd name="T25" fmla="*/ 6 h 24"/>
                  <a:gd name="T26" fmla="*/ 12 w 24"/>
                  <a:gd name="T27" fmla="*/ 6 h 24"/>
                  <a:gd name="T28" fmla="*/ 24 w 24"/>
                  <a:gd name="T2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4">
                    <a:moveTo>
                      <a:pt x="0" y="6"/>
                    </a:moveTo>
                    <a:lnTo>
                      <a:pt x="0" y="6"/>
                    </a:lnTo>
                    <a:lnTo>
                      <a:pt x="0" y="6"/>
                    </a:lnTo>
                    <a:lnTo>
                      <a:pt x="12" y="0"/>
                    </a:lnTo>
                    <a:lnTo>
                      <a:pt x="6" y="24"/>
                    </a:lnTo>
                    <a:lnTo>
                      <a:pt x="18" y="18"/>
                    </a:lnTo>
                    <a:lnTo>
                      <a:pt x="24" y="12"/>
                    </a:lnTo>
                    <a:lnTo>
                      <a:pt x="24" y="12"/>
                    </a:lnTo>
                    <a:lnTo>
                      <a:pt x="24" y="12"/>
                    </a:lnTo>
                    <a:lnTo>
                      <a:pt x="0" y="6"/>
                    </a:lnTo>
                    <a:close/>
                    <a:moveTo>
                      <a:pt x="24" y="12"/>
                    </a:moveTo>
                    <a:lnTo>
                      <a:pt x="24" y="6"/>
                    </a:lnTo>
                    <a:lnTo>
                      <a:pt x="24" y="6"/>
                    </a:lnTo>
                    <a:lnTo>
                      <a:pt x="12" y="6"/>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51233" name="Freeform 33"/>
              <p:cNvSpPr>
                <a:spLocks noEditPoints="1"/>
              </p:cNvSpPr>
              <p:nvPr/>
            </p:nvSpPr>
            <p:spPr bwMode="auto">
              <a:xfrm>
                <a:off x="4549" y="2364"/>
                <a:ext cx="12" cy="24"/>
              </a:xfrm>
              <a:custGeom>
                <a:avLst/>
                <a:gdLst>
                  <a:gd name="T0" fmla="*/ 0 w 12"/>
                  <a:gd name="T1" fmla="*/ 24 h 24"/>
                  <a:gd name="T2" fmla="*/ 0 w 12"/>
                  <a:gd name="T3" fmla="*/ 24 h 24"/>
                  <a:gd name="T4" fmla="*/ 12 w 12"/>
                  <a:gd name="T5" fmla="*/ 0 h 24"/>
                  <a:gd name="T6" fmla="*/ 6 w 12"/>
                  <a:gd name="T7" fmla="*/ 0 h 24"/>
                  <a:gd name="T8" fmla="*/ 0 w 12"/>
                  <a:gd name="T9" fmla="*/ 24 h 24"/>
                  <a:gd name="T10" fmla="*/ 6 w 12"/>
                  <a:gd name="T11" fmla="*/ 0 h 24"/>
                  <a:gd name="T12" fmla="*/ 0 w 12"/>
                  <a:gd name="T13" fmla="*/ 24 h 24"/>
                  <a:gd name="T14" fmla="*/ 6 w 12"/>
                  <a:gd name="T15" fmla="*/ 0 h 24"/>
                  <a:gd name="T16" fmla="*/ 0 w 12"/>
                  <a:gd name="T17" fmla="*/ 24 h 24"/>
                  <a:gd name="T18" fmla="*/ 6 w 12"/>
                  <a:gd name="T19"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4">
                    <a:moveTo>
                      <a:pt x="0" y="24"/>
                    </a:moveTo>
                    <a:lnTo>
                      <a:pt x="0" y="24"/>
                    </a:lnTo>
                    <a:lnTo>
                      <a:pt x="12" y="0"/>
                    </a:lnTo>
                    <a:lnTo>
                      <a:pt x="6" y="0"/>
                    </a:lnTo>
                    <a:lnTo>
                      <a:pt x="0" y="24"/>
                    </a:lnTo>
                    <a:close/>
                    <a:moveTo>
                      <a:pt x="6" y="0"/>
                    </a:moveTo>
                    <a:lnTo>
                      <a:pt x="0" y="24"/>
                    </a:lnTo>
                    <a:lnTo>
                      <a:pt x="6" y="0"/>
                    </a:lnTo>
                    <a:lnTo>
                      <a:pt x="0" y="24"/>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234" name="Freeform 34"/>
              <p:cNvSpPr>
                <a:spLocks/>
              </p:cNvSpPr>
              <p:nvPr/>
            </p:nvSpPr>
            <p:spPr bwMode="auto">
              <a:xfrm>
                <a:off x="4549" y="2376"/>
                <a:ext cx="18" cy="18"/>
              </a:xfrm>
              <a:custGeom>
                <a:avLst/>
                <a:gdLst>
                  <a:gd name="T0" fmla="*/ 0 w 18"/>
                  <a:gd name="T1" fmla="*/ 12 h 18"/>
                  <a:gd name="T2" fmla="*/ 18 w 18"/>
                  <a:gd name="T3" fmla="*/ 18 h 18"/>
                  <a:gd name="T4" fmla="*/ 18 w 18"/>
                  <a:gd name="T5" fmla="*/ 6 h 18"/>
                  <a:gd name="T6" fmla="*/ 6 w 18"/>
                  <a:gd name="T7" fmla="*/ 0 h 18"/>
                  <a:gd name="T8" fmla="*/ 0 w 18"/>
                  <a:gd name="T9" fmla="*/ 12 h 18"/>
                </a:gdLst>
                <a:ahLst/>
                <a:cxnLst>
                  <a:cxn ang="0">
                    <a:pos x="T0" y="T1"/>
                  </a:cxn>
                  <a:cxn ang="0">
                    <a:pos x="T2" y="T3"/>
                  </a:cxn>
                  <a:cxn ang="0">
                    <a:pos x="T4" y="T5"/>
                  </a:cxn>
                  <a:cxn ang="0">
                    <a:pos x="T6" y="T7"/>
                  </a:cxn>
                  <a:cxn ang="0">
                    <a:pos x="T8" y="T9"/>
                  </a:cxn>
                </a:cxnLst>
                <a:rect l="0" t="0" r="r" b="b"/>
                <a:pathLst>
                  <a:path w="18" h="18">
                    <a:moveTo>
                      <a:pt x="0" y="12"/>
                    </a:moveTo>
                    <a:lnTo>
                      <a:pt x="18" y="18"/>
                    </a:lnTo>
                    <a:lnTo>
                      <a:pt x="18" y="6"/>
                    </a:lnTo>
                    <a:lnTo>
                      <a:pt x="6" y="0"/>
                    </a:lnTo>
                    <a:lnTo>
                      <a:pt x="0" y="12"/>
                    </a:lnTo>
                    <a:close/>
                  </a:path>
                </a:pathLst>
              </a:custGeom>
              <a:solidFill>
                <a:srgbClr val="00FF00"/>
              </a:solidFill>
              <a:ln w="9525">
                <a:solidFill>
                  <a:srgbClr val="00FF00"/>
                </a:solidFill>
                <a:round/>
                <a:headEnd/>
                <a:tailEnd/>
              </a:ln>
            </p:spPr>
            <p:txBody>
              <a:bodyPr/>
              <a:lstStyle/>
              <a:p>
                <a:endParaRPr lang="zh-CN" altLang="en-US"/>
              </a:p>
            </p:txBody>
          </p:sp>
          <p:sp>
            <p:nvSpPr>
              <p:cNvPr id="51235" name="Freeform 35"/>
              <p:cNvSpPr>
                <a:spLocks/>
              </p:cNvSpPr>
              <p:nvPr/>
            </p:nvSpPr>
            <p:spPr bwMode="auto">
              <a:xfrm>
                <a:off x="4531" y="2346"/>
                <a:ext cx="18" cy="30"/>
              </a:xfrm>
              <a:custGeom>
                <a:avLst/>
                <a:gdLst>
                  <a:gd name="T0" fmla="*/ 12 w 18"/>
                  <a:gd name="T1" fmla="*/ 30 h 30"/>
                  <a:gd name="T2" fmla="*/ 6 w 18"/>
                  <a:gd name="T3" fmla="*/ 6 h 30"/>
                  <a:gd name="T4" fmla="*/ 6 w 18"/>
                  <a:gd name="T5" fmla="*/ 6 h 30"/>
                  <a:gd name="T6" fmla="*/ 0 w 18"/>
                  <a:gd name="T7" fmla="*/ 0 h 30"/>
                  <a:gd name="T8" fmla="*/ 6 w 18"/>
                  <a:gd name="T9" fmla="*/ 0 h 30"/>
                  <a:gd name="T10" fmla="*/ 6 w 18"/>
                  <a:gd name="T11" fmla="*/ 6 h 30"/>
                  <a:gd name="T12" fmla="*/ 6 w 18"/>
                  <a:gd name="T13" fmla="*/ 12 h 30"/>
                  <a:gd name="T14" fmla="*/ 12 w 18"/>
                  <a:gd name="T15" fmla="*/ 18 h 30"/>
                  <a:gd name="T16" fmla="*/ 12 w 18"/>
                  <a:gd name="T17" fmla="*/ 24 h 30"/>
                  <a:gd name="T18" fmla="*/ 12 w 18"/>
                  <a:gd name="T19" fmla="*/ 24 h 30"/>
                  <a:gd name="T20" fmla="*/ 12 w 18"/>
                  <a:gd name="T21" fmla="*/ 30 h 30"/>
                  <a:gd name="T22" fmla="*/ 18 w 18"/>
                  <a:gd name="T23" fmla="*/ 30 h 30"/>
                  <a:gd name="T24" fmla="*/ 12 w 18"/>
                  <a:gd name="T25" fmla="*/ 30 h 30"/>
                  <a:gd name="T26" fmla="*/ 12 w 18"/>
                  <a:gd name="T2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30">
                    <a:moveTo>
                      <a:pt x="12" y="30"/>
                    </a:moveTo>
                    <a:lnTo>
                      <a:pt x="6" y="6"/>
                    </a:lnTo>
                    <a:lnTo>
                      <a:pt x="6" y="6"/>
                    </a:lnTo>
                    <a:lnTo>
                      <a:pt x="0" y="0"/>
                    </a:lnTo>
                    <a:lnTo>
                      <a:pt x="6" y="0"/>
                    </a:lnTo>
                    <a:lnTo>
                      <a:pt x="6" y="6"/>
                    </a:lnTo>
                    <a:lnTo>
                      <a:pt x="6" y="12"/>
                    </a:lnTo>
                    <a:lnTo>
                      <a:pt x="12" y="18"/>
                    </a:lnTo>
                    <a:lnTo>
                      <a:pt x="12" y="24"/>
                    </a:lnTo>
                    <a:lnTo>
                      <a:pt x="12" y="24"/>
                    </a:lnTo>
                    <a:lnTo>
                      <a:pt x="12" y="30"/>
                    </a:lnTo>
                    <a:lnTo>
                      <a:pt x="18" y="30"/>
                    </a:lnTo>
                    <a:lnTo>
                      <a:pt x="12" y="30"/>
                    </a:lnTo>
                    <a:lnTo>
                      <a:pt x="12" y="30"/>
                    </a:lnTo>
                    <a:close/>
                  </a:path>
                </a:pathLst>
              </a:custGeom>
              <a:solidFill>
                <a:srgbClr val="00FF00"/>
              </a:solidFill>
              <a:ln w="9525">
                <a:solidFill>
                  <a:srgbClr val="00FF00"/>
                </a:solidFill>
                <a:round/>
                <a:headEnd/>
                <a:tailEnd/>
              </a:ln>
            </p:spPr>
            <p:txBody>
              <a:bodyPr/>
              <a:lstStyle/>
              <a:p>
                <a:endParaRPr lang="zh-CN" altLang="en-US"/>
              </a:p>
            </p:txBody>
          </p:sp>
          <p:sp>
            <p:nvSpPr>
              <p:cNvPr id="51236" name="Freeform 36"/>
              <p:cNvSpPr>
                <a:spLocks/>
              </p:cNvSpPr>
              <p:nvPr/>
            </p:nvSpPr>
            <p:spPr bwMode="auto">
              <a:xfrm>
                <a:off x="4525" y="2352"/>
                <a:ext cx="30" cy="30"/>
              </a:xfrm>
              <a:custGeom>
                <a:avLst/>
                <a:gdLst>
                  <a:gd name="T0" fmla="*/ 30 w 30"/>
                  <a:gd name="T1" fmla="*/ 24 h 30"/>
                  <a:gd name="T2" fmla="*/ 24 w 30"/>
                  <a:gd name="T3" fmla="*/ 0 h 30"/>
                  <a:gd name="T4" fmla="*/ 0 w 30"/>
                  <a:gd name="T5" fmla="*/ 6 h 30"/>
                  <a:gd name="T6" fmla="*/ 6 w 30"/>
                  <a:gd name="T7" fmla="*/ 30 h 30"/>
                  <a:gd name="T8" fmla="*/ 30 w 30"/>
                  <a:gd name="T9" fmla="*/ 24 h 30"/>
                </a:gdLst>
                <a:ahLst/>
                <a:cxnLst>
                  <a:cxn ang="0">
                    <a:pos x="T0" y="T1"/>
                  </a:cxn>
                  <a:cxn ang="0">
                    <a:pos x="T2" y="T3"/>
                  </a:cxn>
                  <a:cxn ang="0">
                    <a:pos x="T4" y="T5"/>
                  </a:cxn>
                  <a:cxn ang="0">
                    <a:pos x="T6" y="T7"/>
                  </a:cxn>
                  <a:cxn ang="0">
                    <a:pos x="T8" y="T9"/>
                  </a:cxn>
                </a:cxnLst>
                <a:rect l="0" t="0" r="r" b="b"/>
                <a:pathLst>
                  <a:path w="30" h="30">
                    <a:moveTo>
                      <a:pt x="30" y="24"/>
                    </a:moveTo>
                    <a:lnTo>
                      <a:pt x="24" y="0"/>
                    </a:lnTo>
                    <a:lnTo>
                      <a:pt x="0" y="6"/>
                    </a:lnTo>
                    <a:lnTo>
                      <a:pt x="6" y="30"/>
                    </a:lnTo>
                    <a:lnTo>
                      <a:pt x="30" y="24"/>
                    </a:lnTo>
                    <a:close/>
                  </a:path>
                </a:pathLst>
              </a:custGeom>
              <a:solidFill>
                <a:srgbClr val="00FF00"/>
              </a:solidFill>
              <a:ln w="9525">
                <a:solidFill>
                  <a:srgbClr val="00FF00"/>
                </a:solidFill>
                <a:round/>
                <a:headEnd/>
                <a:tailEnd/>
              </a:ln>
            </p:spPr>
            <p:txBody>
              <a:bodyPr/>
              <a:lstStyle/>
              <a:p>
                <a:endParaRPr lang="zh-CN" altLang="en-US"/>
              </a:p>
            </p:txBody>
          </p:sp>
          <p:sp>
            <p:nvSpPr>
              <p:cNvPr id="51237" name="Freeform 37"/>
              <p:cNvSpPr>
                <a:spLocks noEditPoints="1"/>
              </p:cNvSpPr>
              <p:nvPr/>
            </p:nvSpPr>
            <p:spPr bwMode="auto">
              <a:xfrm>
                <a:off x="4525" y="2334"/>
                <a:ext cx="24" cy="24"/>
              </a:xfrm>
              <a:custGeom>
                <a:avLst/>
                <a:gdLst>
                  <a:gd name="T0" fmla="*/ 24 w 24"/>
                  <a:gd name="T1" fmla="*/ 18 h 24"/>
                  <a:gd name="T2" fmla="*/ 24 w 24"/>
                  <a:gd name="T3" fmla="*/ 12 h 24"/>
                  <a:gd name="T4" fmla="*/ 24 w 24"/>
                  <a:gd name="T5" fmla="*/ 6 h 24"/>
                  <a:gd name="T6" fmla="*/ 12 w 24"/>
                  <a:gd name="T7" fmla="*/ 0 h 24"/>
                  <a:gd name="T8" fmla="*/ 6 w 24"/>
                  <a:gd name="T9" fmla="*/ 24 h 24"/>
                  <a:gd name="T10" fmla="*/ 0 w 24"/>
                  <a:gd name="T11" fmla="*/ 18 h 24"/>
                  <a:gd name="T12" fmla="*/ 0 w 24"/>
                  <a:gd name="T13" fmla="*/ 18 h 24"/>
                  <a:gd name="T14" fmla="*/ 0 w 24"/>
                  <a:gd name="T15" fmla="*/ 24 h 24"/>
                  <a:gd name="T16" fmla="*/ 24 w 24"/>
                  <a:gd name="T17" fmla="*/ 18 h 24"/>
                  <a:gd name="T18" fmla="*/ 0 w 24"/>
                  <a:gd name="T19" fmla="*/ 24 h 24"/>
                  <a:gd name="T20" fmla="*/ 0 w 24"/>
                  <a:gd name="T21" fmla="*/ 24 h 24"/>
                  <a:gd name="T22" fmla="*/ 0 w 24"/>
                  <a:gd name="T23" fmla="*/ 24 h 24"/>
                  <a:gd name="T24" fmla="*/ 12 w 24"/>
                  <a:gd name="T25" fmla="*/ 18 h 24"/>
                  <a:gd name="T26" fmla="*/ 0 w 24"/>
                  <a:gd name="T2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4">
                    <a:moveTo>
                      <a:pt x="24" y="18"/>
                    </a:moveTo>
                    <a:lnTo>
                      <a:pt x="24" y="12"/>
                    </a:lnTo>
                    <a:lnTo>
                      <a:pt x="24" y="6"/>
                    </a:lnTo>
                    <a:lnTo>
                      <a:pt x="12" y="0"/>
                    </a:lnTo>
                    <a:lnTo>
                      <a:pt x="6" y="24"/>
                    </a:lnTo>
                    <a:lnTo>
                      <a:pt x="0" y="18"/>
                    </a:lnTo>
                    <a:lnTo>
                      <a:pt x="0" y="18"/>
                    </a:lnTo>
                    <a:lnTo>
                      <a:pt x="0" y="24"/>
                    </a:lnTo>
                    <a:lnTo>
                      <a:pt x="24" y="18"/>
                    </a:lnTo>
                    <a:close/>
                    <a:moveTo>
                      <a:pt x="0" y="24"/>
                    </a:moveTo>
                    <a:lnTo>
                      <a:pt x="0" y="24"/>
                    </a:lnTo>
                    <a:lnTo>
                      <a:pt x="0" y="24"/>
                    </a:lnTo>
                    <a:lnTo>
                      <a:pt x="12" y="18"/>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51238" name="Freeform 38"/>
              <p:cNvSpPr>
                <a:spLocks noEditPoints="1"/>
              </p:cNvSpPr>
              <p:nvPr/>
            </p:nvSpPr>
            <p:spPr bwMode="auto">
              <a:xfrm>
                <a:off x="4525" y="2334"/>
                <a:ext cx="24" cy="24"/>
              </a:xfrm>
              <a:custGeom>
                <a:avLst/>
                <a:gdLst>
                  <a:gd name="T0" fmla="*/ 0 w 24"/>
                  <a:gd name="T1" fmla="*/ 18 h 24"/>
                  <a:gd name="T2" fmla="*/ 0 w 24"/>
                  <a:gd name="T3" fmla="*/ 24 h 24"/>
                  <a:gd name="T4" fmla="*/ 0 w 24"/>
                  <a:gd name="T5" fmla="*/ 24 h 24"/>
                  <a:gd name="T6" fmla="*/ 24 w 24"/>
                  <a:gd name="T7" fmla="*/ 18 h 24"/>
                  <a:gd name="T8" fmla="*/ 24 w 24"/>
                  <a:gd name="T9" fmla="*/ 6 h 24"/>
                  <a:gd name="T10" fmla="*/ 18 w 24"/>
                  <a:gd name="T11" fmla="*/ 0 h 24"/>
                  <a:gd name="T12" fmla="*/ 0 w 24"/>
                  <a:gd name="T13" fmla="*/ 18 h 24"/>
                  <a:gd name="T14" fmla="*/ 12 w 24"/>
                  <a:gd name="T15" fmla="*/ 0 h 24"/>
                  <a:gd name="T16" fmla="*/ 0 w 24"/>
                  <a:gd name="T17" fmla="*/ 18 h 24"/>
                  <a:gd name="T18" fmla="*/ 18 w 24"/>
                  <a:gd name="T19" fmla="*/ 0 h 24"/>
                  <a:gd name="T20" fmla="*/ 6 w 24"/>
                  <a:gd name="T21" fmla="*/ 24 h 24"/>
                  <a:gd name="T22" fmla="*/ 12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0" y="18"/>
                    </a:moveTo>
                    <a:lnTo>
                      <a:pt x="0" y="24"/>
                    </a:lnTo>
                    <a:lnTo>
                      <a:pt x="0" y="24"/>
                    </a:lnTo>
                    <a:lnTo>
                      <a:pt x="24" y="18"/>
                    </a:lnTo>
                    <a:lnTo>
                      <a:pt x="24" y="6"/>
                    </a:lnTo>
                    <a:lnTo>
                      <a:pt x="18" y="0"/>
                    </a:lnTo>
                    <a:lnTo>
                      <a:pt x="0" y="18"/>
                    </a:lnTo>
                    <a:close/>
                    <a:moveTo>
                      <a:pt x="12" y="0"/>
                    </a:moveTo>
                    <a:lnTo>
                      <a:pt x="0" y="18"/>
                    </a:lnTo>
                    <a:lnTo>
                      <a:pt x="18" y="0"/>
                    </a:lnTo>
                    <a:lnTo>
                      <a:pt x="6" y="24"/>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239" name="Freeform 39"/>
              <p:cNvSpPr>
                <a:spLocks noEditPoints="1"/>
              </p:cNvSpPr>
              <p:nvPr/>
            </p:nvSpPr>
            <p:spPr bwMode="auto">
              <a:xfrm>
                <a:off x="4525" y="2352"/>
                <a:ext cx="30" cy="24"/>
              </a:xfrm>
              <a:custGeom>
                <a:avLst/>
                <a:gdLst>
                  <a:gd name="T0" fmla="*/ 6 w 30"/>
                  <a:gd name="T1" fmla="*/ 6 h 24"/>
                  <a:gd name="T2" fmla="*/ 6 w 30"/>
                  <a:gd name="T3" fmla="*/ 6 h 24"/>
                  <a:gd name="T4" fmla="*/ 6 w 30"/>
                  <a:gd name="T5" fmla="*/ 12 h 24"/>
                  <a:gd name="T6" fmla="*/ 6 w 30"/>
                  <a:gd name="T7" fmla="*/ 18 h 24"/>
                  <a:gd name="T8" fmla="*/ 6 w 30"/>
                  <a:gd name="T9" fmla="*/ 18 h 24"/>
                  <a:gd name="T10" fmla="*/ 30 w 30"/>
                  <a:gd name="T11" fmla="*/ 24 h 24"/>
                  <a:gd name="T12" fmla="*/ 30 w 30"/>
                  <a:gd name="T13" fmla="*/ 6 h 24"/>
                  <a:gd name="T14" fmla="*/ 24 w 30"/>
                  <a:gd name="T15" fmla="*/ 0 h 24"/>
                  <a:gd name="T16" fmla="*/ 6 w 30"/>
                  <a:gd name="T17" fmla="*/ 6 h 24"/>
                  <a:gd name="T18" fmla="*/ 0 w 30"/>
                  <a:gd name="T19" fmla="*/ 6 h 24"/>
                  <a:gd name="T20" fmla="*/ 0 w 30"/>
                  <a:gd name="T21" fmla="*/ 6 h 24"/>
                  <a:gd name="T22" fmla="*/ 6 w 30"/>
                  <a:gd name="T23" fmla="*/ 6 h 24"/>
                  <a:gd name="T24" fmla="*/ 12 w 30"/>
                  <a:gd name="T25" fmla="*/ 0 h 24"/>
                  <a:gd name="T26" fmla="*/ 0 w 30"/>
                  <a:gd name="T27"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24">
                    <a:moveTo>
                      <a:pt x="6" y="6"/>
                    </a:moveTo>
                    <a:lnTo>
                      <a:pt x="6" y="6"/>
                    </a:lnTo>
                    <a:lnTo>
                      <a:pt x="6" y="12"/>
                    </a:lnTo>
                    <a:lnTo>
                      <a:pt x="6" y="18"/>
                    </a:lnTo>
                    <a:lnTo>
                      <a:pt x="6" y="18"/>
                    </a:lnTo>
                    <a:lnTo>
                      <a:pt x="30" y="24"/>
                    </a:lnTo>
                    <a:lnTo>
                      <a:pt x="30" y="6"/>
                    </a:lnTo>
                    <a:lnTo>
                      <a:pt x="24" y="0"/>
                    </a:lnTo>
                    <a:lnTo>
                      <a:pt x="6" y="6"/>
                    </a:lnTo>
                    <a:close/>
                    <a:moveTo>
                      <a:pt x="0" y="6"/>
                    </a:moveTo>
                    <a:lnTo>
                      <a:pt x="0" y="6"/>
                    </a:lnTo>
                    <a:lnTo>
                      <a:pt x="6" y="6"/>
                    </a:lnTo>
                    <a:lnTo>
                      <a:pt x="12" y="0"/>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240" name="Freeform 40"/>
              <p:cNvSpPr>
                <a:spLocks noEditPoints="1"/>
              </p:cNvSpPr>
              <p:nvPr/>
            </p:nvSpPr>
            <p:spPr bwMode="auto">
              <a:xfrm>
                <a:off x="4531" y="2364"/>
                <a:ext cx="30" cy="24"/>
              </a:xfrm>
              <a:custGeom>
                <a:avLst/>
                <a:gdLst>
                  <a:gd name="T0" fmla="*/ 0 w 30"/>
                  <a:gd name="T1" fmla="*/ 12 h 24"/>
                  <a:gd name="T2" fmla="*/ 0 w 30"/>
                  <a:gd name="T3" fmla="*/ 12 h 24"/>
                  <a:gd name="T4" fmla="*/ 0 w 30"/>
                  <a:gd name="T5" fmla="*/ 12 h 24"/>
                  <a:gd name="T6" fmla="*/ 6 w 30"/>
                  <a:gd name="T7" fmla="*/ 18 h 24"/>
                  <a:gd name="T8" fmla="*/ 18 w 30"/>
                  <a:gd name="T9" fmla="*/ 24 h 24"/>
                  <a:gd name="T10" fmla="*/ 12 w 30"/>
                  <a:gd name="T11" fmla="*/ 0 h 24"/>
                  <a:gd name="T12" fmla="*/ 24 w 30"/>
                  <a:gd name="T13" fmla="*/ 6 h 24"/>
                  <a:gd name="T14" fmla="*/ 30 w 30"/>
                  <a:gd name="T15" fmla="*/ 6 h 24"/>
                  <a:gd name="T16" fmla="*/ 24 w 30"/>
                  <a:gd name="T17" fmla="*/ 6 h 24"/>
                  <a:gd name="T18" fmla="*/ 0 w 30"/>
                  <a:gd name="T19" fmla="*/ 12 h 24"/>
                  <a:gd name="T20" fmla="*/ 0 w 30"/>
                  <a:gd name="T21" fmla="*/ 6 h 24"/>
                  <a:gd name="T22" fmla="*/ 0 w 30"/>
                  <a:gd name="T23" fmla="*/ 6 h 24"/>
                  <a:gd name="T24" fmla="*/ 0 w 30"/>
                  <a:gd name="T25" fmla="*/ 12 h 24"/>
                  <a:gd name="T26" fmla="*/ 12 w 30"/>
                  <a:gd name="T27" fmla="*/ 6 h 24"/>
                  <a:gd name="T28" fmla="*/ 0 w 30"/>
                  <a:gd name="T29"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24">
                    <a:moveTo>
                      <a:pt x="0" y="12"/>
                    </a:moveTo>
                    <a:lnTo>
                      <a:pt x="0" y="12"/>
                    </a:lnTo>
                    <a:lnTo>
                      <a:pt x="0" y="12"/>
                    </a:lnTo>
                    <a:lnTo>
                      <a:pt x="6" y="18"/>
                    </a:lnTo>
                    <a:lnTo>
                      <a:pt x="18" y="24"/>
                    </a:lnTo>
                    <a:lnTo>
                      <a:pt x="12" y="0"/>
                    </a:lnTo>
                    <a:lnTo>
                      <a:pt x="24" y="6"/>
                    </a:lnTo>
                    <a:lnTo>
                      <a:pt x="30" y="6"/>
                    </a:lnTo>
                    <a:lnTo>
                      <a:pt x="24" y="6"/>
                    </a:lnTo>
                    <a:lnTo>
                      <a:pt x="0" y="12"/>
                    </a:lnTo>
                    <a:close/>
                    <a:moveTo>
                      <a:pt x="0" y="6"/>
                    </a:moveTo>
                    <a:lnTo>
                      <a:pt x="0" y="6"/>
                    </a:lnTo>
                    <a:lnTo>
                      <a:pt x="0" y="12"/>
                    </a:lnTo>
                    <a:lnTo>
                      <a:pt x="12" y="6"/>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241" name="Freeform 41"/>
              <p:cNvSpPr>
                <a:spLocks noEditPoints="1"/>
              </p:cNvSpPr>
              <p:nvPr/>
            </p:nvSpPr>
            <p:spPr bwMode="auto">
              <a:xfrm>
                <a:off x="4537" y="2364"/>
                <a:ext cx="18" cy="24"/>
              </a:xfrm>
              <a:custGeom>
                <a:avLst/>
                <a:gdLst>
                  <a:gd name="T0" fmla="*/ 6 w 18"/>
                  <a:gd name="T1" fmla="*/ 0 h 24"/>
                  <a:gd name="T2" fmla="*/ 0 w 18"/>
                  <a:gd name="T3" fmla="*/ 0 h 24"/>
                  <a:gd name="T4" fmla="*/ 12 w 18"/>
                  <a:gd name="T5" fmla="*/ 24 h 24"/>
                  <a:gd name="T6" fmla="*/ 18 w 18"/>
                  <a:gd name="T7" fmla="*/ 24 h 24"/>
                  <a:gd name="T8" fmla="*/ 6 w 18"/>
                  <a:gd name="T9" fmla="*/ 0 h 24"/>
                  <a:gd name="T10" fmla="*/ 12 w 18"/>
                  <a:gd name="T11" fmla="*/ 24 h 24"/>
                  <a:gd name="T12" fmla="*/ 6 w 18"/>
                  <a:gd name="T13" fmla="*/ 0 h 24"/>
                  <a:gd name="T14" fmla="*/ 18 w 18"/>
                  <a:gd name="T15" fmla="*/ 24 h 24"/>
                  <a:gd name="T16" fmla="*/ 6 w 18"/>
                  <a:gd name="T17" fmla="*/ 0 h 24"/>
                  <a:gd name="T18" fmla="*/ 12 w 18"/>
                  <a:gd name="T1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24">
                    <a:moveTo>
                      <a:pt x="6" y="0"/>
                    </a:moveTo>
                    <a:lnTo>
                      <a:pt x="0" y="0"/>
                    </a:lnTo>
                    <a:lnTo>
                      <a:pt x="12" y="24"/>
                    </a:lnTo>
                    <a:lnTo>
                      <a:pt x="18" y="24"/>
                    </a:lnTo>
                    <a:lnTo>
                      <a:pt x="6" y="0"/>
                    </a:lnTo>
                    <a:close/>
                    <a:moveTo>
                      <a:pt x="12" y="24"/>
                    </a:moveTo>
                    <a:lnTo>
                      <a:pt x="6" y="0"/>
                    </a:lnTo>
                    <a:lnTo>
                      <a:pt x="18" y="24"/>
                    </a:lnTo>
                    <a:lnTo>
                      <a:pt x="6" y="0"/>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51242" name="Freeform 42"/>
              <p:cNvSpPr>
                <a:spLocks/>
              </p:cNvSpPr>
              <p:nvPr/>
            </p:nvSpPr>
            <p:spPr bwMode="auto">
              <a:xfrm>
                <a:off x="4531" y="2376"/>
                <a:ext cx="18" cy="18"/>
              </a:xfrm>
              <a:custGeom>
                <a:avLst/>
                <a:gdLst>
                  <a:gd name="T0" fmla="*/ 0 w 18"/>
                  <a:gd name="T1" fmla="*/ 6 h 18"/>
                  <a:gd name="T2" fmla="*/ 6 w 18"/>
                  <a:gd name="T3" fmla="*/ 18 h 18"/>
                  <a:gd name="T4" fmla="*/ 18 w 18"/>
                  <a:gd name="T5" fmla="*/ 12 h 18"/>
                  <a:gd name="T6" fmla="*/ 12 w 18"/>
                  <a:gd name="T7" fmla="*/ 0 h 18"/>
                  <a:gd name="T8" fmla="*/ 0 w 18"/>
                  <a:gd name="T9" fmla="*/ 6 h 18"/>
                </a:gdLst>
                <a:ahLst/>
                <a:cxnLst>
                  <a:cxn ang="0">
                    <a:pos x="T0" y="T1"/>
                  </a:cxn>
                  <a:cxn ang="0">
                    <a:pos x="T2" y="T3"/>
                  </a:cxn>
                  <a:cxn ang="0">
                    <a:pos x="T4" y="T5"/>
                  </a:cxn>
                  <a:cxn ang="0">
                    <a:pos x="T6" y="T7"/>
                  </a:cxn>
                  <a:cxn ang="0">
                    <a:pos x="T8" y="T9"/>
                  </a:cxn>
                </a:cxnLst>
                <a:rect l="0" t="0" r="r" b="b"/>
                <a:pathLst>
                  <a:path w="18" h="18">
                    <a:moveTo>
                      <a:pt x="0" y="6"/>
                    </a:moveTo>
                    <a:lnTo>
                      <a:pt x="6" y="18"/>
                    </a:lnTo>
                    <a:lnTo>
                      <a:pt x="18" y="12"/>
                    </a:lnTo>
                    <a:lnTo>
                      <a:pt x="12" y="0"/>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243" name="Freeform 43"/>
              <p:cNvSpPr>
                <a:spLocks/>
              </p:cNvSpPr>
              <p:nvPr/>
            </p:nvSpPr>
            <p:spPr bwMode="auto">
              <a:xfrm>
                <a:off x="4501" y="2459"/>
                <a:ext cx="48" cy="78"/>
              </a:xfrm>
              <a:custGeom>
                <a:avLst/>
                <a:gdLst>
                  <a:gd name="T0" fmla="*/ 48 w 48"/>
                  <a:gd name="T1" fmla="*/ 0 h 78"/>
                  <a:gd name="T2" fmla="*/ 48 w 48"/>
                  <a:gd name="T3" fmla="*/ 0 h 78"/>
                  <a:gd name="T4" fmla="*/ 42 w 48"/>
                  <a:gd name="T5" fmla="*/ 12 h 78"/>
                  <a:gd name="T6" fmla="*/ 36 w 48"/>
                  <a:gd name="T7" fmla="*/ 24 h 78"/>
                  <a:gd name="T8" fmla="*/ 30 w 48"/>
                  <a:gd name="T9" fmla="*/ 36 h 78"/>
                  <a:gd name="T10" fmla="*/ 24 w 48"/>
                  <a:gd name="T11" fmla="*/ 42 h 78"/>
                  <a:gd name="T12" fmla="*/ 18 w 48"/>
                  <a:gd name="T13" fmla="*/ 54 h 78"/>
                  <a:gd name="T14" fmla="*/ 12 w 48"/>
                  <a:gd name="T15" fmla="*/ 60 h 78"/>
                  <a:gd name="T16" fmla="*/ 6 w 48"/>
                  <a:gd name="T17" fmla="*/ 72 h 78"/>
                  <a:gd name="T18" fmla="*/ 0 w 48"/>
                  <a:gd name="T19" fmla="*/ 78 h 78"/>
                  <a:gd name="T20" fmla="*/ 0 w 48"/>
                  <a:gd name="T21" fmla="*/ 78 h 78"/>
                  <a:gd name="T22" fmla="*/ 0 w 48"/>
                  <a:gd name="T23" fmla="*/ 78 h 78"/>
                  <a:gd name="T24" fmla="*/ 6 w 48"/>
                  <a:gd name="T25" fmla="*/ 72 h 78"/>
                  <a:gd name="T26" fmla="*/ 12 w 48"/>
                  <a:gd name="T27" fmla="*/ 60 h 78"/>
                  <a:gd name="T28" fmla="*/ 18 w 48"/>
                  <a:gd name="T29" fmla="*/ 54 h 78"/>
                  <a:gd name="T30" fmla="*/ 24 w 48"/>
                  <a:gd name="T31" fmla="*/ 42 h 78"/>
                  <a:gd name="T32" fmla="*/ 36 w 48"/>
                  <a:gd name="T33" fmla="*/ 30 h 78"/>
                  <a:gd name="T34" fmla="*/ 42 w 48"/>
                  <a:gd name="T35" fmla="*/ 18 h 78"/>
                  <a:gd name="T36" fmla="*/ 48 w 48"/>
                  <a:gd name="T37" fmla="*/ 12 h 78"/>
                  <a:gd name="T38" fmla="*/ 48 w 48"/>
                  <a:gd name="T39" fmla="*/ 0 h 78"/>
                  <a:gd name="T40" fmla="*/ 48 w 48"/>
                  <a:gd name="T41" fmla="*/ 0 h 78"/>
                  <a:gd name="T42" fmla="*/ 48 w 48"/>
                  <a:gd name="T43" fmla="*/ 0 h 78"/>
                  <a:gd name="T44" fmla="*/ 48 w 48"/>
                  <a:gd name="T45" fmla="*/ 0 h 78"/>
                  <a:gd name="T46" fmla="*/ 48 w 48"/>
                  <a:gd name="T4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78">
                    <a:moveTo>
                      <a:pt x="48" y="0"/>
                    </a:moveTo>
                    <a:lnTo>
                      <a:pt x="48" y="0"/>
                    </a:lnTo>
                    <a:lnTo>
                      <a:pt x="42" y="12"/>
                    </a:lnTo>
                    <a:lnTo>
                      <a:pt x="36" y="24"/>
                    </a:lnTo>
                    <a:lnTo>
                      <a:pt x="30" y="36"/>
                    </a:lnTo>
                    <a:lnTo>
                      <a:pt x="24" y="42"/>
                    </a:lnTo>
                    <a:lnTo>
                      <a:pt x="18" y="54"/>
                    </a:lnTo>
                    <a:lnTo>
                      <a:pt x="12" y="60"/>
                    </a:lnTo>
                    <a:lnTo>
                      <a:pt x="6" y="72"/>
                    </a:lnTo>
                    <a:lnTo>
                      <a:pt x="0" y="78"/>
                    </a:lnTo>
                    <a:lnTo>
                      <a:pt x="0" y="78"/>
                    </a:lnTo>
                    <a:lnTo>
                      <a:pt x="0" y="78"/>
                    </a:lnTo>
                    <a:lnTo>
                      <a:pt x="6" y="72"/>
                    </a:lnTo>
                    <a:lnTo>
                      <a:pt x="12" y="60"/>
                    </a:lnTo>
                    <a:lnTo>
                      <a:pt x="18" y="54"/>
                    </a:lnTo>
                    <a:lnTo>
                      <a:pt x="24" y="42"/>
                    </a:lnTo>
                    <a:lnTo>
                      <a:pt x="36" y="30"/>
                    </a:lnTo>
                    <a:lnTo>
                      <a:pt x="42" y="18"/>
                    </a:lnTo>
                    <a:lnTo>
                      <a:pt x="48" y="12"/>
                    </a:lnTo>
                    <a:lnTo>
                      <a:pt x="48" y="0"/>
                    </a:lnTo>
                    <a:lnTo>
                      <a:pt x="48" y="0"/>
                    </a:lnTo>
                    <a:lnTo>
                      <a:pt x="48" y="0"/>
                    </a:lnTo>
                    <a:lnTo>
                      <a:pt x="48" y="0"/>
                    </a:lnTo>
                    <a:lnTo>
                      <a:pt x="48" y="0"/>
                    </a:lnTo>
                    <a:close/>
                  </a:path>
                </a:pathLst>
              </a:custGeom>
              <a:solidFill>
                <a:srgbClr val="00FF00"/>
              </a:solidFill>
              <a:ln w="9525">
                <a:solidFill>
                  <a:srgbClr val="00FF00"/>
                </a:solidFill>
                <a:round/>
                <a:headEnd/>
                <a:tailEnd/>
              </a:ln>
            </p:spPr>
            <p:txBody>
              <a:bodyPr/>
              <a:lstStyle/>
              <a:p>
                <a:endParaRPr lang="zh-CN" altLang="en-US"/>
              </a:p>
            </p:txBody>
          </p:sp>
          <p:sp>
            <p:nvSpPr>
              <p:cNvPr id="51244" name="Freeform 44"/>
              <p:cNvSpPr>
                <a:spLocks/>
              </p:cNvSpPr>
              <p:nvPr/>
            </p:nvSpPr>
            <p:spPr bwMode="auto">
              <a:xfrm>
                <a:off x="4555" y="2459"/>
                <a:ext cx="48" cy="78"/>
              </a:xfrm>
              <a:custGeom>
                <a:avLst/>
                <a:gdLst>
                  <a:gd name="T0" fmla="*/ 0 w 48"/>
                  <a:gd name="T1" fmla="*/ 0 h 78"/>
                  <a:gd name="T2" fmla="*/ 0 w 48"/>
                  <a:gd name="T3" fmla="*/ 0 h 78"/>
                  <a:gd name="T4" fmla="*/ 6 w 48"/>
                  <a:gd name="T5" fmla="*/ 12 h 78"/>
                  <a:gd name="T6" fmla="*/ 12 w 48"/>
                  <a:gd name="T7" fmla="*/ 24 h 78"/>
                  <a:gd name="T8" fmla="*/ 18 w 48"/>
                  <a:gd name="T9" fmla="*/ 36 h 78"/>
                  <a:gd name="T10" fmla="*/ 24 w 48"/>
                  <a:gd name="T11" fmla="*/ 42 h 78"/>
                  <a:gd name="T12" fmla="*/ 30 w 48"/>
                  <a:gd name="T13" fmla="*/ 54 h 78"/>
                  <a:gd name="T14" fmla="*/ 36 w 48"/>
                  <a:gd name="T15" fmla="*/ 60 h 78"/>
                  <a:gd name="T16" fmla="*/ 42 w 48"/>
                  <a:gd name="T17" fmla="*/ 72 h 78"/>
                  <a:gd name="T18" fmla="*/ 48 w 48"/>
                  <a:gd name="T19" fmla="*/ 78 h 78"/>
                  <a:gd name="T20" fmla="*/ 48 w 48"/>
                  <a:gd name="T21" fmla="*/ 78 h 78"/>
                  <a:gd name="T22" fmla="*/ 48 w 48"/>
                  <a:gd name="T23" fmla="*/ 78 h 78"/>
                  <a:gd name="T24" fmla="*/ 42 w 48"/>
                  <a:gd name="T25" fmla="*/ 72 h 78"/>
                  <a:gd name="T26" fmla="*/ 36 w 48"/>
                  <a:gd name="T27" fmla="*/ 60 h 78"/>
                  <a:gd name="T28" fmla="*/ 30 w 48"/>
                  <a:gd name="T29" fmla="*/ 54 h 78"/>
                  <a:gd name="T30" fmla="*/ 24 w 48"/>
                  <a:gd name="T31" fmla="*/ 42 h 78"/>
                  <a:gd name="T32" fmla="*/ 12 w 48"/>
                  <a:gd name="T33" fmla="*/ 30 h 78"/>
                  <a:gd name="T34" fmla="*/ 6 w 48"/>
                  <a:gd name="T35" fmla="*/ 18 h 78"/>
                  <a:gd name="T36" fmla="*/ 0 w 48"/>
                  <a:gd name="T37" fmla="*/ 12 h 78"/>
                  <a:gd name="T38" fmla="*/ 0 w 48"/>
                  <a:gd name="T39" fmla="*/ 0 h 78"/>
                  <a:gd name="T40" fmla="*/ 0 w 48"/>
                  <a:gd name="T41" fmla="*/ 0 h 78"/>
                  <a:gd name="T42" fmla="*/ 0 w 48"/>
                  <a:gd name="T43" fmla="*/ 0 h 78"/>
                  <a:gd name="T44" fmla="*/ 0 w 48"/>
                  <a:gd name="T45" fmla="*/ 0 h 78"/>
                  <a:gd name="T46" fmla="*/ 0 w 48"/>
                  <a:gd name="T4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78">
                    <a:moveTo>
                      <a:pt x="0" y="0"/>
                    </a:moveTo>
                    <a:lnTo>
                      <a:pt x="0" y="0"/>
                    </a:lnTo>
                    <a:lnTo>
                      <a:pt x="6" y="12"/>
                    </a:lnTo>
                    <a:lnTo>
                      <a:pt x="12" y="24"/>
                    </a:lnTo>
                    <a:lnTo>
                      <a:pt x="18" y="36"/>
                    </a:lnTo>
                    <a:lnTo>
                      <a:pt x="24" y="42"/>
                    </a:lnTo>
                    <a:lnTo>
                      <a:pt x="30" y="54"/>
                    </a:lnTo>
                    <a:lnTo>
                      <a:pt x="36" y="60"/>
                    </a:lnTo>
                    <a:lnTo>
                      <a:pt x="42" y="72"/>
                    </a:lnTo>
                    <a:lnTo>
                      <a:pt x="48" y="78"/>
                    </a:lnTo>
                    <a:lnTo>
                      <a:pt x="48" y="78"/>
                    </a:lnTo>
                    <a:lnTo>
                      <a:pt x="48" y="78"/>
                    </a:lnTo>
                    <a:lnTo>
                      <a:pt x="42" y="72"/>
                    </a:lnTo>
                    <a:lnTo>
                      <a:pt x="36" y="60"/>
                    </a:lnTo>
                    <a:lnTo>
                      <a:pt x="30" y="54"/>
                    </a:lnTo>
                    <a:lnTo>
                      <a:pt x="24" y="42"/>
                    </a:lnTo>
                    <a:lnTo>
                      <a:pt x="12" y="30"/>
                    </a:lnTo>
                    <a:lnTo>
                      <a:pt x="6" y="18"/>
                    </a:lnTo>
                    <a:lnTo>
                      <a:pt x="0" y="12"/>
                    </a:lnTo>
                    <a:lnTo>
                      <a:pt x="0" y="0"/>
                    </a:lnTo>
                    <a:lnTo>
                      <a:pt x="0" y="0"/>
                    </a:lnTo>
                    <a:lnTo>
                      <a:pt x="0" y="0"/>
                    </a:lnTo>
                    <a:lnTo>
                      <a:pt x="0" y="0"/>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51245" name="Freeform 45"/>
              <p:cNvSpPr>
                <a:spLocks/>
              </p:cNvSpPr>
              <p:nvPr/>
            </p:nvSpPr>
            <p:spPr bwMode="auto">
              <a:xfrm>
                <a:off x="4549" y="2346"/>
                <a:ext cx="42" cy="71"/>
              </a:xfrm>
              <a:custGeom>
                <a:avLst/>
                <a:gdLst>
                  <a:gd name="T0" fmla="*/ 0 w 42"/>
                  <a:gd name="T1" fmla="*/ 71 h 71"/>
                  <a:gd name="T2" fmla="*/ 6 w 42"/>
                  <a:gd name="T3" fmla="*/ 71 h 71"/>
                  <a:gd name="T4" fmla="*/ 18 w 42"/>
                  <a:gd name="T5" fmla="*/ 71 h 71"/>
                  <a:gd name="T6" fmla="*/ 30 w 42"/>
                  <a:gd name="T7" fmla="*/ 65 h 71"/>
                  <a:gd name="T8" fmla="*/ 36 w 42"/>
                  <a:gd name="T9" fmla="*/ 59 h 71"/>
                  <a:gd name="T10" fmla="*/ 36 w 42"/>
                  <a:gd name="T11" fmla="*/ 54 h 71"/>
                  <a:gd name="T12" fmla="*/ 42 w 42"/>
                  <a:gd name="T13" fmla="*/ 48 h 71"/>
                  <a:gd name="T14" fmla="*/ 42 w 42"/>
                  <a:gd name="T15" fmla="*/ 42 h 71"/>
                  <a:gd name="T16" fmla="*/ 42 w 42"/>
                  <a:gd name="T17" fmla="*/ 42 h 71"/>
                  <a:gd name="T18" fmla="*/ 36 w 42"/>
                  <a:gd name="T19" fmla="*/ 36 h 71"/>
                  <a:gd name="T20" fmla="*/ 30 w 42"/>
                  <a:gd name="T21" fmla="*/ 30 h 71"/>
                  <a:gd name="T22" fmla="*/ 24 w 42"/>
                  <a:gd name="T23" fmla="*/ 30 h 71"/>
                  <a:gd name="T24" fmla="*/ 30 w 42"/>
                  <a:gd name="T25" fmla="*/ 12 h 71"/>
                  <a:gd name="T26" fmla="*/ 30 w 42"/>
                  <a:gd name="T27" fmla="*/ 0 h 71"/>
                  <a:gd name="T28" fmla="*/ 24 w 42"/>
                  <a:gd name="T29" fmla="*/ 12 h 71"/>
                  <a:gd name="T30" fmla="*/ 24 w 42"/>
                  <a:gd name="T31" fmla="*/ 6 h 71"/>
                  <a:gd name="T32" fmla="*/ 24 w 42"/>
                  <a:gd name="T33" fmla="*/ 12 h 71"/>
                  <a:gd name="T34" fmla="*/ 24 w 42"/>
                  <a:gd name="T35" fmla="*/ 18 h 71"/>
                  <a:gd name="T36" fmla="*/ 24 w 42"/>
                  <a:gd name="T37" fmla="*/ 24 h 71"/>
                  <a:gd name="T38" fmla="*/ 18 w 42"/>
                  <a:gd name="T39" fmla="*/ 24 h 71"/>
                  <a:gd name="T40" fmla="*/ 18 w 42"/>
                  <a:gd name="T41" fmla="*/ 18 h 71"/>
                  <a:gd name="T42" fmla="*/ 18 w 42"/>
                  <a:gd name="T43" fmla="*/ 24 h 71"/>
                  <a:gd name="T44" fmla="*/ 18 w 42"/>
                  <a:gd name="T45" fmla="*/ 30 h 71"/>
                  <a:gd name="T46" fmla="*/ 24 w 42"/>
                  <a:gd name="T47" fmla="*/ 36 h 71"/>
                  <a:gd name="T48" fmla="*/ 36 w 42"/>
                  <a:gd name="T49" fmla="*/ 48 h 71"/>
                  <a:gd name="T50" fmla="*/ 36 w 42"/>
                  <a:gd name="T51" fmla="*/ 48 h 71"/>
                  <a:gd name="T52" fmla="*/ 30 w 42"/>
                  <a:gd name="T53" fmla="*/ 48 h 71"/>
                  <a:gd name="T54" fmla="*/ 24 w 42"/>
                  <a:gd name="T55" fmla="*/ 54 h 71"/>
                  <a:gd name="T56" fmla="*/ 12 w 42"/>
                  <a:gd name="T57" fmla="*/ 54 h 71"/>
                  <a:gd name="T58" fmla="*/ 6 w 42"/>
                  <a:gd name="T59" fmla="*/ 59 h 71"/>
                  <a:gd name="T60" fmla="*/ 0 w 42"/>
                  <a:gd name="T61" fmla="*/ 71 h 71"/>
                  <a:gd name="T62" fmla="*/ 0 w 42"/>
                  <a:gd name="T63"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 h="71">
                    <a:moveTo>
                      <a:pt x="0" y="71"/>
                    </a:moveTo>
                    <a:lnTo>
                      <a:pt x="6" y="71"/>
                    </a:lnTo>
                    <a:lnTo>
                      <a:pt x="18" y="71"/>
                    </a:lnTo>
                    <a:lnTo>
                      <a:pt x="30" y="65"/>
                    </a:lnTo>
                    <a:lnTo>
                      <a:pt x="36" y="59"/>
                    </a:lnTo>
                    <a:lnTo>
                      <a:pt x="36" y="54"/>
                    </a:lnTo>
                    <a:lnTo>
                      <a:pt x="42" y="48"/>
                    </a:lnTo>
                    <a:lnTo>
                      <a:pt x="42" y="42"/>
                    </a:lnTo>
                    <a:lnTo>
                      <a:pt x="42" y="42"/>
                    </a:lnTo>
                    <a:lnTo>
                      <a:pt x="36" y="36"/>
                    </a:lnTo>
                    <a:lnTo>
                      <a:pt x="30" y="30"/>
                    </a:lnTo>
                    <a:lnTo>
                      <a:pt x="24" y="30"/>
                    </a:lnTo>
                    <a:lnTo>
                      <a:pt x="30" y="12"/>
                    </a:lnTo>
                    <a:lnTo>
                      <a:pt x="30" y="0"/>
                    </a:lnTo>
                    <a:lnTo>
                      <a:pt x="24" y="12"/>
                    </a:lnTo>
                    <a:lnTo>
                      <a:pt x="24" y="6"/>
                    </a:lnTo>
                    <a:lnTo>
                      <a:pt x="24" y="12"/>
                    </a:lnTo>
                    <a:lnTo>
                      <a:pt x="24" y="18"/>
                    </a:lnTo>
                    <a:lnTo>
                      <a:pt x="24" y="24"/>
                    </a:lnTo>
                    <a:lnTo>
                      <a:pt x="18" y="24"/>
                    </a:lnTo>
                    <a:lnTo>
                      <a:pt x="18" y="18"/>
                    </a:lnTo>
                    <a:lnTo>
                      <a:pt x="18" y="24"/>
                    </a:lnTo>
                    <a:lnTo>
                      <a:pt x="18" y="30"/>
                    </a:lnTo>
                    <a:lnTo>
                      <a:pt x="24" y="36"/>
                    </a:lnTo>
                    <a:lnTo>
                      <a:pt x="36" y="48"/>
                    </a:lnTo>
                    <a:lnTo>
                      <a:pt x="36" y="48"/>
                    </a:lnTo>
                    <a:lnTo>
                      <a:pt x="30" y="48"/>
                    </a:lnTo>
                    <a:lnTo>
                      <a:pt x="24" y="54"/>
                    </a:lnTo>
                    <a:lnTo>
                      <a:pt x="12" y="54"/>
                    </a:lnTo>
                    <a:lnTo>
                      <a:pt x="6" y="59"/>
                    </a:lnTo>
                    <a:lnTo>
                      <a:pt x="0" y="71"/>
                    </a:lnTo>
                    <a:lnTo>
                      <a:pt x="0" y="71"/>
                    </a:lnTo>
                    <a:close/>
                  </a:path>
                </a:pathLst>
              </a:custGeom>
              <a:solidFill>
                <a:srgbClr val="00FF00"/>
              </a:solidFill>
              <a:ln w="9525">
                <a:solidFill>
                  <a:srgbClr val="00FF00"/>
                </a:solidFill>
                <a:round/>
                <a:headEnd/>
                <a:tailEnd/>
              </a:ln>
            </p:spPr>
            <p:txBody>
              <a:bodyPr/>
              <a:lstStyle/>
              <a:p>
                <a:endParaRPr lang="zh-CN" altLang="en-US"/>
              </a:p>
            </p:txBody>
          </p:sp>
          <p:sp>
            <p:nvSpPr>
              <p:cNvPr id="51246" name="Freeform 46"/>
              <p:cNvSpPr>
                <a:spLocks/>
              </p:cNvSpPr>
              <p:nvPr/>
            </p:nvSpPr>
            <p:spPr bwMode="auto">
              <a:xfrm>
                <a:off x="4543" y="2400"/>
                <a:ext cx="42" cy="35"/>
              </a:xfrm>
              <a:custGeom>
                <a:avLst/>
                <a:gdLst>
                  <a:gd name="T0" fmla="*/ 0 w 42"/>
                  <a:gd name="T1" fmla="*/ 29 h 35"/>
                  <a:gd name="T2" fmla="*/ 12 w 42"/>
                  <a:gd name="T3" fmla="*/ 35 h 35"/>
                  <a:gd name="T4" fmla="*/ 24 w 42"/>
                  <a:gd name="T5" fmla="*/ 29 h 35"/>
                  <a:gd name="T6" fmla="*/ 42 w 42"/>
                  <a:gd name="T7" fmla="*/ 17 h 35"/>
                  <a:gd name="T8" fmla="*/ 24 w 42"/>
                  <a:gd name="T9" fmla="*/ 0 h 35"/>
                  <a:gd name="T10" fmla="*/ 12 w 42"/>
                  <a:gd name="T11" fmla="*/ 5 h 35"/>
                  <a:gd name="T12" fmla="*/ 12 w 42"/>
                  <a:gd name="T13" fmla="*/ 5 h 35"/>
                  <a:gd name="T14" fmla="*/ 18 w 42"/>
                  <a:gd name="T15" fmla="*/ 11 h 35"/>
                  <a:gd name="T16" fmla="*/ 0 w 42"/>
                  <a:gd name="T17" fmla="*/ 2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5">
                    <a:moveTo>
                      <a:pt x="0" y="29"/>
                    </a:moveTo>
                    <a:lnTo>
                      <a:pt x="12" y="35"/>
                    </a:lnTo>
                    <a:lnTo>
                      <a:pt x="24" y="29"/>
                    </a:lnTo>
                    <a:lnTo>
                      <a:pt x="42" y="17"/>
                    </a:lnTo>
                    <a:lnTo>
                      <a:pt x="24" y="0"/>
                    </a:lnTo>
                    <a:lnTo>
                      <a:pt x="12" y="5"/>
                    </a:lnTo>
                    <a:lnTo>
                      <a:pt x="12" y="5"/>
                    </a:lnTo>
                    <a:lnTo>
                      <a:pt x="18" y="11"/>
                    </a:lnTo>
                    <a:lnTo>
                      <a:pt x="0" y="29"/>
                    </a:lnTo>
                    <a:close/>
                  </a:path>
                </a:pathLst>
              </a:custGeom>
              <a:solidFill>
                <a:srgbClr val="00FF00"/>
              </a:solidFill>
              <a:ln w="9525">
                <a:solidFill>
                  <a:srgbClr val="00FF00"/>
                </a:solidFill>
                <a:round/>
                <a:headEnd/>
                <a:tailEnd/>
              </a:ln>
            </p:spPr>
            <p:txBody>
              <a:bodyPr/>
              <a:lstStyle/>
              <a:p>
                <a:endParaRPr lang="zh-CN" altLang="en-US"/>
              </a:p>
            </p:txBody>
          </p:sp>
          <p:sp>
            <p:nvSpPr>
              <p:cNvPr id="51247" name="Freeform 47"/>
              <p:cNvSpPr>
                <a:spLocks noEditPoints="1"/>
              </p:cNvSpPr>
              <p:nvPr/>
            </p:nvSpPr>
            <p:spPr bwMode="auto">
              <a:xfrm>
                <a:off x="4567" y="2388"/>
                <a:ext cx="24" cy="29"/>
              </a:xfrm>
              <a:custGeom>
                <a:avLst/>
                <a:gdLst>
                  <a:gd name="T0" fmla="*/ 18 w 24"/>
                  <a:gd name="T1" fmla="*/ 29 h 29"/>
                  <a:gd name="T2" fmla="*/ 24 w 24"/>
                  <a:gd name="T3" fmla="*/ 29 h 29"/>
                  <a:gd name="T4" fmla="*/ 24 w 24"/>
                  <a:gd name="T5" fmla="*/ 23 h 29"/>
                  <a:gd name="T6" fmla="*/ 18 w 24"/>
                  <a:gd name="T7" fmla="*/ 23 h 29"/>
                  <a:gd name="T8" fmla="*/ 24 w 24"/>
                  <a:gd name="T9" fmla="*/ 0 h 29"/>
                  <a:gd name="T10" fmla="*/ 12 w 24"/>
                  <a:gd name="T11" fmla="*/ 6 h 29"/>
                  <a:gd name="T12" fmla="*/ 6 w 24"/>
                  <a:gd name="T13" fmla="*/ 6 h 29"/>
                  <a:gd name="T14" fmla="*/ 0 w 24"/>
                  <a:gd name="T15" fmla="*/ 12 h 29"/>
                  <a:gd name="T16" fmla="*/ 18 w 24"/>
                  <a:gd name="T17" fmla="*/ 29 h 29"/>
                  <a:gd name="T18" fmla="*/ 18 w 24"/>
                  <a:gd name="T19" fmla="*/ 29 h 29"/>
                  <a:gd name="T20" fmla="*/ 18 w 24"/>
                  <a:gd name="T21" fmla="*/ 29 h 29"/>
                  <a:gd name="T22" fmla="*/ 18 w 24"/>
                  <a:gd name="T23" fmla="*/ 29 h 29"/>
                  <a:gd name="T24" fmla="*/ 12 w 24"/>
                  <a:gd name="T25" fmla="*/ 23 h 29"/>
                  <a:gd name="T26" fmla="*/ 18 w 24"/>
                  <a:gd name="T2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9">
                    <a:moveTo>
                      <a:pt x="18" y="29"/>
                    </a:moveTo>
                    <a:lnTo>
                      <a:pt x="24" y="29"/>
                    </a:lnTo>
                    <a:lnTo>
                      <a:pt x="24" y="23"/>
                    </a:lnTo>
                    <a:lnTo>
                      <a:pt x="18" y="23"/>
                    </a:lnTo>
                    <a:lnTo>
                      <a:pt x="24" y="0"/>
                    </a:lnTo>
                    <a:lnTo>
                      <a:pt x="12" y="6"/>
                    </a:lnTo>
                    <a:lnTo>
                      <a:pt x="6" y="6"/>
                    </a:lnTo>
                    <a:lnTo>
                      <a:pt x="0" y="12"/>
                    </a:lnTo>
                    <a:lnTo>
                      <a:pt x="18" y="29"/>
                    </a:lnTo>
                    <a:close/>
                    <a:moveTo>
                      <a:pt x="18" y="29"/>
                    </a:moveTo>
                    <a:lnTo>
                      <a:pt x="18" y="29"/>
                    </a:lnTo>
                    <a:lnTo>
                      <a:pt x="18" y="29"/>
                    </a:lnTo>
                    <a:lnTo>
                      <a:pt x="12" y="23"/>
                    </a:lnTo>
                    <a:lnTo>
                      <a:pt x="18" y="29"/>
                    </a:lnTo>
                    <a:close/>
                  </a:path>
                </a:pathLst>
              </a:custGeom>
              <a:solidFill>
                <a:srgbClr val="00FF00"/>
              </a:solidFill>
              <a:ln w="9525">
                <a:solidFill>
                  <a:srgbClr val="00FF00"/>
                </a:solidFill>
                <a:round/>
                <a:headEnd/>
                <a:tailEnd/>
              </a:ln>
            </p:spPr>
            <p:txBody>
              <a:bodyPr/>
              <a:lstStyle/>
              <a:p>
                <a:endParaRPr lang="zh-CN" altLang="en-US"/>
              </a:p>
            </p:txBody>
          </p:sp>
          <p:sp>
            <p:nvSpPr>
              <p:cNvPr id="51248" name="Freeform 48"/>
              <p:cNvSpPr>
                <a:spLocks noEditPoints="1"/>
              </p:cNvSpPr>
              <p:nvPr/>
            </p:nvSpPr>
            <p:spPr bwMode="auto">
              <a:xfrm>
                <a:off x="4579" y="2382"/>
                <a:ext cx="24" cy="29"/>
              </a:xfrm>
              <a:custGeom>
                <a:avLst/>
                <a:gdLst>
                  <a:gd name="T0" fmla="*/ 12 w 24"/>
                  <a:gd name="T1" fmla="*/ 29 h 29"/>
                  <a:gd name="T2" fmla="*/ 12 w 24"/>
                  <a:gd name="T3" fmla="*/ 29 h 29"/>
                  <a:gd name="T4" fmla="*/ 18 w 24"/>
                  <a:gd name="T5" fmla="*/ 23 h 29"/>
                  <a:gd name="T6" fmla="*/ 24 w 24"/>
                  <a:gd name="T7" fmla="*/ 12 h 29"/>
                  <a:gd name="T8" fmla="*/ 18 w 24"/>
                  <a:gd name="T9" fmla="*/ 0 h 29"/>
                  <a:gd name="T10" fmla="*/ 0 w 24"/>
                  <a:gd name="T11" fmla="*/ 18 h 29"/>
                  <a:gd name="T12" fmla="*/ 0 w 24"/>
                  <a:gd name="T13" fmla="*/ 12 h 29"/>
                  <a:gd name="T14" fmla="*/ 0 w 24"/>
                  <a:gd name="T15" fmla="*/ 12 h 29"/>
                  <a:gd name="T16" fmla="*/ 12 w 24"/>
                  <a:gd name="T17" fmla="*/ 29 h 29"/>
                  <a:gd name="T18" fmla="*/ 6 w 24"/>
                  <a:gd name="T19" fmla="*/ 29 h 29"/>
                  <a:gd name="T20" fmla="*/ 12 w 24"/>
                  <a:gd name="T21" fmla="*/ 29 h 29"/>
                  <a:gd name="T22" fmla="*/ 12 w 24"/>
                  <a:gd name="T23" fmla="*/ 29 h 29"/>
                  <a:gd name="T24" fmla="*/ 6 w 24"/>
                  <a:gd name="T25" fmla="*/ 18 h 29"/>
                  <a:gd name="T26" fmla="*/ 6 w 24"/>
                  <a:gd name="T2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9">
                    <a:moveTo>
                      <a:pt x="12" y="29"/>
                    </a:moveTo>
                    <a:lnTo>
                      <a:pt x="12" y="29"/>
                    </a:lnTo>
                    <a:lnTo>
                      <a:pt x="18" y="23"/>
                    </a:lnTo>
                    <a:lnTo>
                      <a:pt x="24" y="12"/>
                    </a:lnTo>
                    <a:lnTo>
                      <a:pt x="18" y="0"/>
                    </a:lnTo>
                    <a:lnTo>
                      <a:pt x="0" y="18"/>
                    </a:lnTo>
                    <a:lnTo>
                      <a:pt x="0" y="12"/>
                    </a:lnTo>
                    <a:lnTo>
                      <a:pt x="0" y="12"/>
                    </a:lnTo>
                    <a:lnTo>
                      <a:pt x="12" y="29"/>
                    </a:lnTo>
                    <a:close/>
                    <a:moveTo>
                      <a:pt x="6" y="29"/>
                    </a:moveTo>
                    <a:lnTo>
                      <a:pt x="12" y="29"/>
                    </a:lnTo>
                    <a:lnTo>
                      <a:pt x="12" y="29"/>
                    </a:lnTo>
                    <a:lnTo>
                      <a:pt x="6" y="18"/>
                    </a:lnTo>
                    <a:lnTo>
                      <a:pt x="6" y="29"/>
                    </a:lnTo>
                    <a:close/>
                  </a:path>
                </a:pathLst>
              </a:custGeom>
              <a:solidFill>
                <a:srgbClr val="00FF00"/>
              </a:solidFill>
              <a:ln w="9525">
                <a:solidFill>
                  <a:srgbClr val="00FF00"/>
                </a:solidFill>
                <a:round/>
                <a:headEnd/>
                <a:tailEnd/>
              </a:ln>
            </p:spPr>
            <p:txBody>
              <a:bodyPr/>
              <a:lstStyle/>
              <a:p>
                <a:endParaRPr lang="zh-CN" altLang="en-US"/>
              </a:p>
            </p:txBody>
          </p:sp>
          <p:sp>
            <p:nvSpPr>
              <p:cNvPr id="51249" name="Freeform 49"/>
              <p:cNvSpPr>
                <a:spLocks noEditPoints="1"/>
              </p:cNvSpPr>
              <p:nvPr/>
            </p:nvSpPr>
            <p:spPr bwMode="auto">
              <a:xfrm>
                <a:off x="4567" y="2364"/>
                <a:ext cx="30" cy="36"/>
              </a:xfrm>
              <a:custGeom>
                <a:avLst/>
                <a:gdLst>
                  <a:gd name="T0" fmla="*/ 30 w 30"/>
                  <a:gd name="T1" fmla="*/ 18 h 36"/>
                  <a:gd name="T2" fmla="*/ 30 w 30"/>
                  <a:gd name="T3" fmla="*/ 18 h 36"/>
                  <a:gd name="T4" fmla="*/ 24 w 30"/>
                  <a:gd name="T5" fmla="*/ 12 h 36"/>
                  <a:gd name="T6" fmla="*/ 18 w 30"/>
                  <a:gd name="T7" fmla="*/ 6 h 36"/>
                  <a:gd name="T8" fmla="*/ 18 w 30"/>
                  <a:gd name="T9" fmla="*/ 6 h 36"/>
                  <a:gd name="T10" fmla="*/ 0 w 30"/>
                  <a:gd name="T11" fmla="*/ 0 h 36"/>
                  <a:gd name="T12" fmla="*/ 0 w 30"/>
                  <a:gd name="T13" fmla="*/ 18 h 36"/>
                  <a:gd name="T14" fmla="*/ 6 w 30"/>
                  <a:gd name="T15" fmla="*/ 30 h 36"/>
                  <a:gd name="T16" fmla="*/ 12 w 30"/>
                  <a:gd name="T17" fmla="*/ 36 h 36"/>
                  <a:gd name="T18" fmla="*/ 12 w 30"/>
                  <a:gd name="T19" fmla="*/ 36 h 36"/>
                  <a:gd name="T20" fmla="*/ 30 w 30"/>
                  <a:gd name="T21" fmla="*/ 18 h 36"/>
                  <a:gd name="T22" fmla="*/ 30 w 30"/>
                  <a:gd name="T23" fmla="*/ 18 h 36"/>
                  <a:gd name="T24" fmla="*/ 30 w 30"/>
                  <a:gd name="T25" fmla="*/ 18 h 36"/>
                  <a:gd name="T26" fmla="*/ 30 w 30"/>
                  <a:gd name="T27" fmla="*/ 18 h 36"/>
                  <a:gd name="T28" fmla="*/ 24 w 30"/>
                  <a:gd name="T29" fmla="*/ 24 h 36"/>
                  <a:gd name="T30" fmla="*/ 30 w 30"/>
                  <a:gd name="T31"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30" y="18"/>
                    </a:moveTo>
                    <a:lnTo>
                      <a:pt x="30" y="18"/>
                    </a:lnTo>
                    <a:lnTo>
                      <a:pt x="24" y="12"/>
                    </a:lnTo>
                    <a:lnTo>
                      <a:pt x="18" y="6"/>
                    </a:lnTo>
                    <a:lnTo>
                      <a:pt x="18" y="6"/>
                    </a:lnTo>
                    <a:lnTo>
                      <a:pt x="0" y="0"/>
                    </a:lnTo>
                    <a:lnTo>
                      <a:pt x="0" y="18"/>
                    </a:lnTo>
                    <a:lnTo>
                      <a:pt x="6" y="30"/>
                    </a:lnTo>
                    <a:lnTo>
                      <a:pt x="12" y="36"/>
                    </a:lnTo>
                    <a:lnTo>
                      <a:pt x="12" y="36"/>
                    </a:lnTo>
                    <a:lnTo>
                      <a:pt x="30" y="18"/>
                    </a:lnTo>
                    <a:close/>
                    <a:moveTo>
                      <a:pt x="30" y="18"/>
                    </a:moveTo>
                    <a:lnTo>
                      <a:pt x="30" y="18"/>
                    </a:lnTo>
                    <a:lnTo>
                      <a:pt x="30" y="18"/>
                    </a:lnTo>
                    <a:lnTo>
                      <a:pt x="24" y="24"/>
                    </a:lnTo>
                    <a:lnTo>
                      <a:pt x="30" y="18"/>
                    </a:lnTo>
                    <a:close/>
                  </a:path>
                </a:pathLst>
              </a:custGeom>
              <a:solidFill>
                <a:srgbClr val="00FF00"/>
              </a:solidFill>
              <a:ln w="9525">
                <a:solidFill>
                  <a:srgbClr val="00FF00"/>
                </a:solidFill>
                <a:round/>
                <a:headEnd/>
                <a:tailEnd/>
              </a:ln>
            </p:spPr>
            <p:txBody>
              <a:bodyPr/>
              <a:lstStyle/>
              <a:p>
                <a:endParaRPr lang="zh-CN" altLang="en-US"/>
              </a:p>
            </p:txBody>
          </p:sp>
          <p:sp>
            <p:nvSpPr>
              <p:cNvPr id="51250" name="Freeform 50"/>
              <p:cNvSpPr>
                <a:spLocks noEditPoints="1"/>
              </p:cNvSpPr>
              <p:nvPr/>
            </p:nvSpPr>
            <p:spPr bwMode="auto">
              <a:xfrm>
                <a:off x="4561" y="2352"/>
                <a:ext cx="24" cy="30"/>
              </a:xfrm>
              <a:custGeom>
                <a:avLst/>
                <a:gdLst>
                  <a:gd name="T0" fmla="*/ 24 w 24"/>
                  <a:gd name="T1" fmla="*/ 24 h 30"/>
                  <a:gd name="T2" fmla="*/ 24 w 24"/>
                  <a:gd name="T3" fmla="*/ 6 h 30"/>
                  <a:gd name="T4" fmla="*/ 6 w 24"/>
                  <a:gd name="T5" fmla="*/ 0 h 30"/>
                  <a:gd name="T6" fmla="*/ 0 w 24"/>
                  <a:gd name="T7" fmla="*/ 18 h 30"/>
                  <a:gd name="T8" fmla="*/ 24 w 24"/>
                  <a:gd name="T9" fmla="*/ 24 h 30"/>
                  <a:gd name="T10" fmla="*/ 24 w 24"/>
                  <a:gd name="T11" fmla="*/ 30 h 30"/>
                  <a:gd name="T12" fmla="*/ 24 w 24"/>
                  <a:gd name="T13" fmla="*/ 24 h 30"/>
                  <a:gd name="T14" fmla="*/ 24 w 24"/>
                  <a:gd name="T15" fmla="*/ 24 h 30"/>
                  <a:gd name="T16" fmla="*/ 12 w 24"/>
                  <a:gd name="T17" fmla="*/ 24 h 30"/>
                  <a:gd name="T18" fmla="*/ 24 w 24"/>
                  <a:gd name="T19"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0">
                    <a:moveTo>
                      <a:pt x="24" y="24"/>
                    </a:moveTo>
                    <a:lnTo>
                      <a:pt x="24" y="6"/>
                    </a:lnTo>
                    <a:lnTo>
                      <a:pt x="6" y="0"/>
                    </a:lnTo>
                    <a:lnTo>
                      <a:pt x="0" y="18"/>
                    </a:lnTo>
                    <a:lnTo>
                      <a:pt x="24" y="24"/>
                    </a:lnTo>
                    <a:close/>
                    <a:moveTo>
                      <a:pt x="24" y="30"/>
                    </a:moveTo>
                    <a:lnTo>
                      <a:pt x="24" y="24"/>
                    </a:lnTo>
                    <a:lnTo>
                      <a:pt x="24" y="24"/>
                    </a:lnTo>
                    <a:lnTo>
                      <a:pt x="12" y="24"/>
                    </a:lnTo>
                    <a:lnTo>
                      <a:pt x="24" y="30"/>
                    </a:lnTo>
                    <a:close/>
                  </a:path>
                </a:pathLst>
              </a:custGeom>
              <a:solidFill>
                <a:srgbClr val="00FF00"/>
              </a:solidFill>
              <a:ln w="9525">
                <a:solidFill>
                  <a:srgbClr val="00FF00"/>
                </a:solidFill>
                <a:round/>
                <a:headEnd/>
                <a:tailEnd/>
              </a:ln>
            </p:spPr>
            <p:txBody>
              <a:bodyPr/>
              <a:lstStyle/>
              <a:p>
                <a:endParaRPr lang="zh-CN" altLang="en-US"/>
              </a:p>
            </p:txBody>
          </p:sp>
          <p:sp>
            <p:nvSpPr>
              <p:cNvPr id="51251" name="Freeform 51"/>
              <p:cNvSpPr>
                <a:spLocks noEditPoints="1"/>
              </p:cNvSpPr>
              <p:nvPr/>
            </p:nvSpPr>
            <p:spPr bwMode="auto">
              <a:xfrm>
                <a:off x="4567" y="2346"/>
                <a:ext cx="24" cy="12"/>
              </a:xfrm>
              <a:custGeom>
                <a:avLst/>
                <a:gdLst>
                  <a:gd name="T0" fmla="*/ 18 w 24"/>
                  <a:gd name="T1" fmla="*/ 12 h 12"/>
                  <a:gd name="T2" fmla="*/ 24 w 24"/>
                  <a:gd name="T3" fmla="*/ 6 h 12"/>
                  <a:gd name="T4" fmla="*/ 0 w 24"/>
                  <a:gd name="T5" fmla="*/ 0 h 12"/>
                  <a:gd name="T6" fmla="*/ 0 w 24"/>
                  <a:gd name="T7" fmla="*/ 6 h 12"/>
                  <a:gd name="T8" fmla="*/ 18 w 24"/>
                  <a:gd name="T9" fmla="*/ 12 h 12"/>
                  <a:gd name="T10" fmla="*/ 0 w 24"/>
                  <a:gd name="T11" fmla="*/ 6 h 12"/>
                  <a:gd name="T12" fmla="*/ 0 w 24"/>
                  <a:gd name="T13" fmla="*/ 6 h 12"/>
                  <a:gd name="T14" fmla="*/ 0 w 24"/>
                  <a:gd name="T15" fmla="*/ 6 h 12"/>
                  <a:gd name="T16" fmla="*/ 12 w 24"/>
                  <a:gd name="T17" fmla="*/ 12 h 12"/>
                  <a:gd name="T18" fmla="*/ 0 w 24"/>
                  <a:gd name="T19"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2">
                    <a:moveTo>
                      <a:pt x="18" y="12"/>
                    </a:moveTo>
                    <a:lnTo>
                      <a:pt x="24" y="6"/>
                    </a:lnTo>
                    <a:lnTo>
                      <a:pt x="0" y="0"/>
                    </a:lnTo>
                    <a:lnTo>
                      <a:pt x="0" y="6"/>
                    </a:lnTo>
                    <a:lnTo>
                      <a:pt x="18" y="12"/>
                    </a:lnTo>
                    <a:close/>
                    <a:moveTo>
                      <a:pt x="0" y="6"/>
                    </a:moveTo>
                    <a:lnTo>
                      <a:pt x="0" y="6"/>
                    </a:lnTo>
                    <a:lnTo>
                      <a:pt x="0" y="6"/>
                    </a:lnTo>
                    <a:lnTo>
                      <a:pt x="12" y="12"/>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252" name="Freeform 52"/>
              <p:cNvSpPr>
                <a:spLocks noEditPoints="1"/>
              </p:cNvSpPr>
              <p:nvPr/>
            </p:nvSpPr>
            <p:spPr bwMode="auto">
              <a:xfrm>
                <a:off x="4561" y="2346"/>
                <a:ext cx="30" cy="12"/>
              </a:xfrm>
              <a:custGeom>
                <a:avLst/>
                <a:gdLst>
                  <a:gd name="T0" fmla="*/ 6 w 30"/>
                  <a:gd name="T1" fmla="*/ 0 h 12"/>
                  <a:gd name="T2" fmla="*/ 0 w 30"/>
                  <a:gd name="T3" fmla="*/ 6 h 12"/>
                  <a:gd name="T4" fmla="*/ 24 w 30"/>
                  <a:gd name="T5" fmla="*/ 12 h 12"/>
                  <a:gd name="T6" fmla="*/ 30 w 30"/>
                  <a:gd name="T7" fmla="*/ 6 h 12"/>
                  <a:gd name="T8" fmla="*/ 6 w 30"/>
                  <a:gd name="T9" fmla="*/ 0 h 12"/>
                  <a:gd name="T10" fmla="*/ 30 w 30"/>
                  <a:gd name="T11" fmla="*/ 6 h 12"/>
                  <a:gd name="T12" fmla="*/ 6 w 30"/>
                  <a:gd name="T13" fmla="*/ 0 h 12"/>
                  <a:gd name="T14" fmla="*/ 30 w 30"/>
                  <a:gd name="T15" fmla="*/ 6 h 12"/>
                  <a:gd name="T16" fmla="*/ 6 w 30"/>
                  <a:gd name="T17" fmla="*/ 0 h 12"/>
                  <a:gd name="T18" fmla="*/ 30 w 30"/>
                  <a:gd name="T19"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2">
                    <a:moveTo>
                      <a:pt x="6" y="0"/>
                    </a:moveTo>
                    <a:lnTo>
                      <a:pt x="0" y="6"/>
                    </a:lnTo>
                    <a:lnTo>
                      <a:pt x="24" y="12"/>
                    </a:lnTo>
                    <a:lnTo>
                      <a:pt x="30" y="6"/>
                    </a:lnTo>
                    <a:lnTo>
                      <a:pt x="6" y="0"/>
                    </a:lnTo>
                    <a:close/>
                    <a:moveTo>
                      <a:pt x="30" y="6"/>
                    </a:moveTo>
                    <a:lnTo>
                      <a:pt x="6" y="0"/>
                    </a:lnTo>
                    <a:lnTo>
                      <a:pt x="30" y="6"/>
                    </a:lnTo>
                    <a:lnTo>
                      <a:pt x="6" y="0"/>
                    </a:lnTo>
                    <a:lnTo>
                      <a:pt x="30" y="6"/>
                    </a:lnTo>
                    <a:close/>
                  </a:path>
                </a:pathLst>
              </a:custGeom>
              <a:solidFill>
                <a:srgbClr val="00FF00"/>
              </a:solidFill>
              <a:ln w="9525">
                <a:solidFill>
                  <a:srgbClr val="00FF00"/>
                </a:solidFill>
                <a:round/>
                <a:headEnd/>
                <a:tailEnd/>
              </a:ln>
            </p:spPr>
            <p:txBody>
              <a:bodyPr/>
              <a:lstStyle/>
              <a:p>
                <a:endParaRPr lang="zh-CN" altLang="en-US"/>
              </a:p>
            </p:txBody>
          </p:sp>
          <p:sp>
            <p:nvSpPr>
              <p:cNvPr id="51253" name="Freeform 53"/>
              <p:cNvSpPr>
                <a:spLocks noEditPoints="1"/>
              </p:cNvSpPr>
              <p:nvPr/>
            </p:nvSpPr>
            <p:spPr bwMode="auto">
              <a:xfrm>
                <a:off x="4561" y="2352"/>
                <a:ext cx="24" cy="6"/>
              </a:xfrm>
              <a:custGeom>
                <a:avLst/>
                <a:gdLst>
                  <a:gd name="T0" fmla="*/ 24 w 24"/>
                  <a:gd name="T1" fmla="*/ 0 h 6"/>
                  <a:gd name="T2" fmla="*/ 24 w 24"/>
                  <a:gd name="T3" fmla="*/ 0 h 6"/>
                  <a:gd name="T4" fmla="*/ 0 w 24"/>
                  <a:gd name="T5" fmla="*/ 0 h 6"/>
                  <a:gd name="T6" fmla="*/ 0 w 24"/>
                  <a:gd name="T7" fmla="*/ 6 h 6"/>
                  <a:gd name="T8" fmla="*/ 24 w 24"/>
                  <a:gd name="T9" fmla="*/ 0 h 6"/>
                  <a:gd name="T10" fmla="*/ 0 w 24"/>
                  <a:gd name="T11" fmla="*/ 0 h 6"/>
                  <a:gd name="T12" fmla="*/ 24 w 24"/>
                  <a:gd name="T13" fmla="*/ 0 h 6"/>
                  <a:gd name="T14" fmla="*/ 0 w 24"/>
                  <a:gd name="T15" fmla="*/ 6 h 6"/>
                  <a:gd name="T16" fmla="*/ 24 w 24"/>
                  <a:gd name="T17" fmla="*/ 6 h 6"/>
                  <a:gd name="T18" fmla="*/ 0 w 24"/>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6">
                    <a:moveTo>
                      <a:pt x="24" y="0"/>
                    </a:moveTo>
                    <a:lnTo>
                      <a:pt x="24" y="0"/>
                    </a:lnTo>
                    <a:lnTo>
                      <a:pt x="0" y="0"/>
                    </a:lnTo>
                    <a:lnTo>
                      <a:pt x="0" y="6"/>
                    </a:lnTo>
                    <a:lnTo>
                      <a:pt x="24" y="0"/>
                    </a:lnTo>
                    <a:close/>
                    <a:moveTo>
                      <a:pt x="0" y="0"/>
                    </a:moveTo>
                    <a:lnTo>
                      <a:pt x="24" y="0"/>
                    </a:lnTo>
                    <a:lnTo>
                      <a:pt x="0" y="6"/>
                    </a:lnTo>
                    <a:lnTo>
                      <a:pt x="24" y="6"/>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51254" name="Freeform 54"/>
              <p:cNvSpPr>
                <a:spLocks noEditPoints="1"/>
              </p:cNvSpPr>
              <p:nvPr/>
            </p:nvSpPr>
            <p:spPr bwMode="auto">
              <a:xfrm>
                <a:off x="4561" y="2352"/>
                <a:ext cx="24" cy="24"/>
              </a:xfrm>
              <a:custGeom>
                <a:avLst/>
                <a:gdLst>
                  <a:gd name="T0" fmla="*/ 0 w 24"/>
                  <a:gd name="T1" fmla="*/ 0 h 24"/>
                  <a:gd name="T2" fmla="*/ 0 w 24"/>
                  <a:gd name="T3" fmla="*/ 6 h 24"/>
                  <a:gd name="T4" fmla="*/ 0 w 24"/>
                  <a:gd name="T5" fmla="*/ 6 h 24"/>
                  <a:gd name="T6" fmla="*/ 0 w 24"/>
                  <a:gd name="T7" fmla="*/ 6 h 24"/>
                  <a:gd name="T8" fmla="*/ 0 w 24"/>
                  <a:gd name="T9" fmla="*/ 6 h 24"/>
                  <a:gd name="T10" fmla="*/ 0 w 24"/>
                  <a:gd name="T11" fmla="*/ 24 h 24"/>
                  <a:gd name="T12" fmla="*/ 18 w 24"/>
                  <a:gd name="T13" fmla="*/ 18 h 24"/>
                  <a:gd name="T14" fmla="*/ 24 w 24"/>
                  <a:gd name="T15" fmla="*/ 12 h 24"/>
                  <a:gd name="T16" fmla="*/ 24 w 24"/>
                  <a:gd name="T17" fmla="*/ 6 h 24"/>
                  <a:gd name="T18" fmla="*/ 24 w 24"/>
                  <a:gd name="T19" fmla="*/ 0 h 24"/>
                  <a:gd name="T20" fmla="*/ 0 w 24"/>
                  <a:gd name="T21" fmla="*/ 0 h 24"/>
                  <a:gd name="T22" fmla="*/ 24 w 24"/>
                  <a:gd name="T23" fmla="*/ 0 h 24"/>
                  <a:gd name="T24" fmla="*/ 0 w 24"/>
                  <a:gd name="T25" fmla="*/ 0 h 24"/>
                  <a:gd name="T26" fmla="*/ 24 w 24"/>
                  <a:gd name="T27" fmla="*/ 0 h 24"/>
                  <a:gd name="T28" fmla="*/ 0 w 24"/>
                  <a:gd name="T29" fmla="*/ 0 h 24"/>
                  <a:gd name="T30" fmla="*/ 24 w 24"/>
                  <a:gd name="T31"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 h="24">
                    <a:moveTo>
                      <a:pt x="0" y="0"/>
                    </a:moveTo>
                    <a:lnTo>
                      <a:pt x="0" y="6"/>
                    </a:lnTo>
                    <a:lnTo>
                      <a:pt x="0" y="6"/>
                    </a:lnTo>
                    <a:lnTo>
                      <a:pt x="0" y="6"/>
                    </a:lnTo>
                    <a:lnTo>
                      <a:pt x="0" y="6"/>
                    </a:lnTo>
                    <a:lnTo>
                      <a:pt x="0" y="24"/>
                    </a:lnTo>
                    <a:lnTo>
                      <a:pt x="18" y="18"/>
                    </a:lnTo>
                    <a:lnTo>
                      <a:pt x="24" y="12"/>
                    </a:lnTo>
                    <a:lnTo>
                      <a:pt x="24" y="6"/>
                    </a:lnTo>
                    <a:lnTo>
                      <a:pt x="24" y="0"/>
                    </a:lnTo>
                    <a:lnTo>
                      <a:pt x="0" y="0"/>
                    </a:lnTo>
                    <a:close/>
                    <a:moveTo>
                      <a:pt x="24" y="0"/>
                    </a:moveTo>
                    <a:lnTo>
                      <a:pt x="0" y="0"/>
                    </a:lnTo>
                    <a:lnTo>
                      <a:pt x="24" y="0"/>
                    </a:lnTo>
                    <a:lnTo>
                      <a:pt x="0" y="0"/>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51255" name="Freeform 55"/>
              <p:cNvSpPr>
                <a:spLocks noEditPoints="1"/>
              </p:cNvSpPr>
              <p:nvPr/>
            </p:nvSpPr>
            <p:spPr bwMode="auto">
              <a:xfrm>
                <a:off x="4561" y="2358"/>
                <a:ext cx="18" cy="18"/>
              </a:xfrm>
              <a:custGeom>
                <a:avLst/>
                <a:gdLst>
                  <a:gd name="T0" fmla="*/ 18 w 18"/>
                  <a:gd name="T1" fmla="*/ 0 h 18"/>
                  <a:gd name="T2" fmla="*/ 18 w 18"/>
                  <a:gd name="T3" fmla="*/ 0 h 18"/>
                  <a:gd name="T4" fmla="*/ 0 w 18"/>
                  <a:gd name="T5" fmla="*/ 18 h 18"/>
                  <a:gd name="T6" fmla="*/ 0 w 18"/>
                  <a:gd name="T7" fmla="*/ 18 h 18"/>
                  <a:gd name="T8" fmla="*/ 18 w 18"/>
                  <a:gd name="T9" fmla="*/ 0 h 18"/>
                  <a:gd name="T10" fmla="*/ 18 w 18"/>
                  <a:gd name="T11" fmla="*/ 6 h 18"/>
                  <a:gd name="T12" fmla="*/ 18 w 18"/>
                  <a:gd name="T13" fmla="*/ 0 h 18"/>
                  <a:gd name="T14" fmla="*/ 18 w 18"/>
                  <a:gd name="T15" fmla="*/ 0 h 18"/>
                  <a:gd name="T16" fmla="*/ 6 w 18"/>
                  <a:gd name="T17" fmla="*/ 12 h 18"/>
                  <a:gd name="T18" fmla="*/ 18 w 18"/>
                  <a:gd name="T19" fmla="*/ 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18" y="0"/>
                    </a:moveTo>
                    <a:lnTo>
                      <a:pt x="18" y="0"/>
                    </a:lnTo>
                    <a:lnTo>
                      <a:pt x="0" y="18"/>
                    </a:lnTo>
                    <a:lnTo>
                      <a:pt x="0" y="18"/>
                    </a:lnTo>
                    <a:lnTo>
                      <a:pt x="18" y="0"/>
                    </a:lnTo>
                    <a:close/>
                    <a:moveTo>
                      <a:pt x="18" y="6"/>
                    </a:moveTo>
                    <a:lnTo>
                      <a:pt x="18" y="0"/>
                    </a:lnTo>
                    <a:lnTo>
                      <a:pt x="18" y="0"/>
                    </a:lnTo>
                    <a:lnTo>
                      <a:pt x="6"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51256" name="Freeform 56"/>
              <p:cNvSpPr>
                <a:spLocks noEditPoints="1"/>
              </p:cNvSpPr>
              <p:nvPr/>
            </p:nvSpPr>
            <p:spPr bwMode="auto">
              <a:xfrm>
                <a:off x="4555" y="2346"/>
                <a:ext cx="24" cy="36"/>
              </a:xfrm>
              <a:custGeom>
                <a:avLst/>
                <a:gdLst>
                  <a:gd name="T0" fmla="*/ 0 w 24"/>
                  <a:gd name="T1" fmla="*/ 18 h 36"/>
                  <a:gd name="T2" fmla="*/ 0 w 24"/>
                  <a:gd name="T3" fmla="*/ 24 h 36"/>
                  <a:gd name="T4" fmla="*/ 6 w 24"/>
                  <a:gd name="T5" fmla="*/ 36 h 36"/>
                  <a:gd name="T6" fmla="*/ 24 w 24"/>
                  <a:gd name="T7" fmla="*/ 24 h 36"/>
                  <a:gd name="T8" fmla="*/ 24 w 24"/>
                  <a:gd name="T9" fmla="*/ 24 h 36"/>
                  <a:gd name="T10" fmla="*/ 0 w 24"/>
                  <a:gd name="T11" fmla="*/ 18 h 36"/>
                  <a:gd name="T12" fmla="*/ 24 w 24"/>
                  <a:gd name="T13" fmla="*/ 12 h 36"/>
                  <a:gd name="T14" fmla="*/ 12 w 24"/>
                  <a:gd name="T15" fmla="*/ 0 h 36"/>
                  <a:gd name="T16" fmla="*/ 0 w 24"/>
                  <a:gd name="T17" fmla="*/ 18 h 36"/>
                  <a:gd name="T18" fmla="*/ 12 w 24"/>
                  <a:gd name="T19" fmla="*/ 18 h 36"/>
                  <a:gd name="T20" fmla="*/ 24 w 24"/>
                  <a:gd name="T21"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36">
                    <a:moveTo>
                      <a:pt x="0" y="18"/>
                    </a:moveTo>
                    <a:lnTo>
                      <a:pt x="0" y="24"/>
                    </a:lnTo>
                    <a:lnTo>
                      <a:pt x="6" y="36"/>
                    </a:lnTo>
                    <a:lnTo>
                      <a:pt x="24" y="24"/>
                    </a:lnTo>
                    <a:lnTo>
                      <a:pt x="24" y="24"/>
                    </a:lnTo>
                    <a:lnTo>
                      <a:pt x="0" y="18"/>
                    </a:lnTo>
                    <a:close/>
                    <a:moveTo>
                      <a:pt x="24" y="12"/>
                    </a:moveTo>
                    <a:lnTo>
                      <a:pt x="12" y="0"/>
                    </a:lnTo>
                    <a:lnTo>
                      <a:pt x="0" y="18"/>
                    </a:lnTo>
                    <a:lnTo>
                      <a:pt x="12" y="18"/>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51257" name="Freeform 57"/>
              <p:cNvSpPr>
                <a:spLocks noEditPoints="1"/>
              </p:cNvSpPr>
              <p:nvPr/>
            </p:nvSpPr>
            <p:spPr bwMode="auto">
              <a:xfrm>
                <a:off x="4555" y="2370"/>
                <a:ext cx="36" cy="30"/>
              </a:xfrm>
              <a:custGeom>
                <a:avLst/>
                <a:gdLst>
                  <a:gd name="T0" fmla="*/ 0 w 36"/>
                  <a:gd name="T1" fmla="*/ 6 h 30"/>
                  <a:gd name="T2" fmla="*/ 6 w 36"/>
                  <a:gd name="T3" fmla="*/ 18 h 30"/>
                  <a:gd name="T4" fmla="*/ 24 w 36"/>
                  <a:gd name="T5" fmla="*/ 30 h 30"/>
                  <a:gd name="T6" fmla="*/ 36 w 36"/>
                  <a:gd name="T7" fmla="*/ 12 h 30"/>
                  <a:gd name="T8" fmla="*/ 24 w 36"/>
                  <a:gd name="T9" fmla="*/ 6 h 30"/>
                  <a:gd name="T10" fmla="*/ 24 w 36"/>
                  <a:gd name="T11" fmla="*/ 6 h 30"/>
                  <a:gd name="T12" fmla="*/ 0 w 36"/>
                  <a:gd name="T13" fmla="*/ 6 h 30"/>
                  <a:gd name="T14" fmla="*/ 24 w 36"/>
                  <a:gd name="T15" fmla="*/ 6 h 30"/>
                  <a:gd name="T16" fmla="*/ 24 w 36"/>
                  <a:gd name="T17" fmla="*/ 0 h 30"/>
                  <a:gd name="T18" fmla="*/ 24 w 36"/>
                  <a:gd name="T19" fmla="*/ 0 h 30"/>
                  <a:gd name="T20" fmla="*/ 12 w 36"/>
                  <a:gd name="T21" fmla="*/ 6 h 30"/>
                  <a:gd name="T22" fmla="*/ 24 w 36"/>
                  <a:gd name="T23"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30">
                    <a:moveTo>
                      <a:pt x="0" y="6"/>
                    </a:moveTo>
                    <a:lnTo>
                      <a:pt x="6" y="18"/>
                    </a:lnTo>
                    <a:lnTo>
                      <a:pt x="24" y="30"/>
                    </a:lnTo>
                    <a:lnTo>
                      <a:pt x="36" y="12"/>
                    </a:lnTo>
                    <a:lnTo>
                      <a:pt x="24" y="6"/>
                    </a:lnTo>
                    <a:lnTo>
                      <a:pt x="24" y="6"/>
                    </a:lnTo>
                    <a:lnTo>
                      <a:pt x="0" y="6"/>
                    </a:lnTo>
                    <a:close/>
                    <a:moveTo>
                      <a:pt x="24" y="6"/>
                    </a:moveTo>
                    <a:lnTo>
                      <a:pt x="24" y="0"/>
                    </a:lnTo>
                    <a:lnTo>
                      <a:pt x="24" y="0"/>
                    </a:lnTo>
                    <a:lnTo>
                      <a:pt x="12" y="6"/>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51258" name="Freeform 58"/>
              <p:cNvSpPr>
                <a:spLocks noEditPoints="1"/>
              </p:cNvSpPr>
              <p:nvPr/>
            </p:nvSpPr>
            <p:spPr bwMode="auto">
              <a:xfrm>
                <a:off x="4573" y="2382"/>
                <a:ext cx="36" cy="18"/>
              </a:xfrm>
              <a:custGeom>
                <a:avLst/>
                <a:gdLst>
                  <a:gd name="T0" fmla="*/ 6 w 36"/>
                  <a:gd name="T1" fmla="*/ 0 h 18"/>
                  <a:gd name="T2" fmla="*/ 6 w 36"/>
                  <a:gd name="T3" fmla="*/ 0 h 18"/>
                  <a:gd name="T4" fmla="*/ 0 w 36"/>
                  <a:gd name="T5" fmla="*/ 6 h 18"/>
                  <a:gd name="T6" fmla="*/ 18 w 36"/>
                  <a:gd name="T7" fmla="*/ 18 h 18"/>
                  <a:gd name="T8" fmla="*/ 18 w 36"/>
                  <a:gd name="T9" fmla="*/ 18 h 18"/>
                  <a:gd name="T10" fmla="*/ 6 w 36"/>
                  <a:gd name="T11" fmla="*/ 0 h 18"/>
                  <a:gd name="T12" fmla="*/ 18 w 36"/>
                  <a:gd name="T13" fmla="*/ 18 h 18"/>
                  <a:gd name="T14" fmla="*/ 36 w 36"/>
                  <a:gd name="T15" fmla="*/ 6 h 18"/>
                  <a:gd name="T16" fmla="*/ 18 w 36"/>
                  <a:gd name="T17" fmla="*/ 0 h 18"/>
                  <a:gd name="T18" fmla="*/ 12 w 36"/>
                  <a:gd name="T19" fmla="*/ 12 h 18"/>
                  <a:gd name="T20" fmla="*/ 18 w 36"/>
                  <a:gd name="T21"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8">
                    <a:moveTo>
                      <a:pt x="6" y="0"/>
                    </a:moveTo>
                    <a:lnTo>
                      <a:pt x="6" y="0"/>
                    </a:lnTo>
                    <a:lnTo>
                      <a:pt x="0" y="6"/>
                    </a:lnTo>
                    <a:lnTo>
                      <a:pt x="18" y="18"/>
                    </a:lnTo>
                    <a:lnTo>
                      <a:pt x="18" y="18"/>
                    </a:lnTo>
                    <a:lnTo>
                      <a:pt x="6" y="0"/>
                    </a:lnTo>
                    <a:close/>
                    <a:moveTo>
                      <a:pt x="18" y="18"/>
                    </a:moveTo>
                    <a:lnTo>
                      <a:pt x="36" y="6"/>
                    </a:lnTo>
                    <a:lnTo>
                      <a:pt x="18" y="0"/>
                    </a:lnTo>
                    <a:lnTo>
                      <a:pt x="12" y="12"/>
                    </a:lnTo>
                    <a:lnTo>
                      <a:pt x="18" y="18"/>
                    </a:lnTo>
                    <a:close/>
                  </a:path>
                </a:pathLst>
              </a:custGeom>
              <a:solidFill>
                <a:srgbClr val="00FF00"/>
              </a:solidFill>
              <a:ln w="9525">
                <a:solidFill>
                  <a:srgbClr val="00FF00"/>
                </a:solidFill>
                <a:round/>
                <a:headEnd/>
                <a:tailEnd/>
              </a:ln>
            </p:spPr>
            <p:txBody>
              <a:bodyPr/>
              <a:lstStyle/>
              <a:p>
                <a:endParaRPr lang="zh-CN" altLang="en-US"/>
              </a:p>
            </p:txBody>
          </p:sp>
          <p:sp>
            <p:nvSpPr>
              <p:cNvPr id="51259" name="Freeform 59"/>
              <p:cNvSpPr>
                <a:spLocks noEditPoints="1"/>
              </p:cNvSpPr>
              <p:nvPr/>
            </p:nvSpPr>
            <p:spPr bwMode="auto">
              <a:xfrm>
                <a:off x="4543" y="2382"/>
                <a:ext cx="48" cy="29"/>
              </a:xfrm>
              <a:custGeom>
                <a:avLst/>
                <a:gdLst>
                  <a:gd name="T0" fmla="*/ 36 w 48"/>
                  <a:gd name="T1" fmla="*/ 0 h 29"/>
                  <a:gd name="T2" fmla="*/ 30 w 48"/>
                  <a:gd name="T3" fmla="*/ 0 h 29"/>
                  <a:gd name="T4" fmla="*/ 24 w 48"/>
                  <a:gd name="T5" fmla="*/ 6 h 29"/>
                  <a:gd name="T6" fmla="*/ 0 w 48"/>
                  <a:gd name="T7" fmla="*/ 12 h 29"/>
                  <a:gd name="T8" fmla="*/ 18 w 48"/>
                  <a:gd name="T9" fmla="*/ 29 h 29"/>
                  <a:gd name="T10" fmla="*/ 18 w 48"/>
                  <a:gd name="T11" fmla="*/ 29 h 29"/>
                  <a:gd name="T12" fmla="*/ 30 w 48"/>
                  <a:gd name="T13" fmla="*/ 29 h 29"/>
                  <a:gd name="T14" fmla="*/ 36 w 48"/>
                  <a:gd name="T15" fmla="*/ 23 h 29"/>
                  <a:gd name="T16" fmla="*/ 42 w 48"/>
                  <a:gd name="T17" fmla="*/ 23 h 29"/>
                  <a:gd name="T18" fmla="*/ 36 w 48"/>
                  <a:gd name="T19" fmla="*/ 0 h 29"/>
                  <a:gd name="T20" fmla="*/ 42 w 48"/>
                  <a:gd name="T21" fmla="*/ 23 h 29"/>
                  <a:gd name="T22" fmla="*/ 48 w 48"/>
                  <a:gd name="T23" fmla="*/ 23 h 29"/>
                  <a:gd name="T24" fmla="*/ 48 w 48"/>
                  <a:gd name="T25" fmla="*/ 18 h 29"/>
                  <a:gd name="T26" fmla="*/ 42 w 48"/>
                  <a:gd name="T27" fmla="*/ 12 h 29"/>
                  <a:gd name="T28" fmla="*/ 42 w 48"/>
                  <a:gd name="T29"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29">
                    <a:moveTo>
                      <a:pt x="36" y="0"/>
                    </a:moveTo>
                    <a:lnTo>
                      <a:pt x="30" y="0"/>
                    </a:lnTo>
                    <a:lnTo>
                      <a:pt x="24" y="6"/>
                    </a:lnTo>
                    <a:lnTo>
                      <a:pt x="0" y="12"/>
                    </a:lnTo>
                    <a:lnTo>
                      <a:pt x="18" y="29"/>
                    </a:lnTo>
                    <a:lnTo>
                      <a:pt x="18" y="29"/>
                    </a:lnTo>
                    <a:lnTo>
                      <a:pt x="30" y="29"/>
                    </a:lnTo>
                    <a:lnTo>
                      <a:pt x="36" y="23"/>
                    </a:lnTo>
                    <a:lnTo>
                      <a:pt x="42" y="23"/>
                    </a:lnTo>
                    <a:lnTo>
                      <a:pt x="36" y="0"/>
                    </a:lnTo>
                    <a:close/>
                    <a:moveTo>
                      <a:pt x="42" y="23"/>
                    </a:moveTo>
                    <a:lnTo>
                      <a:pt x="48" y="23"/>
                    </a:lnTo>
                    <a:lnTo>
                      <a:pt x="48" y="18"/>
                    </a:lnTo>
                    <a:lnTo>
                      <a:pt x="42" y="12"/>
                    </a:lnTo>
                    <a:lnTo>
                      <a:pt x="42" y="23"/>
                    </a:lnTo>
                    <a:close/>
                  </a:path>
                </a:pathLst>
              </a:custGeom>
              <a:solidFill>
                <a:srgbClr val="00FF00"/>
              </a:solidFill>
              <a:ln w="9525">
                <a:solidFill>
                  <a:srgbClr val="00FF00"/>
                </a:solidFill>
                <a:round/>
                <a:headEnd/>
                <a:tailEnd/>
              </a:ln>
            </p:spPr>
            <p:txBody>
              <a:bodyPr/>
              <a:lstStyle/>
              <a:p>
                <a:endParaRPr lang="zh-CN" altLang="en-US"/>
              </a:p>
            </p:txBody>
          </p:sp>
          <p:sp>
            <p:nvSpPr>
              <p:cNvPr id="51260" name="Freeform 60"/>
              <p:cNvSpPr>
                <a:spLocks noEditPoints="1"/>
              </p:cNvSpPr>
              <p:nvPr/>
            </p:nvSpPr>
            <p:spPr bwMode="auto">
              <a:xfrm>
                <a:off x="4537" y="2394"/>
                <a:ext cx="30" cy="29"/>
              </a:xfrm>
              <a:custGeom>
                <a:avLst/>
                <a:gdLst>
                  <a:gd name="T0" fmla="*/ 6 w 30"/>
                  <a:gd name="T1" fmla="*/ 6 h 29"/>
                  <a:gd name="T2" fmla="*/ 0 w 30"/>
                  <a:gd name="T3" fmla="*/ 23 h 29"/>
                  <a:gd name="T4" fmla="*/ 24 w 30"/>
                  <a:gd name="T5" fmla="*/ 29 h 29"/>
                  <a:gd name="T6" fmla="*/ 30 w 30"/>
                  <a:gd name="T7" fmla="*/ 11 h 29"/>
                  <a:gd name="T8" fmla="*/ 6 w 30"/>
                  <a:gd name="T9" fmla="*/ 6 h 29"/>
                  <a:gd name="T10" fmla="*/ 6 w 30"/>
                  <a:gd name="T11" fmla="*/ 0 h 29"/>
                  <a:gd name="T12" fmla="*/ 6 w 30"/>
                  <a:gd name="T13" fmla="*/ 6 h 29"/>
                  <a:gd name="T14" fmla="*/ 6 w 30"/>
                  <a:gd name="T15" fmla="*/ 6 h 29"/>
                  <a:gd name="T16" fmla="*/ 18 w 30"/>
                  <a:gd name="T17" fmla="*/ 11 h 29"/>
                  <a:gd name="T18" fmla="*/ 6 w 30"/>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29">
                    <a:moveTo>
                      <a:pt x="6" y="6"/>
                    </a:moveTo>
                    <a:lnTo>
                      <a:pt x="0" y="23"/>
                    </a:lnTo>
                    <a:lnTo>
                      <a:pt x="24" y="29"/>
                    </a:lnTo>
                    <a:lnTo>
                      <a:pt x="30" y="11"/>
                    </a:lnTo>
                    <a:lnTo>
                      <a:pt x="6" y="6"/>
                    </a:lnTo>
                    <a:close/>
                    <a:moveTo>
                      <a:pt x="6" y="0"/>
                    </a:moveTo>
                    <a:lnTo>
                      <a:pt x="6" y="6"/>
                    </a:lnTo>
                    <a:lnTo>
                      <a:pt x="6" y="6"/>
                    </a:lnTo>
                    <a:lnTo>
                      <a:pt x="18" y="11"/>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261" name="Freeform 61"/>
              <p:cNvSpPr>
                <a:spLocks/>
              </p:cNvSpPr>
              <p:nvPr/>
            </p:nvSpPr>
            <p:spPr bwMode="auto">
              <a:xfrm>
                <a:off x="4537" y="2417"/>
                <a:ext cx="12" cy="12"/>
              </a:xfrm>
              <a:custGeom>
                <a:avLst/>
                <a:gdLst>
                  <a:gd name="T0" fmla="*/ 0 w 12"/>
                  <a:gd name="T1" fmla="*/ 0 h 12"/>
                  <a:gd name="T2" fmla="*/ 0 w 12"/>
                  <a:gd name="T3" fmla="*/ 6 h 12"/>
                  <a:gd name="T4" fmla="*/ 6 w 12"/>
                  <a:gd name="T5" fmla="*/ 12 h 12"/>
                  <a:gd name="T6" fmla="*/ 12 w 12"/>
                  <a:gd name="T7" fmla="*/ 0 h 12"/>
                  <a:gd name="T8" fmla="*/ 0 w 12"/>
                  <a:gd name="T9" fmla="*/ 0 h 12"/>
                </a:gdLst>
                <a:ahLst/>
                <a:cxnLst>
                  <a:cxn ang="0">
                    <a:pos x="T0" y="T1"/>
                  </a:cxn>
                  <a:cxn ang="0">
                    <a:pos x="T2" y="T3"/>
                  </a:cxn>
                  <a:cxn ang="0">
                    <a:pos x="T4" y="T5"/>
                  </a:cxn>
                  <a:cxn ang="0">
                    <a:pos x="T6" y="T7"/>
                  </a:cxn>
                  <a:cxn ang="0">
                    <a:pos x="T8" y="T9"/>
                  </a:cxn>
                </a:cxnLst>
                <a:rect l="0" t="0" r="r" b="b"/>
                <a:pathLst>
                  <a:path w="12" h="12">
                    <a:moveTo>
                      <a:pt x="0" y="0"/>
                    </a:moveTo>
                    <a:lnTo>
                      <a:pt x="0" y="6"/>
                    </a:lnTo>
                    <a:lnTo>
                      <a:pt x="6" y="12"/>
                    </a:lnTo>
                    <a:lnTo>
                      <a:pt x="12" y="0"/>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51262" name="Freeform 62"/>
              <p:cNvSpPr>
                <a:spLocks/>
              </p:cNvSpPr>
              <p:nvPr/>
            </p:nvSpPr>
            <p:spPr bwMode="auto">
              <a:xfrm>
                <a:off x="4495" y="2411"/>
                <a:ext cx="48" cy="18"/>
              </a:xfrm>
              <a:custGeom>
                <a:avLst/>
                <a:gdLst>
                  <a:gd name="T0" fmla="*/ 48 w 48"/>
                  <a:gd name="T1" fmla="*/ 18 h 18"/>
                  <a:gd name="T2" fmla="*/ 42 w 48"/>
                  <a:gd name="T3" fmla="*/ 18 h 18"/>
                  <a:gd name="T4" fmla="*/ 30 w 48"/>
                  <a:gd name="T5" fmla="*/ 18 h 18"/>
                  <a:gd name="T6" fmla="*/ 30 w 48"/>
                  <a:gd name="T7" fmla="*/ 18 h 18"/>
                  <a:gd name="T8" fmla="*/ 24 w 48"/>
                  <a:gd name="T9" fmla="*/ 12 h 18"/>
                  <a:gd name="T10" fmla="*/ 18 w 48"/>
                  <a:gd name="T11" fmla="*/ 6 h 18"/>
                  <a:gd name="T12" fmla="*/ 18 w 48"/>
                  <a:gd name="T13" fmla="*/ 6 h 18"/>
                  <a:gd name="T14" fmla="*/ 18 w 48"/>
                  <a:gd name="T15" fmla="*/ 6 h 18"/>
                  <a:gd name="T16" fmla="*/ 12 w 48"/>
                  <a:gd name="T17" fmla="*/ 6 h 18"/>
                  <a:gd name="T18" fmla="*/ 12 w 48"/>
                  <a:gd name="T19" fmla="*/ 6 h 18"/>
                  <a:gd name="T20" fmla="*/ 12 w 48"/>
                  <a:gd name="T21" fmla="*/ 6 h 18"/>
                  <a:gd name="T22" fmla="*/ 6 w 48"/>
                  <a:gd name="T23" fmla="*/ 0 h 18"/>
                  <a:gd name="T24" fmla="*/ 6 w 48"/>
                  <a:gd name="T25" fmla="*/ 0 h 18"/>
                  <a:gd name="T26" fmla="*/ 6 w 48"/>
                  <a:gd name="T27" fmla="*/ 0 h 18"/>
                  <a:gd name="T28" fmla="*/ 0 w 48"/>
                  <a:gd name="T29" fmla="*/ 0 h 18"/>
                  <a:gd name="T30" fmla="*/ 6 w 48"/>
                  <a:gd name="T31" fmla="*/ 0 h 18"/>
                  <a:gd name="T32" fmla="*/ 6 w 48"/>
                  <a:gd name="T33" fmla="*/ 0 h 18"/>
                  <a:gd name="T34" fmla="*/ 12 w 48"/>
                  <a:gd name="T35" fmla="*/ 0 h 18"/>
                  <a:gd name="T36" fmla="*/ 12 w 48"/>
                  <a:gd name="T37" fmla="*/ 0 h 18"/>
                  <a:gd name="T38" fmla="*/ 18 w 48"/>
                  <a:gd name="T39" fmla="*/ 6 h 18"/>
                  <a:gd name="T40" fmla="*/ 18 w 48"/>
                  <a:gd name="T41" fmla="*/ 6 h 18"/>
                  <a:gd name="T42" fmla="*/ 24 w 48"/>
                  <a:gd name="T43" fmla="*/ 12 h 18"/>
                  <a:gd name="T44" fmla="*/ 30 w 48"/>
                  <a:gd name="T45" fmla="*/ 12 h 18"/>
                  <a:gd name="T46" fmla="*/ 30 w 48"/>
                  <a:gd name="T47" fmla="*/ 12 h 18"/>
                  <a:gd name="T48" fmla="*/ 36 w 48"/>
                  <a:gd name="T49" fmla="*/ 12 h 18"/>
                  <a:gd name="T50" fmla="*/ 42 w 48"/>
                  <a:gd name="T51" fmla="*/ 12 h 18"/>
                  <a:gd name="T52" fmla="*/ 42 w 48"/>
                  <a:gd name="T53" fmla="*/ 12 h 18"/>
                  <a:gd name="T54" fmla="*/ 48 w 48"/>
                  <a:gd name="T55" fmla="*/ 18 h 18"/>
                  <a:gd name="T56" fmla="*/ 48 w 48"/>
                  <a:gd name="T5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 h="18">
                    <a:moveTo>
                      <a:pt x="48" y="18"/>
                    </a:moveTo>
                    <a:lnTo>
                      <a:pt x="42" y="18"/>
                    </a:lnTo>
                    <a:lnTo>
                      <a:pt x="30" y="18"/>
                    </a:lnTo>
                    <a:lnTo>
                      <a:pt x="30" y="18"/>
                    </a:lnTo>
                    <a:lnTo>
                      <a:pt x="24" y="12"/>
                    </a:lnTo>
                    <a:lnTo>
                      <a:pt x="18" y="6"/>
                    </a:lnTo>
                    <a:lnTo>
                      <a:pt x="18" y="6"/>
                    </a:lnTo>
                    <a:lnTo>
                      <a:pt x="18" y="6"/>
                    </a:lnTo>
                    <a:lnTo>
                      <a:pt x="12" y="6"/>
                    </a:lnTo>
                    <a:lnTo>
                      <a:pt x="12" y="6"/>
                    </a:lnTo>
                    <a:lnTo>
                      <a:pt x="12" y="6"/>
                    </a:lnTo>
                    <a:lnTo>
                      <a:pt x="6" y="0"/>
                    </a:lnTo>
                    <a:lnTo>
                      <a:pt x="6" y="0"/>
                    </a:lnTo>
                    <a:lnTo>
                      <a:pt x="6" y="0"/>
                    </a:lnTo>
                    <a:lnTo>
                      <a:pt x="0" y="0"/>
                    </a:lnTo>
                    <a:lnTo>
                      <a:pt x="6" y="0"/>
                    </a:lnTo>
                    <a:lnTo>
                      <a:pt x="6" y="0"/>
                    </a:lnTo>
                    <a:lnTo>
                      <a:pt x="12" y="0"/>
                    </a:lnTo>
                    <a:lnTo>
                      <a:pt x="12" y="0"/>
                    </a:lnTo>
                    <a:lnTo>
                      <a:pt x="18" y="6"/>
                    </a:lnTo>
                    <a:lnTo>
                      <a:pt x="18" y="6"/>
                    </a:lnTo>
                    <a:lnTo>
                      <a:pt x="24" y="12"/>
                    </a:lnTo>
                    <a:lnTo>
                      <a:pt x="30" y="12"/>
                    </a:lnTo>
                    <a:lnTo>
                      <a:pt x="30" y="12"/>
                    </a:lnTo>
                    <a:lnTo>
                      <a:pt x="36" y="12"/>
                    </a:lnTo>
                    <a:lnTo>
                      <a:pt x="42" y="12"/>
                    </a:lnTo>
                    <a:lnTo>
                      <a:pt x="42" y="12"/>
                    </a:lnTo>
                    <a:lnTo>
                      <a:pt x="48" y="18"/>
                    </a:lnTo>
                    <a:lnTo>
                      <a:pt x="48" y="18"/>
                    </a:lnTo>
                    <a:close/>
                  </a:path>
                </a:pathLst>
              </a:custGeom>
              <a:solidFill>
                <a:srgbClr val="00FF00"/>
              </a:solidFill>
              <a:ln w="9525">
                <a:solidFill>
                  <a:srgbClr val="00FF00"/>
                </a:solidFill>
                <a:round/>
                <a:headEnd/>
                <a:tailEnd/>
              </a:ln>
            </p:spPr>
            <p:txBody>
              <a:bodyPr/>
              <a:lstStyle/>
              <a:p>
                <a:endParaRPr lang="zh-CN" altLang="en-US"/>
              </a:p>
            </p:txBody>
          </p:sp>
          <p:sp>
            <p:nvSpPr>
              <p:cNvPr id="51263" name="Freeform 63"/>
              <p:cNvSpPr>
                <a:spLocks/>
              </p:cNvSpPr>
              <p:nvPr/>
            </p:nvSpPr>
            <p:spPr bwMode="auto">
              <a:xfrm>
                <a:off x="4519" y="2417"/>
                <a:ext cx="24" cy="24"/>
              </a:xfrm>
              <a:custGeom>
                <a:avLst/>
                <a:gdLst>
                  <a:gd name="T0" fmla="*/ 18 w 24"/>
                  <a:gd name="T1" fmla="*/ 0 h 24"/>
                  <a:gd name="T2" fmla="*/ 18 w 24"/>
                  <a:gd name="T3" fmla="*/ 0 h 24"/>
                  <a:gd name="T4" fmla="*/ 18 w 24"/>
                  <a:gd name="T5" fmla="*/ 0 h 24"/>
                  <a:gd name="T6" fmla="*/ 12 w 24"/>
                  <a:gd name="T7" fmla="*/ 0 h 24"/>
                  <a:gd name="T8" fmla="*/ 18 w 24"/>
                  <a:gd name="T9" fmla="*/ 6 h 24"/>
                  <a:gd name="T10" fmla="*/ 0 w 24"/>
                  <a:gd name="T11" fmla="*/ 18 h 24"/>
                  <a:gd name="T12" fmla="*/ 12 w 24"/>
                  <a:gd name="T13" fmla="*/ 24 h 24"/>
                  <a:gd name="T14" fmla="*/ 18 w 24"/>
                  <a:gd name="T15" fmla="*/ 24 h 24"/>
                  <a:gd name="T16" fmla="*/ 24 w 24"/>
                  <a:gd name="T17" fmla="*/ 24 h 24"/>
                  <a:gd name="T18" fmla="*/ 18 w 24"/>
                  <a:gd name="T19"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8" y="0"/>
                    </a:moveTo>
                    <a:lnTo>
                      <a:pt x="18" y="0"/>
                    </a:lnTo>
                    <a:lnTo>
                      <a:pt x="18" y="0"/>
                    </a:lnTo>
                    <a:lnTo>
                      <a:pt x="12" y="0"/>
                    </a:lnTo>
                    <a:lnTo>
                      <a:pt x="18" y="6"/>
                    </a:lnTo>
                    <a:lnTo>
                      <a:pt x="0" y="18"/>
                    </a:lnTo>
                    <a:lnTo>
                      <a:pt x="12" y="24"/>
                    </a:lnTo>
                    <a:lnTo>
                      <a:pt x="18" y="24"/>
                    </a:lnTo>
                    <a:lnTo>
                      <a:pt x="24" y="24"/>
                    </a:lnTo>
                    <a:lnTo>
                      <a:pt x="18" y="0"/>
                    </a:lnTo>
                    <a:close/>
                  </a:path>
                </a:pathLst>
              </a:custGeom>
              <a:solidFill>
                <a:srgbClr val="00FF00"/>
              </a:solidFill>
              <a:ln w="9525">
                <a:solidFill>
                  <a:srgbClr val="00FF00"/>
                </a:solidFill>
                <a:round/>
                <a:headEnd/>
                <a:tailEnd/>
              </a:ln>
            </p:spPr>
            <p:txBody>
              <a:bodyPr/>
              <a:lstStyle/>
              <a:p>
                <a:endParaRPr lang="zh-CN" altLang="en-US"/>
              </a:p>
            </p:txBody>
          </p:sp>
          <p:sp>
            <p:nvSpPr>
              <p:cNvPr id="51264" name="Freeform 64"/>
              <p:cNvSpPr>
                <a:spLocks noEditPoints="1"/>
              </p:cNvSpPr>
              <p:nvPr/>
            </p:nvSpPr>
            <p:spPr bwMode="auto">
              <a:xfrm>
                <a:off x="4513" y="2417"/>
                <a:ext cx="24" cy="24"/>
              </a:xfrm>
              <a:custGeom>
                <a:avLst/>
                <a:gdLst>
                  <a:gd name="T0" fmla="*/ 12 w 24"/>
                  <a:gd name="T1" fmla="*/ 0 h 24"/>
                  <a:gd name="T2" fmla="*/ 12 w 24"/>
                  <a:gd name="T3" fmla="*/ 0 h 24"/>
                  <a:gd name="T4" fmla="*/ 18 w 24"/>
                  <a:gd name="T5" fmla="*/ 6 h 24"/>
                  <a:gd name="T6" fmla="*/ 0 w 24"/>
                  <a:gd name="T7" fmla="*/ 18 h 24"/>
                  <a:gd name="T8" fmla="*/ 6 w 24"/>
                  <a:gd name="T9" fmla="*/ 24 h 24"/>
                  <a:gd name="T10" fmla="*/ 12 w 24"/>
                  <a:gd name="T11" fmla="*/ 24 h 24"/>
                  <a:gd name="T12" fmla="*/ 18 w 24"/>
                  <a:gd name="T13" fmla="*/ 24 h 24"/>
                  <a:gd name="T14" fmla="*/ 12 w 24"/>
                  <a:gd name="T15" fmla="*/ 0 h 24"/>
                  <a:gd name="T16" fmla="*/ 24 w 24"/>
                  <a:gd name="T17" fmla="*/ 6 h 24"/>
                  <a:gd name="T18" fmla="*/ 18 w 24"/>
                  <a:gd name="T19" fmla="*/ 0 h 24"/>
                  <a:gd name="T20" fmla="*/ 12 w 24"/>
                  <a:gd name="T21" fmla="*/ 0 h 24"/>
                  <a:gd name="T22" fmla="*/ 12 w 24"/>
                  <a:gd name="T23" fmla="*/ 12 h 24"/>
                  <a:gd name="T24" fmla="*/ 24 w 24"/>
                  <a:gd name="T25"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12" y="0"/>
                    </a:moveTo>
                    <a:lnTo>
                      <a:pt x="12" y="0"/>
                    </a:lnTo>
                    <a:lnTo>
                      <a:pt x="18" y="6"/>
                    </a:lnTo>
                    <a:lnTo>
                      <a:pt x="0" y="18"/>
                    </a:lnTo>
                    <a:lnTo>
                      <a:pt x="6" y="24"/>
                    </a:lnTo>
                    <a:lnTo>
                      <a:pt x="12" y="24"/>
                    </a:lnTo>
                    <a:lnTo>
                      <a:pt x="18" y="24"/>
                    </a:lnTo>
                    <a:lnTo>
                      <a:pt x="12" y="0"/>
                    </a:lnTo>
                    <a:close/>
                    <a:moveTo>
                      <a:pt x="24" y="6"/>
                    </a:moveTo>
                    <a:lnTo>
                      <a:pt x="18" y="0"/>
                    </a:lnTo>
                    <a:lnTo>
                      <a:pt x="12" y="0"/>
                    </a:lnTo>
                    <a:lnTo>
                      <a:pt x="12" y="12"/>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51265" name="Freeform 65"/>
              <p:cNvSpPr>
                <a:spLocks noEditPoints="1"/>
              </p:cNvSpPr>
              <p:nvPr/>
            </p:nvSpPr>
            <p:spPr bwMode="auto">
              <a:xfrm>
                <a:off x="4501" y="2411"/>
                <a:ext cx="30" cy="24"/>
              </a:xfrm>
              <a:custGeom>
                <a:avLst/>
                <a:gdLst>
                  <a:gd name="T0" fmla="*/ 30 w 30"/>
                  <a:gd name="T1" fmla="*/ 6 h 24"/>
                  <a:gd name="T2" fmla="*/ 24 w 30"/>
                  <a:gd name="T3" fmla="*/ 0 h 24"/>
                  <a:gd name="T4" fmla="*/ 24 w 30"/>
                  <a:gd name="T5" fmla="*/ 6 h 24"/>
                  <a:gd name="T6" fmla="*/ 24 w 30"/>
                  <a:gd name="T7" fmla="*/ 12 h 24"/>
                  <a:gd name="T8" fmla="*/ 0 w 30"/>
                  <a:gd name="T9" fmla="*/ 6 h 24"/>
                  <a:gd name="T10" fmla="*/ 6 w 30"/>
                  <a:gd name="T11" fmla="*/ 18 h 24"/>
                  <a:gd name="T12" fmla="*/ 12 w 30"/>
                  <a:gd name="T13" fmla="*/ 24 h 24"/>
                  <a:gd name="T14" fmla="*/ 18 w 30"/>
                  <a:gd name="T15" fmla="*/ 24 h 24"/>
                  <a:gd name="T16" fmla="*/ 30 w 30"/>
                  <a:gd name="T17" fmla="*/ 6 h 24"/>
                  <a:gd name="T18" fmla="*/ 30 w 30"/>
                  <a:gd name="T19" fmla="*/ 12 h 24"/>
                  <a:gd name="T20" fmla="*/ 30 w 30"/>
                  <a:gd name="T21" fmla="*/ 6 h 24"/>
                  <a:gd name="T22" fmla="*/ 30 w 30"/>
                  <a:gd name="T23" fmla="*/ 6 h 24"/>
                  <a:gd name="T24" fmla="*/ 24 w 30"/>
                  <a:gd name="T25" fmla="*/ 18 h 24"/>
                  <a:gd name="T26" fmla="*/ 30 w 30"/>
                  <a:gd name="T27"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24">
                    <a:moveTo>
                      <a:pt x="30" y="6"/>
                    </a:moveTo>
                    <a:lnTo>
                      <a:pt x="24" y="0"/>
                    </a:lnTo>
                    <a:lnTo>
                      <a:pt x="24" y="6"/>
                    </a:lnTo>
                    <a:lnTo>
                      <a:pt x="24" y="12"/>
                    </a:lnTo>
                    <a:lnTo>
                      <a:pt x="0" y="6"/>
                    </a:lnTo>
                    <a:lnTo>
                      <a:pt x="6" y="18"/>
                    </a:lnTo>
                    <a:lnTo>
                      <a:pt x="12" y="24"/>
                    </a:lnTo>
                    <a:lnTo>
                      <a:pt x="18" y="24"/>
                    </a:lnTo>
                    <a:lnTo>
                      <a:pt x="30" y="6"/>
                    </a:lnTo>
                    <a:close/>
                    <a:moveTo>
                      <a:pt x="30" y="12"/>
                    </a:moveTo>
                    <a:lnTo>
                      <a:pt x="30" y="6"/>
                    </a:lnTo>
                    <a:lnTo>
                      <a:pt x="30" y="6"/>
                    </a:lnTo>
                    <a:lnTo>
                      <a:pt x="24" y="18"/>
                    </a:lnTo>
                    <a:lnTo>
                      <a:pt x="30" y="12"/>
                    </a:lnTo>
                    <a:close/>
                  </a:path>
                </a:pathLst>
              </a:custGeom>
              <a:solidFill>
                <a:srgbClr val="00FF00"/>
              </a:solidFill>
              <a:ln w="9525">
                <a:solidFill>
                  <a:srgbClr val="00FF00"/>
                </a:solidFill>
                <a:round/>
                <a:headEnd/>
                <a:tailEnd/>
              </a:ln>
            </p:spPr>
            <p:txBody>
              <a:bodyPr/>
              <a:lstStyle/>
              <a:p>
                <a:endParaRPr lang="zh-CN" altLang="en-US"/>
              </a:p>
            </p:txBody>
          </p:sp>
          <p:sp>
            <p:nvSpPr>
              <p:cNvPr id="51266" name="Freeform 66"/>
              <p:cNvSpPr>
                <a:spLocks noEditPoints="1"/>
              </p:cNvSpPr>
              <p:nvPr/>
            </p:nvSpPr>
            <p:spPr bwMode="auto">
              <a:xfrm>
                <a:off x="4507" y="2405"/>
                <a:ext cx="18" cy="24"/>
              </a:xfrm>
              <a:custGeom>
                <a:avLst/>
                <a:gdLst>
                  <a:gd name="T0" fmla="*/ 6 w 18"/>
                  <a:gd name="T1" fmla="*/ 0 h 24"/>
                  <a:gd name="T2" fmla="*/ 6 w 18"/>
                  <a:gd name="T3" fmla="*/ 0 h 24"/>
                  <a:gd name="T4" fmla="*/ 6 w 18"/>
                  <a:gd name="T5" fmla="*/ 0 h 24"/>
                  <a:gd name="T6" fmla="*/ 0 w 18"/>
                  <a:gd name="T7" fmla="*/ 24 h 24"/>
                  <a:gd name="T8" fmla="*/ 6 w 18"/>
                  <a:gd name="T9" fmla="*/ 24 h 24"/>
                  <a:gd name="T10" fmla="*/ 6 w 18"/>
                  <a:gd name="T11" fmla="*/ 24 h 24"/>
                  <a:gd name="T12" fmla="*/ 6 w 18"/>
                  <a:gd name="T13" fmla="*/ 0 h 24"/>
                  <a:gd name="T14" fmla="*/ 18 w 18"/>
                  <a:gd name="T15" fmla="*/ 18 h 24"/>
                  <a:gd name="T16" fmla="*/ 18 w 18"/>
                  <a:gd name="T17" fmla="*/ 6 h 24"/>
                  <a:gd name="T18" fmla="*/ 6 w 18"/>
                  <a:gd name="T19" fmla="*/ 0 h 24"/>
                  <a:gd name="T20" fmla="*/ 6 w 18"/>
                  <a:gd name="T21" fmla="*/ 12 h 24"/>
                  <a:gd name="T22" fmla="*/ 18 w 18"/>
                  <a:gd name="T23" fmla="*/ 1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6" y="0"/>
                    </a:moveTo>
                    <a:lnTo>
                      <a:pt x="6" y="0"/>
                    </a:lnTo>
                    <a:lnTo>
                      <a:pt x="6" y="0"/>
                    </a:lnTo>
                    <a:lnTo>
                      <a:pt x="0" y="24"/>
                    </a:lnTo>
                    <a:lnTo>
                      <a:pt x="6" y="24"/>
                    </a:lnTo>
                    <a:lnTo>
                      <a:pt x="6" y="24"/>
                    </a:lnTo>
                    <a:lnTo>
                      <a:pt x="6" y="0"/>
                    </a:lnTo>
                    <a:close/>
                    <a:moveTo>
                      <a:pt x="18" y="18"/>
                    </a:moveTo>
                    <a:lnTo>
                      <a:pt x="18" y="6"/>
                    </a:lnTo>
                    <a:lnTo>
                      <a:pt x="6" y="0"/>
                    </a:lnTo>
                    <a:lnTo>
                      <a:pt x="6" y="12"/>
                    </a:lnTo>
                    <a:lnTo>
                      <a:pt x="18" y="18"/>
                    </a:lnTo>
                    <a:close/>
                  </a:path>
                </a:pathLst>
              </a:custGeom>
              <a:solidFill>
                <a:srgbClr val="00FF00"/>
              </a:solidFill>
              <a:ln w="9525">
                <a:solidFill>
                  <a:srgbClr val="00FF00"/>
                </a:solidFill>
                <a:round/>
                <a:headEnd/>
                <a:tailEnd/>
              </a:ln>
            </p:spPr>
            <p:txBody>
              <a:bodyPr/>
              <a:lstStyle/>
              <a:p>
                <a:endParaRPr lang="zh-CN" altLang="en-US"/>
              </a:p>
            </p:txBody>
          </p:sp>
          <p:sp>
            <p:nvSpPr>
              <p:cNvPr id="51267" name="Freeform 67"/>
              <p:cNvSpPr>
                <a:spLocks noEditPoints="1"/>
              </p:cNvSpPr>
              <p:nvPr/>
            </p:nvSpPr>
            <p:spPr bwMode="auto">
              <a:xfrm>
                <a:off x="4501" y="2405"/>
                <a:ext cx="18" cy="24"/>
              </a:xfrm>
              <a:custGeom>
                <a:avLst/>
                <a:gdLst>
                  <a:gd name="T0" fmla="*/ 18 w 18"/>
                  <a:gd name="T1" fmla="*/ 6 h 24"/>
                  <a:gd name="T2" fmla="*/ 18 w 18"/>
                  <a:gd name="T3" fmla="*/ 6 h 24"/>
                  <a:gd name="T4" fmla="*/ 12 w 18"/>
                  <a:gd name="T5" fmla="*/ 0 h 24"/>
                  <a:gd name="T6" fmla="*/ 6 w 18"/>
                  <a:gd name="T7" fmla="*/ 24 h 24"/>
                  <a:gd name="T8" fmla="*/ 6 w 18"/>
                  <a:gd name="T9" fmla="*/ 24 h 24"/>
                  <a:gd name="T10" fmla="*/ 0 w 18"/>
                  <a:gd name="T11" fmla="*/ 24 h 24"/>
                  <a:gd name="T12" fmla="*/ 18 w 18"/>
                  <a:gd name="T13" fmla="*/ 6 h 24"/>
                  <a:gd name="T14" fmla="*/ 0 w 18"/>
                  <a:gd name="T15" fmla="*/ 24 h 24"/>
                  <a:gd name="T16" fmla="*/ 6 w 18"/>
                  <a:gd name="T17" fmla="*/ 24 h 24"/>
                  <a:gd name="T18" fmla="*/ 6 w 18"/>
                  <a:gd name="T19" fmla="*/ 24 h 24"/>
                  <a:gd name="T20" fmla="*/ 12 w 18"/>
                  <a:gd name="T21" fmla="*/ 12 h 24"/>
                  <a:gd name="T22" fmla="*/ 0 w 18"/>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18" y="6"/>
                    </a:moveTo>
                    <a:lnTo>
                      <a:pt x="18" y="6"/>
                    </a:lnTo>
                    <a:lnTo>
                      <a:pt x="12" y="0"/>
                    </a:lnTo>
                    <a:lnTo>
                      <a:pt x="6" y="24"/>
                    </a:lnTo>
                    <a:lnTo>
                      <a:pt x="6" y="24"/>
                    </a:lnTo>
                    <a:lnTo>
                      <a:pt x="0" y="24"/>
                    </a:lnTo>
                    <a:lnTo>
                      <a:pt x="18" y="6"/>
                    </a:lnTo>
                    <a:close/>
                    <a:moveTo>
                      <a:pt x="0" y="24"/>
                    </a:moveTo>
                    <a:lnTo>
                      <a:pt x="6" y="24"/>
                    </a:lnTo>
                    <a:lnTo>
                      <a:pt x="6" y="24"/>
                    </a:lnTo>
                    <a:lnTo>
                      <a:pt x="12" y="12"/>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51268" name="Freeform 68"/>
              <p:cNvSpPr>
                <a:spLocks noEditPoints="1"/>
              </p:cNvSpPr>
              <p:nvPr/>
            </p:nvSpPr>
            <p:spPr bwMode="auto">
              <a:xfrm>
                <a:off x="4501" y="2405"/>
                <a:ext cx="12" cy="24"/>
              </a:xfrm>
              <a:custGeom>
                <a:avLst/>
                <a:gdLst>
                  <a:gd name="T0" fmla="*/ 6 w 12"/>
                  <a:gd name="T1" fmla="*/ 0 h 24"/>
                  <a:gd name="T2" fmla="*/ 6 w 12"/>
                  <a:gd name="T3" fmla="*/ 0 h 24"/>
                  <a:gd name="T4" fmla="*/ 6 w 12"/>
                  <a:gd name="T5" fmla="*/ 0 h 24"/>
                  <a:gd name="T6" fmla="*/ 0 w 12"/>
                  <a:gd name="T7" fmla="*/ 24 h 24"/>
                  <a:gd name="T8" fmla="*/ 6 w 12"/>
                  <a:gd name="T9" fmla="*/ 24 h 24"/>
                  <a:gd name="T10" fmla="*/ 6 w 12"/>
                  <a:gd name="T11" fmla="*/ 24 h 24"/>
                  <a:gd name="T12" fmla="*/ 6 w 12"/>
                  <a:gd name="T13" fmla="*/ 0 h 24"/>
                  <a:gd name="T14" fmla="*/ 12 w 12"/>
                  <a:gd name="T15" fmla="*/ 0 h 24"/>
                  <a:gd name="T16" fmla="*/ 12 w 12"/>
                  <a:gd name="T17" fmla="*/ 0 h 24"/>
                  <a:gd name="T18" fmla="*/ 6 w 12"/>
                  <a:gd name="T19" fmla="*/ 0 h 24"/>
                  <a:gd name="T20" fmla="*/ 6 w 12"/>
                  <a:gd name="T21" fmla="*/ 12 h 24"/>
                  <a:gd name="T22" fmla="*/ 12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6" y="0"/>
                    </a:moveTo>
                    <a:lnTo>
                      <a:pt x="6" y="0"/>
                    </a:lnTo>
                    <a:lnTo>
                      <a:pt x="6" y="0"/>
                    </a:lnTo>
                    <a:lnTo>
                      <a:pt x="0" y="24"/>
                    </a:lnTo>
                    <a:lnTo>
                      <a:pt x="6" y="24"/>
                    </a:lnTo>
                    <a:lnTo>
                      <a:pt x="6" y="24"/>
                    </a:lnTo>
                    <a:lnTo>
                      <a:pt x="6" y="0"/>
                    </a:lnTo>
                    <a:close/>
                    <a:moveTo>
                      <a:pt x="12" y="0"/>
                    </a:moveTo>
                    <a:lnTo>
                      <a:pt x="12" y="0"/>
                    </a:lnTo>
                    <a:lnTo>
                      <a:pt x="6" y="0"/>
                    </a:lnTo>
                    <a:lnTo>
                      <a:pt x="6"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269" name="Freeform 69"/>
              <p:cNvSpPr>
                <a:spLocks noEditPoints="1"/>
              </p:cNvSpPr>
              <p:nvPr/>
            </p:nvSpPr>
            <p:spPr bwMode="auto">
              <a:xfrm>
                <a:off x="4495" y="2405"/>
                <a:ext cx="12" cy="18"/>
              </a:xfrm>
              <a:custGeom>
                <a:avLst/>
                <a:gdLst>
                  <a:gd name="T0" fmla="*/ 12 w 12"/>
                  <a:gd name="T1" fmla="*/ 0 h 18"/>
                  <a:gd name="T2" fmla="*/ 12 w 12"/>
                  <a:gd name="T3" fmla="*/ 0 h 18"/>
                  <a:gd name="T4" fmla="*/ 12 w 12"/>
                  <a:gd name="T5" fmla="*/ 0 h 18"/>
                  <a:gd name="T6" fmla="*/ 12 w 12"/>
                  <a:gd name="T7" fmla="*/ 0 h 18"/>
                  <a:gd name="T8" fmla="*/ 12 w 12"/>
                  <a:gd name="T9" fmla="*/ 0 h 18"/>
                  <a:gd name="T10" fmla="*/ 12 w 12"/>
                  <a:gd name="T11" fmla="*/ 0 h 18"/>
                  <a:gd name="T12" fmla="*/ 12 w 12"/>
                  <a:gd name="T13" fmla="*/ 0 h 18"/>
                  <a:gd name="T14" fmla="*/ 12 w 12"/>
                  <a:gd name="T15" fmla="*/ 0 h 18"/>
                  <a:gd name="T16" fmla="*/ 12 w 12"/>
                  <a:gd name="T17" fmla="*/ 0 h 18"/>
                  <a:gd name="T18" fmla="*/ 6 w 12"/>
                  <a:gd name="T19" fmla="*/ 18 h 18"/>
                  <a:gd name="T20" fmla="*/ 0 w 12"/>
                  <a:gd name="T21" fmla="*/ 18 h 18"/>
                  <a:gd name="T22" fmla="*/ 0 w 12"/>
                  <a:gd name="T23" fmla="*/ 18 h 18"/>
                  <a:gd name="T24" fmla="*/ 0 w 12"/>
                  <a:gd name="T25" fmla="*/ 18 h 18"/>
                  <a:gd name="T26" fmla="*/ 0 w 12"/>
                  <a:gd name="T27" fmla="*/ 18 h 18"/>
                  <a:gd name="T28" fmla="*/ 6 w 12"/>
                  <a:gd name="T29" fmla="*/ 18 h 18"/>
                  <a:gd name="T30" fmla="*/ 6 w 12"/>
                  <a:gd name="T31" fmla="*/ 18 h 18"/>
                  <a:gd name="T32" fmla="*/ 6 w 12"/>
                  <a:gd name="T33" fmla="*/ 18 h 18"/>
                  <a:gd name="T34" fmla="*/ 6 w 12"/>
                  <a:gd name="T35" fmla="*/ 18 h 18"/>
                  <a:gd name="T36" fmla="*/ 12 w 12"/>
                  <a:gd name="T37" fmla="*/ 0 h 18"/>
                  <a:gd name="T38" fmla="*/ 12 w 12"/>
                  <a:gd name="T39" fmla="*/ 0 h 18"/>
                  <a:gd name="T40" fmla="*/ 12 w 12"/>
                  <a:gd name="T41" fmla="*/ 0 h 18"/>
                  <a:gd name="T42" fmla="*/ 12 w 12"/>
                  <a:gd name="T43" fmla="*/ 0 h 18"/>
                  <a:gd name="T44" fmla="*/ 12 w 12"/>
                  <a:gd name="T45" fmla="*/ 12 h 18"/>
                  <a:gd name="T46" fmla="*/ 12 w 12"/>
                  <a:gd name="T4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 h="18">
                    <a:moveTo>
                      <a:pt x="12" y="0"/>
                    </a:moveTo>
                    <a:lnTo>
                      <a:pt x="12" y="0"/>
                    </a:lnTo>
                    <a:lnTo>
                      <a:pt x="12" y="0"/>
                    </a:lnTo>
                    <a:lnTo>
                      <a:pt x="12" y="0"/>
                    </a:lnTo>
                    <a:lnTo>
                      <a:pt x="12" y="0"/>
                    </a:lnTo>
                    <a:lnTo>
                      <a:pt x="12" y="0"/>
                    </a:lnTo>
                    <a:lnTo>
                      <a:pt x="12" y="0"/>
                    </a:lnTo>
                    <a:lnTo>
                      <a:pt x="12" y="0"/>
                    </a:lnTo>
                    <a:lnTo>
                      <a:pt x="12" y="0"/>
                    </a:lnTo>
                    <a:lnTo>
                      <a:pt x="6" y="18"/>
                    </a:lnTo>
                    <a:lnTo>
                      <a:pt x="0" y="18"/>
                    </a:lnTo>
                    <a:lnTo>
                      <a:pt x="0" y="18"/>
                    </a:lnTo>
                    <a:lnTo>
                      <a:pt x="0" y="18"/>
                    </a:lnTo>
                    <a:lnTo>
                      <a:pt x="0" y="18"/>
                    </a:lnTo>
                    <a:lnTo>
                      <a:pt x="6" y="18"/>
                    </a:lnTo>
                    <a:lnTo>
                      <a:pt x="6" y="18"/>
                    </a:lnTo>
                    <a:lnTo>
                      <a:pt x="6" y="18"/>
                    </a:lnTo>
                    <a:lnTo>
                      <a:pt x="6" y="18"/>
                    </a:lnTo>
                    <a:lnTo>
                      <a:pt x="12" y="0"/>
                    </a:lnTo>
                    <a:close/>
                    <a:moveTo>
                      <a:pt x="12" y="0"/>
                    </a:moveTo>
                    <a:lnTo>
                      <a:pt x="12" y="0"/>
                    </a:lnTo>
                    <a:lnTo>
                      <a:pt x="12" y="0"/>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270" name="Freeform 70"/>
              <p:cNvSpPr>
                <a:spLocks noEditPoints="1"/>
              </p:cNvSpPr>
              <p:nvPr/>
            </p:nvSpPr>
            <p:spPr bwMode="auto">
              <a:xfrm>
                <a:off x="4495" y="2400"/>
                <a:ext cx="12" cy="23"/>
              </a:xfrm>
              <a:custGeom>
                <a:avLst/>
                <a:gdLst>
                  <a:gd name="T0" fmla="*/ 12 w 12"/>
                  <a:gd name="T1" fmla="*/ 5 h 23"/>
                  <a:gd name="T2" fmla="*/ 12 w 12"/>
                  <a:gd name="T3" fmla="*/ 5 h 23"/>
                  <a:gd name="T4" fmla="*/ 12 w 12"/>
                  <a:gd name="T5" fmla="*/ 0 h 23"/>
                  <a:gd name="T6" fmla="*/ 0 w 12"/>
                  <a:gd name="T7" fmla="*/ 23 h 23"/>
                  <a:gd name="T8" fmla="*/ 0 w 12"/>
                  <a:gd name="T9" fmla="*/ 23 h 23"/>
                  <a:gd name="T10" fmla="*/ 12 w 12"/>
                  <a:gd name="T11" fmla="*/ 5 h 23"/>
                  <a:gd name="T12" fmla="*/ 0 w 12"/>
                  <a:gd name="T13" fmla="*/ 23 h 23"/>
                  <a:gd name="T14" fmla="*/ 0 w 12"/>
                  <a:gd name="T15" fmla="*/ 23 h 23"/>
                  <a:gd name="T16" fmla="*/ 6 w 12"/>
                  <a:gd name="T17" fmla="*/ 23 h 23"/>
                  <a:gd name="T18" fmla="*/ 6 w 12"/>
                  <a:gd name="T19" fmla="*/ 11 h 23"/>
                  <a:gd name="T20" fmla="*/ 0 w 12"/>
                  <a:gd name="T21"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23">
                    <a:moveTo>
                      <a:pt x="12" y="5"/>
                    </a:moveTo>
                    <a:lnTo>
                      <a:pt x="12" y="5"/>
                    </a:lnTo>
                    <a:lnTo>
                      <a:pt x="12" y="0"/>
                    </a:lnTo>
                    <a:lnTo>
                      <a:pt x="0" y="23"/>
                    </a:lnTo>
                    <a:lnTo>
                      <a:pt x="0" y="23"/>
                    </a:lnTo>
                    <a:lnTo>
                      <a:pt x="12" y="5"/>
                    </a:lnTo>
                    <a:close/>
                    <a:moveTo>
                      <a:pt x="0" y="23"/>
                    </a:moveTo>
                    <a:lnTo>
                      <a:pt x="0" y="23"/>
                    </a:lnTo>
                    <a:lnTo>
                      <a:pt x="6" y="23"/>
                    </a:lnTo>
                    <a:lnTo>
                      <a:pt x="6" y="11"/>
                    </a:lnTo>
                    <a:lnTo>
                      <a:pt x="0" y="23"/>
                    </a:lnTo>
                    <a:close/>
                  </a:path>
                </a:pathLst>
              </a:custGeom>
              <a:solidFill>
                <a:srgbClr val="00FF00"/>
              </a:solidFill>
              <a:ln w="9525">
                <a:solidFill>
                  <a:srgbClr val="00FF00"/>
                </a:solidFill>
                <a:round/>
                <a:headEnd/>
                <a:tailEnd/>
              </a:ln>
            </p:spPr>
            <p:txBody>
              <a:bodyPr/>
              <a:lstStyle/>
              <a:p>
                <a:endParaRPr lang="zh-CN" altLang="en-US"/>
              </a:p>
            </p:txBody>
          </p:sp>
          <p:sp>
            <p:nvSpPr>
              <p:cNvPr id="51271" name="Freeform 71"/>
              <p:cNvSpPr>
                <a:spLocks noEditPoints="1"/>
              </p:cNvSpPr>
              <p:nvPr/>
            </p:nvSpPr>
            <p:spPr bwMode="auto">
              <a:xfrm>
                <a:off x="4495" y="2400"/>
                <a:ext cx="12" cy="23"/>
              </a:xfrm>
              <a:custGeom>
                <a:avLst/>
                <a:gdLst>
                  <a:gd name="T0" fmla="*/ 6 w 12"/>
                  <a:gd name="T1" fmla="*/ 0 h 23"/>
                  <a:gd name="T2" fmla="*/ 6 w 12"/>
                  <a:gd name="T3" fmla="*/ 0 h 23"/>
                  <a:gd name="T4" fmla="*/ 6 w 12"/>
                  <a:gd name="T5" fmla="*/ 0 h 23"/>
                  <a:gd name="T6" fmla="*/ 0 w 12"/>
                  <a:gd name="T7" fmla="*/ 23 h 23"/>
                  <a:gd name="T8" fmla="*/ 0 w 12"/>
                  <a:gd name="T9" fmla="*/ 23 h 23"/>
                  <a:gd name="T10" fmla="*/ 0 w 12"/>
                  <a:gd name="T11" fmla="*/ 23 h 23"/>
                  <a:gd name="T12" fmla="*/ 6 w 12"/>
                  <a:gd name="T13" fmla="*/ 0 h 23"/>
                  <a:gd name="T14" fmla="*/ 12 w 12"/>
                  <a:gd name="T15" fmla="*/ 0 h 23"/>
                  <a:gd name="T16" fmla="*/ 6 w 12"/>
                  <a:gd name="T17" fmla="*/ 0 h 23"/>
                  <a:gd name="T18" fmla="*/ 6 w 12"/>
                  <a:gd name="T19" fmla="*/ 0 h 23"/>
                  <a:gd name="T20" fmla="*/ 6 w 12"/>
                  <a:gd name="T21" fmla="*/ 11 h 23"/>
                  <a:gd name="T22" fmla="*/ 12 w 12"/>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3">
                    <a:moveTo>
                      <a:pt x="6" y="0"/>
                    </a:moveTo>
                    <a:lnTo>
                      <a:pt x="6" y="0"/>
                    </a:lnTo>
                    <a:lnTo>
                      <a:pt x="6" y="0"/>
                    </a:lnTo>
                    <a:lnTo>
                      <a:pt x="0" y="23"/>
                    </a:lnTo>
                    <a:lnTo>
                      <a:pt x="0" y="23"/>
                    </a:lnTo>
                    <a:lnTo>
                      <a:pt x="0" y="23"/>
                    </a:lnTo>
                    <a:lnTo>
                      <a:pt x="6" y="0"/>
                    </a:lnTo>
                    <a:close/>
                    <a:moveTo>
                      <a:pt x="12" y="0"/>
                    </a:moveTo>
                    <a:lnTo>
                      <a:pt x="6" y="0"/>
                    </a:lnTo>
                    <a:lnTo>
                      <a:pt x="6" y="0"/>
                    </a:lnTo>
                    <a:lnTo>
                      <a:pt x="6" y="11"/>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272" name="Freeform 72"/>
              <p:cNvSpPr>
                <a:spLocks noEditPoints="1"/>
              </p:cNvSpPr>
              <p:nvPr/>
            </p:nvSpPr>
            <p:spPr bwMode="auto">
              <a:xfrm>
                <a:off x="4495" y="2400"/>
                <a:ext cx="6" cy="23"/>
              </a:xfrm>
              <a:custGeom>
                <a:avLst/>
                <a:gdLst>
                  <a:gd name="T0" fmla="*/ 6 w 6"/>
                  <a:gd name="T1" fmla="*/ 23 h 23"/>
                  <a:gd name="T2" fmla="*/ 6 w 6"/>
                  <a:gd name="T3" fmla="*/ 23 h 23"/>
                  <a:gd name="T4" fmla="*/ 6 w 6"/>
                  <a:gd name="T5" fmla="*/ 0 h 23"/>
                  <a:gd name="T6" fmla="*/ 6 w 6"/>
                  <a:gd name="T7" fmla="*/ 0 h 23"/>
                  <a:gd name="T8" fmla="*/ 0 w 6"/>
                  <a:gd name="T9" fmla="*/ 0 h 23"/>
                  <a:gd name="T10" fmla="*/ 6 w 6"/>
                  <a:gd name="T11" fmla="*/ 23 h 23"/>
                  <a:gd name="T12" fmla="*/ 6 w 6"/>
                  <a:gd name="T13" fmla="*/ 0 h 23"/>
                  <a:gd name="T14" fmla="*/ 6 w 6"/>
                  <a:gd name="T15" fmla="*/ 23 h 23"/>
                  <a:gd name="T16" fmla="*/ 0 w 6"/>
                  <a:gd name="T17" fmla="*/ 0 h 23"/>
                  <a:gd name="T18" fmla="*/ 0 w 6"/>
                  <a:gd name="T19" fmla="*/ 23 h 23"/>
                  <a:gd name="T20" fmla="*/ 6 w 6"/>
                  <a:gd name="T2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 h="23">
                    <a:moveTo>
                      <a:pt x="6" y="23"/>
                    </a:moveTo>
                    <a:lnTo>
                      <a:pt x="6" y="23"/>
                    </a:lnTo>
                    <a:lnTo>
                      <a:pt x="6" y="0"/>
                    </a:lnTo>
                    <a:lnTo>
                      <a:pt x="6" y="0"/>
                    </a:lnTo>
                    <a:lnTo>
                      <a:pt x="0" y="0"/>
                    </a:lnTo>
                    <a:lnTo>
                      <a:pt x="6" y="23"/>
                    </a:lnTo>
                    <a:close/>
                    <a:moveTo>
                      <a:pt x="6" y="0"/>
                    </a:moveTo>
                    <a:lnTo>
                      <a:pt x="6" y="23"/>
                    </a:lnTo>
                    <a:lnTo>
                      <a:pt x="0" y="0"/>
                    </a:lnTo>
                    <a:lnTo>
                      <a:pt x="0" y="23"/>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273" name="Freeform 73"/>
              <p:cNvSpPr>
                <a:spLocks noEditPoints="1"/>
              </p:cNvSpPr>
              <p:nvPr/>
            </p:nvSpPr>
            <p:spPr bwMode="auto">
              <a:xfrm>
                <a:off x="4495" y="2400"/>
                <a:ext cx="18" cy="23"/>
              </a:xfrm>
              <a:custGeom>
                <a:avLst/>
                <a:gdLst>
                  <a:gd name="T0" fmla="*/ 0 w 18"/>
                  <a:gd name="T1" fmla="*/ 23 h 23"/>
                  <a:gd name="T2" fmla="*/ 6 w 18"/>
                  <a:gd name="T3" fmla="*/ 23 h 23"/>
                  <a:gd name="T4" fmla="*/ 6 w 18"/>
                  <a:gd name="T5" fmla="*/ 23 h 23"/>
                  <a:gd name="T6" fmla="*/ 18 w 18"/>
                  <a:gd name="T7" fmla="*/ 5 h 23"/>
                  <a:gd name="T8" fmla="*/ 18 w 18"/>
                  <a:gd name="T9" fmla="*/ 5 h 23"/>
                  <a:gd name="T10" fmla="*/ 12 w 18"/>
                  <a:gd name="T11" fmla="*/ 0 h 23"/>
                  <a:gd name="T12" fmla="*/ 0 w 18"/>
                  <a:gd name="T13" fmla="*/ 23 h 23"/>
                  <a:gd name="T14" fmla="*/ 12 w 18"/>
                  <a:gd name="T15" fmla="*/ 0 h 23"/>
                  <a:gd name="T16" fmla="*/ 12 w 18"/>
                  <a:gd name="T17" fmla="*/ 0 h 23"/>
                  <a:gd name="T18" fmla="*/ 6 w 18"/>
                  <a:gd name="T19" fmla="*/ 0 h 23"/>
                  <a:gd name="T20" fmla="*/ 6 w 18"/>
                  <a:gd name="T21" fmla="*/ 11 h 23"/>
                  <a:gd name="T22" fmla="*/ 12 w 18"/>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3">
                    <a:moveTo>
                      <a:pt x="0" y="23"/>
                    </a:moveTo>
                    <a:lnTo>
                      <a:pt x="6" y="23"/>
                    </a:lnTo>
                    <a:lnTo>
                      <a:pt x="6" y="23"/>
                    </a:lnTo>
                    <a:lnTo>
                      <a:pt x="18" y="5"/>
                    </a:lnTo>
                    <a:lnTo>
                      <a:pt x="18" y="5"/>
                    </a:lnTo>
                    <a:lnTo>
                      <a:pt x="12" y="0"/>
                    </a:lnTo>
                    <a:lnTo>
                      <a:pt x="0" y="23"/>
                    </a:lnTo>
                    <a:close/>
                    <a:moveTo>
                      <a:pt x="12" y="0"/>
                    </a:moveTo>
                    <a:lnTo>
                      <a:pt x="12" y="0"/>
                    </a:lnTo>
                    <a:lnTo>
                      <a:pt x="6" y="0"/>
                    </a:lnTo>
                    <a:lnTo>
                      <a:pt x="6" y="11"/>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274" name="Freeform 74"/>
              <p:cNvSpPr>
                <a:spLocks noEditPoints="1"/>
              </p:cNvSpPr>
              <p:nvPr/>
            </p:nvSpPr>
            <p:spPr bwMode="auto">
              <a:xfrm>
                <a:off x="4501" y="2405"/>
                <a:ext cx="18" cy="24"/>
              </a:xfrm>
              <a:custGeom>
                <a:avLst/>
                <a:gdLst>
                  <a:gd name="T0" fmla="*/ 0 w 18"/>
                  <a:gd name="T1" fmla="*/ 18 h 24"/>
                  <a:gd name="T2" fmla="*/ 0 w 18"/>
                  <a:gd name="T3" fmla="*/ 24 h 24"/>
                  <a:gd name="T4" fmla="*/ 6 w 18"/>
                  <a:gd name="T5" fmla="*/ 24 h 24"/>
                  <a:gd name="T6" fmla="*/ 18 w 18"/>
                  <a:gd name="T7" fmla="*/ 24 h 24"/>
                  <a:gd name="T8" fmla="*/ 12 w 18"/>
                  <a:gd name="T9" fmla="*/ 0 h 24"/>
                  <a:gd name="T10" fmla="*/ 18 w 18"/>
                  <a:gd name="T11" fmla="*/ 0 h 24"/>
                  <a:gd name="T12" fmla="*/ 18 w 18"/>
                  <a:gd name="T13" fmla="*/ 0 h 24"/>
                  <a:gd name="T14" fmla="*/ 12 w 18"/>
                  <a:gd name="T15" fmla="*/ 0 h 24"/>
                  <a:gd name="T16" fmla="*/ 0 w 18"/>
                  <a:gd name="T17" fmla="*/ 18 h 24"/>
                  <a:gd name="T18" fmla="*/ 12 w 18"/>
                  <a:gd name="T19" fmla="*/ 0 h 24"/>
                  <a:gd name="T20" fmla="*/ 12 w 18"/>
                  <a:gd name="T21" fmla="*/ 0 h 24"/>
                  <a:gd name="T22" fmla="*/ 12 w 18"/>
                  <a:gd name="T23" fmla="*/ 0 h 24"/>
                  <a:gd name="T24" fmla="*/ 6 w 18"/>
                  <a:gd name="T25" fmla="*/ 6 h 24"/>
                  <a:gd name="T26" fmla="*/ 12 w 18"/>
                  <a:gd name="T2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24">
                    <a:moveTo>
                      <a:pt x="0" y="18"/>
                    </a:moveTo>
                    <a:lnTo>
                      <a:pt x="0" y="24"/>
                    </a:lnTo>
                    <a:lnTo>
                      <a:pt x="6" y="24"/>
                    </a:lnTo>
                    <a:lnTo>
                      <a:pt x="18" y="24"/>
                    </a:lnTo>
                    <a:lnTo>
                      <a:pt x="12" y="0"/>
                    </a:lnTo>
                    <a:lnTo>
                      <a:pt x="18" y="0"/>
                    </a:lnTo>
                    <a:lnTo>
                      <a:pt x="18" y="0"/>
                    </a:lnTo>
                    <a:lnTo>
                      <a:pt x="12" y="0"/>
                    </a:lnTo>
                    <a:lnTo>
                      <a:pt x="0" y="18"/>
                    </a:lnTo>
                    <a:close/>
                    <a:moveTo>
                      <a:pt x="12" y="0"/>
                    </a:moveTo>
                    <a:lnTo>
                      <a:pt x="12" y="0"/>
                    </a:lnTo>
                    <a:lnTo>
                      <a:pt x="12" y="0"/>
                    </a:lnTo>
                    <a:lnTo>
                      <a:pt x="6" y="6"/>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275" name="Freeform 75"/>
              <p:cNvSpPr>
                <a:spLocks noEditPoints="1"/>
              </p:cNvSpPr>
              <p:nvPr/>
            </p:nvSpPr>
            <p:spPr bwMode="auto">
              <a:xfrm>
                <a:off x="4507" y="2405"/>
                <a:ext cx="18" cy="30"/>
              </a:xfrm>
              <a:custGeom>
                <a:avLst/>
                <a:gdLst>
                  <a:gd name="T0" fmla="*/ 0 w 18"/>
                  <a:gd name="T1" fmla="*/ 18 h 30"/>
                  <a:gd name="T2" fmla="*/ 0 w 18"/>
                  <a:gd name="T3" fmla="*/ 24 h 30"/>
                  <a:gd name="T4" fmla="*/ 6 w 18"/>
                  <a:gd name="T5" fmla="*/ 24 h 30"/>
                  <a:gd name="T6" fmla="*/ 18 w 18"/>
                  <a:gd name="T7" fmla="*/ 30 h 30"/>
                  <a:gd name="T8" fmla="*/ 12 w 18"/>
                  <a:gd name="T9" fmla="*/ 6 h 30"/>
                  <a:gd name="T10" fmla="*/ 18 w 18"/>
                  <a:gd name="T11" fmla="*/ 6 h 30"/>
                  <a:gd name="T12" fmla="*/ 18 w 18"/>
                  <a:gd name="T13" fmla="*/ 6 h 30"/>
                  <a:gd name="T14" fmla="*/ 18 w 18"/>
                  <a:gd name="T15" fmla="*/ 6 h 30"/>
                  <a:gd name="T16" fmla="*/ 18 w 18"/>
                  <a:gd name="T17" fmla="*/ 6 h 30"/>
                  <a:gd name="T18" fmla="*/ 0 w 18"/>
                  <a:gd name="T19" fmla="*/ 18 h 30"/>
                  <a:gd name="T20" fmla="*/ 18 w 18"/>
                  <a:gd name="T21" fmla="*/ 6 h 30"/>
                  <a:gd name="T22" fmla="*/ 12 w 18"/>
                  <a:gd name="T23" fmla="*/ 0 h 30"/>
                  <a:gd name="T24" fmla="*/ 6 w 18"/>
                  <a:gd name="T25" fmla="*/ 0 h 30"/>
                  <a:gd name="T26" fmla="*/ 6 w 18"/>
                  <a:gd name="T27" fmla="*/ 12 h 30"/>
                  <a:gd name="T28" fmla="*/ 18 w 18"/>
                  <a:gd name="T29"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30">
                    <a:moveTo>
                      <a:pt x="0" y="18"/>
                    </a:moveTo>
                    <a:lnTo>
                      <a:pt x="0" y="24"/>
                    </a:lnTo>
                    <a:lnTo>
                      <a:pt x="6" y="24"/>
                    </a:lnTo>
                    <a:lnTo>
                      <a:pt x="18" y="30"/>
                    </a:lnTo>
                    <a:lnTo>
                      <a:pt x="12" y="6"/>
                    </a:lnTo>
                    <a:lnTo>
                      <a:pt x="18" y="6"/>
                    </a:lnTo>
                    <a:lnTo>
                      <a:pt x="18" y="6"/>
                    </a:lnTo>
                    <a:lnTo>
                      <a:pt x="18" y="6"/>
                    </a:lnTo>
                    <a:lnTo>
                      <a:pt x="18" y="6"/>
                    </a:lnTo>
                    <a:lnTo>
                      <a:pt x="0" y="18"/>
                    </a:lnTo>
                    <a:close/>
                    <a:moveTo>
                      <a:pt x="18" y="6"/>
                    </a:moveTo>
                    <a:lnTo>
                      <a:pt x="12" y="0"/>
                    </a:lnTo>
                    <a:lnTo>
                      <a:pt x="6" y="0"/>
                    </a:lnTo>
                    <a:lnTo>
                      <a:pt x="6"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51276" name="Freeform 76"/>
              <p:cNvSpPr>
                <a:spLocks noEditPoints="1"/>
              </p:cNvSpPr>
              <p:nvPr/>
            </p:nvSpPr>
            <p:spPr bwMode="auto">
              <a:xfrm>
                <a:off x="4519" y="2411"/>
                <a:ext cx="12" cy="24"/>
              </a:xfrm>
              <a:custGeom>
                <a:avLst/>
                <a:gdLst>
                  <a:gd name="T0" fmla="*/ 0 w 12"/>
                  <a:gd name="T1" fmla="*/ 24 h 24"/>
                  <a:gd name="T2" fmla="*/ 6 w 12"/>
                  <a:gd name="T3" fmla="*/ 24 h 24"/>
                  <a:gd name="T4" fmla="*/ 6 w 12"/>
                  <a:gd name="T5" fmla="*/ 24 h 24"/>
                  <a:gd name="T6" fmla="*/ 12 w 12"/>
                  <a:gd name="T7" fmla="*/ 0 h 24"/>
                  <a:gd name="T8" fmla="*/ 6 w 12"/>
                  <a:gd name="T9" fmla="*/ 0 h 24"/>
                  <a:gd name="T10" fmla="*/ 6 w 12"/>
                  <a:gd name="T11" fmla="*/ 0 h 24"/>
                  <a:gd name="T12" fmla="*/ 0 w 12"/>
                  <a:gd name="T13" fmla="*/ 24 h 24"/>
                  <a:gd name="T14" fmla="*/ 6 w 12"/>
                  <a:gd name="T15" fmla="*/ 0 h 24"/>
                  <a:gd name="T16" fmla="*/ 6 w 12"/>
                  <a:gd name="T17" fmla="*/ 0 h 24"/>
                  <a:gd name="T18" fmla="*/ 0 w 12"/>
                  <a:gd name="T19" fmla="*/ 0 h 24"/>
                  <a:gd name="T20" fmla="*/ 6 w 12"/>
                  <a:gd name="T21" fmla="*/ 12 h 24"/>
                  <a:gd name="T22" fmla="*/ 6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0" y="24"/>
                    </a:moveTo>
                    <a:lnTo>
                      <a:pt x="6" y="24"/>
                    </a:lnTo>
                    <a:lnTo>
                      <a:pt x="6" y="24"/>
                    </a:lnTo>
                    <a:lnTo>
                      <a:pt x="12" y="0"/>
                    </a:lnTo>
                    <a:lnTo>
                      <a:pt x="6" y="0"/>
                    </a:lnTo>
                    <a:lnTo>
                      <a:pt x="6" y="0"/>
                    </a:lnTo>
                    <a:lnTo>
                      <a:pt x="0" y="24"/>
                    </a:lnTo>
                    <a:close/>
                    <a:moveTo>
                      <a:pt x="6" y="0"/>
                    </a:moveTo>
                    <a:lnTo>
                      <a:pt x="6" y="0"/>
                    </a:lnTo>
                    <a:lnTo>
                      <a:pt x="0" y="0"/>
                    </a:lnTo>
                    <a:lnTo>
                      <a:pt x="6"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277" name="Freeform 77"/>
              <p:cNvSpPr>
                <a:spLocks noEditPoints="1"/>
              </p:cNvSpPr>
              <p:nvPr/>
            </p:nvSpPr>
            <p:spPr bwMode="auto">
              <a:xfrm>
                <a:off x="4525" y="2411"/>
                <a:ext cx="18" cy="24"/>
              </a:xfrm>
              <a:custGeom>
                <a:avLst/>
                <a:gdLst>
                  <a:gd name="T0" fmla="*/ 6 w 18"/>
                  <a:gd name="T1" fmla="*/ 24 h 24"/>
                  <a:gd name="T2" fmla="*/ 6 w 18"/>
                  <a:gd name="T3" fmla="*/ 24 h 24"/>
                  <a:gd name="T4" fmla="*/ 12 w 18"/>
                  <a:gd name="T5" fmla="*/ 24 h 24"/>
                  <a:gd name="T6" fmla="*/ 18 w 18"/>
                  <a:gd name="T7" fmla="*/ 24 h 24"/>
                  <a:gd name="T8" fmla="*/ 18 w 18"/>
                  <a:gd name="T9" fmla="*/ 24 h 24"/>
                  <a:gd name="T10" fmla="*/ 12 w 18"/>
                  <a:gd name="T11" fmla="*/ 0 h 24"/>
                  <a:gd name="T12" fmla="*/ 6 w 18"/>
                  <a:gd name="T13" fmla="*/ 0 h 24"/>
                  <a:gd name="T14" fmla="*/ 0 w 18"/>
                  <a:gd name="T15" fmla="*/ 0 h 24"/>
                  <a:gd name="T16" fmla="*/ 6 w 18"/>
                  <a:gd name="T17" fmla="*/ 24 h 24"/>
                  <a:gd name="T18" fmla="*/ 0 w 18"/>
                  <a:gd name="T19" fmla="*/ 24 h 24"/>
                  <a:gd name="T20" fmla="*/ 0 w 18"/>
                  <a:gd name="T21" fmla="*/ 24 h 24"/>
                  <a:gd name="T22" fmla="*/ 6 w 18"/>
                  <a:gd name="T23" fmla="*/ 24 h 24"/>
                  <a:gd name="T24" fmla="*/ 6 w 18"/>
                  <a:gd name="T25" fmla="*/ 12 h 24"/>
                  <a:gd name="T26" fmla="*/ 0 w 18"/>
                  <a:gd name="T2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24">
                    <a:moveTo>
                      <a:pt x="6" y="24"/>
                    </a:moveTo>
                    <a:lnTo>
                      <a:pt x="6" y="24"/>
                    </a:lnTo>
                    <a:lnTo>
                      <a:pt x="12" y="24"/>
                    </a:lnTo>
                    <a:lnTo>
                      <a:pt x="18" y="24"/>
                    </a:lnTo>
                    <a:lnTo>
                      <a:pt x="18" y="24"/>
                    </a:lnTo>
                    <a:lnTo>
                      <a:pt x="12" y="0"/>
                    </a:lnTo>
                    <a:lnTo>
                      <a:pt x="6" y="0"/>
                    </a:lnTo>
                    <a:lnTo>
                      <a:pt x="0" y="0"/>
                    </a:lnTo>
                    <a:lnTo>
                      <a:pt x="6" y="24"/>
                    </a:lnTo>
                    <a:close/>
                    <a:moveTo>
                      <a:pt x="0" y="24"/>
                    </a:moveTo>
                    <a:lnTo>
                      <a:pt x="0" y="24"/>
                    </a:lnTo>
                    <a:lnTo>
                      <a:pt x="6" y="24"/>
                    </a:lnTo>
                    <a:lnTo>
                      <a:pt x="6" y="12"/>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51278" name="Freeform 78"/>
              <p:cNvSpPr>
                <a:spLocks noEditPoints="1"/>
              </p:cNvSpPr>
              <p:nvPr/>
            </p:nvSpPr>
            <p:spPr bwMode="auto">
              <a:xfrm>
                <a:off x="4531" y="2411"/>
                <a:ext cx="24" cy="24"/>
              </a:xfrm>
              <a:custGeom>
                <a:avLst/>
                <a:gdLst>
                  <a:gd name="T0" fmla="*/ 0 w 24"/>
                  <a:gd name="T1" fmla="*/ 18 h 24"/>
                  <a:gd name="T2" fmla="*/ 0 w 24"/>
                  <a:gd name="T3" fmla="*/ 24 h 24"/>
                  <a:gd name="T4" fmla="*/ 24 w 24"/>
                  <a:gd name="T5" fmla="*/ 12 h 24"/>
                  <a:gd name="T6" fmla="*/ 18 w 24"/>
                  <a:gd name="T7" fmla="*/ 6 h 24"/>
                  <a:gd name="T8" fmla="*/ 0 w 24"/>
                  <a:gd name="T9" fmla="*/ 18 h 24"/>
                  <a:gd name="T10" fmla="*/ 18 w 24"/>
                  <a:gd name="T11" fmla="*/ 6 h 24"/>
                  <a:gd name="T12" fmla="*/ 12 w 24"/>
                  <a:gd name="T13" fmla="*/ 0 h 24"/>
                  <a:gd name="T14" fmla="*/ 6 w 24"/>
                  <a:gd name="T15" fmla="*/ 0 h 24"/>
                  <a:gd name="T16" fmla="*/ 6 w 24"/>
                  <a:gd name="T17" fmla="*/ 12 h 24"/>
                  <a:gd name="T18" fmla="*/ 18 w 24"/>
                  <a:gd name="T19"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18"/>
                    </a:moveTo>
                    <a:lnTo>
                      <a:pt x="0" y="24"/>
                    </a:lnTo>
                    <a:lnTo>
                      <a:pt x="24" y="12"/>
                    </a:lnTo>
                    <a:lnTo>
                      <a:pt x="18" y="6"/>
                    </a:lnTo>
                    <a:lnTo>
                      <a:pt x="0" y="18"/>
                    </a:lnTo>
                    <a:close/>
                    <a:moveTo>
                      <a:pt x="18" y="6"/>
                    </a:moveTo>
                    <a:lnTo>
                      <a:pt x="12" y="0"/>
                    </a:lnTo>
                    <a:lnTo>
                      <a:pt x="6" y="0"/>
                    </a:lnTo>
                    <a:lnTo>
                      <a:pt x="6"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51279" name="Freeform 79"/>
              <p:cNvSpPr>
                <a:spLocks/>
              </p:cNvSpPr>
              <p:nvPr/>
            </p:nvSpPr>
            <p:spPr bwMode="auto">
              <a:xfrm>
                <a:off x="4543" y="2423"/>
                <a:ext cx="18" cy="18"/>
              </a:xfrm>
              <a:custGeom>
                <a:avLst/>
                <a:gdLst>
                  <a:gd name="T0" fmla="*/ 0 w 18"/>
                  <a:gd name="T1" fmla="*/ 18 h 18"/>
                  <a:gd name="T2" fmla="*/ 18 w 18"/>
                  <a:gd name="T3" fmla="*/ 12 h 18"/>
                  <a:gd name="T4" fmla="*/ 12 w 18"/>
                  <a:gd name="T5" fmla="*/ 0 h 18"/>
                  <a:gd name="T6" fmla="*/ 0 w 18"/>
                  <a:gd name="T7" fmla="*/ 6 h 18"/>
                  <a:gd name="T8" fmla="*/ 0 w 18"/>
                  <a:gd name="T9" fmla="*/ 18 h 18"/>
                </a:gdLst>
                <a:ahLst/>
                <a:cxnLst>
                  <a:cxn ang="0">
                    <a:pos x="T0" y="T1"/>
                  </a:cxn>
                  <a:cxn ang="0">
                    <a:pos x="T2" y="T3"/>
                  </a:cxn>
                  <a:cxn ang="0">
                    <a:pos x="T4" y="T5"/>
                  </a:cxn>
                  <a:cxn ang="0">
                    <a:pos x="T6" y="T7"/>
                  </a:cxn>
                  <a:cxn ang="0">
                    <a:pos x="T8" y="T9"/>
                  </a:cxn>
                </a:cxnLst>
                <a:rect l="0" t="0" r="r" b="b"/>
                <a:pathLst>
                  <a:path w="18" h="18">
                    <a:moveTo>
                      <a:pt x="0" y="18"/>
                    </a:moveTo>
                    <a:lnTo>
                      <a:pt x="18" y="12"/>
                    </a:lnTo>
                    <a:lnTo>
                      <a:pt x="12" y="0"/>
                    </a:lnTo>
                    <a:lnTo>
                      <a:pt x="0" y="6"/>
                    </a:lnTo>
                    <a:lnTo>
                      <a:pt x="0" y="18"/>
                    </a:lnTo>
                    <a:close/>
                  </a:path>
                </a:pathLst>
              </a:custGeom>
              <a:solidFill>
                <a:srgbClr val="00FF00"/>
              </a:solidFill>
              <a:ln w="9525">
                <a:solidFill>
                  <a:srgbClr val="00FF00"/>
                </a:solidFill>
                <a:round/>
                <a:headEnd/>
                <a:tailEnd/>
              </a:ln>
            </p:spPr>
            <p:txBody>
              <a:bodyPr/>
              <a:lstStyle/>
              <a:p>
                <a:endParaRPr lang="zh-CN" altLang="en-US"/>
              </a:p>
            </p:txBody>
          </p:sp>
          <p:sp>
            <p:nvSpPr>
              <p:cNvPr id="51280" name="Freeform 80"/>
              <p:cNvSpPr>
                <a:spLocks/>
              </p:cNvSpPr>
              <p:nvPr/>
            </p:nvSpPr>
            <p:spPr bwMode="auto">
              <a:xfrm>
                <a:off x="4561" y="2429"/>
                <a:ext cx="12" cy="30"/>
              </a:xfrm>
              <a:custGeom>
                <a:avLst/>
                <a:gdLst>
                  <a:gd name="T0" fmla="*/ 0 w 12"/>
                  <a:gd name="T1" fmla="*/ 6 h 30"/>
                  <a:gd name="T2" fmla="*/ 6 w 12"/>
                  <a:gd name="T3" fmla="*/ 12 h 30"/>
                  <a:gd name="T4" fmla="*/ 6 w 12"/>
                  <a:gd name="T5" fmla="*/ 18 h 30"/>
                  <a:gd name="T6" fmla="*/ 6 w 12"/>
                  <a:gd name="T7" fmla="*/ 18 h 30"/>
                  <a:gd name="T8" fmla="*/ 12 w 12"/>
                  <a:gd name="T9" fmla="*/ 24 h 30"/>
                  <a:gd name="T10" fmla="*/ 12 w 12"/>
                  <a:gd name="T11" fmla="*/ 24 h 30"/>
                  <a:gd name="T12" fmla="*/ 12 w 12"/>
                  <a:gd name="T13" fmla="*/ 30 h 30"/>
                  <a:gd name="T14" fmla="*/ 12 w 12"/>
                  <a:gd name="T15" fmla="*/ 30 h 30"/>
                  <a:gd name="T16" fmla="*/ 12 w 12"/>
                  <a:gd name="T17" fmla="*/ 30 h 30"/>
                  <a:gd name="T18" fmla="*/ 12 w 12"/>
                  <a:gd name="T19" fmla="*/ 24 h 30"/>
                  <a:gd name="T20" fmla="*/ 12 w 12"/>
                  <a:gd name="T21" fmla="*/ 24 h 30"/>
                  <a:gd name="T22" fmla="*/ 12 w 12"/>
                  <a:gd name="T23" fmla="*/ 18 h 30"/>
                  <a:gd name="T24" fmla="*/ 12 w 12"/>
                  <a:gd name="T25" fmla="*/ 18 h 30"/>
                  <a:gd name="T26" fmla="*/ 12 w 12"/>
                  <a:gd name="T27" fmla="*/ 12 h 30"/>
                  <a:gd name="T28" fmla="*/ 12 w 12"/>
                  <a:gd name="T29" fmla="*/ 12 h 30"/>
                  <a:gd name="T30" fmla="*/ 6 w 12"/>
                  <a:gd name="T31" fmla="*/ 6 h 30"/>
                  <a:gd name="T32" fmla="*/ 6 w 12"/>
                  <a:gd name="T33" fmla="*/ 6 h 30"/>
                  <a:gd name="T34" fmla="*/ 0 w 12"/>
                  <a:gd name="T35" fmla="*/ 0 h 30"/>
                  <a:gd name="T36" fmla="*/ 0 w 12"/>
                  <a:gd name="T37" fmla="*/ 6 h 30"/>
                  <a:gd name="T38" fmla="*/ 0 w 12"/>
                  <a:gd name="T39"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 h="30">
                    <a:moveTo>
                      <a:pt x="0" y="6"/>
                    </a:moveTo>
                    <a:lnTo>
                      <a:pt x="6" y="12"/>
                    </a:lnTo>
                    <a:lnTo>
                      <a:pt x="6" y="18"/>
                    </a:lnTo>
                    <a:lnTo>
                      <a:pt x="6" y="18"/>
                    </a:lnTo>
                    <a:lnTo>
                      <a:pt x="12" y="24"/>
                    </a:lnTo>
                    <a:lnTo>
                      <a:pt x="12" y="24"/>
                    </a:lnTo>
                    <a:lnTo>
                      <a:pt x="12" y="30"/>
                    </a:lnTo>
                    <a:lnTo>
                      <a:pt x="12" y="30"/>
                    </a:lnTo>
                    <a:lnTo>
                      <a:pt x="12" y="30"/>
                    </a:lnTo>
                    <a:lnTo>
                      <a:pt x="12" y="24"/>
                    </a:lnTo>
                    <a:lnTo>
                      <a:pt x="12" y="24"/>
                    </a:lnTo>
                    <a:lnTo>
                      <a:pt x="12" y="18"/>
                    </a:lnTo>
                    <a:lnTo>
                      <a:pt x="12" y="18"/>
                    </a:lnTo>
                    <a:lnTo>
                      <a:pt x="12" y="12"/>
                    </a:lnTo>
                    <a:lnTo>
                      <a:pt x="12" y="12"/>
                    </a:lnTo>
                    <a:lnTo>
                      <a:pt x="6" y="6"/>
                    </a:lnTo>
                    <a:lnTo>
                      <a:pt x="6" y="6"/>
                    </a:lnTo>
                    <a:lnTo>
                      <a:pt x="0" y="0"/>
                    </a:lnTo>
                    <a:lnTo>
                      <a:pt x="0" y="6"/>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281" name="Freeform 81"/>
              <p:cNvSpPr>
                <a:spLocks/>
              </p:cNvSpPr>
              <p:nvPr/>
            </p:nvSpPr>
            <p:spPr bwMode="auto">
              <a:xfrm>
                <a:off x="4555" y="2423"/>
                <a:ext cx="18" cy="30"/>
              </a:xfrm>
              <a:custGeom>
                <a:avLst/>
                <a:gdLst>
                  <a:gd name="T0" fmla="*/ 0 w 18"/>
                  <a:gd name="T1" fmla="*/ 24 h 30"/>
                  <a:gd name="T2" fmla="*/ 6 w 18"/>
                  <a:gd name="T3" fmla="*/ 30 h 30"/>
                  <a:gd name="T4" fmla="*/ 18 w 18"/>
                  <a:gd name="T5" fmla="*/ 6 h 30"/>
                  <a:gd name="T6" fmla="*/ 12 w 18"/>
                  <a:gd name="T7" fmla="*/ 0 h 30"/>
                  <a:gd name="T8" fmla="*/ 0 w 18"/>
                  <a:gd name="T9" fmla="*/ 24 h 30"/>
                </a:gdLst>
                <a:ahLst/>
                <a:cxnLst>
                  <a:cxn ang="0">
                    <a:pos x="T0" y="T1"/>
                  </a:cxn>
                  <a:cxn ang="0">
                    <a:pos x="T2" y="T3"/>
                  </a:cxn>
                  <a:cxn ang="0">
                    <a:pos x="T4" y="T5"/>
                  </a:cxn>
                  <a:cxn ang="0">
                    <a:pos x="T6" y="T7"/>
                  </a:cxn>
                  <a:cxn ang="0">
                    <a:pos x="T8" y="T9"/>
                  </a:cxn>
                </a:cxnLst>
                <a:rect l="0" t="0" r="r" b="b"/>
                <a:pathLst>
                  <a:path w="18" h="30">
                    <a:moveTo>
                      <a:pt x="0" y="24"/>
                    </a:moveTo>
                    <a:lnTo>
                      <a:pt x="6" y="30"/>
                    </a:lnTo>
                    <a:lnTo>
                      <a:pt x="18" y="6"/>
                    </a:lnTo>
                    <a:lnTo>
                      <a:pt x="12" y="0"/>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51282" name="Freeform 82"/>
              <p:cNvSpPr>
                <a:spLocks noEditPoints="1"/>
              </p:cNvSpPr>
              <p:nvPr/>
            </p:nvSpPr>
            <p:spPr bwMode="auto">
              <a:xfrm>
                <a:off x="4555" y="2429"/>
                <a:ext cx="24" cy="30"/>
              </a:xfrm>
              <a:custGeom>
                <a:avLst/>
                <a:gdLst>
                  <a:gd name="T0" fmla="*/ 0 w 24"/>
                  <a:gd name="T1" fmla="*/ 6 h 30"/>
                  <a:gd name="T2" fmla="*/ 0 w 24"/>
                  <a:gd name="T3" fmla="*/ 12 h 30"/>
                  <a:gd name="T4" fmla="*/ 0 w 24"/>
                  <a:gd name="T5" fmla="*/ 12 h 30"/>
                  <a:gd name="T6" fmla="*/ 6 w 24"/>
                  <a:gd name="T7" fmla="*/ 18 h 30"/>
                  <a:gd name="T8" fmla="*/ 12 w 24"/>
                  <a:gd name="T9" fmla="*/ 30 h 30"/>
                  <a:gd name="T10" fmla="*/ 18 w 24"/>
                  <a:gd name="T11" fmla="*/ 6 h 30"/>
                  <a:gd name="T12" fmla="*/ 24 w 24"/>
                  <a:gd name="T13" fmla="*/ 12 h 30"/>
                  <a:gd name="T14" fmla="*/ 24 w 24"/>
                  <a:gd name="T15" fmla="*/ 12 h 30"/>
                  <a:gd name="T16" fmla="*/ 24 w 24"/>
                  <a:gd name="T17" fmla="*/ 12 h 30"/>
                  <a:gd name="T18" fmla="*/ 0 w 24"/>
                  <a:gd name="T19" fmla="*/ 6 h 30"/>
                  <a:gd name="T20" fmla="*/ 24 w 24"/>
                  <a:gd name="T21" fmla="*/ 12 h 30"/>
                  <a:gd name="T22" fmla="*/ 24 w 24"/>
                  <a:gd name="T23" fmla="*/ 6 h 30"/>
                  <a:gd name="T24" fmla="*/ 18 w 24"/>
                  <a:gd name="T25" fmla="*/ 0 h 30"/>
                  <a:gd name="T26" fmla="*/ 12 w 24"/>
                  <a:gd name="T27" fmla="*/ 12 h 30"/>
                  <a:gd name="T28" fmla="*/ 24 w 24"/>
                  <a:gd name="T29"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30">
                    <a:moveTo>
                      <a:pt x="0" y="6"/>
                    </a:moveTo>
                    <a:lnTo>
                      <a:pt x="0" y="12"/>
                    </a:lnTo>
                    <a:lnTo>
                      <a:pt x="0" y="12"/>
                    </a:lnTo>
                    <a:lnTo>
                      <a:pt x="6" y="18"/>
                    </a:lnTo>
                    <a:lnTo>
                      <a:pt x="12" y="30"/>
                    </a:lnTo>
                    <a:lnTo>
                      <a:pt x="18" y="6"/>
                    </a:lnTo>
                    <a:lnTo>
                      <a:pt x="24" y="12"/>
                    </a:lnTo>
                    <a:lnTo>
                      <a:pt x="24" y="12"/>
                    </a:lnTo>
                    <a:lnTo>
                      <a:pt x="24" y="12"/>
                    </a:lnTo>
                    <a:lnTo>
                      <a:pt x="0" y="6"/>
                    </a:lnTo>
                    <a:close/>
                    <a:moveTo>
                      <a:pt x="24" y="12"/>
                    </a:moveTo>
                    <a:lnTo>
                      <a:pt x="24" y="6"/>
                    </a:lnTo>
                    <a:lnTo>
                      <a:pt x="18" y="0"/>
                    </a:lnTo>
                    <a:lnTo>
                      <a:pt x="12" y="12"/>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51283" name="Freeform 83"/>
              <p:cNvSpPr>
                <a:spLocks noEditPoints="1"/>
              </p:cNvSpPr>
              <p:nvPr/>
            </p:nvSpPr>
            <p:spPr bwMode="auto">
              <a:xfrm>
                <a:off x="4555" y="2435"/>
                <a:ext cx="24" cy="30"/>
              </a:xfrm>
              <a:custGeom>
                <a:avLst/>
                <a:gdLst>
                  <a:gd name="T0" fmla="*/ 0 w 24"/>
                  <a:gd name="T1" fmla="*/ 12 h 30"/>
                  <a:gd name="T2" fmla="*/ 0 w 24"/>
                  <a:gd name="T3" fmla="*/ 18 h 30"/>
                  <a:gd name="T4" fmla="*/ 6 w 24"/>
                  <a:gd name="T5" fmla="*/ 18 h 30"/>
                  <a:gd name="T6" fmla="*/ 6 w 24"/>
                  <a:gd name="T7" fmla="*/ 18 h 30"/>
                  <a:gd name="T8" fmla="*/ 6 w 24"/>
                  <a:gd name="T9" fmla="*/ 24 h 30"/>
                  <a:gd name="T10" fmla="*/ 12 w 24"/>
                  <a:gd name="T11" fmla="*/ 30 h 30"/>
                  <a:gd name="T12" fmla="*/ 12 w 24"/>
                  <a:gd name="T13" fmla="*/ 6 h 30"/>
                  <a:gd name="T14" fmla="*/ 24 w 24"/>
                  <a:gd name="T15" fmla="*/ 12 h 30"/>
                  <a:gd name="T16" fmla="*/ 24 w 24"/>
                  <a:gd name="T17" fmla="*/ 12 h 30"/>
                  <a:gd name="T18" fmla="*/ 24 w 24"/>
                  <a:gd name="T19" fmla="*/ 12 h 30"/>
                  <a:gd name="T20" fmla="*/ 24 w 24"/>
                  <a:gd name="T21" fmla="*/ 12 h 30"/>
                  <a:gd name="T22" fmla="*/ 0 w 24"/>
                  <a:gd name="T23" fmla="*/ 12 h 30"/>
                  <a:gd name="T24" fmla="*/ 24 w 24"/>
                  <a:gd name="T25" fmla="*/ 12 h 30"/>
                  <a:gd name="T26" fmla="*/ 24 w 24"/>
                  <a:gd name="T27" fmla="*/ 0 h 30"/>
                  <a:gd name="T28" fmla="*/ 18 w 24"/>
                  <a:gd name="T29" fmla="*/ 0 h 30"/>
                  <a:gd name="T30" fmla="*/ 12 w 24"/>
                  <a:gd name="T31" fmla="*/ 12 h 30"/>
                  <a:gd name="T32" fmla="*/ 24 w 24"/>
                  <a:gd name="T33"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30">
                    <a:moveTo>
                      <a:pt x="0" y="12"/>
                    </a:moveTo>
                    <a:lnTo>
                      <a:pt x="0" y="18"/>
                    </a:lnTo>
                    <a:lnTo>
                      <a:pt x="6" y="18"/>
                    </a:lnTo>
                    <a:lnTo>
                      <a:pt x="6" y="18"/>
                    </a:lnTo>
                    <a:lnTo>
                      <a:pt x="6" y="24"/>
                    </a:lnTo>
                    <a:lnTo>
                      <a:pt x="12" y="30"/>
                    </a:lnTo>
                    <a:lnTo>
                      <a:pt x="12" y="6"/>
                    </a:lnTo>
                    <a:lnTo>
                      <a:pt x="24" y="12"/>
                    </a:lnTo>
                    <a:lnTo>
                      <a:pt x="24" y="12"/>
                    </a:lnTo>
                    <a:lnTo>
                      <a:pt x="24" y="12"/>
                    </a:lnTo>
                    <a:lnTo>
                      <a:pt x="24" y="12"/>
                    </a:lnTo>
                    <a:lnTo>
                      <a:pt x="0" y="12"/>
                    </a:lnTo>
                    <a:close/>
                    <a:moveTo>
                      <a:pt x="24" y="12"/>
                    </a:moveTo>
                    <a:lnTo>
                      <a:pt x="24" y="0"/>
                    </a:lnTo>
                    <a:lnTo>
                      <a:pt x="18" y="0"/>
                    </a:lnTo>
                    <a:lnTo>
                      <a:pt x="12" y="12"/>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51284" name="Freeform 84"/>
              <p:cNvSpPr>
                <a:spLocks noEditPoints="1"/>
              </p:cNvSpPr>
              <p:nvPr/>
            </p:nvSpPr>
            <p:spPr bwMode="auto">
              <a:xfrm>
                <a:off x="4561" y="2441"/>
                <a:ext cx="24" cy="24"/>
              </a:xfrm>
              <a:custGeom>
                <a:avLst/>
                <a:gdLst>
                  <a:gd name="T0" fmla="*/ 0 w 24"/>
                  <a:gd name="T1" fmla="*/ 24 h 24"/>
                  <a:gd name="T2" fmla="*/ 6 w 24"/>
                  <a:gd name="T3" fmla="*/ 24 h 24"/>
                  <a:gd name="T4" fmla="*/ 6 w 24"/>
                  <a:gd name="T5" fmla="*/ 24 h 24"/>
                  <a:gd name="T6" fmla="*/ 24 w 24"/>
                  <a:gd name="T7" fmla="*/ 12 h 24"/>
                  <a:gd name="T8" fmla="*/ 24 w 24"/>
                  <a:gd name="T9" fmla="*/ 12 h 24"/>
                  <a:gd name="T10" fmla="*/ 24 w 24"/>
                  <a:gd name="T11" fmla="*/ 12 h 24"/>
                  <a:gd name="T12" fmla="*/ 18 w 24"/>
                  <a:gd name="T13" fmla="*/ 6 h 24"/>
                  <a:gd name="T14" fmla="*/ 0 w 24"/>
                  <a:gd name="T15" fmla="*/ 24 h 24"/>
                  <a:gd name="T16" fmla="*/ 18 w 24"/>
                  <a:gd name="T17" fmla="*/ 6 h 24"/>
                  <a:gd name="T18" fmla="*/ 12 w 24"/>
                  <a:gd name="T19" fmla="*/ 0 h 24"/>
                  <a:gd name="T20" fmla="*/ 6 w 24"/>
                  <a:gd name="T21" fmla="*/ 0 h 24"/>
                  <a:gd name="T22" fmla="*/ 12 w 24"/>
                  <a:gd name="T23" fmla="*/ 12 h 24"/>
                  <a:gd name="T24" fmla="*/ 18 w 24"/>
                  <a:gd name="T25"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0" y="24"/>
                    </a:moveTo>
                    <a:lnTo>
                      <a:pt x="6" y="24"/>
                    </a:lnTo>
                    <a:lnTo>
                      <a:pt x="6" y="24"/>
                    </a:lnTo>
                    <a:lnTo>
                      <a:pt x="24" y="12"/>
                    </a:lnTo>
                    <a:lnTo>
                      <a:pt x="24" y="12"/>
                    </a:lnTo>
                    <a:lnTo>
                      <a:pt x="24" y="12"/>
                    </a:lnTo>
                    <a:lnTo>
                      <a:pt x="18" y="6"/>
                    </a:lnTo>
                    <a:lnTo>
                      <a:pt x="0" y="24"/>
                    </a:lnTo>
                    <a:close/>
                    <a:moveTo>
                      <a:pt x="18" y="6"/>
                    </a:moveTo>
                    <a:lnTo>
                      <a:pt x="12" y="0"/>
                    </a:lnTo>
                    <a:lnTo>
                      <a:pt x="6" y="0"/>
                    </a:lnTo>
                    <a:lnTo>
                      <a:pt x="12"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51285" name="Freeform 85"/>
              <p:cNvSpPr>
                <a:spLocks noEditPoints="1"/>
              </p:cNvSpPr>
              <p:nvPr/>
            </p:nvSpPr>
            <p:spPr bwMode="auto">
              <a:xfrm>
                <a:off x="4561" y="2447"/>
                <a:ext cx="24" cy="18"/>
              </a:xfrm>
              <a:custGeom>
                <a:avLst/>
                <a:gdLst>
                  <a:gd name="T0" fmla="*/ 24 w 24"/>
                  <a:gd name="T1" fmla="*/ 12 h 18"/>
                  <a:gd name="T2" fmla="*/ 24 w 24"/>
                  <a:gd name="T3" fmla="*/ 6 h 18"/>
                  <a:gd name="T4" fmla="*/ 24 w 24"/>
                  <a:gd name="T5" fmla="*/ 0 h 18"/>
                  <a:gd name="T6" fmla="*/ 0 w 24"/>
                  <a:gd name="T7" fmla="*/ 12 h 18"/>
                  <a:gd name="T8" fmla="*/ 0 w 24"/>
                  <a:gd name="T9" fmla="*/ 12 h 18"/>
                  <a:gd name="T10" fmla="*/ 0 w 24"/>
                  <a:gd name="T11" fmla="*/ 12 h 18"/>
                  <a:gd name="T12" fmla="*/ 24 w 24"/>
                  <a:gd name="T13" fmla="*/ 12 h 18"/>
                  <a:gd name="T14" fmla="*/ 6 w 24"/>
                  <a:gd name="T15" fmla="*/ 18 h 18"/>
                  <a:gd name="T16" fmla="*/ 24 w 24"/>
                  <a:gd name="T17" fmla="*/ 12 h 18"/>
                  <a:gd name="T18" fmla="*/ 0 w 24"/>
                  <a:gd name="T19" fmla="*/ 12 h 18"/>
                  <a:gd name="T20" fmla="*/ 24 w 24"/>
                  <a:gd name="T21" fmla="*/ 6 h 18"/>
                  <a:gd name="T22" fmla="*/ 6 w 24"/>
                  <a:gd name="T23"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24" y="12"/>
                    </a:moveTo>
                    <a:lnTo>
                      <a:pt x="24" y="6"/>
                    </a:lnTo>
                    <a:lnTo>
                      <a:pt x="24" y="0"/>
                    </a:lnTo>
                    <a:lnTo>
                      <a:pt x="0" y="12"/>
                    </a:lnTo>
                    <a:lnTo>
                      <a:pt x="0" y="12"/>
                    </a:lnTo>
                    <a:lnTo>
                      <a:pt x="0" y="12"/>
                    </a:lnTo>
                    <a:lnTo>
                      <a:pt x="24" y="12"/>
                    </a:lnTo>
                    <a:close/>
                    <a:moveTo>
                      <a:pt x="6" y="18"/>
                    </a:moveTo>
                    <a:lnTo>
                      <a:pt x="24" y="12"/>
                    </a:lnTo>
                    <a:lnTo>
                      <a:pt x="0" y="12"/>
                    </a:lnTo>
                    <a:lnTo>
                      <a:pt x="24" y="6"/>
                    </a:lnTo>
                    <a:lnTo>
                      <a:pt x="6" y="18"/>
                    </a:lnTo>
                    <a:close/>
                  </a:path>
                </a:pathLst>
              </a:custGeom>
              <a:solidFill>
                <a:srgbClr val="00FF00"/>
              </a:solidFill>
              <a:ln w="9525">
                <a:solidFill>
                  <a:srgbClr val="00FF00"/>
                </a:solidFill>
                <a:round/>
                <a:headEnd/>
                <a:tailEnd/>
              </a:ln>
            </p:spPr>
            <p:txBody>
              <a:bodyPr/>
              <a:lstStyle/>
              <a:p>
                <a:endParaRPr lang="zh-CN" altLang="en-US"/>
              </a:p>
            </p:txBody>
          </p:sp>
          <p:sp>
            <p:nvSpPr>
              <p:cNvPr id="51286" name="Freeform 86"/>
              <p:cNvSpPr>
                <a:spLocks noEditPoints="1"/>
              </p:cNvSpPr>
              <p:nvPr/>
            </p:nvSpPr>
            <p:spPr bwMode="auto">
              <a:xfrm>
                <a:off x="4561" y="2441"/>
                <a:ext cx="24" cy="24"/>
              </a:xfrm>
              <a:custGeom>
                <a:avLst/>
                <a:gdLst>
                  <a:gd name="T0" fmla="*/ 18 w 24"/>
                  <a:gd name="T1" fmla="*/ 0 h 24"/>
                  <a:gd name="T2" fmla="*/ 18 w 24"/>
                  <a:gd name="T3" fmla="*/ 6 h 24"/>
                  <a:gd name="T4" fmla="*/ 24 w 24"/>
                  <a:gd name="T5" fmla="*/ 6 h 24"/>
                  <a:gd name="T6" fmla="*/ 0 w 24"/>
                  <a:gd name="T7" fmla="*/ 6 h 24"/>
                  <a:gd name="T8" fmla="*/ 6 w 24"/>
                  <a:gd name="T9" fmla="*/ 18 h 24"/>
                  <a:gd name="T10" fmla="*/ 6 w 24"/>
                  <a:gd name="T11" fmla="*/ 24 h 24"/>
                  <a:gd name="T12" fmla="*/ 18 w 24"/>
                  <a:gd name="T13" fmla="*/ 0 h 24"/>
                  <a:gd name="T14" fmla="*/ 24 w 24"/>
                  <a:gd name="T15" fmla="*/ 6 h 24"/>
                  <a:gd name="T16" fmla="*/ 24 w 24"/>
                  <a:gd name="T17" fmla="*/ 6 h 24"/>
                  <a:gd name="T18" fmla="*/ 18 w 24"/>
                  <a:gd name="T19" fmla="*/ 0 h 24"/>
                  <a:gd name="T20" fmla="*/ 12 w 24"/>
                  <a:gd name="T21" fmla="*/ 12 h 24"/>
                  <a:gd name="T22" fmla="*/ 24 w 24"/>
                  <a:gd name="T23"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8" y="0"/>
                    </a:moveTo>
                    <a:lnTo>
                      <a:pt x="18" y="6"/>
                    </a:lnTo>
                    <a:lnTo>
                      <a:pt x="24" y="6"/>
                    </a:lnTo>
                    <a:lnTo>
                      <a:pt x="0" y="6"/>
                    </a:lnTo>
                    <a:lnTo>
                      <a:pt x="6" y="18"/>
                    </a:lnTo>
                    <a:lnTo>
                      <a:pt x="6" y="24"/>
                    </a:lnTo>
                    <a:lnTo>
                      <a:pt x="18" y="0"/>
                    </a:lnTo>
                    <a:close/>
                    <a:moveTo>
                      <a:pt x="24" y="6"/>
                    </a:moveTo>
                    <a:lnTo>
                      <a:pt x="24" y="6"/>
                    </a:lnTo>
                    <a:lnTo>
                      <a:pt x="18" y="0"/>
                    </a:lnTo>
                    <a:lnTo>
                      <a:pt x="12" y="12"/>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51287" name="Freeform 87"/>
              <p:cNvSpPr>
                <a:spLocks noEditPoints="1"/>
              </p:cNvSpPr>
              <p:nvPr/>
            </p:nvSpPr>
            <p:spPr bwMode="auto">
              <a:xfrm>
                <a:off x="4561" y="2429"/>
                <a:ext cx="24" cy="24"/>
              </a:xfrm>
              <a:custGeom>
                <a:avLst/>
                <a:gdLst>
                  <a:gd name="T0" fmla="*/ 18 w 24"/>
                  <a:gd name="T1" fmla="*/ 12 h 24"/>
                  <a:gd name="T2" fmla="*/ 18 w 24"/>
                  <a:gd name="T3" fmla="*/ 18 h 24"/>
                  <a:gd name="T4" fmla="*/ 18 w 24"/>
                  <a:gd name="T5" fmla="*/ 18 h 24"/>
                  <a:gd name="T6" fmla="*/ 0 w 24"/>
                  <a:gd name="T7" fmla="*/ 0 h 24"/>
                  <a:gd name="T8" fmla="*/ 0 w 24"/>
                  <a:gd name="T9" fmla="*/ 12 h 24"/>
                  <a:gd name="T10" fmla="*/ 0 w 24"/>
                  <a:gd name="T11" fmla="*/ 24 h 24"/>
                  <a:gd name="T12" fmla="*/ 18 w 24"/>
                  <a:gd name="T13" fmla="*/ 12 h 24"/>
                  <a:gd name="T14" fmla="*/ 24 w 24"/>
                  <a:gd name="T15" fmla="*/ 18 h 24"/>
                  <a:gd name="T16" fmla="*/ 24 w 24"/>
                  <a:gd name="T17" fmla="*/ 18 h 24"/>
                  <a:gd name="T18" fmla="*/ 18 w 24"/>
                  <a:gd name="T19" fmla="*/ 12 h 24"/>
                  <a:gd name="T20" fmla="*/ 12 w 24"/>
                  <a:gd name="T21" fmla="*/ 18 h 24"/>
                  <a:gd name="T22" fmla="*/ 24 w 24"/>
                  <a:gd name="T23" fmla="*/ 1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8" y="12"/>
                    </a:moveTo>
                    <a:lnTo>
                      <a:pt x="18" y="18"/>
                    </a:lnTo>
                    <a:lnTo>
                      <a:pt x="18" y="18"/>
                    </a:lnTo>
                    <a:lnTo>
                      <a:pt x="0" y="0"/>
                    </a:lnTo>
                    <a:lnTo>
                      <a:pt x="0" y="12"/>
                    </a:lnTo>
                    <a:lnTo>
                      <a:pt x="0" y="24"/>
                    </a:lnTo>
                    <a:lnTo>
                      <a:pt x="18" y="12"/>
                    </a:lnTo>
                    <a:close/>
                    <a:moveTo>
                      <a:pt x="24" y="18"/>
                    </a:moveTo>
                    <a:lnTo>
                      <a:pt x="24" y="18"/>
                    </a:lnTo>
                    <a:lnTo>
                      <a:pt x="18" y="12"/>
                    </a:lnTo>
                    <a:lnTo>
                      <a:pt x="12" y="18"/>
                    </a:lnTo>
                    <a:lnTo>
                      <a:pt x="24" y="18"/>
                    </a:lnTo>
                    <a:close/>
                  </a:path>
                </a:pathLst>
              </a:custGeom>
              <a:solidFill>
                <a:srgbClr val="00FF00"/>
              </a:solidFill>
              <a:ln w="9525">
                <a:solidFill>
                  <a:srgbClr val="00FF00"/>
                </a:solidFill>
                <a:round/>
                <a:headEnd/>
                <a:tailEnd/>
              </a:ln>
            </p:spPr>
            <p:txBody>
              <a:bodyPr/>
              <a:lstStyle/>
              <a:p>
                <a:endParaRPr lang="zh-CN" altLang="en-US"/>
              </a:p>
            </p:txBody>
          </p:sp>
          <p:sp>
            <p:nvSpPr>
              <p:cNvPr id="51288" name="Freeform 88"/>
              <p:cNvSpPr>
                <a:spLocks noEditPoints="1"/>
              </p:cNvSpPr>
              <p:nvPr/>
            </p:nvSpPr>
            <p:spPr bwMode="auto">
              <a:xfrm>
                <a:off x="4561" y="2423"/>
                <a:ext cx="24" cy="24"/>
              </a:xfrm>
              <a:custGeom>
                <a:avLst/>
                <a:gdLst>
                  <a:gd name="T0" fmla="*/ 18 w 24"/>
                  <a:gd name="T1" fmla="*/ 24 h 24"/>
                  <a:gd name="T2" fmla="*/ 24 w 24"/>
                  <a:gd name="T3" fmla="*/ 18 h 24"/>
                  <a:gd name="T4" fmla="*/ 24 w 24"/>
                  <a:gd name="T5" fmla="*/ 12 h 24"/>
                  <a:gd name="T6" fmla="*/ 18 w 24"/>
                  <a:gd name="T7" fmla="*/ 6 h 24"/>
                  <a:gd name="T8" fmla="*/ 12 w 24"/>
                  <a:gd name="T9" fmla="*/ 0 h 24"/>
                  <a:gd name="T10" fmla="*/ 0 w 24"/>
                  <a:gd name="T11" fmla="*/ 18 h 24"/>
                  <a:gd name="T12" fmla="*/ 0 w 24"/>
                  <a:gd name="T13" fmla="*/ 18 h 24"/>
                  <a:gd name="T14" fmla="*/ 0 w 24"/>
                  <a:gd name="T15" fmla="*/ 18 h 24"/>
                  <a:gd name="T16" fmla="*/ 0 w 24"/>
                  <a:gd name="T17" fmla="*/ 6 h 24"/>
                  <a:gd name="T18" fmla="*/ 18 w 24"/>
                  <a:gd name="T19" fmla="*/ 24 h 24"/>
                  <a:gd name="T20" fmla="*/ 0 w 24"/>
                  <a:gd name="T21" fmla="*/ 6 h 24"/>
                  <a:gd name="T22" fmla="*/ 0 w 24"/>
                  <a:gd name="T23" fmla="*/ 6 h 24"/>
                  <a:gd name="T24" fmla="*/ 0 w 24"/>
                  <a:gd name="T25" fmla="*/ 6 h 24"/>
                  <a:gd name="T26" fmla="*/ 12 w 24"/>
                  <a:gd name="T27" fmla="*/ 18 h 24"/>
                  <a:gd name="T28" fmla="*/ 0 w 24"/>
                  <a:gd name="T29"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4">
                    <a:moveTo>
                      <a:pt x="18" y="24"/>
                    </a:moveTo>
                    <a:lnTo>
                      <a:pt x="24" y="18"/>
                    </a:lnTo>
                    <a:lnTo>
                      <a:pt x="24" y="12"/>
                    </a:lnTo>
                    <a:lnTo>
                      <a:pt x="18" y="6"/>
                    </a:lnTo>
                    <a:lnTo>
                      <a:pt x="12" y="0"/>
                    </a:lnTo>
                    <a:lnTo>
                      <a:pt x="0" y="18"/>
                    </a:lnTo>
                    <a:lnTo>
                      <a:pt x="0" y="18"/>
                    </a:lnTo>
                    <a:lnTo>
                      <a:pt x="0" y="18"/>
                    </a:lnTo>
                    <a:lnTo>
                      <a:pt x="0" y="6"/>
                    </a:lnTo>
                    <a:lnTo>
                      <a:pt x="18" y="24"/>
                    </a:lnTo>
                    <a:close/>
                    <a:moveTo>
                      <a:pt x="0" y="6"/>
                    </a:moveTo>
                    <a:lnTo>
                      <a:pt x="0" y="6"/>
                    </a:lnTo>
                    <a:lnTo>
                      <a:pt x="0" y="6"/>
                    </a:lnTo>
                    <a:lnTo>
                      <a:pt x="12" y="18"/>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289" name="Freeform 89"/>
              <p:cNvSpPr>
                <a:spLocks noEditPoints="1"/>
              </p:cNvSpPr>
              <p:nvPr/>
            </p:nvSpPr>
            <p:spPr bwMode="auto">
              <a:xfrm>
                <a:off x="4555" y="2417"/>
                <a:ext cx="18" cy="24"/>
              </a:xfrm>
              <a:custGeom>
                <a:avLst/>
                <a:gdLst>
                  <a:gd name="T0" fmla="*/ 18 w 18"/>
                  <a:gd name="T1" fmla="*/ 6 h 24"/>
                  <a:gd name="T2" fmla="*/ 12 w 18"/>
                  <a:gd name="T3" fmla="*/ 6 h 24"/>
                  <a:gd name="T4" fmla="*/ 0 w 18"/>
                  <a:gd name="T5" fmla="*/ 0 h 24"/>
                  <a:gd name="T6" fmla="*/ 6 w 18"/>
                  <a:gd name="T7" fmla="*/ 24 h 24"/>
                  <a:gd name="T8" fmla="*/ 6 w 18"/>
                  <a:gd name="T9" fmla="*/ 24 h 24"/>
                  <a:gd name="T10" fmla="*/ 18 w 18"/>
                  <a:gd name="T11" fmla="*/ 6 h 24"/>
                  <a:gd name="T12" fmla="*/ 6 w 18"/>
                  <a:gd name="T13" fmla="*/ 24 h 24"/>
                  <a:gd name="T14" fmla="*/ 6 w 18"/>
                  <a:gd name="T15" fmla="*/ 24 h 24"/>
                  <a:gd name="T16" fmla="*/ 6 w 18"/>
                  <a:gd name="T17" fmla="*/ 24 h 24"/>
                  <a:gd name="T18" fmla="*/ 12 w 18"/>
                  <a:gd name="T19" fmla="*/ 18 h 24"/>
                  <a:gd name="T20" fmla="*/ 6 w 18"/>
                  <a:gd name="T2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24">
                    <a:moveTo>
                      <a:pt x="18" y="6"/>
                    </a:moveTo>
                    <a:lnTo>
                      <a:pt x="12" y="6"/>
                    </a:lnTo>
                    <a:lnTo>
                      <a:pt x="0" y="0"/>
                    </a:lnTo>
                    <a:lnTo>
                      <a:pt x="6" y="24"/>
                    </a:lnTo>
                    <a:lnTo>
                      <a:pt x="6" y="24"/>
                    </a:lnTo>
                    <a:lnTo>
                      <a:pt x="18" y="6"/>
                    </a:lnTo>
                    <a:close/>
                    <a:moveTo>
                      <a:pt x="6" y="24"/>
                    </a:moveTo>
                    <a:lnTo>
                      <a:pt x="6" y="24"/>
                    </a:lnTo>
                    <a:lnTo>
                      <a:pt x="6" y="24"/>
                    </a:lnTo>
                    <a:lnTo>
                      <a:pt x="12" y="18"/>
                    </a:lnTo>
                    <a:lnTo>
                      <a:pt x="6" y="24"/>
                    </a:lnTo>
                    <a:close/>
                  </a:path>
                </a:pathLst>
              </a:custGeom>
              <a:solidFill>
                <a:srgbClr val="00FF00"/>
              </a:solidFill>
              <a:ln w="9525">
                <a:solidFill>
                  <a:srgbClr val="00FF00"/>
                </a:solidFill>
                <a:round/>
                <a:headEnd/>
                <a:tailEnd/>
              </a:ln>
            </p:spPr>
            <p:txBody>
              <a:bodyPr/>
              <a:lstStyle/>
              <a:p>
                <a:endParaRPr lang="zh-CN" altLang="en-US"/>
              </a:p>
            </p:txBody>
          </p:sp>
          <p:sp>
            <p:nvSpPr>
              <p:cNvPr id="51290" name="Freeform 90"/>
              <p:cNvSpPr>
                <a:spLocks noEditPoints="1"/>
              </p:cNvSpPr>
              <p:nvPr/>
            </p:nvSpPr>
            <p:spPr bwMode="auto">
              <a:xfrm>
                <a:off x="4549" y="2417"/>
                <a:ext cx="24" cy="18"/>
              </a:xfrm>
              <a:custGeom>
                <a:avLst/>
                <a:gdLst>
                  <a:gd name="T0" fmla="*/ 0 w 24"/>
                  <a:gd name="T1" fmla="*/ 18 h 18"/>
                  <a:gd name="T2" fmla="*/ 0 w 24"/>
                  <a:gd name="T3" fmla="*/ 18 h 18"/>
                  <a:gd name="T4" fmla="*/ 24 w 24"/>
                  <a:gd name="T5" fmla="*/ 18 h 18"/>
                  <a:gd name="T6" fmla="*/ 24 w 24"/>
                  <a:gd name="T7" fmla="*/ 12 h 18"/>
                  <a:gd name="T8" fmla="*/ 0 w 24"/>
                  <a:gd name="T9" fmla="*/ 18 h 18"/>
                  <a:gd name="T10" fmla="*/ 6 w 24"/>
                  <a:gd name="T11" fmla="*/ 0 h 18"/>
                  <a:gd name="T12" fmla="*/ 0 w 24"/>
                  <a:gd name="T13" fmla="*/ 6 h 18"/>
                  <a:gd name="T14" fmla="*/ 0 w 24"/>
                  <a:gd name="T15" fmla="*/ 18 h 18"/>
                  <a:gd name="T16" fmla="*/ 12 w 24"/>
                  <a:gd name="T17" fmla="*/ 12 h 18"/>
                  <a:gd name="T18" fmla="*/ 6 w 24"/>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0" y="18"/>
                    </a:moveTo>
                    <a:lnTo>
                      <a:pt x="0" y="18"/>
                    </a:lnTo>
                    <a:lnTo>
                      <a:pt x="24" y="18"/>
                    </a:lnTo>
                    <a:lnTo>
                      <a:pt x="24" y="12"/>
                    </a:lnTo>
                    <a:lnTo>
                      <a:pt x="0" y="18"/>
                    </a:lnTo>
                    <a:close/>
                    <a:moveTo>
                      <a:pt x="6" y="0"/>
                    </a:moveTo>
                    <a:lnTo>
                      <a:pt x="0" y="6"/>
                    </a:lnTo>
                    <a:lnTo>
                      <a:pt x="0" y="18"/>
                    </a:lnTo>
                    <a:lnTo>
                      <a:pt x="12"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291" name="Freeform 91"/>
              <p:cNvSpPr>
                <a:spLocks/>
              </p:cNvSpPr>
              <p:nvPr/>
            </p:nvSpPr>
            <p:spPr bwMode="auto">
              <a:xfrm>
                <a:off x="4549" y="2435"/>
                <a:ext cx="12" cy="12"/>
              </a:xfrm>
              <a:custGeom>
                <a:avLst/>
                <a:gdLst>
                  <a:gd name="T0" fmla="*/ 0 w 12"/>
                  <a:gd name="T1" fmla="*/ 0 h 12"/>
                  <a:gd name="T2" fmla="*/ 0 w 12"/>
                  <a:gd name="T3" fmla="*/ 6 h 12"/>
                  <a:gd name="T4" fmla="*/ 6 w 12"/>
                  <a:gd name="T5" fmla="*/ 12 h 12"/>
                  <a:gd name="T6" fmla="*/ 12 w 12"/>
                  <a:gd name="T7" fmla="*/ 0 h 12"/>
                  <a:gd name="T8" fmla="*/ 0 w 12"/>
                  <a:gd name="T9" fmla="*/ 0 h 12"/>
                </a:gdLst>
                <a:ahLst/>
                <a:cxnLst>
                  <a:cxn ang="0">
                    <a:pos x="T0" y="T1"/>
                  </a:cxn>
                  <a:cxn ang="0">
                    <a:pos x="T2" y="T3"/>
                  </a:cxn>
                  <a:cxn ang="0">
                    <a:pos x="T4" y="T5"/>
                  </a:cxn>
                  <a:cxn ang="0">
                    <a:pos x="T6" y="T7"/>
                  </a:cxn>
                  <a:cxn ang="0">
                    <a:pos x="T8" y="T9"/>
                  </a:cxn>
                </a:cxnLst>
                <a:rect l="0" t="0" r="r" b="b"/>
                <a:pathLst>
                  <a:path w="12" h="12">
                    <a:moveTo>
                      <a:pt x="0" y="0"/>
                    </a:moveTo>
                    <a:lnTo>
                      <a:pt x="0" y="6"/>
                    </a:lnTo>
                    <a:lnTo>
                      <a:pt x="6" y="12"/>
                    </a:lnTo>
                    <a:lnTo>
                      <a:pt x="12" y="0"/>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51292" name="Freeform 92"/>
              <p:cNvSpPr>
                <a:spLocks/>
              </p:cNvSpPr>
              <p:nvPr/>
            </p:nvSpPr>
            <p:spPr bwMode="auto">
              <a:xfrm>
                <a:off x="4555" y="2411"/>
                <a:ext cx="48" cy="18"/>
              </a:xfrm>
              <a:custGeom>
                <a:avLst/>
                <a:gdLst>
                  <a:gd name="T0" fmla="*/ 0 w 48"/>
                  <a:gd name="T1" fmla="*/ 18 h 18"/>
                  <a:gd name="T2" fmla="*/ 6 w 48"/>
                  <a:gd name="T3" fmla="*/ 18 h 18"/>
                  <a:gd name="T4" fmla="*/ 18 w 48"/>
                  <a:gd name="T5" fmla="*/ 18 h 18"/>
                  <a:gd name="T6" fmla="*/ 18 w 48"/>
                  <a:gd name="T7" fmla="*/ 18 h 18"/>
                  <a:gd name="T8" fmla="*/ 24 w 48"/>
                  <a:gd name="T9" fmla="*/ 18 h 18"/>
                  <a:gd name="T10" fmla="*/ 30 w 48"/>
                  <a:gd name="T11" fmla="*/ 12 h 18"/>
                  <a:gd name="T12" fmla="*/ 30 w 48"/>
                  <a:gd name="T13" fmla="*/ 6 h 18"/>
                  <a:gd name="T14" fmla="*/ 30 w 48"/>
                  <a:gd name="T15" fmla="*/ 6 h 18"/>
                  <a:gd name="T16" fmla="*/ 36 w 48"/>
                  <a:gd name="T17" fmla="*/ 6 h 18"/>
                  <a:gd name="T18" fmla="*/ 36 w 48"/>
                  <a:gd name="T19" fmla="*/ 6 h 18"/>
                  <a:gd name="T20" fmla="*/ 36 w 48"/>
                  <a:gd name="T21" fmla="*/ 6 h 18"/>
                  <a:gd name="T22" fmla="*/ 42 w 48"/>
                  <a:gd name="T23" fmla="*/ 0 h 18"/>
                  <a:gd name="T24" fmla="*/ 42 w 48"/>
                  <a:gd name="T25" fmla="*/ 0 h 18"/>
                  <a:gd name="T26" fmla="*/ 42 w 48"/>
                  <a:gd name="T27" fmla="*/ 0 h 18"/>
                  <a:gd name="T28" fmla="*/ 48 w 48"/>
                  <a:gd name="T29" fmla="*/ 0 h 18"/>
                  <a:gd name="T30" fmla="*/ 48 w 48"/>
                  <a:gd name="T31" fmla="*/ 0 h 18"/>
                  <a:gd name="T32" fmla="*/ 48 w 48"/>
                  <a:gd name="T33" fmla="*/ 0 h 18"/>
                  <a:gd name="T34" fmla="*/ 42 w 48"/>
                  <a:gd name="T35" fmla="*/ 0 h 18"/>
                  <a:gd name="T36" fmla="*/ 42 w 48"/>
                  <a:gd name="T37" fmla="*/ 0 h 18"/>
                  <a:gd name="T38" fmla="*/ 36 w 48"/>
                  <a:gd name="T39" fmla="*/ 0 h 18"/>
                  <a:gd name="T40" fmla="*/ 36 w 48"/>
                  <a:gd name="T41" fmla="*/ 6 h 18"/>
                  <a:gd name="T42" fmla="*/ 30 w 48"/>
                  <a:gd name="T43" fmla="*/ 6 h 18"/>
                  <a:gd name="T44" fmla="*/ 30 w 48"/>
                  <a:gd name="T45" fmla="*/ 12 h 18"/>
                  <a:gd name="T46" fmla="*/ 24 w 48"/>
                  <a:gd name="T47" fmla="*/ 12 h 18"/>
                  <a:gd name="T48" fmla="*/ 24 w 48"/>
                  <a:gd name="T49" fmla="*/ 12 h 18"/>
                  <a:gd name="T50" fmla="*/ 18 w 48"/>
                  <a:gd name="T51" fmla="*/ 12 h 18"/>
                  <a:gd name="T52" fmla="*/ 12 w 48"/>
                  <a:gd name="T53" fmla="*/ 12 h 18"/>
                  <a:gd name="T54" fmla="*/ 6 w 48"/>
                  <a:gd name="T55" fmla="*/ 12 h 18"/>
                  <a:gd name="T56" fmla="*/ 0 w 48"/>
                  <a:gd name="T57" fmla="*/ 18 h 18"/>
                  <a:gd name="T58" fmla="*/ 0 w 48"/>
                  <a:gd name="T59"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8" h="18">
                    <a:moveTo>
                      <a:pt x="0" y="18"/>
                    </a:moveTo>
                    <a:lnTo>
                      <a:pt x="6" y="18"/>
                    </a:lnTo>
                    <a:lnTo>
                      <a:pt x="18" y="18"/>
                    </a:lnTo>
                    <a:lnTo>
                      <a:pt x="18" y="18"/>
                    </a:lnTo>
                    <a:lnTo>
                      <a:pt x="24" y="18"/>
                    </a:lnTo>
                    <a:lnTo>
                      <a:pt x="30" y="12"/>
                    </a:lnTo>
                    <a:lnTo>
                      <a:pt x="30" y="6"/>
                    </a:lnTo>
                    <a:lnTo>
                      <a:pt x="30" y="6"/>
                    </a:lnTo>
                    <a:lnTo>
                      <a:pt x="36" y="6"/>
                    </a:lnTo>
                    <a:lnTo>
                      <a:pt x="36" y="6"/>
                    </a:lnTo>
                    <a:lnTo>
                      <a:pt x="36" y="6"/>
                    </a:lnTo>
                    <a:lnTo>
                      <a:pt x="42" y="0"/>
                    </a:lnTo>
                    <a:lnTo>
                      <a:pt x="42" y="0"/>
                    </a:lnTo>
                    <a:lnTo>
                      <a:pt x="42" y="0"/>
                    </a:lnTo>
                    <a:lnTo>
                      <a:pt x="48" y="0"/>
                    </a:lnTo>
                    <a:lnTo>
                      <a:pt x="48" y="0"/>
                    </a:lnTo>
                    <a:lnTo>
                      <a:pt x="48" y="0"/>
                    </a:lnTo>
                    <a:lnTo>
                      <a:pt x="42" y="0"/>
                    </a:lnTo>
                    <a:lnTo>
                      <a:pt x="42" y="0"/>
                    </a:lnTo>
                    <a:lnTo>
                      <a:pt x="36" y="0"/>
                    </a:lnTo>
                    <a:lnTo>
                      <a:pt x="36" y="6"/>
                    </a:lnTo>
                    <a:lnTo>
                      <a:pt x="30" y="6"/>
                    </a:lnTo>
                    <a:lnTo>
                      <a:pt x="30" y="12"/>
                    </a:lnTo>
                    <a:lnTo>
                      <a:pt x="24" y="12"/>
                    </a:lnTo>
                    <a:lnTo>
                      <a:pt x="24" y="12"/>
                    </a:lnTo>
                    <a:lnTo>
                      <a:pt x="18" y="12"/>
                    </a:lnTo>
                    <a:lnTo>
                      <a:pt x="12" y="12"/>
                    </a:lnTo>
                    <a:lnTo>
                      <a:pt x="6" y="12"/>
                    </a:lnTo>
                    <a:lnTo>
                      <a:pt x="0" y="18"/>
                    </a:lnTo>
                    <a:lnTo>
                      <a:pt x="0" y="18"/>
                    </a:lnTo>
                    <a:close/>
                  </a:path>
                </a:pathLst>
              </a:custGeom>
              <a:solidFill>
                <a:srgbClr val="00FF00"/>
              </a:solidFill>
              <a:ln w="9525">
                <a:solidFill>
                  <a:srgbClr val="00FF00"/>
                </a:solidFill>
                <a:round/>
                <a:headEnd/>
                <a:tailEnd/>
              </a:ln>
            </p:spPr>
            <p:txBody>
              <a:bodyPr/>
              <a:lstStyle/>
              <a:p>
                <a:endParaRPr lang="zh-CN" altLang="en-US"/>
              </a:p>
            </p:txBody>
          </p:sp>
          <p:sp>
            <p:nvSpPr>
              <p:cNvPr id="51293" name="Freeform 93"/>
              <p:cNvSpPr>
                <a:spLocks/>
              </p:cNvSpPr>
              <p:nvPr/>
            </p:nvSpPr>
            <p:spPr bwMode="auto">
              <a:xfrm>
                <a:off x="4555" y="2417"/>
                <a:ext cx="24" cy="24"/>
              </a:xfrm>
              <a:custGeom>
                <a:avLst/>
                <a:gdLst>
                  <a:gd name="T0" fmla="*/ 0 w 24"/>
                  <a:gd name="T1" fmla="*/ 24 h 24"/>
                  <a:gd name="T2" fmla="*/ 6 w 24"/>
                  <a:gd name="T3" fmla="*/ 24 h 24"/>
                  <a:gd name="T4" fmla="*/ 18 w 24"/>
                  <a:gd name="T5" fmla="*/ 24 h 24"/>
                  <a:gd name="T6" fmla="*/ 24 w 24"/>
                  <a:gd name="T7" fmla="*/ 18 h 24"/>
                  <a:gd name="T8" fmla="*/ 6 w 24"/>
                  <a:gd name="T9" fmla="*/ 6 h 24"/>
                  <a:gd name="T10" fmla="*/ 12 w 24"/>
                  <a:gd name="T11" fmla="*/ 0 h 24"/>
                  <a:gd name="T12" fmla="*/ 6 w 24"/>
                  <a:gd name="T13" fmla="*/ 0 h 24"/>
                  <a:gd name="T14" fmla="*/ 6 w 24"/>
                  <a:gd name="T15" fmla="*/ 0 h 24"/>
                  <a:gd name="T16" fmla="*/ 6 w 24"/>
                  <a:gd name="T17" fmla="*/ 0 h 24"/>
                  <a:gd name="T18" fmla="*/ 0 w 24"/>
                  <a:gd name="T1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24"/>
                    </a:moveTo>
                    <a:lnTo>
                      <a:pt x="6" y="24"/>
                    </a:lnTo>
                    <a:lnTo>
                      <a:pt x="18" y="24"/>
                    </a:lnTo>
                    <a:lnTo>
                      <a:pt x="24" y="18"/>
                    </a:lnTo>
                    <a:lnTo>
                      <a:pt x="6" y="6"/>
                    </a:lnTo>
                    <a:lnTo>
                      <a:pt x="12" y="0"/>
                    </a:lnTo>
                    <a:lnTo>
                      <a:pt x="6" y="0"/>
                    </a:lnTo>
                    <a:lnTo>
                      <a:pt x="6" y="0"/>
                    </a:lnTo>
                    <a:lnTo>
                      <a:pt x="6" y="0"/>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51294" name="Freeform 94"/>
              <p:cNvSpPr>
                <a:spLocks noEditPoints="1"/>
              </p:cNvSpPr>
              <p:nvPr/>
            </p:nvSpPr>
            <p:spPr bwMode="auto">
              <a:xfrm>
                <a:off x="4561" y="2417"/>
                <a:ext cx="24" cy="24"/>
              </a:xfrm>
              <a:custGeom>
                <a:avLst/>
                <a:gdLst>
                  <a:gd name="T0" fmla="*/ 12 w 24"/>
                  <a:gd name="T1" fmla="*/ 24 h 24"/>
                  <a:gd name="T2" fmla="*/ 18 w 24"/>
                  <a:gd name="T3" fmla="*/ 24 h 24"/>
                  <a:gd name="T4" fmla="*/ 24 w 24"/>
                  <a:gd name="T5" fmla="*/ 18 h 24"/>
                  <a:gd name="T6" fmla="*/ 6 w 24"/>
                  <a:gd name="T7" fmla="*/ 6 h 24"/>
                  <a:gd name="T8" fmla="*/ 12 w 24"/>
                  <a:gd name="T9" fmla="*/ 0 h 24"/>
                  <a:gd name="T10" fmla="*/ 12 w 24"/>
                  <a:gd name="T11" fmla="*/ 0 h 24"/>
                  <a:gd name="T12" fmla="*/ 12 w 24"/>
                  <a:gd name="T13" fmla="*/ 24 h 24"/>
                  <a:gd name="T14" fmla="*/ 12 w 24"/>
                  <a:gd name="T15" fmla="*/ 0 h 24"/>
                  <a:gd name="T16" fmla="*/ 6 w 24"/>
                  <a:gd name="T17" fmla="*/ 0 h 24"/>
                  <a:gd name="T18" fmla="*/ 0 w 24"/>
                  <a:gd name="T19" fmla="*/ 6 h 24"/>
                  <a:gd name="T20" fmla="*/ 12 w 24"/>
                  <a:gd name="T21" fmla="*/ 12 h 24"/>
                  <a:gd name="T22" fmla="*/ 12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2" y="24"/>
                    </a:moveTo>
                    <a:lnTo>
                      <a:pt x="18" y="24"/>
                    </a:lnTo>
                    <a:lnTo>
                      <a:pt x="24" y="18"/>
                    </a:lnTo>
                    <a:lnTo>
                      <a:pt x="6" y="6"/>
                    </a:lnTo>
                    <a:lnTo>
                      <a:pt x="12" y="0"/>
                    </a:lnTo>
                    <a:lnTo>
                      <a:pt x="12" y="0"/>
                    </a:lnTo>
                    <a:lnTo>
                      <a:pt x="12" y="24"/>
                    </a:lnTo>
                    <a:close/>
                    <a:moveTo>
                      <a:pt x="12" y="0"/>
                    </a:moveTo>
                    <a:lnTo>
                      <a:pt x="6" y="0"/>
                    </a:lnTo>
                    <a:lnTo>
                      <a:pt x="0" y="6"/>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295" name="Freeform 95"/>
              <p:cNvSpPr>
                <a:spLocks noEditPoints="1"/>
              </p:cNvSpPr>
              <p:nvPr/>
            </p:nvSpPr>
            <p:spPr bwMode="auto">
              <a:xfrm>
                <a:off x="4567" y="2411"/>
                <a:ext cx="30" cy="24"/>
              </a:xfrm>
              <a:custGeom>
                <a:avLst/>
                <a:gdLst>
                  <a:gd name="T0" fmla="*/ 18 w 30"/>
                  <a:gd name="T1" fmla="*/ 24 h 24"/>
                  <a:gd name="T2" fmla="*/ 24 w 30"/>
                  <a:gd name="T3" fmla="*/ 24 h 24"/>
                  <a:gd name="T4" fmla="*/ 24 w 30"/>
                  <a:gd name="T5" fmla="*/ 18 h 24"/>
                  <a:gd name="T6" fmla="*/ 30 w 30"/>
                  <a:gd name="T7" fmla="*/ 6 h 24"/>
                  <a:gd name="T8" fmla="*/ 6 w 30"/>
                  <a:gd name="T9" fmla="*/ 6 h 24"/>
                  <a:gd name="T10" fmla="*/ 6 w 30"/>
                  <a:gd name="T11" fmla="*/ 0 h 24"/>
                  <a:gd name="T12" fmla="*/ 6 w 30"/>
                  <a:gd name="T13" fmla="*/ 0 h 24"/>
                  <a:gd name="T14" fmla="*/ 0 w 30"/>
                  <a:gd name="T15" fmla="*/ 6 h 24"/>
                  <a:gd name="T16" fmla="*/ 18 w 30"/>
                  <a:gd name="T17" fmla="*/ 24 h 24"/>
                  <a:gd name="T18" fmla="*/ 0 w 30"/>
                  <a:gd name="T19" fmla="*/ 6 h 24"/>
                  <a:gd name="T20" fmla="*/ 0 w 30"/>
                  <a:gd name="T21" fmla="*/ 6 h 24"/>
                  <a:gd name="T22" fmla="*/ 0 w 30"/>
                  <a:gd name="T23" fmla="*/ 12 h 24"/>
                  <a:gd name="T24" fmla="*/ 12 w 30"/>
                  <a:gd name="T25" fmla="*/ 18 h 24"/>
                  <a:gd name="T26" fmla="*/ 0 w 30"/>
                  <a:gd name="T27"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24">
                    <a:moveTo>
                      <a:pt x="18" y="24"/>
                    </a:moveTo>
                    <a:lnTo>
                      <a:pt x="24" y="24"/>
                    </a:lnTo>
                    <a:lnTo>
                      <a:pt x="24" y="18"/>
                    </a:lnTo>
                    <a:lnTo>
                      <a:pt x="30" y="6"/>
                    </a:lnTo>
                    <a:lnTo>
                      <a:pt x="6" y="6"/>
                    </a:lnTo>
                    <a:lnTo>
                      <a:pt x="6" y="0"/>
                    </a:lnTo>
                    <a:lnTo>
                      <a:pt x="6" y="0"/>
                    </a:lnTo>
                    <a:lnTo>
                      <a:pt x="0" y="6"/>
                    </a:lnTo>
                    <a:lnTo>
                      <a:pt x="18" y="24"/>
                    </a:lnTo>
                    <a:close/>
                    <a:moveTo>
                      <a:pt x="0" y="6"/>
                    </a:moveTo>
                    <a:lnTo>
                      <a:pt x="0" y="6"/>
                    </a:lnTo>
                    <a:lnTo>
                      <a:pt x="0" y="12"/>
                    </a:lnTo>
                    <a:lnTo>
                      <a:pt x="12" y="18"/>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296" name="Freeform 96"/>
              <p:cNvSpPr>
                <a:spLocks noEditPoints="1"/>
              </p:cNvSpPr>
              <p:nvPr/>
            </p:nvSpPr>
            <p:spPr bwMode="auto">
              <a:xfrm>
                <a:off x="4573" y="2405"/>
                <a:ext cx="18" cy="24"/>
              </a:xfrm>
              <a:custGeom>
                <a:avLst/>
                <a:gdLst>
                  <a:gd name="T0" fmla="*/ 12 w 18"/>
                  <a:gd name="T1" fmla="*/ 24 h 24"/>
                  <a:gd name="T2" fmla="*/ 18 w 18"/>
                  <a:gd name="T3" fmla="*/ 24 h 24"/>
                  <a:gd name="T4" fmla="*/ 18 w 18"/>
                  <a:gd name="T5" fmla="*/ 24 h 24"/>
                  <a:gd name="T6" fmla="*/ 18 w 18"/>
                  <a:gd name="T7" fmla="*/ 24 h 24"/>
                  <a:gd name="T8" fmla="*/ 12 w 18"/>
                  <a:gd name="T9" fmla="*/ 0 h 24"/>
                  <a:gd name="T10" fmla="*/ 12 w 18"/>
                  <a:gd name="T11" fmla="*/ 0 h 24"/>
                  <a:gd name="T12" fmla="*/ 12 w 18"/>
                  <a:gd name="T13" fmla="*/ 0 h 24"/>
                  <a:gd name="T14" fmla="*/ 12 w 18"/>
                  <a:gd name="T15" fmla="*/ 24 h 24"/>
                  <a:gd name="T16" fmla="*/ 12 w 18"/>
                  <a:gd name="T17" fmla="*/ 0 h 24"/>
                  <a:gd name="T18" fmla="*/ 0 w 18"/>
                  <a:gd name="T19" fmla="*/ 6 h 24"/>
                  <a:gd name="T20" fmla="*/ 0 w 18"/>
                  <a:gd name="T21" fmla="*/ 12 h 24"/>
                  <a:gd name="T22" fmla="*/ 12 w 18"/>
                  <a:gd name="T23" fmla="*/ 12 h 24"/>
                  <a:gd name="T24" fmla="*/ 12 w 18"/>
                  <a:gd name="T25"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24">
                    <a:moveTo>
                      <a:pt x="12" y="24"/>
                    </a:moveTo>
                    <a:lnTo>
                      <a:pt x="18" y="24"/>
                    </a:lnTo>
                    <a:lnTo>
                      <a:pt x="18" y="24"/>
                    </a:lnTo>
                    <a:lnTo>
                      <a:pt x="18" y="24"/>
                    </a:lnTo>
                    <a:lnTo>
                      <a:pt x="12" y="0"/>
                    </a:lnTo>
                    <a:lnTo>
                      <a:pt x="12" y="0"/>
                    </a:lnTo>
                    <a:lnTo>
                      <a:pt x="12" y="0"/>
                    </a:lnTo>
                    <a:lnTo>
                      <a:pt x="12" y="24"/>
                    </a:lnTo>
                    <a:close/>
                    <a:moveTo>
                      <a:pt x="12" y="0"/>
                    </a:moveTo>
                    <a:lnTo>
                      <a:pt x="0" y="6"/>
                    </a:lnTo>
                    <a:lnTo>
                      <a:pt x="0" y="12"/>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297" name="Freeform 97"/>
              <p:cNvSpPr>
                <a:spLocks noEditPoints="1"/>
              </p:cNvSpPr>
              <p:nvPr/>
            </p:nvSpPr>
            <p:spPr bwMode="auto">
              <a:xfrm>
                <a:off x="4579" y="2405"/>
                <a:ext cx="18" cy="24"/>
              </a:xfrm>
              <a:custGeom>
                <a:avLst/>
                <a:gdLst>
                  <a:gd name="T0" fmla="*/ 18 w 18"/>
                  <a:gd name="T1" fmla="*/ 24 h 24"/>
                  <a:gd name="T2" fmla="*/ 18 w 18"/>
                  <a:gd name="T3" fmla="*/ 24 h 24"/>
                  <a:gd name="T4" fmla="*/ 12 w 18"/>
                  <a:gd name="T5" fmla="*/ 24 h 24"/>
                  <a:gd name="T6" fmla="*/ 6 w 18"/>
                  <a:gd name="T7" fmla="*/ 0 h 24"/>
                  <a:gd name="T8" fmla="*/ 6 w 18"/>
                  <a:gd name="T9" fmla="*/ 0 h 24"/>
                  <a:gd name="T10" fmla="*/ 0 w 18"/>
                  <a:gd name="T11" fmla="*/ 0 h 24"/>
                  <a:gd name="T12" fmla="*/ 18 w 18"/>
                  <a:gd name="T13" fmla="*/ 24 h 24"/>
                  <a:gd name="T14" fmla="*/ 12 w 18"/>
                  <a:gd name="T15" fmla="*/ 24 h 24"/>
                  <a:gd name="T16" fmla="*/ 18 w 18"/>
                  <a:gd name="T17" fmla="*/ 24 h 24"/>
                  <a:gd name="T18" fmla="*/ 18 w 18"/>
                  <a:gd name="T19" fmla="*/ 24 h 24"/>
                  <a:gd name="T20" fmla="*/ 6 w 18"/>
                  <a:gd name="T21" fmla="*/ 12 h 24"/>
                  <a:gd name="T22" fmla="*/ 12 w 18"/>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18" y="24"/>
                    </a:moveTo>
                    <a:lnTo>
                      <a:pt x="18" y="24"/>
                    </a:lnTo>
                    <a:lnTo>
                      <a:pt x="12" y="24"/>
                    </a:lnTo>
                    <a:lnTo>
                      <a:pt x="6" y="0"/>
                    </a:lnTo>
                    <a:lnTo>
                      <a:pt x="6" y="0"/>
                    </a:lnTo>
                    <a:lnTo>
                      <a:pt x="0" y="0"/>
                    </a:lnTo>
                    <a:lnTo>
                      <a:pt x="18" y="24"/>
                    </a:lnTo>
                    <a:close/>
                    <a:moveTo>
                      <a:pt x="12" y="24"/>
                    </a:moveTo>
                    <a:lnTo>
                      <a:pt x="18" y="24"/>
                    </a:lnTo>
                    <a:lnTo>
                      <a:pt x="18" y="24"/>
                    </a:lnTo>
                    <a:lnTo>
                      <a:pt x="6" y="12"/>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51298" name="Freeform 98"/>
              <p:cNvSpPr>
                <a:spLocks noEditPoints="1"/>
              </p:cNvSpPr>
              <p:nvPr/>
            </p:nvSpPr>
            <p:spPr bwMode="auto">
              <a:xfrm>
                <a:off x="4585" y="2405"/>
                <a:ext cx="12" cy="24"/>
              </a:xfrm>
              <a:custGeom>
                <a:avLst/>
                <a:gdLst>
                  <a:gd name="T0" fmla="*/ 6 w 12"/>
                  <a:gd name="T1" fmla="*/ 24 h 24"/>
                  <a:gd name="T2" fmla="*/ 12 w 12"/>
                  <a:gd name="T3" fmla="*/ 24 h 24"/>
                  <a:gd name="T4" fmla="*/ 12 w 12"/>
                  <a:gd name="T5" fmla="*/ 18 h 24"/>
                  <a:gd name="T6" fmla="*/ 6 w 12"/>
                  <a:gd name="T7" fmla="*/ 0 h 24"/>
                  <a:gd name="T8" fmla="*/ 6 w 12"/>
                  <a:gd name="T9" fmla="*/ 0 h 24"/>
                  <a:gd name="T10" fmla="*/ 6 w 12"/>
                  <a:gd name="T11" fmla="*/ 0 h 24"/>
                  <a:gd name="T12" fmla="*/ 6 w 12"/>
                  <a:gd name="T13" fmla="*/ 24 h 24"/>
                  <a:gd name="T14" fmla="*/ 6 w 12"/>
                  <a:gd name="T15" fmla="*/ 0 h 24"/>
                  <a:gd name="T16" fmla="*/ 0 w 12"/>
                  <a:gd name="T17" fmla="*/ 0 h 24"/>
                  <a:gd name="T18" fmla="*/ 0 w 12"/>
                  <a:gd name="T19" fmla="*/ 0 h 24"/>
                  <a:gd name="T20" fmla="*/ 6 w 12"/>
                  <a:gd name="T21" fmla="*/ 12 h 24"/>
                  <a:gd name="T22" fmla="*/ 6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6" y="24"/>
                    </a:moveTo>
                    <a:lnTo>
                      <a:pt x="12" y="24"/>
                    </a:lnTo>
                    <a:lnTo>
                      <a:pt x="12" y="18"/>
                    </a:lnTo>
                    <a:lnTo>
                      <a:pt x="6" y="0"/>
                    </a:lnTo>
                    <a:lnTo>
                      <a:pt x="6" y="0"/>
                    </a:lnTo>
                    <a:lnTo>
                      <a:pt x="6" y="0"/>
                    </a:lnTo>
                    <a:lnTo>
                      <a:pt x="6" y="24"/>
                    </a:lnTo>
                    <a:close/>
                    <a:moveTo>
                      <a:pt x="6" y="0"/>
                    </a:moveTo>
                    <a:lnTo>
                      <a:pt x="0" y="0"/>
                    </a:lnTo>
                    <a:lnTo>
                      <a:pt x="0" y="0"/>
                    </a:lnTo>
                    <a:lnTo>
                      <a:pt x="6"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299" name="Freeform 99"/>
              <p:cNvSpPr>
                <a:spLocks noEditPoints="1"/>
              </p:cNvSpPr>
              <p:nvPr/>
            </p:nvSpPr>
            <p:spPr bwMode="auto">
              <a:xfrm>
                <a:off x="4585" y="2400"/>
                <a:ext cx="18" cy="23"/>
              </a:xfrm>
              <a:custGeom>
                <a:avLst/>
                <a:gdLst>
                  <a:gd name="T0" fmla="*/ 12 w 18"/>
                  <a:gd name="T1" fmla="*/ 23 h 23"/>
                  <a:gd name="T2" fmla="*/ 18 w 18"/>
                  <a:gd name="T3" fmla="*/ 23 h 23"/>
                  <a:gd name="T4" fmla="*/ 18 w 18"/>
                  <a:gd name="T5" fmla="*/ 23 h 23"/>
                  <a:gd name="T6" fmla="*/ 18 w 18"/>
                  <a:gd name="T7" fmla="*/ 23 h 23"/>
                  <a:gd name="T8" fmla="*/ 18 w 18"/>
                  <a:gd name="T9" fmla="*/ 23 h 23"/>
                  <a:gd name="T10" fmla="*/ 18 w 18"/>
                  <a:gd name="T11" fmla="*/ 23 h 23"/>
                  <a:gd name="T12" fmla="*/ 18 w 18"/>
                  <a:gd name="T13" fmla="*/ 23 h 23"/>
                  <a:gd name="T14" fmla="*/ 6 w 18"/>
                  <a:gd name="T15" fmla="*/ 0 h 23"/>
                  <a:gd name="T16" fmla="*/ 6 w 18"/>
                  <a:gd name="T17" fmla="*/ 0 h 23"/>
                  <a:gd name="T18" fmla="*/ 6 w 18"/>
                  <a:gd name="T19" fmla="*/ 5 h 23"/>
                  <a:gd name="T20" fmla="*/ 6 w 18"/>
                  <a:gd name="T21" fmla="*/ 5 h 23"/>
                  <a:gd name="T22" fmla="*/ 6 w 18"/>
                  <a:gd name="T23" fmla="*/ 5 h 23"/>
                  <a:gd name="T24" fmla="*/ 6 w 18"/>
                  <a:gd name="T25" fmla="*/ 5 h 23"/>
                  <a:gd name="T26" fmla="*/ 6 w 18"/>
                  <a:gd name="T27" fmla="*/ 5 h 23"/>
                  <a:gd name="T28" fmla="*/ 0 w 18"/>
                  <a:gd name="T29" fmla="*/ 5 h 23"/>
                  <a:gd name="T30" fmla="*/ 12 w 18"/>
                  <a:gd name="T31" fmla="*/ 23 h 23"/>
                  <a:gd name="T32" fmla="*/ 6 w 18"/>
                  <a:gd name="T33" fmla="*/ 5 h 23"/>
                  <a:gd name="T34" fmla="*/ 6 w 18"/>
                  <a:gd name="T35" fmla="*/ 5 h 23"/>
                  <a:gd name="T36" fmla="*/ 6 w 18"/>
                  <a:gd name="T37" fmla="*/ 5 h 23"/>
                  <a:gd name="T38" fmla="*/ 6 w 18"/>
                  <a:gd name="T39" fmla="*/ 17 h 23"/>
                  <a:gd name="T40" fmla="*/ 6 w 18"/>
                  <a:gd name="T41" fmla="*/ 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 h="23">
                    <a:moveTo>
                      <a:pt x="12" y="23"/>
                    </a:moveTo>
                    <a:lnTo>
                      <a:pt x="18" y="23"/>
                    </a:lnTo>
                    <a:lnTo>
                      <a:pt x="18" y="23"/>
                    </a:lnTo>
                    <a:lnTo>
                      <a:pt x="18" y="23"/>
                    </a:lnTo>
                    <a:lnTo>
                      <a:pt x="18" y="23"/>
                    </a:lnTo>
                    <a:lnTo>
                      <a:pt x="18" y="23"/>
                    </a:lnTo>
                    <a:lnTo>
                      <a:pt x="18" y="23"/>
                    </a:lnTo>
                    <a:lnTo>
                      <a:pt x="6" y="0"/>
                    </a:lnTo>
                    <a:lnTo>
                      <a:pt x="6" y="0"/>
                    </a:lnTo>
                    <a:lnTo>
                      <a:pt x="6" y="5"/>
                    </a:lnTo>
                    <a:lnTo>
                      <a:pt x="6" y="5"/>
                    </a:lnTo>
                    <a:lnTo>
                      <a:pt x="6" y="5"/>
                    </a:lnTo>
                    <a:lnTo>
                      <a:pt x="6" y="5"/>
                    </a:lnTo>
                    <a:lnTo>
                      <a:pt x="6" y="5"/>
                    </a:lnTo>
                    <a:lnTo>
                      <a:pt x="0" y="5"/>
                    </a:lnTo>
                    <a:lnTo>
                      <a:pt x="12" y="23"/>
                    </a:lnTo>
                    <a:close/>
                    <a:moveTo>
                      <a:pt x="6" y="5"/>
                    </a:moveTo>
                    <a:lnTo>
                      <a:pt x="6" y="5"/>
                    </a:lnTo>
                    <a:lnTo>
                      <a:pt x="6" y="5"/>
                    </a:lnTo>
                    <a:lnTo>
                      <a:pt x="6" y="17"/>
                    </a:lnTo>
                    <a:lnTo>
                      <a:pt x="6" y="5"/>
                    </a:lnTo>
                    <a:close/>
                  </a:path>
                </a:pathLst>
              </a:custGeom>
              <a:solidFill>
                <a:srgbClr val="00FF00"/>
              </a:solidFill>
              <a:ln w="9525">
                <a:solidFill>
                  <a:srgbClr val="00FF00"/>
                </a:solidFill>
                <a:round/>
                <a:headEnd/>
                <a:tailEnd/>
              </a:ln>
            </p:spPr>
            <p:txBody>
              <a:bodyPr/>
              <a:lstStyle/>
              <a:p>
                <a:endParaRPr lang="zh-CN" altLang="en-US"/>
              </a:p>
            </p:txBody>
          </p:sp>
          <p:sp>
            <p:nvSpPr>
              <p:cNvPr id="51300" name="Freeform 100"/>
              <p:cNvSpPr>
                <a:spLocks noEditPoints="1"/>
              </p:cNvSpPr>
              <p:nvPr/>
            </p:nvSpPr>
            <p:spPr bwMode="auto">
              <a:xfrm>
                <a:off x="4591" y="2400"/>
                <a:ext cx="12" cy="23"/>
              </a:xfrm>
              <a:custGeom>
                <a:avLst/>
                <a:gdLst>
                  <a:gd name="T0" fmla="*/ 12 w 12"/>
                  <a:gd name="T1" fmla="*/ 23 h 23"/>
                  <a:gd name="T2" fmla="*/ 12 w 12"/>
                  <a:gd name="T3" fmla="*/ 23 h 23"/>
                  <a:gd name="T4" fmla="*/ 12 w 12"/>
                  <a:gd name="T5" fmla="*/ 23 h 23"/>
                  <a:gd name="T6" fmla="*/ 0 w 12"/>
                  <a:gd name="T7" fmla="*/ 0 h 23"/>
                  <a:gd name="T8" fmla="*/ 0 w 12"/>
                  <a:gd name="T9" fmla="*/ 5 h 23"/>
                  <a:gd name="T10" fmla="*/ 0 w 12"/>
                  <a:gd name="T11" fmla="*/ 5 h 23"/>
                  <a:gd name="T12" fmla="*/ 12 w 12"/>
                  <a:gd name="T13" fmla="*/ 23 h 23"/>
                  <a:gd name="T14" fmla="*/ 12 w 12"/>
                  <a:gd name="T15" fmla="*/ 23 h 23"/>
                  <a:gd name="T16" fmla="*/ 12 w 12"/>
                  <a:gd name="T17" fmla="*/ 23 h 23"/>
                  <a:gd name="T18" fmla="*/ 12 w 12"/>
                  <a:gd name="T19" fmla="*/ 23 h 23"/>
                  <a:gd name="T20" fmla="*/ 6 w 12"/>
                  <a:gd name="T21" fmla="*/ 11 h 23"/>
                  <a:gd name="T22" fmla="*/ 12 w 12"/>
                  <a:gd name="T23"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3">
                    <a:moveTo>
                      <a:pt x="12" y="23"/>
                    </a:moveTo>
                    <a:lnTo>
                      <a:pt x="12" y="23"/>
                    </a:lnTo>
                    <a:lnTo>
                      <a:pt x="12" y="23"/>
                    </a:lnTo>
                    <a:lnTo>
                      <a:pt x="0" y="0"/>
                    </a:lnTo>
                    <a:lnTo>
                      <a:pt x="0" y="5"/>
                    </a:lnTo>
                    <a:lnTo>
                      <a:pt x="0" y="5"/>
                    </a:lnTo>
                    <a:lnTo>
                      <a:pt x="12" y="23"/>
                    </a:lnTo>
                    <a:close/>
                    <a:moveTo>
                      <a:pt x="12" y="23"/>
                    </a:moveTo>
                    <a:lnTo>
                      <a:pt x="12" y="23"/>
                    </a:lnTo>
                    <a:lnTo>
                      <a:pt x="12" y="23"/>
                    </a:lnTo>
                    <a:lnTo>
                      <a:pt x="6" y="11"/>
                    </a:lnTo>
                    <a:lnTo>
                      <a:pt x="12" y="23"/>
                    </a:lnTo>
                    <a:close/>
                  </a:path>
                </a:pathLst>
              </a:custGeom>
              <a:solidFill>
                <a:srgbClr val="00FF00"/>
              </a:solidFill>
              <a:ln w="9525">
                <a:solidFill>
                  <a:srgbClr val="00FF00"/>
                </a:solidFill>
                <a:round/>
                <a:headEnd/>
                <a:tailEnd/>
              </a:ln>
            </p:spPr>
            <p:txBody>
              <a:bodyPr/>
              <a:lstStyle/>
              <a:p>
                <a:endParaRPr lang="zh-CN" altLang="en-US"/>
              </a:p>
            </p:txBody>
          </p:sp>
          <p:sp>
            <p:nvSpPr>
              <p:cNvPr id="51301" name="Freeform 101"/>
              <p:cNvSpPr>
                <a:spLocks noEditPoints="1"/>
              </p:cNvSpPr>
              <p:nvPr/>
            </p:nvSpPr>
            <p:spPr bwMode="auto">
              <a:xfrm>
                <a:off x="4591" y="2400"/>
                <a:ext cx="12" cy="23"/>
              </a:xfrm>
              <a:custGeom>
                <a:avLst/>
                <a:gdLst>
                  <a:gd name="T0" fmla="*/ 12 w 12"/>
                  <a:gd name="T1" fmla="*/ 23 h 23"/>
                  <a:gd name="T2" fmla="*/ 12 w 12"/>
                  <a:gd name="T3" fmla="*/ 23 h 23"/>
                  <a:gd name="T4" fmla="*/ 12 w 12"/>
                  <a:gd name="T5" fmla="*/ 23 h 23"/>
                  <a:gd name="T6" fmla="*/ 6 w 12"/>
                  <a:gd name="T7" fmla="*/ 0 h 23"/>
                  <a:gd name="T8" fmla="*/ 6 w 12"/>
                  <a:gd name="T9" fmla="*/ 0 h 23"/>
                  <a:gd name="T10" fmla="*/ 6 w 12"/>
                  <a:gd name="T11" fmla="*/ 0 h 23"/>
                  <a:gd name="T12" fmla="*/ 12 w 12"/>
                  <a:gd name="T13" fmla="*/ 23 h 23"/>
                  <a:gd name="T14" fmla="*/ 6 w 12"/>
                  <a:gd name="T15" fmla="*/ 0 h 23"/>
                  <a:gd name="T16" fmla="*/ 6 w 12"/>
                  <a:gd name="T17" fmla="*/ 0 h 23"/>
                  <a:gd name="T18" fmla="*/ 0 w 12"/>
                  <a:gd name="T19" fmla="*/ 0 h 23"/>
                  <a:gd name="T20" fmla="*/ 6 w 12"/>
                  <a:gd name="T21" fmla="*/ 11 h 23"/>
                  <a:gd name="T22" fmla="*/ 6 w 12"/>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3">
                    <a:moveTo>
                      <a:pt x="12" y="23"/>
                    </a:moveTo>
                    <a:lnTo>
                      <a:pt x="12" y="23"/>
                    </a:lnTo>
                    <a:lnTo>
                      <a:pt x="12" y="23"/>
                    </a:lnTo>
                    <a:lnTo>
                      <a:pt x="6" y="0"/>
                    </a:lnTo>
                    <a:lnTo>
                      <a:pt x="6" y="0"/>
                    </a:lnTo>
                    <a:lnTo>
                      <a:pt x="6" y="0"/>
                    </a:lnTo>
                    <a:lnTo>
                      <a:pt x="12" y="23"/>
                    </a:lnTo>
                    <a:close/>
                    <a:moveTo>
                      <a:pt x="6" y="0"/>
                    </a:moveTo>
                    <a:lnTo>
                      <a:pt x="6" y="0"/>
                    </a:lnTo>
                    <a:lnTo>
                      <a:pt x="0" y="0"/>
                    </a:lnTo>
                    <a:lnTo>
                      <a:pt x="6" y="11"/>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302" name="Freeform 102"/>
              <p:cNvSpPr>
                <a:spLocks noEditPoints="1"/>
              </p:cNvSpPr>
              <p:nvPr/>
            </p:nvSpPr>
            <p:spPr bwMode="auto">
              <a:xfrm>
                <a:off x="4597" y="2400"/>
                <a:ext cx="6" cy="23"/>
              </a:xfrm>
              <a:custGeom>
                <a:avLst/>
                <a:gdLst>
                  <a:gd name="T0" fmla="*/ 6 w 6"/>
                  <a:gd name="T1" fmla="*/ 0 h 23"/>
                  <a:gd name="T2" fmla="*/ 6 w 6"/>
                  <a:gd name="T3" fmla="*/ 0 h 23"/>
                  <a:gd name="T4" fmla="*/ 0 w 6"/>
                  <a:gd name="T5" fmla="*/ 0 h 23"/>
                  <a:gd name="T6" fmla="*/ 0 w 6"/>
                  <a:gd name="T7" fmla="*/ 23 h 23"/>
                  <a:gd name="T8" fmla="*/ 0 w 6"/>
                  <a:gd name="T9" fmla="*/ 23 h 23"/>
                  <a:gd name="T10" fmla="*/ 6 w 6"/>
                  <a:gd name="T11" fmla="*/ 0 h 23"/>
                  <a:gd name="T12" fmla="*/ 6 w 6"/>
                  <a:gd name="T13" fmla="*/ 23 h 23"/>
                  <a:gd name="T14" fmla="*/ 6 w 6"/>
                  <a:gd name="T15" fmla="*/ 0 h 23"/>
                  <a:gd name="T16" fmla="*/ 0 w 6"/>
                  <a:gd name="T17" fmla="*/ 23 h 23"/>
                  <a:gd name="T18" fmla="*/ 0 w 6"/>
                  <a:gd name="T19" fmla="*/ 0 h 23"/>
                  <a:gd name="T20" fmla="*/ 6 w 6"/>
                  <a:gd name="T21"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 h="23">
                    <a:moveTo>
                      <a:pt x="6" y="0"/>
                    </a:moveTo>
                    <a:lnTo>
                      <a:pt x="6" y="0"/>
                    </a:lnTo>
                    <a:lnTo>
                      <a:pt x="0" y="0"/>
                    </a:lnTo>
                    <a:lnTo>
                      <a:pt x="0" y="23"/>
                    </a:lnTo>
                    <a:lnTo>
                      <a:pt x="0" y="23"/>
                    </a:lnTo>
                    <a:lnTo>
                      <a:pt x="6" y="0"/>
                    </a:lnTo>
                    <a:close/>
                    <a:moveTo>
                      <a:pt x="6" y="23"/>
                    </a:moveTo>
                    <a:lnTo>
                      <a:pt x="6" y="0"/>
                    </a:lnTo>
                    <a:lnTo>
                      <a:pt x="0" y="23"/>
                    </a:lnTo>
                    <a:lnTo>
                      <a:pt x="0" y="0"/>
                    </a:lnTo>
                    <a:lnTo>
                      <a:pt x="6" y="23"/>
                    </a:lnTo>
                    <a:close/>
                  </a:path>
                </a:pathLst>
              </a:custGeom>
              <a:solidFill>
                <a:srgbClr val="00FF00"/>
              </a:solidFill>
              <a:ln w="9525">
                <a:solidFill>
                  <a:srgbClr val="00FF00"/>
                </a:solidFill>
                <a:round/>
                <a:headEnd/>
                <a:tailEnd/>
              </a:ln>
            </p:spPr>
            <p:txBody>
              <a:bodyPr/>
              <a:lstStyle/>
              <a:p>
                <a:endParaRPr lang="zh-CN" altLang="en-US"/>
              </a:p>
            </p:txBody>
          </p:sp>
          <p:sp>
            <p:nvSpPr>
              <p:cNvPr id="51303" name="Freeform 103"/>
              <p:cNvSpPr>
                <a:spLocks noEditPoints="1"/>
              </p:cNvSpPr>
              <p:nvPr/>
            </p:nvSpPr>
            <p:spPr bwMode="auto">
              <a:xfrm>
                <a:off x="4585" y="2400"/>
                <a:ext cx="18" cy="23"/>
              </a:xfrm>
              <a:custGeom>
                <a:avLst/>
                <a:gdLst>
                  <a:gd name="T0" fmla="*/ 6 w 18"/>
                  <a:gd name="T1" fmla="*/ 0 h 23"/>
                  <a:gd name="T2" fmla="*/ 6 w 18"/>
                  <a:gd name="T3" fmla="*/ 0 h 23"/>
                  <a:gd name="T4" fmla="*/ 0 w 18"/>
                  <a:gd name="T5" fmla="*/ 0 h 23"/>
                  <a:gd name="T6" fmla="*/ 12 w 18"/>
                  <a:gd name="T7" fmla="*/ 23 h 23"/>
                  <a:gd name="T8" fmla="*/ 18 w 18"/>
                  <a:gd name="T9" fmla="*/ 23 h 23"/>
                  <a:gd name="T10" fmla="*/ 18 w 18"/>
                  <a:gd name="T11" fmla="*/ 23 h 23"/>
                  <a:gd name="T12" fmla="*/ 6 w 18"/>
                  <a:gd name="T13" fmla="*/ 0 h 23"/>
                  <a:gd name="T14" fmla="*/ 12 w 18"/>
                  <a:gd name="T15" fmla="*/ 0 h 23"/>
                  <a:gd name="T16" fmla="*/ 6 w 18"/>
                  <a:gd name="T17" fmla="*/ 0 h 23"/>
                  <a:gd name="T18" fmla="*/ 6 w 18"/>
                  <a:gd name="T19" fmla="*/ 0 h 23"/>
                  <a:gd name="T20" fmla="*/ 12 w 18"/>
                  <a:gd name="T21" fmla="*/ 11 h 23"/>
                  <a:gd name="T22" fmla="*/ 12 w 18"/>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3">
                    <a:moveTo>
                      <a:pt x="6" y="0"/>
                    </a:moveTo>
                    <a:lnTo>
                      <a:pt x="6" y="0"/>
                    </a:lnTo>
                    <a:lnTo>
                      <a:pt x="0" y="0"/>
                    </a:lnTo>
                    <a:lnTo>
                      <a:pt x="12" y="23"/>
                    </a:lnTo>
                    <a:lnTo>
                      <a:pt x="18" y="23"/>
                    </a:lnTo>
                    <a:lnTo>
                      <a:pt x="18" y="23"/>
                    </a:lnTo>
                    <a:lnTo>
                      <a:pt x="6" y="0"/>
                    </a:lnTo>
                    <a:close/>
                    <a:moveTo>
                      <a:pt x="12" y="0"/>
                    </a:moveTo>
                    <a:lnTo>
                      <a:pt x="6" y="0"/>
                    </a:lnTo>
                    <a:lnTo>
                      <a:pt x="6" y="0"/>
                    </a:lnTo>
                    <a:lnTo>
                      <a:pt x="12" y="11"/>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304" name="Freeform 104"/>
              <p:cNvSpPr>
                <a:spLocks noEditPoints="1"/>
              </p:cNvSpPr>
              <p:nvPr/>
            </p:nvSpPr>
            <p:spPr bwMode="auto">
              <a:xfrm>
                <a:off x="4579" y="2400"/>
                <a:ext cx="18" cy="29"/>
              </a:xfrm>
              <a:custGeom>
                <a:avLst/>
                <a:gdLst>
                  <a:gd name="T0" fmla="*/ 6 w 18"/>
                  <a:gd name="T1" fmla="*/ 5 h 29"/>
                  <a:gd name="T2" fmla="*/ 0 w 18"/>
                  <a:gd name="T3" fmla="*/ 5 h 29"/>
                  <a:gd name="T4" fmla="*/ 0 w 18"/>
                  <a:gd name="T5" fmla="*/ 5 h 29"/>
                  <a:gd name="T6" fmla="*/ 6 w 18"/>
                  <a:gd name="T7" fmla="*/ 5 h 29"/>
                  <a:gd name="T8" fmla="*/ 0 w 18"/>
                  <a:gd name="T9" fmla="*/ 29 h 29"/>
                  <a:gd name="T10" fmla="*/ 12 w 18"/>
                  <a:gd name="T11" fmla="*/ 29 h 29"/>
                  <a:gd name="T12" fmla="*/ 18 w 18"/>
                  <a:gd name="T13" fmla="*/ 29 h 29"/>
                  <a:gd name="T14" fmla="*/ 18 w 18"/>
                  <a:gd name="T15" fmla="*/ 23 h 29"/>
                  <a:gd name="T16" fmla="*/ 6 w 18"/>
                  <a:gd name="T17" fmla="*/ 5 h 29"/>
                  <a:gd name="T18" fmla="*/ 6 w 18"/>
                  <a:gd name="T19" fmla="*/ 0 h 29"/>
                  <a:gd name="T20" fmla="*/ 6 w 18"/>
                  <a:gd name="T21" fmla="*/ 5 h 29"/>
                  <a:gd name="T22" fmla="*/ 6 w 18"/>
                  <a:gd name="T23" fmla="*/ 5 h 29"/>
                  <a:gd name="T24" fmla="*/ 12 w 18"/>
                  <a:gd name="T25" fmla="*/ 11 h 29"/>
                  <a:gd name="T26" fmla="*/ 6 w 18"/>
                  <a:gd name="T2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29">
                    <a:moveTo>
                      <a:pt x="6" y="5"/>
                    </a:moveTo>
                    <a:lnTo>
                      <a:pt x="0" y="5"/>
                    </a:lnTo>
                    <a:lnTo>
                      <a:pt x="0" y="5"/>
                    </a:lnTo>
                    <a:lnTo>
                      <a:pt x="6" y="5"/>
                    </a:lnTo>
                    <a:lnTo>
                      <a:pt x="0" y="29"/>
                    </a:lnTo>
                    <a:lnTo>
                      <a:pt x="12" y="29"/>
                    </a:lnTo>
                    <a:lnTo>
                      <a:pt x="18" y="29"/>
                    </a:lnTo>
                    <a:lnTo>
                      <a:pt x="18" y="23"/>
                    </a:lnTo>
                    <a:lnTo>
                      <a:pt x="6" y="5"/>
                    </a:lnTo>
                    <a:close/>
                    <a:moveTo>
                      <a:pt x="6" y="0"/>
                    </a:moveTo>
                    <a:lnTo>
                      <a:pt x="6" y="5"/>
                    </a:lnTo>
                    <a:lnTo>
                      <a:pt x="6" y="5"/>
                    </a:lnTo>
                    <a:lnTo>
                      <a:pt x="12" y="11"/>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305" name="Freeform 105"/>
              <p:cNvSpPr>
                <a:spLocks noEditPoints="1"/>
              </p:cNvSpPr>
              <p:nvPr/>
            </p:nvSpPr>
            <p:spPr bwMode="auto">
              <a:xfrm>
                <a:off x="4573" y="2405"/>
                <a:ext cx="18" cy="30"/>
              </a:xfrm>
              <a:custGeom>
                <a:avLst/>
                <a:gdLst>
                  <a:gd name="T0" fmla="*/ 0 w 18"/>
                  <a:gd name="T1" fmla="*/ 6 h 30"/>
                  <a:gd name="T2" fmla="*/ 0 w 18"/>
                  <a:gd name="T3" fmla="*/ 6 h 30"/>
                  <a:gd name="T4" fmla="*/ 0 w 18"/>
                  <a:gd name="T5" fmla="*/ 6 h 30"/>
                  <a:gd name="T6" fmla="*/ 0 w 18"/>
                  <a:gd name="T7" fmla="*/ 6 h 30"/>
                  <a:gd name="T8" fmla="*/ 6 w 18"/>
                  <a:gd name="T9" fmla="*/ 6 h 30"/>
                  <a:gd name="T10" fmla="*/ 6 w 18"/>
                  <a:gd name="T11" fmla="*/ 30 h 30"/>
                  <a:gd name="T12" fmla="*/ 18 w 18"/>
                  <a:gd name="T13" fmla="*/ 24 h 30"/>
                  <a:gd name="T14" fmla="*/ 18 w 18"/>
                  <a:gd name="T15" fmla="*/ 18 h 30"/>
                  <a:gd name="T16" fmla="*/ 0 w 18"/>
                  <a:gd name="T17" fmla="*/ 6 h 30"/>
                  <a:gd name="T18" fmla="*/ 12 w 18"/>
                  <a:gd name="T19" fmla="*/ 0 h 30"/>
                  <a:gd name="T20" fmla="*/ 6 w 18"/>
                  <a:gd name="T21" fmla="*/ 0 h 30"/>
                  <a:gd name="T22" fmla="*/ 0 w 18"/>
                  <a:gd name="T23" fmla="*/ 6 h 30"/>
                  <a:gd name="T24" fmla="*/ 12 w 18"/>
                  <a:gd name="T25" fmla="*/ 12 h 30"/>
                  <a:gd name="T26" fmla="*/ 12 w 18"/>
                  <a:gd name="T2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30">
                    <a:moveTo>
                      <a:pt x="0" y="6"/>
                    </a:moveTo>
                    <a:lnTo>
                      <a:pt x="0" y="6"/>
                    </a:lnTo>
                    <a:lnTo>
                      <a:pt x="0" y="6"/>
                    </a:lnTo>
                    <a:lnTo>
                      <a:pt x="0" y="6"/>
                    </a:lnTo>
                    <a:lnTo>
                      <a:pt x="6" y="6"/>
                    </a:lnTo>
                    <a:lnTo>
                      <a:pt x="6" y="30"/>
                    </a:lnTo>
                    <a:lnTo>
                      <a:pt x="18" y="24"/>
                    </a:lnTo>
                    <a:lnTo>
                      <a:pt x="18" y="18"/>
                    </a:lnTo>
                    <a:lnTo>
                      <a:pt x="0" y="6"/>
                    </a:lnTo>
                    <a:close/>
                    <a:moveTo>
                      <a:pt x="12" y="0"/>
                    </a:moveTo>
                    <a:lnTo>
                      <a:pt x="6" y="0"/>
                    </a:lnTo>
                    <a:lnTo>
                      <a:pt x="0" y="6"/>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306" name="Freeform 106"/>
              <p:cNvSpPr>
                <a:spLocks noEditPoints="1"/>
              </p:cNvSpPr>
              <p:nvPr/>
            </p:nvSpPr>
            <p:spPr bwMode="auto">
              <a:xfrm>
                <a:off x="4567" y="2411"/>
                <a:ext cx="12" cy="24"/>
              </a:xfrm>
              <a:custGeom>
                <a:avLst/>
                <a:gdLst>
                  <a:gd name="T0" fmla="*/ 6 w 12"/>
                  <a:gd name="T1" fmla="*/ 0 h 24"/>
                  <a:gd name="T2" fmla="*/ 6 w 12"/>
                  <a:gd name="T3" fmla="*/ 0 h 24"/>
                  <a:gd name="T4" fmla="*/ 0 w 12"/>
                  <a:gd name="T5" fmla="*/ 6 h 24"/>
                  <a:gd name="T6" fmla="*/ 6 w 12"/>
                  <a:gd name="T7" fmla="*/ 24 h 24"/>
                  <a:gd name="T8" fmla="*/ 12 w 12"/>
                  <a:gd name="T9" fmla="*/ 24 h 24"/>
                  <a:gd name="T10" fmla="*/ 12 w 12"/>
                  <a:gd name="T11" fmla="*/ 24 h 24"/>
                  <a:gd name="T12" fmla="*/ 6 w 12"/>
                  <a:gd name="T13" fmla="*/ 0 h 24"/>
                  <a:gd name="T14" fmla="*/ 12 w 12"/>
                  <a:gd name="T15" fmla="*/ 0 h 24"/>
                  <a:gd name="T16" fmla="*/ 6 w 12"/>
                  <a:gd name="T17" fmla="*/ 0 h 24"/>
                  <a:gd name="T18" fmla="*/ 6 w 12"/>
                  <a:gd name="T19" fmla="*/ 0 h 24"/>
                  <a:gd name="T20" fmla="*/ 12 w 12"/>
                  <a:gd name="T21" fmla="*/ 12 h 24"/>
                  <a:gd name="T22" fmla="*/ 12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6" y="0"/>
                    </a:moveTo>
                    <a:lnTo>
                      <a:pt x="6" y="0"/>
                    </a:lnTo>
                    <a:lnTo>
                      <a:pt x="0" y="6"/>
                    </a:lnTo>
                    <a:lnTo>
                      <a:pt x="6" y="24"/>
                    </a:lnTo>
                    <a:lnTo>
                      <a:pt x="12" y="24"/>
                    </a:lnTo>
                    <a:lnTo>
                      <a:pt x="12" y="24"/>
                    </a:lnTo>
                    <a:lnTo>
                      <a:pt x="6" y="0"/>
                    </a:lnTo>
                    <a:close/>
                    <a:moveTo>
                      <a:pt x="12" y="0"/>
                    </a:moveTo>
                    <a:lnTo>
                      <a:pt x="6" y="0"/>
                    </a:lnTo>
                    <a:lnTo>
                      <a:pt x="6" y="0"/>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307" name="Freeform 107"/>
              <p:cNvSpPr>
                <a:spLocks noEditPoints="1"/>
              </p:cNvSpPr>
              <p:nvPr/>
            </p:nvSpPr>
            <p:spPr bwMode="auto">
              <a:xfrm>
                <a:off x="4561" y="2411"/>
                <a:ext cx="12" cy="24"/>
              </a:xfrm>
              <a:custGeom>
                <a:avLst/>
                <a:gdLst>
                  <a:gd name="T0" fmla="*/ 12 w 12"/>
                  <a:gd name="T1" fmla="*/ 0 h 24"/>
                  <a:gd name="T2" fmla="*/ 6 w 12"/>
                  <a:gd name="T3" fmla="*/ 0 h 24"/>
                  <a:gd name="T4" fmla="*/ 0 w 12"/>
                  <a:gd name="T5" fmla="*/ 0 h 24"/>
                  <a:gd name="T6" fmla="*/ 0 w 12"/>
                  <a:gd name="T7" fmla="*/ 24 h 24"/>
                  <a:gd name="T8" fmla="*/ 0 w 12"/>
                  <a:gd name="T9" fmla="*/ 24 h 24"/>
                  <a:gd name="T10" fmla="*/ 6 w 12"/>
                  <a:gd name="T11" fmla="*/ 24 h 24"/>
                  <a:gd name="T12" fmla="*/ 12 w 12"/>
                  <a:gd name="T13" fmla="*/ 24 h 24"/>
                  <a:gd name="T14" fmla="*/ 12 w 12"/>
                  <a:gd name="T15" fmla="*/ 24 h 24"/>
                  <a:gd name="T16" fmla="*/ 12 w 12"/>
                  <a:gd name="T17" fmla="*/ 0 h 24"/>
                  <a:gd name="T18" fmla="*/ 12 w 12"/>
                  <a:gd name="T19" fmla="*/ 24 h 24"/>
                  <a:gd name="T20" fmla="*/ 12 w 12"/>
                  <a:gd name="T21" fmla="*/ 24 h 24"/>
                  <a:gd name="T22" fmla="*/ 12 w 12"/>
                  <a:gd name="T23" fmla="*/ 24 h 24"/>
                  <a:gd name="T24" fmla="*/ 12 w 12"/>
                  <a:gd name="T25" fmla="*/ 12 h 24"/>
                  <a:gd name="T26" fmla="*/ 12 w 12"/>
                  <a:gd name="T2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 h="24">
                    <a:moveTo>
                      <a:pt x="12" y="0"/>
                    </a:moveTo>
                    <a:lnTo>
                      <a:pt x="6" y="0"/>
                    </a:lnTo>
                    <a:lnTo>
                      <a:pt x="0" y="0"/>
                    </a:lnTo>
                    <a:lnTo>
                      <a:pt x="0" y="24"/>
                    </a:lnTo>
                    <a:lnTo>
                      <a:pt x="0" y="24"/>
                    </a:lnTo>
                    <a:lnTo>
                      <a:pt x="6" y="24"/>
                    </a:lnTo>
                    <a:lnTo>
                      <a:pt x="12" y="24"/>
                    </a:lnTo>
                    <a:lnTo>
                      <a:pt x="12" y="24"/>
                    </a:lnTo>
                    <a:lnTo>
                      <a:pt x="12" y="0"/>
                    </a:lnTo>
                    <a:close/>
                    <a:moveTo>
                      <a:pt x="12" y="24"/>
                    </a:moveTo>
                    <a:lnTo>
                      <a:pt x="12" y="24"/>
                    </a:lnTo>
                    <a:lnTo>
                      <a:pt x="12" y="24"/>
                    </a:lnTo>
                    <a:lnTo>
                      <a:pt x="12" y="12"/>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51308" name="Freeform 108"/>
              <p:cNvSpPr>
                <a:spLocks noEditPoints="1"/>
              </p:cNvSpPr>
              <p:nvPr/>
            </p:nvSpPr>
            <p:spPr bwMode="auto">
              <a:xfrm>
                <a:off x="4549" y="2411"/>
                <a:ext cx="24" cy="24"/>
              </a:xfrm>
              <a:custGeom>
                <a:avLst/>
                <a:gdLst>
                  <a:gd name="T0" fmla="*/ 0 w 24"/>
                  <a:gd name="T1" fmla="*/ 6 h 24"/>
                  <a:gd name="T2" fmla="*/ 0 w 24"/>
                  <a:gd name="T3" fmla="*/ 12 h 24"/>
                  <a:gd name="T4" fmla="*/ 18 w 24"/>
                  <a:gd name="T5" fmla="*/ 24 h 24"/>
                  <a:gd name="T6" fmla="*/ 24 w 24"/>
                  <a:gd name="T7" fmla="*/ 18 h 24"/>
                  <a:gd name="T8" fmla="*/ 0 w 24"/>
                  <a:gd name="T9" fmla="*/ 6 h 24"/>
                  <a:gd name="T10" fmla="*/ 12 w 24"/>
                  <a:gd name="T11" fmla="*/ 0 h 24"/>
                  <a:gd name="T12" fmla="*/ 6 w 24"/>
                  <a:gd name="T13" fmla="*/ 0 h 24"/>
                  <a:gd name="T14" fmla="*/ 0 w 24"/>
                  <a:gd name="T15" fmla="*/ 6 h 24"/>
                  <a:gd name="T16" fmla="*/ 12 w 24"/>
                  <a:gd name="T17" fmla="*/ 12 h 24"/>
                  <a:gd name="T18" fmla="*/ 12 w 24"/>
                  <a:gd name="T19"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6"/>
                    </a:moveTo>
                    <a:lnTo>
                      <a:pt x="0" y="12"/>
                    </a:lnTo>
                    <a:lnTo>
                      <a:pt x="18" y="24"/>
                    </a:lnTo>
                    <a:lnTo>
                      <a:pt x="24" y="18"/>
                    </a:lnTo>
                    <a:lnTo>
                      <a:pt x="0" y="6"/>
                    </a:lnTo>
                    <a:close/>
                    <a:moveTo>
                      <a:pt x="12" y="0"/>
                    </a:moveTo>
                    <a:lnTo>
                      <a:pt x="6" y="0"/>
                    </a:lnTo>
                    <a:lnTo>
                      <a:pt x="0" y="6"/>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309" name="Freeform 109"/>
              <p:cNvSpPr>
                <a:spLocks/>
              </p:cNvSpPr>
              <p:nvPr/>
            </p:nvSpPr>
            <p:spPr bwMode="auto">
              <a:xfrm>
                <a:off x="4537" y="2423"/>
                <a:ext cx="18" cy="18"/>
              </a:xfrm>
              <a:custGeom>
                <a:avLst/>
                <a:gdLst>
                  <a:gd name="T0" fmla="*/ 12 w 18"/>
                  <a:gd name="T1" fmla="*/ 0 h 18"/>
                  <a:gd name="T2" fmla="*/ 0 w 18"/>
                  <a:gd name="T3" fmla="*/ 18 h 18"/>
                  <a:gd name="T4" fmla="*/ 18 w 18"/>
                  <a:gd name="T5" fmla="*/ 18 h 18"/>
                  <a:gd name="T6" fmla="*/ 18 w 18"/>
                  <a:gd name="T7" fmla="*/ 6 h 18"/>
                  <a:gd name="T8" fmla="*/ 12 w 18"/>
                  <a:gd name="T9" fmla="*/ 0 h 18"/>
                </a:gdLst>
                <a:ahLst/>
                <a:cxnLst>
                  <a:cxn ang="0">
                    <a:pos x="T0" y="T1"/>
                  </a:cxn>
                  <a:cxn ang="0">
                    <a:pos x="T2" y="T3"/>
                  </a:cxn>
                  <a:cxn ang="0">
                    <a:pos x="T4" y="T5"/>
                  </a:cxn>
                  <a:cxn ang="0">
                    <a:pos x="T6" y="T7"/>
                  </a:cxn>
                  <a:cxn ang="0">
                    <a:pos x="T8" y="T9"/>
                  </a:cxn>
                </a:cxnLst>
                <a:rect l="0" t="0" r="r" b="b"/>
                <a:pathLst>
                  <a:path w="18" h="18">
                    <a:moveTo>
                      <a:pt x="12" y="0"/>
                    </a:moveTo>
                    <a:lnTo>
                      <a:pt x="0" y="18"/>
                    </a:lnTo>
                    <a:lnTo>
                      <a:pt x="18" y="18"/>
                    </a:lnTo>
                    <a:lnTo>
                      <a:pt x="18" y="6"/>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310" name="Freeform 110"/>
              <p:cNvSpPr>
                <a:spLocks/>
              </p:cNvSpPr>
              <p:nvPr/>
            </p:nvSpPr>
            <p:spPr bwMode="auto">
              <a:xfrm>
                <a:off x="4525" y="2429"/>
                <a:ext cx="18" cy="30"/>
              </a:xfrm>
              <a:custGeom>
                <a:avLst/>
                <a:gdLst>
                  <a:gd name="T0" fmla="*/ 12 w 18"/>
                  <a:gd name="T1" fmla="*/ 6 h 30"/>
                  <a:gd name="T2" fmla="*/ 6 w 18"/>
                  <a:gd name="T3" fmla="*/ 12 h 30"/>
                  <a:gd name="T4" fmla="*/ 6 w 18"/>
                  <a:gd name="T5" fmla="*/ 18 h 30"/>
                  <a:gd name="T6" fmla="*/ 6 w 18"/>
                  <a:gd name="T7" fmla="*/ 18 h 30"/>
                  <a:gd name="T8" fmla="*/ 6 w 18"/>
                  <a:gd name="T9" fmla="*/ 24 h 30"/>
                  <a:gd name="T10" fmla="*/ 6 w 18"/>
                  <a:gd name="T11" fmla="*/ 24 h 30"/>
                  <a:gd name="T12" fmla="*/ 6 w 18"/>
                  <a:gd name="T13" fmla="*/ 30 h 30"/>
                  <a:gd name="T14" fmla="*/ 0 w 18"/>
                  <a:gd name="T15" fmla="*/ 30 h 30"/>
                  <a:gd name="T16" fmla="*/ 0 w 18"/>
                  <a:gd name="T17" fmla="*/ 30 h 30"/>
                  <a:gd name="T18" fmla="*/ 0 w 18"/>
                  <a:gd name="T19" fmla="*/ 24 h 30"/>
                  <a:gd name="T20" fmla="*/ 6 w 18"/>
                  <a:gd name="T21" fmla="*/ 24 h 30"/>
                  <a:gd name="T22" fmla="*/ 6 w 18"/>
                  <a:gd name="T23" fmla="*/ 18 h 30"/>
                  <a:gd name="T24" fmla="*/ 6 w 18"/>
                  <a:gd name="T25" fmla="*/ 18 h 30"/>
                  <a:gd name="T26" fmla="*/ 6 w 18"/>
                  <a:gd name="T27" fmla="*/ 12 h 30"/>
                  <a:gd name="T28" fmla="*/ 6 w 18"/>
                  <a:gd name="T29" fmla="*/ 12 h 30"/>
                  <a:gd name="T30" fmla="*/ 6 w 18"/>
                  <a:gd name="T31" fmla="*/ 6 h 30"/>
                  <a:gd name="T32" fmla="*/ 12 w 18"/>
                  <a:gd name="T33" fmla="*/ 6 h 30"/>
                  <a:gd name="T34" fmla="*/ 18 w 18"/>
                  <a:gd name="T35" fmla="*/ 0 h 30"/>
                  <a:gd name="T36" fmla="*/ 12 w 18"/>
                  <a:gd name="T37" fmla="*/ 6 h 30"/>
                  <a:gd name="T38" fmla="*/ 12 w 18"/>
                  <a:gd name="T39"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30">
                    <a:moveTo>
                      <a:pt x="12" y="6"/>
                    </a:moveTo>
                    <a:lnTo>
                      <a:pt x="6" y="12"/>
                    </a:lnTo>
                    <a:lnTo>
                      <a:pt x="6" y="18"/>
                    </a:lnTo>
                    <a:lnTo>
                      <a:pt x="6" y="18"/>
                    </a:lnTo>
                    <a:lnTo>
                      <a:pt x="6" y="24"/>
                    </a:lnTo>
                    <a:lnTo>
                      <a:pt x="6" y="24"/>
                    </a:lnTo>
                    <a:lnTo>
                      <a:pt x="6" y="30"/>
                    </a:lnTo>
                    <a:lnTo>
                      <a:pt x="0" y="30"/>
                    </a:lnTo>
                    <a:lnTo>
                      <a:pt x="0" y="30"/>
                    </a:lnTo>
                    <a:lnTo>
                      <a:pt x="0" y="24"/>
                    </a:lnTo>
                    <a:lnTo>
                      <a:pt x="6" y="24"/>
                    </a:lnTo>
                    <a:lnTo>
                      <a:pt x="6" y="18"/>
                    </a:lnTo>
                    <a:lnTo>
                      <a:pt x="6" y="18"/>
                    </a:lnTo>
                    <a:lnTo>
                      <a:pt x="6" y="12"/>
                    </a:lnTo>
                    <a:lnTo>
                      <a:pt x="6" y="12"/>
                    </a:lnTo>
                    <a:lnTo>
                      <a:pt x="6" y="6"/>
                    </a:lnTo>
                    <a:lnTo>
                      <a:pt x="12" y="6"/>
                    </a:lnTo>
                    <a:lnTo>
                      <a:pt x="18" y="0"/>
                    </a:lnTo>
                    <a:lnTo>
                      <a:pt x="12" y="6"/>
                    </a:lnTo>
                    <a:lnTo>
                      <a:pt x="12" y="6"/>
                    </a:lnTo>
                    <a:close/>
                  </a:path>
                </a:pathLst>
              </a:custGeom>
              <a:solidFill>
                <a:srgbClr val="00FF00"/>
              </a:solidFill>
              <a:ln w="9525">
                <a:solidFill>
                  <a:srgbClr val="00FF00"/>
                </a:solidFill>
                <a:round/>
                <a:headEnd/>
                <a:tailEnd/>
              </a:ln>
            </p:spPr>
            <p:txBody>
              <a:bodyPr/>
              <a:lstStyle/>
              <a:p>
                <a:endParaRPr lang="zh-CN" altLang="en-US"/>
              </a:p>
            </p:txBody>
          </p:sp>
          <p:sp>
            <p:nvSpPr>
              <p:cNvPr id="51311" name="Freeform 111"/>
              <p:cNvSpPr>
                <a:spLocks/>
              </p:cNvSpPr>
              <p:nvPr/>
            </p:nvSpPr>
            <p:spPr bwMode="auto">
              <a:xfrm>
                <a:off x="4525" y="2423"/>
                <a:ext cx="18" cy="30"/>
              </a:xfrm>
              <a:custGeom>
                <a:avLst/>
                <a:gdLst>
                  <a:gd name="T0" fmla="*/ 6 w 18"/>
                  <a:gd name="T1" fmla="*/ 0 h 30"/>
                  <a:gd name="T2" fmla="*/ 0 w 18"/>
                  <a:gd name="T3" fmla="*/ 6 h 30"/>
                  <a:gd name="T4" fmla="*/ 12 w 18"/>
                  <a:gd name="T5" fmla="*/ 30 h 30"/>
                  <a:gd name="T6" fmla="*/ 18 w 18"/>
                  <a:gd name="T7" fmla="*/ 24 h 30"/>
                  <a:gd name="T8" fmla="*/ 6 w 18"/>
                  <a:gd name="T9" fmla="*/ 0 h 30"/>
                </a:gdLst>
                <a:ahLst/>
                <a:cxnLst>
                  <a:cxn ang="0">
                    <a:pos x="T0" y="T1"/>
                  </a:cxn>
                  <a:cxn ang="0">
                    <a:pos x="T2" y="T3"/>
                  </a:cxn>
                  <a:cxn ang="0">
                    <a:pos x="T4" y="T5"/>
                  </a:cxn>
                  <a:cxn ang="0">
                    <a:pos x="T6" y="T7"/>
                  </a:cxn>
                  <a:cxn ang="0">
                    <a:pos x="T8" y="T9"/>
                  </a:cxn>
                </a:cxnLst>
                <a:rect l="0" t="0" r="r" b="b"/>
                <a:pathLst>
                  <a:path w="18" h="30">
                    <a:moveTo>
                      <a:pt x="6" y="0"/>
                    </a:moveTo>
                    <a:lnTo>
                      <a:pt x="0" y="6"/>
                    </a:lnTo>
                    <a:lnTo>
                      <a:pt x="12" y="30"/>
                    </a:lnTo>
                    <a:lnTo>
                      <a:pt x="18" y="24"/>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312" name="Freeform 112"/>
              <p:cNvSpPr>
                <a:spLocks noEditPoints="1"/>
              </p:cNvSpPr>
              <p:nvPr/>
            </p:nvSpPr>
            <p:spPr bwMode="auto">
              <a:xfrm>
                <a:off x="4519" y="2429"/>
                <a:ext cx="30" cy="30"/>
              </a:xfrm>
              <a:custGeom>
                <a:avLst/>
                <a:gdLst>
                  <a:gd name="T0" fmla="*/ 0 w 30"/>
                  <a:gd name="T1" fmla="*/ 12 h 30"/>
                  <a:gd name="T2" fmla="*/ 0 w 30"/>
                  <a:gd name="T3" fmla="*/ 12 h 30"/>
                  <a:gd name="T4" fmla="*/ 0 w 30"/>
                  <a:gd name="T5" fmla="*/ 12 h 30"/>
                  <a:gd name="T6" fmla="*/ 6 w 30"/>
                  <a:gd name="T7" fmla="*/ 12 h 30"/>
                  <a:gd name="T8" fmla="*/ 12 w 30"/>
                  <a:gd name="T9" fmla="*/ 6 h 30"/>
                  <a:gd name="T10" fmla="*/ 18 w 30"/>
                  <a:gd name="T11" fmla="*/ 30 h 30"/>
                  <a:gd name="T12" fmla="*/ 24 w 30"/>
                  <a:gd name="T13" fmla="*/ 18 h 30"/>
                  <a:gd name="T14" fmla="*/ 30 w 30"/>
                  <a:gd name="T15" fmla="*/ 12 h 30"/>
                  <a:gd name="T16" fmla="*/ 24 w 30"/>
                  <a:gd name="T17" fmla="*/ 6 h 30"/>
                  <a:gd name="T18" fmla="*/ 0 w 30"/>
                  <a:gd name="T19" fmla="*/ 12 h 30"/>
                  <a:gd name="T20" fmla="*/ 6 w 30"/>
                  <a:gd name="T21" fmla="*/ 0 h 30"/>
                  <a:gd name="T22" fmla="*/ 0 w 30"/>
                  <a:gd name="T23" fmla="*/ 6 h 30"/>
                  <a:gd name="T24" fmla="*/ 0 w 30"/>
                  <a:gd name="T25" fmla="*/ 12 h 30"/>
                  <a:gd name="T26" fmla="*/ 12 w 30"/>
                  <a:gd name="T27" fmla="*/ 12 h 30"/>
                  <a:gd name="T28" fmla="*/ 6 w 30"/>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30">
                    <a:moveTo>
                      <a:pt x="0" y="12"/>
                    </a:moveTo>
                    <a:lnTo>
                      <a:pt x="0" y="12"/>
                    </a:lnTo>
                    <a:lnTo>
                      <a:pt x="0" y="12"/>
                    </a:lnTo>
                    <a:lnTo>
                      <a:pt x="6" y="12"/>
                    </a:lnTo>
                    <a:lnTo>
                      <a:pt x="12" y="6"/>
                    </a:lnTo>
                    <a:lnTo>
                      <a:pt x="18" y="30"/>
                    </a:lnTo>
                    <a:lnTo>
                      <a:pt x="24" y="18"/>
                    </a:lnTo>
                    <a:lnTo>
                      <a:pt x="30" y="12"/>
                    </a:lnTo>
                    <a:lnTo>
                      <a:pt x="24" y="6"/>
                    </a:lnTo>
                    <a:lnTo>
                      <a:pt x="0" y="12"/>
                    </a:lnTo>
                    <a:close/>
                    <a:moveTo>
                      <a:pt x="6" y="0"/>
                    </a:moveTo>
                    <a:lnTo>
                      <a:pt x="0" y="6"/>
                    </a:lnTo>
                    <a:lnTo>
                      <a:pt x="0" y="12"/>
                    </a:lnTo>
                    <a:lnTo>
                      <a:pt x="12"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313" name="Freeform 113"/>
              <p:cNvSpPr>
                <a:spLocks noEditPoints="1"/>
              </p:cNvSpPr>
              <p:nvPr/>
            </p:nvSpPr>
            <p:spPr bwMode="auto">
              <a:xfrm>
                <a:off x="4519" y="2435"/>
                <a:ext cx="24" cy="30"/>
              </a:xfrm>
              <a:custGeom>
                <a:avLst/>
                <a:gdLst>
                  <a:gd name="T0" fmla="*/ 0 w 24"/>
                  <a:gd name="T1" fmla="*/ 12 h 30"/>
                  <a:gd name="T2" fmla="*/ 0 w 24"/>
                  <a:gd name="T3" fmla="*/ 12 h 30"/>
                  <a:gd name="T4" fmla="*/ 0 w 24"/>
                  <a:gd name="T5" fmla="*/ 12 h 30"/>
                  <a:gd name="T6" fmla="*/ 0 w 24"/>
                  <a:gd name="T7" fmla="*/ 12 h 30"/>
                  <a:gd name="T8" fmla="*/ 0 w 24"/>
                  <a:gd name="T9" fmla="*/ 12 h 30"/>
                  <a:gd name="T10" fmla="*/ 0 w 24"/>
                  <a:gd name="T11" fmla="*/ 12 h 30"/>
                  <a:gd name="T12" fmla="*/ 6 w 24"/>
                  <a:gd name="T13" fmla="*/ 30 h 30"/>
                  <a:gd name="T14" fmla="*/ 18 w 24"/>
                  <a:gd name="T15" fmla="*/ 24 h 30"/>
                  <a:gd name="T16" fmla="*/ 24 w 24"/>
                  <a:gd name="T17" fmla="*/ 18 h 30"/>
                  <a:gd name="T18" fmla="*/ 24 w 24"/>
                  <a:gd name="T19" fmla="*/ 18 h 30"/>
                  <a:gd name="T20" fmla="*/ 24 w 24"/>
                  <a:gd name="T21" fmla="*/ 12 h 30"/>
                  <a:gd name="T22" fmla="*/ 0 w 24"/>
                  <a:gd name="T23" fmla="*/ 12 h 30"/>
                  <a:gd name="T24" fmla="*/ 12 w 24"/>
                  <a:gd name="T25" fmla="*/ 0 h 30"/>
                  <a:gd name="T26" fmla="*/ 0 w 24"/>
                  <a:gd name="T27" fmla="*/ 0 h 30"/>
                  <a:gd name="T28" fmla="*/ 0 w 24"/>
                  <a:gd name="T29" fmla="*/ 12 h 30"/>
                  <a:gd name="T30" fmla="*/ 12 w 24"/>
                  <a:gd name="T31" fmla="*/ 12 h 30"/>
                  <a:gd name="T32" fmla="*/ 12 w 24"/>
                  <a:gd name="T3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30">
                    <a:moveTo>
                      <a:pt x="0" y="12"/>
                    </a:moveTo>
                    <a:lnTo>
                      <a:pt x="0" y="12"/>
                    </a:lnTo>
                    <a:lnTo>
                      <a:pt x="0" y="12"/>
                    </a:lnTo>
                    <a:lnTo>
                      <a:pt x="0" y="12"/>
                    </a:lnTo>
                    <a:lnTo>
                      <a:pt x="0" y="12"/>
                    </a:lnTo>
                    <a:lnTo>
                      <a:pt x="0" y="12"/>
                    </a:lnTo>
                    <a:lnTo>
                      <a:pt x="6" y="30"/>
                    </a:lnTo>
                    <a:lnTo>
                      <a:pt x="18" y="24"/>
                    </a:lnTo>
                    <a:lnTo>
                      <a:pt x="24" y="18"/>
                    </a:lnTo>
                    <a:lnTo>
                      <a:pt x="24" y="18"/>
                    </a:lnTo>
                    <a:lnTo>
                      <a:pt x="24" y="12"/>
                    </a:lnTo>
                    <a:lnTo>
                      <a:pt x="0" y="12"/>
                    </a:lnTo>
                    <a:close/>
                    <a:moveTo>
                      <a:pt x="12" y="0"/>
                    </a:moveTo>
                    <a:lnTo>
                      <a:pt x="0" y="0"/>
                    </a:lnTo>
                    <a:lnTo>
                      <a:pt x="0" y="12"/>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314" name="Freeform 114"/>
              <p:cNvSpPr>
                <a:spLocks noEditPoints="1"/>
              </p:cNvSpPr>
              <p:nvPr/>
            </p:nvSpPr>
            <p:spPr bwMode="auto">
              <a:xfrm>
                <a:off x="4513" y="2441"/>
                <a:ext cx="24" cy="24"/>
              </a:xfrm>
              <a:custGeom>
                <a:avLst/>
                <a:gdLst>
                  <a:gd name="T0" fmla="*/ 6 w 24"/>
                  <a:gd name="T1" fmla="*/ 6 h 24"/>
                  <a:gd name="T2" fmla="*/ 6 w 24"/>
                  <a:gd name="T3" fmla="*/ 12 h 24"/>
                  <a:gd name="T4" fmla="*/ 0 w 24"/>
                  <a:gd name="T5" fmla="*/ 12 h 24"/>
                  <a:gd name="T6" fmla="*/ 24 w 24"/>
                  <a:gd name="T7" fmla="*/ 24 h 24"/>
                  <a:gd name="T8" fmla="*/ 24 w 24"/>
                  <a:gd name="T9" fmla="*/ 24 h 24"/>
                  <a:gd name="T10" fmla="*/ 24 w 24"/>
                  <a:gd name="T11" fmla="*/ 18 h 24"/>
                  <a:gd name="T12" fmla="*/ 6 w 24"/>
                  <a:gd name="T13" fmla="*/ 6 h 24"/>
                  <a:gd name="T14" fmla="*/ 24 w 24"/>
                  <a:gd name="T15" fmla="*/ 0 h 24"/>
                  <a:gd name="T16" fmla="*/ 12 w 24"/>
                  <a:gd name="T17" fmla="*/ 0 h 24"/>
                  <a:gd name="T18" fmla="*/ 6 w 24"/>
                  <a:gd name="T19" fmla="*/ 6 h 24"/>
                  <a:gd name="T20" fmla="*/ 18 w 24"/>
                  <a:gd name="T21" fmla="*/ 12 h 24"/>
                  <a:gd name="T22" fmla="*/ 24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6" y="6"/>
                    </a:moveTo>
                    <a:lnTo>
                      <a:pt x="6" y="12"/>
                    </a:lnTo>
                    <a:lnTo>
                      <a:pt x="0" y="12"/>
                    </a:lnTo>
                    <a:lnTo>
                      <a:pt x="24" y="24"/>
                    </a:lnTo>
                    <a:lnTo>
                      <a:pt x="24" y="24"/>
                    </a:lnTo>
                    <a:lnTo>
                      <a:pt x="24" y="18"/>
                    </a:lnTo>
                    <a:lnTo>
                      <a:pt x="6" y="6"/>
                    </a:lnTo>
                    <a:close/>
                    <a:moveTo>
                      <a:pt x="24" y="0"/>
                    </a:moveTo>
                    <a:lnTo>
                      <a:pt x="12" y="0"/>
                    </a:lnTo>
                    <a:lnTo>
                      <a:pt x="6" y="6"/>
                    </a:lnTo>
                    <a:lnTo>
                      <a:pt x="18" y="12"/>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51315" name="Freeform 115"/>
              <p:cNvSpPr>
                <a:spLocks noEditPoints="1"/>
              </p:cNvSpPr>
              <p:nvPr/>
            </p:nvSpPr>
            <p:spPr bwMode="auto">
              <a:xfrm>
                <a:off x="4513" y="2447"/>
                <a:ext cx="24" cy="18"/>
              </a:xfrm>
              <a:custGeom>
                <a:avLst/>
                <a:gdLst>
                  <a:gd name="T0" fmla="*/ 24 w 24"/>
                  <a:gd name="T1" fmla="*/ 12 h 18"/>
                  <a:gd name="T2" fmla="*/ 24 w 24"/>
                  <a:gd name="T3" fmla="*/ 12 h 18"/>
                  <a:gd name="T4" fmla="*/ 24 w 24"/>
                  <a:gd name="T5" fmla="*/ 12 h 18"/>
                  <a:gd name="T6" fmla="*/ 6 w 24"/>
                  <a:gd name="T7" fmla="*/ 0 h 18"/>
                  <a:gd name="T8" fmla="*/ 0 w 24"/>
                  <a:gd name="T9" fmla="*/ 6 h 18"/>
                  <a:gd name="T10" fmla="*/ 0 w 24"/>
                  <a:gd name="T11" fmla="*/ 12 h 18"/>
                  <a:gd name="T12" fmla="*/ 24 w 24"/>
                  <a:gd name="T13" fmla="*/ 12 h 18"/>
                  <a:gd name="T14" fmla="*/ 0 w 24"/>
                  <a:gd name="T15" fmla="*/ 6 h 18"/>
                  <a:gd name="T16" fmla="*/ 24 w 24"/>
                  <a:gd name="T17" fmla="*/ 12 h 18"/>
                  <a:gd name="T18" fmla="*/ 0 w 24"/>
                  <a:gd name="T19" fmla="*/ 12 h 18"/>
                  <a:gd name="T20" fmla="*/ 24 w 24"/>
                  <a:gd name="T21" fmla="*/ 18 h 18"/>
                  <a:gd name="T22" fmla="*/ 0 w 24"/>
                  <a:gd name="T23" fmla="*/ 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24" y="12"/>
                    </a:moveTo>
                    <a:lnTo>
                      <a:pt x="24" y="12"/>
                    </a:lnTo>
                    <a:lnTo>
                      <a:pt x="24" y="12"/>
                    </a:lnTo>
                    <a:lnTo>
                      <a:pt x="6" y="0"/>
                    </a:lnTo>
                    <a:lnTo>
                      <a:pt x="0" y="6"/>
                    </a:lnTo>
                    <a:lnTo>
                      <a:pt x="0" y="12"/>
                    </a:lnTo>
                    <a:lnTo>
                      <a:pt x="24" y="12"/>
                    </a:lnTo>
                    <a:close/>
                    <a:moveTo>
                      <a:pt x="0" y="6"/>
                    </a:moveTo>
                    <a:lnTo>
                      <a:pt x="24" y="12"/>
                    </a:lnTo>
                    <a:lnTo>
                      <a:pt x="0" y="12"/>
                    </a:lnTo>
                    <a:lnTo>
                      <a:pt x="24" y="18"/>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316" name="Freeform 116"/>
              <p:cNvSpPr>
                <a:spLocks noEditPoints="1"/>
              </p:cNvSpPr>
              <p:nvPr/>
            </p:nvSpPr>
            <p:spPr bwMode="auto">
              <a:xfrm>
                <a:off x="4519" y="2441"/>
                <a:ext cx="24" cy="24"/>
              </a:xfrm>
              <a:custGeom>
                <a:avLst/>
                <a:gdLst>
                  <a:gd name="T0" fmla="*/ 12 w 24"/>
                  <a:gd name="T1" fmla="*/ 24 h 24"/>
                  <a:gd name="T2" fmla="*/ 18 w 24"/>
                  <a:gd name="T3" fmla="*/ 18 h 24"/>
                  <a:gd name="T4" fmla="*/ 24 w 24"/>
                  <a:gd name="T5" fmla="*/ 6 h 24"/>
                  <a:gd name="T6" fmla="*/ 0 w 24"/>
                  <a:gd name="T7" fmla="*/ 6 h 24"/>
                  <a:gd name="T8" fmla="*/ 0 w 24"/>
                  <a:gd name="T9" fmla="*/ 6 h 24"/>
                  <a:gd name="T10" fmla="*/ 0 w 24"/>
                  <a:gd name="T11" fmla="*/ 0 h 24"/>
                  <a:gd name="T12" fmla="*/ 12 w 24"/>
                  <a:gd name="T13" fmla="*/ 24 h 24"/>
                  <a:gd name="T14" fmla="*/ 0 w 24"/>
                  <a:gd name="T15" fmla="*/ 0 h 24"/>
                  <a:gd name="T16" fmla="*/ 0 w 24"/>
                  <a:gd name="T17" fmla="*/ 6 h 24"/>
                  <a:gd name="T18" fmla="*/ 0 w 24"/>
                  <a:gd name="T19" fmla="*/ 6 h 24"/>
                  <a:gd name="T20" fmla="*/ 6 w 24"/>
                  <a:gd name="T21" fmla="*/ 12 h 24"/>
                  <a:gd name="T22" fmla="*/ 0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2" y="24"/>
                    </a:moveTo>
                    <a:lnTo>
                      <a:pt x="18" y="18"/>
                    </a:lnTo>
                    <a:lnTo>
                      <a:pt x="24" y="6"/>
                    </a:lnTo>
                    <a:lnTo>
                      <a:pt x="0" y="6"/>
                    </a:lnTo>
                    <a:lnTo>
                      <a:pt x="0" y="6"/>
                    </a:lnTo>
                    <a:lnTo>
                      <a:pt x="0" y="0"/>
                    </a:lnTo>
                    <a:lnTo>
                      <a:pt x="12" y="24"/>
                    </a:lnTo>
                    <a:close/>
                    <a:moveTo>
                      <a:pt x="0" y="0"/>
                    </a:moveTo>
                    <a:lnTo>
                      <a:pt x="0" y="6"/>
                    </a:lnTo>
                    <a:lnTo>
                      <a:pt x="0" y="6"/>
                    </a:lnTo>
                    <a:lnTo>
                      <a:pt x="6" y="12"/>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51317" name="Freeform 117"/>
              <p:cNvSpPr>
                <a:spLocks noEditPoints="1"/>
              </p:cNvSpPr>
              <p:nvPr/>
            </p:nvSpPr>
            <p:spPr bwMode="auto">
              <a:xfrm>
                <a:off x="4519" y="2429"/>
                <a:ext cx="24" cy="24"/>
              </a:xfrm>
              <a:custGeom>
                <a:avLst/>
                <a:gdLst>
                  <a:gd name="T0" fmla="*/ 24 w 24"/>
                  <a:gd name="T1" fmla="*/ 24 h 24"/>
                  <a:gd name="T2" fmla="*/ 24 w 24"/>
                  <a:gd name="T3" fmla="*/ 12 h 24"/>
                  <a:gd name="T4" fmla="*/ 24 w 24"/>
                  <a:gd name="T5" fmla="*/ 6 h 24"/>
                  <a:gd name="T6" fmla="*/ 18 w 24"/>
                  <a:gd name="T7" fmla="*/ 0 h 24"/>
                  <a:gd name="T8" fmla="*/ 0 w 24"/>
                  <a:gd name="T9" fmla="*/ 18 h 24"/>
                  <a:gd name="T10" fmla="*/ 0 w 24"/>
                  <a:gd name="T11" fmla="*/ 18 h 24"/>
                  <a:gd name="T12" fmla="*/ 0 w 24"/>
                  <a:gd name="T13" fmla="*/ 12 h 24"/>
                  <a:gd name="T14" fmla="*/ 24 w 24"/>
                  <a:gd name="T15" fmla="*/ 24 h 24"/>
                  <a:gd name="T16" fmla="*/ 0 w 24"/>
                  <a:gd name="T17" fmla="*/ 12 h 24"/>
                  <a:gd name="T18" fmla="*/ 0 w 24"/>
                  <a:gd name="T19" fmla="*/ 18 h 24"/>
                  <a:gd name="T20" fmla="*/ 0 w 24"/>
                  <a:gd name="T21" fmla="*/ 18 h 24"/>
                  <a:gd name="T22" fmla="*/ 12 w 24"/>
                  <a:gd name="T23" fmla="*/ 18 h 24"/>
                  <a:gd name="T24" fmla="*/ 0 w 24"/>
                  <a:gd name="T25"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24" y="24"/>
                    </a:moveTo>
                    <a:lnTo>
                      <a:pt x="24" y="12"/>
                    </a:lnTo>
                    <a:lnTo>
                      <a:pt x="24" y="6"/>
                    </a:lnTo>
                    <a:lnTo>
                      <a:pt x="18" y="0"/>
                    </a:lnTo>
                    <a:lnTo>
                      <a:pt x="0" y="18"/>
                    </a:lnTo>
                    <a:lnTo>
                      <a:pt x="0" y="18"/>
                    </a:lnTo>
                    <a:lnTo>
                      <a:pt x="0" y="12"/>
                    </a:lnTo>
                    <a:lnTo>
                      <a:pt x="24" y="24"/>
                    </a:lnTo>
                    <a:close/>
                    <a:moveTo>
                      <a:pt x="0" y="12"/>
                    </a:moveTo>
                    <a:lnTo>
                      <a:pt x="0" y="18"/>
                    </a:lnTo>
                    <a:lnTo>
                      <a:pt x="0" y="18"/>
                    </a:lnTo>
                    <a:lnTo>
                      <a:pt x="12" y="18"/>
                    </a:lnTo>
                    <a:lnTo>
                      <a:pt x="0" y="12"/>
                    </a:lnTo>
                    <a:close/>
                  </a:path>
                </a:pathLst>
              </a:custGeom>
              <a:solidFill>
                <a:srgbClr val="00FF00"/>
              </a:solidFill>
              <a:ln w="9525">
                <a:solidFill>
                  <a:srgbClr val="00FF00"/>
                </a:solidFill>
                <a:round/>
                <a:headEnd/>
                <a:tailEnd/>
              </a:ln>
            </p:spPr>
            <p:txBody>
              <a:bodyPr/>
              <a:lstStyle/>
              <a:p>
                <a:endParaRPr lang="zh-CN" altLang="en-US"/>
              </a:p>
            </p:txBody>
          </p:sp>
          <p:sp>
            <p:nvSpPr>
              <p:cNvPr id="51318" name="Freeform 118"/>
              <p:cNvSpPr>
                <a:spLocks noEditPoints="1"/>
              </p:cNvSpPr>
              <p:nvPr/>
            </p:nvSpPr>
            <p:spPr bwMode="auto">
              <a:xfrm>
                <a:off x="4519" y="2423"/>
                <a:ext cx="18" cy="24"/>
              </a:xfrm>
              <a:custGeom>
                <a:avLst/>
                <a:gdLst>
                  <a:gd name="T0" fmla="*/ 18 w 18"/>
                  <a:gd name="T1" fmla="*/ 6 h 24"/>
                  <a:gd name="T2" fmla="*/ 18 w 18"/>
                  <a:gd name="T3" fmla="*/ 6 h 24"/>
                  <a:gd name="T4" fmla="*/ 18 w 18"/>
                  <a:gd name="T5" fmla="*/ 12 h 24"/>
                  <a:gd name="T6" fmla="*/ 18 w 18"/>
                  <a:gd name="T7" fmla="*/ 18 h 24"/>
                  <a:gd name="T8" fmla="*/ 18 w 18"/>
                  <a:gd name="T9" fmla="*/ 18 h 24"/>
                  <a:gd name="T10" fmla="*/ 6 w 18"/>
                  <a:gd name="T11" fmla="*/ 0 h 24"/>
                  <a:gd name="T12" fmla="*/ 0 w 18"/>
                  <a:gd name="T13" fmla="*/ 6 h 24"/>
                  <a:gd name="T14" fmla="*/ 0 w 18"/>
                  <a:gd name="T15" fmla="*/ 12 h 24"/>
                  <a:gd name="T16" fmla="*/ 0 w 18"/>
                  <a:gd name="T17" fmla="*/ 18 h 24"/>
                  <a:gd name="T18" fmla="*/ 0 w 18"/>
                  <a:gd name="T19" fmla="*/ 24 h 24"/>
                  <a:gd name="T20" fmla="*/ 18 w 18"/>
                  <a:gd name="T21" fmla="*/ 6 h 24"/>
                  <a:gd name="T22" fmla="*/ 18 w 18"/>
                  <a:gd name="T23" fmla="*/ 6 h 24"/>
                  <a:gd name="T24" fmla="*/ 18 w 18"/>
                  <a:gd name="T25" fmla="*/ 6 h 24"/>
                  <a:gd name="T26" fmla="*/ 18 w 18"/>
                  <a:gd name="T27" fmla="*/ 6 h 24"/>
                  <a:gd name="T28" fmla="*/ 12 w 18"/>
                  <a:gd name="T29" fmla="*/ 18 h 24"/>
                  <a:gd name="T30" fmla="*/ 18 w 18"/>
                  <a:gd name="T31"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24">
                    <a:moveTo>
                      <a:pt x="18" y="6"/>
                    </a:moveTo>
                    <a:lnTo>
                      <a:pt x="18" y="6"/>
                    </a:lnTo>
                    <a:lnTo>
                      <a:pt x="18" y="12"/>
                    </a:lnTo>
                    <a:lnTo>
                      <a:pt x="18" y="18"/>
                    </a:lnTo>
                    <a:lnTo>
                      <a:pt x="18" y="18"/>
                    </a:lnTo>
                    <a:lnTo>
                      <a:pt x="6" y="0"/>
                    </a:lnTo>
                    <a:lnTo>
                      <a:pt x="0" y="6"/>
                    </a:lnTo>
                    <a:lnTo>
                      <a:pt x="0" y="12"/>
                    </a:lnTo>
                    <a:lnTo>
                      <a:pt x="0" y="18"/>
                    </a:lnTo>
                    <a:lnTo>
                      <a:pt x="0" y="24"/>
                    </a:lnTo>
                    <a:lnTo>
                      <a:pt x="18" y="6"/>
                    </a:lnTo>
                    <a:close/>
                    <a:moveTo>
                      <a:pt x="18" y="6"/>
                    </a:moveTo>
                    <a:lnTo>
                      <a:pt x="18" y="6"/>
                    </a:lnTo>
                    <a:lnTo>
                      <a:pt x="18" y="6"/>
                    </a:lnTo>
                    <a:lnTo>
                      <a:pt x="12" y="18"/>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51319" name="Freeform 119"/>
              <p:cNvSpPr>
                <a:spLocks noEditPoints="1"/>
              </p:cNvSpPr>
              <p:nvPr/>
            </p:nvSpPr>
            <p:spPr bwMode="auto">
              <a:xfrm>
                <a:off x="4525" y="2417"/>
                <a:ext cx="18" cy="24"/>
              </a:xfrm>
              <a:custGeom>
                <a:avLst/>
                <a:gdLst>
                  <a:gd name="T0" fmla="*/ 18 w 18"/>
                  <a:gd name="T1" fmla="*/ 24 h 24"/>
                  <a:gd name="T2" fmla="*/ 18 w 18"/>
                  <a:gd name="T3" fmla="*/ 24 h 24"/>
                  <a:gd name="T4" fmla="*/ 12 w 18"/>
                  <a:gd name="T5" fmla="*/ 24 h 24"/>
                  <a:gd name="T6" fmla="*/ 18 w 18"/>
                  <a:gd name="T7" fmla="*/ 0 h 24"/>
                  <a:gd name="T8" fmla="*/ 6 w 18"/>
                  <a:gd name="T9" fmla="*/ 6 h 24"/>
                  <a:gd name="T10" fmla="*/ 0 w 18"/>
                  <a:gd name="T11" fmla="*/ 6 h 24"/>
                  <a:gd name="T12" fmla="*/ 18 w 18"/>
                  <a:gd name="T13" fmla="*/ 24 h 24"/>
                  <a:gd name="T14" fmla="*/ 12 w 18"/>
                  <a:gd name="T15" fmla="*/ 24 h 24"/>
                  <a:gd name="T16" fmla="*/ 18 w 18"/>
                  <a:gd name="T17" fmla="*/ 24 h 24"/>
                  <a:gd name="T18" fmla="*/ 18 w 18"/>
                  <a:gd name="T19" fmla="*/ 24 h 24"/>
                  <a:gd name="T20" fmla="*/ 6 w 18"/>
                  <a:gd name="T21" fmla="*/ 18 h 24"/>
                  <a:gd name="T22" fmla="*/ 12 w 18"/>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18" y="24"/>
                    </a:moveTo>
                    <a:lnTo>
                      <a:pt x="18" y="24"/>
                    </a:lnTo>
                    <a:lnTo>
                      <a:pt x="12" y="24"/>
                    </a:lnTo>
                    <a:lnTo>
                      <a:pt x="18" y="0"/>
                    </a:lnTo>
                    <a:lnTo>
                      <a:pt x="6" y="6"/>
                    </a:lnTo>
                    <a:lnTo>
                      <a:pt x="0" y="6"/>
                    </a:lnTo>
                    <a:lnTo>
                      <a:pt x="18" y="24"/>
                    </a:lnTo>
                    <a:close/>
                    <a:moveTo>
                      <a:pt x="12" y="24"/>
                    </a:moveTo>
                    <a:lnTo>
                      <a:pt x="18" y="24"/>
                    </a:lnTo>
                    <a:lnTo>
                      <a:pt x="18" y="24"/>
                    </a:lnTo>
                    <a:lnTo>
                      <a:pt x="6" y="18"/>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51320" name="Freeform 120"/>
              <p:cNvSpPr>
                <a:spLocks noEditPoints="1"/>
              </p:cNvSpPr>
              <p:nvPr/>
            </p:nvSpPr>
            <p:spPr bwMode="auto">
              <a:xfrm>
                <a:off x="4525" y="2417"/>
                <a:ext cx="30" cy="18"/>
              </a:xfrm>
              <a:custGeom>
                <a:avLst/>
                <a:gdLst>
                  <a:gd name="T0" fmla="*/ 6 w 30"/>
                  <a:gd name="T1" fmla="*/ 12 h 18"/>
                  <a:gd name="T2" fmla="*/ 0 w 30"/>
                  <a:gd name="T3" fmla="*/ 18 h 18"/>
                  <a:gd name="T4" fmla="*/ 24 w 30"/>
                  <a:gd name="T5" fmla="*/ 18 h 18"/>
                  <a:gd name="T6" fmla="*/ 30 w 30"/>
                  <a:gd name="T7" fmla="*/ 18 h 18"/>
                  <a:gd name="T8" fmla="*/ 6 w 30"/>
                  <a:gd name="T9" fmla="*/ 12 h 18"/>
                  <a:gd name="T10" fmla="*/ 30 w 30"/>
                  <a:gd name="T11" fmla="*/ 18 h 18"/>
                  <a:gd name="T12" fmla="*/ 30 w 30"/>
                  <a:gd name="T13" fmla="*/ 6 h 18"/>
                  <a:gd name="T14" fmla="*/ 18 w 30"/>
                  <a:gd name="T15" fmla="*/ 0 h 18"/>
                  <a:gd name="T16" fmla="*/ 18 w 30"/>
                  <a:gd name="T17" fmla="*/ 12 h 18"/>
                  <a:gd name="T18" fmla="*/ 30 w 30"/>
                  <a:gd name="T19"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8">
                    <a:moveTo>
                      <a:pt x="6" y="12"/>
                    </a:moveTo>
                    <a:lnTo>
                      <a:pt x="0" y="18"/>
                    </a:lnTo>
                    <a:lnTo>
                      <a:pt x="24" y="18"/>
                    </a:lnTo>
                    <a:lnTo>
                      <a:pt x="30" y="18"/>
                    </a:lnTo>
                    <a:lnTo>
                      <a:pt x="6" y="12"/>
                    </a:lnTo>
                    <a:close/>
                    <a:moveTo>
                      <a:pt x="30" y="18"/>
                    </a:moveTo>
                    <a:lnTo>
                      <a:pt x="30" y="6"/>
                    </a:lnTo>
                    <a:lnTo>
                      <a:pt x="18" y="0"/>
                    </a:lnTo>
                    <a:lnTo>
                      <a:pt x="18" y="12"/>
                    </a:lnTo>
                    <a:lnTo>
                      <a:pt x="30" y="18"/>
                    </a:lnTo>
                    <a:close/>
                  </a:path>
                </a:pathLst>
              </a:custGeom>
              <a:solidFill>
                <a:srgbClr val="00FF00"/>
              </a:solidFill>
              <a:ln w="9525">
                <a:solidFill>
                  <a:srgbClr val="00FF00"/>
                </a:solidFill>
                <a:round/>
                <a:headEnd/>
                <a:tailEnd/>
              </a:ln>
            </p:spPr>
            <p:txBody>
              <a:bodyPr/>
              <a:lstStyle/>
              <a:p>
                <a:endParaRPr lang="zh-CN" altLang="en-US"/>
              </a:p>
            </p:txBody>
          </p:sp>
          <p:sp>
            <p:nvSpPr>
              <p:cNvPr id="51321" name="Freeform 121"/>
              <p:cNvSpPr>
                <a:spLocks/>
              </p:cNvSpPr>
              <p:nvPr/>
            </p:nvSpPr>
            <p:spPr bwMode="auto">
              <a:xfrm>
                <a:off x="4537" y="2435"/>
                <a:ext cx="12" cy="12"/>
              </a:xfrm>
              <a:custGeom>
                <a:avLst/>
                <a:gdLst>
                  <a:gd name="T0" fmla="*/ 6 w 12"/>
                  <a:gd name="T1" fmla="*/ 12 h 12"/>
                  <a:gd name="T2" fmla="*/ 12 w 12"/>
                  <a:gd name="T3" fmla="*/ 6 h 12"/>
                  <a:gd name="T4" fmla="*/ 12 w 12"/>
                  <a:gd name="T5" fmla="*/ 0 h 12"/>
                  <a:gd name="T6" fmla="*/ 0 w 12"/>
                  <a:gd name="T7" fmla="*/ 0 h 12"/>
                  <a:gd name="T8" fmla="*/ 6 w 12"/>
                  <a:gd name="T9" fmla="*/ 12 h 12"/>
                </a:gdLst>
                <a:ahLst/>
                <a:cxnLst>
                  <a:cxn ang="0">
                    <a:pos x="T0" y="T1"/>
                  </a:cxn>
                  <a:cxn ang="0">
                    <a:pos x="T2" y="T3"/>
                  </a:cxn>
                  <a:cxn ang="0">
                    <a:pos x="T4" y="T5"/>
                  </a:cxn>
                  <a:cxn ang="0">
                    <a:pos x="T6" y="T7"/>
                  </a:cxn>
                  <a:cxn ang="0">
                    <a:pos x="T8" y="T9"/>
                  </a:cxn>
                </a:cxnLst>
                <a:rect l="0" t="0" r="r" b="b"/>
                <a:pathLst>
                  <a:path w="12" h="12">
                    <a:moveTo>
                      <a:pt x="6" y="12"/>
                    </a:moveTo>
                    <a:lnTo>
                      <a:pt x="12" y="6"/>
                    </a:lnTo>
                    <a:lnTo>
                      <a:pt x="12" y="0"/>
                    </a:lnTo>
                    <a:lnTo>
                      <a:pt x="0" y="0"/>
                    </a:lnTo>
                    <a:lnTo>
                      <a:pt x="6" y="12"/>
                    </a:lnTo>
                    <a:close/>
                  </a:path>
                </a:pathLst>
              </a:custGeom>
              <a:solidFill>
                <a:srgbClr val="00FF00"/>
              </a:solidFill>
              <a:ln w="9525">
                <a:solidFill>
                  <a:srgbClr val="00FF00"/>
                </a:solidFill>
                <a:round/>
                <a:headEnd/>
                <a:tailEnd/>
              </a:ln>
            </p:spPr>
            <p:txBody>
              <a:bodyPr/>
              <a:lstStyle/>
              <a:p>
                <a:endParaRPr lang="zh-CN" altLang="en-US"/>
              </a:p>
            </p:txBody>
          </p:sp>
          <p:sp>
            <p:nvSpPr>
              <p:cNvPr id="51322" name="Freeform 122"/>
              <p:cNvSpPr>
                <a:spLocks/>
              </p:cNvSpPr>
              <p:nvPr/>
            </p:nvSpPr>
            <p:spPr bwMode="auto">
              <a:xfrm>
                <a:off x="4537" y="2370"/>
                <a:ext cx="30" cy="77"/>
              </a:xfrm>
              <a:custGeom>
                <a:avLst/>
                <a:gdLst>
                  <a:gd name="T0" fmla="*/ 12 w 30"/>
                  <a:gd name="T1" fmla="*/ 0 h 77"/>
                  <a:gd name="T2" fmla="*/ 6 w 30"/>
                  <a:gd name="T3" fmla="*/ 6 h 77"/>
                  <a:gd name="T4" fmla="*/ 6 w 30"/>
                  <a:gd name="T5" fmla="*/ 12 h 77"/>
                  <a:gd name="T6" fmla="*/ 0 w 30"/>
                  <a:gd name="T7" fmla="*/ 35 h 77"/>
                  <a:gd name="T8" fmla="*/ 6 w 30"/>
                  <a:gd name="T9" fmla="*/ 65 h 77"/>
                  <a:gd name="T10" fmla="*/ 6 w 30"/>
                  <a:gd name="T11" fmla="*/ 77 h 77"/>
                  <a:gd name="T12" fmla="*/ 12 w 30"/>
                  <a:gd name="T13" fmla="*/ 77 h 77"/>
                  <a:gd name="T14" fmla="*/ 18 w 30"/>
                  <a:gd name="T15" fmla="*/ 77 h 77"/>
                  <a:gd name="T16" fmla="*/ 24 w 30"/>
                  <a:gd name="T17" fmla="*/ 65 h 77"/>
                  <a:gd name="T18" fmla="*/ 30 w 30"/>
                  <a:gd name="T19" fmla="*/ 35 h 77"/>
                  <a:gd name="T20" fmla="*/ 24 w 30"/>
                  <a:gd name="T21" fmla="*/ 12 h 77"/>
                  <a:gd name="T22" fmla="*/ 18 w 30"/>
                  <a:gd name="T23" fmla="*/ 6 h 77"/>
                  <a:gd name="T24" fmla="*/ 12 w 30"/>
                  <a:gd name="T25" fmla="*/ 0 h 77"/>
                  <a:gd name="T26" fmla="*/ 12 w 30"/>
                  <a:gd name="T27"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77">
                    <a:moveTo>
                      <a:pt x="12" y="0"/>
                    </a:moveTo>
                    <a:lnTo>
                      <a:pt x="6" y="6"/>
                    </a:lnTo>
                    <a:lnTo>
                      <a:pt x="6" y="12"/>
                    </a:lnTo>
                    <a:lnTo>
                      <a:pt x="0" y="35"/>
                    </a:lnTo>
                    <a:lnTo>
                      <a:pt x="6" y="65"/>
                    </a:lnTo>
                    <a:lnTo>
                      <a:pt x="6" y="77"/>
                    </a:lnTo>
                    <a:lnTo>
                      <a:pt x="12" y="77"/>
                    </a:lnTo>
                    <a:lnTo>
                      <a:pt x="18" y="77"/>
                    </a:lnTo>
                    <a:lnTo>
                      <a:pt x="24" y="65"/>
                    </a:lnTo>
                    <a:lnTo>
                      <a:pt x="30" y="35"/>
                    </a:lnTo>
                    <a:lnTo>
                      <a:pt x="24" y="12"/>
                    </a:lnTo>
                    <a:lnTo>
                      <a:pt x="18" y="6"/>
                    </a:lnTo>
                    <a:lnTo>
                      <a:pt x="12" y="0"/>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323" name="Freeform 123"/>
              <p:cNvSpPr>
                <a:spLocks/>
              </p:cNvSpPr>
              <p:nvPr/>
            </p:nvSpPr>
            <p:spPr bwMode="auto">
              <a:xfrm>
                <a:off x="4525" y="2358"/>
                <a:ext cx="30" cy="47"/>
              </a:xfrm>
              <a:custGeom>
                <a:avLst/>
                <a:gdLst>
                  <a:gd name="T0" fmla="*/ 24 w 30"/>
                  <a:gd name="T1" fmla="*/ 0 h 47"/>
                  <a:gd name="T2" fmla="*/ 12 w 30"/>
                  <a:gd name="T3" fmla="*/ 6 h 47"/>
                  <a:gd name="T4" fmla="*/ 6 w 30"/>
                  <a:gd name="T5" fmla="*/ 18 h 47"/>
                  <a:gd name="T6" fmla="*/ 0 w 30"/>
                  <a:gd name="T7" fmla="*/ 47 h 47"/>
                  <a:gd name="T8" fmla="*/ 24 w 30"/>
                  <a:gd name="T9" fmla="*/ 47 h 47"/>
                  <a:gd name="T10" fmla="*/ 24 w 30"/>
                  <a:gd name="T11" fmla="*/ 36 h 47"/>
                  <a:gd name="T12" fmla="*/ 24 w 30"/>
                  <a:gd name="T13" fmla="*/ 30 h 47"/>
                  <a:gd name="T14" fmla="*/ 30 w 30"/>
                  <a:gd name="T15" fmla="*/ 24 h 47"/>
                  <a:gd name="T16" fmla="*/ 24 w 30"/>
                  <a:gd name="T17" fmla="*/ 24 h 47"/>
                  <a:gd name="T18" fmla="*/ 24 w 30"/>
                  <a:gd name="T1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47">
                    <a:moveTo>
                      <a:pt x="24" y="0"/>
                    </a:moveTo>
                    <a:lnTo>
                      <a:pt x="12" y="6"/>
                    </a:lnTo>
                    <a:lnTo>
                      <a:pt x="6" y="18"/>
                    </a:lnTo>
                    <a:lnTo>
                      <a:pt x="0" y="47"/>
                    </a:lnTo>
                    <a:lnTo>
                      <a:pt x="24" y="47"/>
                    </a:lnTo>
                    <a:lnTo>
                      <a:pt x="24" y="36"/>
                    </a:lnTo>
                    <a:lnTo>
                      <a:pt x="24" y="30"/>
                    </a:lnTo>
                    <a:lnTo>
                      <a:pt x="30" y="24"/>
                    </a:lnTo>
                    <a:lnTo>
                      <a:pt x="24" y="24"/>
                    </a:lnTo>
                    <a:lnTo>
                      <a:pt x="24" y="0"/>
                    </a:lnTo>
                    <a:close/>
                  </a:path>
                </a:pathLst>
              </a:custGeom>
              <a:solidFill>
                <a:srgbClr val="00FF00"/>
              </a:solidFill>
              <a:ln w="9525">
                <a:solidFill>
                  <a:srgbClr val="00FF00"/>
                </a:solidFill>
                <a:round/>
                <a:headEnd/>
                <a:tailEnd/>
              </a:ln>
            </p:spPr>
            <p:txBody>
              <a:bodyPr/>
              <a:lstStyle/>
              <a:p>
                <a:endParaRPr lang="zh-CN" altLang="en-US"/>
              </a:p>
            </p:txBody>
          </p:sp>
        </p:grpSp>
        <p:sp>
          <p:nvSpPr>
            <p:cNvPr id="51324" name="Freeform 124"/>
            <p:cNvSpPr>
              <a:spLocks noEditPoints="1"/>
            </p:cNvSpPr>
            <p:nvPr/>
          </p:nvSpPr>
          <p:spPr bwMode="auto">
            <a:xfrm>
              <a:off x="4524" y="2386"/>
              <a:ext cx="30" cy="54"/>
            </a:xfrm>
            <a:custGeom>
              <a:avLst/>
              <a:gdLst>
                <a:gd name="T0" fmla="*/ 0 w 30"/>
                <a:gd name="T1" fmla="*/ 0 h 54"/>
                <a:gd name="T2" fmla="*/ 6 w 30"/>
                <a:gd name="T3" fmla="*/ 36 h 54"/>
                <a:gd name="T4" fmla="*/ 12 w 30"/>
                <a:gd name="T5" fmla="*/ 48 h 54"/>
                <a:gd name="T6" fmla="*/ 24 w 30"/>
                <a:gd name="T7" fmla="*/ 54 h 54"/>
                <a:gd name="T8" fmla="*/ 24 w 30"/>
                <a:gd name="T9" fmla="*/ 30 h 54"/>
                <a:gd name="T10" fmla="*/ 30 w 30"/>
                <a:gd name="T11" fmla="*/ 30 h 54"/>
                <a:gd name="T12" fmla="*/ 30 w 30"/>
                <a:gd name="T13" fmla="*/ 24 h 54"/>
                <a:gd name="T14" fmla="*/ 24 w 30"/>
                <a:gd name="T15" fmla="*/ 0 h 54"/>
                <a:gd name="T16" fmla="*/ 0 w 30"/>
                <a:gd name="T17" fmla="*/ 0 h 54"/>
                <a:gd name="T18" fmla="*/ 24 w 30"/>
                <a:gd name="T19" fmla="*/ 0 h 54"/>
                <a:gd name="T20" fmla="*/ 24 w 30"/>
                <a:gd name="T21" fmla="*/ 0 h 54"/>
                <a:gd name="T22" fmla="*/ 12 w 30"/>
                <a:gd name="T23" fmla="*/ 0 h 54"/>
                <a:gd name="T24" fmla="*/ 24 w 30"/>
                <a:gd name="T2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54">
                  <a:moveTo>
                    <a:pt x="0" y="0"/>
                  </a:moveTo>
                  <a:lnTo>
                    <a:pt x="6" y="36"/>
                  </a:lnTo>
                  <a:lnTo>
                    <a:pt x="12" y="48"/>
                  </a:lnTo>
                  <a:lnTo>
                    <a:pt x="24" y="54"/>
                  </a:lnTo>
                  <a:lnTo>
                    <a:pt x="24" y="30"/>
                  </a:lnTo>
                  <a:lnTo>
                    <a:pt x="30" y="30"/>
                  </a:lnTo>
                  <a:lnTo>
                    <a:pt x="30" y="24"/>
                  </a:lnTo>
                  <a:lnTo>
                    <a:pt x="24" y="0"/>
                  </a:lnTo>
                  <a:lnTo>
                    <a:pt x="0" y="0"/>
                  </a:lnTo>
                  <a:close/>
                  <a:moveTo>
                    <a:pt x="24" y="0"/>
                  </a:moveTo>
                  <a:lnTo>
                    <a:pt x="24" y="0"/>
                  </a:lnTo>
                  <a:lnTo>
                    <a:pt x="12" y="0"/>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25" name="Freeform 125"/>
            <p:cNvSpPr>
              <a:spLocks noEditPoints="1"/>
            </p:cNvSpPr>
            <p:nvPr/>
          </p:nvSpPr>
          <p:spPr bwMode="auto">
            <a:xfrm>
              <a:off x="4548" y="2386"/>
              <a:ext cx="30" cy="54"/>
            </a:xfrm>
            <a:custGeom>
              <a:avLst/>
              <a:gdLst>
                <a:gd name="T0" fmla="*/ 0 w 30"/>
                <a:gd name="T1" fmla="*/ 54 h 54"/>
                <a:gd name="T2" fmla="*/ 12 w 30"/>
                <a:gd name="T3" fmla="*/ 48 h 54"/>
                <a:gd name="T4" fmla="*/ 24 w 30"/>
                <a:gd name="T5" fmla="*/ 36 h 54"/>
                <a:gd name="T6" fmla="*/ 30 w 30"/>
                <a:gd name="T7" fmla="*/ 0 h 54"/>
                <a:gd name="T8" fmla="*/ 6 w 30"/>
                <a:gd name="T9" fmla="*/ 0 h 54"/>
                <a:gd name="T10" fmla="*/ 0 w 30"/>
                <a:gd name="T11" fmla="*/ 24 h 54"/>
                <a:gd name="T12" fmla="*/ 0 w 30"/>
                <a:gd name="T13" fmla="*/ 30 h 54"/>
                <a:gd name="T14" fmla="*/ 0 w 30"/>
                <a:gd name="T15" fmla="*/ 30 h 54"/>
                <a:gd name="T16" fmla="*/ 0 w 30"/>
                <a:gd name="T17" fmla="*/ 54 h 54"/>
                <a:gd name="T18" fmla="*/ 0 w 30"/>
                <a:gd name="T19" fmla="*/ 30 h 54"/>
                <a:gd name="T20" fmla="*/ 0 w 30"/>
                <a:gd name="T21" fmla="*/ 30 h 54"/>
                <a:gd name="T22" fmla="*/ 0 w 30"/>
                <a:gd name="T23" fmla="*/ 42 h 54"/>
                <a:gd name="T24" fmla="*/ 0 w 30"/>
                <a:gd name="T25" fmla="*/ 3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54">
                  <a:moveTo>
                    <a:pt x="0" y="54"/>
                  </a:moveTo>
                  <a:lnTo>
                    <a:pt x="12" y="48"/>
                  </a:lnTo>
                  <a:lnTo>
                    <a:pt x="24" y="36"/>
                  </a:lnTo>
                  <a:lnTo>
                    <a:pt x="30" y="0"/>
                  </a:lnTo>
                  <a:lnTo>
                    <a:pt x="6" y="0"/>
                  </a:lnTo>
                  <a:lnTo>
                    <a:pt x="0" y="24"/>
                  </a:lnTo>
                  <a:lnTo>
                    <a:pt x="0" y="30"/>
                  </a:lnTo>
                  <a:lnTo>
                    <a:pt x="0" y="30"/>
                  </a:lnTo>
                  <a:lnTo>
                    <a:pt x="0" y="54"/>
                  </a:lnTo>
                  <a:close/>
                  <a:moveTo>
                    <a:pt x="0" y="30"/>
                  </a:moveTo>
                  <a:lnTo>
                    <a:pt x="0" y="30"/>
                  </a:lnTo>
                  <a:lnTo>
                    <a:pt x="0" y="42"/>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26" name="Freeform 126"/>
            <p:cNvSpPr>
              <a:spLocks noEditPoints="1"/>
            </p:cNvSpPr>
            <p:nvPr/>
          </p:nvSpPr>
          <p:spPr bwMode="auto">
            <a:xfrm>
              <a:off x="4548" y="2339"/>
              <a:ext cx="30" cy="47"/>
            </a:xfrm>
            <a:custGeom>
              <a:avLst/>
              <a:gdLst>
                <a:gd name="T0" fmla="*/ 30 w 30"/>
                <a:gd name="T1" fmla="*/ 47 h 47"/>
                <a:gd name="T2" fmla="*/ 24 w 30"/>
                <a:gd name="T3" fmla="*/ 18 h 47"/>
                <a:gd name="T4" fmla="*/ 12 w 30"/>
                <a:gd name="T5" fmla="*/ 6 h 47"/>
                <a:gd name="T6" fmla="*/ 0 w 30"/>
                <a:gd name="T7" fmla="*/ 0 h 47"/>
                <a:gd name="T8" fmla="*/ 0 w 30"/>
                <a:gd name="T9" fmla="*/ 24 h 47"/>
                <a:gd name="T10" fmla="*/ 0 w 30"/>
                <a:gd name="T11" fmla="*/ 24 h 47"/>
                <a:gd name="T12" fmla="*/ 0 w 30"/>
                <a:gd name="T13" fmla="*/ 30 h 47"/>
                <a:gd name="T14" fmla="*/ 6 w 30"/>
                <a:gd name="T15" fmla="*/ 47 h 47"/>
                <a:gd name="T16" fmla="*/ 30 w 30"/>
                <a:gd name="T17" fmla="*/ 47 h 47"/>
                <a:gd name="T18" fmla="*/ 6 w 30"/>
                <a:gd name="T19" fmla="*/ 47 h 47"/>
                <a:gd name="T20" fmla="*/ 6 w 30"/>
                <a:gd name="T21" fmla="*/ 47 h 47"/>
                <a:gd name="T22" fmla="*/ 18 w 30"/>
                <a:gd name="T23" fmla="*/ 47 h 47"/>
                <a:gd name="T24" fmla="*/ 6 w 30"/>
                <a:gd name="T25"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47">
                  <a:moveTo>
                    <a:pt x="30" y="47"/>
                  </a:moveTo>
                  <a:lnTo>
                    <a:pt x="24" y="18"/>
                  </a:lnTo>
                  <a:lnTo>
                    <a:pt x="12" y="6"/>
                  </a:lnTo>
                  <a:lnTo>
                    <a:pt x="0" y="0"/>
                  </a:lnTo>
                  <a:lnTo>
                    <a:pt x="0" y="24"/>
                  </a:lnTo>
                  <a:lnTo>
                    <a:pt x="0" y="24"/>
                  </a:lnTo>
                  <a:lnTo>
                    <a:pt x="0" y="30"/>
                  </a:lnTo>
                  <a:lnTo>
                    <a:pt x="6" y="47"/>
                  </a:lnTo>
                  <a:lnTo>
                    <a:pt x="30" y="47"/>
                  </a:lnTo>
                  <a:close/>
                  <a:moveTo>
                    <a:pt x="6" y="47"/>
                  </a:moveTo>
                  <a:lnTo>
                    <a:pt x="6" y="47"/>
                  </a:lnTo>
                  <a:lnTo>
                    <a:pt x="18" y="47"/>
                  </a:lnTo>
                  <a:lnTo>
                    <a:pt x="6" y="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27" name="Freeform 127"/>
            <p:cNvSpPr>
              <a:spLocks/>
            </p:cNvSpPr>
            <p:nvPr/>
          </p:nvSpPr>
          <p:spPr bwMode="auto">
            <a:xfrm>
              <a:off x="4548" y="2351"/>
              <a:ext cx="1" cy="12"/>
            </a:xfrm>
            <a:custGeom>
              <a:avLst/>
              <a:gdLst>
                <a:gd name="T0" fmla="*/ 12 h 12"/>
                <a:gd name="T1" fmla="*/ 12 h 12"/>
                <a:gd name="T2" fmla="*/ 12 h 12"/>
                <a:gd name="T3" fmla="*/ 0 h 12"/>
                <a:gd name="T4" fmla="*/ 12 h 12"/>
              </a:gdLst>
              <a:ahLst/>
              <a:cxnLst>
                <a:cxn ang="0">
                  <a:pos x="0" y="T0"/>
                </a:cxn>
                <a:cxn ang="0">
                  <a:pos x="0" y="T1"/>
                </a:cxn>
                <a:cxn ang="0">
                  <a:pos x="0" y="T2"/>
                </a:cxn>
                <a:cxn ang="0">
                  <a:pos x="0" y="T3"/>
                </a:cxn>
                <a:cxn ang="0">
                  <a:pos x="0" y="T4"/>
                </a:cxn>
              </a:cxnLst>
              <a:rect l="0" t="0" r="r" b="b"/>
              <a:pathLst>
                <a:path h="12">
                  <a:moveTo>
                    <a:pt x="0" y="12"/>
                  </a:moveTo>
                  <a:lnTo>
                    <a:pt x="0" y="12"/>
                  </a:lnTo>
                  <a:lnTo>
                    <a:pt x="0" y="12"/>
                  </a:lnTo>
                  <a:lnTo>
                    <a:pt x="0"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28" name="Freeform 128"/>
            <p:cNvSpPr>
              <a:spLocks/>
            </p:cNvSpPr>
            <p:nvPr/>
          </p:nvSpPr>
          <p:spPr bwMode="auto">
            <a:xfrm>
              <a:off x="4536" y="2428"/>
              <a:ext cx="24" cy="12"/>
            </a:xfrm>
            <a:custGeom>
              <a:avLst/>
              <a:gdLst>
                <a:gd name="T0" fmla="*/ 6 w 24"/>
                <a:gd name="T1" fmla="*/ 0 h 12"/>
                <a:gd name="T2" fmla="*/ 6 w 24"/>
                <a:gd name="T3" fmla="*/ 6 h 12"/>
                <a:gd name="T4" fmla="*/ 0 w 24"/>
                <a:gd name="T5" fmla="*/ 6 h 12"/>
                <a:gd name="T6" fmla="*/ 6 w 24"/>
                <a:gd name="T7" fmla="*/ 12 h 12"/>
                <a:gd name="T8" fmla="*/ 6 w 24"/>
                <a:gd name="T9" fmla="*/ 12 h 12"/>
                <a:gd name="T10" fmla="*/ 18 w 24"/>
                <a:gd name="T11" fmla="*/ 12 h 12"/>
                <a:gd name="T12" fmla="*/ 24 w 24"/>
                <a:gd name="T13" fmla="*/ 12 h 12"/>
                <a:gd name="T14" fmla="*/ 24 w 24"/>
                <a:gd name="T15" fmla="*/ 6 h 12"/>
                <a:gd name="T16" fmla="*/ 24 w 24"/>
                <a:gd name="T17" fmla="*/ 6 h 12"/>
                <a:gd name="T18" fmla="*/ 18 w 24"/>
                <a:gd name="T19" fmla="*/ 0 h 12"/>
                <a:gd name="T20" fmla="*/ 6 w 24"/>
                <a:gd name="T21" fmla="*/ 0 h 12"/>
                <a:gd name="T22" fmla="*/ 6 w 24"/>
                <a:gd name="T23"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2">
                  <a:moveTo>
                    <a:pt x="6" y="0"/>
                  </a:moveTo>
                  <a:lnTo>
                    <a:pt x="6" y="6"/>
                  </a:lnTo>
                  <a:lnTo>
                    <a:pt x="0" y="6"/>
                  </a:lnTo>
                  <a:lnTo>
                    <a:pt x="6" y="12"/>
                  </a:lnTo>
                  <a:lnTo>
                    <a:pt x="6" y="12"/>
                  </a:lnTo>
                  <a:lnTo>
                    <a:pt x="18" y="12"/>
                  </a:lnTo>
                  <a:lnTo>
                    <a:pt x="24" y="12"/>
                  </a:lnTo>
                  <a:lnTo>
                    <a:pt x="24" y="6"/>
                  </a:lnTo>
                  <a:lnTo>
                    <a:pt x="24" y="6"/>
                  </a:lnTo>
                  <a:lnTo>
                    <a:pt x="18" y="0"/>
                  </a:lnTo>
                  <a:lnTo>
                    <a:pt x="6" y="0"/>
                  </a:lnTo>
                  <a:lnTo>
                    <a:pt x="6" y="0"/>
                  </a:lnTo>
                  <a:close/>
                </a:path>
              </a:pathLst>
            </a:custGeom>
            <a:solidFill>
              <a:srgbClr val="61AC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29" name="Freeform 129"/>
            <p:cNvSpPr>
              <a:spLocks/>
            </p:cNvSpPr>
            <p:nvPr/>
          </p:nvSpPr>
          <p:spPr bwMode="auto">
            <a:xfrm>
              <a:off x="4524" y="2416"/>
              <a:ext cx="24" cy="24"/>
            </a:xfrm>
            <a:custGeom>
              <a:avLst/>
              <a:gdLst>
                <a:gd name="T0" fmla="*/ 18 w 24"/>
                <a:gd name="T1" fmla="*/ 0 h 24"/>
                <a:gd name="T2" fmla="*/ 6 w 24"/>
                <a:gd name="T3" fmla="*/ 6 h 24"/>
                <a:gd name="T4" fmla="*/ 0 w 24"/>
                <a:gd name="T5" fmla="*/ 18 h 24"/>
                <a:gd name="T6" fmla="*/ 24 w 24"/>
                <a:gd name="T7" fmla="*/ 18 h 24"/>
                <a:gd name="T8" fmla="*/ 24 w 24"/>
                <a:gd name="T9" fmla="*/ 24 h 24"/>
                <a:gd name="T10" fmla="*/ 18 w 24"/>
                <a:gd name="T11" fmla="*/ 24 h 24"/>
                <a:gd name="T12" fmla="*/ 18 w 24"/>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4" h="24">
                  <a:moveTo>
                    <a:pt x="18" y="0"/>
                  </a:moveTo>
                  <a:lnTo>
                    <a:pt x="6" y="6"/>
                  </a:lnTo>
                  <a:lnTo>
                    <a:pt x="0" y="18"/>
                  </a:lnTo>
                  <a:lnTo>
                    <a:pt x="24" y="18"/>
                  </a:lnTo>
                  <a:lnTo>
                    <a:pt x="24" y="24"/>
                  </a:lnTo>
                  <a:lnTo>
                    <a:pt x="18" y="24"/>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30" name="Freeform 130"/>
            <p:cNvSpPr>
              <a:spLocks noEditPoints="1"/>
            </p:cNvSpPr>
            <p:nvPr/>
          </p:nvSpPr>
          <p:spPr bwMode="auto">
            <a:xfrm>
              <a:off x="4524" y="2434"/>
              <a:ext cx="24" cy="18"/>
            </a:xfrm>
            <a:custGeom>
              <a:avLst/>
              <a:gdLst>
                <a:gd name="T0" fmla="*/ 0 w 24"/>
                <a:gd name="T1" fmla="*/ 0 h 18"/>
                <a:gd name="T2" fmla="*/ 6 w 24"/>
                <a:gd name="T3" fmla="*/ 12 h 18"/>
                <a:gd name="T4" fmla="*/ 18 w 24"/>
                <a:gd name="T5" fmla="*/ 18 h 18"/>
                <a:gd name="T6" fmla="*/ 24 w 24"/>
                <a:gd name="T7" fmla="*/ 0 h 18"/>
                <a:gd name="T8" fmla="*/ 24 w 24"/>
                <a:gd name="T9" fmla="*/ 0 h 18"/>
                <a:gd name="T10" fmla="*/ 0 w 24"/>
                <a:gd name="T11" fmla="*/ 0 h 18"/>
                <a:gd name="T12" fmla="*/ 24 w 24"/>
                <a:gd name="T13" fmla="*/ 0 h 18"/>
                <a:gd name="T14" fmla="*/ 24 w 24"/>
                <a:gd name="T15" fmla="*/ 0 h 18"/>
                <a:gd name="T16" fmla="*/ 12 w 24"/>
                <a:gd name="T17" fmla="*/ 0 h 18"/>
                <a:gd name="T18" fmla="*/ 24 w 24"/>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0" y="0"/>
                  </a:moveTo>
                  <a:lnTo>
                    <a:pt x="6" y="12"/>
                  </a:lnTo>
                  <a:lnTo>
                    <a:pt x="18" y="18"/>
                  </a:lnTo>
                  <a:lnTo>
                    <a:pt x="24" y="0"/>
                  </a:lnTo>
                  <a:lnTo>
                    <a:pt x="24" y="0"/>
                  </a:lnTo>
                  <a:lnTo>
                    <a:pt x="0" y="0"/>
                  </a:lnTo>
                  <a:close/>
                  <a:moveTo>
                    <a:pt x="24" y="0"/>
                  </a:moveTo>
                  <a:lnTo>
                    <a:pt x="24" y="0"/>
                  </a:lnTo>
                  <a:lnTo>
                    <a:pt x="12" y="0"/>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31" name="Freeform 131"/>
            <p:cNvSpPr>
              <a:spLocks noEditPoints="1"/>
            </p:cNvSpPr>
            <p:nvPr/>
          </p:nvSpPr>
          <p:spPr bwMode="auto">
            <a:xfrm>
              <a:off x="4542" y="2428"/>
              <a:ext cx="12" cy="24"/>
            </a:xfrm>
            <a:custGeom>
              <a:avLst/>
              <a:gdLst>
                <a:gd name="T0" fmla="*/ 0 w 12"/>
                <a:gd name="T1" fmla="*/ 24 h 24"/>
                <a:gd name="T2" fmla="*/ 12 w 12"/>
                <a:gd name="T3" fmla="*/ 24 h 24"/>
                <a:gd name="T4" fmla="*/ 12 w 12"/>
                <a:gd name="T5" fmla="*/ 0 h 24"/>
                <a:gd name="T6" fmla="*/ 0 w 12"/>
                <a:gd name="T7" fmla="*/ 0 h 24"/>
                <a:gd name="T8" fmla="*/ 0 w 12"/>
                <a:gd name="T9" fmla="*/ 24 h 24"/>
                <a:gd name="T10" fmla="*/ 0 w 12"/>
                <a:gd name="T11" fmla="*/ 24 h 24"/>
                <a:gd name="T12" fmla="*/ 0 w 12"/>
                <a:gd name="T13" fmla="*/ 24 h 24"/>
                <a:gd name="T14" fmla="*/ 0 w 12"/>
                <a:gd name="T15" fmla="*/ 24 h 24"/>
                <a:gd name="T16" fmla="*/ 0 w 12"/>
                <a:gd name="T17" fmla="*/ 12 h 24"/>
                <a:gd name="T18" fmla="*/ 0 w 12"/>
                <a:gd name="T1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4">
                  <a:moveTo>
                    <a:pt x="0" y="24"/>
                  </a:moveTo>
                  <a:lnTo>
                    <a:pt x="12" y="24"/>
                  </a:lnTo>
                  <a:lnTo>
                    <a:pt x="12" y="0"/>
                  </a:lnTo>
                  <a:lnTo>
                    <a:pt x="0" y="0"/>
                  </a:lnTo>
                  <a:lnTo>
                    <a:pt x="0" y="24"/>
                  </a:lnTo>
                  <a:close/>
                  <a:moveTo>
                    <a:pt x="0" y="24"/>
                  </a:moveTo>
                  <a:lnTo>
                    <a:pt x="0" y="24"/>
                  </a:lnTo>
                  <a:lnTo>
                    <a:pt x="0" y="24"/>
                  </a:lnTo>
                  <a:lnTo>
                    <a:pt x="0" y="12"/>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32" name="Freeform 132"/>
            <p:cNvSpPr>
              <a:spLocks noEditPoints="1"/>
            </p:cNvSpPr>
            <p:nvPr/>
          </p:nvSpPr>
          <p:spPr bwMode="auto">
            <a:xfrm>
              <a:off x="4548" y="2434"/>
              <a:ext cx="24" cy="18"/>
            </a:xfrm>
            <a:custGeom>
              <a:avLst/>
              <a:gdLst>
                <a:gd name="T0" fmla="*/ 12 w 24"/>
                <a:gd name="T1" fmla="*/ 18 h 18"/>
                <a:gd name="T2" fmla="*/ 18 w 24"/>
                <a:gd name="T3" fmla="*/ 12 h 18"/>
                <a:gd name="T4" fmla="*/ 24 w 24"/>
                <a:gd name="T5" fmla="*/ 0 h 18"/>
                <a:gd name="T6" fmla="*/ 0 w 24"/>
                <a:gd name="T7" fmla="*/ 0 h 18"/>
                <a:gd name="T8" fmla="*/ 6 w 24"/>
                <a:gd name="T9" fmla="*/ 0 h 18"/>
                <a:gd name="T10" fmla="*/ 6 w 24"/>
                <a:gd name="T11" fmla="*/ 0 h 18"/>
                <a:gd name="T12" fmla="*/ 12 w 24"/>
                <a:gd name="T13" fmla="*/ 18 h 18"/>
                <a:gd name="T14" fmla="*/ 6 w 24"/>
                <a:gd name="T15" fmla="*/ 18 h 18"/>
                <a:gd name="T16" fmla="*/ 12 w 24"/>
                <a:gd name="T17" fmla="*/ 18 h 18"/>
                <a:gd name="T18" fmla="*/ 12 w 24"/>
                <a:gd name="T19" fmla="*/ 18 h 18"/>
                <a:gd name="T20" fmla="*/ 6 w 24"/>
                <a:gd name="T21" fmla="*/ 6 h 18"/>
                <a:gd name="T22" fmla="*/ 6 w 24"/>
                <a:gd name="T23"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12" y="18"/>
                  </a:moveTo>
                  <a:lnTo>
                    <a:pt x="18" y="12"/>
                  </a:lnTo>
                  <a:lnTo>
                    <a:pt x="24" y="0"/>
                  </a:lnTo>
                  <a:lnTo>
                    <a:pt x="0" y="0"/>
                  </a:lnTo>
                  <a:lnTo>
                    <a:pt x="6" y="0"/>
                  </a:lnTo>
                  <a:lnTo>
                    <a:pt x="6" y="0"/>
                  </a:lnTo>
                  <a:lnTo>
                    <a:pt x="12" y="18"/>
                  </a:lnTo>
                  <a:close/>
                  <a:moveTo>
                    <a:pt x="6" y="18"/>
                  </a:moveTo>
                  <a:lnTo>
                    <a:pt x="12" y="18"/>
                  </a:lnTo>
                  <a:lnTo>
                    <a:pt x="12" y="18"/>
                  </a:lnTo>
                  <a:lnTo>
                    <a:pt x="6" y="6"/>
                  </a:lnTo>
                  <a:lnTo>
                    <a:pt x="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33" name="Freeform 133"/>
            <p:cNvSpPr>
              <a:spLocks noEditPoints="1"/>
            </p:cNvSpPr>
            <p:nvPr/>
          </p:nvSpPr>
          <p:spPr bwMode="auto">
            <a:xfrm>
              <a:off x="4548" y="2416"/>
              <a:ext cx="24" cy="24"/>
            </a:xfrm>
            <a:custGeom>
              <a:avLst/>
              <a:gdLst>
                <a:gd name="T0" fmla="*/ 24 w 24"/>
                <a:gd name="T1" fmla="*/ 18 h 24"/>
                <a:gd name="T2" fmla="*/ 18 w 24"/>
                <a:gd name="T3" fmla="*/ 6 h 24"/>
                <a:gd name="T4" fmla="*/ 6 w 24"/>
                <a:gd name="T5" fmla="*/ 0 h 24"/>
                <a:gd name="T6" fmla="*/ 6 w 24"/>
                <a:gd name="T7" fmla="*/ 24 h 24"/>
                <a:gd name="T8" fmla="*/ 6 w 24"/>
                <a:gd name="T9" fmla="*/ 24 h 24"/>
                <a:gd name="T10" fmla="*/ 0 w 24"/>
                <a:gd name="T11" fmla="*/ 18 h 24"/>
                <a:gd name="T12" fmla="*/ 24 w 24"/>
                <a:gd name="T13" fmla="*/ 18 h 24"/>
                <a:gd name="T14" fmla="*/ 0 w 24"/>
                <a:gd name="T15" fmla="*/ 18 h 24"/>
                <a:gd name="T16" fmla="*/ 0 w 24"/>
                <a:gd name="T17" fmla="*/ 18 h 24"/>
                <a:gd name="T18" fmla="*/ 12 w 24"/>
                <a:gd name="T19" fmla="*/ 18 h 24"/>
                <a:gd name="T20" fmla="*/ 0 w 24"/>
                <a:gd name="T21" fmla="*/ 1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24" y="18"/>
                  </a:moveTo>
                  <a:lnTo>
                    <a:pt x="18" y="6"/>
                  </a:lnTo>
                  <a:lnTo>
                    <a:pt x="6" y="0"/>
                  </a:lnTo>
                  <a:lnTo>
                    <a:pt x="6" y="24"/>
                  </a:lnTo>
                  <a:lnTo>
                    <a:pt x="6" y="24"/>
                  </a:lnTo>
                  <a:lnTo>
                    <a:pt x="0" y="18"/>
                  </a:lnTo>
                  <a:lnTo>
                    <a:pt x="24" y="18"/>
                  </a:lnTo>
                  <a:close/>
                  <a:moveTo>
                    <a:pt x="0" y="18"/>
                  </a:moveTo>
                  <a:lnTo>
                    <a:pt x="0" y="18"/>
                  </a:lnTo>
                  <a:lnTo>
                    <a:pt x="12"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34" name="Freeform 134"/>
            <p:cNvSpPr>
              <a:spLocks noEditPoints="1"/>
            </p:cNvSpPr>
            <p:nvPr/>
          </p:nvSpPr>
          <p:spPr bwMode="auto">
            <a:xfrm>
              <a:off x="4542" y="2416"/>
              <a:ext cx="12" cy="24"/>
            </a:xfrm>
            <a:custGeom>
              <a:avLst/>
              <a:gdLst>
                <a:gd name="T0" fmla="*/ 12 w 12"/>
                <a:gd name="T1" fmla="*/ 0 h 24"/>
                <a:gd name="T2" fmla="*/ 0 w 12"/>
                <a:gd name="T3" fmla="*/ 0 h 24"/>
                <a:gd name="T4" fmla="*/ 0 w 12"/>
                <a:gd name="T5" fmla="*/ 24 h 24"/>
                <a:gd name="T6" fmla="*/ 12 w 12"/>
                <a:gd name="T7" fmla="*/ 24 h 24"/>
                <a:gd name="T8" fmla="*/ 12 w 12"/>
                <a:gd name="T9" fmla="*/ 0 h 24"/>
                <a:gd name="T10" fmla="*/ 12 w 12"/>
                <a:gd name="T11" fmla="*/ 24 h 24"/>
                <a:gd name="T12" fmla="*/ 12 w 12"/>
                <a:gd name="T13" fmla="*/ 24 h 24"/>
                <a:gd name="T14" fmla="*/ 12 w 12"/>
                <a:gd name="T15" fmla="*/ 12 h 24"/>
                <a:gd name="T16" fmla="*/ 12 w 12"/>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4">
                  <a:moveTo>
                    <a:pt x="12" y="0"/>
                  </a:moveTo>
                  <a:lnTo>
                    <a:pt x="0" y="0"/>
                  </a:lnTo>
                  <a:lnTo>
                    <a:pt x="0" y="24"/>
                  </a:lnTo>
                  <a:lnTo>
                    <a:pt x="12" y="24"/>
                  </a:lnTo>
                  <a:lnTo>
                    <a:pt x="12" y="0"/>
                  </a:lnTo>
                  <a:close/>
                  <a:moveTo>
                    <a:pt x="12" y="24"/>
                  </a:moveTo>
                  <a:lnTo>
                    <a:pt x="12" y="24"/>
                  </a:lnTo>
                  <a:lnTo>
                    <a:pt x="12" y="12"/>
                  </a:lnTo>
                  <a:lnTo>
                    <a:pt x="12"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35" name="Freeform 135"/>
            <p:cNvSpPr>
              <a:spLocks/>
            </p:cNvSpPr>
            <p:nvPr/>
          </p:nvSpPr>
          <p:spPr bwMode="auto">
            <a:xfrm>
              <a:off x="4542" y="2428"/>
              <a:ext cx="1" cy="12"/>
            </a:xfrm>
            <a:custGeom>
              <a:avLst/>
              <a:gdLst>
                <a:gd name="T0" fmla="*/ 12 h 12"/>
                <a:gd name="T1" fmla="*/ 12 h 12"/>
                <a:gd name="T2" fmla="*/ 0 h 12"/>
                <a:gd name="T3" fmla="*/ 12 h 12"/>
              </a:gdLst>
              <a:ahLst/>
              <a:cxnLst>
                <a:cxn ang="0">
                  <a:pos x="0" y="T0"/>
                </a:cxn>
                <a:cxn ang="0">
                  <a:pos x="0" y="T1"/>
                </a:cxn>
                <a:cxn ang="0">
                  <a:pos x="0" y="T2"/>
                </a:cxn>
                <a:cxn ang="0">
                  <a:pos x="0" y="T3"/>
                </a:cxn>
              </a:cxnLst>
              <a:rect l="0" t="0" r="r" b="b"/>
              <a:pathLst>
                <a:path h="12">
                  <a:moveTo>
                    <a:pt x="0" y="12"/>
                  </a:moveTo>
                  <a:lnTo>
                    <a:pt x="0" y="12"/>
                  </a:lnTo>
                  <a:lnTo>
                    <a:pt x="0"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36" name="Freeform 136"/>
            <p:cNvSpPr>
              <a:spLocks/>
            </p:cNvSpPr>
            <p:nvPr/>
          </p:nvSpPr>
          <p:spPr bwMode="auto">
            <a:xfrm>
              <a:off x="4554" y="2375"/>
              <a:ext cx="6" cy="35"/>
            </a:xfrm>
            <a:custGeom>
              <a:avLst/>
              <a:gdLst>
                <a:gd name="T0" fmla="*/ 6 w 6"/>
                <a:gd name="T1" fmla="*/ 0 h 35"/>
                <a:gd name="T2" fmla="*/ 0 w 6"/>
                <a:gd name="T3" fmla="*/ 11 h 35"/>
                <a:gd name="T4" fmla="*/ 0 w 6"/>
                <a:gd name="T5" fmla="*/ 23 h 35"/>
                <a:gd name="T6" fmla="*/ 6 w 6"/>
                <a:gd name="T7" fmla="*/ 29 h 35"/>
                <a:gd name="T8" fmla="*/ 6 w 6"/>
                <a:gd name="T9" fmla="*/ 35 h 35"/>
                <a:gd name="T10" fmla="*/ 6 w 6"/>
                <a:gd name="T11" fmla="*/ 0 h 35"/>
                <a:gd name="T12" fmla="*/ 6 w 6"/>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6" h="35">
                  <a:moveTo>
                    <a:pt x="6" y="0"/>
                  </a:moveTo>
                  <a:lnTo>
                    <a:pt x="0" y="11"/>
                  </a:lnTo>
                  <a:lnTo>
                    <a:pt x="0" y="23"/>
                  </a:lnTo>
                  <a:lnTo>
                    <a:pt x="6" y="29"/>
                  </a:lnTo>
                  <a:lnTo>
                    <a:pt x="6" y="35"/>
                  </a:lnTo>
                  <a:lnTo>
                    <a:pt x="6" y="0"/>
                  </a:lnTo>
                  <a:lnTo>
                    <a:pt x="6"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37" name="Freeform 137"/>
            <p:cNvSpPr>
              <a:spLocks/>
            </p:cNvSpPr>
            <p:nvPr/>
          </p:nvSpPr>
          <p:spPr bwMode="auto">
            <a:xfrm>
              <a:off x="4542" y="2369"/>
              <a:ext cx="30" cy="47"/>
            </a:xfrm>
            <a:custGeom>
              <a:avLst/>
              <a:gdLst>
                <a:gd name="T0" fmla="*/ 12 w 30"/>
                <a:gd name="T1" fmla="*/ 0 h 47"/>
                <a:gd name="T2" fmla="*/ 6 w 30"/>
                <a:gd name="T3" fmla="*/ 17 h 47"/>
                <a:gd name="T4" fmla="*/ 0 w 30"/>
                <a:gd name="T5" fmla="*/ 35 h 47"/>
                <a:gd name="T6" fmla="*/ 6 w 30"/>
                <a:gd name="T7" fmla="*/ 41 h 47"/>
                <a:gd name="T8" fmla="*/ 6 w 30"/>
                <a:gd name="T9" fmla="*/ 47 h 47"/>
                <a:gd name="T10" fmla="*/ 30 w 30"/>
                <a:gd name="T11" fmla="*/ 41 h 47"/>
                <a:gd name="T12" fmla="*/ 30 w 30"/>
                <a:gd name="T13" fmla="*/ 35 h 47"/>
                <a:gd name="T14" fmla="*/ 30 w 30"/>
                <a:gd name="T15" fmla="*/ 29 h 47"/>
                <a:gd name="T16" fmla="*/ 30 w 30"/>
                <a:gd name="T17" fmla="*/ 23 h 47"/>
                <a:gd name="T18" fmla="*/ 30 w 30"/>
                <a:gd name="T19" fmla="*/ 17 h 47"/>
                <a:gd name="T20" fmla="*/ 12 w 30"/>
                <a:gd name="T21"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47">
                  <a:moveTo>
                    <a:pt x="12" y="0"/>
                  </a:moveTo>
                  <a:lnTo>
                    <a:pt x="6" y="17"/>
                  </a:lnTo>
                  <a:lnTo>
                    <a:pt x="0" y="35"/>
                  </a:lnTo>
                  <a:lnTo>
                    <a:pt x="6" y="41"/>
                  </a:lnTo>
                  <a:lnTo>
                    <a:pt x="6" y="47"/>
                  </a:lnTo>
                  <a:lnTo>
                    <a:pt x="30" y="41"/>
                  </a:lnTo>
                  <a:lnTo>
                    <a:pt x="30" y="35"/>
                  </a:lnTo>
                  <a:lnTo>
                    <a:pt x="30" y="29"/>
                  </a:lnTo>
                  <a:lnTo>
                    <a:pt x="30" y="23"/>
                  </a:lnTo>
                  <a:lnTo>
                    <a:pt x="30" y="17"/>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38" name="Freeform 138"/>
            <p:cNvSpPr>
              <a:spLocks noEditPoints="1"/>
            </p:cNvSpPr>
            <p:nvPr/>
          </p:nvSpPr>
          <p:spPr bwMode="auto">
            <a:xfrm>
              <a:off x="4548" y="2375"/>
              <a:ext cx="24" cy="41"/>
            </a:xfrm>
            <a:custGeom>
              <a:avLst/>
              <a:gdLst>
                <a:gd name="T0" fmla="*/ 24 w 24"/>
                <a:gd name="T1" fmla="*/ 41 h 41"/>
                <a:gd name="T2" fmla="*/ 24 w 24"/>
                <a:gd name="T3" fmla="*/ 6 h 41"/>
                <a:gd name="T4" fmla="*/ 0 w 24"/>
                <a:gd name="T5" fmla="*/ 0 h 41"/>
                <a:gd name="T6" fmla="*/ 0 w 24"/>
                <a:gd name="T7" fmla="*/ 35 h 41"/>
                <a:gd name="T8" fmla="*/ 24 w 24"/>
                <a:gd name="T9" fmla="*/ 41 h 41"/>
                <a:gd name="T10" fmla="*/ 0 w 24"/>
                <a:gd name="T11" fmla="*/ 41 h 41"/>
                <a:gd name="T12" fmla="*/ 24 w 24"/>
                <a:gd name="T13" fmla="*/ 41 h 41"/>
                <a:gd name="T14" fmla="*/ 0 w 24"/>
                <a:gd name="T15" fmla="*/ 35 h 41"/>
                <a:gd name="T16" fmla="*/ 24 w 24"/>
                <a:gd name="T17" fmla="*/ 35 h 41"/>
                <a:gd name="T18" fmla="*/ 0 w 24"/>
                <a:gd name="T19"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41">
                  <a:moveTo>
                    <a:pt x="24" y="41"/>
                  </a:moveTo>
                  <a:lnTo>
                    <a:pt x="24" y="6"/>
                  </a:lnTo>
                  <a:lnTo>
                    <a:pt x="0" y="0"/>
                  </a:lnTo>
                  <a:lnTo>
                    <a:pt x="0" y="35"/>
                  </a:lnTo>
                  <a:lnTo>
                    <a:pt x="24" y="41"/>
                  </a:lnTo>
                  <a:close/>
                  <a:moveTo>
                    <a:pt x="0" y="41"/>
                  </a:moveTo>
                  <a:lnTo>
                    <a:pt x="24" y="41"/>
                  </a:lnTo>
                  <a:lnTo>
                    <a:pt x="0" y="35"/>
                  </a:lnTo>
                  <a:lnTo>
                    <a:pt x="24" y="35"/>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39" name="Freeform 139"/>
            <p:cNvSpPr>
              <a:spLocks/>
            </p:cNvSpPr>
            <p:nvPr/>
          </p:nvSpPr>
          <p:spPr bwMode="auto">
            <a:xfrm>
              <a:off x="4554" y="2345"/>
              <a:ext cx="24" cy="36"/>
            </a:xfrm>
            <a:custGeom>
              <a:avLst/>
              <a:gdLst>
                <a:gd name="T0" fmla="*/ 18 w 24"/>
                <a:gd name="T1" fmla="*/ 36 h 36"/>
                <a:gd name="T2" fmla="*/ 24 w 24"/>
                <a:gd name="T3" fmla="*/ 0 h 36"/>
                <a:gd name="T4" fmla="*/ 0 w 24"/>
                <a:gd name="T5" fmla="*/ 24 h 36"/>
                <a:gd name="T6" fmla="*/ 6 w 24"/>
                <a:gd name="T7" fmla="*/ 30 h 36"/>
                <a:gd name="T8" fmla="*/ 18 w 24"/>
                <a:gd name="T9" fmla="*/ 36 h 36"/>
              </a:gdLst>
              <a:ahLst/>
              <a:cxnLst>
                <a:cxn ang="0">
                  <a:pos x="T0" y="T1"/>
                </a:cxn>
                <a:cxn ang="0">
                  <a:pos x="T2" y="T3"/>
                </a:cxn>
                <a:cxn ang="0">
                  <a:pos x="T4" y="T5"/>
                </a:cxn>
                <a:cxn ang="0">
                  <a:pos x="T6" y="T7"/>
                </a:cxn>
                <a:cxn ang="0">
                  <a:pos x="T8" y="T9"/>
                </a:cxn>
              </a:cxnLst>
              <a:rect l="0" t="0" r="r" b="b"/>
              <a:pathLst>
                <a:path w="24" h="36">
                  <a:moveTo>
                    <a:pt x="18" y="36"/>
                  </a:moveTo>
                  <a:lnTo>
                    <a:pt x="24" y="0"/>
                  </a:lnTo>
                  <a:lnTo>
                    <a:pt x="0" y="24"/>
                  </a:lnTo>
                  <a:lnTo>
                    <a:pt x="6" y="30"/>
                  </a:lnTo>
                  <a:lnTo>
                    <a:pt x="18"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40" name="Line 140"/>
            <p:cNvSpPr>
              <a:spLocks noChangeShapeType="1"/>
            </p:cNvSpPr>
            <p:nvPr/>
          </p:nvSpPr>
          <p:spPr bwMode="auto">
            <a:xfrm flipV="1">
              <a:off x="4554" y="2381"/>
              <a:ext cx="6" cy="23"/>
            </a:xfrm>
            <a:prstGeom prst="line">
              <a:avLst/>
            </a:prstGeom>
            <a:noFill/>
            <a:ln w="0">
              <a:solidFill>
                <a:srgbClr val="354A1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341" name="Freeform 141"/>
            <p:cNvSpPr>
              <a:spLocks/>
            </p:cNvSpPr>
            <p:nvPr/>
          </p:nvSpPr>
          <p:spPr bwMode="auto">
            <a:xfrm>
              <a:off x="4542" y="2375"/>
              <a:ext cx="30" cy="29"/>
            </a:xfrm>
            <a:custGeom>
              <a:avLst/>
              <a:gdLst>
                <a:gd name="T0" fmla="*/ 24 w 30"/>
                <a:gd name="T1" fmla="*/ 29 h 29"/>
                <a:gd name="T2" fmla="*/ 30 w 30"/>
                <a:gd name="T3" fmla="*/ 6 h 29"/>
                <a:gd name="T4" fmla="*/ 6 w 30"/>
                <a:gd name="T5" fmla="*/ 0 h 29"/>
                <a:gd name="T6" fmla="*/ 0 w 30"/>
                <a:gd name="T7" fmla="*/ 23 h 29"/>
                <a:gd name="T8" fmla="*/ 24 w 30"/>
                <a:gd name="T9" fmla="*/ 29 h 29"/>
              </a:gdLst>
              <a:ahLst/>
              <a:cxnLst>
                <a:cxn ang="0">
                  <a:pos x="T0" y="T1"/>
                </a:cxn>
                <a:cxn ang="0">
                  <a:pos x="T2" y="T3"/>
                </a:cxn>
                <a:cxn ang="0">
                  <a:pos x="T4" y="T5"/>
                </a:cxn>
                <a:cxn ang="0">
                  <a:pos x="T6" y="T7"/>
                </a:cxn>
                <a:cxn ang="0">
                  <a:pos x="T8" y="T9"/>
                </a:cxn>
              </a:cxnLst>
              <a:rect l="0" t="0" r="r" b="b"/>
              <a:pathLst>
                <a:path w="30" h="29">
                  <a:moveTo>
                    <a:pt x="24" y="29"/>
                  </a:moveTo>
                  <a:lnTo>
                    <a:pt x="30" y="6"/>
                  </a:lnTo>
                  <a:lnTo>
                    <a:pt x="6" y="0"/>
                  </a:lnTo>
                  <a:lnTo>
                    <a:pt x="0" y="23"/>
                  </a:lnTo>
                  <a:lnTo>
                    <a:pt x="2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42" name="Freeform 142"/>
            <p:cNvSpPr>
              <a:spLocks/>
            </p:cNvSpPr>
            <p:nvPr/>
          </p:nvSpPr>
          <p:spPr bwMode="auto">
            <a:xfrm>
              <a:off x="4536" y="2381"/>
              <a:ext cx="24" cy="29"/>
            </a:xfrm>
            <a:custGeom>
              <a:avLst/>
              <a:gdLst>
                <a:gd name="T0" fmla="*/ 24 w 24"/>
                <a:gd name="T1" fmla="*/ 29 h 29"/>
                <a:gd name="T2" fmla="*/ 24 w 24"/>
                <a:gd name="T3" fmla="*/ 29 h 29"/>
                <a:gd name="T4" fmla="*/ 24 w 24"/>
                <a:gd name="T5" fmla="*/ 29 h 29"/>
                <a:gd name="T6" fmla="*/ 24 w 24"/>
                <a:gd name="T7" fmla="*/ 23 h 29"/>
                <a:gd name="T8" fmla="*/ 24 w 24"/>
                <a:gd name="T9" fmla="*/ 23 h 29"/>
                <a:gd name="T10" fmla="*/ 18 w 24"/>
                <a:gd name="T11" fmla="*/ 0 h 29"/>
                <a:gd name="T12" fmla="*/ 6 w 24"/>
                <a:gd name="T13" fmla="*/ 11 h 29"/>
                <a:gd name="T14" fmla="*/ 6 w 24"/>
                <a:gd name="T15" fmla="*/ 17 h 29"/>
                <a:gd name="T16" fmla="*/ 6 w 24"/>
                <a:gd name="T17" fmla="*/ 29 h 29"/>
                <a:gd name="T18" fmla="*/ 0 w 24"/>
                <a:gd name="T19" fmla="*/ 29 h 29"/>
                <a:gd name="T20" fmla="*/ 24 w 24"/>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9">
                  <a:moveTo>
                    <a:pt x="24" y="29"/>
                  </a:moveTo>
                  <a:lnTo>
                    <a:pt x="24" y="29"/>
                  </a:lnTo>
                  <a:lnTo>
                    <a:pt x="24" y="29"/>
                  </a:lnTo>
                  <a:lnTo>
                    <a:pt x="24" y="23"/>
                  </a:lnTo>
                  <a:lnTo>
                    <a:pt x="24" y="23"/>
                  </a:lnTo>
                  <a:lnTo>
                    <a:pt x="18" y="0"/>
                  </a:lnTo>
                  <a:lnTo>
                    <a:pt x="6" y="11"/>
                  </a:lnTo>
                  <a:lnTo>
                    <a:pt x="6" y="17"/>
                  </a:lnTo>
                  <a:lnTo>
                    <a:pt x="6" y="29"/>
                  </a:lnTo>
                  <a:lnTo>
                    <a:pt x="0" y="29"/>
                  </a:lnTo>
                  <a:lnTo>
                    <a:pt x="2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43" name="Freeform 143"/>
            <p:cNvSpPr>
              <a:spLocks/>
            </p:cNvSpPr>
            <p:nvPr/>
          </p:nvSpPr>
          <p:spPr bwMode="auto">
            <a:xfrm>
              <a:off x="4536" y="2381"/>
              <a:ext cx="6" cy="29"/>
            </a:xfrm>
            <a:custGeom>
              <a:avLst/>
              <a:gdLst>
                <a:gd name="T0" fmla="*/ 0 w 6"/>
                <a:gd name="T1" fmla="*/ 0 h 29"/>
                <a:gd name="T2" fmla="*/ 6 w 6"/>
                <a:gd name="T3" fmla="*/ 11 h 29"/>
                <a:gd name="T4" fmla="*/ 6 w 6"/>
                <a:gd name="T5" fmla="*/ 17 h 29"/>
                <a:gd name="T6" fmla="*/ 0 w 6"/>
                <a:gd name="T7" fmla="*/ 29 h 29"/>
                <a:gd name="T8" fmla="*/ 0 w 6"/>
                <a:gd name="T9" fmla="*/ 29 h 29"/>
                <a:gd name="T10" fmla="*/ 0 w 6"/>
                <a:gd name="T11" fmla="*/ 0 h 29"/>
                <a:gd name="T12" fmla="*/ 0 w 6"/>
                <a:gd name="T13" fmla="*/ 0 h 29"/>
              </a:gdLst>
              <a:ahLst/>
              <a:cxnLst>
                <a:cxn ang="0">
                  <a:pos x="T0" y="T1"/>
                </a:cxn>
                <a:cxn ang="0">
                  <a:pos x="T2" y="T3"/>
                </a:cxn>
                <a:cxn ang="0">
                  <a:pos x="T4" y="T5"/>
                </a:cxn>
                <a:cxn ang="0">
                  <a:pos x="T6" y="T7"/>
                </a:cxn>
                <a:cxn ang="0">
                  <a:pos x="T8" y="T9"/>
                </a:cxn>
                <a:cxn ang="0">
                  <a:pos x="T10" y="T11"/>
                </a:cxn>
                <a:cxn ang="0">
                  <a:pos x="T12" y="T13"/>
                </a:cxn>
              </a:cxnLst>
              <a:rect l="0" t="0" r="r" b="b"/>
              <a:pathLst>
                <a:path w="6" h="29">
                  <a:moveTo>
                    <a:pt x="0" y="0"/>
                  </a:moveTo>
                  <a:lnTo>
                    <a:pt x="6" y="11"/>
                  </a:lnTo>
                  <a:lnTo>
                    <a:pt x="6" y="17"/>
                  </a:lnTo>
                  <a:lnTo>
                    <a:pt x="0" y="29"/>
                  </a:lnTo>
                  <a:lnTo>
                    <a:pt x="0" y="29"/>
                  </a:lnTo>
                  <a:lnTo>
                    <a:pt x="0" y="0"/>
                  </a:lnTo>
                  <a:lnTo>
                    <a:pt x="0"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44" name="Freeform 144"/>
            <p:cNvSpPr>
              <a:spLocks/>
            </p:cNvSpPr>
            <p:nvPr/>
          </p:nvSpPr>
          <p:spPr bwMode="auto">
            <a:xfrm>
              <a:off x="4530" y="2369"/>
              <a:ext cx="24" cy="47"/>
            </a:xfrm>
            <a:custGeom>
              <a:avLst/>
              <a:gdLst>
                <a:gd name="T0" fmla="*/ 0 w 24"/>
                <a:gd name="T1" fmla="*/ 17 h 47"/>
                <a:gd name="T2" fmla="*/ 0 w 24"/>
                <a:gd name="T3" fmla="*/ 23 h 47"/>
                <a:gd name="T4" fmla="*/ 0 w 24"/>
                <a:gd name="T5" fmla="*/ 29 h 47"/>
                <a:gd name="T6" fmla="*/ 0 w 24"/>
                <a:gd name="T7" fmla="*/ 35 h 47"/>
                <a:gd name="T8" fmla="*/ 0 w 24"/>
                <a:gd name="T9" fmla="*/ 41 h 47"/>
                <a:gd name="T10" fmla="*/ 18 w 24"/>
                <a:gd name="T11" fmla="*/ 47 h 47"/>
                <a:gd name="T12" fmla="*/ 18 w 24"/>
                <a:gd name="T13" fmla="*/ 41 h 47"/>
                <a:gd name="T14" fmla="*/ 24 w 24"/>
                <a:gd name="T15" fmla="*/ 35 h 47"/>
                <a:gd name="T16" fmla="*/ 18 w 24"/>
                <a:gd name="T17" fmla="*/ 17 h 47"/>
                <a:gd name="T18" fmla="*/ 12 w 24"/>
                <a:gd name="T19" fmla="*/ 0 h 47"/>
                <a:gd name="T20" fmla="*/ 0 w 24"/>
                <a:gd name="T21" fmla="*/ 1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47">
                  <a:moveTo>
                    <a:pt x="0" y="17"/>
                  </a:moveTo>
                  <a:lnTo>
                    <a:pt x="0" y="23"/>
                  </a:lnTo>
                  <a:lnTo>
                    <a:pt x="0" y="29"/>
                  </a:lnTo>
                  <a:lnTo>
                    <a:pt x="0" y="35"/>
                  </a:lnTo>
                  <a:lnTo>
                    <a:pt x="0" y="41"/>
                  </a:lnTo>
                  <a:lnTo>
                    <a:pt x="18" y="47"/>
                  </a:lnTo>
                  <a:lnTo>
                    <a:pt x="18" y="41"/>
                  </a:lnTo>
                  <a:lnTo>
                    <a:pt x="24" y="35"/>
                  </a:lnTo>
                  <a:lnTo>
                    <a:pt x="18" y="17"/>
                  </a:lnTo>
                  <a:lnTo>
                    <a:pt x="12" y="0"/>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45" name="Freeform 145"/>
            <p:cNvSpPr>
              <a:spLocks noEditPoints="1"/>
            </p:cNvSpPr>
            <p:nvPr/>
          </p:nvSpPr>
          <p:spPr bwMode="auto">
            <a:xfrm>
              <a:off x="4524" y="2375"/>
              <a:ext cx="24" cy="41"/>
            </a:xfrm>
            <a:custGeom>
              <a:avLst/>
              <a:gdLst>
                <a:gd name="T0" fmla="*/ 24 w 24"/>
                <a:gd name="T1" fmla="*/ 35 h 41"/>
                <a:gd name="T2" fmla="*/ 24 w 24"/>
                <a:gd name="T3" fmla="*/ 0 h 41"/>
                <a:gd name="T4" fmla="*/ 0 w 24"/>
                <a:gd name="T5" fmla="*/ 6 h 41"/>
                <a:gd name="T6" fmla="*/ 0 w 24"/>
                <a:gd name="T7" fmla="*/ 41 h 41"/>
                <a:gd name="T8" fmla="*/ 24 w 24"/>
                <a:gd name="T9" fmla="*/ 35 h 41"/>
                <a:gd name="T10" fmla="*/ 6 w 24"/>
                <a:gd name="T11" fmla="*/ 35 h 41"/>
                <a:gd name="T12" fmla="*/ 24 w 24"/>
                <a:gd name="T13" fmla="*/ 35 h 41"/>
                <a:gd name="T14" fmla="*/ 0 w 24"/>
                <a:gd name="T15" fmla="*/ 41 h 41"/>
                <a:gd name="T16" fmla="*/ 24 w 24"/>
                <a:gd name="T17" fmla="*/ 41 h 41"/>
                <a:gd name="T18" fmla="*/ 6 w 24"/>
                <a:gd name="T19" fmla="*/ 3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41">
                  <a:moveTo>
                    <a:pt x="24" y="35"/>
                  </a:moveTo>
                  <a:lnTo>
                    <a:pt x="24" y="0"/>
                  </a:lnTo>
                  <a:lnTo>
                    <a:pt x="0" y="6"/>
                  </a:lnTo>
                  <a:lnTo>
                    <a:pt x="0" y="41"/>
                  </a:lnTo>
                  <a:lnTo>
                    <a:pt x="24" y="35"/>
                  </a:lnTo>
                  <a:close/>
                  <a:moveTo>
                    <a:pt x="6" y="35"/>
                  </a:moveTo>
                  <a:lnTo>
                    <a:pt x="24" y="35"/>
                  </a:lnTo>
                  <a:lnTo>
                    <a:pt x="0" y="41"/>
                  </a:lnTo>
                  <a:lnTo>
                    <a:pt x="24" y="41"/>
                  </a:lnTo>
                  <a:lnTo>
                    <a:pt x="6"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46" name="Freeform 146"/>
            <p:cNvSpPr>
              <a:spLocks/>
            </p:cNvSpPr>
            <p:nvPr/>
          </p:nvSpPr>
          <p:spPr bwMode="auto">
            <a:xfrm>
              <a:off x="4518" y="2345"/>
              <a:ext cx="24" cy="36"/>
            </a:xfrm>
            <a:custGeom>
              <a:avLst/>
              <a:gdLst>
                <a:gd name="T0" fmla="*/ 24 w 24"/>
                <a:gd name="T1" fmla="*/ 24 h 36"/>
                <a:gd name="T2" fmla="*/ 0 w 24"/>
                <a:gd name="T3" fmla="*/ 0 h 36"/>
                <a:gd name="T4" fmla="*/ 6 w 24"/>
                <a:gd name="T5" fmla="*/ 36 h 36"/>
                <a:gd name="T6" fmla="*/ 18 w 24"/>
                <a:gd name="T7" fmla="*/ 36 h 36"/>
                <a:gd name="T8" fmla="*/ 24 w 24"/>
                <a:gd name="T9" fmla="*/ 24 h 36"/>
              </a:gdLst>
              <a:ahLst/>
              <a:cxnLst>
                <a:cxn ang="0">
                  <a:pos x="T0" y="T1"/>
                </a:cxn>
                <a:cxn ang="0">
                  <a:pos x="T2" y="T3"/>
                </a:cxn>
                <a:cxn ang="0">
                  <a:pos x="T4" y="T5"/>
                </a:cxn>
                <a:cxn ang="0">
                  <a:pos x="T6" y="T7"/>
                </a:cxn>
                <a:cxn ang="0">
                  <a:pos x="T8" y="T9"/>
                </a:cxn>
              </a:cxnLst>
              <a:rect l="0" t="0" r="r" b="b"/>
              <a:pathLst>
                <a:path w="24" h="36">
                  <a:moveTo>
                    <a:pt x="24" y="24"/>
                  </a:moveTo>
                  <a:lnTo>
                    <a:pt x="0" y="0"/>
                  </a:lnTo>
                  <a:lnTo>
                    <a:pt x="6" y="36"/>
                  </a:lnTo>
                  <a:lnTo>
                    <a:pt x="18" y="36"/>
                  </a:lnTo>
                  <a:lnTo>
                    <a:pt x="24"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47" name="Line 147"/>
            <p:cNvSpPr>
              <a:spLocks noChangeShapeType="1"/>
            </p:cNvSpPr>
            <p:nvPr/>
          </p:nvSpPr>
          <p:spPr bwMode="auto">
            <a:xfrm flipH="1" flipV="1">
              <a:off x="4536" y="2381"/>
              <a:ext cx="6" cy="23"/>
            </a:xfrm>
            <a:prstGeom prst="line">
              <a:avLst/>
            </a:prstGeom>
            <a:noFill/>
            <a:ln w="0">
              <a:solidFill>
                <a:srgbClr val="354A1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348" name="Freeform 148"/>
            <p:cNvSpPr>
              <a:spLocks/>
            </p:cNvSpPr>
            <p:nvPr/>
          </p:nvSpPr>
          <p:spPr bwMode="auto">
            <a:xfrm>
              <a:off x="4524" y="2375"/>
              <a:ext cx="30" cy="29"/>
            </a:xfrm>
            <a:custGeom>
              <a:avLst/>
              <a:gdLst>
                <a:gd name="T0" fmla="*/ 30 w 30"/>
                <a:gd name="T1" fmla="*/ 23 h 29"/>
                <a:gd name="T2" fmla="*/ 24 w 30"/>
                <a:gd name="T3" fmla="*/ 0 h 29"/>
                <a:gd name="T4" fmla="*/ 0 w 30"/>
                <a:gd name="T5" fmla="*/ 6 h 29"/>
                <a:gd name="T6" fmla="*/ 6 w 30"/>
                <a:gd name="T7" fmla="*/ 29 h 29"/>
                <a:gd name="T8" fmla="*/ 30 w 30"/>
                <a:gd name="T9" fmla="*/ 23 h 29"/>
              </a:gdLst>
              <a:ahLst/>
              <a:cxnLst>
                <a:cxn ang="0">
                  <a:pos x="T0" y="T1"/>
                </a:cxn>
                <a:cxn ang="0">
                  <a:pos x="T2" y="T3"/>
                </a:cxn>
                <a:cxn ang="0">
                  <a:pos x="T4" y="T5"/>
                </a:cxn>
                <a:cxn ang="0">
                  <a:pos x="T6" y="T7"/>
                </a:cxn>
                <a:cxn ang="0">
                  <a:pos x="T8" y="T9"/>
                </a:cxn>
              </a:cxnLst>
              <a:rect l="0" t="0" r="r" b="b"/>
              <a:pathLst>
                <a:path w="30" h="29">
                  <a:moveTo>
                    <a:pt x="30" y="23"/>
                  </a:moveTo>
                  <a:lnTo>
                    <a:pt x="24" y="0"/>
                  </a:lnTo>
                  <a:lnTo>
                    <a:pt x="0" y="6"/>
                  </a:lnTo>
                  <a:lnTo>
                    <a:pt x="6" y="29"/>
                  </a:lnTo>
                  <a:lnTo>
                    <a:pt x="3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49" name="Freeform 149"/>
            <p:cNvSpPr>
              <a:spLocks/>
            </p:cNvSpPr>
            <p:nvPr/>
          </p:nvSpPr>
          <p:spPr bwMode="auto">
            <a:xfrm>
              <a:off x="4536" y="2381"/>
              <a:ext cx="24" cy="29"/>
            </a:xfrm>
            <a:custGeom>
              <a:avLst/>
              <a:gdLst>
                <a:gd name="T0" fmla="*/ 24 w 24"/>
                <a:gd name="T1" fmla="*/ 29 h 29"/>
                <a:gd name="T2" fmla="*/ 24 w 24"/>
                <a:gd name="T3" fmla="*/ 29 h 29"/>
                <a:gd name="T4" fmla="*/ 24 w 24"/>
                <a:gd name="T5" fmla="*/ 17 h 29"/>
                <a:gd name="T6" fmla="*/ 24 w 24"/>
                <a:gd name="T7" fmla="*/ 11 h 29"/>
                <a:gd name="T8" fmla="*/ 12 w 24"/>
                <a:gd name="T9" fmla="*/ 0 h 29"/>
                <a:gd name="T10" fmla="*/ 0 w 24"/>
                <a:gd name="T11" fmla="*/ 23 h 29"/>
                <a:gd name="T12" fmla="*/ 0 w 24"/>
                <a:gd name="T13" fmla="*/ 23 h 29"/>
                <a:gd name="T14" fmla="*/ 0 w 24"/>
                <a:gd name="T15" fmla="*/ 29 h 29"/>
                <a:gd name="T16" fmla="*/ 0 w 24"/>
                <a:gd name="T17" fmla="*/ 29 h 29"/>
                <a:gd name="T18" fmla="*/ 0 w 24"/>
                <a:gd name="T19" fmla="*/ 29 h 29"/>
                <a:gd name="T20" fmla="*/ 24 w 24"/>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9">
                  <a:moveTo>
                    <a:pt x="24" y="29"/>
                  </a:moveTo>
                  <a:lnTo>
                    <a:pt x="24" y="29"/>
                  </a:lnTo>
                  <a:lnTo>
                    <a:pt x="24" y="17"/>
                  </a:lnTo>
                  <a:lnTo>
                    <a:pt x="24" y="11"/>
                  </a:lnTo>
                  <a:lnTo>
                    <a:pt x="12" y="0"/>
                  </a:lnTo>
                  <a:lnTo>
                    <a:pt x="0" y="23"/>
                  </a:lnTo>
                  <a:lnTo>
                    <a:pt x="0" y="23"/>
                  </a:lnTo>
                  <a:lnTo>
                    <a:pt x="0" y="29"/>
                  </a:lnTo>
                  <a:lnTo>
                    <a:pt x="0" y="29"/>
                  </a:lnTo>
                  <a:lnTo>
                    <a:pt x="0" y="29"/>
                  </a:lnTo>
                  <a:lnTo>
                    <a:pt x="2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50" name="Freeform 150"/>
            <p:cNvSpPr>
              <a:spLocks/>
            </p:cNvSpPr>
            <p:nvPr/>
          </p:nvSpPr>
          <p:spPr bwMode="auto">
            <a:xfrm>
              <a:off x="4536" y="2381"/>
              <a:ext cx="30" cy="23"/>
            </a:xfrm>
            <a:custGeom>
              <a:avLst/>
              <a:gdLst>
                <a:gd name="T0" fmla="*/ 30 w 30"/>
                <a:gd name="T1" fmla="*/ 5 h 23"/>
                <a:gd name="T2" fmla="*/ 30 w 30"/>
                <a:gd name="T3" fmla="*/ 5 h 23"/>
                <a:gd name="T4" fmla="*/ 18 w 30"/>
                <a:gd name="T5" fmla="*/ 0 h 23"/>
                <a:gd name="T6" fmla="*/ 12 w 30"/>
                <a:gd name="T7" fmla="*/ 0 h 23"/>
                <a:gd name="T8" fmla="*/ 0 w 30"/>
                <a:gd name="T9" fmla="*/ 5 h 23"/>
                <a:gd name="T10" fmla="*/ 18 w 30"/>
                <a:gd name="T11" fmla="*/ 23 h 23"/>
                <a:gd name="T12" fmla="*/ 12 w 30"/>
                <a:gd name="T13" fmla="*/ 23 h 23"/>
                <a:gd name="T14" fmla="*/ 6 w 30"/>
                <a:gd name="T15" fmla="*/ 23 h 23"/>
                <a:gd name="T16" fmla="*/ 30 w 30"/>
                <a:gd name="T17" fmla="*/ 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3">
                  <a:moveTo>
                    <a:pt x="30" y="5"/>
                  </a:moveTo>
                  <a:lnTo>
                    <a:pt x="30" y="5"/>
                  </a:lnTo>
                  <a:lnTo>
                    <a:pt x="18" y="0"/>
                  </a:lnTo>
                  <a:lnTo>
                    <a:pt x="12" y="0"/>
                  </a:lnTo>
                  <a:lnTo>
                    <a:pt x="0" y="5"/>
                  </a:lnTo>
                  <a:lnTo>
                    <a:pt x="18" y="23"/>
                  </a:lnTo>
                  <a:lnTo>
                    <a:pt x="12" y="23"/>
                  </a:lnTo>
                  <a:lnTo>
                    <a:pt x="6" y="23"/>
                  </a:lnTo>
                  <a:lnTo>
                    <a:pt x="3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51" name="Freeform 151"/>
            <p:cNvSpPr>
              <a:spLocks/>
            </p:cNvSpPr>
            <p:nvPr/>
          </p:nvSpPr>
          <p:spPr bwMode="auto">
            <a:xfrm>
              <a:off x="4536" y="2369"/>
              <a:ext cx="30" cy="29"/>
            </a:xfrm>
            <a:custGeom>
              <a:avLst/>
              <a:gdLst>
                <a:gd name="T0" fmla="*/ 30 w 30"/>
                <a:gd name="T1" fmla="*/ 6 h 29"/>
                <a:gd name="T2" fmla="*/ 30 w 30"/>
                <a:gd name="T3" fmla="*/ 6 h 29"/>
                <a:gd name="T4" fmla="*/ 18 w 30"/>
                <a:gd name="T5" fmla="*/ 0 h 29"/>
                <a:gd name="T6" fmla="*/ 12 w 30"/>
                <a:gd name="T7" fmla="*/ 0 h 29"/>
                <a:gd name="T8" fmla="*/ 0 w 30"/>
                <a:gd name="T9" fmla="*/ 6 h 29"/>
                <a:gd name="T10" fmla="*/ 12 w 30"/>
                <a:gd name="T11" fmla="*/ 29 h 29"/>
                <a:gd name="T12" fmla="*/ 12 w 30"/>
                <a:gd name="T13" fmla="*/ 29 h 29"/>
                <a:gd name="T14" fmla="*/ 12 w 30"/>
                <a:gd name="T15" fmla="*/ 23 h 29"/>
                <a:gd name="T16" fmla="*/ 30 w 30"/>
                <a:gd name="T1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9">
                  <a:moveTo>
                    <a:pt x="30" y="6"/>
                  </a:moveTo>
                  <a:lnTo>
                    <a:pt x="30" y="6"/>
                  </a:lnTo>
                  <a:lnTo>
                    <a:pt x="18" y="0"/>
                  </a:lnTo>
                  <a:lnTo>
                    <a:pt x="12" y="0"/>
                  </a:lnTo>
                  <a:lnTo>
                    <a:pt x="0" y="6"/>
                  </a:lnTo>
                  <a:lnTo>
                    <a:pt x="12" y="29"/>
                  </a:lnTo>
                  <a:lnTo>
                    <a:pt x="12" y="29"/>
                  </a:lnTo>
                  <a:lnTo>
                    <a:pt x="12" y="23"/>
                  </a:lnTo>
                  <a:lnTo>
                    <a:pt x="3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52" name="Freeform 152"/>
            <p:cNvSpPr>
              <a:spLocks/>
            </p:cNvSpPr>
            <p:nvPr/>
          </p:nvSpPr>
          <p:spPr bwMode="auto">
            <a:xfrm>
              <a:off x="4536" y="2369"/>
              <a:ext cx="30" cy="23"/>
            </a:xfrm>
            <a:custGeom>
              <a:avLst/>
              <a:gdLst>
                <a:gd name="T0" fmla="*/ 30 w 30"/>
                <a:gd name="T1" fmla="*/ 0 h 23"/>
                <a:gd name="T2" fmla="*/ 30 w 30"/>
                <a:gd name="T3" fmla="*/ 0 h 23"/>
                <a:gd name="T4" fmla="*/ 18 w 30"/>
                <a:gd name="T5" fmla="*/ 0 h 23"/>
                <a:gd name="T6" fmla="*/ 0 w 30"/>
                <a:gd name="T7" fmla="*/ 0 h 23"/>
                <a:gd name="T8" fmla="*/ 6 w 30"/>
                <a:gd name="T9" fmla="*/ 23 h 23"/>
                <a:gd name="T10" fmla="*/ 12 w 30"/>
                <a:gd name="T11" fmla="*/ 23 h 23"/>
                <a:gd name="T12" fmla="*/ 18 w 30"/>
                <a:gd name="T13" fmla="*/ 23 h 23"/>
                <a:gd name="T14" fmla="*/ 30 w 30"/>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3">
                  <a:moveTo>
                    <a:pt x="30" y="0"/>
                  </a:moveTo>
                  <a:lnTo>
                    <a:pt x="30" y="0"/>
                  </a:lnTo>
                  <a:lnTo>
                    <a:pt x="18" y="0"/>
                  </a:lnTo>
                  <a:lnTo>
                    <a:pt x="0" y="0"/>
                  </a:lnTo>
                  <a:lnTo>
                    <a:pt x="6" y="23"/>
                  </a:lnTo>
                  <a:lnTo>
                    <a:pt x="12" y="23"/>
                  </a:lnTo>
                  <a:lnTo>
                    <a:pt x="18" y="23"/>
                  </a:lnTo>
                  <a:lnTo>
                    <a:pt x="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53" name="Freeform 153"/>
            <p:cNvSpPr>
              <a:spLocks/>
            </p:cNvSpPr>
            <p:nvPr/>
          </p:nvSpPr>
          <p:spPr bwMode="auto">
            <a:xfrm>
              <a:off x="4530" y="2363"/>
              <a:ext cx="36" cy="23"/>
            </a:xfrm>
            <a:custGeom>
              <a:avLst/>
              <a:gdLst>
                <a:gd name="T0" fmla="*/ 36 w 36"/>
                <a:gd name="T1" fmla="*/ 6 h 23"/>
                <a:gd name="T2" fmla="*/ 36 w 36"/>
                <a:gd name="T3" fmla="*/ 6 h 23"/>
                <a:gd name="T4" fmla="*/ 24 w 36"/>
                <a:gd name="T5" fmla="*/ 0 h 23"/>
                <a:gd name="T6" fmla="*/ 12 w 36"/>
                <a:gd name="T7" fmla="*/ 0 h 23"/>
                <a:gd name="T8" fmla="*/ 0 w 36"/>
                <a:gd name="T9" fmla="*/ 6 h 23"/>
                <a:gd name="T10" fmla="*/ 12 w 36"/>
                <a:gd name="T11" fmla="*/ 23 h 23"/>
                <a:gd name="T12" fmla="*/ 18 w 36"/>
                <a:gd name="T13" fmla="*/ 23 h 23"/>
                <a:gd name="T14" fmla="*/ 24 w 36"/>
                <a:gd name="T15" fmla="*/ 23 h 23"/>
                <a:gd name="T16" fmla="*/ 36 w 36"/>
                <a:gd name="T17"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3">
                  <a:moveTo>
                    <a:pt x="36" y="6"/>
                  </a:moveTo>
                  <a:lnTo>
                    <a:pt x="36" y="6"/>
                  </a:lnTo>
                  <a:lnTo>
                    <a:pt x="24" y="0"/>
                  </a:lnTo>
                  <a:lnTo>
                    <a:pt x="12" y="0"/>
                  </a:lnTo>
                  <a:lnTo>
                    <a:pt x="0" y="6"/>
                  </a:lnTo>
                  <a:lnTo>
                    <a:pt x="12" y="23"/>
                  </a:lnTo>
                  <a:lnTo>
                    <a:pt x="18" y="23"/>
                  </a:lnTo>
                  <a:lnTo>
                    <a:pt x="24" y="23"/>
                  </a:lnTo>
                  <a:lnTo>
                    <a:pt x="3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54" name="Freeform 154"/>
            <p:cNvSpPr>
              <a:spLocks/>
            </p:cNvSpPr>
            <p:nvPr/>
          </p:nvSpPr>
          <p:spPr bwMode="auto">
            <a:xfrm>
              <a:off x="4530" y="2363"/>
              <a:ext cx="36" cy="23"/>
            </a:xfrm>
            <a:custGeom>
              <a:avLst/>
              <a:gdLst>
                <a:gd name="T0" fmla="*/ 36 w 36"/>
                <a:gd name="T1" fmla="*/ 0 h 23"/>
                <a:gd name="T2" fmla="*/ 30 w 36"/>
                <a:gd name="T3" fmla="*/ 0 h 23"/>
                <a:gd name="T4" fmla="*/ 0 w 36"/>
                <a:gd name="T5" fmla="*/ 0 h 23"/>
                <a:gd name="T6" fmla="*/ 12 w 36"/>
                <a:gd name="T7" fmla="*/ 23 h 23"/>
                <a:gd name="T8" fmla="*/ 24 w 36"/>
                <a:gd name="T9" fmla="*/ 23 h 23"/>
                <a:gd name="T10" fmla="*/ 24 w 36"/>
                <a:gd name="T11" fmla="*/ 23 h 23"/>
                <a:gd name="T12" fmla="*/ 24 w 36"/>
                <a:gd name="T13" fmla="*/ 23 h 23"/>
                <a:gd name="T14" fmla="*/ 36 w 36"/>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3">
                  <a:moveTo>
                    <a:pt x="36" y="0"/>
                  </a:moveTo>
                  <a:lnTo>
                    <a:pt x="30" y="0"/>
                  </a:lnTo>
                  <a:lnTo>
                    <a:pt x="0" y="0"/>
                  </a:lnTo>
                  <a:lnTo>
                    <a:pt x="12" y="23"/>
                  </a:lnTo>
                  <a:lnTo>
                    <a:pt x="24" y="23"/>
                  </a:lnTo>
                  <a:lnTo>
                    <a:pt x="24" y="23"/>
                  </a:lnTo>
                  <a:lnTo>
                    <a:pt x="24" y="23"/>
                  </a:lnTo>
                  <a:lnTo>
                    <a:pt x="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55" name="Freeform 155"/>
            <p:cNvSpPr>
              <a:spLocks/>
            </p:cNvSpPr>
            <p:nvPr/>
          </p:nvSpPr>
          <p:spPr bwMode="auto">
            <a:xfrm>
              <a:off x="4536" y="2357"/>
              <a:ext cx="30" cy="24"/>
            </a:xfrm>
            <a:custGeom>
              <a:avLst/>
              <a:gdLst>
                <a:gd name="T0" fmla="*/ 30 w 30"/>
                <a:gd name="T1" fmla="*/ 0 h 24"/>
                <a:gd name="T2" fmla="*/ 30 w 30"/>
                <a:gd name="T3" fmla="*/ 0 h 24"/>
                <a:gd name="T4" fmla="*/ 18 w 30"/>
                <a:gd name="T5" fmla="*/ 0 h 24"/>
                <a:gd name="T6" fmla="*/ 0 w 30"/>
                <a:gd name="T7" fmla="*/ 0 h 24"/>
                <a:gd name="T8" fmla="*/ 6 w 30"/>
                <a:gd name="T9" fmla="*/ 24 h 24"/>
                <a:gd name="T10" fmla="*/ 18 w 30"/>
                <a:gd name="T11" fmla="*/ 24 h 24"/>
                <a:gd name="T12" fmla="*/ 18 w 30"/>
                <a:gd name="T13" fmla="*/ 24 h 24"/>
                <a:gd name="T14" fmla="*/ 18 w 30"/>
                <a:gd name="T15" fmla="*/ 24 h 24"/>
                <a:gd name="T16" fmla="*/ 30 w 30"/>
                <a:gd name="T1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4">
                  <a:moveTo>
                    <a:pt x="30" y="0"/>
                  </a:moveTo>
                  <a:lnTo>
                    <a:pt x="30" y="0"/>
                  </a:lnTo>
                  <a:lnTo>
                    <a:pt x="18" y="0"/>
                  </a:lnTo>
                  <a:lnTo>
                    <a:pt x="0" y="0"/>
                  </a:lnTo>
                  <a:lnTo>
                    <a:pt x="6" y="24"/>
                  </a:lnTo>
                  <a:lnTo>
                    <a:pt x="18" y="24"/>
                  </a:lnTo>
                  <a:lnTo>
                    <a:pt x="18" y="24"/>
                  </a:lnTo>
                  <a:lnTo>
                    <a:pt x="18" y="24"/>
                  </a:lnTo>
                  <a:lnTo>
                    <a:pt x="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56" name="Freeform 156"/>
            <p:cNvSpPr>
              <a:spLocks/>
            </p:cNvSpPr>
            <p:nvPr/>
          </p:nvSpPr>
          <p:spPr bwMode="auto">
            <a:xfrm>
              <a:off x="4536" y="2351"/>
              <a:ext cx="24" cy="24"/>
            </a:xfrm>
            <a:custGeom>
              <a:avLst/>
              <a:gdLst>
                <a:gd name="T0" fmla="*/ 24 w 24"/>
                <a:gd name="T1" fmla="*/ 0 h 24"/>
                <a:gd name="T2" fmla="*/ 18 w 24"/>
                <a:gd name="T3" fmla="*/ 0 h 24"/>
                <a:gd name="T4" fmla="*/ 0 w 24"/>
                <a:gd name="T5" fmla="*/ 0 h 24"/>
                <a:gd name="T6" fmla="*/ 6 w 24"/>
                <a:gd name="T7" fmla="*/ 24 h 24"/>
                <a:gd name="T8" fmla="*/ 12 w 24"/>
                <a:gd name="T9" fmla="*/ 24 h 24"/>
                <a:gd name="T10" fmla="*/ 18 w 24"/>
                <a:gd name="T11" fmla="*/ 24 h 24"/>
                <a:gd name="T12" fmla="*/ 24 w 24"/>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4" h="24">
                  <a:moveTo>
                    <a:pt x="24" y="0"/>
                  </a:moveTo>
                  <a:lnTo>
                    <a:pt x="18" y="0"/>
                  </a:lnTo>
                  <a:lnTo>
                    <a:pt x="0" y="0"/>
                  </a:lnTo>
                  <a:lnTo>
                    <a:pt x="6" y="24"/>
                  </a:lnTo>
                  <a:lnTo>
                    <a:pt x="12" y="24"/>
                  </a:lnTo>
                  <a:lnTo>
                    <a:pt x="18" y="24"/>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57" name="Freeform 157"/>
            <p:cNvSpPr>
              <a:spLocks/>
            </p:cNvSpPr>
            <p:nvPr/>
          </p:nvSpPr>
          <p:spPr bwMode="auto">
            <a:xfrm>
              <a:off x="4542" y="2345"/>
              <a:ext cx="18" cy="24"/>
            </a:xfrm>
            <a:custGeom>
              <a:avLst/>
              <a:gdLst>
                <a:gd name="T0" fmla="*/ 18 w 18"/>
                <a:gd name="T1" fmla="*/ 0 h 24"/>
                <a:gd name="T2" fmla="*/ 12 w 18"/>
                <a:gd name="T3" fmla="*/ 0 h 24"/>
                <a:gd name="T4" fmla="*/ 0 w 18"/>
                <a:gd name="T5" fmla="*/ 0 h 24"/>
                <a:gd name="T6" fmla="*/ 6 w 18"/>
                <a:gd name="T7" fmla="*/ 24 h 24"/>
                <a:gd name="T8" fmla="*/ 12 w 18"/>
                <a:gd name="T9" fmla="*/ 24 h 24"/>
                <a:gd name="T10" fmla="*/ 12 w 18"/>
                <a:gd name="T11" fmla="*/ 24 h 24"/>
                <a:gd name="T12" fmla="*/ 18 w 18"/>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18" h="24">
                  <a:moveTo>
                    <a:pt x="18" y="0"/>
                  </a:moveTo>
                  <a:lnTo>
                    <a:pt x="12" y="0"/>
                  </a:lnTo>
                  <a:lnTo>
                    <a:pt x="0" y="0"/>
                  </a:lnTo>
                  <a:lnTo>
                    <a:pt x="6" y="24"/>
                  </a:lnTo>
                  <a:lnTo>
                    <a:pt x="12" y="24"/>
                  </a:lnTo>
                  <a:lnTo>
                    <a:pt x="12" y="24"/>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58" name="Freeform 158"/>
            <p:cNvSpPr>
              <a:spLocks/>
            </p:cNvSpPr>
            <p:nvPr/>
          </p:nvSpPr>
          <p:spPr bwMode="auto">
            <a:xfrm>
              <a:off x="4542" y="2434"/>
              <a:ext cx="18" cy="6"/>
            </a:xfrm>
            <a:custGeom>
              <a:avLst/>
              <a:gdLst>
                <a:gd name="T0" fmla="*/ 0 w 18"/>
                <a:gd name="T1" fmla="*/ 0 h 6"/>
                <a:gd name="T2" fmla="*/ 0 w 18"/>
                <a:gd name="T3" fmla="*/ 6 h 6"/>
                <a:gd name="T4" fmla="*/ 0 w 18"/>
                <a:gd name="T5" fmla="*/ 6 h 6"/>
                <a:gd name="T6" fmla="*/ 6 w 18"/>
                <a:gd name="T7" fmla="*/ 6 h 6"/>
                <a:gd name="T8" fmla="*/ 6 w 18"/>
                <a:gd name="T9" fmla="*/ 6 h 6"/>
                <a:gd name="T10" fmla="*/ 6 w 18"/>
                <a:gd name="T11" fmla="*/ 6 h 6"/>
                <a:gd name="T12" fmla="*/ 6 w 18"/>
                <a:gd name="T13" fmla="*/ 6 h 6"/>
                <a:gd name="T14" fmla="*/ 12 w 18"/>
                <a:gd name="T15" fmla="*/ 6 h 6"/>
                <a:gd name="T16" fmla="*/ 12 w 18"/>
                <a:gd name="T17" fmla="*/ 6 h 6"/>
                <a:gd name="T18" fmla="*/ 18 w 18"/>
                <a:gd name="T19" fmla="*/ 6 h 6"/>
                <a:gd name="T20" fmla="*/ 18 w 18"/>
                <a:gd name="T21" fmla="*/ 6 h 6"/>
                <a:gd name="T22" fmla="*/ 6 w 18"/>
                <a:gd name="T23" fmla="*/ 6 h 6"/>
                <a:gd name="T24" fmla="*/ 6 w 18"/>
                <a:gd name="T25" fmla="*/ 0 h 6"/>
                <a:gd name="T26" fmla="*/ 0 w 18"/>
                <a:gd name="T27" fmla="*/ 0 h 6"/>
                <a:gd name="T28" fmla="*/ 0 w 18"/>
                <a:gd name="T2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6">
                  <a:moveTo>
                    <a:pt x="0" y="0"/>
                  </a:moveTo>
                  <a:lnTo>
                    <a:pt x="0" y="6"/>
                  </a:lnTo>
                  <a:lnTo>
                    <a:pt x="0" y="6"/>
                  </a:lnTo>
                  <a:lnTo>
                    <a:pt x="6" y="6"/>
                  </a:lnTo>
                  <a:lnTo>
                    <a:pt x="6" y="6"/>
                  </a:lnTo>
                  <a:lnTo>
                    <a:pt x="6" y="6"/>
                  </a:lnTo>
                  <a:lnTo>
                    <a:pt x="6" y="6"/>
                  </a:lnTo>
                  <a:lnTo>
                    <a:pt x="12" y="6"/>
                  </a:lnTo>
                  <a:lnTo>
                    <a:pt x="12" y="6"/>
                  </a:lnTo>
                  <a:lnTo>
                    <a:pt x="18" y="6"/>
                  </a:lnTo>
                  <a:lnTo>
                    <a:pt x="18" y="6"/>
                  </a:lnTo>
                  <a:lnTo>
                    <a:pt x="6" y="6"/>
                  </a:lnTo>
                  <a:lnTo>
                    <a:pt x="6" y="0"/>
                  </a:lnTo>
                  <a:lnTo>
                    <a:pt x="0" y="0"/>
                  </a:lnTo>
                  <a:lnTo>
                    <a:pt x="0"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59" name="Freeform 159"/>
            <p:cNvSpPr>
              <a:spLocks/>
            </p:cNvSpPr>
            <p:nvPr/>
          </p:nvSpPr>
          <p:spPr bwMode="auto">
            <a:xfrm>
              <a:off x="4530" y="2428"/>
              <a:ext cx="24" cy="24"/>
            </a:xfrm>
            <a:custGeom>
              <a:avLst/>
              <a:gdLst>
                <a:gd name="T0" fmla="*/ 0 w 24"/>
                <a:gd name="T1" fmla="*/ 12 h 24"/>
                <a:gd name="T2" fmla="*/ 0 w 24"/>
                <a:gd name="T3" fmla="*/ 18 h 24"/>
                <a:gd name="T4" fmla="*/ 6 w 24"/>
                <a:gd name="T5" fmla="*/ 24 h 24"/>
                <a:gd name="T6" fmla="*/ 18 w 24"/>
                <a:gd name="T7" fmla="*/ 24 h 24"/>
                <a:gd name="T8" fmla="*/ 6 w 24"/>
                <a:gd name="T9" fmla="*/ 0 h 24"/>
                <a:gd name="T10" fmla="*/ 18 w 24"/>
                <a:gd name="T11" fmla="*/ 0 h 24"/>
                <a:gd name="T12" fmla="*/ 24 w 24"/>
                <a:gd name="T13" fmla="*/ 6 h 24"/>
                <a:gd name="T14" fmla="*/ 24 w 24"/>
                <a:gd name="T15" fmla="*/ 6 h 24"/>
                <a:gd name="T16" fmla="*/ 24 w 24"/>
                <a:gd name="T17" fmla="*/ 6 h 24"/>
                <a:gd name="T18" fmla="*/ 0 w 24"/>
                <a:gd name="T1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12"/>
                  </a:moveTo>
                  <a:lnTo>
                    <a:pt x="0" y="18"/>
                  </a:lnTo>
                  <a:lnTo>
                    <a:pt x="6" y="24"/>
                  </a:lnTo>
                  <a:lnTo>
                    <a:pt x="18" y="24"/>
                  </a:lnTo>
                  <a:lnTo>
                    <a:pt x="6" y="0"/>
                  </a:lnTo>
                  <a:lnTo>
                    <a:pt x="18" y="0"/>
                  </a:lnTo>
                  <a:lnTo>
                    <a:pt x="24" y="6"/>
                  </a:lnTo>
                  <a:lnTo>
                    <a:pt x="24" y="6"/>
                  </a:lnTo>
                  <a:lnTo>
                    <a:pt x="24" y="6"/>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60" name="Freeform 160"/>
            <p:cNvSpPr>
              <a:spLocks noEditPoints="1"/>
            </p:cNvSpPr>
            <p:nvPr/>
          </p:nvSpPr>
          <p:spPr bwMode="auto">
            <a:xfrm>
              <a:off x="4536" y="2428"/>
              <a:ext cx="18" cy="24"/>
            </a:xfrm>
            <a:custGeom>
              <a:avLst/>
              <a:gdLst>
                <a:gd name="T0" fmla="*/ 12 w 18"/>
                <a:gd name="T1" fmla="*/ 24 h 24"/>
                <a:gd name="T2" fmla="*/ 6 w 18"/>
                <a:gd name="T3" fmla="*/ 24 h 24"/>
                <a:gd name="T4" fmla="*/ 6 w 18"/>
                <a:gd name="T5" fmla="*/ 24 h 24"/>
                <a:gd name="T6" fmla="*/ 6 w 18"/>
                <a:gd name="T7" fmla="*/ 24 h 24"/>
                <a:gd name="T8" fmla="*/ 6 w 18"/>
                <a:gd name="T9" fmla="*/ 24 h 24"/>
                <a:gd name="T10" fmla="*/ 18 w 18"/>
                <a:gd name="T11" fmla="*/ 0 h 24"/>
                <a:gd name="T12" fmla="*/ 18 w 18"/>
                <a:gd name="T13" fmla="*/ 0 h 24"/>
                <a:gd name="T14" fmla="*/ 18 w 18"/>
                <a:gd name="T15" fmla="*/ 0 h 24"/>
                <a:gd name="T16" fmla="*/ 12 w 18"/>
                <a:gd name="T17" fmla="*/ 0 h 24"/>
                <a:gd name="T18" fmla="*/ 0 w 18"/>
                <a:gd name="T19" fmla="*/ 0 h 24"/>
                <a:gd name="T20" fmla="*/ 12 w 18"/>
                <a:gd name="T21" fmla="*/ 24 h 24"/>
                <a:gd name="T22" fmla="*/ 0 w 18"/>
                <a:gd name="T23" fmla="*/ 0 h 24"/>
                <a:gd name="T24" fmla="*/ 0 w 18"/>
                <a:gd name="T25" fmla="*/ 0 h 24"/>
                <a:gd name="T26" fmla="*/ 0 w 18"/>
                <a:gd name="T27" fmla="*/ 0 h 24"/>
                <a:gd name="T28" fmla="*/ 6 w 18"/>
                <a:gd name="T29" fmla="*/ 12 h 24"/>
                <a:gd name="T30" fmla="*/ 0 w 18"/>
                <a:gd name="T31"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24">
                  <a:moveTo>
                    <a:pt x="12" y="24"/>
                  </a:moveTo>
                  <a:lnTo>
                    <a:pt x="6" y="24"/>
                  </a:lnTo>
                  <a:lnTo>
                    <a:pt x="6" y="24"/>
                  </a:lnTo>
                  <a:lnTo>
                    <a:pt x="6" y="24"/>
                  </a:lnTo>
                  <a:lnTo>
                    <a:pt x="6" y="24"/>
                  </a:lnTo>
                  <a:lnTo>
                    <a:pt x="18" y="0"/>
                  </a:lnTo>
                  <a:lnTo>
                    <a:pt x="18" y="0"/>
                  </a:lnTo>
                  <a:lnTo>
                    <a:pt x="18" y="0"/>
                  </a:lnTo>
                  <a:lnTo>
                    <a:pt x="12" y="0"/>
                  </a:lnTo>
                  <a:lnTo>
                    <a:pt x="0" y="0"/>
                  </a:lnTo>
                  <a:lnTo>
                    <a:pt x="12" y="24"/>
                  </a:lnTo>
                  <a:close/>
                  <a:moveTo>
                    <a:pt x="0" y="0"/>
                  </a:moveTo>
                  <a:lnTo>
                    <a:pt x="0" y="0"/>
                  </a:lnTo>
                  <a:lnTo>
                    <a:pt x="0" y="0"/>
                  </a:lnTo>
                  <a:lnTo>
                    <a:pt x="6" y="1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61" name="Freeform 161"/>
            <p:cNvSpPr>
              <a:spLocks noEditPoints="1"/>
            </p:cNvSpPr>
            <p:nvPr/>
          </p:nvSpPr>
          <p:spPr bwMode="auto">
            <a:xfrm>
              <a:off x="4536" y="2428"/>
              <a:ext cx="24" cy="24"/>
            </a:xfrm>
            <a:custGeom>
              <a:avLst/>
              <a:gdLst>
                <a:gd name="T0" fmla="*/ 6 w 24"/>
                <a:gd name="T1" fmla="*/ 24 h 24"/>
                <a:gd name="T2" fmla="*/ 0 w 24"/>
                <a:gd name="T3" fmla="*/ 18 h 24"/>
                <a:gd name="T4" fmla="*/ 0 w 24"/>
                <a:gd name="T5" fmla="*/ 18 h 24"/>
                <a:gd name="T6" fmla="*/ 0 w 24"/>
                <a:gd name="T7" fmla="*/ 18 h 24"/>
                <a:gd name="T8" fmla="*/ 24 w 24"/>
                <a:gd name="T9" fmla="*/ 6 h 24"/>
                <a:gd name="T10" fmla="*/ 18 w 24"/>
                <a:gd name="T11" fmla="*/ 0 h 24"/>
                <a:gd name="T12" fmla="*/ 18 w 24"/>
                <a:gd name="T13" fmla="*/ 0 h 24"/>
                <a:gd name="T14" fmla="*/ 18 w 24"/>
                <a:gd name="T15" fmla="*/ 0 h 24"/>
                <a:gd name="T16" fmla="*/ 12 w 24"/>
                <a:gd name="T17" fmla="*/ 0 h 24"/>
                <a:gd name="T18" fmla="*/ 6 w 24"/>
                <a:gd name="T19" fmla="*/ 24 h 24"/>
                <a:gd name="T20" fmla="*/ 6 w 24"/>
                <a:gd name="T21" fmla="*/ 24 h 24"/>
                <a:gd name="T22" fmla="*/ 6 w 24"/>
                <a:gd name="T23" fmla="*/ 24 h 24"/>
                <a:gd name="T24" fmla="*/ 6 w 24"/>
                <a:gd name="T25" fmla="*/ 24 h 24"/>
                <a:gd name="T26" fmla="*/ 12 w 24"/>
                <a:gd name="T27" fmla="*/ 12 h 24"/>
                <a:gd name="T28" fmla="*/ 6 w 24"/>
                <a:gd name="T2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4">
                  <a:moveTo>
                    <a:pt x="6" y="24"/>
                  </a:moveTo>
                  <a:lnTo>
                    <a:pt x="0" y="18"/>
                  </a:lnTo>
                  <a:lnTo>
                    <a:pt x="0" y="18"/>
                  </a:lnTo>
                  <a:lnTo>
                    <a:pt x="0" y="18"/>
                  </a:lnTo>
                  <a:lnTo>
                    <a:pt x="24" y="6"/>
                  </a:lnTo>
                  <a:lnTo>
                    <a:pt x="18" y="0"/>
                  </a:lnTo>
                  <a:lnTo>
                    <a:pt x="18" y="0"/>
                  </a:lnTo>
                  <a:lnTo>
                    <a:pt x="18" y="0"/>
                  </a:lnTo>
                  <a:lnTo>
                    <a:pt x="12" y="0"/>
                  </a:lnTo>
                  <a:lnTo>
                    <a:pt x="6" y="24"/>
                  </a:lnTo>
                  <a:close/>
                  <a:moveTo>
                    <a:pt x="6" y="24"/>
                  </a:moveTo>
                  <a:lnTo>
                    <a:pt x="6" y="24"/>
                  </a:lnTo>
                  <a:lnTo>
                    <a:pt x="6" y="24"/>
                  </a:lnTo>
                  <a:lnTo>
                    <a:pt x="12" y="12"/>
                  </a:lnTo>
                  <a:lnTo>
                    <a:pt x="6"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62" name="Freeform 162"/>
            <p:cNvSpPr>
              <a:spLocks noEditPoints="1"/>
            </p:cNvSpPr>
            <p:nvPr/>
          </p:nvSpPr>
          <p:spPr bwMode="auto">
            <a:xfrm>
              <a:off x="4536" y="2428"/>
              <a:ext cx="24" cy="42"/>
            </a:xfrm>
            <a:custGeom>
              <a:avLst/>
              <a:gdLst>
                <a:gd name="T0" fmla="*/ 24 w 24"/>
                <a:gd name="T1" fmla="*/ 18 h 42"/>
                <a:gd name="T2" fmla="*/ 18 w 24"/>
                <a:gd name="T3" fmla="*/ 24 h 42"/>
                <a:gd name="T4" fmla="*/ 18 w 24"/>
                <a:gd name="T5" fmla="*/ 24 h 42"/>
                <a:gd name="T6" fmla="*/ 12 w 24"/>
                <a:gd name="T7" fmla="*/ 24 h 42"/>
                <a:gd name="T8" fmla="*/ 12 w 24"/>
                <a:gd name="T9" fmla="*/ 24 h 42"/>
                <a:gd name="T10" fmla="*/ 12 w 24"/>
                <a:gd name="T11" fmla="*/ 24 h 42"/>
                <a:gd name="T12" fmla="*/ 12 w 24"/>
                <a:gd name="T13" fmla="*/ 0 h 42"/>
                <a:gd name="T14" fmla="*/ 18 w 24"/>
                <a:gd name="T15" fmla="*/ 0 h 42"/>
                <a:gd name="T16" fmla="*/ 18 w 24"/>
                <a:gd name="T17" fmla="*/ 0 h 42"/>
                <a:gd name="T18" fmla="*/ 18 w 24"/>
                <a:gd name="T19" fmla="*/ 0 h 42"/>
                <a:gd name="T20" fmla="*/ 18 w 24"/>
                <a:gd name="T21" fmla="*/ 0 h 42"/>
                <a:gd name="T22" fmla="*/ 12 w 24"/>
                <a:gd name="T23" fmla="*/ 0 h 42"/>
                <a:gd name="T24" fmla="*/ 24 w 24"/>
                <a:gd name="T25" fmla="*/ 18 h 42"/>
                <a:gd name="T26" fmla="*/ 0 w 24"/>
                <a:gd name="T27" fmla="*/ 18 h 42"/>
                <a:gd name="T28" fmla="*/ 12 w 24"/>
                <a:gd name="T29" fmla="*/ 42 h 42"/>
                <a:gd name="T30" fmla="*/ 24 w 24"/>
                <a:gd name="T31" fmla="*/ 18 h 42"/>
                <a:gd name="T32" fmla="*/ 12 w 24"/>
                <a:gd name="T33" fmla="*/ 12 h 42"/>
                <a:gd name="T34" fmla="*/ 0 w 24"/>
                <a:gd name="T35"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42">
                  <a:moveTo>
                    <a:pt x="24" y="18"/>
                  </a:moveTo>
                  <a:lnTo>
                    <a:pt x="18" y="24"/>
                  </a:lnTo>
                  <a:lnTo>
                    <a:pt x="18" y="24"/>
                  </a:lnTo>
                  <a:lnTo>
                    <a:pt x="12" y="24"/>
                  </a:lnTo>
                  <a:lnTo>
                    <a:pt x="12" y="24"/>
                  </a:lnTo>
                  <a:lnTo>
                    <a:pt x="12" y="24"/>
                  </a:lnTo>
                  <a:lnTo>
                    <a:pt x="12" y="0"/>
                  </a:lnTo>
                  <a:lnTo>
                    <a:pt x="18" y="0"/>
                  </a:lnTo>
                  <a:lnTo>
                    <a:pt x="18" y="0"/>
                  </a:lnTo>
                  <a:lnTo>
                    <a:pt x="18" y="0"/>
                  </a:lnTo>
                  <a:lnTo>
                    <a:pt x="18" y="0"/>
                  </a:lnTo>
                  <a:lnTo>
                    <a:pt x="12" y="0"/>
                  </a:lnTo>
                  <a:lnTo>
                    <a:pt x="24" y="18"/>
                  </a:lnTo>
                  <a:close/>
                  <a:moveTo>
                    <a:pt x="0" y="18"/>
                  </a:moveTo>
                  <a:lnTo>
                    <a:pt x="12" y="42"/>
                  </a:lnTo>
                  <a:lnTo>
                    <a:pt x="24" y="18"/>
                  </a:lnTo>
                  <a:lnTo>
                    <a:pt x="12" y="12"/>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63" name="Freeform 163"/>
            <p:cNvSpPr>
              <a:spLocks noEditPoints="1"/>
            </p:cNvSpPr>
            <p:nvPr/>
          </p:nvSpPr>
          <p:spPr bwMode="auto">
            <a:xfrm>
              <a:off x="4548" y="2428"/>
              <a:ext cx="12" cy="24"/>
            </a:xfrm>
            <a:custGeom>
              <a:avLst/>
              <a:gdLst>
                <a:gd name="T0" fmla="*/ 12 w 12"/>
                <a:gd name="T1" fmla="*/ 24 h 24"/>
                <a:gd name="T2" fmla="*/ 12 w 12"/>
                <a:gd name="T3" fmla="*/ 24 h 24"/>
                <a:gd name="T4" fmla="*/ 12 w 12"/>
                <a:gd name="T5" fmla="*/ 24 h 24"/>
                <a:gd name="T6" fmla="*/ 12 w 12"/>
                <a:gd name="T7" fmla="*/ 24 h 24"/>
                <a:gd name="T8" fmla="*/ 6 w 12"/>
                <a:gd name="T9" fmla="*/ 24 h 24"/>
                <a:gd name="T10" fmla="*/ 12 w 12"/>
                <a:gd name="T11" fmla="*/ 0 h 24"/>
                <a:gd name="T12" fmla="*/ 6 w 12"/>
                <a:gd name="T13" fmla="*/ 0 h 24"/>
                <a:gd name="T14" fmla="*/ 0 w 12"/>
                <a:gd name="T15" fmla="*/ 0 h 24"/>
                <a:gd name="T16" fmla="*/ 0 w 12"/>
                <a:gd name="T17" fmla="*/ 0 h 24"/>
                <a:gd name="T18" fmla="*/ 0 w 12"/>
                <a:gd name="T19" fmla="*/ 0 h 24"/>
                <a:gd name="T20" fmla="*/ 12 w 12"/>
                <a:gd name="T21" fmla="*/ 24 h 24"/>
                <a:gd name="T22" fmla="*/ 6 w 12"/>
                <a:gd name="T23" fmla="*/ 24 h 24"/>
                <a:gd name="T24" fmla="*/ 6 w 12"/>
                <a:gd name="T25" fmla="*/ 24 h 24"/>
                <a:gd name="T26" fmla="*/ 12 w 12"/>
                <a:gd name="T27" fmla="*/ 24 h 24"/>
                <a:gd name="T28" fmla="*/ 6 w 12"/>
                <a:gd name="T29" fmla="*/ 12 h 24"/>
                <a:gd name="T30" fmla="*/ 6 w 12"/>
                <a:gd name="T3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 h="24">
                  <a:moveTo>
                    <a:pt x="12" y="24"/>
                  </a:moveTo>
                  <a:lnTo>
                    <a:pt x="12" y="24"/>
                  </a:lnTo>
                  <a:lnTo>
                    <a:pt x="12" y="24"/>
                  </a:lnTo>
                  <a:lnTo>
                    <a:pt x="12" y="24"/>
                  </a:lnTo>
                  <a:lnTo>
                    <a:pt x="6" y="24"/>
                  </a:lnTo>
                  <a:lnTo>
                    <a:pt x="12" y="0"/>
                  </a:lnTo>
                  <a:lnTo>
                    <a:pt x="6" y="0"/>
                  </a:lnTo>
                  <a:lnTo>
                    <a:pt x="0" y="0"/>
                  </a:lnTo>
                  <a:lnTo>
                    <a:pt x="0" y="0"/>
                  </a:lnTo>
                  <a:lnTo>
                    <a:pt x="0" y="0"/>
                  </a:lnTo>
                  <a:lnTo>
                    <a:pt x="12" y="24"/>
                  </a:lnTo>
                  <a:close/>
                  <a:moveTo>
                    <a:pt x="6" y="24"/>
                  </a:moveTo>
                  <a:lnTo>
                    <a:pt x="6" y="24"/>
                  </a:lnTo>
                  <a:lnTo>
                    <a:pt x="12" y="24"/>
                  </a:lnTo>
                  <a:lnTo>
                    <a:pt x="6" y="12"/>
                  </a:lnTo>
                  <a:lnTo>
                    <a:pt x="6"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64" name="Freeform 164"/>
            <p:cNvSpPr>
              <a:spLocks noEditPoints="1"/>
            </p:cNvSpPr>
            <p:nvPr/>
          </p:nvSpPr>
          <p:spPr bwMode="auto">
            <a:xfrm>
              <a:off x="4548" y="2428"/>
              <a:ext cx="24" cy="24"/>
            </a:xfrm>
            <a:custGeom>
              <a:avLst/>
              <a:gdLst>
                <a:gd name="T0" fmla="*/ 6 w 24"/>
                <a:gd name="T1" fmla="*/ 24 h 24"/>
                <a:gd name="T2" fmla="*/ 18 w 24"/>
                <a:gd name="T3" fmla="*/ 24 h 24"/>
                <a:gd name="T4" fmla="*/ 18 w 24"/>
                <a:gd name="T5" fmla="*/ 18 h 24"/>
                <a:gd name="T6" fmla="*/ 24 w 24"/>
                <a:gd name="T7" fmla="*/ 12 h 24"/>
                <a:gd name="T8" fmla="*/ 0 w 24"/>
                <a:gd name="T9" fmla="*/ 6 h 24"/>
                <a:gd name="T10" fmla="*/ 0 w 24"/>
                <a:gd name="T11" fmla="*/ 6 h 24"/>
                <a:gd name="T12" fmla="*/ 0 w 24"/>
                <a:gd name="T13" fmla="*/ 0 h 24"/>
                <a:gd name="T14" fmla="*/ 12 w 24"/>
                <a:gd name="T15" fmla="*/ 0 h 24"/>
                <a:gd name="T16" fmla="*/ 6 w 24"/>
                <a:gd name="T17" fmla="*/ 24 h 24"/>
                <a:gd name="T18" fmla="*/ 12 w 24"/>
                <a:gd name="T19" fmla="*/ 0 h 24"/>
                <a:gd name="T20" fmla="*/ 12 w 24"/>
                <a:gd name="T21" fmla="*/ 0 h 24"/>
                <a:gd name="T22" fmla="*/ 12 w 24"/>
                <a:gd name="T23" fmla="*/ 0 h 24"/>
                <a:gd name="T24" fmla="*/ 6 w 24"/>
                <a:gd name="T25" fmla="*/ 12 h 24"/>
                <a:gd name="T26" fmla="*/ 12 w 24"/>
                <a:gd name="T2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4">
                  <a:moveTo>
                    <a:pt x="6" y="24"/>
                  </a:moveTo>
                  <a:lnTo>
                    <a:pt x="18" y="24"/>
                  </a:lnTo>
                  <a:lnTo>
                    <a:pt x="18" y="18"/>
                  </a:lnTo>
                  <a:lnTo>
                    <a:pt x="24" y="12"/>
                  </a:lnTo>
                  <a:lnTo>
                    <a:pt x="0" y="6"/>
                  </a:lnTo>
                  <a:lnTo>
                    <a:pt x="0" y="6"/>
                  </a:lnTo>
                  <a:lnTo>
                    <a:pt x="0" y="0"/>
                  </a:lnTo>
                  <a:lnTo>
                    <a:pt x="12" y="0"/>
                  </a:lnTo>
                  <a:lnTo>
                    <a:pt x="6" y="24"/>
                  </a:lnTo>
                  <a:close/>
                  <a:moveTo>
                    <a:pt x="12" y="0"/>
                  </a:moveTo>
                  <a:lnTo>
                    <a:pt x="12" y="0"/>
                  </a:lnTo>
                  <a:lnTo>
                    <a:pt x="12" y="0"/>
                  </a:lnTo>
                  <a:lnTo>
                    <a:pt x="6" y="12"/>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65" name="Freeform 165"/>
            <p:cNvSpPr>
              <a:spLocks noEditPoints="1"/>
            </p:cNvSpPr>
            <p:nvPr/>
          </p:nvSpPr>
          <p:spPr bwMode="auto">
            <a:xfrm>
              <a:off x="4548" y="2428"/>
              <a:ext cx="24" cy="24"/>
            </a:xfrm>
            <a:custGeom>
              <a:avLst/>
              <a:gdLst>
                <a:gd name="T0" fmla="*/ 12 w 24"/>
                <a:gd name="T1" fmla="*/ 0 h 24"/>
                <a:gd name="T2" fmla="*/ 0 w 24"/>
                <a:gd name="T3" fmla="*/ 0 h 24"/>
                <a:gd name="T4" fmla="*/ 0 w 24"/>
                <a:gd name="T5" fmla="*/ 24 h 24"/>
                <a:gd name="T6" fmla="*/ 12 w 24"/>
                <a:gd name="T7" fmla="*/ 24 h 24"/>
                <a:gd name="T8" fmla="*/ 12 w 24"/>
                <a:gd name="T9" fmla="*/ 0 h 24"/>
                <a:gd name="T10" fmla="*/ 24 w 24"/>
                <a:gd name="T11" fmla="*/ 12 h 24"/>
                <a:gd name="T12" fmla="*/ 24 w 24"/>
                <a:gd name="T13" fmla="*/ 0 h 24"/>
                <a:gd name="T14" fmla="*/ 12 w 24"/>
                <a:gd name="T15" fmla="*/ 0 h 24"/>
                <a:gd name="T16" fmla="*/ 12 w 24"/>
                <a:gd name="T17" fmla="*/ 12 h 24"/>
                <a:gd name="T18" fmla="*/ 24 w 24"/>
                <a:gd name="T1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lnTo>
                    <a:pt x="0" y="0"/>
                  </a:lnTo>
                  <a:lnTo>
                    <a:pt x="0" y="24"/>
                  </a:lnTo>
                  <a:lnTo>
                    <a:pt x="12" y="24"/>
                  </a:lnTo>
                  <a:lnTo>
                    <a:pt x="12" y="0"/>
                  </a:lnTo>
                  <a:close/>
                  <a:moveTo>
                    <a:pt x="24" y="12"/>
                  </a:moveTo>
                  <a:lnTo>
                    <a:pt x="24" y="0"/>
                  </a:lnTo>
                  <a:lnTo>
                    <a:pt x="12" y="0"/>
                  </a:lnTo>
                  <a:lnTo>
                    <a:pt x="12" y="12"/>
                  </a:lnTo>
                  <a:lnTo>
                    <a:pt x="24"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66" name="Freeform 166"/>
            <p:cNvSpPr>
              <a:spLocks noEditPoints="1"/>
            </p:cNvSpPr>
            <p:nvPr/>
          </p:nvSpPr>
          <p:spPr bwMode="auto">
            <a:xfrm>
              <a:off x="4536" y="2434"/>
              <a:ext cx="24" cy="18"/>
            </a:xfrm>
            <a:custGeom>
              <a:avLst/>
              <a:gdLst>
                <a:gd name="T0" fmla="*/ 24 w 24"/>
                <a:gd name="T1" fmla="*/ 6 h 18"/>
                <a:gd name="T2" fmla="*/ 24 w 24"/>
                <a:gd name="T3" fmla="*/ 0 h 18"/>
                <a:gd name="T4" fmla="*/ 0 w 24"/>
                <a:gd name="T5" fmla="*/ 0 h 18"/>
                <a:gd name="T6" fmla="*/ 0 w 24"/>
                <a:gd name="T7" fmla="*/ 6 h 18"/>
                <a:gd name="T8" fmla="*/ 24 w 24"/>
                <a:gd name="T9" fmla="*/ 6 h 18"/>
                <a:gd name="T10" fmla="*/ 0 w 24"/>
                <a:gd name="T11" fmla="*/ 6 h 18"/>
                <a:gd name="T12" fmla="*/ 0 w 24"/>
                <a:gd name="T13" fmla="*/ 18 h 18"/>
                <a:gd name="T14" fmla="*/ 12 w 24"/>
                <a:gd name="T15" fmla="*/ 18 h 18"/>
                <a:gd name="T16" fmla="*/ 12 w 24"/>
                <a:gd name="T17" fmla="*/ 6 h 18"/>
                <a:gd name="T18" fmla="*/ 0 w 24"/>
                <a:gd name="T19" fmla="*/ 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24" y="6"/>
                  </a:moveTo>
                  <a:lnTo>
                    <a:pt x="24" y="0"/>
                  </a:lnTo>
                  <a:lnTo>
                    <a:pt x="0" y="0"/>
                  </a:lnTo>
                  <a:lnTo>
                    <a:pt x="0" y="6"/>
                  </a:lnTo>
                  <a:lnTo>
                    <a:pt x="24" y="6"/>
                  </a:lnTo>
                  <a:close/>
                  <a:moveTo>
                    <a:pt x="0" y="6"/>
                  </a:moveTo>
                  <a:lnTo>
                    <a:pt x="0" y="18"/>
                  </a:lnTo>
                  <a:lnTo>
                    <a:pt x="12" y="18"/>
                  </a:lnTo>
                  <a:lnTo>
                    <a:pt x="12"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67" name="Freeform 167"/>
            <p:cNvSpPr>
              <a:spLocks noEditPoints="1"/>
            </p:cNvSpPr>
            <p:nvPr/>
          </p:nvSpPr>
          <p:spPr bwMode="auto">
            <a:xfrm>
              <a:off x="4542" y="2422"/>
              <a:ext cx="18" cy="24"/>
            </a:xfrm>
            <a:custGeom>
              <a:avLst/>
              <a:gdLst>
                <a:gd name="T0" fmla="*/ 6 w 18"/>
                <a:gd name="T1" fmla="*/ 0 h 24"/>
                <a:gd name="T2" fmla="*/ 0 w 18"/>
                <a:gd name="T3" fmla="*/ 0 h 24"/>
                <a:gd name="T4" fmla="*/ 0 w 18"/>
                <a:gd name="T5" fmla="*/ 24 h 24"/>
                <a:gd name="T6" fmla="*/ 6 w 18"/>
                <a:gd name="T7" fmla="*/ 24 h 24"/>
                <a:gd name="T8" fmla="*/ 6 w 18"/>
                <a:gd name="T9" fmla="*/ 0 h 24"/>
                <a:gd name="T10" fmla="*/ 18 w 18"/>
                <a:gd name="T11" fmla="*/ 12 h 24"/>
                <a:gd name="T12" fmla="*/ 18 w 18"/>
                <a:gd name="T13" fmla="*/ 0 h 24"/>
                <a:gd name="T14" fmla="*/ 6 w 18"/>
                <a:gd name="T15" fmla="*/ 0 h 24"/>
                <a:gd name="T16" fmla="*/ 6 w 18"/>
                <a:gd name="T17" fmla="*/ 12 h 24"/>
                <a:gd name="T18" fmla="*/ 18 w 18"/>
                <a:gd name="T1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24">
                  <a:moveTo>
                    <a:pt x="6" y="0"/>
                  </a:moveTo>
                  <a:lnTo>
                    <a:pt x="0" y="0"/>
                  </a:lnTo>
                  <a:lnTo>
                    <a:pt x="0" y="24"/>
                  </a:lnTo>
                  <a:lnTo>
                    <a:pt x="6" y="24"/>
                  </a:lnTo>
                  <a:lnTo>
                    <a:pt x="6" y="0"/>
                  </a:lnTo>
                  <a:close/>
                  <a:moveTo>
                    <a:pt x="18" y="12"/>
                  </a:moveTo>
                  <a:lnTo>
                    <a:pt x="18" y="0"/>
                  </a:lnTo>
                  <a:lnTo>
                    <a:pt x="6" y="0"/>
                  </a:lnTo>
                  <a:lnTo>
                    <a:pt x="6" y="12"/>
                  </a:lnTo>
                  <a:lnTo>
                    <a:pt x="1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68" name="Freeform 168"/>
            <p:cNvSpPr>
              <a:spLocks/>
            </p:cNvSpPr>
            <p:nvPr/>
          </p:nvSpPr>
          <p:spPr bwMode="auto">
            <a:xfrm>
              <a:off x="4524" y="2422"/>
              <a:ext cx="18" cy="18"/>
            </a:xfrm>
            <a:custGeom>
              <a:avLst/>
              <a:gdLst>
                <a:gd name="T0" fmla="*/ 18 w 18"/>
                <a:gd name="T1" fmla="*/ 0 h 18"/>
                <a:gd name="T2" fmla="*/ 0 w 18"/>
                <a:gd name="T3" fmla="*/ 0 h 18"/>
                <a:gd name="T4" fmla="*/ 6 w 18"/>
                <a:gd name="T5" fmla="*/ 18 h 18"/>
                <a:gd name="T6" fmla="*/ 18 w 18"/>
                <a:gd name="T7" fmla="*/ 12 h 18"/>
                <a:gd name="T8" fmla="*/ 18 w 18"/>
                <a:gd name="T9" fmla="*/ 0 h 18"/>
              </a:gdLst>
              <a:ahLst/>
              <a:cxnLst>
                <a:cxn ang="0">
                  <a:pos x="T0" y="T1"/>
                </a:cxn>
                <a:cxn ang="0">
                  <a:pos x="T2" y="T3"/>
                </a:cxn>
                <a:cxn ang="0">
                  <a:pos x="T4" y="T5"/>
                </a:cxn>
                <a:cxn ang="0">
                  <a:pos x="T6" y="T7"/>
                </a:cxn>
                <a:cxn ang="0">
                  <a:pos x="T8" y="T9"/>
                </a:cxn>
              </a:cxnLst>
              <a:rect l="0" t="0" r="r" b="b"/>
              <a:pathLst>
                <a:path w="18" h="18">
                  <a:moveTo>
                    <a:pt x="18" y="0"/>
                  </a:moveTo>
                  <a:lnTo>
                    <a:pt x="0" y="0"/>
                  </a:lnTo>
                  <a:lnTo>
                    <a:pt x="6" y="18"/>
                  </a:lnTo>
                  <a:lnTo>
                    <a:pt x="18" y="12"/>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69" name="Freeform 169"/>
            <p:cNvSpPr>
              <a:spLocks/>
            </p:cNvSpPr>
            <p:nvPr/>
          </p:nvSpPr>
          <p:spPr bwMode="auto">
            <a:xfrm>
              <a:off x="4536" y="2410"/>
              <a:ext cx="24" cy="18"/>
            </a:xfrm>
            <a:custGeom>
              <a:avLst/>
              <a:gdLst>
                <a:gd name="T0" fmla="*/ 12 w 24"/>
                <a:gd name="T1" fmla="*/ 0 h 18"/>
                <a:gd name="T2" fmla="*/ 6 w 24"/>
                <a:gd name="T3" fmla="*/ 6 h 18"/>
                <a:gd name="T4" fmla="*/ 0 w 24"/>
                <a:gd name="T5" fmla="*/ 12 h 18"/>
                <a:gd name="T6" fmla="*/ 6 w 24"/>
                <a:gd name="T7" fmla="*/ 18 h 18"/>
                <a:gd name="T8" fmla="*/ 12 w 24"/>
                <a:gd name="T9" fmla="*/ 18 h 18"/>
                <a:gd name="T10" fmla="*/ 18 w 24"/>
                <a:gd name="T11" fmla="*/ 18 h 18"/>
                <a:gd name="T12" fmla="*/ 24 w 24"/>
                <a:gd name="T13" fmla="*/ 18 h 18"/>
                <a:gd name="T14" fmla="*/ 24 w 24"/>
                <a:gd name="T15" fmla="*/ 12 h 18"/>
                <a:gd name="T16" fmla="*/ 24 w 24"/>
                <a:gd name="T17" fmla="*/ 6 h 18"/>
                <a:gd name="T18" fmla="*/ 18 w 24"/>
                <a:gd name="T19" fmla="*/ 0 h 18"/>
                <a:gd name="T20" fmla="*/ 12 w 24"/>
                <a:gd name="T21" fmla="*/ 0 h 18"/>
                <a:gd name="T22" fmla="*/ 12 w 24"/>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12" y="0"/>
                  </a:moveTo>
                  <a:lnTo>
                    <a:pt x="6" y="6"/>
                  </a:lnTo>
                  <a:lnTo>
                    <a:pt x="0" y="12"/>
                  </a:lnTo>
                  <a:lnTo>
                    <a:pt x="6" y="18"/>
                  </a:lnTo>
                  <a:lnTo>
                    <a:pt x="12" y="18"/>
                  </a:lnTo>
                  <a:lnTo>
                    <a:pt x="18" y="18"/>
                  </a:lnTo>
                  <a:lnTo>
                    <a:pt x="24" y="18"/>
                  </a:lnTo>
                  <a:lnTo>
                    <a:pt x="24" y="12"/>
                  </a:lnTo>
                  <a:lnTo>
                    <a:pt x="24" y="6"/>
                  </a:lnTo>
                  <a:lnTo>
                    <a:pt x="18" y="0"/>
                  </a:lnTo>
                  <a:lnTo>
                    <a:pt x="12" y="0"/>
                  </a:lnTo>
                  <a:lnTo>
                    <a:pt x="12"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70" name="Freeform 170"/>
            <p:cNvSpPr>
              <a:spLocks/>
            </p:cNvSpPr>
            <p:nvPr/>
          </p:nvSpPr>
          <p:spPr bwMode="auto">
            <a:xfrm>
              <a:off x="4524" y="2398"/>
              <a:ext cx="24" cy="24"/>
            </a:xfrm>
            <a:custGeom>
              <a:avLst/>
              <a:gdLst>
                <a:gd name="T0" fmla="*/ 24 w 24"/>
                <a:gd name="T1" fmla="*/ 0 h 24"/>
                <a:gd name="T2" fmla="*/ 6 w 24"/>
                <a:gd name="T3" fmla="*/ 6 h 24"/>
                <a:gd name="T4" fmla="*/ 0 w 24"/>
                <a:gd name="T5" fmla="*/ 24 h 24"/>
                <a:gd name="T6" fmla="*/ 24 w 24"/>
                <a:gd name="T7" fmla="*/ 24 h 24"/>
                <a:gd name="T8" fmla="*/ 24 w 24"/>
                <a:gd name="T9" fmla="*/ 24 h 24"/>
                <a:gd name="T10" fmla="*/ 24 w 24"/>
                <a:gd name="T11" fmla="*/ 0 h 24"/>
              </a:gdLst>
              <a:ahLst/>
              <a:cxnLst>
                <a:cxn ang="0">
                  <a:pos x="T0" y="T1"/>
                </a:cxn>
                <a:cxn ang="0">
                  <a:pos x="T2" y="T3"/>
                </a:cxn>
                <a:cxn ang="0">
                  <a:pos x="T4" y="T5"/>
                </a:cxn>
                <a:cxn ang="0">
                  <a:pos x="T6" y="T7"/>
                </a:cxn>
                <a:cxn ang="0">
                  <a:pos x="T8" y="T9"/>
                </a:cxn>
                <a:cxn ang="0">
                  <a:pos x="T10" y="T11"/>
                </a:cxn>
              </a:cxnLst>
              <a:rect l="0" t="0" r="r" b="b"/>
              <a:pathLst>
                <a:path w="24" h="24">
                  <a:moveTo>
                    <a:pt x="24" y="0"/>
                  </a:moveTo>
                  <a:lnTo>
                    <a:pt x="6" y="6"/>
                  </a:lnTo>
                  <a:lnTo>
                    <a:pt x="0" y="24"/>
                  </a:lnTo>
                  <a:lnTo>
                    <a:pt x="24" y="24"/>
                  </a:lnTo>
                  <a:lnTo>
                    <a:pt x="24" y="24"/>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71" name="Freeform 171"/>
            <p:cNvSpPr>
              <a:spLocks noEditPoints="1"/>
            </p:cNvSpPr>
            <p:nvPr/>
          </p:nvSpPr>
          <p:spPr bwMode="auto">
            <a:xfrm>
              <a:off x="4524" y="2416"/>
              <a:ext cx="24" cy="24"/>
            </a:xfrm>
            <a:custGeom>
              <a:avLst/>
              <a:gdLst>
                <a:gd name="T0" fmla="*/ 0 w 24"/>
                <a:gd name="T1" fmla="*/ 6 h 24"/>
                <a:gd name="T2" fmla="*/ 6 w 24"/>
                <a:gd name="T3" fmla="*/ 18 h 24"/>
                <a:gd name="T4" fmla="*/ 24 w 24"/>
                <a:gd name="T5" fmla="*/ 24 h 24"/>
                <a:gd name="T6" fmla="*/ 24 w 24"/>
                <a:gd name="T7" fmla="*/ 0 h 24"/>
                <a:gd name="T8" fmla="*/ 24 w 24"/>
                <a:gd name="T9" fmla="*/ 6 h 24"/>
                <a:gd name="T10" fmla="*/ 24 w 24"/>
                <a:gd name="T11" fmla="*/ 6 h 24"/>
                <a:gd name="T12" fmla="*/ 0 w 24"/>
                <a:gd name="T13" fmla="*/ 6 h 24"/>
                <a:gd name="T14" fmla="*/ 24 w 24"/>
                <a:gd name="T15" fmla="*/ 6 h 24"/>
                <a:gd name="T16" fmla="*/ 24 w 24"/>
                <a:gd name="T17" fmla="*/ 6 h 24"/>
                <a:gd name="T18" fmla="*/ 12 w 24"/>
                <a:gd name="T19" fmla="*/ 6 h 24"/>
                <a:gd name="T20" fmla="*/ 24 w 24"/>
                <a:gd name="T21"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0" y="6"/>
                  </a:moveTo>
                  <a:lnTo>
                    <a:pt x="6" y="18"/>
                  </a:lnTo>
                  <a:lnTo>
                    <a:pt x="24" y="24"/>
                  </a:lnTo>
                  <a:lnTo>
                    <a:pt x="24" y="0"/>
                  </a:lnTo>
                  <a:lnTo>
                    <a:pt x="24" y="6"/>
                  </a:lnTo>
                  <a:lnTo>
                    <a:pt x="24" y="6"/>
                  </a:lnTo>
                  <a:lnTo>
                    <a:pt x="0" y="6"/>
                  </a:lnTo>
                  <a:close/>
                  <a:moveTo>
                    <a:pt x="24" y="6"/>
                  </a:moveTo>
                  <a:lnTo>
                    <a:pt x="24" y="6"/>
                  </a:lnTo>
                  <a:lnTo>
                    <a:pt x="12" y="6"/>
                  </a:lnTo>
                  <a:lnTo>
                    <a:pt x="2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72" name="Freeform 172"/>
            <p:cNvSpPr>
              <a:spLocks noEditPoints="1"/>
            </p:cNvSpPr>
            <p:nvPr/>
          </p:nvSpPr>
          <p:spPr bwMode="auto">
            <a:xfrm>
              <a:off x="4548" y="2416"/>
              <a:ext cx="6" cy="24"/>
            </a:xfrm>
            <a:custGeom>
              <a:avLst/>
              <a:gdLst>
                <a:gd name="T0" fmla="*/ 0 w 6"/>
                <a:gd name="T1" fmla="*/ 24 h 24"/>
                <a:gd name="T2" fmla="*/ 6 w 6"/>
                <a:gd name="T3" fmla="*/ 24 h 24"/>
                <a:gd name="T4" fmla="*/ 6 w 6"/>
                <a:gd name="T5" fmla="*/ 0 h 24"/>
                <a:gd name="T6" fmla="*/ 0 w 6"/>
                <a:gd name="T7" fmla="*/ 0 h 24"/>
                <a:gd name="T8" fmla="*/ 0 w 6"/>
                <a:gd name="T9" fmla="*/ 24 h 24"/>
                <a:gd name="T10" fmla="*/ 0 w 6"/>
                <a:gd name="T11" fmla="*/ 0 h 24"/>
                <a:gd name="T12" fmla="*/ 0 w 6"/>
                <a:gd name="T13" fmla="*/ 0 h 24"/>
                <a:gd name="T14" fmla="*/ 0 w 6"/>
                <a:gd name="T15" fmla="*/ 12 h 24"/>
                <a:gd name="T16" fmla="*/ 0 w 6"/>
                <a:gd name="T1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4">
                  <a:moveTo>
                    <a:pt x="0" y="24"/>
                  </a:moveTo>
                  <a:lnTo>
                    <a:pt x="6" y="24"/>
                  </a:lnTo>
                  <a:lnTo>
                    <a:pt x="6" y="0"/>
                  </a:lnTo>
                  <a:lnTo>
                    <a:pt x="0" y="0"/>
                  </a:lnTo>
                  <a:lnTo>
                    <a:pt x="0" y="24"/>
                  </a:lnTo>
                  <a:close/>
                  <a:moveTo>
                    <a:pt x="0" y="0"/>
                  </a:moveTo>
                  <a:lnTo>
                    <a:pt x="0" y="0"/>
                  </a:lnTo>
                  <a:lnTo>
                    <a:pt x="0" y="1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73" name="Freeform 173"/>
            <p:cNvSpPr>
              <a:spLocks noEditPoints="1"/>
            </p:cNvSpPr>
            <p:nvPr/>
          </p:nvSpPr>
          <p:spPr bwMode="auto">
            <a:xfrm>
              <a:off x="4548" y="2416"/>
              <a:ext cx="24" cy="24"/>
            </a:xfrm>
            <a:custGeom>
              <a:avLst/>
              <a:gdLst>
                <a:gd name="T0" fmla="*/ 6 w 24"/>
                <a:gd name="T1" fmla="*/ 24 h 24"/>
                <a:gd name="T2" fmla="*/ 18 w 24"/>
                <a:gd name="T3" fmla="*/ 18 h 24"/>
                <a:gd name="T4" fmla="*/ 24 w 24"/>
                <a:gd name="T5" fmla="*/ 6 h 24"/>
                <a:gd name="T6" fmla="*/ 0 w 24"/>
                <a:gd name="T7" fmla="*/ 6 h 24"/>
                <a:gd name="T8" fmla="*/ 0 w 24"/>
                <a:gd name="T9" fmla="*/ 6 h 24"/>
                <a:gd name="T10" fmla="*/ 6 w 24"/>
                <a:gd name="T11" fmla="*/ 0 h 24"/>
                <a:gd name="T12" fmla="*/ 6 w 24"/>
                <a:gd name="T13" fmla="*/ 24 h 24"/>
                <a:gd name="T14" fmla="*/ 6 w 24"/>
                <a:gd name="T15" fmla="*/ 0 h 24"/>
                <a:gd name="T16" fmla="*/ 6 w 24"/>
                <a:gd name="T17" fmla="*/ 0 h 24"/>
                <a:gd name="T18" fmla="*/ 6 w 24"/>
                <a:gd name="T19" fmla="*/ 12 h 24"/>
                <a:gd name="T20" fmla="*/ 6 w 24"/>
                <a:gd name="T21"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6" y="24"/>
                  </a:moveTo>
                  <a:lnTo>
                    <a:pt x="18" y="18"/>
                  </a:lnTo>
                  <a:lnTo>
                    <a:pt x="24" y="6"/>
                  </a:lnTo>
                  <a:lnTo>
                    <a:pt x="0" y="6"/>
                  </a:lnTo>
                  <a:lnTo>
                    <a:pt x="0" y="6"/>
                  </a:lnTo>
                  <a:lnTo>
                    <a:pt x="6" y="0"/>
                  </a:lnTo>
                  <a:lnTo>
                    <a:pt x="6" y="24"/>
                  </a:lnTo>
                  <a:close/>
                  <a:moveTo>
                    <a:pt x="6" y="0"/>
                  </a:moveTo>
                  <a:lnTo>
                    <a:pt x="6" y="0"/>
                  </a:lnTo>
                  <a:lnTo>
                    <a:pt x="6" y="1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74" name="Freeform 174"/>
            <p:cNvSpPr>
              <a:spLocks noEditPoints="1"/>
            </p:cNvSpPr>
            <p:nvPr/>
          </p:nvSpPr>
          <p:spPr bwMode="auto">
            <a:xfrm>
              <a:off x="4548" y="2398"/>
              <a:ext cx="24" cy="24"/>
            </a:xfrm>
            <a:custGeom>
              <a:avLst/>
              <a:gdLst>
                <a:gd name="T0" fmla="*/ 24 w 24"/>
                <a:gd name="T1" fmla="*/ 24 h 24"/>
                <a:gd name="T2" fmla="*/ 18 w 24"/>
                <a:gd name="T3" fmla="*/ 6 h 24"/>
                <a:gd name="T4" fmla="*/ 6 w 24"/>
                <a:gd name="T5" fmla="*/ 0 h 24"/>
                <a:gd name="T6" fmla="*/ 6 w 24"/>
                <a:gd name="T7" fmla="*/ 24 h 24"/>
                <a:gd name="T8" fmla="*/ 0 w 24"/>
                <a:gd name="T9" fmla="*/ 24 h 24"/>
                <a:gd name="T10" fmla="*/ 0 w 24"/>
                <a:gd name="T11" fmla="*/ 24 h 24"/>
                <a:gd name="T12" fmla="*/ 24 w 24"/>
                <a:gd name="T13" fmla="*/ 24 h 24"/>
                <a:gd name="T14" fmla="*/ 0 w 24"/>
                <a:gd name="T15" fmla="*/ 24 h 24"/>
                <a:gd name="T16" fmla="*/ 0 w 24"/>
                <a:gd name="T17" fmla="*/ 24 h 24"/>
                <a:gd name="T18" fmla="*/ 12 w 24"/>
                <a:gd name="T19" fmla="*/ 24 h 24"/>
                <a:gd name="T20" fmla="*/ 0 w 24"/>
                <a:gd name="T2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24" y="24"/>
                  </a:moveTo>
                  <a:lnTo>
                    <a:pt x="18" y="6"/>
                  </a:lnTo>
                  <a:lnTo>
                    <a:pt x="6" y="0"/>
                  </a:lnTo>
                  <a:lnTo>
                    <a:pt x="6" y="24"/>
                  </a:lnTo>
                  <a:lnTo>
                    <a:pt x="0" y="24"/>
                  </a:lnTo>
                  <a:lnTo>
                    <a:pt x="0" y="24"/>
                  </a:lnTo>
                  <a:lnTo>
                    <a:pt x="24" y="24"/>
                  </a:lnTo>
                  <a:close/>
                  <a:moveTo>
                    <a:pt x="0" y="24"/>
                  </a:moveTo>
                  <a:lnTo>
                    <a:pt x="0" y="24"/>
                  </a:lnTo>
                  <a:lnTo>
                    <a:pt x="12"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75" name="Freeform 175"/>
            <p:cNvSpPr>
              <a:spLocks noEditPoints="1"/>
            </p:cNvSpPr>
            <p:nvPr/>
          </p:nvSpPr>
          <p:spPr bwMode="auto">
            <a:xfrm>
              <a:off x="4548" y="2398"/>
              <a:ext cx="6" cy="24"/>
            </a:xfrm>
            <a:custGeom>
              <a:avLst/>
              <a:gdLst>
                <a:gd name="T0" fmla="*/ 6 w 6"/>
                <a:gd name="T1" fmla="*/ 0 h 24"/>
                <a:gd name="T2" fmla="*/ 0 w 6"/>
                <a:gd name="T3" fmla="*/ 0 h 24"/>
                <a:gd name="T4" fmla="*/ 0 w 6"/>
                <a:gd name="T5" fmla="*/ 24 h 24"/>
                <a:gd name="T6" fmla="*/ 6 w 6"/>
                <a:gd name="T7" fmla="*/ 24 h 24"/>
                <a:gd name="T8" fmla="*/ 6 w 6"/>
                <a:gd name="T9" fmla="*/ 0 h 24"/>
                <a:gd name="T10" fmla="*/ 6 w 6"/>
                <a:gd name="T11" fmla="*/ 24 h 24"/>
                <a:gd name="T12" fmla="*/ 6 w 6"/>
                <a:gd name="T13" fmla="*/ 24 h 24"/>
                <a:gd name="T14" fmla="*/ 6 w 6"/>
                <a:gd name="T15" fmla="*/ 12 h 24"/>
                <a:gd name="T16" fmla="*/ 6 w 6"/>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4">
                  <a:moveTo>
                    <a:pt x="6" y="0"/>
                  </a:moveTo>
                  <a:lnTo>
                    <a:pt x="0" y="0"/>
                  </a:lnTo>
                  <a:lnTo>
                    <a:pt x="0" y="24"/>
                  </a:lnTo>
                  <a:lnTo>
                    <a:pt x="6" y="24"/>
                  </a:lnTo>
                  <a:lnTo>
                    <a:pt x="6" y="0"/>
                  </a:lnTo>
                  <a:close/>
                  <a:moveTo>
                    <a:pt x="6" y="24"/>
                  </a:moveTo>
                  <a:lnTo>
                    <a:pt x="6" y="24"/>
                  </a:lnTo>
                  <a:lnTo>
                    <a:pt x="6" y="12"/>
                  </a:lnTo>
                  <a:lnTo>
                    <a:pt x="6"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76" name="Freeform 176"/>
            <p:cNvSpPr>
              <a:spLocks/>
            </p:cNvSpPr>
            <p:nvPr/>
          </p:nvSpPr>
          <p:spPr bwMode="auto">
            <a:xfrm>
              <a:off x="4548" y="2410"/>
              <a:ext cx="1" cy="12"/>
            </a:xfrm>
            <a:custGeom>
              <a:avLst/>
              <a:gdLst>
                <a:gd name="T0" fmla="*/ 12 h 12"/>
                <a:gd name="T1" fmla="*/ 12 h 12"/>
                <a:gd name="T2" fmla="*/ 0 h 12"/>
                <a:gd name="T3" fmla="*/ 12 h 12"/>
              </a:gdLst>
              <a:ahLst/>
              <a:cxnLst>
                <a:cxn ang="0">
                  <a:pos x="0" y="T0"/>
                </a:cxn>
                <a:cxn ang="0">
                  <a:pos x="0" y="T1"/>
                </a:cxn>
                <a:cxn ang="0">
                  <a:pos x="0" y="T2"/>
                </a:cxn>
                <a:cxn ang="0">
                  <a:pos x="0" y="T3"/>
                </a:cxn>
              </a:cxnLst>
              <a:rect l="0" t="0" r="r" b="b"/>
              <a:pathLst>
                <a:path h="12">
                  <a:moveTo>
                    <a:pt x="0" y="12"/>
                  </a:moveTo>
                  <a:lnTo>
                    <a:pt x="0" y="12"/>
                  </a:lnTo>
                  <a:lnTo>
                    <a:pt x="0"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77" name="Freeform 177"/>
            <p:cNvSpPr>
              <a:spLocks/>
            </p:cNvSpPr>
            <p:nvPr/>
          </p:nvSpPr>
          <p:spPr bwMode="auto">
            <a:xfrm>
              <a:off x="4548" y="2386"/>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78" name="Freeform 178"/>
            <p:cNvSpPr>
              <a:spLocks/>
            </p:cNvSpPr>
            <p:nvPr/>
          </p:nvSpPr>
          <p:spPr bwMode="auto">
            <a:xfrm>
              <a:off x="4548" y="2357"/>
              <a:ext cx="6" cy="6"/>
            </a:xfrm>
            <a:custGeom>
              <a:avLst/>
              <a:gdLst>
                <a:gd name="T0" fmla="*/ 0 w 6"/>
                <a:gd name="T1" fmla="*/ 0 h 6"/>
                <a:gd name="T2" fmla="*/ 0 w 6"/>
                <a:gd name="T3" fmla="*/ 0 h 6"/>
                <a:gd name="T4" fmla="*/ 0 w 6"/>
                <a:gd name="T5" fmla="*/ 6 h 6"/>
                <a:gd name="T6" fmla="*/ 0 w 6"/>
                <a:gd name="T7" fmla="*/ 6 h 6"/>
                <a:gd name="T8" fmla="*/ 6 w 6"/>
                <a:gd name="T9" fmla="*/ 6 h 6"/>
                <a:gd name="T10" fmla="*/ 6 w 6"/>
                <a:gd name="T11" fmla="*/ 0 h 6"/>
                <a:gd name="T12" fmla="*/ 6 w 6"/>
                <a:gd name="T13" fmla="*/ 0 h 6"/>
                <a:gd name="T14" fmla="*/ 0 w 6"/>
                <a:gd name="T15" fmla="*/ 0 h 6"/>
                <a:gd name="T16" fmla="*/ 0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0" y="0"/>
                  </a:moveTo>
                  <a:lnTo>
                    <a:pt x="0" y="0"/>
                  </a:lnTo>
                  <a:lnTo>
                    <a:pt x="0" y="6"/>
                  </a:lnTo>
                  <a:lnTo>
                    <a:pt x="0" y="6"/>
                  </a:lnTo>
                  <a:lnTo>
                    <a:pt x="6" y="6"/>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79" name="Freeform 179"/>
            <p:cNvSpPr>
              <a:spLocks/>
            </p:cNvSpPr>
            <p:nvPr/>
          </p:nvSpPr>
          <p:spPr bwMode="auto">
            <a:xfrm>
              <a:off x="4548" y="2363"/>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80" name="Freeform 180"/>
            <p:cNvSpPr>
              <a:spLocks/>
            </p:cNvSpPr>
            <p:nvPr/>
          </p:nvSpPr>
          <p:spPr bwMode="auto">
            <a:xfrm>
              <a:off x="4548" y="2369"/>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81" name="Freeform 181"/>
            <p:cNvSpPr>
              <a:spLocks/>
            </p:cNvSpPr>
            <p:nvPr/>
          </p:nvSpPr>
          <p:spPr bwMode="auto">
            <a:xfrm>
              <a:off x="4548" y="2375"/>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82" name="Freeform 182"/>
            <p:cNvSpPr>
              <a:spLocks/>
            </p:cNvSpPr>
            <p:nvPr/>
          </p:nvSpPr>
          <p:spPr bwMode="auto">
            <a:xfrm>
              <a:off x="4548" y="2375"/>
              <a:ext cx="6" cy="6"/>
            </a:xfrm>
            <a:custGeom>
              <a:avLst/>
              <a:gdLst>
                <a:gd name="T0" fmla="*/ 0 w 6"/>
                <a:gd name="T1" fmla="*/ 0 h 6"/>
                <a:gd name="T2" fmla="*/ 0 w 6"/>
                <a:gd name="T3" fmla="*/ 0 h 6"/>
                <a:gd name="T4" fmla="*/ 0 w 6"/>
                <a:gd name="T5" fmla="*/ 6 h 6"/>
                <a:gd name="T6" fmla="*/ 0 w 6"/>
                <a:gd name="T7" fmla="*/ 6 h 6"/>
                <a:gd name="T8" fmla="*/ 6 w 6"/>
                <a:gd name="T9" fmla="*/ 6 h 6"/>
                <a:gd name="T10" fmla="*/ 6 w 6"/>
                <a:gd name="T11" fmla="*/ 0 h 6"/>
                <a:gd name="T12" fmla="*/ 6 w 6"/>
                <a:gd name="T13" fmla="*/ 0 h 6"/>
                <a:gd name="T14" fmla="*/ 0 w 6"/>
                <a:gd name="T15" fmla="*/ 0 h 6"/>
                <a:gd name="T16" fmla="*/ 0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0" y="0"/>
                  </a:moveTo>
                  <a:lnTo>
                    <a:pt x="0" y="0"/>
                  </a:lnTo>
                  <a:lnTo>
                    <a:pt x="0" y="6"/>
                  </a:lnTo>
                  <a:lnTo>
                    <a:pt x="0" y="6"/>
                  </a:lnTo>
                  <a:lnTo>
                    <a:pt x="6" y="6"/>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83" name="Freeform 183"/>
            <p:cNvSpPr>
              <a:spLocks/>
            </p:cNvSpPr>
            <p:nvPr/>
          </p:nvSpPr>
          <p:spPr bwMode="auto">
            <a:xfrm>
              <a:off x="4548" y="2381"/>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84" name="Freeform 184"/>
            <p:cNvSpPr>
              <a:spLocks/>
            </p:cNvSpPr>
            <p:nvPr/>
          </p:nvSpPr>
          <p:spPr bwMode="auto">
            <a:xfrm>
              <a:off x="4548" y="2357"/>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85" name="Freeform 185"/>
            <p:cNvSpPr>
              <a:spLocks/>
            </p:cNvSpPr>
            <p:nvPr/>
          </p:nvSpPr>
          <p:spPr bwMode="auto">
            <a:xfrm>
              <a:off x="4548" y="2392"/>
              <a:ext cx="6" cy="6"/>
            </a:xfrm>
            <a:custGeom>
              <a:avLst/>
              <a:gdLst>
                <a:gd name="T0" fmla="*/ 0 w 6"/>
                <a:gd name="T1" fmla="*/ 0 h 6"/>
                <a:gd name="T2" fmla="*/ 0 w 6"/>
                <a:gd name="T3" fmla="*/ 0 h 6"/>
                <a:gd name="T4" fmla="*/ 0 w 6"/>
                <a:gd name="T5" fmla="*/ 6 h 6"/>
                <a:gd name="T6" fmla="*/ 0 w 6"/>
                <a:gd name="T7" fmla="*/ 6 h 6"/>
                <a:gd name="T8" fmla="*/ 6 w 6"/>
                <a:gd name="T9" fmla="*/ 6 h 6"/>
                <a:gd name="T10" fmla="*/ 6 w 6"/>
                <a:gd name="T11" fmla="*/ 6 h 6"/>
                <a:gd name="T12" fmla="*/ 6 w 6"/>
                <a:gd name="T13" fmla="*/ 0 h 6"/>
                <a:gd name="T14" fmla="*/ 0 w 6"/>
                <a:gd name="T15" fmla="*/ 0 h 6"/>
                <a:gd name="T16" fmla="*/ 0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0" y="0"/>
                  </a:moveTo>
                  <a:lnTo>
                    <a:pt x="0" y="0"/>
                  </a:lnTo>
                  <a:lnTo>
                    <a:pt x="0" y="6"/>
                  </a:lnTo>
                  <a:lnTo>
                    <a:pt x="0" y="6"/>
                  </a:lnTo>
                  <a:lnTo>
                    <a:pt x="6" y="6"/>
                  </a:lnTo>
                  <a:lnTo>
                    <a:pt x="6" y="6"/>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86" name="Freeform 186"/>
            <p:cNvSpPr>
              <a:spLocks/>
            </p:cNvSpPr>
            <p:nvPr/>
          </p:nvSpPr>
          <p:spPr bwMode="auto">
            <a:xfrm>
              <a:off x="4542" y="2422"/>
              <a:ext cx="12" cy="1"/>
            </a:xfrm>
            <a:custGeom>
              <a:avLst/>
              <a:gdLst>
                <a:gd name="T0" fmla="*/ 6 w 12"/>
                <a:gd name="T1" fmla="*/ 6 w 12"/>
                <a:gd name="T2" fmla="*/ 0 w 12"/>
                <a:gd name="T3" fmla="*/ 6 w 12"/>
                <a:gd name="T4" fmla="*/ 6 w 12"/>
                <a:gd name="T5" fmla="*/ 12 w 12"/>
                <a:gd name="T6" fmla="*/ 12 w 12"/>
                <a:gd name="T7" fmla="*/ 12 w 12"/>
                <a:gd name="T8" fmla="*/ 6 w 12"/>
                <a:gd name="T9" fmla="*/ 6 w 12"/>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2">
                  <a:moveTo>
                    <a:pt x="6" y="0"/>
                  </a:moveTo>
                  <a:lnTo>
                    <a:pt x="6" y="0"/>
                  </a:lnTo>
                  <a:lnTo>
                    <a:pt x="0" y="0"/>
                  </a:lnTo>
                  <a:lnTo>
                    <a:pt x="6" y="0"/>
                  </a:lnTo>
                  <a:lnTo>
                    <a:pt x="6" y="0"/>
                  </a:lnTo>
                  <a:lnTo>
                    <a:pt x="12" y="0"/>
                  </a:lnTo>
                  <a:lnTo>
                    <a:pt x="12" y="0"/>
                  </a:lnTo>
                  <a:lnTo>
                    <a:pt x="12" y="0"/>
                  </a:lnTo>
                  <a:lnTo>
                    <a:pt x="6" y="0"/>
                  </a:lnTo>
                  <a:lnTo>
                    <a:pt x="6"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87" name="Freeform 187"/>
            <p:cNvSpPr>
              <a:spLocks/>
            </p:cNvSpPr>
            <p:nvPr/>
          </p:nvSpPr>
          <p:spPr bwMode="auto">
            <a:xfrm>
              <a:off x="4548" y="2434"/>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1388" name="Rectangle 188"/>
          <p:cNvSpPr>
            <a:spLocks noChangeArrowheads="1"/>
          </p:cNvSpPr>
          <p:nvPr/>
        </p:nvSpPr>
        <p:spPr bwMode="auto">
          <a:xfrm>
            <a:off x="5461000" y="4478338"/>
            <a:ext cx="3141663" cy="69850"/>
          </a:xfrm>
          <a:prstGeom prst="rect">
            <a:avLst/>
          </a:prstGeom>
          <a:solidFill>
            <a:srgbClr val="00FFFF"/>
          </a:solidFill>
          <a:ln w="9525">
            <a:solidFill>
              <a:srgbClr val="00FFFF"/>
            </a:solidFill>
            <a:miter lim="800000"/>
            <a:headEnd/>
            <a:tailEnd/>
          </a:ln>
        </p:spPr>
        <p:txBody>
          <a:bodyPr wrap="none" anchor="ctr"/>
          <a:lstStyle/>
          <a:p>
            <a:endParaRPr lang="zh-CN" altLang="en-US"/>
          </a:p>
        </p:txBody>
      </p:sp>
      <p:sp>
        <p:nvSpPr>
          <p:cNvPr id="51389" name="Rectangle 189"/>
          <p:cNvSpPr>
            <a:spLocks noChangeArrowheads="1"/>
          </p:cNvSpPr>
          <p:nvPr/>
        </p:nvSpPr>
        <p:spPr bwMode="auto">
          <a:xfrm rot="1714447">
            <a:off x="5440363" y="4462463"/>
            <a:ext cx="3286125" cy="69850"/>
          </a:xfrm>
          <a:prstGeom prst="rect">
            <a:avLst/>
          </a:prstGeom>
          <a:noFill/>
          <a:ln w="38100">
            <a:solidFill>
              <a:srgbClr val="00FFFF"/>
            </a:solidFill>
            <a:prstDash val="dash"/>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nvGrpSpPr>
          <p:cNvPr id="51390" name="Group 190"/>
          <p:cNvGrpSpPr>
            <a:grpSpLocks/>
          </p:cNvGrpSpPr>
          <p:nvPr/>
        </p:nvGrpSpPr>
        <p:grpSpPr bwMode="auto">
          <a:xfrm>
            <a:off x="7107238" y="4167188"/>
            <a:ext cx="685800" cy="304800"/>
            <a:chOff x="1872" y="3168"/>
            <a:chExt cx="432" cy="192"/>
          </a:xfrm>
        </p:grpSpPr>
        <p:sp>
          <p:nvSpPr>
            <p:cNvPr id="51391" name="Line 191"/>
            <p:cNvSpPr>
              <a:spLocks noChangeShapeType="1"/>
            </p:cNvSpPr>
            <p:nvPr/>
          </p:nvSpPr>
          <p:spPr bwMode="auto">
            <a:xfrm>
              <a:off x="1872" y="3168"/>
              <a:ext cx="0" cy="192"/>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392" name="Line 192"/>
            <p:cNvSpPr>
              <a:spLocks noChangeShapeType="1"/>
            </p:cNvSpPr>
            <p:nvPr/>
          </p:nvSpPr>
          <p:spPr bwMode="auto">
            <a:xfrm>
              <a:off x="2304" y="3168"/>
              <a:ext cx="0" cy="192"/>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393" name="Line 193"/>
            <p:cNvSpPr>
              <a:spLocks noChangeShapeType="1"/>
            </p:cNvSpPr>
            <p:nvPr/>
          </p:nvSpPr>
          <p:spPr bwMode="auto">
            <a:xfrm>
              <a:off x="2160" y="3264"/>
              <a:ext cx="144" cy="0"/>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394" name="Line 194"/>
            <p:cNvSpPr>
              <a:spLocks noChangeShapeType="1"/>
            </p:cNvSpPr>
            <p:nvPr/>
          </p:nvSpPr>
          <p:spPr bwMode="auto">
            <a:xfrm rot="10755122">
              <a:off x="1872" y="3264"/>
              <a:ext cx="144" cy="1"/>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1395" name="Group 195"/>
          <p:cNvGrpSpPr>
            <a:grpSpLocks/>
          </p:cNvGrpSpPr>
          <p:nvPr/>
        </p:nvGrpSpPr>
        <p:grpSpPr bwMode="auto">
          <a:xfrm rot="1592579">
            <a:off x="6932613" y="4787900"/>
            <a:ext cx="1079500" cy="304800"/>
            <a:chOff x="1872" y="3168"/>
            <a:chExt cx="432" cy="192"/>
          </a:xfrm>
        </p:grpSpPr>
        <p:sp>
          <p:nvSpPr>
            <p:cNvPr id="51396" name="Line 196"/>
            <p:cNvSpPr>
              <a:spLocks noChangeShapeType="1"/>
            </p:cNvSpPr>
            <p:nvPr/>
          </p:nvSpPr>
          <p:spPr bwMode="auto">
            <a:xfrm>
              <a:off x="1872" y="3168"/>
              <a:ext cx="0" cy="192"/>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397" name="Line 197"/>
            <p:cNvSpPr>
              <a:spLocks noChangeShapeType="1"/>
            </p:cNvSpPr>
            <p:nvPr/>
          </p:nvSpPr>
          <p:spPr bwMode="auto">
            <a:xfrm>
              <a:off x="2304" y="3168"/>
              <a:ext cx="0" cy="192"/>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398" name="Line 198"/>
            <p:cNvSpPr>
              <a:spLocks noChangeShapeType="1"/>
            </p:cNvSpPr>
            <p:nvPr/>
          </p:nvSpPr>
          <p:spPr bwMode="auto">
            <a:xfrm>
              <a:off x="2160" y="3264"/>
              <a:ext cx="144" cy="0"/>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399" name="Line 199"/>
            <p:cNvSpPr>
              <a:spLocks noChangeShapeType="1"/>
            </p:cNvSpPr>
            <p:nvPr/>
          </p:nvSpPr>
          <p:spPr bwMode="auto">
            <a:xfrm rot="10755122">
              <a:off x="1872" y="3264"/>
              <a:ext cx="144" cy="1"/>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1400" name="Group 200"/>
          <p:cNvGrpSpPr>
            <a:grpSpLocks/>
          </p:cNvGrpSpPr>
          <p:nvPr/>
        </p:nvGrpSpPr>
        <p:grpSpPr bwMode="auto">
          <a:xfrm rot="-3394506">
            <a:off x="8016081" y="4858545"/>
            <a:ext cx="180975" cy="322262"/>
            <a:chOff x="4495" y="2334"/>
            <a:chExt cx="114" cy="203"/>
          </a:xfrm>
        </p:grpSpPr>
        <p:grpSp>
          <p:nvGrpSpPr>
            <p:cNvPr id="51401" name="Group 201"/>
            <p:cNvGrpSpPr>
              <a:grpSpLocks/>
            </p:cNvGrpSpPr>
            <p:nvPr/>
          </p:nvGrpSpPr>
          <p:grpSpPr bwMode="auto">
            <a:xfrm>
              <a:off x="4495" y="2334"/>
              <a:ext cx="114" cy="203"/>
              <a:chOff x="4495" y="2334"/>
              <a:chExt cx="114" cy="203"/>
            </a:xfrm>
          </p:grpSpPr>
          <p:sp>
            <p:nvSpPr>
              <p:cNvPr id="51402" name="Freeform 202"/>
              <p:cNvSpPr>
                <a:spLocks/>
              </p:cNvSpPr>
              <p:nvPr/>
            </p:nvSpPr>
            <p:spPr bwMode="auto">
              <a:xfrm>
                <a:off x="4513" y="2346"/>
                <a:ext cx="36" cy="71"/>
              </a:xfrm>
              <a:custGeom>
                <a:avLst/>
                <a:gdLst>
                  <a:gd name="T0" fmla="*/ 36 w 36"/>
                  <a:gd name="T1" fmla="*/ 71 h 71"/>
                  <a:gd name="T2" fmla="*/ 30 w 36"/>
                  <a:gd name="T3" fmla="*/ 71 h 71"/>
                  <a:gd name="T4" fmla="*/ 24 w 36"/>
                  <a:gd name="T5" fmla="*/ 71 h 71"/>
                  <a:gd name="T6" fmla="*/ 12 w 36"/>
                  <a:gd name="T7" fmla="*/ 65 h 71"/>
                  <a:gd name="T8" fmla="*/ 6 w 36"/>
                  <a:gd name="T9" fmla="*/ 59 h 71"/>
                  <a:gd name="T10" fmla="*/ 0 w 36"/>
                  <a:gd name="T11" fmla="*/ 54 h 71"/>
                  <a:gd name="T12" fmla="*/ 0 w 36"/>
                  <a:gd name="T13" fmla="*/ 48 h 71"/>
                  <a:gd name="T14" fmla="*/ 0 w 36"/>
                  <a:gd name="T15" fmla="*/ 42 h 71"/>
                  <a:gd name="T16" fmla="*/ 0 w 36"/>
                  <a:gd name="T17" fmla="*/ 42 h 71"/>
                  <a:gd name="T18" fmla="*/ 6 w 36"/>
                  <a:gd name="T19" fmla="*/ 36 h 71"/>
                  <a:gd name="T20" fmla="*/ 12 w 36"/>
                  <a:gd name="T21" fmla="*/ 30 h 71"/>
                  <a:gd name="T22" fmla="*/ 12 w 36"/>
                  <a:gd name="T23" fmla="*/ 30 h 71"/>
                  <a:gd name="T24" fmla="*/ 12 w 36"/>
                  <a:gd name="T25" fmla="*/ 12 h 71"/>
                  <a:gd name="T26" fmla="*/ 12 w 36"/>
                  <a:gd name="T27" fmla="*/ 0 h 71"/>
                  <a:gd name="T28" fmla="*/ 12 w 36"/>
                  <a:gd name="T29" fmla="*/ 12 h 71"/>
                  <a:gd name="T30" fmla="*/ 12 w 36"/>
                  <a:gd name="T31" fmla="*/ 6 h 71"/>
                  <a:gd name="T32" fmla="*/ 12 w 36"/>
                  <a:gd name="T33" fmla="*/ 12 h 71"/>
                  <a:gd name="T34" fmla="*/ 18 w 36"/>
                  <a:gd name="T35" fmla="*/ 18 h 71"/>
                  <a:gd name="T36" fmla="*/ 18 w 36"/>
                  <a:gd name="T37" fmla="*/ 24 h 71"/>
                  <a:gd name="T38" fmla="*/ 18 w 36"/>
                  <a:gd name="T39" fmla="*/ 24 h 71"/>
                  <a:gd name="T40" fmla="*/ 18 w 36"/>
                  <a:gd name="T41" fmla="*/ 24 h 71"/>
                  <a:gd name="T42" fmla="*/ 18 w 36"/>
                  <a:gd name="T43" fmla="*/ 24 h 71"/>
                  <a:gd name="T44" fmla="*/ 18 w 36"/>
                  <a:gd name="T45" fmla="*/ 30 h 71"/>
                  <a:gd name="T46" fmla="*/ 18 w 36"/>
                  <a:gd name="T47" fmla="*/ 36 h 71"/>
                  <a:gd name="T48" fmla="*/ 12 w 36"/>
                  <a:gd name="T49" fmla="*/ 42 h 71"/>
                  <a:gd name="T50" fmla="*/ 0 w 36"/>
                  <a:gd name="T51" fmla="*/ 48 h 71"/>
                  <a:gd name="T52" fmla="*/ 6 w 36"/>
                  <a:gd name="T53" fmla="*/ 48 h 71"/>
                  <a:gd name="T54" fmla="*/ 6 w 36"/>
                  <a:gd name="T55" fmla="*/ 48 h 71"/>
                  <a:gd name="T56" fmla="*/ 12 w 36"/>
                  <a:gd name="T57" fmla="*/ 48 h 71"/>
                  <a:gd name="T58" fmla="*/ 18 w 36"/>
                  <a:gd name="T59" fmla="*/ 54 h 71"/>
                  <a:gd name="T60" fmla="*/ 30 w 36"/>
                  <a:gd name="T61" fmla="*/ 54 h 71"/>
                  <a:gd name="T62" fmla="*/ 36 w 36"/>
                  <a:gd name="T63" fmla="*/ 59 h 71"/>
                  <a:gd name="T64" fmla="*/ 36 w 36"/>
                  <a:gd name="T65" fmla="*/ 71 h 71"/>
                  <a:gd name="T66" fmla="*/ 36 w 36"/>
                  <a:gd name="T67"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6" h="71">
                    <a:moveTo>
                      <a:pt x="36" y="71"/>
                    </a:moveTo>
                    <a:lnTo>
                      <a:pt x="30" y="71"/>
                    </a:lnTo>
                    <a:lnTo>
                      <a:pt x="24" y="71"/>
                    </a:lnTo>
                    <a:lnTo>
                      <a:pt x="12" y="65"/>
                    </a:lnTo>
                    <a:lnTo>
                      <a:pt x="6" y="59"/>
                    </a:lnTo>
                    <a:lnTo>
                      <a:pt x="0" y="54"/>
                    </a:lnTo>
                    <a:lnTo>
                      <a:pt x="0" y="48"/>
                    </a:lnTo>
                    <a:lnTo>
                      <a:pt x="0" y="42"/>
                    </a:lnTo>
                    <a:lnTo>
                      <a:pt x="0" y="42"/>
                    </a:lnTo>
                    <a:lnTo>
                      <a:pt x="6" y="36"/>
                    </a:lnTo>
                    <a:lnTo>
                      <a:pt x="12" y="30"/>
                    </a:lnTo>
                    <a:lnTo>
                      <a:pt x="12" y="30"/>
                    </a:lnTo>
                    <a:lnTo>
                      <a:pt x="12" y="12"/>
                    </a:lnTo>
                    <a:lnTo>
                      <a:pt x="12" y="0"/>
                    </a:lnTo>
                    <a:lnTo>
                      <a:pt x="12" y="12"/>
                    </a:lnTo>
                    <a:lnTo>
                      <a:pt x="12" y="6"/>
                    </a:lnTo>
                    <a:lnTo>
                      <a:pt x="12" y="12"/>
                    </a:lnTo>
                    <a:lnTo>
                      <a:pt x="18" y="18"/>
                    </a:lnTo>
                    <a:lnTo>
                      <a:pt x="18" y="24"/>
                    </a:lnTo>
                    <a:lnTo>
                      <a:pt x="18" y="24"/>
                    </a:lnTo>
                    <a:lnTo>
                      <a:pt x="18" y="24"/>
                    </a:lnTo>
                    <a:lnTo>
                      <a:pt x="18" y="24"/>
                    </a:lnTo>
                    <a:lnTo>
                      <a:pt x="18" y="30"/>
                    </a:lnTo>
                    <a:lnTo>
                      <a:pt x="18" y="36"/>
                    </a:lnTo>
                    <a:lnTo>
                      <a:pt x="12" y="42"/>
                    </a:lnTo>
                    <a:lnTo>
                      <a:pt x="0" y="48"/>
                    </a:lnTo>
                    <a:lnTo>
                      <a:pt x="6" y="48"/>
                    </a:lnTo>
                    <a:lnTo>
                      <a:pt x="6" y="48"/>
                    </a:lnTo>
                    <a:lnTo>
                      <a:pt x="12" y="48"/>
                    </a:lnTo>
                    <a:lnTo>
                      <a:pt x="18" y="54"/>
                    </a:lnTo>
                    <a:lnTo>
                      <a:pt x="30" y="54"/>
                    </a:lnTo>
                    <a:lnTo>
                      <a:pt x="36" y="59"/>
                    </a:lnTo>
                    <a:lnTo>
                      <a:pt x="36" y="71"/>
                    </a:lnTo>
                    <a:lnTo>
                      <a:pt x="36" y="71"/>
                    </a:lnTo>
                    <a:close/>
                  </a:path>
                </a:pathLst>
              </a:custGeom>
              <a:solidFill>
                <a:srgbClr val="00FF00"/>
              </a:solidFill>
              <a:ln w="9525">
                <a:solidFill>
                  <a:srgbClr val="00FF00"/>
                </a:solidFill>
                <a:round/>
                <a:headEnd/>
                <a:tailEnd/>
              </a:ln>
            </p:spPr>
            <p:txBody>
              <a:bodyPr/>
              <a:lstStyle/>
              <a:p>
                <a:endParaRPr lang="zh-CN" altLang="en-US"/>
              </a:p>
            </p:txBody>
          </p:sp>
          <p:sp>
            <p:nvSpPr>
              <p:cNvPr id="51403" name="Freeform 203"/>
              <p:cNvSpPr>
                <a:spLocks/>
              </p:cNvSpPr>
              <p:nvPr/>
            </p:nvSpPr>
            <p:spPr bwMode="auto">
              <a:xfrm>
                <a:off x="4513" y="2400"/>
                <a:ext cx="42" cy="35"/>
              </a:xfrm>
              <a:custGeom>
                <a:avLst/>
                <a:gdLst>
                  <a:gd name="T0" fmla="*/ 30 w 42"/>
                  <a:gd name="T1" fmla="*/ 11 h 35"/>
                  <a:gd name="T2" fmla="*/ 36 w 42"/>
                  <a:gd name="T3" fmla="*/ 5 h 35"/>
                  <a:gd name="T4" fmla="*/ 30 w 42"/>
                  <a:gd name="T5" fmla="*/ 5 h 35"/>
                  <a:gd name="T6" fmla="*/ 18 w 42"/>
                  <a:gd name="T7" fmla="*/ 0 h 35"/>
                  <a:gd name="T8" fmla="*/ 0 w 42"/>
                  <a:gd name="T9" fmla="*/ 17 h 35"/>
                  <a:gd name="T10" fmla="*/ 18 w 42"/>
                  <a:gd name="T11" fmla="*/ 29 h 35"/>
                  <a:gd name="T12" fmla="*/ 30 w 42"/>
                  <a:gd name="T13" fmla="*/ 35 h 35"/>
                  <a:gd name="T14" fmla="*/ 42 w 42"/>
                  <a:gd name="T15" fmla="*/ 29 h 35"/>
                  <a:gd name="T16" fmla="*/ 30 w 42"/>
                  <a:gd name="T1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5">
                    <a:moveTo>
                      <a:pt x="30" y="11"/>
                    </a:moveTo>
                    <a:lnTo>
                      <a:pt x="36" y="5"/>
                    </a:lnTo>
                    <a:lnTo>
                      <a:pt x="30" y="5"/>
                    </a:lnTo>
                    <a:lnTo>
                      <a:pt x="18" y="0"/>
                    </a:lnTo>
                    <a:lnTo>
                      <a:pt x="0" y="17"/>
                    </a:lnTo>
                    <a:lnTo>
                      <a:pt x="18" y="29"/>
                    </a:lnTo>
                    <a:lnTo>
                      <a:pt x="30" y="35"/>
                    </a:lnTo>
                    <a:lnTo>
                      <a:pt x="42" y="29"/>
                    </a:lnTo>
                    <a:lnTo>
                      <a:pt x="30" y="11"/>
                    </a:lnTo>
                    <a:close/>
                  </a:path>
                </a:pathLst>
              </a:custGeom>
              <a:solidFill>
                <a:srgbClr val="00FF00"/>
              </a:solidFill>
              <a:ln w="9525">
                <a:solidFill>
                  <a:srgbClr val="00FF00"/>
                </a:solidFill>
                <a:round/>
                <a:headEnd/>
                <a:tailEnd/>
              </a:ln>
            </p:spPr>
            <p:txBody>
              <a:bodyPr/>
              <a:lstStyle/>
              <a:p>
                <a:endParaRPr lang="zh-CN" altLang="en-US"/>
              </a:p>
            </p:txBody>
          </p:sp>
          <p:sp>
            <p:nvSpPr>
              <p:cNvPr id="51404" name="Freeform 204"/>
              <p:cNvSpPr>
                <a:spLocks noEditPoints="1"/>
              </p:cNvSpPr>
              <p:nvPr/>
            </p:nvSpPr>
            <p:spPr bwMode="auto">
              <a:xfrm>
                <a:off x="4507" y="2388"/>
                <a:ext cx="24" cy="29"/>
              </a:xfrm>
              <a:custGeom>
                <a:avLst/>
                <a:gdLst>
                  <a:gd name="T0" fmla="*/ 24 w 24"/>
                  <a:gd name="T1" fmla="*/ 12 h 29"/>
                  <a:gd name="T2" fmla="*/ 24 w 24"/>
                  <a:gd name="T3" fmla="*/ 6 h 29"/>
                  <a:gd name="T4" fmla="*/ 18 w 24"/>
                  <a:gd name="T5" fmla="*/ 6 h 29"/>
                  <a:gd name="T6" fmla="*/ 6 w 24"/>
                  <a:gd name="T7" fmla="*/ 0 h 29"/>
                  <a:gd name="T8" fmla="*/ 6 w 24"/>
                  <a:gd name="T9" fmla="*/ 23 h 29"/>
                  <a:gd name="T10" fmla="*/ 0 w 24"/>
                  <a:gd name="T11" fmla="*/ 23 h 29"/>
                  <a:gd name="T12" fmla="*/ 6 w 24"/>
                  <a:gd name="T13" fmla="*/ 29 h 29"/>
                  <a:gd name="T14" fmla="*/ 6 w 24"/>
                  <a:gd name="T15" fmla="*/ 29 h 29"/>
                  <a:gd name="T16" fmla="*/ 6 w 24"/>
                  <a:gd name="T17" fmla="*/ 29 h 29"/>
                  <a:gd name="T18" fmla="*/ 24 w 24"/>
                  <a:gd name="T19" fmla="*/ 12 h 29"/>
                  <a:gd name="T20" fmla="*/ 6 w 24"/>
                  <a:gd name="T21" fmla="*/ 29 h 29"/>
                  <a:gd name="T22" fmla="*/ 6 w 24"/>
                  <a:gd name="T23" fmla="*/ 29 h 29"/>
                  <a:gd name="T24" fmla="*/ 6 w 24"/>
                  <a:gd name="T25" fmla="*/ 29 h 29"/>
                  <a:gd name="T26" fmla="*/ 18 w 24"/>
                  <a:gd name="T27" fmla="*/ 23 h 29"/>
                  <a:gd name="T28" fmla="*/ 6 w 24"/>
                  <a:gd name="T29"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9">
                    <a:moveTo>
                      <a:pt x="24" y="12"/>
                    </a:moveTo>
                    <a:lnTo>
                      <a:pt x="24" y="6"/>
                    </a:lnTo>
                    <a:lnTo>
                      <a:pt x="18" y="6"/>
                    </a:lnTo>
                    <a:lnTo>
                      <a:pt x="6" y="0"/>
                    </a:lnTo>
                    <a:lnTo>
                      <a:pt x="6" y="23"/>
                    </a:lnTo>
                    <a:lnTo>
                      <a:pt x="0" y="23"/>
                    </a:lnTo>
                    <a:lnTo>
                      <a:pt x="6" y="29"/>
                    </a:lnTo>
                    <a:lnTo>
                      <a:pt x="6" y="29"/>
                    </a:lnTo>
                    <a:lnTo>
                      <a:pt x="6" y="29"/>
                    </a:lnTo>
                    <a:lnTo>
                      <a:pt x="24" y="12"/>
                    </a:lnTo>
                    <a:close/>
                    <a:moveTo>
                      <a:pt x="6" y="29"/>
                    </a:moveTo>
                    <a:lnTo>
                      <a:pt x="6" y="29"/>
                    </a:lnTo>
                    <a:lnTo>
                      <a:pt x="6" y="29"/>
                    </a:lnTo>
                    <a:lnTo>
                      <a:pt x="18" y="23"/>
                    </a:lnTo>
                    <a:lnTo>
                      <a:pt x="6" y="29"/>
                    </a:lnTo>
                    <a:close/>
                  </a:path>
                </a:pathLst>
              </a:custGeom>
              <a:solidFill>
                <a:srgbClr val="00FF00"/>
              </a:solidFill>
              <a:ln w="9525">
                <a:solidFill>
                  <a:srgbClr val="00FF00"/>
                </a:solidFill>
                <a:round/>
                <a:headEnd/>
                <a:tailEnd/>
              </a:ln>
            </p:spPr>
            <p:txBody>
              <a:bodyPr/>
              <a:lstStyle/>
              <a:p>
                <a:endParaRPr lang="zh-CN" altLang="en-US"/>
              </a:p>
            </p:txBody>
          </p:sp>
          <p:sp>
            <p:nvSpPr>
              <p:cNvPr id="51405" name="Freeform 205"/>
              <p:cNvSpPr>
                <a:spLocks noEditPoints="1"/>
              </p:cNvSpPr>
              <p:nvPr/>
            </p:nvSpPr>
            <p:spPr bwMode="auto">
              <a:xfrm>
                <a:off x="4495" y="2382"/>
                <a:ext cx="24" cy="35"/>
              </a:xfrm>
              <a:custGeom>
                <a:avLst/>
                <a:gdLst>
                  <a:gd name="T0" fmla="*/ 24 w 24"/>
                  <a:gd name="T1" fmla="*/ 12 h 35"/>
                  <a:gd name="T2" fmla="*/ 24 w 24"/>
                  <a:gd name="T3" fmla="*/ 12 h 35"/>
                  <a:gd name="T4" fmla="*/ 24 w 24"/>
                  <a:gd name="T5" fmla="*/ 18 h 35"/>
                  <a:gd name="T6" fmla="*/ 6 w 24"/>
                  <a:gd name="T7" fmla="*/ 0 h 35"/>
                  <a:gd name="T8" fmla="*/ 0 w 24"/>
                  <a:gd name="T9" fmla="*/ 12 h 35"/>
                  <a:gd name="T10" fmla="*/ 6 w 24"/>
                  <a:gd name="T11" fmla="*/ 23 h 35"/>
                  <a:gd name="T12" fmla="*/ 12 w 24"/>
                  <a:gd name="T13" fmla="*/ 29 h 35"/>
                  <a:gd name="T14" fmla="*/ 12 w 24"/>
                  <a:gd name="T15" fmla="*/ 29 h 35"/>
                  <a:gd name="T16" fmla="*/ 24 w 24"/>
                  <a:gd name="T17" fmla="*/ 12 h 35"/>
                  <a:gd name="T18" fmla="*/ 12 w 24"/>
                  <a:gd name="T19" fmla="*/ 29 h 35"/>
                  <a:gd name="T20" fmla="*/ 18 w 24"/>
                  <a:gd name="T21" fmla="*/ 35 h 35"/>
                  <a:gd name="T22" fmla="*/ 18 w 24"/>
                  <a:gd name="T23" fmla="*/ 29 h 35"/>
                  <a:gd name="T24" fmla="*/ 18 w 24"/>
                  <a:gd name="T25" fmla="*/ 18 h 35"/>
                  <a:gd name="T26" fmla="*/ 12 w 24"/>
                  <a:gd name="T27" fmla="*/ 2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5">
                    <a:moveTo>
                      <a:pt x="24" y="12"/>
                    </a:moveTo>
                    <a:lnTo>
                      <a:pt x="24" y="12"/>
                    </a:lnTo>
                    <a:lnTo>
                      <a:pt x="24" y="18"/>
                    </a:lnTo>
                    <a:lnTo>
                      <a:pt x="6" y="0"/>
                    </a:lnTo>
                    <a:lnTo>
                      <a:pt x="0" y="12"/>
                    </a:lnTo>
                    <a:lnTo>
                      <a:pt x="6" y="23"/>
                    </a:lnTo>
                    <a:lnTo>
                      <a:pt x="12" y="29"/>
                    </a:lnTo>
                    <a:lnTo>
                      <a:pt x="12" y="29"/>
                    </a:lnTo>
                    <a:lnTo>
                      <a:pt x="24" y="12"/>
                    </a:lnTo>
                    <a:close/>
                    <a:moveTo>
                      <a:pt x="12" y="29"/>
                    </a:moveTo>
                    <a:lnTo>
                      <a:pt x="18" y="35"/>
                    </a:lnTo>
                    <a:lnTo>
                      <a:pt x="18" y="29"/>
                    </a:lnTo>
                    <a:lnTo>
                      <a:pt x="18" y="18"/>
                    </a:lnTo>
                    <a:lnTo>
                      <a:pt x="12" y="29"/>
                    </a:lnTo>
                    <a:close/>
                  </a:path>
                </a:pathLst>
              </a:custGeom>
              <a:solidFill>
                <a:srgbClr val="00FF00"/>
              </a:solidFill>
              <a:ln w="9525">
                <a:solidFill>
                  <a:srgbClr val="00FF00"/>
                </a:solidFill>
                <a:round/>
                <a:headEnd/>
                <a:tailEnd/>
              </a:ln>
            </p:spPr>
            <p:txBody>
              <a:bodyPr/>
              <a:lstStyle/>
              <a:p>
                <a:endParaRPr lang="zh-CN" altLang="en-US"/>
              </a:p>
            </p:txBody>
          </p:sp>
          <p:sp>
            <p:nvSpPr>
              <p:cNvPr id="51406" name="Freeform 206"/>
              <p:cNvSpPr>
                <a:spLocks noEditPoints="1"/>
              </p:cNvSpPr>
              <p:nvPr/>
            </p:nvSpPr>
            <p:spPr bwMode="auto">
              <a:xfrm>
                <a:off x="4501" y="2370"/>
                <a:ext cx="36" cy="30"/>
              </a:xfrm>
              <a:custGeom>
                <a:avLst/>
                <a:gdLst>
                  <a:gd name="T0" fmla="*/ 18 w 36"/>
                  <a:gd name="T1" fmla="*/ 30 h 30"/>
                  <a:gd name="T2" fmla="*/ 24 w 36"/>
                  <a:gd name="T3" fmla="*/ 30 h 30"/>
                  <a:gd name="T4" fmla="*/ 30 w 36"/>
                  <a:gd name="T5" fmla="*/ 24 h 30"/>
                  <a:gd name="T6" fmla="*/ 36 w 36"/>
                  <a:gd name="T7" fmla="*/ 12 h 30"/>
                  <a:gd name="T8" fmla="*/ 36 w 36"/>
                  <a:gd name="T9" fmla="*/ 6 h 30"/>
                  <a:gd name="T10" fmla="*/ 18 w 36"/>
                  <a:gd name="T11" fmla="*/ 12 h 30"/>
                  <a:gd name="T12" fmla="*/ 12 w 36"/>
                  <a:gd name="T13" fmla="*/ 0 h 30"/>
                  <a:gd name="T14" fmla="*/ 12 w 36"/>
                  <a:gd name="T15" fmla="*/ 6 h 30"/>
                  <a:gd name="T16" fmla="*/ 6 w 36"/>
                  <a:gd name="T17" fmla="*/ 12 h 30"/>
                  <a:gd name="T18" fmla="*/ 6 w 36"/>
                  <a:gd name="T19" fmla="*/ 12 h 30"/>
                  <a:gd name="T20" fmla="*/ 18 w 36"/>
                  <a:gd name="T21" fmla="*/ 30 h 30"/>
                  <a:gd name="T22" fmla="*/ 6 w 36"/>
                  <a:gd name="T23" fmla="*/ 12 h 30"/>
                  <a:gd name="T24" fmla="*/ 0 w 36"/>
                  <a:gd name="T25" fmla="*/ 12 h 30"/>
                  <a:gd name="T26" fmla="*/ 0 w 36"/>
                  <a:gd name="T27" fmla="*/ 12 h 30"/>
                  <a:gd name="T28" fmla="*/ 12 w 36"/>
                  <a:gd name="T29" fmla="*/ 18 h 30"/>
                  <a:gd name="T30" fmla="*/ 6 w 36"/>
                  <a:gd name="T31"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 h="30">
                    <a:moveTo>
                      <a:pt x="18" y="30"/>
                    </a:moveTo>
                    <a:lnTo>
                      <a:pt x="24" y="30"/>
                    </a:lnTo>
                    <a:lnTo>
                      <a:pt x="30" y="24"/>
                    </a:lnTo>
                    <a:lnTo>
                      <a:pt x="36" y="12"/>
                    </a:lnTo>
                    <a:lnTo>
                      <a:pt x="36" y="6"/>
                    </a:lnTo>
                    <a:lnTo>
                      <a:pt x="18" y="12"/>
                    </a:lnTo>
                    <a:lnTo>
                      <a:pt x="12" y="0"/>
                    </a:lnTo>
                    <a:lnTo>
                      <a:pt x="12" y="6"/>
                    </a:lnTo>
                    <a:lnTo>
                      <a:pt x="6" y="12"/>
                    </a:lnTo>
                    <a:lnTo>
                      <a:pt x="6" y="12"/>
                    </a:lnTo>
                    <a:lnTo>
                      <a:pt x="18" y="30"/>
                    </a:lnTo>
                    <a:close/>
                    <a:moveTo>
                      <a:pt x="6" y="12"/>
                    </a:moveTo>
                    <a:lnTo>
                      <a:pt x="0" y="12"/>
                    </a:lnTo>
                    <a:lnTo>
                      <a:pt x="0" y="12"/>
                    </a:lnTo>
                    <a:lnTo>
                      <a:pt x="12" y="18"/>
                    </a:lnTo>
                    <a:lnTo>
                      <a:pt x="6" y="12"/>
                    </a:lnTo>
                    <a:close/>
                  </a:path>
                </a:pathLst>
              </a:custGeom>
              <a:solidFill>
                <a:srgbClr val="00FF00"/>
              </a:solidFill>
              <a:ln w="9525">
                <a:solidFill>
                  <a:srgbClr val="00FF00"/>
                </a:solidFill>
                <a:round/>
                <a:headEnd/>
                <a:tailEnd/>
              </a:ln>
            </p:spPr>
            <p:txBody>
              <a:bodyPr/>
              <a:lstStyle/>
              <a:p>
                <a:endParaRPr lang="zh-CN" altLang="en-US"/>
              </a:p>
            </p:txBody>
          </p:sp>
          <p:sp>
            <p:nvSpPr>
              <p:cNvPr id="51407" name="Freeform 207"/>
              <p:cNvSpPr>
                <a:spLocks noEditPoints="1"/>
              </p:cNvSpPr>
              <p:nvPr/>
            </p:nvSpPr>
            <p:spPr bwMode="auto">
              <a:xfrm>
                <a:off x="4513" y="2352"/>
                <a:ext cx="24" cy="30"/>
              </a:xfrm>
              <a:custGeom>
                <a:avLst/>
                <a:gdLst>
                  <a:gd name="T0" fmla="*/ 24 w 24"/>
                  <a:gd name="T1" fmla="*/ 18 h 30"/>
                  <a:gd name="T2" fmla="*/ 24 w 24"/>
                  <a:gd name="T3" fmla="*/ 0 h 30"/>
                  <a:gd name="T4" fmla="*/ 0 w 24"/>
                  <a:gd name="T5" fmla="*/ 6 h 30"/>
                  <a:gd name="T6" fmla="*/ 0 w 24"/>
                  <a:gd name="T7" fmla="*/ 24 h 30"/>
                  <a:gd name="T8" fmla="*/ 24 w 24"/>
                  <a:gd name="T9" fmla="*/ 18 h 30"/>
                  <a:gd name="T10" fmla="*/ 0 w 24"/>
                  <a:gd name="T11" fmla="*/ 24 h 30"/>
                  <a:gd name="T12" fmla="*/ 0 w 24"/>
                  <a:gd name="T13" fmla="*/ 30 h 30"/>
                  <a:gd name="T14" fmla="*/ 6 w 24"/>
                  <a:gd name="T15" fmla="*/ 30 h 30"/>
                  <a:gd name="T16" fmla="*/ 12 w 24"/>
                  <a:gd name="T17" fmla="*/ 24 h 30"/>
                  <a:gd name="T18" fmla="*/ 0 w 24"/>
                  <a:gd name="T19"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0">
                    <a:moveTo>
                      <a:pt x="24" y="18"/>
                    </a:moveTo>
                    <a:lnTo>
                      <a:pt x="24" y="0"/>
                    </a:lnTo>
                    <a:lnTo>
                      <a:pt x="0" y="6"/>
                    </a:lnTo>
                    <a:lnTo>
                      <a:pt x="0" y="24"/>
                    </a:lnTo>
                    <a:lnTo>
                      <a:pt x="24" y="18"/>
                    </a:lnTo>
                    <a:close/>
                    <a:moveTo>
                      <a:pt x="0" y="24"/>
                    </a:moveTo>
                    <a:lnTo>
                      <a:pt x="0" y="30"/>
                    </a:lnTo>
                    <a:lnTo>
                      <a:pt x="6" y="30"/>
                    </a:lnTo>
                    <a:lnTo>
                      <a:pt x="12" y="24"/>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51408" name="Freeform 208"/>
              <p:cNvSpPr>
                <a:spLocks noEditPoints="1"/>
              </p:cNvSpPr>
              <p:nvPr/>
            </p:nvSpPr>
            <p:spPr bwMode="auto">
              <a:xfrm>
                <a:off x="4513" y="2346"/>
                <a:ext cx="24" cy="12"/>
              </a:xfrm>
              <a:custGeom>
                <a:avLst/>
                <a:gdLst>
                  <a:gd name="T0" fmla="*/ 24 w 24"/>
                  <a:gd name="T1" fmla="*/ 6 h 12"/>
                  <a:gd name="T2" fmla="*/ 24 w 24"/>
                  <a:gd name="T3" fmla="*/ 0 h 12"/>
                  <a:gd name="T4" fmla="*/ 0 w 24"/>
                  <a:gd name="T5" fmla="*/ 6 h 12"/>
                  <a:gd name="T6" fmla="*/ 0 w 24"/>
                  <a:gd name="T7" fmla="*/ 12 h 12"/>
                  <a:gd name="T8" fmla="*/ 24 w 24"/>
                  <a:gd name="T9" fmla="*/ 6 h 12"/>
                  <a:gd name="T10" fmla="*/ 24 w 24"/>
                  <a:gd name="T11" fmla="*/ 6 h 12"/>
                  <a:gd name="T12" fmla="*/ 24 w 24"/>
                  <a:gd name="T13" fmla="*/ 6 h 12"/>
                  <a:gd name="T14" fmla="*/ 24 w 24"/>
                  <a:gd name="T15" fmla="*/ 6 h 12"/>
                  <a:gd name="T16" fmla="*/ 12 w 24"/>
                  <a:gd name="T17" fmla="*/ 12 h 12"/>
                  <a:gd name="T18" fmla="*/ 24 w 24"/>
                  <a:gd name="T19"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2">
                    <a:moveTo>
                      <a:pt x="24" y="6"/>
                    </a:moveTo>
                    <a:lnTo>
                      <a:pt x="24" y="0"/>
                    </a:lnTo>
                    <a:lnTo>
                      <a:pt x="0" y="6"/>
                    </a:lnTo>
                    <a:lnTo>
                      <a:pt x="0" y="12"/>
                    </a:lnTo>
                    <a:lnTo>
                      <a:pt x="24" y="6"/>
                    </a:lnTo>
                    <a:close/>
                    <a:moveTo>
                      <a:pt x="24" y="6"/>
                    </a:moveTo>
                    <a:lnTo>
                      <a:pt x="24" y="6"/>
                    </a:lnTo>
                    <a:lnTo>
                      <a:pt x="24" y="6"/>
                    </a:lnTo>
                    <a:lnTo>
                      <a:pt x="12" y="12"/>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51409" name="Freeform 209"/>
              <p:cNvSpPr>
                <a:spLocks noEditPoints="1"/>
              </p:cNvSpPr>
              <p:nvPr/>
            </p:nvSpPr>
            <p:spPr bwMode="auto">
              <a:xfrm>
                <a:off x="4513" y="2346"/>
                <a:ext cx="24" cy="12"/>
              </a:xfrm>
              <a:custGeom>
                <a:avLst/>
                <a:gdLst>
                  <a:gd name="T0" fmla="*/ 0 w 24"/>
                  <a:gd name="T1" fmla="*/ 6 h 12"/>
                  <a:gd name="T2" fmla="*/ 0 w 24"/>
                  <a:gd name="T3" fmla="*/ 12 h 12"/>
                  <a:gd name="T4" fmla="*/ 24 w 24"/>
                  <a:gd name="T5" fmla="*/ 6 h 12"/>
                  <a:gd name="T6" fmla="*/ 24 w 24"/>
                  <a:gd name="T7" fmla="*/ 0 h 12"/>
                  <a:gd name="T8" fmla="*/ 0 w 24"/>
                  <a:gd name="T9" fmla="*/ 6 h 12"/>
                  <a:gd name="T10" fmla="*/ 24 w 24"/>
                  <a:gd name="T11" fmla="*/ 0 h 12"/>
                  <a:gd name="T12" fmla="*/ 0 w 24"/>
                  <a:gd name="T13" fmla="*/ 6 h 12"/>
                  <a:gd name="T14" fmla="*/ 24 w 24"/>
                  <a:gd name="T15" fmla="*/ 0 h 12"/>
                  <a:gd name="T16" fmla="*/ 0 w 24"/>
                  <a:gd name="T17" fmla="*/ 6 h 12"/>
                  <a:gd name="T18" fmla="*/ 24 w 24"/>
                  <a:gd name="T19"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2">
                    <a:moveTo>
                      <a:pt x="0" y="6"/>
                    </a:moveTo>
                    <a:lnTo>
                      <a:pt x="0" y="12"/>
                    </a:lnTo>
                    <a:lnTo>
                      <a:pt x="24" y="6"/>
                    </a:lnTo>
                    <a:lnTo>
                      <a:pt x="24" y="0"/>
                    </a:lnTo>
                    <a:lnTo>
                      <a:pt x="0" y="6"/>
                    </a:lnTo>
                    <a:close/>
                    <a:moveTo>
                      <a:pt x="24" y="0"/>
                    </a:moveTo>
                    <a:lnTo>
                      <a:pt x="0" y="6"/>
                    </a:lnTo>
                    <a:lnTo>
                      <a:pt x="24" y="0"/>
                    </a:lnTo>
                    <a:lnTo>
                      <a:pt x="0" y="6"/>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51410" name="Freeform 210"/>
              <p:cNvSpPr>
                <a:spLocks noEditPoints="1"/>
              </p:cNvSpPr>
              <p:nvPr/>
            </p:nvSpPr>
            <p:spPr bwMode="auto">
              <a:xfrm>
                <a:off x="4513" y="2352"/>
                <a:ext cx="24" cy="6"/>
              </a:xfrm>
              <a:custGeom>
                <a:avLst/>
                <a:gdLst>
                  <a:gd name="T0" fmla="*/ 24 w 24"/>
                  <a:gd name="T1" fmla="*/ 6 h 6"/>
                  <a:gd name="T2" fmla="*/ 24 w 24"/>
                  <a:gd name="T3" fmla="*/ 0 h 6"/>
                  <a:gd name="T4" fmla="*/ 0 w 24"/>
                  <a:gd name="T5" fmla="*/ 0 h 6"/>
                  <a:gd name="T6" fmla="*/ 0 w 24"/>
                  <a:gd name="T7" fmla="*/ 6 h 6"/>
                  <a:gd name="T8" fmla="*/ 24 w 24"/>
                  <a:gd name="T9" fmla="*/ 6 h 6"/>
                  <a:gd name="T10" fmla="*/ 0 w 24"/>
                  <a:gd name="T11" fmla="*/ 6 h 6"/>
                  <a:gd name="T12" fmla="*/ 24 w 24"/>
                  <a:gd name="T13" fmla="*/ 6 h 6"/>
                  <a:gd name="T14" fmla="*/ 0 w 24"/>
                  <a:gd name="T15" fmla="*/ 6 h 6"/>
                  <a:gd name="T16" fmla="*/ 24 w 24"/>
                  <a:gd name="T17" fmla="*/ 0 h 6"/>
                  <a:gd name="T18" fmla="*/ 0 w 24"/>
                  <a:gd name="T19"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6">
                    <a:moveTo>
                      <a:pt x="24" y="6"/>
                    </a:moveTo>
                    <a:lnTo>
                      <a:pt x="24" y="0"/>
                    </a:lnTo>
                    <a:lnTo>
                      <a:pt x="0" y="0"/>
                    </a:lnTo>
                    <a:lnTo>
                      <a:pt x="0" y="6"/>
                    </a:lnTo>
                    <a:lnTo>
                      <a:pt x="24" y="6"/>
                    </a:lnTo>
                    <a:close/>
                    <a:moveTo>
                      <a:pt x="0" y="6"/>
                    </a:moveTo>
                    <a:lnTo>
                      <a:pt x="24" y="6"/>
                    </a:lnTo>
                    <a:lnTo>
                      <a:pt x="0" y="6"/>
                    </a:lnTo>
                    <a:lnTo>
                      <a:pt x="24" y="0"/>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411" name="Freeform 211"/>
              <p:cNvSpPr>
                <a:spLocks noEditPoints="1"/>
              </p:cNvSpPr>
              <p:nvPr/>
            </p:nvSpPr>
            <p:spPr bwMode="auto">
              <a:xfrm>
                <a:off x="4513" y="2352"/>
                <a:ext cx="24" cy="24"/>
              </a:xfrm>
              <a:custGeom>
                <a:avLst/>
                <a:gdLst>
                  <a:gd name="T0" fmla="*/ 0 w 24"/>
                  <a:gd name="T1" fmla="*/ 6 h 24"/>
                  <a:gd name="T2" fmla="*/ 0 w 24"/>
                  <a:gd name="T3" fmla="*/ 6 h 24"/>
                  <a:gd name="T4" fmla="*/ 0 w 24"/>
                  <a:gd name="T5" fmla="*/ 12 h 24"/>
                  <a:gd name="T6" fmla="*/ 6 w 24"/>
                  <a:gd name="T7" fmla="*/ 24 h 24"/>
                  <a:gd name="T8" fmla="*/ 6 w 24"/>
                  <a:gd name="T9" fmla="*/ 24 h 24"/>
                  <a:gd name="T10" fmla="*/ 6 w 24"/>
                  <a:gd name="T11" fmla="*/ 24 h 24"/>
                  <a:gd name="T12" fmla="*/ 6 w 24"/>
                  <a:gd name="T13" fmla="*/ 12 h 24"/>
                  <a:gd name="T14" fmla="*/ 24 w 24"/>
                  <a:gd name="T15" fmla="*/ 12 h 24"/>
                  <a:gd name="T16" fmla="*/ 24 w 24"/>
                  <a:gd name="T17" fmla="*/ 6 h 24"/>
                  <a:gd name="T18" fmla="*/ 24 w 24"/>
                  <a:gd name="T19" fmla="*/ 6 h 24"/>
                  <a:gd name="T20" fmla="*/ 24 w 24"/>
                  <a:gd name="T21" fmla="*/ 0 h 24"/>
                  <a:gd name="T22" fmla="*/ 0 w 24"/>
                  <a:gd name="T23" fmla="*/ 6 h 24"/>
                  <a:gd name="T24" fmla="*/ 24 w 24"/>
                  <a:gd name="T25" fmla="*/ 0 h 24"/>
                  <a:gd name="T26" fmla="*/ 0 w 24"/>
                  <a:gd name="T27" fmla="*/ 6 h 24"/>
                  <a:gd name="T28" fmla="*/ 24 w 24"/>
                  <a:gd name="T29" fmla="*/ 0 h 24"/>
                  <a:gd name="T30" fmla="*/ 0 w 24"/>
                  <a:gd name="T31" fmla="*/ 0 h 24"/>
                  <a:gd name="T32" fmla="*/ 24 w 24"/>
                  <a:gd name="T3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24">
                    <a:moveTo>
                      <a:pt x="0" y="6"/>
                    </a:moveTo>
                    <a:lnTo>
                      <a:pt x="0" y="6"/>
                    </a:lnTo>
                    <a:lnTo>
                      <a:pt x="0" y="12"/>
                    </a:lnTo>
                    <a:lnTo>
                      <a:pt x="6" y="24"/>
                    </a:lnTo>
                    <a:lnTo>
                      <a:pt x="6" y="24"/>
                    </a:lnTo>
                    <a:lnTo>
                      <a:pt x="6" y="24"/>
                    </a:lnTo>
                    <a:lnTo>
                      <a:pt x="6" y="12"/>
                    </a:lnTo>
                    <a:lnTo>
                      <a:pt x="24" y="12"/>
                    </a:lnTo>
                    <a:lnTo>
                      <a:pt x="24" y="6"/>
                    </a:lnTo>
                    <a:lnTo>
                      <a:pt x="24" y="6"/>
                    </a:lnTo>
                    <a:lnTo>
                      <a:pt x="24" y="0"/>
                    </a:lnTo>
                    <a:lnTo>
                      <a:pt x="0" y="6"/>
                    </a:lnTo>
                    <a:close/>
                    <a:moveTo>
                      <a:pt x="24" y="0"/>
                    </a:moveTo>
                    <a:lnTo>
                      <a:pt x="0" y="6"/>
                    </a:lnTo>
                    <a:lnTo>
                      <a:pt x="24" y="0"/>
                    </a:lnTo>
                    <a:lnTo>
                      <a:pt x="0" y="0"/>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51412" name="Freeform 212"/>
              <p:cNvSpPr>
                <a:spLocks noEditPoints="1"/>
              </p:cNvSpPr>
              <p:nvPr/>
            </p:nvSpPr>
            <p:spPr bwMode="auto">
              <a:xfrm>
                <a:off x="4519" y="2358"/>
                <a:ext cx="24" cy="18"/>
              </a:xfrm>
              <a:custGeom>
                <a:avLst/>
                <a:gdLst>
                  <a:gd name="T0" fmla="*/ 18 w 24"/>
                  <a:gd name="T1" fmla="*/ 18 h 18"/>
                  <a:gd name="T2" fmla="*/ 24 w 24"/>
                  <a:gd name="T3" fmla="*/ 18 h 18"/>
                  <a:gd name="T4" fmla="*/ 6 w 24"/>
                  <a:gd name="T5" fmla="*/ 0 h 18"/>
                  <a:gd name="T6" fmla="*/ 0 w 24"/>
                  <a:gd name="T7" fmla="*/ 0 h 18"/>
                  <a:gd name="T8" fmla="*/ 18 w 24"/>
                  <a:gd name="T9" fmla="*/ 18 h 18"/>
                  <a:gd name="T10" fmla="*/ 0 w 24"/>
                  <a:gd name="T11" fmla="*/ 0 h 18"/>
                  <a:gd name="T12" fmla="*/ 0 w 24"/>
                  <a:gd name="T13" fmla="*/ 6 h 18"/>
                  <a:gd name="T14" fmla="*/ 0 w 24"/>
                  <a:gd name="T15" fmla="*/ 6 h 18"/>
                  <a:gd name="T16" fmla="*/ 12 w 24"/>
                  <a:gd name="T17" fmla="*/ 12 h 18"/>
                  <a:gd name="T18" fmla="*/ 0 w 24"/>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18" y="18"/>
                    </a:moveTo>
                    <a:lnTo>
                      <a:pt x="24" y="18"/>
                    </a:lnTo>
                    <a:lnTo>
                      <a:pt x="6" y="0"/>
                    </a:lnTo>
                    <a:lnTo>
                      <a:pt x="0" y="0"/>
                    </a:lnTo>
                    <a:lnTo>
                      <a:pt x="18" y="18"/>
                    </a:lnTo>
                    <a:close/>
                    <a:moveTo>
                      <a:pt x="0" y="0"/>
                    </a:moveTo>
                    <a:lnTo>
                      <a:pt x="0" y="6"/>
                    </a:lnTo>
                    <a:lnTo>
                      <a:pt x="0" y="6"/>
                    </a:lnTo>
                    <a:lnTo>
                      <a:pt x="12" y="12"/>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51413" name="Freeform 213"/>
              <p:cNvSpPr>
                <a:spLocks noEditPoints="1"/>
              </p:cNvSpPr>
              <p:nvPr/>
            </p:nvSpPr>
            <p:spPr bwMode="auto">
              <a:xfrm>
                <a:off x="4519" y="2346"/>
                <a:ext cx="24" cy="36"/>
              </a:xfrm>
              <a:custGeom>
                <a:avLst/>
                <a:gdLst>
                  <a:gd name="T0" fmla="*/ 0 w 24"/>
                  <a:gd name="T1" fmla="*/ 24 h 36"/>
                  <a:gd name="T2" fmla="*/ 0 w 24"/>
                  <a:gd name="T3" fmla="*/ 24 h 36"/>
                  <a:gd name="T4" fmla="*/ 24 w 24"/>
                  <a:gd name="T5" fmla="*/ 36 h 36"/>
                  <a:gd name="T6" fmla="*/ 24 w 24"/>
                  <a:gd name="T7" fmla="*/ 24 h 36"/>
                  <a:gd name="T8" fmla="*/ 24 w 24"/>
                  <a:gd name="T9" fmla="*/ 18 h 36"/>
                  <a:gd name="T10" fmla="*/ 0 w 24"/>
                  <a:gd name="T11" fmla="*/ 24 h 36"/>
                  <a:gd name="T12" fmla="*/ 24 w 24"/>
                  <a:gd name="T13" fmla="*/ 18 h 36"/>
                  <a:gd name="T14" fmla="*/ 18 w 24"/>
                  <a:gd name="T15" fmla="*/ 0 h 36"/>
                  <a:gd name="T16" fmla="*/ 6 w 24"/>
                  <a:gd name="T17" fmla="*/ 12 h 36"/>
                  <a:gd name="T18" fmla="*/ 12 w 24"/>
                  <a:gd name="T19" fmla="*/ 24 h 36"/>
                  <a:gd name="T20" fmla="*/ 24 w 24"/>
                  <a:gd name="T21"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36">
                    <a:moveTo>
                      <a:pt x="0" y="24"/>
                    </a:moveTo>
                    <a:lnTo>
                      <a:pt x="0" y="24"/>
                    </a:lnTo>
                    <a:lnTo>
                      <a:pt x="24" y="36"/>
                    </a:lnTo>
                    <a:lnTo>
                      <a:pt x="24" y="24"/>
                    </a:lnTo>
                    <a:lnTo>
                      <a:pt x="24" y="18"/>
                    </a:lnTo>
                    <a:lnTo>
                      <a:pt x="0" y="24"/>
                    </a:lnTo>
                    <a:close/>
                    <a:moveTo>
                      <a:pt x="24" y="18"/>
                    </a:moveTo>
                    <a:lnTo>
                      <a:pt x="18" y="0"/>
                    </a:lnTo>
                    <a:lnTo>
                      <a:pt x="6" y="12"/>
                    </a:lnTo>
                    <a:lnTo>
                      <a:pt x="12" y="24"/>
                    </a:lnTo>
                    <a:lnTo>
                      <a:pt x="24" y="18"/>
                    </a:lnTo>
                    <a:close/>
                  </a:path>
                </a:pathLst>
              </a:custGeom>
              <a:solidFill>
                <a:srgbClr val="00FF00"/>
              </a:solidFill>
              <a:ln w="9525">
                <a:solidFill>
                  <a:srgbClr val="00FF00"/>
                </a:solidFill>
                <a:round/>
                <a:headEnd/>
                <a:tailEnd/>
              </a:ln>
            </p:spPr>
            <p:txBody>
              <a:bodyPr/>
              <a:lstStyle/>
              <a:p>
                <a:endParaRPr lang="zh-CN" altLang="en-US"/>
              </a:p>
            </p:txBody>
          </p:sp>
          <p:sp>
            <p:nvSpPr>
              <p:cNvPr id="51414" name="Freeform 214"/>
              <p:cNvSpPr>
                <a:spLocks noEditPoints="1"/>
              </p:cNvSpPr>
              <p:nvPr/>
            </p:nvSpPr>
            <p:spPr bwMode="auto">
              <a:xfrm>
                <a:off x="4507" y="2370"/>
                <a:ext cx="36" cy="35"/>
              </a:xfrm>
              <a:custGeom>
                <a:avLst/>
                <a:gdLst>
                  <a:gd name="T0" fmla="*/ 12 w 36"/>
                  <a:gd name="T1" fmla="*/ 6 h 35"/>
                  <a:gd name="T2" fmla="*/ 12 w 36"/>
                  <a:gd name="T3" fmla="*/ 6 h 35"/>
                  <a:gd name="T4" fmla="*/ 0 w 36"/>
                  <a:gd name="T5" fmla="*/ 12 h 35"/>
                  <a:gd name="T6" fmla="*/ 12 w 36"/>
                  <a:gd name="T7" fmla="*/ 35 h 35"/>
                  <a:gd name="T8" fmla="*/ 30 w 36"/>
                  <a:gd name="T9" fmla="*/ 18 h 35"/>
                  <a:gd name="T10" fmla="*/ 36 w 36"/>
                  <a:gd name="T11" fmla="*/ 6 h 35"/>
                  <a:gd name="T12" fmla="*/ 12 w 36"/>
                  <a:gd name="T13" fmla="*/ 6 h 35"/>
                  <a:gd name="T14" fmla="*/ 12 w 36"/>
                  <a:gd name="T15" fmla="*/ 0 h 35"/>
                  <a:gd name="T16" fmla="*/ 12 w 36"/>
                  <a:gd name="T17" fmla="*/ 0 h 35"/>
                  <a:gd name="T18" fmla="*/ 12 w 36"/>
                  <a:gd name="T19" fmla="*/ 6 h 35"/>
                  <a:gd name="T20" fmla="*/ 24 w 36"/>
                  <a:gd name="T21" fmla="*/ 6 h 35"/>
                  <a:gd name="T22" fmla="*/ 12 w 36"/>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35">
                    <a:moveTo>
                      <a:pt x="12" y="6"/>
                    </a:moveTo>
                    <a:lnTo>
                      <a:pt x="12" y="6"/>
                    </a:lnTo>
                    <a:lnTo>
                      <a:pt x="0" y="12"/>
                    </a:lnTo>
                    <a:lnTo>
                      <a:pt x="12" y="35"/>
                    </a:lnTo>
                    <a:lnTo>
                      <a:pt x="30" y="18"/>
                    </a:lnTo>
                    <a:lnTo>
                      <a:pt x="36" y="6"/>
                    </a:lnTo>
                    <a:lnTo>
                      <a:pt x="12" y="6"/>
                    </a:lnTo>
                    <a:close/>
                    <a:moveTo>
                      <a:pt x="12" y="0"/>
                    </a:moveTo>
                    <a:lnTo>
                      <a:pt x="12" y="0"/>
                    </a:lnTo>
                    <a:lnTo>
                      <a:pt x="12" y="6"/>
                    </a:lnTo>
                    <a:lnTo>
                      <a:pt x="24" y="6"/>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415" name="Freeform 215"/>
              <p:cNvSpPr>
                <a:spLocks noEditPoints="1"/>
              </p:cNvSpPr>
              <p:nvPr/>
            </p:nvSpPr>
            <p:spPr bwMode="auto">
              <a:xfrm>
                <a:off x="4495" y="2382"/>
                <a:ext cx="30" cy="18"/>
              </a:xfrm>
              <a:custGeom>
                <a:avLst/>
                <a:gdLst>
                  <a:gd name="T0" fmla="*/ 12 w 30"/>
                  <a:gd name="T1" fmla="*/ 18 h 18"/>
                  <a:gd name="T2" fmla="*/ 12 w 30"/>
                  <a:gd name="T3" fmla="*/ 18 h 18"/>
                  <a:gd name="T4" fmla="*/ 12 w 30"/>
                  <a:gd name="T5" fmla="*/ 18 h 18"/>
                  <a:gd name="T6" fmla="*/ 30 w 30"/>
                  <a:gd name="T7" fmla="*/ 6 h 18"/>
                  <a:gd name="T8" fmla="*/ 30 w 30"/>
                  <a:gd name="T9" fmla="*/ 6 h 18"/>
                  <a:gd name="T10" fmla="*/ 24 w 30"/>
                  <a:gd name="T11" fmla="*/ 0 h 18"/>
                  <a:gd name="T12" fmla="*/ 12 w 30"/>
                  <a:gd name="T13" fmla="*/ 18 h 18"/>
                  <a:gd name="T14" fmla="*/ 12 w 30"/>
                  <a:gd name="T15" fmla="*/ 0 h 18"/>
                  <a:gd name="T16" fmla="*/ 0 w 30"/>
                  <a:gd name="T17" fmla="*/ 12 h 18"/>
                  <a:gd name="T18" fmla="*/ 12 w 30"/>
                  <a:gd name="T19" fmla="*/ 18 h 18"/>
                  <a:gd name="T20" fmla="*/ 18 w 30"/>
                  <a:gd name="T21" fmla="*/ 12 h 18"/>
                  <a:gd name="T22" fmla="*/ 12 w 30"/>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 h="18">
                    <a:moveTo>
                      <a:pt x="12" y="18"/>
                    </a:moveTo>
                    <a:lnTo>
                      <a:pt x="12" y="18"/>
                    </a:lnTo>
                    <a:lnTo>
                      <a:pt x="12" y="18"/>
                    </a:lnTo>
                    <a:lnTo>
                      <a:pt x="30" y="6"/>
                    </a:lnTo>
                    <a:lnTo>
                      <a:pt x="30" y="6"/>
                    </a:lnTo>
                    <a:lnTo>
                      <a:pt x="24" y="0"/>
                    </a:lnTo>
                    <a:lnTo>
                      <a:pt x="12" y="18"/>
                    </a:lnTo>
                    <a:close/>
                    <a:moveTo>
                      <a:pt x="12" y="0"/>
                    </a:moveTo>
                    <a:lnTo>
                      <a:pt x="0" y="12"/>
                    </a:lnTo>
                    <a:lnTo>
                      <a:pt x="12" y="18"/>
                    </a:lnTo>
                    <a:lnTo>
                      <a:pt x="18"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416" name="Freeform 216"/>
              <p:cNvSpPr>
                <a:spLocks noEditPoints="1"/>
              </p:cNvSpPr>
              <p:nvPr/>
            </p:nvSpPr>
            <p:spPr bwMode="auto">
              <a:xfrm>
                <a:off x="4507" y="2382"/>
                <a:ext cx="48" cy="29"/>
              </a:xfrm>
              <a:custGeom>
                <a:avLst/>
                <a:gdLst>
                  <a:gd name="T0" fmla="*/ 6 w 48"/>
                  <a:gd name="T1" fmla="*/ 23 h 29"/>
                  <a:gd name="T2" fmla="*/ 12 w 48"/>
                  <a:gd name="T3" fmla="*/ 23 h 29"/>
                  <a:gd name="T4" fmla="*/ 18 w 48"/>
                  <a:gd name="T5" fmla="*/ 29 h 29"/>
                  <a:gd name="T6" fmla="*/ 30 w 48"/>
                  <a:gd name="T7" fmla="*/ 29 h 29"/>
                  <a:gd name="T8" fmla="*/ 30 w 48"/>
                  <a:gd name="T9" fmla="*/ 29 h 29"/>
                  <a:gd name="T10" fmla="*/ 48 w 48"/>
                  <a:gd name="T11" fmla="*/ 12 h 29"/>
                  <a:gd name="T12" fmla="*/ 24 w 48"/>
                  <a:gd name="T13" fmla="*/ 6 h 29"/>
                  <a:gd name="T14" fmla="*/ 18 w 48"/>
                  <a:gd name="T15" fmla="*/ 6 h 29"/>
                  <a:gd name="T16" fmla="*/ 12 w 48"/>
                  <a:gd name="T17" fmla="*/ 0 h 29"/>
                  <a:gd name="T18" fmla="*/ 6 w 48"/>
                  <a:gd name="T19" fmla="*/ 23 h 29"/>
                  <a:gd name="T20" fmla="*/ 0 w 48"/>
                  <a:gd name="T21" fmla="*/ 18 h 29"/>
                  <a:gd name="T22" fmla="*/ 0 w 48"/>
                  <a:gd name="T23" fmla="*/ 23 h 29"/>
                  <a:gd name="T24" fmla="*/ 6 w 48"/>
                  <a:gd name="T25" fmla="*/ 23 h 29"/>
                  <a:gd name="T26" fmla="*/ 12 w 48"/>
                  <a:gd name="T27" fmla="*/ 12 h 29"/>
                  <a:gd name="T28" fmla="*/ 0 w 48"/>
                  <a:gd name="T29" fmla="*/ 18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29">
                    <a:moveTo>
                      <a:pt x="6" y="23"/>
                    </a:moveTo>
                    <a:lnTo>
                      <a:pt x="12" y="23"/>
                    </a:lnTo>
                    <a:lnTo>
                      <a:pt x="18" y="29"/>
                    </a:lnTo>
                    <a:lnTo>
                      <a:pt x="30" y="29"/>
                    </a:lnTo>
                    <a:lnTo>
                      <a:pt x="30" y="29"/>
                    </a:lnTo>
                    <a:lnTo>
                      <a:pt x="48" y="12"/>
                    </a:lnTo>
                    <a:lnTo>
                      <a:pt x="24" y="6"/>
                    </a:lnTo>
                    <a:lnTo>
                      <a:pt x="18" y="6"/>
                    </a:lnTo>
                    <a:lnTo>
                      <a:pt x="12" y="0"/>
                    </a:lnTo>
                    <a:lnTo>
                      <a:pt x="6" y="23"/>
                    </a:lnTo>
                    <a:close/>
                    <a:moveTo>
                      <a:pt x="0" y="18"/>
                    </a:moveTo>
                    <a:lnTo>
                      <a:pt x="0" y="23"/>
                    </a:lnTo>
                    <a:lnTo>
                      <a:pt x="6" y="23"/>
                    </a:lnTo>
                    <a:lnTo>
                      <a:pt x="12" y="12"/>
                    </a:lnTo>
                    <a:lnTo>
                      <a:pt x="0" y="18"/>
                    </a:lnTo>
                    <a:close/>
                  </a:path>
                </a:pathLst>
              </a:custGeom>
              <a:solidFill>
                <a:srgbClr val="00FF00"/>
              </a:solidFill>
              <a:ln w="9525">
                <a:solidFill>
                  <a:srgbClr val="00FF00"/>
                </a:solidFill>
                <a:round/>
                <a:headEnd/>
                <a:tailEnd/>
              </a:ln>
            </p:spPr>
            <p:txBody>
              <a:bodyPr/>
              <a:lstStyle/>
              <a:p>
                <a:endParaRPr lang="zh-CN" altLang="en-US"/>
              </a:p>
            </p:txBody>
          </p:sp>
          <p:sp>
            <p:nvSpPr>
              <p:cNvPr id="51417" name="Freeform 217"/>
              <p:cNvSpPr>
                <a:spLocks noEditPoints="1"/>
              </p:cNvSpPr>
              <p:nvPr/>
            </p:nvSpPr>
            <p:spPr bwMode="auto">
              <a:xfrm>
                <a:off x="4537" y="2394"/>
                <a:ext cx="24" cy="29"/>
              </a:xfrm>
              <a:custGeom>
                <a:avLst/>
                <a:gdLst>
                  <a:gd name="T0" fmla="*/ 0 w 24"/>
                  <a:gd name="T1" fmla="*/ 11 h 29"/>
                  <a:gd name="T2" fmla="*/ 0 w 24"/>
                  <a:gd name="T3" fmla="*/ 29 h 29"/>
                  <a:gd name="T4" fmla="*/ 24 w 24"/>
                  <a:gd name="T5" fmla="*/ 23 h 29"/>
                  <a:gd name="T6" fmla="*/ 24 w 24"/>
                  <a:gd name="T7" fmla="*/ 6 h 29"/>
                  <a:gd name="T8" fmla="*/ 0 w 24"/>
                  <a:gd name="T9" fmla="*/ 11 h 29"/>
                  <a:gd name="T10" fmla="*/ 24 w 24"/>
                  <a:gd name="T11" fmla="*/ 6 h 29"/>
                  <a:gd name="T12" fmla="*/ 18 w 24"/>
                  <a:gd name="T13" fmla="*/ 6 h 29"/>
                  <a:gd name="T14" fmla="*/ 18 w 24"/>
                  <a:gd name="T15" fmla="*/ 0 h 29"/>
                  <a:gd name="T16" fmla="*/ 12 w 24"/>
                  <a:gd name="T17" fmla="*/ 11 h 29"/>
                  <a:gd name="T18" fmla="*/ 24 w 24"/>
                  <a:gd name="T19"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9">
                    <a:moveTo>
                      <a:pt x="0" y="11"/>
                    </a:moveTo>
                    <a:lnTo>
                      <a:pt x="0" y="29"/>
                    </a:lnTo>
                    <a:lnTo>
                      <a:pt x="24" y="23"/>
                    </a:lnTo>
                    <a:lnTo>
                      <a:pt x="24" y="6"/>
                    </a:lnTo>
                    <a:lnTo>
                      <a:pt x="0" y="11"/>
                    </a:lnTo>
                    <a:close/>
                    <a:moveTo>
                      <a:pt x="24" y="6"/>
                    </a:moveTo>
                    <a:lnTo>
                      <a:pt x="18" y="6"/>
                    </a:lnTo>
                    <a:lnTo>
                      <a:pt x="18" y="0"/>
                    </a:lnTo>
                    <a:lnTo>
                      <a:pt x="12" y="11"/>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51418" name="Freeform 218"/>
              <p:cNvSpPr>
                <a:spLocks/>
              </p:cNvSpPr>
              <p:nvPr/>
            </p:nvSpPr>
            <p:spPr bwMode="auto">
              <a:xfrm>
                <a:off x="4549" y="2417"/>
                <a:ext cx="12" cy="12"/>
              </a:xfrm>
              <a:custGeom>
                <a:avLst/>
                <a:gdLst>
                  <a:gd name="T0" fmla="*/ 6 w 12"/>
                  <a:gd name="T1" fmla="*/ 12 h 12"/>
                  <a:gd name="T2" fmla="*/ 12 w 12"/>
                  <a:gd name="T3" fmla="*/ 6 h 12"/>
                  <a:gd name="T4" fmla="*/ 12 w 12"/>
                  <a:gd name="T5" fmla="*/ 0 h 12"/>
                  <a:gd name="T6" fmla="*/ 0 w 12"/>
                  <a:gd name="T7" fmla="*/ 0 h 12"/>
                  <a:gd name="T8" fmla="*/ 6 w 12"/>
                  <a:gd name="T9" fmla="*/ 12 h 12"/>
                </a:gdLst>
                <a:ahLst/>
                <a:cxnLst>
                  <a:cxn ang="0">
                    <a:pos x="T0" y="T1"/>
                  </a:cxn>
                  <a:cxn ang="0">
                    <a:pos x="T2" y="T3"/>
                  </a:cxn>
                  <a:cxn ang="0">
                    <a:pos x="T4" y="T5"/>
                  </a:cxn>
                  <a:cxn ang="0">
                    <a:pos x="T6" y="T7"/>
                  </a:cxn>
                  <a:cxn ang="0">
                    <a:pos x="T8" y="T9"/>
                  </a:cxn>
                </a:cxnLst>
                <a:rect l="0" t="0" r="r" b="b"/>
                <a:pathLst>
                  <a:path w="12" h="12">
                    <a:moveTo>
                      <a:pt x="6" y="12"/>
                    </a:moveTo>
                    <a:lnTo>
                      <a:pt x="12" y="6"/>
                    </a:lnTo>
                    <a:lnTo>
                      <a:pt x="12" y="0"/>
                    </a:lnTo>
                    <a:lnTo>
                      <a:pt x="0" y="0"/>
                    </a:lnTo>
                    <a:lnTo>
                      <a:pt x="6" y="12"/>
                    </a:lnTo>
                    <a:close/>
                  </a:path>
                </a:pathLst>
              </a:custGeom>
              <a:solidFill>
                <a:srgbClr val="00FF00"/>
              </a:solidFill>
              <a:ln w="9525">
                <a:solidFill>
                  <a:srgbClr val="00FF00"/>
                </a:solidFill>
                <a:round/>
                <a:headEnd/>
                <a:tailEnd/>
              </a:ln>
            </p:spPr>
            <p:txBody>
              <a:bodyPr/>
              <a:lstStyle/>
              <a:p>
                <a:endParaRPr lang="zh-CN" altLang="en-US"/>
              </a:p>
            </p:txBody>
          </p:sp>
          <p:sp>
            <p:nvSpPr>
              <p:cNvPr id="51419" name="Freeform 219"/>
              <p:cNvSpPr>
                <a:spLocks/>
              </p:cNvSpPr>
              <p:nvPr/>
            </p:nvSpPr>
            <p:spPr bwMode="auto">
              <a:xfrm>
                <a:off x="4555" y="2459"/>
                <a:ext cx="6" cy="6"/>
              </a:xfrm>
              <a:custGeom>
                <a:avLst/>
                <a:gdLst>
                  <a:gd name="T0" fmla="*/ 6 w 6"/>
                  <a:gd name="T1" fmla="*/ 0 h 6"/>
                  <a:gd name="T2" fmla="*/ 0 w 6"/>
                  <a:gd name="T3" fmla="*/ 0 h 6"/>
                  <a:gd name="T4" fmla="*/ 0 w 6"/>
                  <a:gd name="T5" fmla="*/ 0 h 6"/>
                  <a:gd name="T6" fmla="*/ 0 w 6"/>
                  <a:gd name="T7" fmla="*/ 6 h 6"/>
                  <a:gd name="T8" fmla="*/ 6 w 6"/>
                  <a:gd name="T9" fmla="*/ 6 h 6"/>
                  <a:gd name="T10" fmla="*/ 6 w 6"/>
                  <a:gd name="T11" fmla="*/ 6 h 6"/>
                  <a:gd name="T12" fmla="*/ 6 w 6"/>
                  <a:gd name="T13" fmla="*/ 0 h 6"/>
                  <a:gd name="T14" fmla="*/ 6 w 6"/>
                  <a:gd name="T15" fmla="*/ 0 h 6"/>
                  <a:gd name="T16" fmla="*/ 6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6" y="0"/>
                    </a:moveTo>
                    <a:lnTo>
                      <a:pt x="0" y="0"/>
                    </a:lnTo>
                    <a:lnTo>
                      <a:pt x="0" y="0"/>
                    </a:lnTo>
                    <a:lnTo>
                      <a:pt x="0" y="6"/>
                    </a:lnTo>
                    <a:lnTo>
                      <a:pt x="6" y="6"/>
                    </a:lnTo>
                    <a:lnTo>
                      <a:pt x="6" y="6"/>
                    </a:lnTo>
                    <a:lnTo>
                      <a:pt x="6" y="0"/>
                    </a:lnTo>
                    <a:lnTo>
                      <a:pt x="6" y="0"/>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420" name="Freeform 220"/>
              <p:cNvSpPr>
                <a:spLocks/>
              </p:cNvSpPr>
              <p:nvPr/>
            </p:nvSpPr>
            <p:spPr bwMode="auto">
              <a:xfrm>
                <a:off x="4537" y="2459"/>
                <a:ext cx="12" cy="6"/>
              </a:xfrm>
              <a:custGeom>
                <a:avLst/>
                <a:gdLst>
                  <a:gd name="T0" fmla="*/ 6 w 12"/>
                  <a:gd name="T1" fmla="*/ 0 h 6"/>
                  <a:gd name="T2" fmla="*/ 6 w 12"/>
                  <a:gd name="T3" fmla="*/ 0 h 6"/>
                  <a:gd name="T4" fmla="*/ 0 w 12"/>
                  <a:gd name="T5" fmla="*/ 0 h 6"/>
                  <a:gd name="T6" fmla="*/ 6 w 12"/>
                  <a:gd name="T7" fmla="*/ 6 h 6"/>
                  <a:gd name="T8" fmla="*/ 6 w 12"/>
                  <a:gd name="T9" fmla="*/ 6 h 6"/>
                  <a:gd name="T10" fmla="*/ 12 w 12"/>
                  <a:gd name="T11" fmla="*/ 6 h 6"/>
                  <a:gd name="T12" fmla="*/ 12 w 12"/>
                  <a:gd name="T13" fmla="*/ 0 h 6"/>
                  <a:gd name="T14" fmla="*/ 12 w 12"/>
                  <a:gd name="T15" fmla="*/ 0 h 6"/>
                  <a:gd name="T16" fmla="*/ 6 w 12"/>
                  <a:gd name="T17" fmla="*/ 0 h 6"/>
                  <a:gd name="T18" fmla="*/ 6 w 12"/>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6">
                    <a:moveTo>
                      <a:pt x="6" y="0"/>
                    </a:moveTo>
                    <a:lnTo>
                      <a:pt x="6" y="0"/>
                    </a:lnTo>
                    <a:lnTo>
                      <a:pt x="0" y="0"/>
                    </a:lnTo>
                    <a:lnTo>
                      <a:pt x="6" y="6"/>
                    </a:lnTo>
                    <a:lnTo>
                      <a:pt x="6" y="6"/>
                    </a:lnTo>
                    <a:lnTo>
                      <a:pt x="12" y="6"/>
                    </a:lnTo>
                    <a:lnTo>
                      <a:pt x="12" y="0"/>
                    </a:lnTo>
                    <a:lnTo>
                      <a:pt x="12" y="0"/>
                    </a:lnTo>
                    <a:lnTo>
                      <a:pt x="6" y="0"/>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421" name="Freeform 221"/>
              <p:cNvSpPr>
                <a:spLocks/>
              </p:cNvSpPr>
              <p:nvPr/>
            </p:nvSpPr>
            <p:spPr bwMode="auto">
              <a:xfrm>
                <a:off x="4549" y="2358"/>
                <a:ext cx="1" cy="12"/>
              </a:xfrm>
              <a:custGeom>
                <a:avLst/>
                <a:gdLst>
                  <a:gd name="T0" fmla="*/ 12 h 12"/>
                  <a:gd name="T1" fmla="*/ 6 h 12"/>
                  <a:gd name="T2" fmla="*/ 0 h 12"/>
                  <a:gd name="T3" fmla="*/ 6 h 12"/>
                  <a:gd name="T4" fmla="*/ 12 h 12"/>
                  <a:gd name="T5" fmla="*/ 12 h 12"/>
                  <a:gd name="T6" fmla="*/ 12 h 12"/>
                </a:gdLst>
                <a:ahLst/>
                <a:cxnLst>
                  <a:cxn ang="0">
                    <a:pos x="0" y="T0"/>
                  </a:cxn>
                  <a:cxn ang="0">
                    <a:pos x="0" y="T1"/>
                  </a:cxn>
                  <a:cxn ang="0">
                    <a:pos x="0" y="T2"/>
                  </a:cxn>
                  <a:cxn ang="0">
                    <a:pos x="0" y="T3"/>
                  </a:cxn>
                  <a:cxn ang="0">
                    <a:pos x="0" y="T4"/>
                  </a:cxn>
                  <a:cxn ang="0">
                    <a:pos x="0" y="T5"/>
                  </a:cxn>
                  <a:cxn ang="0">
                    <a:pos x="0" y="T6"/>
                  </a:cxn>
                </a:cxnLst>
                <a:rect l="0" t="0" r="r" b="b"/>
                <a:pathLst>
                  <a:path h="12">
                    <a:moveTo>
                      <a:pt x="0" y="12"/>
                    </a:moveTo>
                    <a:lnTo>
                      <a:pt x="0" y="6"/>
                    </a:lnTo>
                    <a:lnTo>
                      <a:pt x="0" y="0"/>
                    </a:lnTo>
                    <a:lnTo>
                      <a:pt x="0" y="6"/>
                    </a:lnTo>
                    <a:lnTo>
                      <a:pt x="0" y="12"/>
                    </a:lnTo>
                    <a:lnTo>
                      <a:pt x="0" y="12"/>
                    </a:lnTo>
                    <a:lnTo>
                      <a:pt x="0" y="12"/>
                    </a:lnTo>
                    <a:close/>
                  </a:path>
                </a:pathLst>
              </a:custGeom>
              <a:solidFill>
                <a:srgbClr val="00FF00"/>
              </a:solidFill>
              <a:ln w="9525">
                <a:solidFill>
                  <a:srgbClr val="00FF00"/>
                </a:solidFill>
                <a:round/>
                <a:headEnd/>
                <a:tailEnd/>
              </a:ln>
            </p:spPr>
            <p:txBody>
              <a:bodyPr/>
              <a:lstStyle/>
              <a:p>
                <a:endParaRPr lang="zh-CN" altLang="en-US"/>
              </a:p>
            </p:txBody>
          </p:sp>
          <p:sp>
            <p:nvSpPr>
              <p:cNvPr id="51422" name="Freeform 222"/>
              <p:cNvSpPr>
                <a:spLocks/>
              </p:cNvSpPr>
              <p:nvPr/>
            </p:nvSpPr>
            <p:spPr bwMode="auto">
              <a:xfrm>
                <a:off x="4555" y="2346"/>
                <a:ext cx="12" cy="30"/>
              </a:xfrm>
              <a:custGeom>
                <a:avLst/>
                <a:gdLst>
                  <a:gd name="T0" fmla="*/ 0 w 12"/>
                  <a:gd name="T1" fmla="*/ 30 h 30"/>
                  <a:gd name="T2" fmla="*/ 6 w 12"/>
                  <a:gd name="T3" fmla="*/ 6 h 30"/>
                  <a:gd name="T4" fmla="*/ 6 w 12"/>
                  <a:gd name="T5" fmla="*/ 6 h 30"/>
                  <a:gd name="T6" fmla="*/ 12 w 12"/>
                  <a:gd name="T7" fmla="*/ 0 h 30"/>
                  <a:gd name="T8" fmla="*/ 12 w 12"/>
                  <a:gd name="T9" fmla="*/ 0 h 30"/>
                  <a:gd name="T10" fmla="*/ 6 w 12"/>
                  <a:gd name="T11" fmla="*/ 6 h 30"/>
                  <a:gd name="T12" fmla="*/ 6 w 12"/>
                  <a:gd name="T13" fmla="*/ 12 h 30"/>
                  <a:gd name="T14" fmla="*/ 6 w 12"/>
                  <a:gd name="T15" fmla="*/ 18 h 30"/>
                  <a:gd name="T16" fmla="*/ 0 w 12"/>
                  <a:gd name="T17" fmla="*/ 24 h 30"/>
                  <a:gd name="T18" fmla="*/ 0 w 12"/>
                  <a:gd name="T19" fmla="*/ 24 h 30"/>
                  <a:gd name="T20" fmla="*/ 0 w 12"/>
                  <a:gd name="T21" fmla="*/ 30 h 30"/>
                  <a:gd name="T22" fmla="*/ 0 w 12"/>
                  <a:gd name="T23" fmla="*/ 30 h 30"/>
                  <a:gd name="T24" fmla="*/ 0 w 12"/>
                  <a:gd name="T25" fmla="*/ 30 h 30"/>
                  <a:gd name="T26" fmla="*/ 0 w 12"/>
                  <a:gd name="T2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 h="30">
                    <a:moveTo>
                      <a:pt x="0" y="30"/>
                    </a:moveTo>
                    <a:lnTo>
                      <a:pt x="6" y="6"/>
                    </a:lnTo>
                    <a:lnTo>
                      <a:pt x="6" y="6"/>
                    </a:lnTo>
                    <a:lnTo>
                      <a:pt x="12" y="0"/>
                    </a:lnTo>
                    <a:lnTo>
                      <a:pt x="12" y="0"/>
                    </a:lnTo>
                    <a:lnTo>
                      <a:pt x="6" y="6"/>
                    </a:lnTo>
                    <a:lnTo>
                      <a:pt x="6" y="12"/>
                    </a:lnTo>
                    <a:lnTo>
                      <a:pt x="6" y="18"/>
                    </a:lnTo>
                    <a:lnTo>
                      <a:pt x="0" y="24"/>
                    </a:lnTo>
                    <a:lnTo>
                      <a:pt x="0" y="24"/>
                    </a:lnTo>
                    <a:lnTo>
                      <a:pt x="0" y="30"/>
                    </a:lnTo>
                    <a:lnTo>
                      <a:pt x="0" y="30"/>
                    </a:lnTo>
                    <a:lnTo>
                      <a:pt x="0" y="30"/>
                    </a:lnTo>
                    <a:lnTo>
                      <a:pt x="0" y="30"/>
                    </a:lnTo>
                    <a:close/>
                  </a:path>
                </a:pathLst>
              </a:custGeom>
              <a:solidFill>
                <a:srgbClr val="00FF00"/>
              </a:solidFill>
              <a:ln w="9525">
                <a:solidFill>
                  <a:srgbClr val="00FF00"/>
                </a:solidFill>
                <a:round/>
                <a:headEnd/>
                <a:tailEnd/>
              </a:ln>
            </p:spPr>
            <p:txBody>
              <a:bodyPr/>
              <a:lstStyle/>
              <a:p>
                <a:endParaRPr lang="zh-CN" altLang="en-US"/>
              </a:p>
            </p:txBody>
          </p:sp>
          <p:sp>
            <p:nvSpPr>
              <p:cNvPr id="51423" name="Freeform 223"/>
              <p:cNvSpPr>
                <a:spLocks/>
              </p:cNvSpPr>
              <p:nvPr/>
            </p:nvSpPr>
            <p:spPr bwMode="auto">
              <a:xfrm>
                <a:off x="4543" y="2352"/>
                <a:ext cx="30" cy="30"/>
              </a:xfrm>
              <a:custGeom>
                <a:avLst/>
                <a:gdLst>
                  <a:gd name="T0" fmla="*/ 24 w 30"/>
                  <a:gd name="T1" fmla="*/ 30 h 30"/>
                  <a:gd name="T2" fmla="*/ 30 w 30"/>
                  <a:gd name="T3" fmla="*/ 6 h 30"/>
                  <a:gd name="T4" fmla="*/ 6 w 30"/>
                  <a:gd name="T5" fmla="*/ 0 h 30"/>
                  <a:gd name="T6" fmla="*/ 0 w 30"/>
                  <a:gd name="T7" fmla="*/ 24 h 30"/>
                  <a:gd name="T8" fmla="*/ 24 w 30"/>
                  <a:gd name="T9" fmla="*/ 30 h 30"/>
                </a:gdLst>
                <a:ahLst/>
                <a:cxnLst>
                  <a:cxn ang="0">
                    <a:pos x="T0" y="T1"/>
                  </a:cxn>
                  <a:cxn ang="0">
                    <a:pos x="T2" y="T3"/>
                  </a:cxn>
                  <a:cxn ang="0">
                    <a:pos x="T4" y="T5"/>
                  </a:cxn>
                  <a:cxn ang="0">
                    <a:pos x="T6" y="T7"/>
                  </a:cxn>
                  <a:cxn ang="0">
                    <a:pos x="T8" y="T9"/>
                  </a:cxn>
                </a:cxnLst>
                <a:rect l="0" t="0" r="r" b="b"/>
                <a:pathLst>
                  <a:path w="30" h="30">
                    <a:moveTo>
                      <a:pt x="24" y="30"/>
                    </a:moveTo>
                    <a:lnTo>
                      <a:pt x="30" y="6"/>
                    </a:lnTo>
                    <a:lnTo>
                      <a:pt x="6" y="0"/>
                    </a:lnTo>
                    <a:lnTo>
                      <a:pt x="0" y="24"/>
                    </a:lnTo>
                    <a:lnTo>
                      <a:pt x="24" y="30"/>
                    </a:lnTo>
                    <a:close/>
                  </a:path>
                </a:pathLst>
              </a:custGeom>
              <a:solidFill>
                <a:srgbClr val="00FF00"/>
              </a:solidFill>
              <a:ln w="9525">
                <a:solidFill>
                  <a:srgbClr val="00FF00"/>
                </a:solidFill>
                <a:round/>
                <a:headEnd/>
                <a:tailEnd/>
              </a:ln>
            </p:spPr>
            <p:txBody>
              <a:bodyPr/>
              <a:lstStyle/>
              <a:p>
                <a:endParaRPr lang="zh-CN" altLang="en-US"/>
              </a:p>
            </p:txBody>
          </p:sp>
          <p:sp>
            <p:nvSpPr>
              <p:cNvPr id="51424" name="Freeform 224"/>
              <p:cNvSpPr>
                <a:spLocks noEditPoints="1"/>
              </p:cNvSpPr>
              <p:nvPr/>
            </p:nvSpPr>
            <p:spPr bwMode="auto">
              <a:xfrm>
                <a:off x="4549" y="2334"/>
                <a:ext cx="24" cy="24"/>
              </a:xfrm>
              <a:custGeom>
                <a:avLst/>
                <a:gdLst>
                  <a:gd name="T0" fmla="*/ 24 w 24"/>
                  <a:gd name="T1" fmla="*/ 24 h 24"/>
                  <a:gd name="T2" fmla="*/ 24 w 24"/>
                  <a:gd name="T3" fmla="*/ 18 h 24"/>
                  <a:gd name="T4" fmla="*/ 24 w 24"/>
                  <a:gd name="T5" fmla="*/ 18 h 24"/>
                  <a:gd name="T6" fmla="*/ 24 w 24"/>
                  <a:gd name="T7" fmla="*/ 24 h 24"/>
                  <a:gd name="T8" fmla="*/ 12 w 24"/>
                  <a:gd name="T9" fmla="*/ 0 h 24"/>
                  <a:gd name="T10" fmla="*/ 0 w 24"/>
                  <a:gd name="T11" fmla="*/ 12 h 24"/>
                  <a:gd name="T12" fmla="*/ 0 w 24"/>
                  <a:gd name="T13" fmla="*/ 18 h 24"/>
                  <a:gd name="T14" fmla="*/ 24 w 24"/>
                  <a:gd name="T15" fmla="*/ 24 h 24"/>
                  <a:gd name="T16" fmla="*/ 24 w 24"/>
                  <a:gd name="T17" fmla="*/ 24 h 24"/>
                  <a:gd name="T18" fmla="*/ 24 w 24"/>
                  <a:gd name="T19" fmla="*/ 24 h 24"/>
                  <a:gd name="T20" fmla="*/ 24 w 24"/>
                  <a:gd name="T21" fmla="*/ 24 h 24"/>
                  <a:gd name="T22" fmla="*/ 12 w 24"/>
                  <a:gd name="T23" fmla="*/ 18 h 24"/>
                  <a:gd name="T24" fmla="*/ 24 w 24"/>
                  <a:gd name="T25"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24" y="24"/>
                    </a:moveTo>
                    <a:lnTo>
                      <a:pt x="24" y="18"/>
                    </a:lnTo>
                    <a:lnTo>
                      <a:pt x="24" y="18"/>
                    </a:lnTo>
                    <a:lnTo>
                      <a:pt x="24" y="24"/>
                    </a:lnTo>
                    <a:lnTo>
                      <a:pt x="12" y="0"/>
                    </a:lnTo>
                    <a:lnTo>
                      <a:pt x="0" y="12"/>
                    </a:lnTo>
                    <a:lnTo>
                      <a:pt x="0" y="18"/>
                    </a:lnTo>
                    <a:lnTo>
                      <a:pt x="24" y="24"/>
                    </a:lnTo>
                    <a:close/>
                    <a:moveTo>
                      <a:pt x="24" y="24"/>
                    </a:moveTo>
                    <a:lnTo>
                      <a:pt x="24" y="24"/>
                    </a:lnTo>
                    <a:lnTo>
                      <a:pt x="24" y="24"/>
                    </a:lnTo>
                    <a:lnTo>
                      <a:pt x="12" y="18"/>
                    </a:lnTo>
                    <a:lnTo>
                      <a:pt x="24" y="24"/>
                    </a:lnTo>
                    <a:close/>
                  </a:path>
                </a:pathLst>
              </a:custGeom>
              <a:solidFill>
                <a:srgbClr val="00FF00"/>
              </a:solidFill>
              <a:ln w="9525">
                <a:solidFill>
                  <a:srgbClr val="00FF00"/>
                </a:solidFill>
                <a:round/>
                <a:headEnd/>
                <a:tailEnd/>
              </a:ln>
            </p:spPr>
            <p:txBody>
              <a:bodyPr/>
              <a:lstStyle/>
              <a:p>
                <a:endParaRPr lang="zh-CN" altLang="en-US"/>
              </a:p>
            </p:txBody>
          </p:sp>
          <p:sp>
            <p:nvSpPr>
              <p:cNvPr id="51425" name="Freeform 225"/>
              <p:cNvSpPr>
                <a:spLocks noEditPoints="1"/>
              </p:cNvSpPr>
              <p:nvPr/>
            </p:nvSpPr>
            <p:spPr bwMode="auto">
              <a:xfrm>
                <a:off x="4549" y="2334"/>
                <a:ext cx="24" cy="24"/>
              </a:xfrm>
              <a:custGeom>
                <a:avLst/>
                <a:gdLst>
                  <a:gd name="T0" fmla="*/ 12 w 24"/>
                  <a:gd name="T1" fmla="*/ 0 h 24"/>
                  <a:gd name="T2" fmla="*/ 6 w 24"/>
                  <a:gd name="T3" fmla="*/ 6 h 24"/>
                  <a:gd name="T4" fmla="*/ 0 w 24"/>
                  <a:gd name="T5" fmla="*/ 18 h 24"/>
                  <a:gd name="T6" fmla="*/ 24 w 24"/>
                  <a:gd name="T7" fmla="*/ 24 h 24"/>
                  <a:gd name="T8" fmla="*/ 24 w 24"/>
                  <a:gd name="T9" fmla="*/ 24 h 24"/>
                  <a:gd name="T10" fmla="*/ 24 w 24"/>
                  <a:gd name="T11" fmla="*/ 18 h 24"/>
                  <a:gd name="T12" fmla="*/ 12 w 24"/>
                  <a:gd name="T13" fmla="*/ 0 h 24"/>
                  <a:gd name="T14" fmla="*/ 24 w 24"/>
                  <a:gd name="T15" fmla="*/ 24 h 24"/>
                  <a:gd name="T16" fmla="*/ 12 w 24"/>
                  <a:gd name="T17" fmla="*/ 0 h 24"/>
                  <a:gd name="T18" fmla="*/ 24 w 24"/>
                  <a:gd name="T19" fmla="*/ 18 h 24"/>
                  <a:gd name="T20" fmla="*/ 12 w 24"/>
                  <a:gd name="T21" fmla="*/ 0 h 24"/>
                  <a:gd name="T22" fmla="*/ 24 w 24"/>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2" y="0"/>
                    </a:moveTo>
                    <a:lnTo>
                      <a:pt x="6" y="6"/>
                    </a:lnTo>
                    <a:lnTo>
                      <a:pt x="0" y="18"/>
                    </a:lnTo>
                    <a:lnTo>
                      <a:pt x="24" y="24"/>
                    </a:lnTo>
                    <a:lnTo>
                      <a:pt x="24" y="24"/>
                    </a:lnTo>
                    <a:lnTo>
                      <a:pt x="24" y="18"/>
                    </a:lnTo>
                    <a:lnTo>
                      <a:pt x="12" y="0"/>
                    </a:lnTo>
                    <a:close/>
                    <a:moveTo>
                      <a:pt x="24" y="24"/>
                    </a:moveTo>
                    <a:lnTo>
                      <a:pt x="12" y="0"/>
                    </a:lnTo>
                    <a:lnTo>
                      <a:pt x="24" y="18"/>
                    </a:lnTo>
                    <a:lnTo>
                      <a:pt x="12" y="0"/>
                    </a:lnTo>
                    <a:lnTo>
                      <a:pt x="24" y="24"/>
                    </a:lnTo>
                    <a:close/>
                  </a:path>
                </a:pathLst>
              </a:custGeom>
              <a:solidFill>
                <a:srgbClr val="00FF00"/>
              </a:solidFill>
              <a:ln w="9525">
                <a:solidFill>
                  <a:srgbClr val="00FF00"/>
                </a:solidFill>
                <a:round/>
                <a:headEnd/>
                <a:tailEnd/>
              </a:ln>
            </p:spPr>
            <p:txBody>
              <a:bodyPr/>
              <a:lstStyle/>
              <a:p>
                <a:endParaRPr lang="zh-CN" altLang="en-US"/>
              </a:p>
            </p:txBody>
          </p:sp>
          <p:sp>
            <p:nvSpPr>
              <p:cNvPr id="51426" name="Freeform 226"/>
              <p:cNvSpPr>
                <a:spLocks noEditPoints="1"/>
              </p:cNvSpPr>
              <p:nvPr/>
            </p:nvSpPr>
            <p:spPr bwMode="auto">
              <a:xfrm>
                <a:off x="4543" y="2346"/>
                <a:ext cx="30" cy="30"/>
              </a:xfrm>
              <a:custGeom>
                <a:avLst/>
                <a:gdLst>
                  <a:gd name="T0" fmla="*/ 6 w 30"/>
                  <a:gd name="T1" fmla="*/ 0 h 30"/>
                  <a:gd name="T2" fmla="*/ 6 w 30"/>
                  <a:gd name="T3" fmla="*/ 12 h 30"/>
                  <a:gd name="T4" fmla="*/ 0 w 30"/>
                  <a:gd name="T5" fmla="*/ 30 h 30"/>
                  <a:gd name="T6" fmla="*/ 24 w 30"/>
                  <a:gd name="T7" fmla="*/ 24 h 30"/>
                  <a:gd name="T8" fmla="*/ 24 w 30"/>
                  <a:gd name="T9" fmla="*/ 24 h 30"/>
                  <a:gd name="T10" fmla="*/ 30 w 30"/>
                  <a:gd name="T11" fmla="*/ 18 h 30"/>
                  <a:gd name="T12" fmla="*/ 30 w 30"/>
                  <a:gd name="T13" fmla="*/ 12 h 30"/>
                  <a:gd name="T14" fmla="*/ 30 w 30"/>
                  <a:gd name="T15" fmla="*/ 12 h 30"/>
                  <a:gd name="T16" fmla="*/ 6 w 30"/>
                  <a:gd name="T17" fmla="*/ 0 h 30"/>
                  <a:gd name="T18" fmla="*/ 30 w 30"/>
                  <a:gd name="T19" fmla="*/ 12 h 30"/>
                  <a:gd name="T20" fmla="*/ 30 w 30"/>
                  <a:gd name="T21" fmla="*/ 12 h 30"/>
                  <a:gd name="T22" fmla="*/ 30 w 30"/>
                  <a:gd name="T23" fmla="*/ 12 h 30"/>
                  <a:gd name="T24" fmla="*/ 18 w 30"/>
                  <a:gd name="T25" fmla="*/ 6 h 30"/>
                  <a:gd name="T26" fmla="*/ 30 w 30"/>
                  <a:gd name="T27"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0">
                    <a:moveTo>
                      <a:pt x="6" y="0"/>
                    </a:moveTo>
                    <a:lnTo>
                      <a:pt x="6" y="12"/>
                    </a:lnTo>
                    <a:lnTo>
                      <a:pt x="0" y="30"/>
                    </a:lnTo>
                    <a:lnTo>
                      <a:pt x="24" y="24"/>
                    </a:lnTo>
                    <a:lnTo>
                      <a:pt x="24" y="24"/>
                    </a:lnTo>
                    <a:lnTo>
                      <a:pt x="30" y="18"/>
                    </a:lnTo>
                    <a:lnTo>
                      <a:pt x="30" y="12"/>
                    </a:lnTo>
                    <a:lnTo>
                      <a:pt x="30" y="12"/>
                    </a:lnTo>
                    <a:lnTo>
                      <a:pt x="6" y="0"/>
                    </a:lnTo>
                    <a:close/>
                    <a:moveTo>
                      <a:pt x="30" y="12"/>
                    </a:moveTo>
                    <a:lnTo>
                      <a:pt x="30" y="12"/>
                    </a:lnTo>
                    <a:lnTo>
                      <a:pt x="30" y="12"/>
                    </a:lnTo>
                    <a:lnTo>
                      <a:pt x="18" y="6"/>
                    </a:lnTo>
                    <a:lnTo>
                      <a:pt x="30" y="12"/>
                    </a:lnTo>
                    <a:close/>
                  </a:path>
                </a:pathLst>
              </a:custGeom>
              <a:solidFill>
                <a:srgbClr val="00FF00"/>
              </a:solidFill>
              <a:ln w="9525">
                <a:solidFill>
                  <a:srgbClr val="00FF00"/>
                </a:solidFill>
                <a:round/>
                <a:headEnd/>
                <a:tailEnd/>
              </a:ln>
            </p:spPr>
            <p:txBody>
              <a:bodyPr/>
              <a:lstStyle/>
              <a:p>
                <a:endParaRPr lang="zh-CN" altLang="en-US"/>
              </a:p>
            </p:txBody>
          </p:sp>
          <p:sp>
            <p:nvSpPr>
              <p:cNvPr id="51427" name="Freeform 227"/>
              <p:cNvSpPr>
                <a:spLocks noEditPoints="1"/>
              </p:cNvSpPr>
              <p:nvPr/>
            </p:nvSpPr>
            <p:spPr bwMode="auto">
              <a:xfrm>
                <a:off x="4543" y="2364"/>
                <a:ext cx="24" cy="24"/>
              </a:xfrm>
              <a:custGeom>
                <a:avLst/>
                <a:gdLst>
                  <a:gd name="T0" fmla="*/ 0 w 24"/>
                  <a:gd name="T1" fmla="*/ 6 h 24"/>
                  <a:gd name="T2" fmla="*/ 0 w 24"/>
                  <a:gd name="T3" fmla="*/ 6 h 24"/>
                  <a:gd name="T4" fmla="*/ 0 w 24"/>
                  <a:gd name="T5" fmla="*/ 6 h 24"/>
                  <a:gd name="T6" fmla="*/ 12 w 24"/>
                  <a:gd name="T7" fmla="*/ 0 h 24"/>
                  <a:gd name="T8" fmla="*/ 6 w 24"/>
                  <a:gd name="T9" fmla="*/ 24 h 24"/>
                  <a:gd name="T10" fmla="*/ 18 w 24"/>
                  <a:gd name="T11" fmla="*/ 18 h 24"/>
                  <a:gd name="T12" fmla="*/ 24 w 24"/>
                  <a:gd name="T13" fmla="*/ 12 h 24"/>
                  <a:gd name="T14" fmla="*/ 24 w 24"/>
                  <a:gd name="T15" fmla="*/ 12 h 24"/>
                  <a:gd name="T16" fmla="*/ 24 w 24"/>
                  <a:gd name="T17" fmla="*/ 12 h 24"/>
                  <a:gd name="T18" fmla="*/ 0 w 24"/>
                  <a:gd name="T19" fmla="*/ 6 h 24"/>
                  <a:gd name="T20" fmla="*/ 24 w 24"/>
                  <a:gd name="T21" fmla="*/ 12 h 24"/>
                  <a:gd name="T22" fmla="*/ 24 w 24"/>
                  <a:gd name="T23" fmla="*/ 6 h 24"/>
                  <a:gd name="T24" fmla="*/ 24 w 24"/>
                  <a:gd name="T25" fmla="*/ 6 h 24"/>
                  <a:gd name="T26" fmla="*/ 12 w 24"/>
                  <a:gd name="T27" fmla="*/ 6 h 24"/>
                  <a:gd name="T28" fmla="*/ 24 w 24"/>
                  <a:gd name="T2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4">
                    <a:moveTo>
                      <a:pt x="0" y="6"/>
                    </a:moveTo>
                    <a:lnTo>
                      <a:pt x="0" y="6"/>
                    </a:lnTo>
                    <a:lnTo>
                      <a:pt x="0" y="6"/>
                    </a:lnTo>
                    <a:lnTo>
                      <a:pt x="12" y="0"/>
                    </a:lnTo>
                    <a:lnTo>
                      <a:pt x="6" y="24"/>
                    </a:lnTo>
                    <a:lnTo>
                      <a:pt x="18" y="18"/>
                    </a:lnTo>
                    <a:lnTo>
                      <a:pt x="24" y="12"/>
                    </a:lnTo>
                    <a:lnTo>
                      <a:pt x="24" y="12"/>
                    </a:lnTo>
                    <a:lnTo>
                      <a:pt x="24" y="12"/>
                    </a:lnTo>
                    <a:lnTo>
                      <a:pt x="0" y="6"/>
                    </a:lnTo>
                    <a:close/>
                    <a:moveTo>
                      <a:pt x="24" y="12"/>
                    </a:moveTo>
                    <a:lnTo>
                      <a:pt x="24" y="6"/>
                    </a:lnTo>
                    <a:lnTo>
                      <a:pt x="24" y="6"/>
                    </a:lnTo>
                    <a:lnTo>
                      <a:pt x="12" y="6"/>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51428" name="Freeform 228"/>
              <p:cNvSpPr>
                <a:spLocks noEditPoints="1"/>
              </p:cNvSpPr>
              <p:nvPr/>
            </p:nvSpPr>
            <p:spPr bwMode="auto">
              <a:xfrm>
                <a:off x="4549" y="2364"/>
                <a:ext cx="12" cy="24"/>
              </a:xfrm>
              <a:custGeom>
                <a:avLst/>
                <a:gdLst>
                  <a:gd name="T0" fmla="*/ 0 w 12"/>
                  <a:gd name="T1" fmla="*/ 24 h 24"/>
                  <a:gd name="T2" fmla="*/ 0 w 12"/>
                  <a:gd name="T3" fmla="*/ 24 h 24"/>
                  <a:gd name="T4" fmla="*/ 12 w 12"/>
                  <a:gd name="T5" fmla="*/ 0 h 24"/>
                  <a:gd name="T6" fmla="*/ 6 w 12"/>
                  <a:gd name="T7" fmla="*/ 0 h 24"/>
                  <a:gd name="T8" fmla="*/ 0 w 12"/>
                  <a:gd name="T9" fmla="*/ 24 h 24"/>
                  <a:gd name="T10" fmla="*/ 6 w 12"/>
                  <a:gd name="T11" fmla="*/ 0 h 24"/>
                  <a:gd name="T12" fmla="*/ 0 w 12"/>
                  <a:gd name="T13" fmla="*/ 24 h 24"/>
                  <a:gd name="T14" fmla="*/ 6 w 12"/>
                  <a:gd name="T15" fmla="*/ 0 h 24"/>
                  <a:gd name="T16" fmla="*/ 0 w 12"/>
                  <a:gd name="T17" fmla="*/ 24 h 24"/>
                  <a:gd name="T18" fmla="*/ 6 w 12"/>
                  <a:gd name="T19"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4">
                    <a:moveTo>
                      <a:pt x="0" y="24"/>
                    </a:moveTo>
                    <a:lnTo>
                      <a:pt x="0" y="24"/>
                    </a:lnTo>
                    <a:lnTo>
                      <a:pt x="12" y="0"/>
                    </a:lnTo>
                    <a:lnTo>
                      <a:pt x="6" y="0"/>
                    </a:lnTo>
                    <a:lnTo>
                      <a:pt x="0" y="24"/>
                    </a:lnTo>
                    <a:close/>
                    <a:moveTo>
                      <a:pt x="6" y="0"/>
                    </a:moveTo>
                    <a:lnTo>
                      <a:pt x="0" y="24"/>
                    </a:lnTo>
                    <a:lnTo>
                      <a:pt x="6" y="0"/>
                    </a:lnTo>
                    <a:lnTo>
                      <a:pt x="0" y="24"/>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429" name="Freeform 229"/>
              <p:cNvSpPr>
                <a:spLocks/>
              </p:cNvSpPr>
              <p:nvPr/>
            </p:nvSpPr>
            <p:spPr bwMode="auto">
              <a:xfrm>
                <a:off x="4549" y="2376"/>
                <a:ext cx="18" cy="18"/>
              </a:xfrm>
              <a:custGeom>
                <a:avLst/>
                <a:gdLst>
                  <a:gd name="T0" fmla="*/ 0 w 18"/>
                  <a:gd name="T1" fmla="*/ 12 h 18"/>
                  <a:gd name="T2" fmla="*/ 18 w 18"/>
                  <a:gd name="T3" fmla="*/ 18 h 18"/>
                  <a:gd name="T4" fmla="*/ 18 w 18"/>
                  <a:gd name="T5" fmla="*/ 6 h 18"/>
                  <a:gd name="T6" fmla="*/ 6 w 18"/>
                  <a:gd name="T7" fmla="*/ 0 h 18"/>
                  <a:gd name="T8" fmla="*/ 0 w 18"/>
                  <a:gd name="T9" fmla="*/ 12 h 18"/>
                </a:gdLst>
                <a:ahLst/>
                <a:cxnLst>
                  <a:cxn ang="0">
                    <a:pos x="T0" y="T1"/>
                  </a:cxn>
                  <a:cxn ang="0">
                    <a:pos x="T2" y="T3"/>
                  </a:cxn>
                  <a:cxn ang="0">
                    <a:pos x="T4" y="T5"/>
                  </a:cxn>
                  <a:cxn ang="0">
                    <a:pos x="T6" y="T7"/>
                  </a:cxn>
                  <a:cxn ang="0">
                    <a:pos x="T8" y="T9"/>
                  </a:cxn>
                </a:cxnLst>
                <a:rect l="0" t="0" r="r" b="b"/>
                <a:pathLst>
                  <a:path w="18" h="18">
                    <a:moveTo>
                      <a:pt x="0" y="12"/>
                    </a:moveTo>
                    <a:lnTo>
                      <a:pt x="18" y="18"/>
                    </a:lnTo>
                    <a:lnTo>
                      <a:pt x="18" y="6"/>
                    </a:lnTo>
                    <a:lnTo>
                      <a:pt x="6" y="0"/>
                    </a:lnTo>
                    <a:lnTo>
                      <a:pt x="0" y="12"/>
                    </a:lnTo>
                    <a:close/>
                  </a:path>
                </a:pathLst>
              </a:custGeom>
              <a:solidFill>
                <a:srgbClr val="00FF00"/>
              </a:solidFill>
              <a:ln w="9525">
                <a:solidFill>
                  <a:srgbClr val="00FF00"/>
                </a:solidFill>
                <a:round/>
                <a:headEnd/>
                <a:tailEnd/>
              </a:ln>
            </p:spPr>
            <p:txBody>
              <a:bodyPr/>
              <a:lstStyle/>
              <a:p>
                <a:endParaRPr lang="zh-CN" altLang="en-US"/>
              </a:p>
            </p:txBody>
          </p:sp>
          <p:sp>
            <p:nvSpPr>
              <p:cNvPr id="51430" name="Freeform 230"/>
              <p:cNvSpPr>
                <a:spLocks/>
              </p:cNvSpPr>
              <p:nvPr/>
            </p:nvSpPr>
            <p:spPr bwMode="auto">
              <a:xfrm>
                <a:off x="4531" y="2346"/>
                <a:ext cx="18" cy="30"/>
              </a:xfrm>
              <a:custGeom>
                <a:avLst/>
                <a:gdLst>
                  <a:gd name="T0" fmla="*/ 12 w 18"/>
                  <a:gd name="T1" fmla="*/ 30 h 30"/>
                  <a:gd name="T2" fmla="*/ 6 w 18"/>
                  <a:gd name="T3" fmla="*/ 6 h 30"/>
                  <a:gd name="T4" fmla="*/ 6 w 18"/>
                  <a:gd name="T5" fmla="*/ 6 h 30"/>
                  <a:gd name="T6" fmla="*/ 0 w 18"/>
                  <a:gd name="T7" fmla="*/ 0 h 30"/>
                  <a:gd name="T8" fmla="*/ 6 w 18"/>
                  <a:gd name="T9" fmla="*/ 0 h 30"/>
                  <a:gd name="T10" fmla="*/ 6 w 18"/>
                  <a:gd name="T11" fmla="*/ 6 h 30"/>
                  <a:gd name="T12" fmla="*/ 6 w 18"/>
                  <a:gd name="T13" fmla="*/ 12 h 30"/>
                  <a:gd name="T14" fmla="*/ 12 w 18"/>
                  <a:gd name="T15" fmla="*/ 18 h 30"/>
                  <a:gd name="T16" fmla="*/ 12 w 18"/>
                  <a:gd name="T17" fmla="*/ 24 h 30"/>
                  <a:gd name="T18" fmla="*/ 12 w 18"/>
                  <a:gd name="T19" fmla="*/ 24 h 30"/>
                  <a:gd name="T20" fmla="*/ 12 w 18"/>
                  <a:gd name="T21" fmla="*/ 30 h 30"/>
                  <a:gd name="T22" fmla="*/ 18 w 18"/>
                  <a:gd name="T23" fmla="*/ 30 h 30"/>
                  <a:gd name="T24" fmla="*/ 12 w 18"/>
                  <a:gd name="T25" fmla="*/ 30 h 30"/>
                  <a:gd name="T26" fmla="*/ 12 w 18"/>
                  <a:gd name="T2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30">
                    <a:moveTo>
                      <a:pt x="12" y="30"/>
                    </a:moveTo>
                    <a:lnTo>
                      <a:pt x="6" y="6"/>
                    </a:lnTo>
                    <a:lnTo>
                      <a:pt x="6" y="6"/>
                    </a:lnTo>
                    <a:lnTo>
                      <a:pt x="0" y="0"/>
                    </a:lnTo>
                    <a:lnTo>
                      <a:pt x="6" y="0"/>
                    </a:lnTo>
                    <a:lnTo>
                      <a:pt x="6" y="6"/>
                    </a:lnTo>
                    <a:lnTo>
                      <a:pt x="6" y="12"/>
                    </a:lnTo>
                    <a:lnTo>
                      <a:pt x="12" y="18"/>
                    </a:lnTo>
                    <a:lnTo>
                      <a:pt x="12" y="24"/>
                    </a:lnTo>
                    <a:lnTo>
                      <a:pt x="12" y="24"/>
                    </a:lnTo>
                    <a:lnTo>
                      <a:pt x="12" y="30"/>
                    </a:lnTo>
                    <a:lnTo>
                      <a:pt x="18" y="30"/>
                    </a:lnTo>
                    <a:lnTo>
                      <a:pt x="12" y="30"/>
                    </a:lnTo>
                    <a:lnTo>
                      <a:pt x="12" y="30"/>
                    </a:lnTo>
                    <a:close/>
                  </a:path>
                </a:pathLst>
              </a:custGeom>
              <a:solidFill>
                <a:srgbClr val="00FF00"/>
              </a:solidFill>
              <a:ln w="9525">
                <a:solidFill>
                  <a:srgbClr val="00FF00"/>
                </a:solidFill>
                <a:round/>
                <a:headEnd/>
                <a:tailEnd/>
              </a:ln>
            </p:spPr>
            <p:txBody>
              <a:bodyPr/>
              <a:lstStyle/>
              <a:p>
                <a:endParaRPr lang="zh-CN" altLang="en-US"/>
              </a:p>
            </p:txBody>
          </p:sp>
          <p:sp>
            <p:nvSpPr>
              <p:cNvPr id="51431" name="Freeform 231"/>
              <p:cNvSpPr>
                <a:spLocks/>
              </p:cNvSpPr>
              <p:nvPr/>
            </p:nvSpPr>
            <p:spPr bwMode="auto">
              <a:xfrm>
                <a:off x="4525" y="2352"/>
                <a:ext cx="30" cy="30"/>
              </a:xfrm>
              <a:custGeom>
                <a:avLst/>
                <a:gdLst>
                  <a:gd name="T0" fmla="*/ 30 w 30"/>
                  <a:gd name="T1" fmla="*/ 24 h 30"/>
                  <a:gd name="T2" fmla="*/ 24 w 30"/>
                  <a:gd name="T3" fmla="*/ 0 h 30"/>
                  <a:gd name="T4" fmla="*/ 0 w 30"/>
                  <a:gd name="T5" fmla="*/ 6 h 30"/>
                  <a:gd name="T6" fmla="*/ 6 w 30"/>
                  <a:gd name="T7" fmla="*/ 30 h 30"/>
                  <a:gd name="T8" fmla="*/ 30 w 30"/>
                  <a:gd name="T9" fmla="*/ 24 h 30"/>
                </a:gdLst>
                <a:ahLst/>
                <a:cxnLst>
                  <a:cxn ang="0">
                    <a:pos x="T0" y="T1"/>
                  </a:cxn>
                  <a:cxn ang="0">
                    <a:pos x="T2" y="T3"/>
                  </a:cxn>
                  <a:cxn ang="0">
                    <a:pos x="T4" y="T5"/>
                  </a:cxn>
                  <a:cxn ang="0">
                    <a:pos x="T6" y="T7"/>
                  </a:cxn>
                  <a:cxn ang="0">
                    <a:pos x="T8" y="T9"/>
                  </a:cxn>
                </a:cxnLst>
                <a:rect l="0" t="0" r="r" b="b"/>
                <a:pathLst>
                  <a:path w="30" h="30">
                    <a:moveTo>
                      <a:pt x="30" y="24"/>
                    </a:moveTo>
                    <a:lnTo>
                      <a:pt x="24" y="0"/>
                    </a:lnTo>
                    <a:lnTo>
                      <a:pt x="0" y="6"/>
                    </a:lnTo>
                    <a:lnTo>
                      <a:pt x="6" y="30"/>
                    </a:lnTo>
                    <a:lnTo>
                      <a:pt x="30" y="24"/>
                    </a:lnTo>
                    <a:close/>
                  </a:path>
                </a:pathLst>
              </a:custGeom>
              <a:solidFill>
                <a:srgbClr val="00FF00"/>
              </a:solidFill>
              <a:ln w="9525">
                <a:solidFill>
                  <a:srgbClr val="00FF00"/>
                </a:solidFill>
                <a:round/>
                <a:headEnd/>
                <a:tailEnd/>
              </a:ln>
            </p:spPr>
            <p:txBody>
              <a:bodyPr/>
              <a:lstStyle/>
              <a:p>
                <a:endParaRPr lang="zh-CN" altLang="en-US"/>
              </a:p>
            </p:txBody>
          </p:sp>
          <p:sp>
            <p:nvSpPr>
              <p:cNvPr id="51432" name="Freeform 232"/>
              <p:cNvSpPr>
                <a:spLocks noEditPoints="1"/>
              </p:cNvSpPr>
              <p:nvPr/>
            </p:nvSpPr>
            <p:spPr bwMode="auto">
              <a:xfrm>
                <a:off x="4525" y="2334"/>
                <a:ext cx="24" cy="24"/>
              </a:xfrm>
              <a:custGeom>
                <a:avLst/>
                <a:gdLst>
                  <a:gd name="T0" fmla="*/ 24 w 24"/>
                  <a:gd name="T1" fmla="*/ 18 h 24"/>
                  <a:gd name="T2" fmla="*/ 24 w 24"/>
                  <a:gd name="T3" fmla="*/ 12 h 24"/>
                  <a:gd name="T4" fmla="*/ 24 w 24"/>
                  <a:gd name="T5" fmla="*/ 6 h 24"/>
                  <a:gd name="T6" fmla="*/ 12 w 24"/>
                  <a:gd name="T7" fmla="*/ 0 h 24"/>
                  <a:gd name="T8" fmla="*/ 6 w 24"/>
                  <a:gd name="T9" fmla="*/ 24 h 24"/>
                  <a:gd name="T10" fmla="*/ 0 w 24"/>
                  <a:gd name="T11" fmla="*/ 18 h 24"/>
                  <a:gd name="T12" fmla="*/ 0 w 24"/>
                  <a:gd name="T13" fmla="*/ 18 h 24"/>
                  <a:gd name="T14" fmla="*/ 0 w 24"/>
                  <a:gd name="T15" fmla="*/ 24 h 24"/>
                  <a:gd name="T16" fmla="*/ 24 w 24"/>
                  <a:gd name="T17" fmla="*/ 18 h 24"/>
                  <a:gd name="T18" fmla="*/ 0 w 24"/>
                  <a:gd name="T19" fmla="*/ 24 h 24"/>
                  <a:gd name="T20" fmla="*/ 0 w 24"/>
                  <a:gd name="T21" fmla="*/ 24 h 24"/>
                  <a:gd name="T22" fmla="*/ 0 w 24"/>
                  <a:gd name="T23" fmla="*/ 24 h 24"/>
                  <a:gd name="T24" fmla="*/ 12 w 24"/>
                  <a:gd name="T25" fmla="*/ 18 h 24"/>
                  <a:gd name="T26" fmla="*/ 0 w 24"/>
                  <a:gd name="T2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4">
                    <a:moveTo>
                      <a:pt x="24" y="18"/>
                    </a:moveTo>
                    <a:lnTo>
                      <a:pt x="24" y="12"/>
                    </a:lnTo>
                    <a:lnTo>
                      <a:pt x="24" y="6"/>
                    </a:lnTo>
                    <a:lnTo>
                      <a:pt x="12" y="0"/>
                    </a:lnTo>
                    <a:lnTo>
                      <a:pt x="6" y="24"/>
                    </a:lnTo>
                    <a:lnTo>
                      <a:pt x="0" y="18"/>
                    </a:lnTo>
                    <a:lnTo>
                      <a:pt x="0" y="18"/>
                    </a:lnTo>
                    <a:lnTo>
                      <a:pt x="0" y="24"/>
                    </a:lnTo>
                    <a:lnTo>
                      <a:pt x="24" y="18"/>
                    </a:lnTo>
                    <a:close/>
                    <a:moveTo>
                      <a:pt x="0" y="24"/>
                    </a:moveTo>
                    <a:lnTo>
                      <a:pt x="0" y="24"/>
                    </a:lnTo>
                    <a:lnTo>
                      <a:pt x="0" y="24"/>
                    </a:lnTo>
                    <a:lnTo>
                      <a:pt x="12" y="18"/>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51433" name="Freeform 233"/>
              <p:cNvSpPr>
                <a:spLocks noEditPoints="1"/>
              </p:cNvSpPr>
              <p:nvPr/>
            </p:nvSpPr>
            <p:spPr bwMode="auto">
              <a:xfrm>
                <a:off x="4525" y="2334"/>
                <a:ext cx="24" cy="24"/>
              </a:xfrm>
              <a:custGeom>
                <a:avLst/>
                <a:gdLst>
                  <a:gd name="T0" fmla="*/ 0 w 24"/>
                  <a:gd name="T1" fmla="*/ 18 h 24"/>
                  <a:gd name="T2" fmla="*/ 0 w 24"/>
                  <a:gd name="T3" fmla="*/ 24 h 24"/>
                  <a:gd name="T4" fmla="*/ 0 w 24"/>
                  <a:gd name="T5" fmla="*/ 24 h 24"/>
                  <a:gd name="T6" fmla="*/ 24 w 24"/>
                  <a:gd name="T7" fmla="*/ 18 h 24"/>
                  <a:gd name="T8" fmla="*/ 24 w 24"/>
                  <a:gd name="T9" fmla="*/ 6 h 24"/>
                  <a:gd name="T10" fmla="*/ 18 w 24"/>
                  <a:gd name="T11" fmla="*/ 0 h 24"/>
                  <a:gd name="T12" fmla="*/ 0 w 24"/>
                  <a:gd name="T13" fmla="*/ 18 h 24"/>
                  <a:gd name="T14" fmla="*/ 12 w 24"/>
                  <a:gd name="T15" fmla="*/ 0 h 24"/>
                  <a:gd name="T16" fmla="*/ 0 w 24"/>
                  <a:gd name="T17" fmla="*/ 18 h 24"/>
                  <a:gd name="T18" fmla="*/ 18 w 24"/>
                  <a:gd name="T19" fmla="*/ 0 h 24"/>
                  <a:gd name="T20" fmla="*/ 6 w 24"/>
                  <a:gd name="T21" fmla="*/ 24 h 24"/>
                  <a:gd name="T22" fmla="*/ 12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0" y="18"/>
                    </a:moveTo>
                    <a:lnTo>
                      <a:pt x="0" y="24"/>
                    </a:lnTo>
                    <a:lnTo>
                      <a:pt x="0" y="24"/>
                    </a:lnTo>
                    <a:lnTo>
                      <a:pt x="24" y="18"/>
                    </a:lnTo>
                    <a:lnTo>
                      <a:pt x="24" y="6"/>
                    </a:lnTo>
                    <a:lnTo>
                      <a:pt x="18" y="0"/>
                    </a:lnTo>
                    <a:lnTo>
                      <a:pt x="0" y="18"/>
                    </a:lnTo>
                    <a:close/>
                    <a:moveTo>
                      <a:pt x="12" y="0"/>
                    </a:moveTo>
                    <a:lnTo>
                      <a:pt x="0" y="18"/>
                    </a:lnTo>
                    <a:lnTo>
                      <a:pt x="18" y="0"/>
                    </a:lnTo>
                    <a:lnTo>
                      <a:pt x="6" y="24"/>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434" name="Freeform 234"/>
              <p:cNvSpPr>
                <a:spLocks noEditPoints="1"/>
              </p:cNvSpPr>
              <p:nvPr/>
            </p:nvSpPr>
            <p:spPr bwMode="auto">
              <a:xfrm>
                <a:off x="4525" y="2352"/>
                <a:ext cx="30" cy="24"/>
              </a:xfrm>
              <a:custGeom>
                <a:avLst/>
                <a:gdLst>
                  <a:gd name="T0" fmla="*/ 6 w 30"/>
                  <a:gd name="T1" fmla="*/ 6 h 24"/>
                  <a:gd name="T2" fmla="*/ 6 w 30"/>
                  <a:gd name="T3" fmla="*/ 6 h 24"/>
                  <a:gd name="T4" fmla="*/ 6 w 30"/>
                  <a:gd name="T5" fmla="*/ 12 h 24"/>
                  <a:gd name="T6" fmla="*/ 6 w 30"/>
                  <a:gd name="T7" fmla="*/ 18 h 24"/>
                  <a:gd name="T8" fmla="*/ 6 w 30"/>
                  <a:gd name="T9" fmla="*/ 18 h 24"/>
                  <a:gd name="T10" fmla="*/ 30 w 30"/>
                  <a:gd name="T11" fmla="*/ 24 h 24"/>
                  <a:gd name="T12" fmla="*/ 30 w 30"/>
                  <a:gd name="T13" fmla="*/ 6 h 24"/>
                  <a:gd name="T14" fmla="*/ 24 w 30"/>
                  <a:gd name="T15" fmla="*/ 0 h 24"/>
                  <a:gd name="T16" fmla="*/ 6 w 30"/>
                  <a:gd name="T17" fmla="*/ 6 h 24"/>
                  <a:gd name="T18" fmla="*/ 0 w 30"/>
                  <a:gd name="T19" fmla="*/ 6 h 24"/>
                  <a:gd name="T20" fmla="*/ 0 w 30"/>
                  <a:gd name="T21" fmla="*/ 6 h 24"/>
                  <a:gd name="T22" fmla="*/ 6 w 30"/>
                  <a:gd name="T23" fmla="*/ 6 h 24"/>
                  <a:gd name="T24" fmla="*/ 12 w 30"/>
                  <a:gd name="T25" fmla="*/ 0 h 24"/>
                  <a:gd name="T26" fmla="*/ 0 w 30"/>
                  <a:gd name="T27"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24">
                    <a:moveTo>
                      <a:pt x="6" y="6"/>
                    </a:moveTo>
                    <a:lnTo>
                      <a:pt x="6" y="6"/>
                    </a:lnTo>
                    <a:lnTo>
                      <a:pt x="6" y="12"/>
                    </a:lnTo>
                    <a:lnTo>
                      <a:pt x="6" y="18"/>
                    </a:lnTo>
                    <a:lnTo>
                      <a:pt x="6" y="18"/>
                    </a:lnTo>
                    <a:lnTo>
                      <a:pt x="30" y="24"/>
                    </a:lnTo>
                    <a:lnTo>
                      <a:pt x="30" y="6"/>
                    </a:lnTo>
                    <a:lnTo>
                      <a:pt x="24" y="0"/>
                    </a:lnTo>
                    <a:lnTo>
                      <a:pt x="6" y="6"/>
                    </a:lnTo>
                    <a:close/>
                    <a:moveTo>
                      <a:pt x="0" y="6"/>
                    </a:moveTo>
                    <a:lnTo>
                      <a:pt x="0" y="6"/>
                    </a:lnTo>
                    <a:lnTo>
                      <a:pt x="6" y="6"/>
                    </a:lnTo>
                    <a:lnTo>
                      <a:pt x="12" y="0"/>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435" name="Freeform 235"/>
              <p:cNvSpPr>
                <a:spLocks noEditPoints="1"/>
              </p:cNvSpPr>
              <p:nvPr/>
            </p:nvSpPr>
            <p:spPr bwMode="auto">
              <a:xfrm>
                <a:off x="4531" y="2364"/>
                <a:ext cx="30" cy="24"/>
              </a:xfrm>
              <a:custGeom>
                <a:avLst/>
                <a:gdLst>
                  <a:gd name="T0" fmla="*/ 0 w 30"/>
                  <a:gd name="T1" fmla="*/ 12 h 24"/>
                  <a:gd name="T2" fmla="*/ 0 w 30"/>
                  <a:gd name="T3" fmla="*/ 12 h 24"/>
                  <a:gd name="T4" fmla="*/ 0 w 30"/>
                  <a:gd name="T5" fmla="*/ 12 h 24"/>
                  <a:gd name="T6" fmla="*/ 6 w 30"/>
                  <a:gd name="T7" fmla="*/ 18 h 24"/>
                  <a:gd name="T8" fmla="*/ 18 w 30"/>
                  <a:gd name="T9" fmla="*/ 24 h 24"/>
                  <a:gd name="T10" fmla="*/ 12 w 30"/>
                  <a:gd name="T11" fmla="*/ 0 h 24"/>
                  <a:gd name="T12" fmla="*/ 24 w 30"/>
                  <a:gd name="T13" fmla="*/ 6 h 24"/>
                  <a:gd name="T14" fmla="*/ 30 w 30"/>
                  <a:gd name="T15" fmla="*/ 6 h 24"/>
                  <a:gd name="T16" fmla="*/ 24 w 30"/>
                  <a:gd name="T17" fmla="*/ 6 h 24"/>
                  <a:gd name="T18" fmla="*/ 0 w 30"/>
                  <a:gd name="T19" fmla="*/ 12 h 24"/>
                  <a:gd name="T20" fmla="*/ 0 w 30"/>
                  <a:gd name="T21" fmla="*/ 6 h 24"/>
                  <a:gd name="T22" fmla="*/ 0 w 30"/>
                  <a:gd name="T23" fmla="*/ 6 h 24"/>
                  <a:gd name="T24" fmla="*/ 0 w 30"/>
                  <a:gd name="T25" fmla="*/ 12 h 24"/>
                  <a:gd name="T26" fmla="*/ 12 w 30"/>
                  <a:gd name="T27" fmla="*/ 6 h 24"/>
                  <a:gd name="T28" fmla="*/ 0 w 30"/>
                  <a:gd name="T29"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24">
                    <a:moveTo>
                      <a:pt x="0" y="12"/>
                    </a:moveTo>
                    <a:lnTo>
                      <a:pt x="0" y="12"/>
                    </a:lnTo>
                    <a:lnTo>
                      <a:pt x="0" y="12"/>
                    </a:lnTo>
                    <a:lnTo>
                      <a:pt x="6" y="18"/>
                    </a:lnTo>
                    <a:lnTo>
                      <a:pt x="18" y="24"/>
                    </a:lnTo>
                    <a:lnTo>
                      <a:pt x="12" y="0"/>
                    </a:lnTo>
                    <a:lnTo>
                      <a:pt x="24" y="6"/>
                    </a:lnTo>
                    <a:lnTo>
                      <a:pt x="30" y="6"/>
                    </a:lnTo>
                    <a:lnTo>
                      <a:pt x="24" y="6"/>
                    </a:lnTo>
                    <a:lnTo>
                      <a:pt x="0" y="12"/>
                    </a:lnTo>
                    <a:close/>
                    <a:moveTo>
                      <a:pt x="0" y="6"/>
                    </a:moveTo>
                    <a:lnTo>
                      <a:pt x="0" y="6"/>
                    </a:lnTo>
                    <a:lnTo>
                      <a:pt x="0" y="12"/>
                    </a:lnTo>
                    <a:lnTo>
                      <a:pt x="12" y="6"/>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436" name="Freeform 236"/>
              <p:cNvSpPr>
                <a:spLocks noEditPoints="1"/>
              </p:cNvSpPr>
              <p:nvPr/>
            </p:nvSpPr>
            <p:spPr bwMode="auto">
              <a:xfrm>
                <a:off x="4537" y="2364"/>
                <a:ext cx="18" cy="24"/>
              </a:xfrm>
              <a:custGeom>
                <a:avLst/>
                <a:gdLst>
                  <a:gd name="T0" fmla="*/ 6 w 18"/>
                  <a:gd name="T1" fmla="*/ 0 h 24"/>
                  <a:gd name="T2" fmla="*/ 0 w 18"/>
                  <a:gd name="T3" fmla="*/ 0 h 24"/>
                  <a:gd name="T4" fmla="*/ 12 w 18"/>
                  <a:gd name="T5" fmla="*/ 24 h 24"/>
                  <a:gd name="T6" fmla="*/ 18 w 18"/>
                  <a:gd name="T7" fmla="*/ 24 h 24"/>
                  <a:gd name="T8" fmla="*/ 6 w 18"/>
                  <a:gd name="T9" fmla="*/ 0 h 24"/>
                  <a:gd name="T10" fmla="*/ 12 w 18"/>
                  <a:gd name="T11" fmla="*/ 24 h 24"/>
                  <a:gd name="T12" fmla="*/ 6 w 18"/>
                  <a:gd name="T13" fmla="*/ 0 h 24"/>
                  <a:gd name="T14" fmla="*/ 18 w 18"/>
                  <a:gd name="T15" fmla="*/ 24 h 24"/>
                  <a:gd name="T16" fmla="*/ 6 w 18"/>
                  <a:gd name="T17" fmla="*/ 0 h 24"/>
                  <a:gd name="T18" fmla="*/ 12 w 18"/>
                  <a:gd name="T1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24">
                    <a:moveTo>
                      <a:pt x="6" y="0"/>
                    </a:moveTo>
                    <a:lnTo>
                      <a:pt x="0" y="0"/>
                    </a:lnTo>
                    <a:lnTo>
                      <a:pt x="12" y="24"/>
                    </a:lnTo>
                    <a:lnTo>
                      <a:pt x="18" y="24"/>
                    </a:lnTo>
                    <a:lnTo>
                      <a:pt x="6" y="0"/>
                    </a:lnTo>
                    <a:close/>
                    <a:moveTo>
                      <a:pt x="12" y="24"/>
                    </a:moveTo>
                    <a:lnTo>
                      <a:pt x="6" y="0"/>
                    </a:lnTo>
                    <a:lnTo>
                      <a:pt x="18" y="24"/>
                    </a:lnTo>
                    <a:lnTo>
                      <a:pt x="6" y="0"/>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51437" name="Freeform 237"/>
              <p:cNvSpPr>
                <a:spLocks/>
              </p:cNvSpPr>
              <p:nvPr/>
            </p:nvSpPr>
            <p:spPr bwMode="auto">
              <a:xfrm>
                <a:off x="4531" y="2376"/>
                <a:ext cx="18" cy="18"/>
              </a:xfrm>
              <a:custGeom>
                <a:avLst/>
                <a:gdLst>
                  <a:gd name="T0" fmla="*/ 0 w 18"/>
                  <a:gd name="T1" fmla="*/ 6 h 18"/>
                  <a:gd name="T2" fmla="*/ 6 w 18"/>
                  <a:gd name="T3" fmla="*/ 18 h 18"/>
                  <a:gd name="T4" fmla="*/ 18 w 18"/>
                  <a:gd name="T5" fmla="*/ 12 h 18"/>
                  <a:gd name="T6" fmla="*/ 12 w 18"/>
                  <a:gd name="T7" fmla="*/ 0 h 18"/>
                  <a:gd name="T8" fmla="*/ 0 w 18"/>
                  <a:gd name="T9" fmla="*/ 6 h 18"/>
                </a:gdLst>
                <a:ahLst/>
                <a:cxnLst>
                  <a:cxn ang="0">
                    <a:pos x="T0" y="T1"/>
                  </a:cxn>
                  <a:cxn ang="0">
                    <a:pos x="T2" y="T3"/>
                  </a:cxn>
                  <a:cxn ang="0">
                    <a:pos x="T4" y="T5"/>
                  </a:cxn>
                  <a:cxn ang="0">
                    <a:pos x="T6" y="T7"/>
                  </a:cxn>
                  <a:cxn ang="0">
                    <a:pos x="T8" y="T9"/>
                  </a:cxn>
                </a:cxnLst>
                <a:rect l="0" t="0" r="r" b="b"/>
                <a:pathLst>
                  <a:path w="18" h="18">
                    <a:moveTo>
                      <a:pt x="0" y="6"/>
                    </a:moveTo>
                    <a:lnTo>
                      <a:pt x="6" y="18"/>
                    </a:lnTo>
                    <a:lnTo>
                      <a:pt x="18" y="12"/>
                    </a:lnTo>
                    <a:lnTo>
                      <a:pt x="12" y="0"/>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438" name="Freeform 238"/>
              <p:cNvSpPr>
                <a:spLocks/>
              </p:cNvSpPr>
              <p:nvPr/>
            </p:nvSpPr>
            <p:spPr bwMode="auto">
              <a:xfrm>
                <a:off x="4501" y="2459"/>
                <a:ext cx="48" cy="78"/>
              </a:xfrm>
              <a:custGeom>
                <a:avLst/>
                <a:gdLst>
                  <a:gd name="T0" fmla="*/ 48 w 48"/>
                  <a:gd name="T1" fmla="*/ 0 h 78"/>
                  <a:gd name="T2" fmla="*/ 48 w 48"/>
                  <a:gd name="T3" fmla="*/ 0 h 78"/>
                  <a:gd name="T4" fmla="*/ 42 w 48"/>
                  <a:gd name="T5" fmla="*/ 12 h 78"/>
                  <a:gd name="T6" fmla="*/ 36 w 48"/>
                  <a:gd name="T7" fmla="*/ 24 h 78"/>
                  <a:gd name="T8" fmla="*/ 30 w 48"/>
                  <a:gd name="T9" fmla="*/ 36 h 78"/>
                  <a:gd name="T10" fmla="*/ 24 w 48"/>
                  <a:gd name="T11" fmla="*/ 42 h 78"/>
                  <a:gd name="T12" fmla="*/ 18 w 48"/>
                  <a:gd name="T13" fmla="*/ 54 h 78"/>
                  <a:gd name="T14" fmla="*/ 12 w 48"/>
                  <a:gd name="T15" fmla="*/ 60 h 78"/>
                  <a:gd name="T16" fmla="*/ 6 w 48"/>
                  <a:gd name="T17" fmla="*/ 72 h 78"/>
                  <a:gd name="T18" fmla="*/ 0 w 48"/>
                  <a:gd name="T19" fmla="*/ 78 h 78"/>
                  <a:gd name="T20" fmla="*/ 0 w 48"/>
                  <a:gd name="T21" fmla="*/ 78 h 78"/>
                  <a:gd name="T22" fmla="*/ 0 w 48"/>
                  <a:gd name="T23" fmla="*/ 78 h 78"/>
                  <a:gd name="T24" fmla="*/ 6 w 48"/>
                  <a:gd name="T25" fmla="*/ 72 h 78"/>
                  <a:gd name="T26" fmla="*/ 12 w 48"/>
                  <a:gd name="T27" fmla="*/ 60 h 78"/>
                  <a:gd name="T28" fmla="*/ 18 w 48"/>
                  <a:gd name="T29" fmla="*/ 54 h 78"/>
                  <a:gd name="T30" fmla="*/ 24 w 48"/>
                  <a:gd name="T31" fmla="*/ 42 h 78"/>
                  <a:gd name="T32" fmla="*/ 36 w 48"/>
                  <a:gd name="T33" fmla="*/ 30 h 78"/>
                  <a:gd name="T34" fmla="*/ 42 w 48"/>
                  <a:gd name="T35" fmla="*/ 18 h 78"/>
                  <a:gd name="T36" fmla="*/ 48 w 48"/>
                  <a:gd name="T37" fmla="*/ 12 h 78"/>
                  <a:gd name="T38" fmla="*/ 48 w 48"/>
                  <a:gd name="T39" fmla="*/ 0 h 78"/>
                  <a:gd name="T40" fmla="*/ 48 w 48"/>
                  <a:gd name="T41" fmla="*/ 0 h 78"/>
                  <a:gd name="T42" fmla="*/ 48 w 48"/>
                  <a:gd name="T43" fmla="*/ 0 h 78"/>
                  <a:gd name="T44" fmla="*/ 48 w 48"/>
                  <a:gd name="T45" fmla="*/ 0 h 78"/>
                  <a:gd name="T46" fmla="*/ 48 w 48"/>
                  <a:gd name="T4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78">
                    <a:moveTo>
                      <a:pt x="48" y="0"/>
                    </a:moveTo>
                    <a:lnTo>
                      <a:pt x="48" y="0"/>
                    </a:lnTo>
                    <a:lnTo>
                      <a:pt x="42" y="12"/>
                    </a:lnTo>
                    <a:lnTo>
                      <a:pt x="36" y="24"/>
                    </a:lnTo>
                    <a:lnTo>
                      <a:pt x="30" y="36"/>
                    </a:lnTo>
                    <a:lnTo>
                      <a:pt x="24" y="42"/>
                    </a:lnTo>
                    <a:lnTo>
                      <a:pt x="18" y="54"/>
                    </a:lnTo>
                    <a:lnTo>
                      <a:pt x="12" y="60"/>
                    </a:lnTo>
                    <a:lnTo>
                      <a:pt x="6" y="72"/>
                    </a:lnTo>
                    <a:lnTo>
                      <a:pt x="0" y="78"/>
                    </a:lnTo>
                    <a:lnTo>
                      <a:pt x="0" y="78"/>
                    </a:lnTo>
                    <a:lnTo>
                      <a:pt x="0" y="78"/>
                    </a:lnTo>
                    <a:lnTo>
                      <a:pt x="6" y="72"/>
                    </a:lnTo>
                    <a:lnTo>
                      <a:pt x="12" y="60"/>
                    </a:lnTo>
                    <a:lnTo>
                      <a:pt x="18" y="54"/>
                    </a:lnTo>
                    <a:lnTo>
                      <a:pt x="24" y="42"/>
                    </a:lnTo>
                    <a:lnTo>
                      <a:pt x="36" y="30"/>
                    </a:lnTo>
                    <a:lnTo>
                      <a:pt x="42" y="18"/>
                    </a:lnTo>
                    <a:lnTo>
                      <a:pt x="48" y="12"/>
                    </a:lnTo>
                    <a:lnTo>
                      <a:pt x="48" y="0"/>
                    </a:lnTo>
                    <a:lnTo>
                      <a:pt x="48" y="0"/>
                    </a:lnTo>
                    <a:lnTo>
                      <a:pt x="48" y="0"/>
                    </a:lnTo>
                    <a:lnTo>
                      <a:pt x="48" y="0"/>
                    </a:lnTo>
                    <a:lnTo>
                      <a:pt x="48" y="0"/>
                    </a:lnTo>
                    <a:close/>
                  </a:path>
                </a:pathLst>
              </a:custGeom>
              <a:solidFill>
                <a:srgbClr val="00FF00"/>
              </a:solidFill>
              <a:ln w="9525">
                <a:solidFill>
                  <a:srgbClr val="00FF00"/>
                </a:solidFill>
                <a:round/>
                <a:headEnd/>
                <a:tailEnd/>
              </a:ln>
            </p:spPr>
            <p:txBody>
              <a:bodyPr/>
              <a:lstStyle/>
              <a:p>
                <a:endParaRPr lang="zh-CN" altLang="en-US"/>
              </a:p>
            </p:txBody>
          </p:sp>
          <p:sp>
            <p:nvSpPr>
              <p:cNvPr id="51439" name="Freeform 239"/>
              <p:cNvSpPr>
                <a:spLocks/>
              </p:cNvSpPr>
              <p:nvPr/>
            </p:nvSpPr>
            <p:spPr bwMode="auto">
              <a:xfrm>
                <a:off x="4555" y="2459"/>
                <a:ext cx="48" cy="78"/>
              </a:xfrm>
              <a:custGeom>
                <a:avLst/>
                <a:gdLst>
                  <a:gd name="T0" fmla="*/ 0 w 48"/>
                  <a:gd name="T1" fmla="*/ 0 h 78"/>
                  <a:gd name="T2" fmla="*/ 0 w 48"/>
                  <a:gd name="T3" fmla="*/ 0 h 78"/>
                  <a:gd name="T4" fmla="*/ 6 w 48"/>
                  <a:gd name="T5" fmla="*/ 12 h 78"/>
                  <a:gd name="T6" fmla="*/ 12 w 48"/>
                  <a:gd name="T7" fmla="*/ 24 h 78"/>
                  <a:gd name="T8" fmla="*/ 18 w 48"/>
                  <a:gd name="T9" fmla="*/ 36 h 78"/>
                  <a:gd name="T10" fmla="*/ 24 w 48"/>
                  <a:gd name="T11" fmla="*/ 42 h 78"/>
                  <a:gd name="T12" fmla="*/ 30 w 48"/>
                  <a:gd name="T13" fmla="*/ 54 h 78"/>
                  <a:gd name="T14" fmla="*/ 36 w 48"/>
                  <a:gd name="T15" fmla="*/ 60 h 78"/>
                  <a:gd name="T16" fmla="*/ 42 w 48"/>
                  <a:gd name="T17" fmla="*/ 72 h 78"/>
                  <a:gd name="T18" fmla="*/ 48 w 48"/>
                  <a:gd name="T19" fmla="*/ 78 h 78"/>
                  <a:gd name="T20" fmla="*/ 48 w 48"/>
                  <a:gd name="T21" fmla="*/ 78 h 78"/>
                  <a:gd name="T22" fmla="*/ 48 w 48"/>
                  <a:gd name="T23" fmla="*/ 78 h 78"/>
                  <a:gd name="T24" fmla="*/ 42 w 48"/>
                  <a:gd name="T25" fmla="*/ 72 h 78"/>
                  <a:gd name="T26" fmla="*/ 36 w 48"/>
                  <a:gd name="T27" fmla="*/ 60 h 78"/>
                  <a:gd name="T28" fmla="*/ 30 w 48"/>
                  <a:gd name="T29" fmla="*/ 54 h 78"/>
                  <a:gd name="T30" fmla="*/ 24 w 48"/>
                  <a:gd name="T31" fmla="*/ 42 h 78"/>
                  <a:gd name="T32" fmla="*/ 12 w 48"/>
                  <a:gd name="T33" fmla="*/ 30 h 78"/>
                  <a:gd name="T34" fmla="*/ 6 w 48"/>
                  <a:gd name="T35" fmla="*/ 18 h 78"/>
                  <a:gd name="T36" fmla="*/ 0 w 48"/>
                  <a:gd name="T37" fmla="*/ 12 h 78"/>
                  <a:gd name="T38" fmla="*/ 0 w 48"/>
                  <a:gd name="T39" fmla="*/ 0 h 78"/>
                  <a:gd name="T40" fmla="*/ 0 w 48"/>
                  <a:gd name="T41" fmla="*/ 0 h 78"/>
                  <a:gd name="T42" fmla="*/ 0 w 48"/>
                  <a:gd name="T43" fmla="*/ 0 h 78"/>
                  <a:gd name="T44" fmla="*/ 0 w 48"/>
                  <a:gd name="T45" fmla="*/ 0 h 78"/>
                  <a:gd name="T46" fmla="*/ 0 w 48"/>
                  <a:gd name="T4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78">
                    <a:moveTo>
                      <a:pt x="0" y="0"/>
                    </a:moveTo>
                    <a:lnTo>
                      <a:pt x="0" y="0"/>
                    </a:lnTo>
                    <a:lnTo>
                      <a:pt x="6" y="12"/>
                    </a:lnTo>
                    <a:lnTo>
                      <a:pt x="12" y="24"/>
                    </a:lnTo>
                    <a:lnTo>
                      <a:pt x="18" y="36"/>
                    </a:lnTo>
                    <a:lnTo>
                      <a:pt x="24" y="42"/>
                    </a:lnTo>
                    <a:lnTo>
                      <a:pt x="30" y="54"/>
                    </a:lnTo>
                    <a:lnTo>
                      <a:pt x="36" y="60"/>
                    </a:lnTo>
                    <a:lnTo>
                      <a:pt x="42" y="72"/>
                    </a:lnTo>
                    <a:lnTo>
                      <a:pt x="48" y="78"/>
                    </a:lnTo>
                    <a:lnTo>
                      <a:pt x="48" y="78"/>
                    </a:lnTo>
                    <a:lnTo>
                      <a:pt x="48" y="78"/>
                    </a:lnTo>
                    <a:lnTo>
                      <a:pt x="42" y="72"/>
                    </a:lnTo>
                    <a:lnTo>
                      <a:pt x="36" y="60"/>
                    </a:lnTo>
                    <a:lnTo>
                      <a:pt x="30" y="54"/>
                    </a:lnTo>
                    <a:lnTo>
                      <a:pt x="24" y="42"/>
                    </a:lnTo>
                    <a:lnTo>
                      <a:pt x="12" y="30"/>
                    </a:lnTo>
                    <a:lnTo>
                      <a:pt x="6" y="18"/>
                    </a:lnTo>
                    <a:lnTo>
                      <a:pt x="0" y="12"/>
                    </a:lnTo>
                    <a:lnTo>
                      <a:pt x="0" y="0"/>
                    </a:lnTo>
                    <a:lnTo>
                      <a:pt x="0" y="0"/>
                    </a:lnTo>
                    <a:lnTo>
                      <a:pt x="0" y="0"/>
                    </a:lnTo>
                    <a:lnTo>
                      <a:pt x="0" y="0"/>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51440" name="Freeform 240"/>
              <p:cNvSpPr>
                <a:spLocks/>
              </p:cNvSpPr>
              <p:nvPr/>
            </p:nvSpPr>
            <p:spPr bwMode="auto">
              <a:xfrm>
                <a:off x="4549" y="2346"/>
                <a:ext cx="42" cy="71"/>
              </a:xfrm>
              <a:custGeom>
                <a:avLst/>
                <a:gdLst>
                  <a:gd name="T0" fmla="*/ 0 w 42"/>
                  <a:gd name="T1" fmla="*/ 71 h 71"/>
                  <a:gd name="T2" fmla="*/ 6 w 42"/>
                  <a:gd name="T3" fmla="*/ 71 h 71"/>
                  <a:gd name="T4" fmla="*/ 18 w 42"/>
                  <a:gd name="T5" fmla="*/ 71 h 71"/>
                  <a:gd name="T6" fmla="*/ 30 w 42"/>
                  <a:gd name="T7" fmla="*/ 65 h 71"/>
                  <a:gd name="T8" fmla="*/ 36 w 42"/>
                  <a:gd name="T9" fmla="*/ 59 h 71"/>
                  <a:gd name="T10" fmla="*/ 36 w 42"/>
                  <a:gd name="T11" fmla="*/ 54 h 71"/>
                  <a:gd name="T12" fmla="*/ 42 w 42"/>
                  <a:gd name="T13" fmla="*/ 48 h 71"/>
                  <a:gd name="T14" fmla="*/ 42 w 42"/>
                  <a:gd name="T15" fmla="*/ 42 h 71"/>
                  <a:gd name="T16" fmla="*/ 42 w 42"/>
                  <a:gd name="T17" fmla="*/ 42 h 71"/>
                  <a:gd name="T18" fmla="*/ 36 w 42"/>
                  <a:gd name="T19" fmla="*/ 36 h 71"/>
                  <a:gd name="T20" fmla="*/ 30 w 42"/>
                  <a:gd name="T21" fmla="*/ 30 h 71"/>
                  <a:gd name="T22" fmla="*/ 24 w 42"/>
                  <a:gd name="T23" fmla="*/ 30 h 71"/>
                  <a:gd name="T24" fmla="*/ 30 w 42"/>
                  <a:gd name="T25" fmla="*/ 12 h 71"/>
                  <a:gd name="T26" fmla="*/ 30 w 42"/>
                  <a:gd name="T27" fmla="*/ 0 h 71"/>
                  <a:gd name="T28" fmla="*/ 24 w 42"/>
                  <a:gd name="T29" fmla="*/ 12 h 71"/>
                  <a:gd name="T30" fmla="*/ 24 w 42"/>
                  <a:gd name="T31" fmla="*/ 6 h 71"/>
                  <a:gd name="T32" fmla="*/ 24 w 42"/>
                  <a:gd name="T33" fmla="*/ 12 h 71"/>
                  <a:gd name="T34" fmla="*/ 24 w 42"/>
                  <a:gd name="T35" fmla="*/ 18 h 71"/>
                  <a:gd name="T36" fmla="*/ 24 w 42"/>
                  <a:gd name="T37" fmla="*/ 24 h 71"/>
                  <a:gd name="T38" fmla="*/ 18 w 42"/>
                  <a:gd name="T39" fmla="*/ 24 h 71"/>
                  <a:gd name="T40" fmla="*/ 18 w 42"/>
                  <a:gd name="T41" fmla="*/ 18 h 71"/>
                  <a:gd name="T42" fmla="*/ 18 w 42"/>
                  <a:gd name="T43" fmla="*/ 24 h 71"/>
                  <a:gd name="T44" fmla="*/ 18 w 42"/>
                  <a:gd name="T45" fmla="*/ 30 h 71"/>
                  <a:gd name="T46" fmla="*/ 24 w 42"/>
                  <a:gd name="T47" fmla="*/ 36 h 71"/>
                  <a:gd name="T48" fmla="*/ 36 w 42"/>
                  <a:gd name="T49" fmla="*/ 48 h 71"/>
                  <a:gd name="T50" fmla="*/ 36 w 42"/>
                  <a:gd name="T51" fmla="*/ 48 h 71"/>
                  <a:gd name="T52" fmla="*/ 30 w 42"/>
                  <a:gd name="T53" fmla="*/ 48 h 71"/>
                  <a:gd name="T54" fmla="*/ 24 w 42"/>
                  <a:gd name="T55" fmla="*/ 54 h 71"/>
                  <a:gd name="T56" fmla="*/ 12 w 42"/>
                  <a:gd name="T57" fmla="*/ 54 h 71"/>
                  <a:gd name="T58" fmla="*/ 6 w 42"/>
                  <a:gd name="T59" fmla="*/ 59 h 71"/>
                  <a:gd name="T60" fmla="*/ 0 w 42"/>
                  <a:gd name="T61" fmla="*/ 71 h 71"/>
                  <a:gd name="T62" fmla="*/ 0 w 42"/>
                  <a:gd name="T63"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 h="71">
                    <a:moveTo>
                      <a:pt x="0" y="71"/>
                    </a:moveTo>
                    <a:lnTo>
                      <a:pt x="6" y="71"/>
                    </a:lnTo>
                    <a:lnTo>
                      <a:pt x="18" y="71"/>
                    </a:lnTo>
                    <a:lnTo>
                      <a:pt x="30" y="65"/>
                    </a:lnTo>
                    <a:lnTo>
                      <a:pt x="36" y="59"/>
                    </a:lnTo>
                    <a:lnTo>
                      <a:pt x="36" y="54"/>
                    </a:lnTo>
                    <a:lnTo>
                      <a:pt x="42" y="48"/>
                    </a:lnTo>
                    <a:lnTo>
                      <a:pt x="42" y="42"/>
                    </a:lnTo>
                    <a:lnTo>
                      <a:pt x="42" y="42"/>
                    </a:lnTo>
                    <a:lnTo>
                      <a:pt x="36" y="36"/>
                    </a:lnTo>
                    <a:lnTo>
                      <a:pt x="30" y="30"/>
                    </a:lnTo>
                    <a:lnTo>
                      <a:pt x="24" y="30"/>
                    </a:lnTo>
                    <a:lnTo>
                      <a:pt x="30" y="12"/>
                    </a:lnTo>
                    <a:lnTo>
                      <a:pt x="30" y="0"/>
                    </a:lnTo>
                    <a:lnTo>
                      <a:pt x="24" y="12"/>
                    </a:lnTo>
                    <a:lnTo>
                      <a:pt x="24" y="6"/>
                    </a:lnTo>
                    <a:lnTo>
                      <a:pt x="24" y="12"/>
                    </a:lnTo>
                    <a:lnTo>
                      <a:pt x="24" y="18"/>
                    </a:lnTo>
                    <a:lnTo>
                      <a:pt x="24" y="24"/>
                    </a:lnTo>
                    <a:lnTo>
                      <a:pt x="18" y="24"/>
                    </a:lnTo>
                    <a:lnTo>
                      <a:pt x="18" y="18"/>
                    </a:lnTo>
                    <a:lnTo>
                      <a:pt x="18" y="24"/>
                    </a:lnTo>
                    <a:lnTo>
                      <a:pt x="18" y="30"/>
                    </a:lnTo>
                    <a:lnTo>
                      <a:pt x="24" y="36"/>
                    </a:lnTo>
                    <a:lnTo>
                      <a:pt x="36" y="48"/>
                    </a:lnTo>
                    <a:lnTo>
                      <a:pt x="36" y="48"/>
                    </a:lnTo>
                    <a:lnTo>
                      <a:pt x="30" y="48"/>
                    </a:lnTo>
                    <a:lnTo>
                      <a:pt x="24" y="54"/>
                    </a:lnTo>
                    <a:lnTo>
                      <a:pt x="12" y="54"/>
                    </a:lnTo>
                    <a:lnTo>
                      <a:pt x="6" y="59"/>
                    </a:lnTo>
                    <a:lnTo>
                      <a:pt x="0" y="71"/>
                    </a:lnTo>
                    <a:lnTo>
                      <a:pt x="0" y="71"/>
                    </a:lnTo>
                    <a:close/>
                  </a:path>
                </a:pathLst>
              </a:custGeom>
              <a:solidFill>
                <a:srgbClr val="00FF00"/>
              </a:solidFill>
              <a:ln w="9525">
                <a:solidFill>
                  <a:srgbClr val="00FF00"/>
                </a:solidFill>
                <a:round/>
                <a:headEnd/>
                <a:tailEnd/>
              </a:ln>
            </p:spPr>
            <p:txBody>
              <a:bodyPr/>
              <a:lstStyle/>
              <a:p>
                <a:endParaRPr lang="zh-CN" altLang="en-US"/>
              </a:p>
            </p:txBody>
          </p:sp>
          <p:sp>
            <p:nvSpPr>
              <p:cNvPr id="51441" name="Freeform 241"/>
              <p:cNvSpPr>
                <a:spLocks/>
              </p:cNvSpPr>
              <p:nvPr/>
            </p:nvSpPr>
            <p:spPr bwMode="auto">
              <a:xfrm>
                <a:off x="4543" y="2400"/>
                <a:ext cx="42" cy="35"/>
              </a:xfrm>
              <a:custGeom>
                <a:avLst/>
                <a:gdLst>
                  <a:gd name="T0" fmla="*/ 0 w 42"/>
                  <a:gd name="T1" fmla="*/ 29 h 35"/>
                  <a:gd name="T2" fmla="*/ 12 w 42"/>
                  <a:gd name="T3" fmla="*/ 35 h 35"/>
                  <a:gd name="T4" fmla="*/ 24 w 42"/>
                  <a:gd name="T5" fmla="*/ 29 h 35"/>
                  <a:gd name="T6" fmla="*/ 42 w 42"/>
                  <a:gd name="T7" fmla="*/ 17 h 35"/>
                  <a:gd name="T8" fmla="*/ 24 w 42"/>
                  <a:gd name="T9" fmla="*/ 0 h 35"/>
                  <a:gd name="T10" fmla="*/ 12 w 42"/>
                  <a:gd name="T11" fmla="*/ 5 h 35"/>
                  <a:gd name="T12" fmla="*/ 12 w 42"/>
                  <a:gd name="T13" fmla="*/ 5 h 35"/>
                  <a:gd name="T14" fmla="*/ 18 w 42"/>
                  <a:gd name="T15" fmla="*/ 11 h 35"/>
                  <a:gd name="T16" fmla="*/ 0 w 42"/>
                  <a:gd name="T17" fmla="*/ 2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5">
                    <a:moveTo>
                      <a:pt x="0" y="29"/>
                    </a:moveTo>
                    <a:lnTo>
                      <a:pt x="12" y="35"/>
                    </a:lnTo>
                    <a:lnTo>
                      <a:pt x="24" y="29"/>
                    </a:lnTo>
                    <a:lnTo>
                      <a:pt x="42" y="17"/>
                    </a:lnTo>
                    <a:lnTo>
                      <a:pt x="24" y="0"/>
                    </a:lnTo>
                    <a:lnTo>
                      <a:pt x="12" y="5"/>
                    </a:lnTo>
                    <a:lnTo>
                      <a:pt x="12" y="5"/>
                    </a:lnTo>
                    <a:lnTo>
                      <a:pt x="18" y="11"/>
                    </a:lnTo>
                    <a:lnTo>
                      <a:pt x="0" y="29"/>
                    </a:lnTo>
                    <a:close/>
                  </a:path>
                </a:pathLst>
              </a:custGeom>
              <a:solidFill>
                <a:srgbClr val="00FF00"/>
              </a:solidFill>
              <a:ln w="9525">
                <a:solidFill>
                  <a:srgbClr val="00FF00"/>
                </a:solidFill>
                <a:round/>
                <a:headEnd/>
                <a:tailEnd/>
              </a:ln>
            </p:spPr>
            <p:txBody>
              <a:bodyPr/>
              <a:lstStyle/>
              <a:p>
                <a:endParaRPr lang="zh-CN" altLang="en-US"/>
              </a:p>
            </p:txBody>
          </p:sp>
          <p:sp>
            <p:nvSpPr>
              <p:cNvPr id="51442" name="Freeform 242"/>
              <p:cNvSpPr>
                <a:spLocks noEditPoints="1"/>
              </p:cNvSpPr>
              <p:nvPr/>
            </p:nvSpPr>
            <p:spPr bwMode="auto">
              <a:xfrm>
                <a:off x="4567" y="2388"/>
                <a:ext cx="24" cy="29"/>
              </a:xfrm>
              <a:custGeom>
                <a:avLst/>
                <a:gdLst>
                  <a:gd name="T0" fmla="*/ 18 w 24"/>
                  <a:gd name="T1" fmla="*/ 29 h 29"/>
                  <a:gd name="T2" fmla="*/ 24 w 24"/>
                  <a:gd name="T3" fmla="*/ 29 h 29"/>
                  <a:gd name="T4" fmla="*/ 24 w 24"/>
                  <a:gd name="T5" fmla="*/ 23 h 29"/>
                  <a:gd name="T6" fmla="*/ 18 w 24"/>
                  <a:gd name="T7" fmla="*/ 23 h 29"/>
                  <a:gd name="T8" fmla="*/ 24 w 24"/>
                  <a:gd name="T9" fmla="*/ 0 h 29"/>
                  <a:gd name="T10" fmla="*/ 12 w 24"/>
                  <a:gd name="T11" fmla="*/ 6 h 29"/>
                  <a:gd name="T12" fmla="*/ 6 w 24"/>
                  <a:gd name="T13" fmla="*/ 6 h 29"/>
                  <a:gd name="T14" fmla="*/ 0 w 24"/>
                  <a:gd name="T15" fmla="*/ 12 h 29"/>
                  <a:gd name="T16" fmla="*/ 18 w 24"/>
                  <a:gd name="T17" fmla="*/ 29 h 29"/>
                  <a:gd name="T18" fmla="*/ 18 w 24"/>
                  <a:gd name="T19" fmla="*/ 29 h 29"/>
                  <a:gd name="T20" fmla="*/ 18 w 24"/>
                  <a:gd name="T21" fmla="*/ 29 h 29"/>
                  <a:gd name="T22" fmla="*/ 18 w 24"/>
                  <a:gd name="T23" fmla="*/ 29 h 29"/>
                  <a:gd name="T24" fmla="*/ 12 w 24"/>
                  <a:gd name="T25" fmla="*/ 23 h 29"/>
                  <a:gd name="T26" fmla="*/ 18 w 24"/>
                  <a:gd name="T2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9">
                    <a:moveTo>
                      <a:pt x="18" y="29"/>
                    </a:moveTo>
                    <a:lnTo>
                      <a:pt x="24" y="29"/>
                    </a:lnTo>
                    <a:lnTo>
                      <a:pt x="24" y="23"/>
                    </a:lnTo>
                    <a:lnTo>
                      <a:pt x="18" y="23"/>
                    </a:lnTo>
                    <a:lnTo>
                      <a:pt x="24" y="0"/>
                    </a:lnTo>
                    <a:lnTo>
                      <a:pt x="12" y="6"/>
                    </a:lnTo>
                    <a:lnTo>
                      <a:pt x="6" y="6"/>
                    </a:lnTo>
                    <a:lnTo>
                      <a:pt x="0" y="12"/>
                    </a:lnTo>
                    <a:lnTo>
                      <a:pt x="18" y="29"/>
                    </a:lnTo>
                    <a:close/>
                    <a:moveTo>
                      <a:pt x="18" y="29"/>
                    </a:moveTo>
                    <a:lnTo>
                      <a:pt x="18" y="29"/>
                    </a:lnTo>
                    <a:lnTo>
                      <a:pt x="18" y="29"/>
                    </a:lnTo>
                    <a:lnTo>
                      <a:pt x="12" y="23"/>
                    </a:lnTo>
                    <a:lnTo>
                      <a:pt x="18" y="29"/>
                    </a:lnTo>
                    <a:close/>
                  </a:path>
                </a:pathLst>
              </a:custGeom>
              <a:solidFill>
                <a:srgbClr val="00FF00"/>
              </a:solidFill>
              <a:ln w="9525">
                <a:solidFill>
                  <a:srgbClr val="00FF00"/>
                </a:solidFill>
                <a:round/>
                <a:headEnd/>
                <a:tailEnd/>
              </a:ln>
            </p:spPr>
            <p:txBody>
              <a:bodyPr/>
              <a:lstStyle/>
              <a:p>
                <a:endParaRPr lang="zh-CN" altLang="en-US"/>
              </a:p>
            </p:txBody>
          </p:sp>
          <p:sp>
            <p:nvSpPr>
              <p:cNvPr id="51443" name="Freeform 243"/>
              <p:cNvSpPr>
                <a:spLocks noEditPoints="1"/>
              </p:cNvSpPr>
              <p:nvPr/>
            </p:nvSpPr>
            <p:spPr bwMode="auto">
              <a:xfrm>
                <a:off x="4579" y="2382"/>
                <a:ext cx="24" cy="29"/>
              </a:xfrm>
              <a:custGeom>
                <a:avLst/>
                <a:gdLst>
                  <a:gd name="T0" fmla="*/ 12 w 24"/>
                  <a:gd name="T1" fmla="*/ 29 h 29"/>
                  <a:gd name="T2" fmla="*/ 12 w 24"/>
                  <a:gd name="T3" fmla="*/ 29 h 29"/>
                  <a:gd name="T4" fmla="*/ 18 w 24"/>
                  <a:gd name="T5" fmla="*/ 23 h 29"/>
                  <a:gd name="T6" fmla="*/ 24 w 24"/>
                  <a:gd name="T7" fmla="*/ 12 h 29"/>
                  <a:gd name="T8" fmla="*/ 18 w 24"/>
                  <a:gd name="T9" fmla="*/ 0 h 29"/>
                  <a:gd name="T10" fmla="*/ 0 w 24"/>
                  <a:gd name="T11" fmla="*/ 18 h 29"/>
                  <a:gd name="T12" fmla="*/ 0 w 24"/>
                  <a:gd name="T13" fmla="*/ 12 h 29"/>
                  <a:gd name="T14" fmla="*/ 0 w 24"/>
                  <a:gd name="T15" fmla="*/ 12 h 29"/>
                  <a:gd name="T16" fmla="*/ 12 w 24"/>
                  <a:gd name="T17" fmla="*/ 29 h 29"/>
                  <a:gd name="T18" fmla="*/ 6 w 24"/>
                  <a:gd name="T19" fmla="*/ 29 h 29"/>
                  <a:gd name="T20" fmla="*/ 12 w 24"/>
                  <a:gd name="T21" fmla="*/ 29 h 29"/>
                  <a:gd name="T22" fmla="*/ 12 w 24"/>
                  <a:gd name="T23" fmla="*/ 29 h 29"/>
                  <a:gd name="T24" fmla="*/ 6 w 24"/>
                  <a:gd name="T25" fmla="*/ 18 h 29"/>
                  <a:gd name="T26" fmla="*/ 6 w 24"/>
                  <a:gd name="T2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9">
                    <a:moveTo>
                      <a:pt x="12" y="29"/>
                    </a:moveTo>
                    <a:lnTo>
                      <a:pt x="12" y="29"/>
                    </a:lnTo>
                    <a:lnTo>
                      <a:pt x="18" y="23"/>
                    </a:lnTo>
                    <a:lnTo>
                      <a:pt x="24" y="12"/>
                    </a:lnTo>
                    <a:lnTo>
                      <a:pt x="18" y="0"/>
                    </a:lnTo>
                    <a:lnTo>
                      <a:pt x="0" y="18"/>
                    </a:lnTo>
                    <a:lnTo>
                      <a:pt x="0" y="12"/>
                    </a:lnTo>
                    <a:lnTo>
                      <a:pt x="0" y="12"/>
                    </a:lnTo>
                    <a:lnTo>
                      <a:pt x="12" y="29"/>
                    </a:lnTo>
                    <a:close/>
                    <a:moveTo>
                      <a:pt x="6" y="29"/>
                    </a:moveTo>
                    <a:lnTo>
                      <a:pt x="12" y="29"/>
                    </a:lnTo>
                    <a:lnTo>
                      <a:pt x="12" y="29"/>
                    </a:lnTo>
                    <a:lnTo>
                      <a:pt x="6" y="18"/>
                    </a:lnTo>
                    <a:lnTo>
                      <a:pt x="6" y="29"/>
                    </a:lnTo>
                    <a:close/>
                  </a:path>
                </a:pathLst>
              </a:custGeom>
              <a:solidFill>
                <a:srgbClr val="00FF00"/>
              </a:solidFill>
              <a:ln w="9525">
                <a:solidFill>
                  <a:srgbClr val="00FF00"/>
                </a:solidFill>
                <a:round/>
                <a:headEnd/>
                <a:tailEnd/>
              </a:ln>
            </p:spPr>
            <p:txBody>
              <a:bodyPr/>
              <a:lstStyle/>
              <a:p>
                <a:endParaRPr lang="zh-CN" altLang="en-US"/>
              </a:p>
            </p:txBody>
          </p:sp>
          <p:sp>
            <p:nvSpPr>
              <p:cNvPr id="51444" name="Freeform 244"/>
              <p:cNvSpPr>
                <a:spLocks noEditPoints="1"/>
              </p:cNvSpPr>
              <p:nvPr/>
            </p:nvSpPr>
            <p:spPr bwMode="auto">
              <a:xfrm>
                <a:off x="4567" y="2364"/>
                <a:ext cx="30" cy="36"/>
              </a:xfrm>
              <a:custGeom>
                <a:avLst/>
                <a:gdLst>
                  <a:gd name="T0" fmla="*/ 30 w 30"/>
                  <a:gd name="T1" fmla="*/ 18 h 36"/>
                  <a:gd name="T2" fmla="*/ 30 w 30"/>
                  <a:gd name="T3" fmla="*/ 18 h 36"/>
                  <a:gd name="T4" fmla="*/ 24 w 30"/>
                  <a:gd name="T5" fmla="*/ 12 h 36"/>
                  <a:gd name="T6" fmla="*/ 18 w 30"/>
                  <a:gd name="T7" fmla="*/ 6 h 36"/>
                  <a:gd name="T8" fmla="*/ 18 w 30"/>
                  <a:gd name="T9" fmla="*/ 6 h 36"/>
                  <a:gd name="T10" fmla="*/ 0 w 30"/>
                  <a:gd name="T11" fmla="*/ 0 h 36"/>
                  <a:gd name="T12" fmla="*/ 0 w 30"/>
                  <a:gd name="T13" fmla="*/ 18 h 36"/>
                  <a:gd name="T14" fmla="*/ 6 w 30"/>
                  <a:gd name="T15" fmla="*/ 30 h 36"/>
                  <a:gd name="T16" fmla="*/ 12 w 30"/>
                  <a:gd name="T17" fmla="*/ 36 h 36"/>
                  <a:gd name="T18" fmla="*/ 12 w 30"/>
                  <a:gd name="T19" fmla="*/ 36 h 36"/>
                  <a:gd name="T20" fmla="*/ 30 w 30"/>
                  <a:gd name="T21" fmla="*/ 18 h 36"/>
                  <a:gd name="T22" fmla="*/ 30 w 30"/>
                  <a:gd name="T23" fmla="*/ 18 h 36"/>
                  <a:gd name="T24" fmla="*/ 30 w 30"/>
                  <a:gd name="T25" fmla="*/ 18 h 36"/>
                  <a:gd name="T26" fmla="*/ 30 w 30"/>
                  <a:gd name="T27" fmla="*/ 18 h 36"/>
                  <a:gd name="T28" fmla="*/ 24 w 30"/>
                  <a:gd name="T29" fmla="*/ 24 h 36"/>
                  <a:gd name="T30" fmla="*/ 30 w 30"/>
                  <a:gd name="T31"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30" y="18"/>
                    </a:moveTo>
                    <a:lnTo>
                      <a:pt x="30" y="18"/>
                    </a:lnTo>
                    <a:lnTo>
                      <a:pt x="24" y="12"/>
                    </a:lnTo>
                    <a:lnTo>
                      <a:pt x="18" y="6"/>
                    </a:lnTo>
                    <a:lnTo>
                      <a:pt x="18" y="6"/>
                    </a:lnTo>
                    <a:lnTo>
                      <a:pt x="0" y="0"/>
                    </a:lnTo>
                    <a:lnTo>
                      <a:pt x="0" y="18"/>
                    </a:lnTo>
                    <a:lnTo>
                      <a:pt x="6" y="30"/>
                    </a:lnTo>
                    <a:lnTo>
                      <a:pt x="12" y="36"/>
                    </a:lnTo>
                    <a:lnTo>
                      <a:pt x="12" y="36"/>
                    </a:lnTo>
                    <a:lnTo>
                      <a:pt x="30" y="18"/>
                    </a:lnTo>
                    <a:close/>
                    <a:moveTo>
                      <a:pt x="30" y="18"/>
                    </a:moveTo>
                    <a:lnTo>
                      <a:pt x="30" y="18"/>
                    </a:lnTo>
                    <a:lnTo>
                      <a:pt x="30" y="18"/>
                    </a:lnTo>
                    <a:lnTo>
                      <a:pt x="24" y="24"/>
                    </a:lnTo>
                    <a:lnTo>
                      <a:pt x="30" y="18"/>
                    </a:lnTo>
                    <a:close/>
                  </a:path>
                </a:pathLst>
              </a:custGeom>
              <a:solidFill>
                <a:srgbClr val="00FF00"/>
              </a:solidFill>
              <a:ln w="9525">
                <a:solidFill>
                  <a:srgbClr val="00FF00"/>
                </a:solidFill>
                <a:round/>
                <a:headEnd/>
                <a:tailEnd/>
              </a:ln>
            </p:spPr>
            <p:txBody>
              <a:bodyPr/>
              <a:lstStyle/>
              <a:p>
                <a:endParaRPr lang="zh-CN" altLang="en-US"/>
              </a:p>
            </p:txBody>
          </p:sp>
          <p:sp>
            <p:nvSpPr>
              <p:cNvPr id="51445" name="Freeform 245"/>
              <p:cNvSpPr>
                <a:spLocks noEditPoints="1"/>
              </p:cNvSpPr>
              <p:nvPr/>
            </p:nvSpPr>
            <p:spPr bwMode="auto">
              <a:xfrm>
                <a:off x="4561" y="2352"/>
                <a:ext cx="24" cy="30"/>
              </a:xfrm>
              <a:custGeom>
                <a:avLst/>
                <a:gdLst>
                  <a:gd name="T0" fmla="*/ 24 w 24"/>
                  <a:gd name="T1" fmla="*/ 24 h 30"/>
                  <a:gd name="T2" fmla="*/ 24 w 24"/>
                  <a:gd name="T3" fmla="*/ 6 h 30"/>
                  <a:gd name="T4" fmla="*/ 6 w 24"/>
                  <a:gd name="T5" fmla="*/ 0 h 30"/>
                  <a:gd name="T6" fmla="*/ 0 w 24"/>
                  <a:gd name="T7" fmla="*/ 18 h 30"/>
                  <a:gd name="T8" fmla="*/ 24 w 24"/>
                  <a:gd name="T9" fmla="*/ 24 h 30"/>
                  <a:gd name="T10" fmla="*/ 24 w 24"/>
                  <a:gd name="T11" fmla="*/ 30 h 30"/>
                  <a:gd name="T12" fmla="*/ 24 w 24"/>
                  <a:gd name="T13" fmla="*/ 24 h 30"/>
                  <a:gd name="T14" fmla="*/ 24 w 24"/>
                  <a:gd name="T15" fmla="*/ 24 h 30"/>
                  <a:gd name="T16" fmla="*/ 12 w 24"/>
                  <a:gd name="T17" fmla="*/ 24 h 30"/>
                  <a:gd name="T18" fmla="*/ 24 w 24"/>
                  <a:gd name="T19"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0">
                    <a:moveTo>
                      <a:pt x="24" y="24"/>
                    </a:moveTo>
                    <a:lnTo>
                      <a:pt x="24" y="6"/>
                    </a:lnTo>
                    <a:lnTo>
                      <a:pt x="6" y="0"/>
                    </a:lnTo>
                    <a:lnTo>
                      <a:pt x="0" y="18"/>
                    </a:lnTo>
                    <a:lnTo>
                      <a:pt x="24" y="24"/>
                    </a:lnTo>
                    <a:close/>
                    <a:moveTo>
                      <a:pt x="24" y="30"/>
                    </a:moveTo>
                    <a:lnTo>
                      <a:pt x="24" y="24"/>
                    </a:lnTo>
                    <a:lnTo>
                      <a:pt x="24" y="24"/>
                    </a:lnTo>
                    <a:lnTo>
                      <a:pt x="12" y="24"/>
                    </a:lnTo>
                    <a:lnTo>
                      <a:pt x="24" y="30"/>
                    </a:lnTo>
                    <a:close/>
                  </a:path>
                </a:pathLst>
              </a:custGeom>
              <a:solidFill>
                <a:srgbClr val="00FF00"/>
              </a:solidFill>
              <a:ln w="9525">
                <a:solidFill>
                  <a:srgbClr val="00FF00"/>
                </a:solidFill>
                <a:round/>
                <a:headEnd/>
                <a:tailEnd/>
              </a:ln>
            </p:spPr>
            <p:txBody>
              <a:bodyPr/>
              <a:lstStyle/>
              <a:p>
                <a:endParaRPr lang="zh-CN" altLang="en-US"/>
              </a:p>
            </p:txBody>
          </p:sp>
          <p:sp>
            <p:nvSpPr>
              <p:cNvPr id="51446" name="Freeform 246"/>
              <p:cNvSpPr>
                <a:spLocks noEditPoints="1"/>
              </p:cNvSpPr>
              <p:nvPr/>
            </p:nvSpPr>
            <p:spPr bwMode="auto">
              <a:xfrm>
                <a:off x="4567" y="2346"/>
                <a:ext cx="24" cy="12"/>
              </a:xfrm>
              <a:custGeom>
                <a:avLst/>
                <a:gdLst>
                  <a:gd name="T0" fmla="*/ 18 w 24"/>
                  <a:gd name="T1" fmla="*/ 12 h 12"/>
                  <a:gd name="T2" fmla="*/ 24 w 24"/>
                  <a:gd name="T3" fmla="*/ 6 h 12"/>
                  <a:gd name="T4" fmla="*/ 0 w 24"/>
                  <a:gd name="T5" fmla="*/ 0 h 12"/>
                  <a:gd name="T6" fmla="*/ 0 w 24"/>
                  <a:gd name="T7" fmla="*/ 6 h 12"/>
                  <a:gd name="T8" fmla="*/ 18 w 24"/>
                  <a:gd name="T9" fmla="*/ 12 h 12"/>
                  <a:gd name="T10" fmla="*/ 0 w 24"/>
                  <a:gd name="T11" fmla="*/ 6 h 12"/>
                  <a:gd name="T12" fmla="*/ 0 w 24"/>
                  <a:gd name="T13" fmla="*/ 6 h 12"/>
                  <a:gd name="T14" fmla="*/ 0 w 24"/>
                  <a:gd name="T15" fmla="*/ 6 h 12"/>
                  <a:gd name="T16" fmla="*/ 12 w 24"/>
                  <a:gd name="T17" fmla="*/ 12 h 12"/>
                  <a:gd name="T18" fmla="*/ 0 w 24"/>
                  <a:gd name="T19"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2">
                    <a:moveTo>
                      <a:pt x="18" y="12"/>
                    </a:moveTo>
                    <a:lnTo>
                      <a:pt x="24" y="6"/>
                    </a:lnTo>
                    <a:lnTo>
                      <a:pt x="0" y="0"/>
                    </a:lnTo>
                    <a:lnTo>
                      <a:pt x="0" y="6"/>
                    </a:lnTo>
                    <a:lnTo>
                      <a:pt x="18" y="12"/>
                    </a:lnTo>
                    <a:close/>
                    <a:moveTo>
                      <a:pt x="0" y="6"/>
                    </a:moveTo>
                    <a:lnTo>
                      <a:pt x="0" y="6"/>
                    </a:lnTo>
                    <a:lnTo>
                      <a:pt x="0" y="6"/>
                    </a:lnTo>
                    <a:lnTo>
                      <a:pt x="12" y="12"/>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447" name="Freeform 247"/>
              <p:cNvSpPr>
                <a:spLocks noEditPoints="1"/>
              </p:cNvSpPr>
              <p:nvPr/>
            </p:nvSpPr>
            <p:spPr bwMode="auto">
              <a:xfrm>
                <a:off x="4561" y="2346"/>
                <a:ext cx="30" cy="12"/>
              </a:xfrm>
              <a:custGeom>
                <a:avLst/>
                <a:gdLst>
                  <a:gd name="T0" fmla="*/ 6 w 30"/>
                  <a:gd name="T1" fmla="*/ 0 h 12"/>
                  <a:gd name="T2" fmla="*/ 0 w 30"/>
                  <a:gd name="T3" fmla="*/ 6 h 12"/>
                  <a:gd name="T4" fmla="*/ 24 w 30"/>
                  <a:gd name="T5" fmla="*/ 12 h 12"/>
                  <a:gd name="T6" fmla="*/ 30 w 30"/>
                  <a:gd name="T7" fmla="*/ 6 h 12"/>
                  <a:gd name="T8" fmla="*/ 6 w 30"/>
                  <a:gd name="T9" fmla="*/ 0 h 12"/>
                  <a:gd name="T10" fmla="*/ 30 w 30"/>
                  <a:gd name="T11" fmla="*/ 6 h 12"/>
                  <a:gd name="T12" fmla="*/ 6 w 30"/>
                  <a:gd name="T13" fmla="*/ 0 h 12"/>
                  <a:gd name="T14" fmla="*/ 30 w 30"/>
                  <a:gd name="T15" fmla="*/ 6 h 12"/>
                  <a:gd name="T16" fmla="*/ 6 w 30"/>
                  <a:gd name="T17" fmla="*/ 0 h 12"/>
                  <a:gd name="T18" fmla="*/ 30 w 30"/>
                  <a:gd name="T19"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2">
                    <a:moveTo>
                      <a:pt x="6" y="0"/>
                    </a:moveTo>
                    <a:lnTo>
                      <a:pt x="0" y="6"/>
                    </a:lnTo>
                    <a:lnTo>
                      <a:pt x="24" y="12"/>
                    </a:lnTo>
                    <a:lnTo>
                      <a:pt x="30" y="6"/>
                    </a:lnTo>
                    <a:lnTo>
                      <a:pt x="6" y="0"/>
                    </a:lnTo>
                    <a:close/>
                    <a:moveTo>
                      <a:pt x="30" y="6"/>
                    </a:moveTo>
                    <a:lnTo>
                      <a:pt x="6" y="0"/>
                    </a:lnTo>
                    <a:lnTo>
                      <a:pt x="30" y="6"/>
                    </a:lnTo>
                    <a:lnTo>
                      <a:pt x="6" y="0"/>
                    </a:lnTo>
                    <a:lnTo>
                      <a:pt x="30" y="6"/>
                    </a:lnTo>
                    <a:close/>
                  </a:path>
                </a:pathLst>
              </a:custGeom>
              <a:solidFill>
                <a:srgbClr val="00FF00"/>
              </a:solidFill>
              <a:ln w="9525">
                <a:solidFill>
                  <a:srgbClr val="00FF00"/>
                </a:solidFill>
                <a:round/>
                <a:headEnd/>
                <a:tailEnd/>
              </a:ln>
            </p:spPr>
            <p:txBody>
              <a:bodyPr/>
              <a:lstStyle/>
              <a:p>
                <a:endParaRPr lang="zh-CN" altLang="en-US"/>
              </a:p>
            </p:txBody>
          </p:sp>
          <p:sp>
            <p:nvSpPr>
              <p:cNvPr id="51448" name="Freeform 248"/>
              <p:cNvSpPr>
                <a:spLocks noEditPoints="1"/>
              </p:cNvSpPr>
              <p:nvPr/>
            </p:nvSpPr>
            <p:spPr bwMode="auto">
              <a:xfrm>
                <a:off x="4561" y="2352"/>
                <a:ext cx="24" cy="6"/>
              </a:xfrm>
              <a:custGeom>
                <a:avLst/>
                <a:gdLst>
                  <a:gd name="T0" fmla="*/ 24 w 24"/>
                  <a:gd name="T1" fmla="*/ 0 h 6"/>
                  <a:gd name="T2" fmla="*/ 24 w 24"/>
                  <a:gd name="T3" fmla="*/ 0 h 6"/>
                  <a:gd name="T4" fmla="*/ 0 w 24"/>
                  <a:gd name="T5" fmla="*/ 0 h 6"/>
                  <a:gd name="T6" fmla="*/ 0 w 24"/>
                  <a:gd name="T7" fmla="*/ 6 h 6"/>
                  <a:gd name="T8" fmla="*/ 24 w 24"/>
                  <a:gd name="T9" fmla="*/ 0 h 6"/>
                  <a:gd name="T10" fmla="*/ 0 w 24"/>
                  <a:gd name="T11" fmla="*/ 0 h 6"/>
                  <a:gd name="T12" fmla="*/ 24 w 24"/>
                  <a:gd name="T13" fmla="*/ 0 h 6"/>
                  <a:gd name="T14" fmla="*/ 0 w 24"/>
                  <a:gd name="T15" fmla="*/ 6 h 6"/>
                  <a:gd name="T16" fmla="*/ 24 w 24"/>
                  <a:gd name="T17" fmla="*/ 6 h 6"/>
                  <a:gd name="T18" fmla="*/ 0 w 24"/>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6">
                    <a:moveTo>
                      <a:pt x="24" y="0"/>
                    </a:moveTo>
                    <a:lnTo>
                      <a:pt x="24" y="0"/>
                    </a:lnTo>
                    <a:lnTo>
                      <a:pt x="0" y="0"/>
                    </a:lnTo>
                    <a:lnTo>
                      <a:pt x="0" y="6"/>
                    </a:lnTo>
                    <a:lnTo>
                      <a:pt x="24" y="0"/>
                    </a:lnTo>
                    <a:close/>
                    <a:moveTo>
                      <a:pt x="0" y="0"/>
                    </a:moveTo>
                    <a:lnTo>
                      <a:pt x="24" y="0"/>
                    </a:lnTo>
                    <a:lnTo>
                      <a:pt x="0" y="6"/>
                    </a:lnTo>
                    <a:lnTo>
                      <a:pt x="24" y="6"/>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51449" name="Freeform 249"/>
              <p:cNvSpPr>
                <a:spLocks noEditPoints="1"/>
              </p:cNvSpPr>
              <p:nvPr/>
            </p:nvSpPr>
            <p:spPr bwMode="auto">
              <a:xfrm>
                <a:off x="4561" y="2352"/>
                <a:ext cx="24" cy="24"/>
              </a:xfrm>
              <a:custGeom>
                <a:avLst/>
                <a:gdLst>
                  <a:gd name="T0" fmla="*/ 0 w 24"/>
                  <a:gd name="T1" fmla="*/ 0 h 24"/>
                  <a:gd name="T2" fmla="*/ 0 w 24"/>
                  <a:gd name="T3" fmla="*/ 6 h 24"/>
                  <a:gd name="T4" fmla="*/ 0 w 24"/>
                  <a:gd name="T5" fmla="*/ 6 h 24"/>
                  <a:gd name="T6" fmla="*/ 0 w 24"/>
                  <a:gd name="T7" fmla="*/ 6 h 24"/>
                  <a:gd name="T8" fmla="*/ 0 w 24"/>
                  <a:gd name="T9" fmla="*/ 6 h 24"/>
                  <a:gd name="T10" fmla="*/ 0 w 24"/>
                  <a:gd name="T11" fmla="*/ 24 h 24"/>
                  <a:gd name="T12" fmla="*/ 18 w 24"/>
                  <a:gd name="T13" fmla="*/ 18 h 24"/>
                  <a:gd name="T14" fmla="*/ 24 w 24"/>
                  <a:gd name="T15" fmla="*/ 12 h 24"/>
                  <a:gd name="T16" fmla="*/ 24 w 24"/>
                  <a:gd name="T17" fmla="*/ 6 h 24"/>
                  <a:gd name="T18" fmla="*/ 24 w 24"/>
                  <a:gd name="T19" fmla="*/ 0 h 24"/>
                  <a:gd name="T20" fmla="*/ 0 w 24"/>
                  <a:gd name="T21" fmla="*/ 0 h 24"/>
                  <a:gd name="T22" fmla="*/ 24 w 24"/>
                  <a:gd name="T23" fmla="*/ 0 h 24"/>
                  <a:gd name="T24" fmla="*/ 0 w 24"/>
                  <a:gd name="T25" fmla="*/ 0 h 24"/>
                  <a:gd name="T26" fmla="*/ 24 w 24"/>
                  <a:gd name="T27" fmla="*/ 0 h 24"/>
                  <a:gd name="T28" fmla="*/ 0 w 24"/>
                  <a:gd name="T29" fmla="*/ 0 h 24"/>
                  <a:gd name="T30" fmla="*/ 24 w 24"/>
                  <a:gd name="T31"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 h="24">
                    <a:moveTo>
                      <a:pt x="0" y="0"/>
                    </a:moveTo>
                    <a:lnTo>
                      <a:pt x="0" y="6"/>
                    </a:lnTo>
                    <a:lnTo>
                      <a:pt x="0" y="6"/>
                    </a:lnTo>
                    <a:lnTo>
                      <a:pt x="0" y="6"/>
                    </a:lnTo>
                    <a:lnTo>
                      <a:pt x="0" y="6"/>
                    </a:lnTo>
                    <a:lnTo>
                      <a:pt x="0" y="24"/>
                    </a:lnTo>
                    <a:lnTo>
                      <a:pt x="18" y="18"/>
                    </a:lnTo>
                    <a:lnTo>
                      <a:pt x="24" y="12"/>
                    </a:lnTo>
                    <a:lnTo>
                      <a:pt x="24" y="6"/>
                    </a:lnTo>
                    <a:lnTo>
                      <a:pt x="24" y="0"/>
                    </a:lnTo>
                    <a:lnTo>
                      <a:pt x="0" y="0"/>
                    </a:lnTo>
                    <a:close/>
                    <a:moveTo>
                      <a:pt x="24" y="0"/>
                    </a:moveTo>
                    <a:lnTo>
                      <a:pt x="0" y="0"/>
                    </a:lnTo>
                    <a:lnTo>
                      <a:pt x="24" y="0"/>
                    </a:lnTo>
                    <a:lnTo>
                      <a:pt x="0" y="0"/>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51450" name="Freeform 250"/>
              <p:cNvSpPr>
                <a:spLocks noEditPoints="1"/>
              </p:cNvSpPr>
              <p:nvPr/>
            </p:nvSpPr>
            <p:spPr bwMode="auto">
              <a:xfrm>
                <a:off x="4561" y="2358"/>
                <a:ext cx="18" cy="18"/>
              </a:xfrm>
              <a:custGeom>
                <a:avLst/>
                <a:gdLst>
                  <a:gd name="T0" fmla="*/ 18 w 18"/>
                  <a:gd name="T1" fmla="*/ 0 h 18"/>
                  <a:gd name="T2" fmla="*/ 18 w 18"/>
                  <a:gd name="T3" fmla="*/ 0 h 18"/>
                  <a:gd name="T4" fmla="*/ 0 w 18"/>
                  <a:gd name="T5" fmla="*/ 18 h 18"/>
                  <a:gd name="T6" fmla="*/ 0 w 18"/>
                  <a:gd name="T7" fmla="*/ 18 h 18"/>
                  <a:gd name="T8" fmla="*/ 18 w 18"/>
                  <a:gd name="T9" fmla="*/ 0 h 18"/>
                  <a:gd name="T10" fmla="*/ 18 w 18"/>
                  <a:gd name="T11" fmla="*/ 6 h 18"/>
                  <a:gd name="T12" fmla="*/ 18 w 18"/>
                  <a:gd name="T13" fmla="*/ 0 h 18"/>
                  <a:gd name="T14" fmla="*/ 18 w 18"/>
                  <a:gd name="T15" fmla="*/ 0 h 18"/>
                  <a:gd name="T16" fmla="*/ 6 w 18"/>
                  <a:gd name="T17" fmla="*/ 12 h 18"/>
                  <a:gd name="T18" fmla="*/ 18 w 18"/>
                  <a:gd name="T19" fmla="*/ 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18" y="0"/>
                    </a:moveTo>
                    <a:lnTo>
                      <a:pt x="18" y="0"/>
                    </a:lnTo>
                    <a:lnTo>
                      <a:pt x="0" y="18"/>
                    </a:lnTo>
                    <a:lnTo>
                      <a:pt x="0" y="18"/>
                    </a:lnTo>
                    <a:lnTo>
                      <a:pt x="18" y="0"/>
                    </a:lnTo>
                    <a:close/>
                    <a:moveTo>
                      <a:pt x="18" y="6"/>
                    </a:moveTo>
                    <a:lnTo>
                      <a:pt x="18" y="0"/>
                    </a:lnTo>
                    <a:lnTo>
                      <a:pt x="18" y="0"/>
                    </a:lnTo>
                    <a:lnTo>
                      <a:pt x="6"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51451" name="Freeform 251"/>
              <p:cNvSpPr>
                <a:spLocks noEditPoints="1"/>
              </p:cNvSpPr>
              <p:nvPr/>
            </p:nvSpPr>
            <p:spPr bwMode="auto">
              <a:xfrm>
                <a:off x="4555" y="2346"/>
                <a:ext cx="24" cy="36"/>
              </a:xfrm>
              <a:custGeom>
                <a:avLst/>
                <a:gdLst>
                  <a:gd name="T0" fmla="*/ 0 w 24"/>
                  <a:gd name="T1" fmla="*/ 18 h 36"/>
                  <a:gd name="T2" fmla="*/ 0 w 24"/>
                  <a:gd name="T3" fmla="*/ 24 h 36"/>
                  <a:gd name="T4" fmla="*/ 6 w 24"/>
                  <a:gd name="T5" fmla="*/ 36 h 36"/>
                  <a:gd name="T6" fmla="*/ 24 w 24"/>
                  <a:gd name="T7" fmla="*/ 24 h 36"/>
                  <a:gd name="T8" fmla="*/ 24 w 24"/>
                  <a:gd name="T9" fmla="*/ 24 h 36"/>
                  <a:gd name="T10" fmla="*/ 0 w 24"/>
                  <a:gd name="T11" fmla="*/ 18 h 36"/>
                  <a:gd name="T12" fmla="*/ 24 w 24"/>
                  <a:gd name="T13" fmla="*/ 12 h 36"/>
                  <a:gd name="T14" fmla="*/ 12 w 24"/>
                  <a:gd name="T15" fmla="*/ 0 h 36"/>
                  <a:gd name="T16" fmla="*/ 0 w 24"/>
                  <a:gd name="T17" fmla="*/ 18 h 36"/>
                  <a:gd name="T18" fmla="*/ 12 w 24"/>
                  <a:gd name="T19" fmla="*/ 18 h 36"/>
                  <a:gd name="T20" fmla="*/ 24 w 24"/>
                  <a:gd name="T21"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36">
                    <a:moveTo>
                      <a:pt x="0" y="18"/>
                    </a:moveTo>
                    <a:lnTo>
                      <a:pt x="0" y="24"/>
                    </a:lnTo>
                    <a:lnTo>
                      <a:pt x="6" y="36"/>
                    </a:lnTo>
                    <a:lnTo>
                      <a:pt x="24" y="24"/>
                    </a:lnTo>
                    <a:lnTo>
                      <a:pt x="24" y="24"/>
                    </a:lnTo>
                    <a:lnTo>
                      <a:pt x="0" y="18"/>
                    </a:lnTo>
                    <a:close/>
                    <a:moveTo>
                      <a:pt x="24" y="12"/>
                    </a:moveTo>
                    <a:lnTo>
                      <a:pt x="12" y="0"/>
                    </a:lnTo>
                    <a:lnTo>
                      <a:pt x="0" y="18"/>
                    </a:lnTo>
                    <a:lnTo>
                      <a:pt x="12" y="18"/>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51452" name="Freeform 252"/>
              <p:cNvSpPr>
                <a:spLocks noEditPoints="1"/>
              </p:cNvSpPr>
              <p:nvPr/>
            </p:nvSpPr>
            <p:spPr bwMode="auto">
              <a:xfrm>
                <a:off x="4555" y="2370"/>
                <a:ext cx="36" cy="30"/>
              </a:xfrm>
              <a:custGeom>
                <a:avLst/>
                <a:gdLst>
                  <a:gd name="T0" fmla="*/ 0 w 36"/>
                  <a:gd name="T1" fmla="*/ 6 h 30"/>
                  <a:gd name="T2" fmla="*/ 6 w 36"/>
                  <a:gd name="T3" fmla="*/ 18 h 30"/>
                  <a:gd name="T4" fmla="*/ 24 w 36"/>
                  <a:gd name="T5" fmla="*/ 30 h 30"/>
                  <a:gd name="T6" fmla="*/ 36 w 36"/>
                  <a:gd name="T7" fmla="*/ 12 h 30"/>
                  <a:gd name="T8" fmla="*/ 24 w 36"/>
                  <a:gd name="T9" fmla="*/ 6 h 30"/>
                  <a:gd name="T10" fmla="*/ 24 w 36"/>
                  <a:gd name="T11" fmla="*/ 6 h 30"/>
                  <a:gd name="T12" fmla="*/ 0 w 36"/>
                  <a:gd name="T13" fmla="*/ 6 h 30"/>
                  <a:gd name="T14" fmla="*/ 24 w 36"/>
                  <a:gd name="T15" fmla="*/ 6 h 30"/>
                  <a:gd name="T16" fmla="*/ 24 w 36"/>
                  <a:gd name="T17" fmla="*/ 0 h 30"/>
                  <a:gd name="T18" fmla="*/ 24 w 36"/>
                  <a:gd name="T19" fmla="*/ 0 h 30"/>
                  <a:gd name="T20" fmla="*/ 12 w 36"/>
                  <a:gd name="T21" fmla="*/ 6 h 30"/>
                  <a:gd name="T22" fmla="*/ 24 w 36"/>
                  <a:gd name="T23"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30">
                    <a:moveTo>
                      <a:pt x="0" y="6"/>
                    </a:moveTo>
                    <a:lnTo>
                      <a:pt x="6" y="18"/>
                    </a:lnTo>
                    <a:lnTo>
                      <a:pt x="24" y="30"/>
                    </a:lnTo>
                    <a:lnTo>
                      <a:pt x="36" y="12"/>
                    </a:lnTo>
                    <a:lnTo>
                      <a:pt x="24" y="6"/>
                    </a:lnTo>
                    <a:lnTo>
                      <a:pt x="24" y="6"/>
                    </a:lnTo>
                    <a:lnTo>
                      <a:pt x="0" y="6"/>
                    </a:lnTo>
                    <a:close/>
                    <a:moveTo>
                      <a:pt x="24" y="6"/>
                    </a:moveTo>
                    <a:lnTo>
                      <a:pt x="24" y="0"/>
                    </a:lnTo>
                    <a:lnTo>
                      <a:pt x="24" y="0"/>
                    </a:lnTo>
                    <a:lnTo>
                      <a:pt x="12" y="6"/>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51453" name="Freeform 253"/>
              <p:cNvSpPr>
                <a:spLocks noEditPoints="1"/>
              </p:cNvSpPr>
              <p:nvPr/>
            </p:nvSpPr>
            <p:spPr bwMode="auto">
              <a:xfrm>
                <a:off x="4573" y="2382"/>
                <a:ext cx="36" cy="18"/>
              </a:xfrm>
              <a:custGeom>
                <a:avLst/>
                <a:gdLst>
                  <a:gd name="T0" fmla="*/ 6 w 36"/>
                  <a:gd name="T1" fmla="*/ 0 h 18"/>
                  <a:gd name="T2" fmla="*/ 6 w 36"/>
                  <a:gd name="T3" fmla="*/ 0 h 18"/>
                  <a:gd name="T4" fmla="*/ 0 w 36"/>
                  <a:gd name="T5" fmla="*/ 6 h 18"/>
                  <a:gd name="T6" fmla="*/ 18 w 36"/>
                  <a:gd name="T7" fmla="*/ 18 h 18"/>
                  <a:gd name="T8" fmla="*/ 18 w 36"/>
                  <a:gd name="T9" fmla="*/ 18 h 18"/>
                  <a:gd name="T10" fmla="*/ 6 w 36"/>
                  <a:gd name="T11" fmla="*/ 0 h 18"/>
                  <a:gd name="T12" fmla="*/ 18 w 36"/>
                  <a:gd name="T13" fmla="*/ 18 h 18"/>
                  <a:gd name="T14" fmla="*/ 36 w 36"/>
                  <a:gd name="T15" fmla="*/ 6 h 18"/>
                  <a:gd name="T16" fmla="*/ 18 w 36"/>
                  <a:gd name="T17" fmla="*/ 0 h 18"/>
                  <a:gd name="T18" fmla="*/ 12 w 36"/>
                  <a:gd name="T19" fmla="*/ 12 h 18"/>
                  <a:gd name="T20" fmla="*/ 18 w 36"/>
                  <a:gd name="T21"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8">
                    <a:moveTo>
                      <a:pt x="6" y="0"/>
                    </a:moveTo>
                    <a:lnTo>
                      <a:pt x="6" y="0"/>
                    </a:lnTo>
                    <a:lnTo>
                      <a:pt x="0" y="6"/>
                    </a:lnTo>
                    <a:lnTo>
                      <a:pt x="18" y="18"/>
                    </a:lnTo>
                    <a:lnTo>
                      <a:pt x="18" y="18"/>
                    </a:lnTo>
                    <a:lnTo>
                      <a:pt x="6" y="0"/>
                    </a:lnTo>
                    <a:close/>
                    <a:moveTo>
                      <a:pt x="18" y="18"/>
                    </a:moveTo>
                    <a:lnTo>
                      <a:pt x="36" y="6"/>
                    </a:lnTo>
                    <a:lnTo>
                      <a:pt x="18" y="0"/>
                    </a:lnTo>
                    <a:lnTo>
                      <a:pt x="12" y="12"/>
                    </a:lnTo>
                    <a:lnTo>
                      <a:pt x="18" y="18"/>
                    </a:lnTo>
                    <a:close/>
                  </a:path>
                </a:pathLst>
              </a:custGeom>
              <a:solidFill>
                <a:srgbClr val="00FF00"/>
              </a:solidFill>
              <a:ln w="9525">
                <a:solidFill>
                  <a:srgbClr val="00FF00"/>
                </a:solidFill>
                <a:round/>
                <a:headEnd/>
                <a:tailEnd/>
              </a:ln>
            </p:spPr>
            <p:txBody>
              <a:bodyPr/>
              <a:lstStyle/>
              <a:p>
                <a:endParaRPr lang="zh-CN" altLang="en-US"/>
              </a:p>
            </p:txBody>
          </p:sp>
          <p:sp>
            <p:nvSpPr>
              <p:cNvPr id="51454" name="Freeform 254"/>
              <p:cNvSpPr>
                <a:spLocks noEditPoints="1"/>
              </p:cNvSpPr>
              <p:nvPr/>
            </p:nvSpPr>
            <p:spPr bwMode="auto">
              <a:xfrm>
                <a:off x="4543" y="2382"/>
                <a:ext cx="48" cy="29"/>
              </a:xfrm>
              <a:custGeom>
                <a:avLst/>
                <a:gdLst>
                  <a:gd name="T0" fmla="*/ 36 w 48"/>
                  <a:gd name="T1" fmla="*/ 0 h 29"/>
                  <a:gd name="T2" fmla="*/ 30 w 48"/>
                  <a:gd name="T3" fmla="*/ 0 h 29"/>
                  <a:gd name="T4" fmla="*/ 24 w 48"/>
                  <a:gd name="T5" fmla="*/ 6 h 29"/>
                  <a:gd name="T6" fmla="*/ 0 w 48"/>
                  <a:gd name="T7" fmla="*/ 12 h 29"/>
                  <a:gd name="T8" fmla="*/ 18 w 48"/>
                  <a:gd name="T9" fmla="*/ 29 h 29"/>
                  <a:gd name="T10" fmla="*/ 18 w 48"/>
                  <a:gd name="T11" fmla="*/ 29 h 29"/>
                  <a:gd name="T12" fmla="*/ 30 w 48"/>
                  <a:gd name="T13" fmla="*/ 29 h 29"/>
                  <a:gd name="T14" fmla="*/ 36 w 48"/>
                  <a:gd name="T15" fmla="*/ 23 h 29"/>
                  <a:gd name="T16" fmla="*/ 42 w 48"/>
                  <a:gd name="T17" fmla="*/ 23 h 29"/>
                  <a:gd name="T18" fmla="*/ 36 w 48"/>
                  <a:gd name="T19" fmla="*/ 0 h 29"/>
                  <a:gd name="T20" fmla="*/ 42 w 48"/>
                  <a:gd name="T21" fmla="*/ 23 h 29"/>
                  <a:gd name="T22" fmla="*/ 48 w 48"/>
                  <a:gd name="T23" fmla="*/ 23 h 29"/>
                  <a:gd name="T24" fmla="*/ 48 w 48"/>
                  <a:gd name="T25" fmla="*/ 18 h 29"/>
                  <a:gd name="T26" fmla="*/ 42 w 48"/>
                  <a:gd name="T27" fmla="*/ 12 h 29"/>
                  <a:gd name="T28" fmla="*/ 42 w 48"/>
                  <a:gd name="T29"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29">
                    <a:moveTo>
                      <a:pt x="36" y="0"/>
                    </a:moveTo>
                    <a:lnTo>
                      <a:pt x="30" y="0"/>
                    </a:lnTo>
                    <a:lnTo>
                      <a:pt x="24" y="6"/>
                    </a:lnTo>
                    <a:lnTo>
                      <a:pt x="0" y="12"/>
                    </a:lnTo>
                    <a:lnTo>
                      <a:pt x="18" y="29"/>
                    </a:lnTo>
                    <a:lnTo>
                      <a:pt x="18" y="29"/>
                    </a:lnTo>
                    <a:lnTo>
                      <a:pt x="30" y="29"/>
                    </a:lnTo>
                    <a:lnTo>
                      <a:pt x="36" y="23"/>
                    </a:lnTo>
                    <a:lnTo>
                      <a:pt x="42" y="23"/>
                    </a:lnTo>
                    <a:lnTo>
                      <a:pt x="36" y="0"/>
                    </a:lnTo>
                    <a:close/>
                    <a:moveTo>
                      <a:pt x="42" y="23"/>
                    </a:moveTo>
                    <a:lnTo>
                      <a:pt x="48" y="23"/>
                    </a:lnTo>
                    <a:lnTo>
                      <a:pt x="48" y="18"/>
                    </a:lnTo>
                    <a:lnTo>
                      <a:pt x="42" y="12"/>
                    </a:lnTo>
                    <a:lnTo>
                      <a:pt x="42" y="23"/>
                    </a:lnTo>
                    <a:close/>
                  </a:path>
                </a:pathLst>
              </a:custGeom>
              <a:solidFill>
                <a:srgbClr val="00FF00"/>
              </a:solidFill>
              <a:ln w="9525">
                <a:solidFill>
                  <a:srgbClr val="00FF00"/>
                </a:solidFill>
                <a:round/>
                <a:headEnd/>
                <a:tailEnd/>
              </a:ln>
            </p:spPr>
            <p:txBody>
              <a:bodyPr/>
              <a:lstStyle/>
              <a:p>
                <a:endParaRPr lang="zh-CN" altLang="en-US"/>
              </a:p>
            </p:txBody>
          </p:sp>
          <p:sp>
            <p:nvSpPr>
              <p:cNvPr id="51455" name="Freeform 255"/>
              <p:cNvSpPr>
                <a:spLocks noEditPoints="1"/>
              </p:cNvSpPr>
              <p:nvPr/>
            </p:nvSpPr>
            <p:spPr bwMode="auto">
              <a:xfrm>
                <a:off x="4537" y="2394"/>
                <a:ext cx="30" cy="29"/>
              </a:xfrm>
              <a:custGeom>
                <a:avLst/>
                <a:gdLst>
                  <a:gd name="T0" fmla="*/ 6 w 30"/>
                  <a:gd name="T1" fmla="*/ 6 h 29"/>
                  <a:gd name="T2" fmla="*/ 0 w 30"/>
                  <a:gd name="T3" fmla="*/ 23 h 29"/>
                  <a:gd name="T4" fmla="*/ 24 w 30"/>
                  <a:gd name="T5" fmla="*/ 29 h 29"/>
                  <a:gd name="T6" fmla="*/ 30 w 30"/>
                  <a:gd name="T7" fmla="*/ 11 h 29"/>
                  <a:gd name="T8" fmla="*/ 6 w 30"/>
                  <a:gd name="T9" fmla="*/ 6 h 29"/>
                  <a:gd name="T10" fmla="*/ 6 w 30"/>
                  <a:gd name="T11" fmla="*/ 0 h 29"/>
                  <a:gd name="T12" fmla="*/ 6 w 30"/>
                  <a:gd name="T13" fmla="*/ 6 h 29"/>
                  <a:gd name="T14" fmla="*/ 6 w 30"/>
                  <a:gd name="T15" fmla="*/ 6 h 29"/>
                  <a:gd name="T16" fmla="*/ 18 w 30"/>
                  <a:gd name="T17" fmla="*/ 11 h 29"/>
                  <a:gd name="T18" fmla="*/ 6 w 30"/>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29">
                    <a:moveTo>
                      <a:pt x="6" y="6"/>
                    </a:moveTo>
                    <a:lnTo>
                      <a:pt x="0" y="23"/>
                    </a:lnTo>
                    <a:lnTo>
                      <a:pt x="24" y="29"/>
                    </a:lnTo>
                    <a:lnTo>
                      <a:pt x="30" y="11"/>
                    </a:lnTo>
                    <a:lnTo>
                      <a:pt x="6" y="6"/>
                    </a:lnTo>
                    <a:close/>
                    <a:moveTo>
                      <a:pt x="6" y="0"/>
                    </a:moveTo>
                    <a:lnTo>
                      <a:pt x="6" y="6"/>
                    </a:lnTo>
                    <a:lnTo>
                      <a:pt x="6" y="6"/>
                    </a:lnTo>
                    <a:lnTo>
                      <a:pt x="18" y="11"/>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456" name="Freeform 256"/>
              <p:cNvSpPr>
                <a:spLocks/>
              </p:cNvSpPr>
              <p:nvPr/>
            </p:nvSpPr>
            <p:spPr bwMode="auto">
              <a:xfrm>
                <a:off x="4537" y="2417"/>
                <a:ext cx="12" cy="12"/>
              </a:xfrm>
              <a:custGeom>
                <a:avLst/>
                <a:gdLst>
                  <a:gd name="T0" fmla="*/ 0 w 12"/>
                  <a:gd name="T1" fmla="*/ 0 h 12"/>
                  <a:gd name="T2" fmla="*/ 0 w 12"/>
                  <a:gd name="T3" fmla="*/ 6 h 12"/>
                  <a:gd name="T4" fmla="*/ 6 w 12"/>
                  <a:gd name="T5" fmla="*/ 12 h 12"/>
                  <a:gd name="T6" fmla="*/ 12 w 12"/>
                  <a:gd name="T7" fmla="*/ 0 h 12"/>
                  <a:gd name="T8" fmla="*/ 0 w 12"/>
                  <a:gd name="T9" fmla="*/ 0 h 12"/>
                </a:gdLst>
                <a:ahLst/>
                <a:cxnLst>
                  <a:cxn ang="0">
                    <a:pos x="T0" y="T1"/>
                  </a:cxn>
                  <a:cxn ang="0">
                    <a:pos x="T2" y="T3"/>
                  </a:cxn>
                  <a:cxn ang="0">
                    <a:pos x="T4" y="T5"/>
                  </a:cxn>
                  <a:cxn ang="0">
                    <a:pos x="T6" y="T7"/>
                  </a:cxn>
                  <a:cxn ang="0">
                    <a:pos x="T8" y="T9"/>
                  </a:cxn>
                </a:cxnLst>
                <a:rect l="0" t="0" r="r" b="b"/>
                <a:pathLst>
                  <a:path w="12" h="12">
                    <a:moveTo>
                      <a:pt x="0" y="0"/>
                    </a:moveTo>
                    <a:lnTo>
                      <a:pt x="0" y="6"/>
                    </a:lnTo>
                    <a:lnTo>
                      <a:pt x="6" y="12"/>
                    </a:lnTo>
                    <a:lnTo>
                      <a:pt x="12" y="0"/>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51457" name="Freeform 257"/>
              <p:cNvSpPr>
                <a:spLocks/>
              </p:cNvSpPr>
              <p:nvPr/>
            </p:nvSpPr>
            <p:spPr bwMode="auto">
              <a:xfrm>
                <a:off x="4495" y="2411"/>
                <a:ext cx="48" cy="18"/>
              </a:xfrm>
              <a:custGeom>
                <a:avLst/>
                <a:gdLst>
                  <a:gd name="T0" fmla="*/ 48 w 48"/>
                  <a:gd name="T1" fmla="*/ 18 h 18"/>
                  <a:gd name="T2" fmla="*/ 42 w 48"/>
                  <a:gd name="T3" fmla="*/ 18 h 18"/>
                  <a:gd name="T4" fmla="*/ 30 w 48"/>
                  <a:gd name="T5" fmla="*/ 18 h 18"/>
                  <a:gd name="T6" fmla="*/ 30 w 48"/>
                  <a:gd name="T7" fmla="*/ 18 h 18"/>
                  <a:gd name="T8" fmla="*/ 24 w 48"/>
                  <a:gd name="T9" fmla="*/ 12 h 18"/>
                  <a:gd name="T10" fmla="*/ 18 w 48"/>
                  <a:gd name="T11" fmla="*/ 6 h 18"/>
                  <a:gd name="T12" fmla="*/ 18 w 48"/>
                  <a:gd name="T13" fmla="*/ 6 h 18"/>
                  <a:gd name="T14" fmla="*/ 18 w 48"/>
                  <a:gd name="T15" fmla="*/ 6 h 18"/>
                  <a:gd name="T16" fmla="*/ 12 w 48"/>
                  <a:gd name="T17" fmla="*/ 6 h 18"/>
                  <a:gd name="T18" fmla="*/ 12 w 48"/>
                  <a:gd name="T19" fmla="*/ 6 h 18"/>
                  <a:gd name="T20" fmla="*/ 12 w 48"/>
                  <a:gd name="T21" fmla="*/ 6 h 18"/>
                  <a:gd name="T22" fmla="*/ 6 w 48"/>
                  <a:gd name="T23" fmla="*/ 0 h 18"/>
                  <a:gd name="T24" fmla="*/ 6 w 48"/>
                  <a:gd name="T25" fmla="*/ 0 h 18"/>
                  <a:gd name="T26" fmla="*/ 6 w 48"/>
                  <a:gd name="T27" fmla="*/ 0 h 18"/>
                  <a:gd name="T28" fmla="*/ 0 w 48"/>
                  <a:gd name="T29" fmla="*/ 0 h 18"/>
                  <a:gd name="T30" fmla="*/ 6 w 48"/>
                  <a:gd name="T31" fmla="*/ 0 h 18"/>
                  <a:gd name="T32" fmla="*/ 6 w 48"/>
                  <a:gd name="T33" fmla="*/ 0 h 18"/>
                  <a:gd name="T34" fmla="*/ 12 w 48"/>
                  <a:gd name="T35" fmla="*/ 0 h 18"/>
                  <a:gd name="T36" fmla="*/ 12 w 48"/>
                  <a:gd name="T37" fmla="*/ 0 h 18"/>
                  <a:gd name="T38" fmla="*/ 18 w 48"/>
                  <a:gd name="T39" fmla="*/ 6 h 18"/>
                  <a:gd name="T40" fmla="*/ 18 w 48"/>
                  <a:gd name="T41" fmla="*/ 6 h 18"/>
                  <a:gd name="T42" fmla="*/ 24 w 48"/>
                  <a:gd name="T43" fmla="*/ 12 h 18"/>
                  <a:gd name="T44" fmla="*/ 30 w 48"/>
                  <a:gd name="T45" fmla="*/ 12 h 18"/>
                  <a:gd name="T46" fmla="*/ 30 w 48"/>
                  <a:gd name="T47" fmla="*/ 12 h 18"/>
                  <a:gd name="T48" fmla="*/ 36 w 48"/>
                  <a:gd name="T49" fmla="*/ 12 h 18"/>
                  <a:gd name="T50" fmla="*/ 42 w 48"/>
                  <a:gd name="T51" fmla="*/ 12 h 18"/>
                  <a:gd name="T52" fmla="*/ 42 w 48"/>
                  <a:gd name="T53" fmla="*/ 12 h 18"/>
                  <a:gd name="T54" fmla="*/ 48 w 48"/>
                  <a:gd name="T55" fmla="*/ 18 h 18"/>
                  <a:gd name="T56" fmla="*/ 48 w 48"/>
                  <a:gd name="T5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 h="18">
                    <a:moveTo>
                      <a:pt x="48" y="18"/>
                    </a:moveTo>
                    <a:lnTo>
                      <a:pt x="42" y="18"/>
                    </a:lnTo>
                    <a:lnTo>
                      <a:pt x="30" y="18"/>
                    </a:lnTo>
                    <a:lnTo>
                      <a:pt x="30" y="18"/>
                    </a:lnTo>
                    <a:lnTo>
                      <a:pt x="24" y="12"/>
                    </a:lnTo>
                    <a:lnTo>
                      <a:pt x="18" y="6"/>
                    </a:lnTo>
                    <a:lnTo>
                      <a:pt x="18" y="6"/>
                    </a:lnTo>
                    <a:lnTo>
                      <a:pt x="18" y="6"/>
                    </a:lnTo>
                    <a:lnTo>
                      <a:pt x="12" y="6"/>
                    </a:lnTo>
                    <a:lnTo>
                      <a:pt x="12" y="6"/>
                    </a:lnTo>
                    <a:lnTo>
                      <a:pt x="12" y="6"/>
                    </a:lnTo>
                    <a:lnTo>
                      <a:pt x="6" y="0"/>
                    </a:lnTo>
                    <a:lnTo>
                      <a:pt x="6" y="0"/>
                    </a:lnTo>
                    <a:lnTo>
                      <a:pt x="6" y="0"/>
                    </a:lnTo>
                    <a:lnTo>
                      <a:pt x="0" y="0"/>
                    </a:lnTo>
                    <a:lnTo>
                      <a:pt x="6" y="0"/>
                    </a:lnTo>
                    <a:lnTo>
                      <a:pt x="6" y="0"/>
                    </a:lnTo>
                    <a:lnTo>
                      <a:pt x="12" y="0"/>
                    </a:lnTo>
                    <a:lnTo>
                      <a:pt x="12" y="0"/>
                    </a:lnTo>
                    <a:lnTo>
                      <a:pt x="18" y="6"/>
                    </a:lnTo>
                    <a:lnTo>
                      <a:pt x="18" y="6"/>
                    </a:lnTo>
                    <a:lnTo>
                      <a:pt x="24" y="12"/>
                    </a:lnTo>
                    <a:lnTo>
                      <a:pt x="30" y="12"/>
                    </a:lnTo>
                    <a:lnTo>
                      <a:pt x="30" y="12"/>
                    </a:lnTo>
                    <a:lnTo>
                      <a:pt x="36" y="12"/>
                    </a:lnTo>
                    <a:lnTo>
                      <a:pt x="42" y="12"/>
                    </a:lnTo>
                    <a:lnTo>
                      <a:pt x="42" y="12"/>
                    </a:lnTo>
                    <a:lnTo>
                      <a:pt x="48" y="18"/>
                    </a:lnTo>
                    <a:lnTo>
                      <a:pt x="48" y="18"/>
                    </a:lnTo>
                    <a:close/>
                  </a:path>
                </a:pathLst>
              </a:custGeom>
              <a:solidFill>
                <a:srgbClr val="00FF00"/>
              </a:solidFill>
              <a:ln w="9525">
                <a:solidFill>
                  <a:srgbClr val="00FF00"/>
                </a:solidFill>
                <a:round/>
                <a:headEnd/>
                <a:tailEnd/>
              </a:ln>
            </p:spPr>
            <p:txBody>
              <a:bodyPr/>
              <a:lstStyle/>
              <a:p>
                <a:endParaRPr lang="zh-CN" altLang="en-US"/>
              </a:p>
            </p:txBody>
          </p:sp>
          <p:sp>
            <p:nvSpPr>
              <p:cNvPr id="51458" name="Freeform 258"/>
              <p:cNvSpPr>
                <a:spLocks/>
              </p:cNvSpPr>
              <p:nvPr/>
            </p:nvSpPr>
            <p:spPr bwMode="auto">
              <a:xfrm>
                <a:off x="4519" y="2417"/>
                <a:ext cx="24" cy="24"/>
              </a:xfrm>
              <a:custGeom>
                <a:avLst/>
                <a:gdLst>
                  <a:gd name="T0" fmla="*/ 18 w 24"/>
                  <a:gd name="T1" fmla="*/ 0 h 24"/>
                  <a:gd name="T2" fmla="*/ 18 w 24"/>
                  <a:gd name="T3" fmla="*/ 0 h 24"/>
                  <a:gd name="T4" fmla="*/ 18 w 24"/>
                  <a:gd name="T5" fmla="*/ 0 h 24"/>
                  <a:gd name="T6" fmla="*/ 12 w 24"/>
                  <a:gd name="T7" fmla="*/ 0 h 24"/>
                  <a:gd name="T8" fmla="*/ 18 w 24"/>
                  <a:gd name="T9" fmla="*/ 6 h 24"/>
                  <a:gd name="T10" fmla="*/ 0 w 24"/>
                  <a:gd name="T11" fmla="*/ 18 h 24"/>
                  <a:gd name="T12" fmla="*/ 12 w 24"/>
                  <a:gd name="T13" fmla="*/ 24 h 24"/>
                  <a:gd name="T14" fmla="*/ 18 w 24"/>
                  <a:gd name="T15" fmla="*/ 24 h 24"/>
                  <a:gd name="T16" fmla="*/ 24 w 24"/>
                  <a:gd name="T17" fmla="*/ 24 h 24"/>
                  <a:gd name="T18" fmla="*/ 18 w 24"/>
                  <a:gd name="T19"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8" y="0"/>
                    </a:moveTo>
                    <a:lnTo>
                      <a:pt x="18" y="0"/>
                    </a:lnTo>
                    <a:lnTo>
                      <a:pt x="18" y="0"/>
                    </a:lnTo>
                    <a:lnTo>
                      <a:pt x="12" y="0"/>
                    </a:lnTo>
                    <a:lnTo>
                      <a:pt x="18" y="6"/>
                    </a:lnTo>
                    <a:lnTo>
                      <a:pt x="0" y="18"/>
                    </a:lnTo>
                    <a:lnTo>
                      <a:pt x="12" y="24"/>
                    </a:lnTo>
                    <a:lnTo>
                      <a:pt x="18" y="24"/>
                    </a:lnTo>
                    <a:lnTo>
                      <a:pt x="24" y="24"/>
                    </a:lnTo>
                    <a:lnTo>
                      <a:pt x="18" y="0"/>
                    </a:lnTo>
                    <a:close/>
                  </a:path>
                </a:pathLst>
              </a:custGeom>
              <a:solidFill>
                <a:srgbClr val="00FF00"/>
              </a:solidFill>
              <a:ln w="9525">
                <a:solidFill>
                  <a:srgbClr val="00FF00"/>
                </a:solidFill>
                <a:round/>
                <a:headEnd/>
                <a:tailEnd/>
              </a:ln>
            </p:spPr>
            <p:txBody>
              <a:bodyPr/>
              <a:lstStyle/>
              <a:p>
                <a:endParaRPr lang="zh-CN" altLang="en-US"/>
              </a:p>
            </p:txBody>
          </p:sp>
          <p:sp>
            <p:nvSpPr>
              <p:cNvPr id="51459" name="Freeform 259"/>
              <p:cNvSpPr>
                <a:spLocks noEditPoints="1"/>
              </p:cNvSpPr>
              <p:nvPr/>
            </p:nvSpPr>
            <p:spPr bwMode="auto">
              <a:xfrm>
                <a:off x="4513" y="2417"/>
                <a:ext cx="24" cy="24"/>
              </a:xfrm>
              <a:custGeom>
                <a:avLst/>
                <a:gdLst>
                  <a:gd name="T0" fmla="*/ 12 w 24"/>
                  <a:gd name="T1" fmla="*/ 0 h 24"/>
                  <a:gd name="T2" fmla="*/ 12 w 24"/>
                  <a:gd name="T3" fmla="*/ 0 h 24"/>
                  <a:gd name="T4" fmla="*/ 18 w 24"/>
                  <a:gd name="T5" fmla="*/ 6 h 24"/>
                  <a:gd name="T6" fmla="*/ 0 w 24"/>
                  <a:gd name="T7" fmla="*/ 18 h 24"/>
                  <a:gd name="T8" fmla="*/ 6 w 24"/>
                  <a:gd name="T9" fmla="*/ 24 h 24"/>
                  <a:gd name="T10" fmla="*/ 12 w 24"/>
                  <a:gd name="T11" fmla="*/ 24 h 24"/>
                  <a:gd name="T12" fmla="*/ 18 w 24"/>
                  <a:gd name="T13" fmla="*/ 24 h 24"/>
                  <a:gd name="T14" fmla="*/ 12 w 24"/>
                  <a:gd name="T15" fmla="*/ 0 h 24"/>
                  <a:gd name="T16" fmla="*/ 24 w 24"/>
                  <a:gd name="T17" fmla="*/ 6 h 24"/>
                  <a:gd name="T18" fmla="*/ 18 w 24"/>
                  <a:gd name="T19" fmla="*/ 0 h 24"/>
                  <a:gd name="T20" fmla="*/ 12 w 24"/>
                  <a:gd name="T21" fmla="*/ 0 h 24"/>
                  <a:gd name="T22" fmla="*/ 12 w 24"/>
                  <a:gd name="T23" fmla="*/ 12 h 24"/>
                  <a:gd name="T24" fmla="*/ 24 w 24"/>
                  <a:gd name="T25"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12" y="0"/>
                    </a:moveTo>
                    <a:lnTo>
                      <a:pt x="12" y="0"/>
                    </a:lnTo>
                    <a:lnTo>
                      <a:pt x="18" y="6"/>
                    </a:lnTo>
                    <a:lnTo>
                      <a:pt x="0" y="18"/>
                    </a:lnTo>
                    <a:lnTo>
                      <a:pt x="6" y="24"/>
                    </a:lnTo>
                    <a:lnTo>
                      <a:pt x="12" y="24"/>
                    </a:lnTo>
                    <a:lnTo>
                      <a:pt x="18" y="24"/>
                    </a:lnTo>
                    <a:lnTo>
                      <a:pt x="12" y="0"/>
                    </a:lnTo>
                    <a:close/>
                    <a:moveTo>
                      <a:pt x="24" y="6"/>
                    </a:moveTo>
                    <a:lnTo>
                      <a:pt x="18" y="0"/>
                    </a:lnTo>
                    <a:lnTo>
                      <a:pt x="12" y="0"/>
                    </a:lnTo>
                    <a:lnTo>
                      <a:pt x="12" y="12"/>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51460" name="Freeform 260"/>
              <p:cNvSpPr>
                <a:spLocks noEditPoints="1"/>
              </p:cNvSpPr>
              <p:nvPr/>
            </p:nvSpPr>
            <p:spPr bwMode="auto">
              <a:xfrm>
                <a:off x="4501" y="2411"/>
                <a:ext cx="30" cy="24"/>
              </a:xfrm>
              <a:custGeom>
                <a:avLst/>
                <a:gdLst>
                  <a:gd name="T0" fmla="*/ 30 w 30"/>
                  <a:gd name="T1" fmla="*/ 6 h 24"/>
                  <a:gd name="T2" fmla="*/ 24 w 30"/>
                  <a:gd name="T3" fmla="*/ 0 h 24"/>
                  <a:gd name="T4" fmla="*/ 24 w 30"/>
                  <a:gd name="T5" fmla="*/ 6 h 24"/>
                  <a:gd name="T6" fmla="*/ 24 w 30"/>
                  <a:gd name="T7" fmla="*/ 12 h 24"/>
                  <a:gd name="T8" fmla="*/ 0 w 30"/>
                  <a:gd name="T9" fmla="*/ 6 h 24"/>
                  <a:gd name="T10" fmla="*/ 6 w 30"/>
                  <a:gd name="T11" fmla="*/ 18 h 24"/>
                  <a:gd name="T12" fmla="*/ 12 w 30"/>
                  <a:gd name="T13" fmla="*/ 24 h 24"/>
                  <a:gd name="T14" fmla="*/ 18 w 30"/>
                  <a:gd name="T15" fmla="*/ 24 h 24"/>
                  <a:gd name="T16" fmla="*/ 30 w 30"/>
                  <a:gd name="T17" fmla="*/ 6 h 24"/>
                  <a:gd name="T18" fmla="*/ 30 w 30"/>
                  <a:gd name="T19" fmla="*/ 12 h 24"/>
                  <a:gd name="T20" fmla="*/ 30 w 30"/>
                  <a:gd name="T21" fmla="*/ 6 h 24"/>
                  <a:gd name="T22" fmla="*/ 30 w 30"/>
                  <a:gd name="T23" fmla="*/ 6 h 24"/>
                  <a:gd name="T24" fmla="*/ 24 w 30"/>
                  <a:gd name="T25" fmla="*/ 18 h 24"/>
                  <a:gd name="T26" fmla="*/ 30 w 30"/>
                  <a:gd name="T27"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24">
                    <a:moveTo>
                      <a:pt x="30" y="6"/>
                    </a:moveTo>
                    <a:lnTo>
                      <a:pt x="24" y="0"/>
                    </a:lnTo>
                    <a:lnTo>
                      <a:pt x="24" y="6"/>
                    </a:lnTo>
                    <a:lnTo>
                      <a:pt x="24" y="12"/>
                    </a:lnTo>
                    <a:lnTo>
                      <a:pt x="0" y="6"/>
                    </a:lnTo>
                    <a:lnTo>
                      <a:pt x="6" y="18"/>
                    </a:lnTo>
                    <a:lnTo>
                      <a:pt x="12" y="24"/>
                    </a:lnTo>
                    <a:lnTo>
                      <a:pt x="18" y="24"/>
                    </a:lnTo>
                    <a:lnTo>
                      <a:pt x="30" y="6"/>
                    </a:lnTo>
                    <a:close/>
                    <a:moveTo>
                      <a:pt x="30" y="12"/>
                    </a:moveTo>
                    <a:lnTo>
                      <a:pt x="30" y="6"/>
                    </a:lnTo>
                    <a:lnTo>
                      <a:pt x="30" y="6"/>
                    </a:lnTo>
                    <a:lnTo>
                      <a:pt x="24" y="18"/>
                    </a:lnTo>
                    <a:lnTo>
                      <a:pt x="30" y="12"/>
                    </a:lnTo>
                    <a:close/>
                  </a:path>
                </a:pathLst>
              </a:custGeom>
              <a:solidFill>
                <a:srgbClr val="00FF00"/>
              </a:solidFill>
              <a:ln w="9525">
                <a:solidFill>
                  <a:srgbClr val="00FF00"/>
                </a:solidFill>
                <a:round/>
                <a:headEnd/>
                <a:tailEnd/>
              </a:ln>
            </p:spPr>
            <p:txBody>
              <a:bodyPr/>
              <a:lstStyle/>
              <a:p>
                <a:endParaRPr lang="zh-CN" altLang="en-US"/>
              </a:p>
            </p:txBody>
          </p:sp>
          <p:sp>
            <p:nvSpPr>
              <p:cNvPr id="51461" name="Freeform 261"/>
              <p:cNvSpPr>
                <a:spLocks noEditPoints="1"/>
              </p:cNvSpPr>
              <p:nvPr/>
            </p:nvSpPr>
            <p:spPr bwMode="auto">
              <a:xfrm>
                <a:off x="4507" y="2405"/>
                <a:ext cx="18" cy="24"/>
              </a:xfrm>
              <a:custGeom>
                <a:avLst/>
                <a:gdLst>
                  <a:gd name="T0" fmla="*/ 6 w 18"/>
                  <a:gd name="T1" fmla="*/ 0 h 24"/>
                  <a:gd name="T2" fmla="*/ 6 w 18"/>
                  <a:gd name="T3" fmla="*/ 0 h 24"/>
                  <a:gd name="T4" fmla="*/ 6 w 18"/>
                  <a:gd name="T5" fmla="*/ 0 h 24"/>
                  <a:gd name="T6" fmla="*/ 0 w 18"/>
                  <a:gd name="T7" fmla="*/ 24 h 24"/>
                  <a:gd name="T8" fmla="*/ 6 w 18"/>
                  <a:gd name="T9" fmla="*/ 24 h 24"/>
                  <a:gd name="T10" fmla="*/ 6 w 18"/>
                  <a:gd name="T11" fmla="*/ 24 h 24"/>
                  <a:gd name="T12" fmla="*/ 6 w 18"/>
                  <a:gd name="T13" fmla="*/ 0 h 24"/>
                  <a:gd name="T14" fmla="*/ 18 w 18"/>
                  <a:gd name="T15" fmla="*/ 18 h 24"/>
                  <a:gd name="T16" fmla="*/ 18 w 18"/>
                  <a:gd name="T17" fmla="*/ 6 h 24"/>
                  <a:gd name="T18" fmla="*/ 6 w 18"/>
                  <a:gd name="T19" fmla="*/ 0 h 24"/>
                  <a:gd name="T20" fmla="*/ 6 w 18"/>
                  <a:gd name="T21" fmla="*/ 12 h 24"/>
                  <a:gd name="T22" fmla="*/ 18 w 18"/>
                  <a:gd name="T23" fmla="*/ 1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6" y="0"/>
                    </a:moveTo>
                    <a:lnTo>
                      <a:pt x="6" y="0"/>
                    </a:lnTo>
                    <a:lnTo>
                      <a:pt x="6" y="0"/>
                    </a:lnTo>
                    <a:lnTo>
                      <a:pt x="0" y="24"/>
                    </a:lnTo>
                    <a:lnTo>
                      <a:pt x="6" y="24"/>
                    </a:lnTo>
                    <a:lnTo>
                      <a:pt x="6" y="24"/>
                    </a:lnTo>
                    <a:lnTo>
                      <a:pt x="6" y="0"/>
                    </a:lnTo>
                    <a:close/>
                    <a:moveTo>
                      <a:pt x="18" y="18"/>
                    </a:moveTo>
                    <a:lnTo>
                      <a:pt x="18" y="6"/>
                    </a:lnTo>
                    <a:lnTo>
                      <a:pt x="6" y="0"/>
                    </a:lnTo>
                    <a:lnTo>
                      <a:pt x="6" y="12"/>
                    </a:lnTo>
                    <a:lnTo>
                      <a:pt x="18" y="18"/>
                    </a:lnTo>
                    <a:close/>
                  </a:path>
                </a:pathLst>
              </a:custGeom>
              <a:solidFill>
                <a:srgbClr val="00FF00"/>
              </a:solidFill>
              <a:ln w="9525">
                <a:solidFill>
                  <a:srgbClr val="00FF00"/>
                </a:solidFill>
                <a:round/>
                <a:headEnd/>
                <a:tailEnd/>
              </a:ln>
            </p:spPr>
            <p:txBody>
              <a:bodyPr/>
              <a:lstStyle/>
              <a:p>
                <a:endParaRPr lang="zh-CN" altLang="en-US"/>
              </a:p>
            </p:txBody>
          </p:sp>
          <p:sp>
            <p:nvSpPr>
              <p:cNvPr id="51462" name="Freeform 262"/>
              <p:cNvSpPr>
                <a:spLocks noEditPoints="1"/>
              </p:cNvSpPr>
              <p:nvPr/>
            </p:nvSpPr>
            <p:spPr bwMode="auto">
              <a:xfrm>
                <a:off x="4501" y="2405"/>
                <a:ext cx="18" cy="24"/>
              </a:xfrm>
              <a:custGeom>
                <a:avLst/>
                <a:gdLst>
                  <a:gd name="T0" fmla="*/ 18 w 18"/>
                  <a:gd name="T1" fmla="*/ 6 h 24"/>
                  <a:gd name="T2" fmla="*/ 18 w 18"/>
                  <a:gd name="T3" fmla="*/ 6 h 24"/>
                  <a:gd name="T4" fmla="*/ 12 w 18"/>
                  <a:gd name="T5" fmla="*/ 0 h 24"/>
                  <a:gd name="T6" fmla="*/ 6 w 18"/>
                  <a:gd name="T7" fmla="*/ 24 h 24"/>
                  <a:gd name="T8" fmla="*/ 6 w 18"/>
                  <a:gd name="T9" fmla="*/ 24 h 24"/>
                  <a:gd name="T10" fmla="*/ 0 w 18"/>
                  <a:gd name="T11" fmla="*/ 24 h 24"/>
                  <a:gd name="T12" fmla="*/ 18 w 18"/>
                  <a:gd name="T13" fmla="*/ 6 h 24"/>
                  <a:gd name="T14" fmla="*/ 0 w 18"/>
                  <a:gd name="T15" fmla="*/ 24 h 24"/>
                  <a:gd name="T16" fmla="*/ 6 w 18"/>
                  <a:gd name="T17" fmla="*/ 24 h 24"/>
                  <a:gd name="T18" fmla="*/ 6 w 18"/>
                  <a:gd name="T19" fmla="*/ 24 h 24"/>
                  <a:gd name="T20" fmla="*/ 12 w 18"/>
                  <a:gd name="T21" fmla="*/ 12 h 24"/>
                  <a:gd name="T22" fmla="*/ 0 w 18"/>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18" y="6"/>
                    </a:moveTo>
                    <a:lnTo>
                      <a:pt x="18" y="6"/>
                    </a:lnTo>
                    <a:lnTo>
                      <a:pt x="12" y="0"/>
                    </a:lnTo>
                    <a:lnTo>
                      <a:pt x="6" y="24"/>
                    </a:lnTo>
                    <a:lnTo>
                      <a:pt x="6" y="24"/>
                    </a:lnTo>
                    <a:lnTo>
                      <a:pt x="0" y="24"/>
                    </a:lnTo>
                    <a:lnTo>
                      <a:pt x="18" y="6"/>
                    </a:lnTo>
                    <a:close/>
                    <a:moveTo>
                      <a:pt x="0" y="24"/>
                    </a:moveTo>
                    <a:lnTo>
                      <a:pt x="6" y="24"/>
                    </a:lnTo>
                    <a:lnTo>
                      <a:pt x="6" y="24"/>
                    </a:lnTo>
                    <a:lnTo>
                      <a:pt x="12" y="12"/>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51463" name="Freeform 263"/>
              <p:cNvSpPr>
                <a:spLocks noEditPoints="1"/>
              </p:cNvSpPr>
              <p:nvPr/>
            </p:nvSpPr>
            <p:spPr bwMode="auto">
              <a:xfrm>
                <a:off x="4501" y="2405"/>
                <a:ext cx="12" cy="24"/>
              </a:xfrm>
              <a:custGeom>
                <a:avLst/>
                <a:gdLst>
                  <a:gd name="T0" fmla="*/ 6 w 12"/>
                  <a:gd name="T1" fmla="*/ 0 h 24"/>
                  <a:gd name="T2" fmla="*/ 6 w 12"/>
                  <a:gd name="T3" fmla="*/ 0 h 24"/>
                  <a:gd name="T4" fmla="*/ 6 w 12"/>
                  <a:gd name="T5" fmla="*/ 0 h 24"/>
                  <a:gd name="T6" fmla="*/ 0 w 12"/>
                  <a:gd name="T7" fmla="*/ 24 h 24"/>
                  <a:gd name="T8" fmla="*/ 6 w 12"/>
                  <a:gd name="T9" fmla="*/ 24 h 24"/>
                  <a:gd name="T10" fmla="*/ 6 w 12"/>
                  <a:gd name="T11" fmla="*/ 24 h 24"/>
                  <a:gd name="T12" fmla="*/ 6 w 12"/>
                  <a:gd name="T13" fmla="*/ 0 h 24"/>
                  <a:gd name="T14" fmla="*/ 12 w 12"/>
                  <a:gd name="T15" fmla="*/ 0 h 24"/>
                  <a:gd name="T16" fmla="*/ 12 w 12"/>
                  <a:gd name="T17" fmla="*/ 0 h 24"/>
                  <a:gd name="T18" fmla="*/ 6 w 12"/>
                  <a:gd name="T19" fmla="*/ 0 h 24"/>
                  <a:gd name="T20" fmla="*/ 6 w 12"/>
                  <a:gd name="T21" fmla="*/ 12 h 24"/>
                  <a:gd name="T22" fmla="*/ 12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6" y="0"/>
                    </a:moveTo>
                    <a:lnTo>
                      <a:pt x="6" y="0"/>
                    </a:lnTo>
                    <a:lnTo>
                      <a:pt x="6" y="0"/>
                    </a:lnTo>
                    <a:lnTo>
                      <a:pt x="0" y="24"/>
                    </a:lnTo>
                    <a:lnTo>
                      <a:pt x="6" y="24"/>
                    </a:lnTo>
                    <a:lnTo>
                      <a:pt x="6" y="24"/>
                    </a:lnTo>
                    <a:lnTo>
                      <a:pt x="6" y="0"/>
                    </a:lnTo>
                    <a:close/>
                    <a:moveTo>
                      <a:pt x="12" y="0"/>
                    </a:moveTo>
                    <a:lnTo>
                      <a:pt x="12" y="0"/>
                    </a:lnTo>
                    <a:lnTo>
                      <a:pt x="6" y="0"/>
                    </a:lnTo>
                    <a:lnTo>
                      <a:pt x="6"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464" name="Freeform 264"/>
              <p:cNvSpPr>
                <a:spLocks noEditPoints="1"/>
              </p:cNvSpPr>
              <p:nvPr/>
            </p:nvSpPr>
            <p:spPr bwMode="auto">
              <a:xfrm>
                <a:off x="4495" y="2405"/>
                <a:ext cx="12" cy="18"/>
              </a:xfrm>
              <a:custGeom>
                <a:avLst/>
                <a:gdLst>
                  <a:gd name="T0" fmla="*/ 12 w 12"/>
                  <a:gd name="T1" fmla="*/ 0 h 18"/>
                  <a:gd name="T2" fmla="*/ 12 w 12"/>
                  <a:gd name="T3" fmla="*/ 0 h 18"/>
                  <a:gd name="T4" fmla="*/ 12 w 12"/>
                  <a:gd name="T5" fmla="*/ 0 h 18"/>
                  <a:gd name="T6" fmla="*/ 12 w 12"/>
                  <a:gd name="T7" fmla="*/ 0 h 18"/>
                  <a:gd name="T8" fmla="*/ 12 w 12"/>
                  <a:gd name="T9" fmla="*/ 0 h 18"/>
                  <a:gd name="T10" fmla="*/ 12 w 12"/>
                  <a:gd name="T11" fmla="*/ 0 h 18"/>
                  <a:gd name="T12" fmla="*/ 12 w 12"/>
                  <a:gd name="T13" fmla="*/ 0 h 18"/>
                  <a:gd name="T14" fmla="*/ 12 w 12"/>
                  <a:gd name="T15" fmla="*/ 0 h 18"/>
                  <a:gd name="T16" fmla="*/ 12 w 12"/>
                  <a:gd name="T17" fmla="*/ 0 h 18"/>
                  <a:gd name="T18" fmla="*/ 6 w 12"/>
                  <a:gd name="T19" fmla="*/ 18 h 18"/>
                  <a:gd name="T20" fmla="*/ 0 w 12"/>
                  <a:gd name="T21" fmla="*/ 18 h 18"/>
                  <a:gd name="T22" fmla="*/ 0 w 12"/>
                  <a:gd name="T23" fmla="*/ 18 h 18"/>
                  <a:gd name="T24" fmla="*/ 0 w 12"/>
                  <a:gd name="T25" fmla="*/ 18 h 18"/>
                  <a:gd name="T26" fmla="*/ 0 w 12"/>
                  <a:gd name="T27" fmla="*/ 18 h 18"/>
                  <a:gd name="T28" fmla="*/ 6 w 12"/>
                  <a:gd name="T29" fmla="*/ 18 h 18"/>
                  <a:gd name="T30" fmla="*/ 6 w 12"/>
                  <a:gd name="T31" fmla="*/ 18 h 18"/>
                  <a:gd name="T32" fmla="*/ 6 w 12"/>
                  <a:gd name="T33" fmla="*/ 18 h 18"/>
                  <a:gd name="T34" fmla="*/ 6 w 12"/>
                  <a:gd name="T35" fmla="*/ 18 h 18"/>
                  <a:gd name="T36" fmla="*/ 12 w 12"/>
                  <a:gd name="T37" fmla="*/ 0 h 18"/>
                  <a:gd name="T38" fmla="*/ 12 w 12"/>
                  <a:gd name="T39" fmla="*/ 0 h 18"/>
                  <a:gd name="T40" fmla="*/ 12 w 12"/>
                  <a:gd name="T41" fmla="*/ 0 h 18"/>
                  <a:gd name="T42" fmla="*/ 12 w 12"/>
                  <a:gd name="T43" fmla="*/ 0 h 18"/>
                  <a:gd name="T44" fmla="*/ 12 w 12"/>
                  <a:gd name="T45" fmla="*/ 12 h 18"/>
                  <a:gd name="T46" fmla="*/ 12 w 12"/>
                  <a:gd name="T4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 h="18">
                    <a:moveTo>
                      <a:pt x="12" y="0"/>
                    </a:moveTo>
                    <a:lnTo>
                      <a:pt x="12" y="0"/>
                    </a:lnTo>
                    <a:lnTo>
                      <a:pt x="12" y="0"/>
                    </a:lnTo>
                    <a:lnTo>
                      <a:pt x="12" y="0"/>
                    </a:lnTo>
                    <a:lnTo>
                      <a:pt x="12" y="0"/>
                    </a:lnTo>
                    <a:lnTo>
                      <a:pt x="12" y="0"/>
                    </a:lnTo>
                    <a:lnTo>
                      <a:pt x="12" y="0"/>
                    </a:lnTo>
                    <a:lnTo>
                      <a:pt x="12" y="0"/>
                    </a:lnTo>
                    <a:lnTo>
                      <a:pt x="12" y="0"/>
                    </a:lnTo>
                    <a:lnTo>
                      <a:pt x="6" y="18"/>
                    </a:lnTo>
                    <a:lnTo>
                      <a:pt x="0" y="18"/>
                    </a:lnTo>
                    <a:lnTo>
                      <a:pt x="0" y="18"/>
                    </a:lnTo>
                    <a:lnTo>
                      <a:pt x="0" y="18"/>
                    </a:lnTo>
                    <a:lnTo>
                      <a:pt x="0" y="18"/>
                    </a:lnTo>
                    <a:lnTo>
                      <a:pt x="6" y="18"/>
                    </a:lnTo>
                    <a:lnTo>
                      <a:pt x="6" y="18"/>
                    </a:lnTo>
                    <a:lnTo>
                      <a:pt x="6" y="18"/>
                    </a:lnTo>
                    <a:lnTo>
                      <a:pt x="6" y="18"/>
                    </a:lnTo>
                    <a:lnTo>
                      <a:pt x="12" y="0"/>
                    </a:lnTo>
                    <a:close/>
                    <a:moveTo>
                      <a:pt x="12" y="0"/>
                    </a:moveTo>
                    <a:lnTo>
                      <a:pt x="12" y="0"/>
                    </a:lnTo>
                    <a:lnTo>
                      <a:pt x="12" y="0"/>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465" name="Freeform 265"/>
              <p:cNvSpPr>
                <a:spLocks noEditPoints="1"/>
              </p:cNvSpPr>
              <p:nvPr/>
            </p:nvSpPr>
            <p:spPr bwMode="auto">
              <a:xfrm>
                <a:off x="4495" y="2400"/>
                <a:ext cx="12" cy="23"/>
              </a:xfrm>
              <a:custGeom>
                <a:avLst/>
                <a:gdLst>
                  <a:gd name="T0" fmla="*/ 12 w 12"/>
                  <a:gd name="T1" fmla="*/ 5 h 23"/>
                  <a:gd name="T2" fmla="*/ 12 w 12"/>
                  <a:gd name="T3" fmla="*/ 5 h 23"/>
                  <a:gd name="T4" fmla="*/ 12 w 12"/>
                  <a:gd name="T5" fmla="*/ 0 h 23"/>
                  <a:gd name="T6" fmla="*/ 0 w 12"/>
                  <a:gd name="T7" fmla="*/ 23 h 23"/>
                  <a:gd name="T8" fmla="*/ 0 w 12"/>
                  <a:gd name="T9" fmla="*/ 23 h 23"/>
                  <a:gd name="T10" fmla="*/ 12 w 12"/>
                  <a:gd name="T11" fmla="*/ 5 h 23"/>
                  <a:gd name="T12" fmla="*/ 0 w 12"/>
                  <a:gd name="T13" fmla="*/ 23 h 23"/>
                  <a:gd name="T14" fmla="*/ 0 w 12"/>
                  <a:gd name="T15" fmla="*/ 23 h 23"/>
                  <a:gd name="T16" fmla="*/ 6 w 12"/>
                  <a:gd name="T17" fmla="*/ 23 h 23"/>
                  <a:gd name="T18" fmla="*/ 6 w 12"/>
                  <a:gd name="T19" fmla="*/ 11 h 23"/>
                  <a:gd name="T20" fmla="*/ 0 w 12"/>
                  <a:gd name="T21"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23">
                    <a:moveTo>
                      <a:pt x="12" y="5"/>
                    </a:moveTo>
                    <a:lnTo>
                      <a:pt x="12" y="5"/>
                    </a:lnTo>
                    <a:lnTo>
                      <a:pt x="12" y="0"/>
                    </a:lnTo>
                    <a:lnTo>
                      <a:pt x="0" y="23"/>
                    </a:lnTo>
                    <a:lnTo>
                      <a:pt x="0" y="23"/>
                    </a:lnTo>
                    <a:lnTo>
                      <a:pt x="12" y="5"/>
                    </a:lnTo>
                    <a:close/>
                    <a:moveTo>
                      <a:pt x="0" y="23"/>
                    </a:moveTo>
                    <a:lnTo>
                      <a:pt x="0" y="23"/>
                    </a:lnTo>
                    <a:lnTo>
                      <a:pt x="6" y="23"/>
                    </a:lnTo>
                    <a:lnTo>
                      <a:pt x="6" y="11"/>
                    </a:lnTo>
                    <a:lnTo>
                      <a:pt x="0" y="23"/>
                    </a:lnTo>
                    <a:close/>
                  </a:path>
                </a:pathLst>
              </a:custGeom>
              <a:solidFill>
                <a:srgbClr val="00FF00"/>
              </a:solidFill>
              <a:ln w="9525">
                <a:solidFill>
                  <a:srgbClr val="00FF00"/>
                </a:solidFill>
                <a:round/>
                <a:headEnd/>
                <a:tailEnd/>
              </a:ln>
            </p:spPr>
            <p:txBody>
              <a:bodyPr/>
              <a:lstStyle/>
              <a:p>
                <a:endParaRPr lang="zh-CN" altLang="en-US"/>
              </a:p>
            </p:txBody>
          </p:sp>
          <p:sp>
            <p:nvSpPr>
              <p:cNvPr id="51466" name="Freeform 266"/>
              <p:cNvSpPr>
                <a:spLocks noEditPoints="1"/>
              </p:cNvSpPr>
              <p:nvPr/>
            </p:nvSpPr>
            <p:spPr bwMode="auto">
              <a:xfrm>
                <a:off x="4495" y="2400"/>
                <a:ext cx="12" cy="23"/>
              </a:xfrm>
              <a:custGeom>
                <a:avLst/>
                <a:gdLst>
                  <a:gd name="T0" fmla="*/ 6 w 12"/>
                  <a:gd name="T1" fmla="*/ 0 h 23"/>
                  <a:gd name="T2" fmla="*/ 6 w 12"/>
                  <a:gd name="T3" fmla="*/ 0 h 23"/>
                  <a:gd name="T4" fmla="*/ 6 w 12"/>
                  <a:gd name="T5" fmla="*/ 0 h 23"/>
                  <a:gd name="T6" fmla="*/ 0 w 12"/>
                  <a:gd name="T7" fmla="*/ 23 h 23"/>
                  <a:gd name="T8" fmla="*/ 0 w 12"/>
                  <a:gd name="T9" fmla="*/ 23 h 23"/>
                  <a:gd name="T10" fmla="*/ 0 w 12"/>
                  <a:gd name="T11" fmla="*/ 23 h 23"/>
                  <a:gd name="T12" fmla="*/ 6 w 12"/>
                  <a:gd name="T13" fmla="*/ 0 h 23"/>
                  <a:gd name="T14" fmla="*/ 12 w 12"/>
                  <a:gd name="T15" fmla="*/ 0 h 23"/>
                  <a:gd name="T16" fmla="*/ 6 w 12"/>
                  <a:gd name="T17" fmla="*/ 0 h 23"/>
                  <a:gd name="T18" fmla="*/ 6 w 12"/>
                  <a:gd name="T19" fmla="*/ 0 h 23"/>
                  <a:gd name="T20" fmla="*/ 6 w 12"/>
                  <a:gd name="T21" fmla="*/ 11 h 23"/>
                  <a:gd name="T22" fmla="*/ 12 w 12"/>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3">
                    <a:moveTo>
                      <a:pt x="6" y="0"/>
                    </a:moveTo>
                    <a:lnTo>
                      <a:pt x="6" y="0"/>
                    </a:lnTo>
                    <a:lnTo>
                      <a:pt x="6" y="0"/>
                    </a:lnTo>
                    <a:lnTo>
                      <a:pt x="0" y="23"/>
                    </a:lnTo>
                    <a:lnTo>
                      <a:pt x="0" y="23"/>
                    </a:lnTo>
                    <a:lnTo>
                      <a:pt x="0" y="23"/>
                    </a:lnTo>
                    <a:lnTo>
                      <a:pt x="6" y="0"/>
                    </a:lnTo>
                    <a:close/>
                    <a:moveTo>
                      <a:pt x="12" y="0"/>
                    </a:moveTo>
                    <a:lnTo>
                      <a:pt x="6" y="0"/>
                    </a:lnTo>
                    <a:lnTo>
                      <a:pt x="6" y="0"/>
                    </a:lnTo>
                    <a:lnTo>
                      <a:pt x="6" y="11"/>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467" name="Freeform 267"/>
              <p:cNvSpPr>
                <a:spLocks noEditPoints="1"/>
              </p:cNvSpPr>
              <p:nvPr/>
            </p:nvSpPr>
            <p:spPr bwMode="auto">
              <a:xfrm>
                <a:off x="4495" y="2400"/>
                <a:ext cx="6" cy="23"/>
              </a:xfrm>
              <a:custGeom>
                <a:avLst/>
                <a:gdLst>
                  <a:gd name="T0" fmla="*/ 6 w 6"/>
                  <a:gd name="T1" fmla="*/ 23 h 23"/>
                  <a:gd name="T2" fmla="*/ 6 w 6"/>
                  <a:gd name="T3" fmla="*/ 23 h 23"/>
                  <a:gd name="T4" fmla="*/ 6 w 6"/>
                  <a:gd name="T5" fmla="*/ 0 h 23"/>
                  <a:gd name="T6" fmla="*/ 6 w 6"/>
                  <a:gd name="T7" fmla="*/ 0 h 23"/>
                  <a:gd name="T8" fmla="*/ 0 w 6"/>
                  <a:gd name="T9" fmla="*/ 0 h 23"/>
                  <a:gd name="T10" fmla="*/ 6 w 6"/>
                  <a:gd name="T11" fmla="*/ 23 h 23"/>
                  <a:gd name="T12" fmla="*/ 6 w 6"/>
                  <a:gd name="T13" fmla="*/ 0 h 23"/>
                  <a:gd name="T14" fmla="*/ 6 w 6"/>
                  <a:gd name="T15" fmla="*/ 23 h 23"/>
                  <a:gd name="T16" fmla="*/ 0 w 6"/>
                  <a:gd name="T17" fmla="*/ 0 h 23"/>
                  <a:gd name="T18" fmla="*/ 0 w 6"/>
                  <a:gd name="T19" fmla="*/ 23 h 23"/>
                  <a:gd name="T20" fmla="*/ 6 w 6"/>
                  <a:gd name="T2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 h="23">
                    <a:moveTo>
                      <a:pt x="6" y="23"/>
                    </a:moveTo>
                    <a:lnTo>
                      <a:pt x="6" y="23"/>
                    </a:lnTo>
                    <a:lnTo>
                      <a:pt x="6" y="0"/>
                    </a:lnTo>
                    <a:lnTo>
                      <a:pt x="6" y="0"/>
                    </a:lnTo>
                    <a:lnTo>
                      <a:pt x="0" y="0"/>
                    </a:lnTo>
                    <a:lnTo>
                      <a:pt x="6" y="23"/>
                    </a:lnTo>
                    <a:close/>
                    <a:moveTo>
                      <a:pt x="6" y="0"/>
                    </a:moveTo>
                    <a:lnTo>
                      <a:pt x="6" y="23"/>
                    </a:lnTo>
                    <a:lnTo>
                      <a:pt x="0" y="0"/>
                    </a:lnTo>
                    <a:lnTo>
                      <a:pt x="0" y="23"/>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468" name="Freeform 268"/>
              <p:cNvSpPr>
                <a:spLocks noEditPoints="1"/>
              </p:cNvSpPr>
              <p:nvPr/>
            </p:nvSpPr>
            <p:spPr bwMode="auto">
              <a:xfrm>
                <a:off x="4495" y="2400"/>
                <a:ext cx="18" cy="23"/>
              </a:xfrm>
              <a:custGeom>
                <a:avLst/>
                <a:gdLst>
                  <a:gd name="T0" fmla="*/ 0 w 18"/>
                  <a:gd name="T1" fmla="*/ 23 h 23"/>
                  <a:gd name="T2" fmla="*/ 6 w 18"/>
                  <a:gd name="T3" fmla="*/ 23 h 23"/>
                  <a:gd name="T4" fmla="*/ 6 w 18"/>
                  <a:gd name="T5" fmla="*/ 23 h 23"/>
                  <a:gd name="T6" fmla="*/ 18 w 18"/>
                  <a:gd name="T7" fmla="*/ 5 h 23"/>
                  <a:gd name="T8" fmla="*/ 18 w 18"/>
                  <a:gd name="T9" fmla="*/ 5 h 23"/>
                  <a:gd name="T10" fmla="*/ 12 w 18"/>
                  <a:gd name="T11" fmla="*/ 0 h 23"/>
                  <a:gd name="T12" fmla="*/ 0 w 18"/>
                  <a:gd name="T13" fmla="*/ 23 h 23"/>
                  <a:gd name="T14" fmla="*/ 12 w 18"/>
                  <a:gd name="T15" fmla="*/ 0 h 23"/>
                  <a:gd name="T16" fmla="*/ 12 w 18"/>
                  <a:gd name="T17" fmla="*/ 0 h 23"/>
                  <a:gd name="T18" fmla="*/ 6 w 18"/>
                  <a:gd name="T19" fmla="*/ 0 h 23"/>
                  <a:gd name="T20" fmla="*/ 6 w 18"/>
                  <a:gd name="T21" fmla="*/ 11 h 23"/>
                  <a:gd name="T22" fmla="*/ 12 w 18"/>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3">
                    <a:moveTo>
                      <a:pt x="0" y="23"/>
                    </a:moveTo>
                    <a:lnTo>
                      <a:pt x="6" y="23"/>
                    </a:lnTo>
                    <a:lnTo>
                      <a:pt x="6" y="23"/>
                    </a:lnTo>
                    <a:lnTo>
                      <a:pt x="18" y="5"/>
                    </a:lnTo>
                    <a:lnTo>
                      <a:pt x="18" y="5"/>
                    </a:lnTo>
                    <a:lnTo>
                      <a:pt x="12" y="0"/>
                    </a:lnTo>
                    <a:lnTo>
                      <a:pt x="0" y="23"/>
                    </a:lnTo>
                    <a:close/>
                    <a:moveTo>
                      <a:pt x="12" y="0"/>
                    </a:moveTo>
                    <a:lnTo>
                      <a:pt x="12" y="0"/>
                    </a:lnTo>
                    <a:lnTo>
                      <a:pt x="6" y="0"/>
                    </a:lnTo>
                    <a:lnTo>
                      <a:pt x="6" y="11"/>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469" name="Freeform 269"/>
              <p:cNvSpPr>
                <a:spLocks noEditPoints="1"/>
              </p:cNvSpPr>
              <p:nvPr/>
            </p:nvSpPr>
            <p:spPr bwMode="auto">
              <a:xfrm>
                <a:off x="4501" y="2405"/>
                <a:ext cx="18" cy="24"/>
              </a:xfrm>
              <a:custGeom>
                <a:avLst/>
                <a:gdLst>
                  <a:gd name="T0" fmla="*/ 0 w 18"/>
                  <a:gd name="T1" fmla="*/ 18 h 24"/>
                  <a:gd name="T2" fmla="*/ 0 w 18"/>
                  <a:gd name="T3" fmla="*/ 24 h 24"/>
                  <a:gd name="T4" fmla="*/ 6 w 18"/>
                  <a:gd name="T5" fmla="*/ 24 h 24"/>
                  <a:gd name="T6" fmla="*/ 18 w 18"/>
                  <a:gd name="T7" fmla="*/ 24 h 24"/>
                  <a:gd name="T8" fmla="*/ 12 w 18"/>
                  <a:gd name="T9" fmla="*/ 0 h 24"/>
                  <a:gd name="T10" fmla="*/ 18 w 18"/>
                  <a:gd name="T11" fmla="*/ 0 h 24"/>
                  <a:gd name="T12" fmla="*/ 18 w 18"/>
                  <a:gd name="T13" fmla="*/ 0 h 24"/>
                  <a:gd name="T14" fmla="*/ 12 w 18"/>
                  <a:gd name="T15" fmla="*/ 0 h 24"/>
                  <a:gd name="T16" fmla="*/ 0 w 18"/>
                  <a:gd name="T17" fmla="*/ 18 h 24"/>
                  <a:gd name="T18" fmla="*/ 12 w 18"/>
                  <a:gd name="T19" fmla="*/ 0 h 24"/>
                  <a:gd name="T20" fmla="*/ 12 w 18"/>
                  <a:gd name="T21" fmla="*/ 0 h 24"/>
                  <a:gd name="T22" fmla="*/ 12 w 18"/>
                  <a:gd name="T23" fmla="*/ 0 h 24"/>
                  <a:gd name="T24" fmla="*/ 6 w 18"/>
                  <a:gd name="T25" fmla="*/ 6 h 24"/>
                  <a:gd name="T26" fmla="*/ 12 w 18"/>
                  <a:gd name="T2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24">
                    <a:moveTo>
                      <a:pt x="0" y="18"/>
                    </a:moveTo>
                    <a:lnTo>
                      <a:pt x="0" y="24"/>
                    </a:lnTo>
                    <a:lnTo>
                      <a:pt x="6" y="24"/>
                    </a:lnTo>
                    <a:lnTo>
                      <a:pt x="18" y="24"/>
                    </a:lnTo>
                    <a:lnTo>
                      <a:pt x="12" y="0"/>
                    </a:lnTo>
                    <a:lnTo>
                      <a:pt x="18" y="0"/>
                    </a:lnTo>
                    <a:lnTo>
                      <a:pt x="18" y="0"/>
                    </a:lnTo>
                    <a:lnTo>
                      <a:pt x="12" y="0"/>
                    </a:lnTo>
                    <a:lnTo>
                      <a:pt x="0" y="18"/>
                    </a:lnTo>
                    <a:close/>
                    <a:moveTo>
                      <a:pt x="12" y="0"/>
                    </a:moveTo>
                    <a:lnTo>
                      <a:pt x="12" y="0"/>
                    </a:lnTo>
                    <a:lnTo>
                      <a:pt x="12" y="0"/>
                    </a:lnTo>
                    <a:lnTo>
                      <a:pt x="6" y="6"/>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470" name="Freeform 270"/>
              <p:cNvSpPr>
                <a:spLocks noEditPoints="1"/>
              </p:cNvSpPr>
              <p:nvPr/>
            </p:nvSpPr>
            <p:spPr bwMode="auto">
              <a:xfrm>
                <a:off x="4507" y="2405"/>
                <a:ext cx="18" cy="30"/>
              </a:xfrm>
              <a:custGeom>
                <a:avLst/>
                <a:gdLst>
                  <a:gd name="T0" fmla="*/ 0 w 18"/>
                  <a:gd name="T1" fmla="*/ 18 h 30"/>
                  <a:gd name="T2" fmla="*/ 0 w 18"/>
                  <a:gd name="T3" fmla="*/ 24 h 30"/>
                  <a:gd name="T4" fmla="*/ 6 w 18"/>
                  <a:gd name="T5" fmla="*/ 24 h 30"/>
                  <a:gd name="T6" fmla="*/ 18 w 18"/>
                  <a:gd name="T7" fmla="*/ 30 h 30"/>
                  <a:gd name="T8" fmla="*/ 12 w 18"/>
                  <a:gd name="T9" fmla="*/ 6 h 30"/>
                  <a:gd name="T10" fmla="*/ 18 w 18"/>
                  <a:gd name="T11" fmla="*/ 6 h 30"/>
                  <a:gd name="T12" fmla="*/ 18 w 18"/>
                  <a:gd name="T13" fmla="*/ 6 h 30"/>
                  <a:gd name="T14" fmla="*/ 18 w 18"/>
                  <a:gd name="T15" fmla="*/ 6 h 30"/>
                  <a:gd name="T16" fmla="*/ 18 w 18"/>
                  <a:gd name="T17" fmla="*/ 6 h 30"/>
                  <a:gd name="T18" fmla="*/ 0 w 18"/>
                  <a:gd name="T19" fmla="*/ 18 h 30"/>
                  <a:gd name="T20" fmla="*/ 18 w 18"/>
                  <a:gd name="T21" fmla="*/ 6 h 30"/>
                  <a:gd name="T22" fmla="*/ 12 w 18"/>
                  <a:gd name="T23" fmla="*/ 0 h 30"/>
                  <a:gd name="T24" fmla="*/ 6 w 18"/>
                  <a:gd name="T25" fmla="*/ 0 h 30"/>
                  <a:gd name="T26" fmla="*/ 6 w 18"/>
                  <a:gd name="T27" fmla="*/ 12 h 30"/>
                  <a:gd name="T28" fmla="*/ 18 w 18"/>
                  <a:gd name="T29"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30">
                    <a:moveTo>
                      <a:pt x="0" y="18"/>
                    </a:moveTo>
                    <a:lnTo>
                      <a:pt x="0" y="24"/>
                    </a:lnTo>
                    <a:lnTo>
                      <a:pt x="6" y="24"/>
                    </a:lnTo>
                    <a:lnTo>
                      <a:pt x="18" y="30"/>
                    </a:lnTo>
                    <a:lnTo>
                      <a:pt x="12" y="6"/>
                    </a:lnTo>
                    <a:lnTo>
                      <a:pt x="18" y="6"/>
                    </a:lnTo>
                    <a:lnTo>
                      <a:pt x="18" y="6"/>
                    </a:lnTo>
                    <a:lnTo>
                      <a:pt x="18" y="6"/>
                    </a:lnTo>
                    <a:lnTo>
                      <a:pt x="18" y="6"/>
                    </a:lnTo>
                    <a:lnTo>
                      <a:pt x="0" y="18"/>
                    </a:lnTo>
                    <a:close/>
                    <a:moveTo>
                      <a:pt x="18" y="6"/>
                    </a:moveTo>
                    <a:lnTo>
                      <a:pt x="12" y="0"/>
                    </a:lnTo>
                    <a:lnTo>
                      <a:pt x="6" y="0"/>
                    </a:lnTo>
                    <a:lnTo>
                      <a:pt x="6"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51471" name="Freeform 271"/>
              <p:cNvSpPr>
                <a:spLocks noEditPoints="1"/>
              </p:cNvSpPr>
              <p:nvPr/>
            </p:nvSpPr>
            <p:spPr bwMode="auto">
              <a:xfrm>
                <a:off x="4519" y="2411"/>
                <a:ext cx="12" cy="24"/>
              </a:xfrm>
              <a:custGeom>
                <a:avLst/>
                <a:gdLst>
                  <a:gd name="T0" fmla="*/ 0 w 12"/>
                  <a:gd name="T1" fmla="*/ 24 h 24"/>
                  <a:gd name="T2" fmla="*/ 6 w 12"/>
                  <a:gd name="T3" fmla="*/ 24 h 24"/>
                  <a:gd name="T4" fmla="*/ 6 w 12"/>
                  <a:gd name="T5" fmla="*/ 24 h 24"/>
                  <a:gd name="T6" fmla="*/ 12 w 12"/>
                  <a:gd name="T7" fmla="*/ 0 h 24"/>
                  <a:gd name="T8" fmla="*/ 6 w 12"/>
                  <a:gd name="T9" fmla="*/ 0 h 24"/>
                  <a:gd name="T10" fmla="*/ 6 w 12"/>
                  <a:gd name="T11" fmla="*/ 0 h 24"/>
                  <a:gd name="T12" fmla="*/ 0 w 12"/>
                  <a:gd name="T13" fmla="*/ 24 h 24"/>
                  <a:gd name="T14" fmla="*/ 6 w 12"/>
                  <a:gd name="T15" fmla="*/ 0 h 24"/>
                  <a:gd name="T16" fmla="*/ 6 w 12"/>
                  <a:gd name="T17" fmla="*/ 0 h 24"/>
                  <a:gd name="T18" fmla="*/ 0 w 12"/>
                  <a:gd name="T19" fmla="*/ 0 h 24"/>
                  <a:gd name="T20" fmla="*/ 6 w 12"/>
                  <a:gd name="T21" fmla="*/ 12 h 24"/>
                  <a:gd name="T22" fmla="*/ 6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0" y="24"/>
                    </a:moveTo>
                    <a:lnTo>
                      <a:pt x="6" y="24"/>
                    </a:lnTo>
                    <a:lnTo>
                      <a:pt x="6" y="24"/>
                    </a:lnTo>
                    <a:lnTo>
                      <a:pt x="12" y="0"/>
                    </a:lnTo>
                    <a:lnTo>
                      <a:pt x="6" y="0"/>
                    </a:lnTo>
                    <a:lnTo>
                      <a:pt x="6" y="0"/>
                    </a:lnTo>
                    <a:lnTo>
                      <a:pt x="0" y="24"/>
                    </a:lnTo>
                    <a:close/>
                    <a:moveTo>
                      <a:pt x="6" y="0"/>
                    </a:moveTo>
                    <a:lnTo>
                      <a:pt x="6" y="0"/>
                    </a:lnTo>
                    <a:lnTo>
                      <a:pt x="0" y="0"/>
                    </a:lnTo>
                    <a:lnTo>
                      <a:pt x="6"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472" name="Freeform 272"/>
              <p:cNvSpPr>
                <a:spLocks noEditPoints="1"/>
              </p:cNvSpPr>
              <p:nvPr/>
            </p:nvSpPr>
            <p:spPr bwMode="auto">
              <a:xfrm>
                <a:off x="4525" y="2411"/>
                <a:ext cx="18" cy="24"/>
              </a:xfrm>
              <a:custGeom>
                <a:avLst/>
                <a:gdLst>
                  <a:gd name="T0" fmla="*/ 6 w 18"/>
                  <a:gd name="T1" fmla="*/ 24 h 24"/>
                  <a:gd name="T2" fmla="*/ 6 w 18"/>
                  <a:gd name="T3" fmla="*/ 24 h 24"/>
                  <a:gd name="T4" fmla="*/ 12 w 18"/>
                  <a:gd name="T5" fmla="*/ 24 h 24"/>
                  <a:gd name="T6" fmla="*/ 18 w 18"/>
                  <a:gd name="T7" fmla="*/ 24 h 24"/>
                  <a:gd name="T8" fmla="*/ 18 w 18"/>
                  <a:gd name="T9" fmla="*/ 24 h 24"/>
                  <a:gd name="T10" fmla="*/ 12 w 18"/>
                  <a:gd name="T11" fmla="*/ 0 h 24"/>
                  <a:gd name="T12" fmla="*/ 6 w 18"/>
                  <a:gd name="T13" fmla="*/ 0 h 24"/>
                  <a:gd name="T14" fmla="*/ 0 w 18"/>
                  <a:gd name="T15" fmla="*/ 0 h 24"/>
                  <a:gd name="T16" fmla="*/ 6 w 18"/>
                  <a:gd name="T17" fmla="*/ 24 h 24"/>
                  <a:gd name="T18" fmla="*/ 0 w 18"/>
                  <a:gd name="T19" fmla="*/ 24 h 24"/>
                  <a:gd name="T20" fmla="*/ 0 w 18"/>
                  <a:gd name="T21" fmla="*/ 24 h 24"/>
                  <a:gd name="T22" fmla="*/ 6 w 18"/>
                  <a:gd name="T23" fmla="*/ 24 h 24"/>
                  <a:gd name="T24" fmla="*/ 6 w 18"/>
                  <a:gd name="T25" fmla="*/ 12 h 24"/>
                  <a:gd name="T26" fmla="*/ 0 w 18"/>
                  <a:gd name="T2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24">
                    <a:moveTo>
                      <a:pt x="6" y="24"/>
                    </a:moveTo>
                    <a:lnTo>
                      <a:pt x="6" y="24"/>
                    </a:lnTo>
                    <a:lnTo>
                      <a:pt x="12" y="24"/>
                    </a:lnTo>
                    <a:lnTo>
                      <a:pt x="18" y="24"/>
                    </a:lnTo>
                    <a:lnTo>
                      <a:pt x="18" y="24"/>
                    </a:lnTo>
                    <a:lnTo>
                      <a:pt x="12" y="0"/>
                    </a:lnTo>
                    <a:lnTo>
                      <a:pt x="6" y="0"/>
                    </a:lnTo>
                    <a:lnTo>
                      <a:pt x="0" y="0"/>
                    </a:lnTo>
                    <a:lnTo>
                      <a:pt x="6" y="24"/>
                    </a:lnTo>
                    <a:close/>
                    <a:moveTo>
                      <a:pt x="0" y="24"/>
                    </a:moveTo>
                    <a:lnTo>
                      <a:pt x="0" y="24"/>
                    </a:lnTo>
                    <a:lnTo>
                      <a:pt x="6" y="24"/>
                    </a:lnTo>
                    <a:lnTo>
                      <a:pt x="6" y="12"/>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51473" name="Freeform 273"/>
              <p:cNvSpPr>
                <a:spLocks noEditPoints="1"/>
              </p:cNvSpPr>
              <p:nvPr/>
            </p:nvSpPr>
            <p:spPr bwMode="auto">
              <a:xfrm>
                <a:off x="4531" y="2411"/>
                <a:ext cx="24" cy="24"/>
              </a:xfrm>
              <a:custGeom>
                <a:avLst/>
                <a:gdLst>
                  <a:gd name="T0" fmla="*/ 0 w 24"/>
                  <a:gd name="T1" fmla="*/ 18 h 24"/>
                  <a:gd name="T2" fmla="*/ 0 w 24"/>
                  <a:gd name="T3" fmla="*/ 24 h 24"/>
                  <a:gd name="T4" fmla="*/ 24 w 24"/>
                  <a:gd name="T5" fmla="*/ 12 h 24"/>
                  <a:gd name="T6" fmla="*/ 18 w 24"/>
                  <a:gd name="T7" fmla="*/ 6 h 24"/>
                  <a:gd name="T8" fmla="*/ 0 w 24"/>
                  <a:gd name="T9" fmla="*/ 18 h 24"/>
                  <a:gd name="T10" fmla="*/ 18 w 24"/>
                  <a:gd name="T11" fmla="*/ 6 h 24"/>
                  <a:gd name="T12" fmla="*/ 12 w 24"/>
                  <a:gd name="T13" fmla="*/ 0 h 24"/>
                  <a:gd name="T14" fmla="*/ 6 w 24"/>
                  <a:gd name="T15" fmla="*/ 0 h 24"/>
                  <a:gd name="T16" fmla="*/ 6 w 24"/>
                  <a:gd name="T17" fmla="*/ 12 h 24"/>
                  <a:gd name="T18" fmla="*/ 18 w 24"/>
                  <a:gd name="T19"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18"/>
                    </a:moveTo>
                    <a:lnTo>
                      <a:pt x="0" y="24"/>
                    </a:lnTo>
                    <a:lnTo>
                      <a:pt x="24" y="12"/>
                    </a:lnTo>
                    <a:lnTo>
                      <a:pt x="18" y="6"/>
                    </a:lnTo>
                    <a:lnTo>
                      <a:pt x="0" y="18"/>
                    </a:lnTo>
                    <a:close/>
                    <a:moveTo>
                      <a:pt x="18" y="6"/>
                    </a:moveTo>
                    <a:lnTo>
                      <a:pt x="12" y="0"/>
                    </a:lnTo>
                    <a:lnTo>
                      <a:pt x="6" y="0"/>
                    </a:lnTo>
                    <a:lnTo>
                      <a:pt x="6"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51474" name="Freeform 274"/>
              <p:cNvSpPr>
                <a:spLocks/>
              </p:cNvSpPr>
              <p:nvPr/>
            </p:nvSpPr>
            <p:spPr bwMode="auto">
              <a:xfrm>
                <a:off x="4543" y="2423"/>
                <a:ext cx="18" cy="18"/>
              </a:xfrm>
              <a:custGeom>
                <a:avLst/>
                <a:gdLst>
                  <a:gd name="T0" fmla="*/ 0 w 18"/>
                  <a:gd name="T1" fmla="*/ 18 h 18"/>
                  <a:gd name="T2" fmla="*/ 18 w 18"/>
                  <a:gd name="T3" fmla="*/ 12 h 18"/>
                  <a:gd name="T4" fmla="*/ 12 w 18"/>
                  <a:gd name="T5" fmla="*/ 0 h 18"/>
                  <a:gd name="T6" fmla="*/ 0 w 18"/>
                  <a:gd name="T7" fmla="*/ 6 h 18"/>
                  <a:gd name="T8" fmla="*/ 0 w 18"/>
                  <a:gd name="T9" fmla="*/ 18 h 18"/>
                </a:gdLst>
                <a:ahLst/>
                <a:cxnLst>
                  <a:cxn ang="0">
                    <a:pos x="T0" y="T1"/>
                  </a:cxn>
                  <a:cxn ang="0">
                    <a:pos x="T2" y="T3"/>
                  </a:cxn>
                  <a:cxn ang="0">
                    <a:pos x="T4" y="T5"/>
                  </a:cxn>
                  <a:cxn ang="0">
                    <a:pos x="T6" y="T7"/>
                  </a:cxn>
                  <a:cxn ang="0">
                    <a:pos x="T8" y="T9"/>
                  </a:cxn>
                </a:cxnLst>
                <a:rect l="0" t="0" r="r" b="b"/>
                <a:pathLst>
                  <a:path w="18" h="18">
                    <a:moveTo>
                      <a:pt x="0" y="18"/>
                    </a:moveTo>
                    <a:lnTo>
                      <a:pt x="18" y="12"/>
                    </a:lnTo>
                    <a:lnTo>
                      <a:pt x="12" y="0"/>
                    </a:lnTo>
                    <a:lnTo>
                      <a:pt x="0" y="6"/>
                    </a:lnTo>
                    <a:lnTo>
                      <a:pt x="0" y="18"/>
                    </a:lnTo>
                    <a:close/>
                  </a:path>
                </a:pathLst>
              </a:custGeom>
              <a:solidFill>
                <a:srgbClr val="00FF00"/>
              </a:solidFill>
              <a:ln w="9525">
                <a:solidFill>
                  <a:srgbClr val="00FF00"/>
                </a:solidFill>
                <a:round/>
                <a:headEnd/>
                <a:tailEnd/>
              </a:ln>
            </p:spPr>
            <p:txBody>
              <a:bodyPr/>
              <a:lstStyle/>
              <a:p>
                <a:endParaRPr lang="zh-CN" altLang="en-US"/>
              </a:p>
            </p:txBody>
          </p:sp>
          <p:sp>
            <p:nvSpPr>
              <p:cNvPr id="51475" name="Freeform 275"/>
              <p:cNvSpPr>
                <a:spLocks/>
              </p:cNvSpPr>
              <p:nvPr/>
            </p:nvSpPr>
            <p:spPr bwMode="auto">
              <a:xfrm>
                <a:off x="4561" y="2429"/>
                <a:ext cx="12" cy="30"/>
              </a:xfrm>
              <a:custGeom>
                <a:avLst/>
                <a:gdLst>
                  <a:gd name="T0" fmla="*/ 0 w 12"/>
                  <a:gd name="T1" fmla="*/ 6 h 30"/>
                  <a:gd name="T2" fmla="*/ 6 w 12"/>
                  <a:gd name="T3" fmla="*/ 12 h 30"/>
                  <a:gd name="T4" fmla="*/ 6 w 12"/>
                  <a:gd name="T5" fmla="*/ 18 h 30"/>
                  <a:gd name="T6" fmla="*/ 6 w 12"/>
                  <a:gd name="T7" fmla="*/ 18 h 30"/>
                  <a:gd name="T8" fmla="*/ 12 w 12"/>
                  <a:gd name="T9" fmla="*/ 24 h 30"/>
                  <a:gd name="T10" fmla="*/ 12 w 12"/>
                  <a:gd name="T11" fmla="*/ 24 h 30"/>
                  <a:gd name="T12" fmla="*/ 12 w 12"/>
                  <a:gd name="T13" fmla="*/ 30 h 30"/>
                  <a:gd name="T14" fmla="*/ 12 w 12"/>
                  <a:gd name="T15" fmla="*/ 30 h 30"/>
                  <a:gd name="T16" fmla="*/ 12 w 12"/>
                  <a:gd name="T17" fmla="*/ 30 h 30"/>
                  <a:gd name="T18" fmla="*/ 12 w 12"/>
                  <a:gd name="T19" fmla="*/ 24 h 30"/>
                  <a:gd name="T20" fmla="*/ 12 w 12"/>
                  <a:gd name="T21" fmla="*/ 24 h 30"/>
                  <a:gd name="T22" fmla="*/ 12 w 12"/>
                  <a:gd name="T23" fmla="*/ 18 h 30"/>
                  <a:gd name="T24" fmla="*/ 12 w 12"/>
                  <a:gd name="T25" fmla="*/ 18 h 30"/>
                  <a:gd name="T26" fmla="*/ 12 w 12"/>
                  <a:gd name="T27" fmla="*/ 12 h 30"/>
                  <a:gd name="T28" fmla="*/ 12 w 12"/>
                  <a:gd name="T29" fmla="*/ 12 h 30"/>
                  <a:gd name="T30" fmla="*/ 6 w 12"/>
                  <a:gd name="T31" fmla="*/ 6 h 30"/>
                  <a:gd name="T32" fmla="*/ 6 w 12"/>
                  <a:gd name="T33" fmla="*/ 6 h 30"/>
                  <a:gd name="T34" fmla="*/ 0 w 12"/>
                  <a:gd name="T35" fmla="*/ 0 h 30"/>
                  <a:gd name="T36" fmla="*/ 0 w 12"/>
                  <a:gd name="T37" fmla="*/ 6 h 30"/>
                  <a:gd name="T38" fmla="*/ 0 w 12"/>
                  <a:gd name="T39"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 h="30">
                    <a:moveTo>
                      <a:pt x="0" y="6"/>
                    </a:moveTo>
                    <a:lnTo>
                      <a:pt x="6" y="12"/>
                    </a:lnTo>
                    <a:lnTo>
                      <a:pt x="6" y="18"/>
                    </a:lnTo>
                    <a:lnTo>
                      <a:pt x="6" y="18"/>
                    </a:lnTo>
                    <a:lnTo>
                      <a:pt x="12" y="24"/>
                    </a:lnTo>
                    <a:lnTo>
                      <a:pt x="12" y="24"/>
                    </a:lnTo>
                    <a:lnTo>
                      <a:pt x="12" y="30"/>
                    </a:lnTo>
                    <a:lnTo>
                      <a:pt x="12" y="30"/>
                    </a:lnTo>
                    <a:lnTo>
                      <a:pt x="12" y="30"/>
                    </a:lnTo>
                    <a:lnTo>
                      <a:pt x="12" y="24"/>
                    </a:lnTo>
                    <a:lnTo>
                      <a:pt x="12" y="24"/>
                    </a:lnTo>
                    <a:lnTo>
                      <a:pt x="12" y="18"/>
                    </a:lnTo>
                    <a:lnTo>
                      <a:pt x="12" y="18"/>
                    </a:lnTo>
                    <a:lnTo>
                      <a:pt x="12" y="12"/>
                    </a:lnTo>
                    <a:lnTo>
                      <a:pt x="12" y="12"/>
                    </a:lnTo>
                    <a:lnTo>
                      <a:pt x="6" y="6"/>
                    </a:lnTo>
                    <a:lnTo>
                      <a:pt x="6" y="6"/>
                    </a:lnTo>
                    <a:lnTo>
                      <a:pt x="0" y="0"/>
                    </a:lnTo>
                    <a:lnTo>
                      <a:pt x="0" y="6"/>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476" name="Freeform 276"/>
              <p:cNvSpPr>
                <a:spLocks/>
              </p:cNvSpPr>
              <p:nvPr/>
            </p:nvSpPr>
            <p:spPr bwMode="auto">
              <a:xfrm>
                <a:off x="4555" y="2423"/>
                <a:ext cx="18" cy="30"/>
              </a:xfrm>
              <a:custGeom>
                <a:avLst/>
                <a:gdLst>
                  <a:gd name="T0" fmla="*/ 0 w 18"/>
                  <a:gd name="T1" fmla="*/ 24 h 30"/>
                  <a:gd name="T2" fmla="*/ 6 w 18"/>
                  <a:gd name="T3" fmla="*/ 30 h 30"/>
                  <a:gd name="T4" fmla="*/ 18 w 18"/>
                  <a:gd name="T5" fmla="*/ 6 h 30"/>
                  <a:gd name="T6" fmla="*/ 12 w 18"/>
                  <a:gd name="T7" fmla="*/ 0 h 30"/>
                  <a:gd name="T8" fmla="*/ 0 w 18"/>
                  <a:gd name="T9" fmla="*/ 24 h 30"/>
                </a:gdLst>
                <a:ahLst/>
                <a:cxnLst>
                  <a:cxn ang="0">
                    <a:pos x="T0" y="T1"/>
                  </a:cxn>
                  <a:cxn ang="0">
                    <a:pos x="T2" y="T3"/>
                  </a:cxn>
                  <a:cxn ang="0">
                    <a:pos x="T4" y="T5"/>
                  </a:cxn>
                  <a:cxn ang="0">
                    <a:pos x="T6" y="T7"/>
                  </a:cxn>
                  <a:cxn ang="0">
                    <a:pos x="T8" y="T9"/>
                  </a:cxn>
                </a:cxnLst>
                <a:rect l="0" t="0" r="r" b="b"/>
                <a:pathLst>
                  <a:path w="18" h="30">
                    <a:moveTo>
                      <a:pt x="0" y="24"/>
                    </a:moveTo>
                    <a:lnTo>
                      <a:pt x="6" y="30"/>
                    </a:lnTo>
                    <a:lnTo>
                      <a:pt x="18" y="6"/>
                    </a:lnTo>
                    <a:lnTo>
                      <a:pt x="12" y="0"/>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51477" name="Freeform 277"/>
              <p:cNvSpPr>
                <a:spLocks noEditPoints="1"/>
              </p:cNvSpPr>
              <p:nvPr/>
            </p:nvSpPr>
            <p:spPr bwMode="auto">
              <a:xfrm>
                <a:off x="4555" y="2429"/>
                <a:ext cx="24" cy="30"/>
              </a:xfrm>
              <a:custGeom>
                <a:avLst/>
                <a:gdLst>
                  <a:gd name="T0" fmla="*/ 0 w 24"/>
                  <a:gd name="T1" fmla="*/ 6 h 30"/>
                  <a:gd name="T2" fmla="*/ 0 w 24"/>
                  <a:gd name="T3" fmla="*/ 12 h 30"/>
                  <a:gd name="T4" fmla="*/ 0 w 24"/>
                  <a:gd name="T5" fmla="*/ 12 h 30"/>
                  <a:gd name="T6" fmla="*/ 6 w 24"/>
                  <a:gd name="T7" fmla="*/ 18 h 30"/>
                  <a:gd name="T8" fmla="*/ 12 w 24"/>
                  <a:gd name="T9" fmla="*/ 30 h 30"/>
                  <a:gd name="T10" fmla="*/ 18 w 24"/>
                  <a:gd name="T11" fmla="*/ 6 h 30"/>
                  <a:gd name="T12" fmla="*/ 24 w 24"/>
                  <a:gd name="T13" fmla="*/ 12 h 30"/>
                  <a:gd name="T14" fmla="*/ 24 w 24"/>
                  <a:gd name="T15" fmla="*/ 12 h 30"/>
                  <a:gd name="T16" fmla="*/ 24 w 24"/>
                  <a:gd name="T17" fmla="*/ 12 h 30"/>
                  <a:gd name="T18" fmla="*/ 0 w 24"/>
                  <a:gd name="T19" fmla="*/ 6 h 30"/>
                  <a:gd name="T20" fmla="*/ 24 w 24"/>
                  <a:gd name="T21" fmla="*/ 12 h 30"/>
                  <a:gd name="T22" fmla="*/ 24 w 24"/>
                  <a:gd name="T23" fmla="*/ 6 h 30"/>
                  <a:gd name="T24" fmla="*/ 18 w 24"/>
                  <a:gd name="T25" fmla="*/ 0 h 30"/>
                  <a:gd name="T26" fmla="*/ 12 w 24"/>
                  <a:gd name="T27" fmla="*/ 12 h 30"/>
                  <a:gd name="T28" fmla="*/ 24 w 24"/>
                  <a:gd name="T29"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30">
                    <a:moveTo>
                      <a:pt x="0" y="6"/>
                    </a:moveTo>
                    <a:lnTo>
                      <a:pt x="0" y="12"/>
                    </a:lnTo>
                    <a:lnTo>
                      <a:pt x="0" y="12"/>
                    </a:lnTo>
                    <a:lnTo>
                      <a:pt x="6" y="18"/>
                    </a:lnTo>
                    <a:lnTo>
                      <a:pt x="12" y="30"/>
                    </a:lnTo>
                    <a:lnTo>
                      <a:pt x="18" y="6"/>
                    </a:lnTo>
                    <a:lnTo>
                      <a:pt x="24" y="12"/>
                    </a:lnTo>
                    <a:lnTo>
                      <a:pt x="24" y="12"/>
                    </a:lnTo>
                    <a:lnTo>
                      <a:pt x="24" y="12"/>
                    </a:lnTo>
                    <a:lnTo>
                      <a:pt x="0" y="6"/>
                    </a:lnTo>
                    <a:close/>
                    <a:moveTo>
                      <a:pt x="24" y="12"/>
                    </a:moveTo>
                    <a:lnTo>
                      <a:pt x="24" y="6"/>
                    </a:lnTo>
                    <a:lnTo>
                      <a:pt x="18" y="0"/>
                    </a:lnTo>
                    <a:lnTo>
                      <a:pt x="12" y="12"/>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51478" name="Freeform 278"/>
              <p:cNvSpPr>
                <a:spLocks noEditPoints="1"/>
              </p:cNvSpPr>
              <p:nvPr/>
            </p:nvSpPr>
            <p:spPr bwMode="auto">
              <a:xfrm>
                <a:off x="4555" y="2435"/>
                <a:ext cx="24" cy="30"/>
              </a:xfrm>
              <a:custGeom>
                <a:avLst/>
                <a:gdLst>
                  <a:gd name="T0" fmla="*/ 0 w 24"/>
                  <a:gd name="T1" fmla="*/ 12 h 30"/>
                  <a:gd name="T2" fmla="*/ 0 w 24"/>
                  <a:gd name="T3" fmla="*/ 18 h 30"/>
                  <a:gd name="T4" fmla="*/ 6 w 24"/>
                  <a:gd name="T5" fmla="*/ 18 h 30"/>
                  <a:gd name="T6" fmla="*/ 6 w 24"/>
                  <a:gd name="T7" fmla="*/ 18 h 30"/>
                  <a:gd name="T8" fmla="*/ 6 w 24"/>
                  <a:gd name="T9" fmla="*/ 24 h 30"/>
                  <a:gd name="T10" fmla="*/ 12 w 24"/>
                  <a:gd name="T11" fmla="*/ 30 h 30"/>
                  <a:gd name="T12" fmla="*/ 12 w 24"/>
                  <a:gd name="T13" fmla="*/ 6 h 30"/>
                  <a:gd name="T14" fmla="*/ 24 w 24"/>
                  <a:gd name="T15" fmla="*/ 12 h 30"/>
                  <a:gd name="T16" fmla="*/ 24 w 24"/>
                  <a:gd name="T17" fmla="*/ 12 h 30"/>
                  <a:gd name="T18" fmla="*/ 24 w 24"/>
                  <a:gd name="T19" fmla="*/ 12 h 30"/>
                  <a:gd name="T20" fmla="*/ 24 w 24"/>
                  <a:gd name="T21" fmla="*/ 12 h 30"/>
                  <a:gd name="T22" fmla="*/ 0 w 24"/>
                  <a:gd name="T23" fmla="*/ 12 h 30"/>
                  <a:gd name="T24" fmla="*/ 24 w 24"/>
                  <a:gd name="T25" fmla="*/ 12 h 30"/>
                  <a:gd name="T26" fmla="*/ 24 w 24"/>
                  <a:gd name="T27" fmla="*/ 0 h 30"/>
                  <a:gd name="T28" fmla="*/ 18 w 24"/>
                  <a:gd name="T29" fmla="*/ 0 h 30"/>
                  <a:gd name="T30" fmla="*/ 12 w 24"/>
                  <a:gd name="T31" fmla="*/ 12 h 30"/>
                  <a:gd name="T32" fmla="*/ 24 w 24"/>
                  <a:gd name="T33"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30">
                    <a:moveTo>
                      <a:pt x="0" y="12"/>
                    </a:moveTo>
                    <a:lnTo>
                      <a:pt x="0" y="18"/>
                    </a:lnTo>
                    <a:lnTo>
                      <a:pt x="6" y="18"/>
                    </a:lnTo>
                    <a:lnTo>
                      <a:pt x="6" y="18"/>
                    </a:lnTo>
                    <a:lnTo>
                      <a:pt x="6" y="24"/>
                    </a:lnTo>
                    <a:lnTo>
                      <a:pt x="12" y="30"/>
                    </a:lnTo>
                    <a:lnTo>
                      <a:pt x="12" y="6"/>
                    </a:lnTo>
                    <a:lnTo>
                      <a:pt x="24" y="12"/>
                    </a:lnTo>
                    <a:lnTo>
                      <a:pt x="24" y="12"/>
                    </a:lnTo>
                    <a:lnTo>
                      <a:pt x="24" y="12"/>
                    </a:lnTo>
                    <a:lnTo>
                      <a:pt x="24" y="12"/>
                    </a:lnTo>
                    <a:lnTo>
                      <a:pt x="0" y="12"/>
                    </a:lnTo>
                    <a:close/>
                    <a:moveTo>
                      <a:pt x="24" y="12"/>
                    </a:moveTo>
                    <a:lnTo>
                      <a:pt x="24" y="0"/>
                    </a:lnTo>
                    <a:lnTo>
                      <a:pt x="18" y="0"/>
                    </a:lnTo>
                    <a:lnTo>
                      <a:pt x="12" y="12"/>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51479" name="Freeform 279"/>
              <p:cNvSpPr>
                <a:spLocks noEditPoints="1"/>
              </p:cNvSpPr>
              <p:nvPr/>
            </p:nvSpPr>
            <p:spPr bwMode="auto">
              <a:xfrm>
                <a:off x="4561" y="2441"/>
                <a:ext cx="24" cy="24"/>
              </a:xfrm>
              <a:custGeom>
                <a:avLst/>
                <a:gdLst>
                  <a:gd name="T0" fmla="*/ 0 w 24"/>
                  <a:gd name="T1" fmla="*/ 24 h 24"/>
                  <a:gd name="T2" fmla="*/ 6 w 24"/>
                  <a:gd name="T3" fmla="*/ 24 h 24"/>
                  <a:gd name="T4" fmla="*/ 6 w 24"/>
                  <a:gd name="T5" fmla="*/ 24 h 24"/>
                  <a:gd name="T6" fmla="*/ 24 w 24"/>
                  <a:gd name="T7" fmla="*/ 12 h 24"/>
                  <a:gd name="T8" fmla="*/ 24 w 24"/>
                  <a:gd name="T9" fmla="*/ 12 h 24"/>
                  <a:gd name="T10" fmla="*/ 24 w 24"/>
                  <a:gd name="T11" fmla="*/ 12 h 24"/>
                  <a:gd name="T12" fmla="*/ 18 w 24"/>
                  <a:gd name="T13" fmla="*/ 6 h 24"/>
                  <a:gd name="T14" fmla="*/ 0 w 24"/>
                  <a:gd name="T15" fmla="*/ 24 h 24"/>
                  <a:gd name="T16" fmla="*/ 18 w 24"/>
                  <a:gd name="T17" fmla="*/ 6 h 24"/>
                  <a:gd name="T18" fmla="*/ 12 w 24"/>
                  <a:gd name="T19" fmla="*/ 0 h 24"/>
                  <a:gd name="T20" fmla="*/ 6 w 24"/>
                  <a:gd name="T21" fmla="*/ 0 h 24"/>
                  <a:gd name="T22" fmla="*/ 12 w 24"/>
                  <a:gd name="T23" fmla="*/ 12 h 24"/>
                  <a:gd name="T24" fmla="*/ 18 w 24"/>
                  <a:gd name="T25"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0" y="24"/>
                    </a:moveTo>
                    <a:lnTo>
                      <a:pt x="6" y="24"/>
                    </a:lnTo>
                    <a:lnTo>
                      <a:pt x="6" y="24"/>
                    </a:lnTo>
                    <a:lnTo>
                      <a:pt x="24" y="12"/>
                    </a:lnTo>
                    <a:lnTo>
                      <a:pt x="24" y="12"/>
                    </a:lnTo>
                    <a:lnTo>
                      <a:pt x="24" y="12"/>
                    </a:lnTo>
                    <a:lnTo>
                      <a:pt x="18" y="6"/>
                    </a:lnTo>
                    <a:lnTo>
                      <a:pt x="0" y="24"/>
                    </a:lnTo>
                    <a:close/>
                    <a:moveTo>
                      <a:pt x="18" y="6"/>
                    </a:moveTo>
                    <a:lnTo>
                      <a:pt x="12" y="0"/>
                    </a:lnTo>
                    <a:lnTo>
                      <a:pt x="6" y="0"/>
                    </a:lnTo>
                    <a:lnTo>
                      <a:pt x="12"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51480" name="Freeform 280"/>
              <p:cNvSpPr>
                <a:spLocks noEditPoints="1"/>
              </p:cNvSpPr>
              <p:nvPr/>
            </p:nvSpPr>
            <p:spPr bwMode="auto">
              <a:xfrm>
                <a:off x="4561" y="2447"/>
                <a:ext cx="24" cy="18"/>
              </a:xfrm>
              <a:custGeom>
                <a:avLst/>
                <a:gdLst>
                  <a:gd name="T0" fmla="*/ 24 w 24"/>
                  <a:gd name="T1" fmla="*/ 12 h 18"/>
                  <a:gd name="T2" fmla="*/ 24 w 24"/>
                  <a:gd name="T3" fmla="*/ 6 h 18"/>
                  <a:gd name="T4" fmla="*/ 24 w 24"/>
                  <a:gd name="T5" fmla="*/ 0 h 18"/>
                  <a:gd name="T6" fmla="*/ 0 w 24"/>
                  <a:gd name="T7" fmla="*/ 12 h 18"/>
                  <a:gd name="T8" fmla="*/ 0 w 24"/>
                  <a:gd name="T9" fmla="*/ 12 h 18"/>
                  <a:gd name="T10" fmla="*/ 0 w 24"/>
                  <a:gd name="T11" fmla="*/ 12 h 18"/>
                  <a:gd name="T12" fmla="*/ 24 w 24"/>
                  <a:gd name="T13" fmla="*/ 12 h 18"/>
                  <a:gd name="T14" fmla="*/ 6 w 24"/>
                  <a:gd name="T15" fmla="*/ 18 h 18"/>
                  <a:gd name="T16" fmla="*/ 24 w 24"/>
                  <a:gd name="T17" fmla="*/ 12 h 18"/>
                  <a:gd name="T18" fmla="*/ 0 w 24"/>
                  <a:gd name="T19" fmla="*/ 12 h 18"/>
                  <a:gd name="T20" fmla="*/ 24 w 24"/>
                  <a:gd name="T21" fmla="*/ 6 h 18"/>
                  <a:gd name="T22" fmla="*/ 6 w 24"/>
                  <a:gd name="T23"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24" y="12"/>
                    </a:moveTo>
                    <a:lnTo>
                      <a:pt x="24" y="6"/>
                    </a:lnTo>
                    <a:lnTo>
                      <a:pt x="24" y="0"/>
                    </a:lnTo>
                    <a:lnTo>
                      <a:pt x="0" y="12"/>
                    </a:lnTo>
                    <a:lnTo>
                      <a:pt x="0" y="12"/>
                    </a:lnTo>
                    <a:lnTo>
                      <a:pt x="0" y="12"/>
                    </a:lnTo>
                    <a:lnTo>
                      <a:pt x="24" y="12"/>
                    </a:lnTo>
                    <a:close/>
                    <a:moveTo>
                      <a:pt x="6" y="18"/>
                    </a:moveTo>
                    <a:lnTo>
                      <a:pt x="24" y="12"/>
                    </a:lnTo>
                    <a:lnTo>
                      <a:pt x="0" y="12"/>
                    </a:lnTo>
                    <a:lnTo>
                      <a:pt x="24" y="6"/>
                    </a:lnTo>
                    <a:lnTo>
                      <a:pt x="6" y="18"/>
                    </a:lnTo>
                    <a:close/>
                  </a:path>
                </a:pathLst>
              </a:custGeom>
              <a:solidFill>
                <a:srgbClr val="00FF00"/>
              </a:solidFill>
              <a:ln w="9525">
                <a:solidFill>
                  <a:srgbClr val="00FF00"/>
                </a:solidFill>
                <a:round/>
                <a:headEnd/>
                <a:tailEnd/>
              </a:ln>
            </p:spPr>
            <p:txBody>
              <a:bodyPr/>
              <a:lstStyle/>
              <a:p>
                <a:endParaRPr lang="zh-CN" altLang="en-US"/>
              </a:p>
            </p:txBody>
          </p:sp>
          <p:sp>
            <p:nvSpPr>
              <p:cNvPr id="51481" name="Freeform 281"/>
              <p:cNvSpPr>
                <a:spLocks noEditPoints="1"/>
              </p:cNvSpPr>
              <p:nvPr/>
            </p:nvSpPr>
            <p:spPr bwMode="auto">
              <a:xfrm>
                <a:off x="4561" y="2441"/>
                <a:ext cx="24" cy="24"/>
              </a:xfrm>
              <a:custGeom>
                <a:avLst/>
                <a:gdLst>
                  <a:gd name="T0" fmla="*/ 18 w 24"/>
                  <a:gd name="T1" fmla="*/ 0 h 24"/>
                  <a:gd name="T2" fmla="*/ 18 w 24"/>
                  <a:gd name="T3" fmla="*/ 6 h 24"/>
                  <a:gd name="T4" fmla="*/ 24 w 24"/>
                  <a:gd name="T5" fmla="*/ 6 h 24"/>
                  <a:gd name="T6" fmla="*/ 0 w 24"/>
                  <a:gd name="T7" fmla="*/ 6 h 24"/>
                  <a:gd name="T8" fmla="*/ 6 w 24"/>
                  <a:gd name="T9" fmla="*/ 18 h 24"/>
                  <a:gd name="T10" fmla="*/ 6 w 24"/>
                  <a:gd name="T11" fmla="*/ 24 h 24"/>
                  <a:gd name="T12" fmla="*/ 18 w 24"/>
                  <a:gd name="T13" fmla="*/ 0 h 24"/>
                  <a:gd name="T14" fmla="*/ 24 w 24"/>
                  <a:gd name="T15" fmla="*/ 6 h 24"/>
                  <a:gd name="T16" fmla="*/ 24 w 24"/>
                  <a:gd name="T17" fmla="*/ 6 h 24"/>
                  <a:gd name="T18" fmla="*/ 18 w 24"/>
                  <a:gd name="T19" fmla="*/ 0 h 24"/>
                  <a:gd name="T20" fmla="*/ 12 w 24"/>
                  <a:gd name="T21" fmla="*/ 12 h 24"/>
                  <a:gd name="T22" fmla="*/ 24 w 24"/>
                  <a:gd name="T23"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8" y="0"/>
                    </a:moveTo>
                    <a:lnTo>
                      <a:pt x="18" y="6"/>
                    </a:lnTo>
                    <a:lnTo>
                      <a:pt x="24" y="6"/>
                    </a:lnTo>
                    <a:lnTo>
                      <a:pt x="0" y="6"/>
                    </a:lnTo>
                    <a:lnTo>
                      <a:pt x="6" y="18"/>
                    </a:lnTo>
                    <a:lnTo>
                      <a:pt x="6" y="24"/>
                    </a:lnTo>
                    <a:lnTo>
                      <a:pt x="18" y="0"/>
                    </a:lnTo>
                    <a:close/>
                    <a:moveTo>
                      <a:pt x="24" y="6"/>
                    </a:moveTo>
                    <a:lnTo>
                      <a:pt x="24" y="6"/>
                    </a:lnTo>
                    <a:lnTo>
                      <a:pt x="18" y="0"/>
                    </a:lnTo>
                    <a:lnTo>
                      <a:pt x="12" y="12"/>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51482" name="Freeform 282"/>
              <p:cNvSpPr>
                <a:spLocks noEditPoints="1"/>
              </p:cNvSpPr>
              <p:nvPr/>
            </p:nvSpPr>
            <p:spPr bwMode="auto">
              <a:xfrm>
                <a:off x="4561" y="2429"/>
                <a:ext cx="24" cy="24"/>
              </a:xfrm>
              <a:custGeom>
                <a:avLst/>
                <a:gdLst>
                  <a:gd name="T0" fmla="*/ 18 w 24"/>
                  <a:gd name="T1" fmla="*/ 12 h 24"/>
                  <a:gd name="T2" fmla="*/ 18 w 24"/>
                  <a:gd name="T3" fmla="*/ 18 h 24"/>
                  <a:gd name="T4" fmla="*/ 18 w 24"/>
                  <a:gd name="T5" fmla="*/ 18 h 24"/>
                  <a:gd name="T6" fmla="*/ 0 w 24"/>
                  <a:gd name="T7" fmla="*/ 0 h 24"/>
                  <a:gd name="T8" fmla="*/ 0 w 24"/>
                  <a:gd name="T9" fmla="*/ 12 h 24"/>
                  <a:gd name="T10" fmla="*/ 0 w 24"/>
                  <a:gd name="T11" fmla="*/ 24 h 24"/>
                  <a:gd name="T12" fmla="*/ 18 w 24"/>
                  <a:gd name="T13" fmla="*/ 12 h 24"/>
                  <a:gd name="T14" fmla="*/ 24 w 24"/>
                  <a:gd name="T15" fmla="*/ 18 h 24"/>
                  <a:gd name="T16" fmla="*/ 24 w 24"/>
                  <a:gd name="T17" fmla="*/ 18 h 24"/>
                  <a:gd name="T18" fmla="*/ 18 w 24"/>
                  <a:gd name="T19" fmla="*/ 12 h 24"/>
                  <a:gd name="T20" fmla="*/ 12 w 24"/>
                  <a:gd name="T21" fmla="*/ 18 h 24"/>
                  <a:gd name="T22" fmla="*/ 24 w 24"/>
                  <a:gd name="T23" fmla="*/ 1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8" y="12"/>
                    </a:moveTo>
                    <a:lnTo>
                      <a:pt x="18" y="18"/>
                    </a:lnTo>
                    <a:lnTo>
                      <a:pt x="18" y="18"/>
                    </a:lnTo>
                    <a:lnTo>
                      <a:pt x="0" y="0"/>
                    </a:lnTo>
                    <a:lnTo>
                      <a:pt x="0" y="12"/>
                    </a:lnTo>
                    <a:lnTo>
                      <a:pt x="0" y="24"/>
                    </a:lnTo>
                    <a:lnTo>
                      <a:pt x="18" y="12"/>
                    </a:lnTo>
                    <a:close/>
                    <a:moveTo>
                      <a:pt x="24" y="18"/>
                    </a:moveTo>
                    <a:lnTo>
                      <a:pt x="24" y="18"/>
                    </a:lnTo>
                    <a:lnTo>
                      <a:pt x="18" y="12"/>
                    </a:lnTo>
                    <a:lnTo>
                      <a:pt x="12" y="18"/>
                    </a:lnTo>
                    <a:lnTo>
                      <a:pt x="24" y="18"/>
                    </a:lnTo>
                    <a:close/>
                  </a:path>
                </a:pathLst>
              </a:custGeom>
              <a:solidFill>
                <a:srgbClr val="00FF00"/>
              </a:solidFill>
              <a:ln w="9525">
                <a:solidFill>
                  <a:srgbClr val="00FF00"/>
                </a:solidFill>
                <a:round/>
                <a:headEnd/>
                <a:tailEnd/>
              </a:ln>
            </p:spPr>
            <p:txBody>
              <a:bodyPr/>
              <a:lstStyle/>
              <a:p>
                <a:endParaRPr lang="zh-CN" altLang="en-US"/>
              </a:p>
            </p:txBody>
          </p:sp>
          <p:sp>
            <p:nvSpPr>
              <p:cNvPr id="51483" name="Freeform 283"/>
              <p:cNvSpPr>
                <a:spLocks noEditPoints="1"/>
              </p:cNvSpPr>
              <p:nvPr/>
            </p:nvSpPr>
            <p:spPr bwMode="auto">
              <a:xfrm>
                <a:off x="4561" y="2423"/>
                <a:ext cx="24" cy="24"/>
              </a:xfrm>
              <a:custGeom>
                <a:avLst/>
                <a:gdLst>
                  <a:gd name="T0" fmla="*/ 18 w 24"/>
                  <a:gd name="T1" fmla="*/ 24 h 24"/>
                  <a:gd name="T2" fmla="*/ 24 w 24"/>
                  <a:gd name="T3" fmla="*/ 18 h 24"/>
                  <a:gd name="T4" fmla="*/ 24 w 24"/>
                  <a:gd name="T5" fmla="*/ 12 h 24"/>
                  <a:gd name="T6" fmla="*/ 18 w 24"/>
                  <a:gd name="T7" fmla="*/ 6 h 24"/>
                  <a:gd name="T8" fmla="*/ 12 w 24"/>
                  <a:gd name="T9" fmla="*/ 0 h 24"/>
                  <a:gd name="T10" fmla="*/ 0 w 24"/>
                  <a:gd name="T11" fmla="*/ 18 h 24"/>
                  <a:gd name="T12" fmla="*/ 0 w 24"/>
                  <a:gd name="T13" fmla="*/ 18 h 24"/>
                  <a:gd name="T14" fmla="*/ 0 w 24"/>
                  <a:gd name="T15" fmla="*/ 18 h 24"/>
                  <a:gd name="T16" fmla="*/ 0 w 24"/>
                  <a:gd name="T17" fmla="*/ 6 h 24"/>
                  <a:gd name="T18" fmla="*/ 18 w 24"/>
                  <a:gd name="T19" fmla="*/ 24 h 24"/>
                  <a:gd name="T20" fmla="*/ 0 w 24"/>
                  <a:gd name="T21" fmla="*/ 6 h 24"/>
                  <a:gd name="T22" fmla="*/ 0 w 24"/>
                  <a:gd name="T23" fmla="*/ 6 h 24"/>
                  <a:gd name="T24" fmla="*/ 0 w 24"/>
                  <a:gd name="T25" fmla="*/ 6 h 24"/>
                  <a:gd name="T26" fmla="*/ 12 w 24"/>
                  <a:gd name="T27" fmla="*/ 18 h 24"/>
                  <a:gd name="T28" fmla="*/ 0 w 24"/>
                  <a:gd name="T29"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4">
                    <a:moveTo>
                      <a:pt x="18" y="24"/>
                    </a:moveTo>
                    <a:lnTo>
                      <a:pt x="24" y="18"/>
                    </a:lnTo>
                    <a:lnTo>
                      <a:pt x="24" y="12"/>
                    </a:lnTo>
                    <a:lnTo>
                      <a:pt x="18" y="6"/>
                    </a:lnTo>
                    <a:lnTo>
                      <a:pt x="12" y="0"/>
                    </a:lnTo>
                    <a:lnTo>
                      <a:pt x="0" y="18"/>
                    </a:lnTo>
                    <a:lnTo>
                      <a:pt x="0" y="18"/>
                    </a:lnTo>
                    <a:lnTo>
                      <a:pt x="0" y="18"/>
                    </a:lnTo>
                    <a:lnTo>
                      <a:pt x="0" y="6"/>
                    </a:lnTo>
                    <a:lnTo>
                      <a:pt x="18" y="24"/>
                    </a:lnTo>
                    <a:close/>
                    <a:moveTo>
                      <a:pt x="0" y="6"/>
                    </a:moveTo>
                    <a:lnTo>
                      <a:pt x="0" y="6"/>
                    </a:lnTo>
                    <a:lnTo>
                      <a:pt x="0" y="6"/>
                    </a:lnTo>
                    <a:lnTo>
                      <a:pt x="12" y="18"/>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484" name="Freeform 284"/>
              <p:cNvSpPr>
                <a:spLocks noEditPoints="1"/>
              </p:cNvSpPr>
              <p:nvPr/>
            </p:nvSpPr>
            <p:spPr bwMode="auto">
              <a:xfrm>
                <a:off x="4555" y="2417"/>
                <a:ext cx="18" cy="24"/>
              </a:xfrm>
              <a:custGeom>
                <a:avLst/>
                <a:gdLst>
                  <a:gd name="T0" fmla="*/ 18 w 18"/>
                  <a:gd name="T1" fmla="*/ 6 h 24"/>
                  <a:gd name="T2" fmla="*/ 12 w 18"/>
                  <a:gd name="T3" fmla="*/ 6 h 24"/>
                  <a:gd name="T4" fmla="*/ 0 w 18"/>
                  <a:gd name="T5" fmla="*/ 0 h 24"/>
                  <a:gd name="T6" fmla="*/ 6 w 18"/>
                  <a:gd name="T7" fmla="*/ 24 h 24"/>
                  <a:gd name="T8" fmla="*/ 6 w 18"/>
                  <a:gd name="T9" fmla="*/ 24 h 24"/>
                  <a:gd name="T10" fmla="*/ 18 w 18"/>
                  <a:gd name="T11" fmla="*/ 6 h 24"/>
                  <a:gd name="T12" fmla="*/ 6 w 18"/>
                  <a:gd name="T13" fmla="*/ 24 h 24"/>
                  <a:gd name="T14" fmla="*/ 6 w 18"/>
                  <a:gd name="T15" fmla="*/ 24 h 24"/>
                  <a:gd name="T16" fmla="*/ 6 w 18"/>
                  <a:gd name="T17" fmla="*/ 24 h 24"/>
                  <a:gd name="T18" fmla="*/ 12 w 18"/>
                  <a:gd name="T19" fmla="*/ 18 h 24"/>
                  <a:gd name="T20" fmla="*/ 6 w 18"/>
                  <a:gd name="T2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24">
                    <a:moveTo>
                      <a:pt x="18" y="6"/>
                    </a:moveTo>
                    <a:lnTo>
                      <a:pt x="12" y="6"/>
                    </a:lnTo>
                    <a:lnTo>
                      <a:pt x="0" y="0"/>
                    </a:lnTo>
                    <a:lnTo>
                      <a:pt x="6" y="24"/>
                    </a:lnTo>
                    <a:lnTo>
                      <a:pt x="6" y="24"/>
                    </a:lnTo>
                    <a:lnTo>
                      <a:pt x="18" y="6"/>
                    </a:lnTo>
                    <a:close/>
                    <a:moveTo>
                      <a:pt x="6" y="24"/>
                    </a:moveTo>
                    <a:lnTo>
                      <a:pt x="6" y="24"/>
                    </a:lnTo>
                    <a:lnTo>
                      <a:pt x="6" y="24"/>
                    </a:lnTo>
                    <a:lnTo>
                      <a:pt x="12" y="18"/>
                    </a:lnTo>
                    <a:lnTo>
                      <a:pt x="6" y="24"/>
                    </a:lnTo>
                    <a:close/>
                  </a:path>
                </a:pathLst>
              </a:custGeom>
              <a:solidFill>
                <a:srgbClr val="00FF00"/>
              </a:solidFill>
              <a:ln w="9525">
                <a:solidFill>
                  <a:srgbClr val="00FF00"/>
                </a:solidFill>
                <a:round/>
                <a:headEnd/>
                <a:tailEnd/>
              </a:ln>
            </p:spPr>
            <p:txBody>
              <a:bodyPr/>
              <a:lstStyle/>
              <a:p>
                <a:endParaRPr lang="zh-CN" altLang="en-US"/>
              </a:p>
            </p:txBody>
          </p:sp>
          <p:sp>
            <p:nvSpPr>
              <p:cNvPr id="51485" name="Freeform 285"/>
              <p:cNvSpPr>
                <a:spLocks noEditPoints="1"/>
              </p:cNvSpPr>
              <p:nvPr/>
            </p:nvSpPr>
            <p:spPr bwMode="auto">
              <a:xfrm>
                <a:off x="4549" y="2417"/>
                <a:ext cx="24" cy="18"/>
              </a:xfrm>
              <a:custGeom>
                <a:avLst/>
                <a:gdLst>
                  <a:gd name="T0" fmla="*/ 0 w 24"/>
                  <a:gd name="T1" fmla="*/ 18 h 18"/>
                  <a:gd name="T2" fmla="*/ 0 w 24"/>
                  <a:gd name="T3" fmla="*/ 18 h 18"/>
                  <a:gd name="T4" fmla="*/ 24 w 24"/>
                  <a:gd name="T5" fmla="*/ 18 h 18"/>
                  <a:gd name="T6" fmla="*/ 24 w 24"/>
                  <a:gd name="T7" fmla="*/ 12 h 18"/>
                  <a:gd name="T8" fmla="*/ 0 w 24"/>
                  <a:gd name="T9" fmla="*/ 18 h 18"/>
                  <a:gd name="T10" fmla="*/ 6 w 24"/>
                  <a:gd name="T11" fmla="*/ 0 h 18"/>
                  <a:gd name="T12" fmla="*/ 0 w 24"/>
                  <a:gd name="T13" fmla="*/ 6 h 18"/>
                  <a:gd name="T14" fmla="*/ 0 w 24"/>
                  <a:gd name="T15" fmla="*/ 18 h 18"/>
                  <a:gd name="T16" fmla="*/ 12 w 24"/>
                  <a:gd name="T17" fmla="*/ 12 h 18"/>
                  <a:gd name="T18" fmla="*/ 6 w 24"/>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0" y="18"/>
                    </a:moveTo>
                    <a:lnTo>
                      <a:pt x="0" y="18"/>
                    </a:lnTo>
                    <a:lnTo>
                      <a:pt x="24" y="18"/>
                    </a:lnTo>
                    <a:lnTo>
                      <a:pt x="24" y="12"/>
                    </a:lnTo>
                    <a:lnTo>
                      <a:pt x="0" y="18"/>
                    </a:lnTo>
                    <a:close/>
                    <a:moveTo>
                      <a:pt x="6" y="0"/>
                    </a:moveTo>
                    <a:lnTo>
                      <a:pt x="0" y="6"/>
                    </a:lnTo>
                    <a:lnTo>
                      <a:pt x="0" y="18"/>
                    </a:lnTo>
                    <a:lnTo>
                      <a:pt x="12"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486" name="Freeform 286"/>
              <p:cNvSpPr>
                <a:spLocks/>
              </p:cNvSpPr>
              <p:nvPr/>
            </p:nvSpPr>
            <p:spPr bwMode="auto">
              <a:xfrm>
                <a:off x="4549" y="2435"/>
                <a:ext cx="12" cy="12"/>
              </a:xfrm>
              <a:custGeom>
                <a:avLst/>
                <a:gdLst>
                  <a:gd name="T0" fmla="*/ 0 w 12"/>
                  <a:gd name="T1" fmla="*/ 0 h 12"/>
                  <a:gd name="T2" fmla="*/ 0 w 12"/>
                  <a:gd name="T3" fmla="*/ 6 h 12"/>
                  <a:gd name="T4" fmla="*/ 6 w 12"/>
                  <a:gd name="T5" fmla="*/ 12 h 12"/>
                  <a:gd name="T6" fmla="*/ 12 w 12"/>
                  <a:gd name="T7" fmla="*/ 0 h 12"/>
                  <a:gd name="T8" fmla="*/ 0 w 12"/>
                  <a:gd name="T9" fmla="*/ 0 h 12"/>
                </a:gdLst>
                <a:ahLst/>
                <a:cxnLst>
                  <a:cxn ang="0">
                    <a:pos x="T0" y="T1"/>
                  </a:cxn>
                  <a:cxn ang="0">
                    <a:pos x="T2" y="T3"/>
                  </a:cxn>
                  <a:cxn ang="0">
                    <a:pos x="T4" y="T5"/>
                  </a:cxn>
                  <a:cxn ang="0">
                    <a:pos x="T6" y="T7"/>
                  </a:cxn>
                  <a:cxn ang="0">
                    <a:pos x="T8" y="T9"/>
                  </a:cxn>
                </a:cxnLst>
                <a:rect l="0" t="0" r="r" b="b"/>
                <a:pathLst>
                  <a:path w="12" h="12">
                    <a:moveTo>
                      <a:pt x="0" y="0"/>
                    </a:moveTo>
                    <a:lnTo>
                      <a:pt x="0" y="6"/>
                    </a:lnTo>
                    <a:lnTo>
                      <a:pt x="6" y="12"/>
                    </a:lnTo>
                    <a:lnTo>
                      <a:pt x="12" y="0"/>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51487" name="Freeform 287"/>
              <p:cNvSpPr>
                <a:spLocks/>
              </p:cNvSpPr>
              <p:nvPr/>
            </p:nvSpPr>
            <p:spPr bwMode="auto">
              <a:xfrm>
                <a:off x="4555" y="2411"/>
                <a:ext cx="48" cy="18"/>
              </a:xfrm>
              <a:custGeom>
                <a:avLst/>
                <a:gdLst>
                  <a:gd name="T0" fmla="*/ 0 w 48"/>
                  <a:gd name="T1" fmla="*/ 18 h 18"/>
                  <a:gd name="T2" fmla="*/ 6 w 48"/>
                  <a:gd name="T3" fmla="*/ 18 h 18"/>
                  <a:gd name="T4" fmla="*/ 18 w 48"/>
                  <a:gd name="T5" fmla="*/ 18 h 18"/>
                  <a:gd name="T6" fmla="*/ 18 w 48"/>
                  <a:gd name="T7" fmla="*/ 18 h 18"/>
                  <a:gd name="T8" fmla="*/ 24 w 48"/>
                  <a:gd name="T9" fmla="*/ 18 h 18"/>
                  <a:gd name="T10" fmla="*/ 30 w 48"/>
                  <a:gd name="T11" fmla="*/ 12 h 18"/>
                  <a:gd name="T12" fmla="*/ 30 w 48"/>
                  <a:gd name="T13" fmla="*/ 6 h 18"/>
                  <a:gd name="T14" fmla="*/ 30 w 48"/>
                  <a:gd name="T15" fmla="*/ 6 h 18"/>
                  <a:gd name="T16" fmla="*/ 36 w 48"/>
                  <a:gd name="T17" fmla="*/ 6 h 18"/>
                  <a:gd name="T18" fmla="*/ 36 w 48"/>
                  <a:gd name="T19" fmla="*/ 6 h 18"/>
                  <a:gd name="T20" fmla="*/ 36 w 48"/>
                  <a:gd name="T21" fmla="*/ 6 h 18"/>
                  <a:gd name="T22" fmla="*/ 42 w 48"/>
                  <a:gd name="T23" fmla="*/ 0 h 18"/>
                  <a:gd name="T24" fmla="*/ 42 w 48"/>
                  <a:gd name="T25" fmla="*/ 0 h 18"/>
                  <a:gd name="T26" fmla="*/ 42 w 48"/>
                  <a:gd name="T27" fmla="*/ 0 h 18"/>
                  <a:gd name="T28" fmla="*/ 48 w 48"/>
                  <a:gd name="T29" fmla="*/ 0 h 18"/>
                  <a:gd name="T30" fmla="*/ 48 w 48"/>
                  <a:gd name="T31" fmla="*/ 0 h 18"/>
                  <a:gd name="T32" fmla="*/ 48 w 48"/>
                  <a:gd name="T33" fmla="*/ 0 h 18"/>
                  <a:gd name="T34" fmla="*/ 42 w 48"/>
                  <a:gd name="T35" fmla="*/ 0 h 18"/>
                  <a:gd name="T36" fmla="*/ 42 w 48"/>
                  <a:gd name="T37" fmla="*/ 0 h 18"/>
                  <a:gd name="T38" fmla="*/ 36 w 48"/>
                  <a:gd name="T39" fmla="*/ 0 h 18"/>
                  <a:gd name="T40" fmla="*/ 36 w 48"/>
                  <a:gd name="T41" fmla="*/ 6 h 18"/>
                  <a:gd name="T42" fmla="*/ 30 w 48"/>
                  <a:gd name="T43" fmla="*/ 6 h 18"/>
                  <a:gd name="T44" fmla="*/ 30 w 48"/>
                  <a:gd name="T45" fmla="*/ 12 h 18"/>
                  <a:gd name="T46" fmla="*/ 24 w 48"/>
                  <a:gd name="T47" fmla="*/ 12 h 18"/>
                  <a:gd name="T48" fmla="*/ 24 w 48"/>
                  <a:gd name="T49" fmla="*/ 12 h 18"/>
                  <a:gd name="T50" fmla="*/ 18 w 48"/>
                  <a:gd name="T51" fmla="*/ 12 h 18"/>
                  <a:gd name="T52" fmla="*/ 12 w 48"/>
                  <a:gd name="T53" fmla="*/ 12 h 18"/>
                  <a:gd name="T54" fmla="*/ 6 w 48"/>
                  <a:gd name="T55" fmla="*/ 12 h 18"/>
                  <a:gd name="T56" fmla="*/ 0 w 48"/>
                  <a:gd name="T57" fmla="*/ 18 h 18"/>
                  <a:gd name="T58" fmla="*/ 0 w 48"/>
                  <a:gd name="T59"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8" h="18">
                    <a:moveTo>
                      <a:pt x="0" y="18"/>
                    </a:moveTo>
                    <a:lnTo>
                      <a:pt x="6" y="18"/>
                    </a:lnTo>
                    <a:lnTo>
                      <a:pt x="18" y="18"/>
                    </a:lnTo>
                    <a:lnTo>
                      <a:pt x="18" y="18"/>
                    </a:lnTo>
                    <a:lnTo>
                      <a:pt x="24" y="18"/>
                    </a:lnTo>
                    <a:lnTo>
                      <a:pt x="30" y="12"/>
                    </a:lnTo>
                    <a:lnTo>
                      <a:pt x="30" y="6"/>
                    </a:lnTo>
                    <a:lnTo>
                      <a:pt x="30" y="6"/>
                    </a:lnTo>
                    <a:lnTo>
                      <a:pt x="36" y="6"/>
                    </a:lnTo>
                    <a:lnTo>
                      <a:pt x="36" y="6"/>
                    </a:lnTo>
                    <a:lnTo>
                      <a:pt x="36" y="6"/>
                    </a:lnTo>
                    <a:lnTo>
                      <a:pt x="42" y="0"/>
                    </a:lnTo>
                    <a:lnTo>
                      <a:pt x="42" y="0"/>
                    </a:lnTo>
                    <a:lnTo>
                      <a:pt x="42" y="0"/>
                    </a:lnTo>
                    <a:lnTo>
                      <a:pt x="48" y="0"/>
                    </a:lnTo>
                    <a:lnTo>
                      <a:pt x="48" y="0"/>
                    </a:lnTo>
                    <a:lnTo>
                      <a:pt x="48" y="0"/>
                    </a:lnTo>
                    <a:lnTo>
                      <a:pt x="42" y="0"/>
                    </a:lnTo>
                    <a:lnTo>
                      <a:pt x="42" y="0"/>
                    </a:lnTo>
                    <a:lnTo>
                      <a:pt x="36" y="0"/>
                    </a:lnTo>
                    <a:lnTo>
                      <a:pt x="36" y="6"/>
                    </a:lnTo>
                    <a:lnTo>
                      <a:pt x="30" y="6"/>
                    </a:lnTo>
                    <a:lnTo>
                      <a:pt x="30" y="12"/>
                    </a:lnTo>
                    <a:lnTo>
                      <a:pt x="24" y="12"/>
                    </a:lnTo>
                    <a:lnTo>
                      <a:pt x="24" y="12"/>
                    </a:lnTo>
                    <a:lnTo>
                      <a:pt x="18" y="12"/>
                    </a:lnTo>
                    <a:lnTo>
                      <a:pt x="12" y="12"/>
                    </a:lnTo>
                    <a:lnTo>
                      <a:pt x="6" y="12"/>
                    </a:lnTo>
                    <a:lnTo>
                      <a:pt x="0" y="18"/>
                    </a:lnTo>
                    <a:lnTo>
                      <a:pt x="0" y="18"/>
                    </a:lnTo>
                    <a:close/>
                  </a:path>
                </a:pathLst>
              </a:custGeom>
              <a:solidFill>
                <a:srgbClr val="00FF00"/>
              </a:solidFill>
              <a:ln w="9525">
                <a:solidFill>
                  <a:srgbClr val="00FF00"/>
                </a:solidFill>
                <a:round/>
                <a:headEnd/>
                <a:tailEnd/>
              </a:ln>
            </p:spPr>
            <p:txBody>
              <a:bodyPr/>
              <a:lstStyle/>
              <a:p>
                <a:endParaRPr lang="zh-CN" altLang="en-US"/>
              </a:p>
            </p:txBody>
          </p:sp>
          <p:sp>
            <p:nvSpPr>
              <p:cNvPr id="51488" name="Freeform 288"/>
              <p:cNvSpPr>
                <a:spLocks/>
              </p:cNvSpPr>
              <p:nvPr/>
            </p:nvSpPr>
            <p:spPr bwMode="auto">
              <a:xfrm>
                <a:off x="4555" y="2417"/>
                <a:ext cx="24" cy="24"/>
              </a:xfrm>
              <a:custGeom>
                <a:avLst/>
                <a:gdLst>
                  <a:gd name="T0" fmla="*/ 0 w 24"/>
                  <a:gd name="T1" fmla="*/ 24 h 24"/>
                  <a:gd name="T2" fmla="*/ 6 w 24"/>
                  <a:gd name="T3" fmla="*/ 24 h 24"/>
                  <a:gd name="T4" fmla="*/ 18 w 24"/>
                  <a:gd name="T5" fmla="*/ 24 h 24"/>
                  <a:gd name="T6" fmla="*/ 24 w 24"/>
                  <a:gd name="T7" fmla="*/ 18 h 24"/>
                  <a:gd name="T8" fmla="*/ 6 w 24"/>
                  <a:gd name="T9" fmla="*/ 6 h 24"/>
                  <a:gd name="T10" fmla="*/ 12 w 24"/>
                  <a:gd name="T11" fmla="*/ 0 h 24"/>
                  <a:gd name="T12" fmla="*/ 6 w 24"/>
                  <a:gd name="T13" fmla="*/ 0 h 24"/>
                  <a:gd name="T14" fmla="*/ 6 w 24"/>
                  <a:gd name="T15" fmla="*/ 0 h 24"/>
                  <a:gd name="T16" fmla="*/ 6 w 24"/>
                  <a:gd name="T17" fmla="*/ 0 h 24"/>
                  <a:gd name="T18" fmla="*/ 0 w 24"/>
                  <a:gd name="T1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24"/>
                    </a:moveTo>
                    <a:lnTo>
                      <a:pt x="6" y="24"/>
                    </a:lnTo>
                    <a:lnTo>
                      <a:pt x="18" y="24"/>
                    </a:lnTo>
                    <a:lnTo>
                      <a:pt x="24" y="18"/>
                    </a:lnTo>
                    <a:lnTo>
                      <a:pt x="6" y="6"/>
                    </a:lnTo>
                    <a:lnTo>
                      <a:pt x="12" y="0"/>
                    </a:lnTo>
                    <a:lnTo>
                      <a:pt x="6" y="0"/>
                    </a:lnTo>
                    <a:lnTo>
                      <a:pt x="6" y="0"/>
                    </a:lnTo>
                    <a:lnTo>
                      <a:pt x="6" y="0"/>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51489" name="Freeform 289"/>
              <p:cNvSpPr>
                <a:spLocks noEditPoints="1"/>
              </p:cNvSpPr>
              <p:nvPr/>
            </p:nvSpPr>
            <p:spPr bwMode="auto">
              <a:xfrm>
                <a:off x="4561" y="2417"/>
                <a:ext cx="24" cy="24"/>
              </a:xfrm>
              <a:custGeom>
                <a:avLst/>
                <a:gdLst>
                  <a:gd name="T0" fmla="*/ 12 w 24"/>
                  <a:gd name="T1" fmla="*/ 24 h 24"/>
                  <a:gd name="T2" fmla="*/ 18 w 24"/>
                  <a:gd name="T3" fmla="*/ 24 h 24"/>
                  <a:gd name="T4" fmla="*/ 24 w 24"/>
                  <a:gd name="T5" fmla="*/ 18 h 24"/>
                  <a:gd name="T6" fmla="*/ 6 w 24"/>
                  <a:gd name="T7" fmla="*/ 6 h 24"/>
                  <a:gd name="T8" fmla="*/ 12 w 24"/>
                  <a:gd name="T9" fmla="*/ 0 h 24"/>
                  <a:gd name="T10" fmla="*/ 12 w 24"/>
                  <a:gd name="T11" fmla="*/ 0 h 24"/>
                  <a:gd name="T12" fmla="*/ 12 w 24"/>
                  <a:gd name="T13" fmla="*/ 24 h 24"/>
                  <a:gd name="T14" fmla="*/ 12 w 24"/>
                  <a:gd name="T15" fmla="*/ 0 h 24"/>
                  <a:gd name="T16" fmla="*/ 6 w 24"/>
                  <a:gd name="T17" fmla="*/ 0 h 24"/>
                  <a:gd name="T18" fmla="*/ 0 w 24"/>
                  <a:gd name="T19" fmla="*/ 6 h 24"/>
                  <a:gd name="T20" fmla="*/ 12 w 24"/>
                  <a:gd name="T21" fmla="*/ 12 h 24"/>
                  <a:gd name="T22" fmla="*/ 12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2" y="24"/>
                    </a:moveTo>
                    <a:lnTo>
                      <a:pt x="18" y="24"/>
                    </a:lnTo>
                    <a:lnTo>
                      <a:pt x="24" y="18"/>
                    </a:lnTo>
                    <a:lnTo>
                      <a:pt x="6" y="6"/>
                    </a:lnTo>
                    <a:lnTo>
                      <a:pt x="12" y="0"/>
                    </a:lnTo>
                    <a:lnTo>
                      <a:pt x="12" y="0"/>
                    </a:lnTo>
                    <a:lnTo>
                      <a:pt x="12" y="24"/>
                    </a:lnTo>
                    <a:close/>
                    <a:moveTo>
                      <a:pt x="12" y="0"/>
                    </a:moveTo>
                    <a:lnTo>
                      <a:pt x="6" y="0"/>
                    </a:lnTo>
                    <a:lnTo>
                      <a:pt x="0" y="6"/>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490" name="Freeform 290"/>
              <p:cNvSpPr>
                <a:spLocks noEditPoints="1"/>
              </p:cNvSpPr>
              <p:nvPr/>
            </p:nvSpPr>
            <p:spPr bwMode="auto">
              <a:xfrm>
                <a:off x="4567" y="2411"/>
                <a:ext cx="30" cy="24"/>
              </a:xfrm>
              <a:custGeom>
                <a:avLst/>
                <a:gdLst>
                  <a:gd name="T0" fmla="*/ 18 w 30"/>
                  <a:gd name="T1" fmla="*/ 24 h 24"/>
                  <a:gd name="T2" fmla="*/ 24 w 30"/>
                  <a:gd name="T3" fmla="*/ 24 h 24"/>
                  <a:gd name="T4" fmla="*/ 24 w 30"/>
                  <a:gd name="T5" fmla="*/ 18 h 24"/>
                  <a:gd name="T6" fmla="*/ 30 w 30"/>
                  <a:gd name="T7" fmla="*/ 6 h 24"/>
                  <a:gd name="T8" fmla="*/ 6 w 30"/>
                  <a:gd name="T9" fmla="*/ 6 h 24"/>
                  <a:gd name="T10" fmla="*/ 6 w 30"/>
                  <a:gd name="T11" fmla="*/ 0 h 24"/>
                  <a:gd name="T12" fmla="*/ 6 w 30"/>
                  <a:gd name="T13" fmla="*/ 0 h 24"/>
                  <a:gd name="T14" fmla="*/ 0 w 30"/>
                  <a:gd name="T15" fmla="*/ 6 h 24"/>
                  <a:gd name="T16" fmla="*/ 18 w 30"/>
                  <a:gd name="T17" fmla="*/ 24 h 24"/>
                  <a:gd name="T18" fmla="*/ 0 w 30"/>
                  <a:gd name="T19" fmla="*/ 6 h 24"/>
                  <a:gd name="T20" fmla="*/ 0 w 30"/>
                  <a:gd name="T21" fmla="*/ 6 h 24"/>
                  <a:gd name="T22" fmla="*/ 0 w 30"/>
                  <a:gd name="T23" fmla="*/ 12 h 24"/>
                  <a:gd name="T24" fmla="*/ 12 w 30"/>
                  <a:gd name="T25" fmla="*/ 18 h 24"/>
                  <a:gd name="T26" fmla="*/ 0 w 30"/>
                  <a:gd name="T27"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24">
                    <a:moveTo>
                      <a:pt x="18" y="24"/>
                    </a:moveTo>
                    <a:lnTo>
                      <a:pt x="24" y="24"/>
                    </a:lnTo>
                    <a:lnTo>
                      <a:pt x="24" y="18"/>
                    </a:lnTo>
                    <a:lnTo>
                      <a:pt x="30" y="6"/>
                    </a:lnTo>
                    <a:lnTo>
                      <a:pt x="6" y="6"/>
                    </a:lnTo>
                    <a:lnTo>
                      <a:pt x="6" y="0"/>
                    </a:lnTo>
                    <a:lnTo>
                      <a:pt x="6" y="0"/>
                    </a:lnTo>
                    <a:lnTo>
                      <a:pt x="0" y="6"/>
                    </a:lnTo>
                    <a:lnTo>
                      <a:pt x="18" y="24"/>
                    </a:lnTo>
                    <a:close/>
                    <a:moveTo>
                      <a:pt x="0" y="6"/>
                    </a:moveTo>
                    <a:lnTo>
                      <a:pt x="0" y="6"/>
                    </a:lnTo>
                    <a:lnTo>
                      <a:pt x="0" y="12"/>
                    </a:lnTo>
                    <a:lnTo>
                      <a:pt x="12" y="18"/>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491" name="Freeform 291"/>
              <p:cNvSpPr>
                <a:spLocks noEditPoints="1"/>
              </p:cNvSpPr>
              <p:nvPr/>
            </p:nvSpPr>
            <p:spPr bwMode="auto">
              <a:xfrm>
                <a:off x="4573" y="2405"/>
                <a:ext cx="18" cy="24"/>
              </a:xfrm>
              <a:custGeom>
                <a:avLst/>
                <a:gdLst>
                  <a:gd name="T0" fmla="*/ 12 w 18"/>
                  <a:gd name="T1" fmla="*/ 24 h 24"/>
                  <a:gd name="T2" fmla="*/ 18 w 18"/>
                  <a:gd name="T3" fmla="*/ 24 h 24"/>
                  <a:gd name="T4" fmla="*/ 18 w 18"/>
                  <a:gd name="T5" fmla="*/ 24 h 24"/>
                  <a:gd name="T6" fmla="*/ 18 w 18"/>
                  <a:gd name="T7" fmla="*/ 24 h 24"/>
                  <a:gd name="T8" fmla="*/ 12 w 18"/>
                  <a:gd name="T9" fmla="*/ 0 h 24"/>
                  <a:gd name="T10" fmla="*/ 12 w 18"/>
                  <a:gd name="T11" fmla="*/ 0 h 24"/>
                  <a:gd name="T12" fmla="*/ 12 w 18"/>
                  <a:gd name="T13" fmla="*/ 0 h 24"/>
                  <a:gd name="T14" fmla="*/ 12 w 18"/>
                  <a:gd name="T15" fmla="*/ 24 h 24"/>
                  <a:gd name="T16" fmla="*/ 12 w 18"/>
                  <a:gd name="T17" fmla="*/ 0 h 24"/>
                  <a:gd name="T18" fmla="*/ 0 w 18"/>
                  <a:gd name="T19" fmla="*/ 6 h 24"/>
                  <a:gd name="T20" fmla="*/ 0 w 18"/>
                  <a:gd name="T21" fmla="*/ 12 h 24"/>
                  <a:gd name="T22" fmla="*/ 12 w 18"/>
                  <a:gd name="T23" fmla="*/ 12 h 24"/>
                  <a:gd name="T24" fmla="*/ 12 w 18"/>
                  <a:gd name="T25"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24">
                    <a:moveTo>
                      <a:pt x="12" y="24"/>
                    </a:moveTo>
                    <a:lnTo>
                      <a:pt x="18" y="24"/>
                    </a:lnTo>
                    <a:lnTo>
                      <a:pt x="18" y="24"/>
                    </a:lnTo>
                    <a:lnTo>
                      <a:pt x="18" y="24"/>
                    </a:lnTo>
                    <a:lnTo>
                      <a:pt x="12" y="0"/>
                    </a:lnTo>
                    <a:lnTo>
                      <a:pt x="12" y="0"/>
                    </a:lnTo>
                    <a:lnTo>
                      <a:pt x="12" y="0"/>
                    </a:lnTo>
                    <a:lnTo>
                      <a:pt x="12" y="24"/>
                    </a:lnTo>
                    <a:close/>
                    <a:moveTo>
                      <a:pt x="12" y="0"/>
                    </a:moveTo>
                    <a:lnTo>
                      <a:pt x="0" y="6"/>
                    </a:lnTo>
                    <a:lnTo>
                      <a:pt x="0" y="12"/>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492" name="Freeform 292"/>
              <p:cNvSpPr>
                <a:spLocks noEditPoints="1"/>
              </p:cNvSpPr>
              <p:nvPr/>
            </p:nvSpPr>
            <p:spPr bwMode="auto">
              <a:xfrm>
                <a:off x="4579" y="2405"/>
                <a:ext cx="18" cy="24"/>
              </a:xfrm>
              <a:custGeom>
                <a:avLst/>
                <a:gdLst>
                  <a:gd name="T0" fmla="*/ 18 w 18"/>
                  <a:gd name="T1" fmla="*/ 24 h 24"/>
                  <a:gd name="T2" fmla="*/ 18 w 18"/>
                  <a:gd name="T3" fmla="*/ 24 h 24"/>
                  <a:gd name="T4" fmla="*/ 12 w 18"/>
                  <a:gd name="T5" fmla="*/ 24 h 24"/>
                  <a:gd name="T6" fmla="*/ 6 w 18"/>
                  <a:gd name="T7" fmla="*/ 0 h 24"/>
                  <a:gd name="T8" fmla="*/ 6 w 18"/>
                  <a:gd name="T9" fmla="*/ 0 h 24"/>
                  <a:gd name="T10" fmla="*/ 0 w 18"/>
                  <a:gd name="T11" fmla="*/ 0 h 24"/>
                  <a:gd name="T12" fmla="*/ 18 w 18"/>
                  <a:gd name="T13" fmla="*/ 24 h 24"/>
                  <a:gd name="T14" fmla="*/ 12 w 18"/>
                  <a:gd name="T15" fmla="*/ 24 h 24"/>
                  <a:gd name="T16" fmla="*/ 18 w 18"/>
                  <a:gd name="T17" fmla="*/ 24 h 24"/>
                  <a:gd name="T18" fmla="*/ 18 w 18"/>
                  <a:gd name="T19" fmla="*/ 24 h 24"/>
                  <a:gd name="T20" fmla="*/ 6 w 18"/>
                  <a:gd name="T21" fmla="*/ 12 h 24"/>
                  <a:gd name="T22" fmla="*/ 12 w 18"/>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18" y="24"/>
                    </a:moveTo>
                    <a:lnTo>
                      <a:pt x="18" y="24"/>
                    </a:lnTo>
                    <a:lnTo>
                      <a:pt x="12" y="24"/>
                    </a:lnTo>
                    <a:lnTo>
                      <a:pt x="6" y="0"/>
                    </a:lnTo>
                    <a:lnTo>
                      <a:pt x="6" y="0"/>
                    </a:lnTo>
                    <a:lnTo>
                      <a:pt x="0" y="0"/>
                    </a:lnTo>
                    <a:lnTo>
                      <a:pt x="18" y="24"/>
                    </a:lnTo>
                    <a:close/>
                    <a:moveTo>
                      <a:pt x="12" y="24"/>
                    </a:moveTo>
                    <a:lnTo>
                      <a:pt x="18" y="24"/>
                    </a:lnTo>
                    <a:lnTo>
                      <a:pt x="18" y="24"/>
                    </a:lnTo>
                    <a:lnTo>
                      <a:pt x="6" y="12"/>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51493" name="Freeform 293"/>
              <p:cNvSpPr>
                <a:spLocks noEditPoints="1"/>
              </p:cNvSpPr>
              <p:nvPr/>
            </p:nvSpPr>
            <p:spPr bwMode="auto">
              <a:xfrm>
                <a:off x="4585" y="2405"/>
                <a:ext cx="12" cy="24"/>
              </a:xfrm>
              <a:custGeom>
                <a:avLst/>
                <a:gdLst>
                  <a:gd name="T0" fmla="*/ 6 w 12"/>
                  <a:gd name="T1" fmla="*/ 24 h 24"/>
                  <a:gd name="T2" fmla="*/ 12 w 12"/>
                  <a:gd name="T3" fmla="*/ 24 h 24"/>
                  <a:gd name="T4" fmla="*/ 12 w 12"/>
                  <a:gd name="T5" fmla="*/ 18 h 24"/>
                  <a:gd name="T6" fmla="*/ 6 w 12"/>
                  <a:gd name="T7" fmla="*/ 0 h 24"/>
                  <a:gd name="T8" fmla="*/ 6 w 12"/>
                  <a:gd name="T9" fmla="*/ 0 h 24"/>
                  <a:gd name="T10" fmla="*/ 6 w 12"/>
                  <a:gd name="T11" fmla="*/ 0 h 24"/>
                  <a:gd name="T12" fmla="*/ 6 w 12"/>
                  <a:gd name="T13" fmla="*/ 24 h 24"/>
                  <a:gd name="T14" fmla="*/ 6 w 12"/>
                  <a:gd name="T15" fmla="*/ 0 h 24"/>
                  <a:gd name="T16" fmla="*/ 0 w 12"/>
                  <a:gd name="T17" fmla="*/ 0 h 24"/>
                  <a:gd name="T18" fmla="*/ 0 w 12"/>
                  <a:gd name="T19" fmla="*/ 0 h 24"/>
                  <a:gd name="T20" fmla="*/ 6 w 12"/>
                  <a:gd name="T21" fmla="*/ 12 h 24"/>
                  <a:gd name="T22" fmla="*/ 6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6" y="24"/>
                    </a:moveTo>
                    <a:lnTo>
                      <a:pt x="12" y="24"/>
                    </a:lnTo>
                    <a:lnTo>
                      <a:pt x="12" y="18"/>
                    </a:lnTo>
                    <a:lnTo>
                      <a:pt x="6" y="0"/>
                    </a:lnTo>
                    <a:lnTo>
                      <a:pt x="6" y="0"/>
                    </a:lnTo>
                    <a:lnTo>
                      <a:pt x="6" y="0"/>
                    </a:lnTo>
                    <a:lnTo>
                      <a:pt x="6" y="24"/>
                    </a:lnTo>
                    <a:close/>
                    <a:moveTo>
                      <a:pt x="6" y="0"/>
                    </a:moveTo>
                    <a:lnTo>
                      <a:pt x="0" y="0"/>
                    </a:lnTo>
                    <a:lnTo>
                      <a:pt x="0" y="0"/>
                    </a:lnTo>
                    <a:lnTo>
                      <a:pt x="6"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494" name="Freeform 294"/>
              <p:cNvSpPr>
                <a:spLocks noEditPoints="1"/>
              </p:cNvSpPr>
              <p:nvPr/>
            </p:nvSpPr>
            <p:spPr bwMode="auto">
              <a:xfrm>
                <a:off x="4585" y="2400"/>
                <a:ext cx="18" cy="23"/>
              </a:xfrm>
              <a:custGeom>
                <a:avLst/>
                <a:gdLst>
                  <a:gd name="T0" fmla="*/ 12 w 18"/>
                  <a:gd name="T1" fmla="*/ 23 h 23"/>
                  <a:gd name="T2" fmla="*/ 18 w 18"/>
                  <a:gd name="T3" fmla="*/ 23 h 23"/>
                  <a:gd name="T4" fmla="*/ 18 w 18"/>
                  <a:gd name="T5" fmla="*/ 23 h 23"/>
                  <a:gd name="T6" fmla="*/ 18 w 18"/>
                  <a:gd name="T7" fmla="*/ 23 h 23"/>
                  <a:gd name="T8" fmla="*/ 18 w 18"/>
                  <a:gd name="T9" fmla="*/ 23 h 23"/>
                  <a:gd name="T10" fmla="*/ 18 w 18"/>
                  <a:gd name="T11" fmla="*/ 23 h 23"/>
                  <a:gd name="T12" fmla="*/ 18 w 18"/>
                  <a:gd name="T13" fmla="*/ 23 h 23"/>
                  <a:gd name="T14" fmla="*/ 6 w 18"/>
                  <a:gd name="T15" fmla="*/ 0 h 23"/>
                  <a:gd name="T16" fmla="*/ 6 w 18"/>
                  <a:gd name="T17" fmla="*/ 0 h 23"/>
                  <a:gd name="T18" fmla="*/ 6 w 18"/>
                  <a:gd name="T19" fmla="*/ 5 h 23"/>
                  <a:gd name="T20" fmla="*/ 6 w 18"/>
                  <a:gd name="T21" fmla="*/ 5 h 23"/>
                  <a:gd name="T22" fmla="*/ 6 w 18"/>
                  <a:gd name="T23" fmla="*/ 5 h 23"/>
                  <a:gd name="T24" fmla="*/ 6 w 18"/>
                  <a:gd name="T25" fmla="*/ 5 h 23"/>
                  <a:gd name="T26" fmla="*/ 6 w 18"/>
                  <a:gd name="T27" fmla="*/ 5 h 23"/>
                  <a:gd name="T28" fmla="*/ 0 w 18"/>
                  <a:gd name="T29" fmla="*/ 5 h 23"/>
                  <a:gd name="T30" fmla="*/ 12 w 18"/>
                  <a:gd name="T31" fmla="*/ 23 h 23"/>
                  <a:gd name="T32" fmla="*/ 6 w 18"/>
                  <a:gd name="T33" fmla="*/ 5 h 23"/>
                  <a:gd name="T34" fmla="*/ 6 w 18"/>
                  <a:gd name="T35" fmla="*/ 5 h 23"/>
                  <a:gd name="T36" fmla="*/ 6 w 18"/>
                  <a:gd name="T37" fmla="*/ 5 h 23"/>
                  <a:gd name="T38" fmla="*/ 6 w 18"/>
                  <a:gd name="T39" fmla="*/ 17 h 23"/>
                  <a:gd name="T40" fmla="*/ 6 w 18"/>
                  <a:gd name="T41" fmla="*/ 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 h="23">
                    <a:moveTo>
                      <a:pt x="12" y="23"/>
                    </a:moveTo>
                    <a:lnTo>
                      <a:pt x="18" y="23"/>
                    </a:lnTo>
                    <a:lnTo>
                      <a:pt x="18" y="23"/>
                    </a:lnTo>
                    <a:lnTo>
                      <a:pt x="18" y="23"/>
                    </a:lnTo>
                    <a:lnTo>
                      <a:pt x="18" y="23"/>
                    </a:lnTo>
                    <a:lnTo>
                      <a:pt x="18" y="23"/>
                    </a:lnTo>
                    <a:lnTo>
                      <a:pt x="18" y="23"/>
                    </a:lnTo>
                    <a:lnTo>
                      <a:pt x="6" y="0"/>
                    </a:lnTo>
                    <a:lnTo>
                      <a:pt x="6" y="0"/>
                    </a:lnTo>
                    <a:lnTo>
                      <a:pt x="6" y="5"/>
                    </a:lnTo>
                    <a:lnTo>
                      <a:pt x="6" y="5"/>
                    </a:lnTo>
                    <a:lnTo>
                      <a:pt x="6" y="5"/>
                    </a:lnTo>
                    <a:lnTo>
                      <a:pt x="6" y="5"/>
                    </a:lnTo>
                    <a:lnTo>
                      <a:pt x="6" y="5"/>
                    </a:lnTo>
                    <a:lnTo>
                      <a:pt x="0" y="5"/>
                    </a:lnTo>
                    <a:lnTo>
                      <a:pt x="12" y="23"/>
                    </a:lnTo>
                    <a:close/>
                    <a:moveTo>
                      <a:pt x="6" y="5"/>
                    </a:moveTo>
                    <a:lnTo>
                      <a:pt x="6" y="5"/>
                    </a:lnTo>
                    <a:lnTo>
                      <a:pt x="6" y="5"/>
                    </a:lnTo>
                    <a:lnTo>
                      <a:pt x="6" y="17"/>
                    </a:lnTo>
                    <a:lnTo>
                      <a:pt x="6" y="5"/>
                    </a:lnTo>
                    <a:close/>
                  </a:path>
                </a:pathLst>
              </a:custGeom>
              <a:solidFill>
                <a:srgbClr val="00FF00"/>
              </a:solidFill>
              <a:ln w="9525">
                <a:solidFill>
                  <a:srgbClr val="00FF00"/>
                </a:solidFill>
                <a:round/>
                <a:headEnd/>
                <a:tailEnd/>
              </a:ln>
            </p:spPr>
            <p:txBody>
              <a:bodyPr/>
              <a:lstStyle/>
              <a:p>
                <a:endParaRPr lang="zh-CN" altLang="en-US"/>
              </a:p>
            </p:txBody>
          </p:sp>
          <p:sp>
            <p:nvSpPr>
              <p:cNvPr id="51495" name="Freeform 295"/>
              <p:cNvSpPr>
                <a:spLocks noEditPoints="1"/>
              </p:cNvSpPr>
              <p:nvPr/>
            </p:nvSpPr>
            <p:spPr bwMode="auto">
              <a:xfrm>
                <a:off x="4591" y="2400"/>
                <a:ext cx="12" cy="23"/>
              </a:xfrm>
              <a:custGeom>
                <a:avLst/>
                <a:gdLst>
                  <a:gd name="T0" fmla="*/ 12 w 12"/>
                  <a:gd name="T1" fmla="*/ 23 h 23"/>
                  <a:gd name="T2" fmla="*/ 12 w 12"/>
                  <a:gd name="T3" fmla="*/ 23 h 23"/>
                  <a:gd name="T4" fmla="*/ 12 w 12"/>
                  <a:gd name="T5" fmla="*/ 23 h 23"/>
                  <a:gd name="T6" fmla="*/ 0 w 12"/>
                  <a:gd name="T7" fmla="*/ 0 h 23"/>
                  <a:gd name="T8" fmla="*/ 0 w 12"/>
                  <a:gd name="T9" fmla="*/ 5 h 23"/>
                  <a:gd name="T10" fmla="*/ 0 w 12"/>
                  <a:gd name="T11" fmla="*/ 5 h 23"/>
                  <a:gd name="T12" fmla="*/ 12 w 12"/>
                  <a:gd name="T13" fmla="*/ 23 h 23"/>
                  <a:gd name="T14" fmla="*/ 12 w 12"/>
                  <a:gd name="T15" fmla="*/ 23 h 23"/>
                  <a:gd name="T16" fmla="*/ 12 w 12"/>
                  <a:gd name="T17" fmla="*/ 23 h 23"/>
                  <a:gd name="T18" fmla="*/ 12 w 12"/>
                  <a:gd name="T19" fmla="*/ 23 h 23"/>
                  <a:gd name="T20" fmla="*/ 6 w 12"/>
                  <a:gd name="T21" fmla="*/ 11 h 23"/>
                  <a:gd name="T22" fmla="*/ 12 w 12"/>
                  <a:gd name="T23"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3">
                    <a:moveTo>
                      <a:pt x="12" y="23"/>
                    </a:moveTo>
                    <a:lnTo>
                      <a:pt x="12" y="23"/>
                    </a:lnTo>
                    <a:lnTo>
                      <a:pt x="12" y="23"/>
                    </a:lnTo>
                    <a:lnTo>
                      <a:pt x="0" y="0"/>
                    </a:lnTo>
                    <a:lnTo>
                      <a:pt x="0" y="5"/>
                    </a:lnTo>
                    <a:lnTo>
                      <a:pt x="0" y="5"/>
                    </a:lnTo>
                    <a:lnTo>
                      <a:pt x="12" y="23"/>
                    </a:lnTo>
                    <a:close/>
                    <a:moveTo>
                      <a:pt x="12" y="23"/>
                    </a:moveTo>
                    <a:lnTo>
                      <a:pt x="12" y="23"/>
                    </a:lnTo>
                    <a:lnTo>
                      <a:pt x="12" y="23"/>
                    </a:lnTo>
                    <a:lnTo>
                      <a:pt x="6" y="11"/>
                    </a:lnTo>
                    <a:lnTo>
                      <a:pt x="12" y="23"/>
                    </a:lnTo>
                    <a:close/>
                  </a:path>
                </a:pathLst>
              </a:custGeom>
              <a:solidFill>
                <a:srgbClr val="00FF00"/>
              </a:solidFill>
              <a:ln w="9525">
                <a:solidFill>
                  <a:srgbClr val="00FF00"/>
                </a:solidFill>
                <a:round/>
                <a:headEnd/>
                <a:tailEnd/>
              </a:ln>
            </p:spPr>
            <p:txBody>
              <a:bodyPr/>
              <a:lstStyle/>
              <a:p>
                <a:endParaRPr lang="zh-CN" altLang="en-US"/>
              </a:p>
            </p:txBody>
          </p:sp>
          <p:sp>
            <p:nvSpPr>
              <p:cNvPr id="51496" name="Freeform 296"/>
              <p:cNvSpPr>
                <a:spLocks noEditPoints="1"/>
              </p:cNvSpPr>
              <p:nvPr/>
            </p:nvSpPr>
            <p:spPr bwMode="auto">
              <a:xfrm>
                <a:off x="4591" y="2400"/>
                <a:ext cx="12" cy="23"/>
              </a:xfrm>
              <a:custGeom>
                <a:avLst/>
                <a:gdLst>
                  <a:gd name="T0" fmla="*/ 12 w 12"/>
                  <a:gd name="T1" fmla="*/ 23 h 23"/>
                  <a:gd name="T2" fmla="*/ 12 w 12"/>
                  <a:gd name="T3" fmla="*/ 23 h 23"/>
                  <a:gd name="T4" fmla="*/ 12 w 12"/>
                  <a:gd name="T5" fmla="*/ 23 h 23"/>
                  <a:gd name="T6" fmla="*/ 6 w 12"/>
                  <a:gd name="T7" fmla="*/ 0 h 23"/>
                  <a:gd name="T8" fmla="*/ 6 w 12"/>
                  <a:gd name="T9" fmla="*/ 0 h 23"/>
                  <a:gd name="T10" fmla="*/ 6 w 12"/>
                  <a:gd name="T11" fmla="*/ 0 h 23"/>
                  <a:gd name="T12" fmla="*/ 12 w 12"/>
                  <a:gd name="T13" fmla="*/ 23 h 23"/>
                  <a:gd name="T14" fmla="*/ 6 w 12"/>
                  <a:gd name="T15" fmla="*/ 0 h 23"/>
                  <a:gd name="T16" fmla="*/ 6 w 12"/>
                  <a:gd name="T17" fmla="*/ 0 h 23"/>
                  <a:gd name="T18" fmla="*/ 0 w 12"/>
                  <a:gd name="T19" fmla="*/ 0 h 23"/>
                  <a:gd name="T20" fmla="*/ 6 w 12"/>
                  <a:gd name="T21" fmla="*/ 11 h 23"/>
                  <a:gd name="T22" fmla="*/ 6 w 12"/>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3">
                    <a:moveTo>
                      <a:pt x="12" y="23"/>
                    </a:moveTo>
                    <a:lnTo>
                      <a:pt x="12" y="23"/>
                    </a:lnTo>
                    <a:lnTo>
                      <a:pt x="12" y="23"/>
                    </a:lnTo>
                    <a:lnTo>
                      <a:pt x="6" y="0"/>
                    </a:lnTo>
                    <a:lnTo>
                      <a:pt x="6" y="0"/>
                    </a:lnTo>
                    <a:lnTo>
                      <a:pt x="6" y="0"/>
                    </a:lnTo>
                    <a:lnTo>
                      <a:pt x="12" y="23"/>
                    </a:lnTo>
                    <a:close/>
                    <a:moveTo>
                      <a:pt x="6" y="0"/>
                    </a:moveTo>
                    <a:lnTo>
                      <a:pt x="6" y="0"/>
                    </a:lnTo>
                    <a:lnTo>
                      <a:pt x="0" y="0"/>
                    </a:lnTo>
                    <a:lnTo>
                      <a:pt x="6" y="11"/>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497" name="Freeform 297"/>
              <p:cNvSpPr>
                <a:spLocks noEditPoints="1"/>
              </p:cNvSpPr>
              <p:nvPr/>
            </p:nvSpPr>
            <p:spPr bwMode="auto">
              <a:xfrm>
                <a:off x="4597" y="2400"/>
                <a:ext cx="6" cy="23"/>
              </a:xfrm>
              <a:custGeom>
                <a:avLst/>
                <a:gdLst>
                  <a:gd name="T0" fmla="*/ 6 w 6"/>
                  <a:gd name="T1" fmla="*/ 0 h 23"/>
                  <a:gd name="T2" fmla="*/ 6 w 6"/>
                  <a:gd name="T3" fmla="*/ 0 h 23"/>
                  <a:gd name="T4" fmla="*/ 0 w 6"/>
                  <a:gd name="T5" fmla="*/ 0 h 23"/>
                  <a:gd name="T6" fmla="*/ 0 w 6"/>
                  <a:gd name="T7" fmla="*/ 23 h 23"/>
                  <a:gd name="T8" fmla="*/ 0 w 6"/>
                  <a:gd name="T9" fmla="*/ 23 h 23"/>
                  <a:gd name="T10" fmla="*/ 6 w 6"/>
                  <a:gd name="T11" fmla="*/ 0 h 23"/>
                  <a:gd name="T12" fmla="*/ 6 w 6"/>
                  <a:gd name="T13" fmla="*/ 23 h 23"/>
                  <a:gd name="T14" fmla="*/ 6 w 6"/>
                  <a:gd name="T15" fmla="*/ 0 h 23"/>
                  <a:gd name="T16" fmla="*/ 0 w 6"/>
                  <a:gd name="T17" fmla="*/ 23 h 23"/>
                  <a:gd name="T18" fmla="*/ 0 w 6"/>
                  <a:gd name="T19" fmla="*/ 0 h 23"/>
                  <a:gd name="T20" fmla="*/ 6 w 6"/>
                  <a:gd name="T21"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 h="23">
                    <a:moveTo>
                      <a:pt x="6" y="0"/>
                    </a:moveTo>
                    <a:lnTo>
                      <a:pt x="6" y="0"/>
                    </a:lnTo>
                    <a:lnTo>
                      <a:pt x="0" y="0"/>
                    </a:lnTo>
                    <a:lnTo>
                      <a:pt x="0" y="23"/>
                    </a:lnTo>
                    <a:lnTo>
                      <a:pt x="0" y="23"/>
                    </a:lnTo>
                    <a:lnTo>
                      <a:pt x="6" y="0"/>
                    </a:lnTo>
                    <a:close/>
                    <a:moveTo>
                      <a:pt x="6" y="23"/>
                    </a:moveTo>
                    <a:lnTo>
                      <a:pt x="6" y="0"/>
                    </a:lnTo>
                    <a:lnTo>
                      <a:pt x="0" y="23"/>
                    </a:lnTo>
                    <a:lnTo>
                      <a:pt x="0" y="0"/>
                    </a:lnTo>
                    <a:lnTo>
                      <a:pt x="6" y="23"/>
                    </a:lnTo>
                    <a:close/>
                  </a:path>
                </a:pathLst>
              </a:custGeom>
              <a:solidFill>
                <a:srgbClr val="00FF00"/>
              </a:solidFill>
              <a:ln w="9525">
                <a:solidFill>
                  <a:srgbClr val="00FF00"/>
                </a:solidFill>
                <a:round/>
                <a:headEnd/>
                <a:tailEnd/>
              </a:ln>
            </p:spPr>
            <p:txBody>
              <a:bodyPr/>
              <a:lstStyle/>
              <a:p>
                <a:endParaRPr lang="zh-CN" altLang="en-US"/>
              </a:p>
            </p:txBody>
          </p:sp>
          <p:sp>
            <p:nvSpPr>
              <p:cNvPr id="51498" name="Freeform 298"/>
              <p:cNvSpPr>
                <a:spLocks noEditPoints="1"/>
              </p:cNvSpPr>
              <p:nvPr/>
            </p:nvSpPr>
            <p:spPr bwMode="auto">
              <a:xfrm>
                <a:off x="4585" y="2400"/>
                <a:ext cx="18" cy="23"/>
              </a:xfrm>
              <a:custGeom>
                <a:avLst/>
                <a:gdLst>
                  <a:gd name="T0" fmla="*/ 6 w 18"/>
                  <a:gd name="T1" fmla="*/ 0 h 23"/>
                  <a:gd name="T2" fmla="*/ 6 w 18"/>
                  <a:gd name="T3" fmla="*/ 0 h 23"/>
                  <a:gd name="T4" fmla="*/ 0 w 18"/>
                  <a:gd name="T5" fmla="*/ 0 h 23"/>
                  <a:gd name="T6" fmla="*/ 12 w 18"/>
                  <a:gd name="T7" fmla="*/ 23 h 23"/>
                  <a:gd name="T8" fmla="*/ 18 w 18"/>
                  <a:gd name="T9" fmla="*/ 23 h 23"/>
                  <a:gd name="T10" fmla="*/ 18 w 18"/>
                  <a:gd name="T11" fmla="*/ 23 h 23"/>
                  <a:gd name="T12" fmla="*/ 6 w 18"/>
                  <a:gd name="T13" fmla="*/ 0 h 23"/>
                  <a:gd name="T14" fmla="*/ 12 w 18"/>
                  <a:gd name="T15" fmla="*/ 0 h 23"/>
                  <a:gd name="T16" fmla="*/ 6 w 18"/>
                  <a:gd name="T17" fmla="*/ 0 h 23"/>
                  <a:gd name="T18" fmla="*/ 6 w 18"/>
                  <a:gd name="T19" fmla="*/ 0 h 23"/>
                  <a:gd name="T20" fmla="*/ 12 w 18"/>
                  <a:gd name="T21" fmla="*/ 11 h 23"/>
                  <a:gd name="T22" fmla="*/ 12 w 18"/>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3">
                    <a:moveTo>
                      <a:pt x="6" y="0"/>
                    </a:moveTo>
                    <a:lnTo>
                      <a:pt x="6" y="0"/>
                    </a:lnTo>
                    <a:lnTo>
                      <a:pt x="0" y="0"/>
                    </a:lnTo>
                    <a:lnTo>
                      <a:pt x="12" y="23"/>
                    </a:lnTo>
                    <a:lnTo>
                      <a:pt x="18" y="23"/>
                    </a:lnTo>
                    <a:lnTo>
                      <a:pt x="18" y="23"/>
                    </a:lnTo>
                    <a:lnTo>
                      <a:pt x="6" y="0"/>
                    </a:lnTo>
                    <a:close/>
                    <a:moveTo>
                      <a:pt x="12" y="0"/>
                    </a:moveTo>
                    <a:lnTo>
                      <a:pt x="6" y="0"/>
                    </a:lnTo>
                    <a:lnTo>
                      <a:pt x="6" y="0"/>
                    </a:lnTo>
                    <a:lnTo>
                      <a:pt x="12" y="11"/>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499" name="Freeform 299"/>
              <p:cNvSpPr>
                <a:spLocks noEditPoints="1"/>
              </p:cNvSpPr>
              <p:nvPr/>
            </p:nvSpPr>
            <p:spPr bwMode="auto">
              <a:xfrm>
                <a:off x="4579" y="2400"/>
                <a:ext cx="18" cy="29"/>
              </a:xfrm>
              <a:custGeom>
                <a:avLst/>
                <a:gdLst>
                  <a:gd name="T0" fmla="*/ 6 w 18"/>
                  <a:gd name="T1" fmla="*/ 5 h 29"/>
                  <a:gd name="T2" fmla="*/ 0 w 18"/>
                  <a:gd name="T3" fmla="*/ 5 h 29"/>
                  <a:gd name="T4" fmla="*/ 0 w 18"/>
                  <a:gd name="T5" fmla="*/ 5 h 29"/>
                  <a:gd name="T6" fmla="*/ 6 w 18"/>
                  <a:gd name="T7" fmla="*/ 5 h 29"/>
                  <a:gd name="T8" fmla="*/ 0 w 18"/>
                  <a:gd name="T9" fmla="*/ 29 h 29"/>
                  <a:gd name="T10" fmla="*/ 12 w 18"/>
                  <a:gd name="T11" fmla="*/ 29 h 29"/>
                  <a:gd name="T12" fmla="*/ 18 w 18"/>
                  <a:gd name="T13" fmla="*/ 29 h 29"/>
                  <a:gd name="T14" fmla="*/ 18 w 18"/>
                  <a:gd name="T15" fmla="*/ 23 h 29"/>
                  <a:gd name="T16" fmla="*/ 6 w 18"/>
                  <a:gd name="T17" fmla="*/ 5 h 29"/>
                  <a:gd name="T18" fmla="*/ 6 w 18"/>
                  <a:gd name="T19" fmla="*/ 0 h 29"/>
                  <a:gd name="T20" fmla="*/ 6 w 18"/>
                  <a:gd name="T21" fmla="*/ 5 h 29"/>
                  <a:gd name="T22" fmla="*/ 6 w 18"/>
                  <a:gd name="T23" fmla="*/ 5 h 29"/>
                  <a:gd name="T24" fmla="*/ 12 w 18"/>
                  <a:gd name="T25" fmla="*/ 11 h 29"/>
                  <a:gd name="T26" fmla="*/ 6 w 18"/>
                  <a:gd name="T2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29">
                    <a:moveTo>
                      <a:pt x="6" y="5"/>
                    </a:moveTo>
                    <a:lnTo>
                      <a:pt x="0" y="5"/>
                    </a:lnTo>
                    <a:lnTo>
                      <a:pt x="0" y="5"/>
                    </a:lnTo>
                    <a:lnTo>
                      <a:pt x="6" y="5"/>
                    </a:lnTo>
                    <a:lnTo>
                      <a:pt x="0" y="29"/>
                    </a:lnTo>
                    <a:lnTo>
                      <a:pt x="12" y="29"/>
                    </a:lnTo>
                    <a:lnTo>
                      <a:pt x="18" y="29"/>
                    </a:lnTo>
                    <a:lnTo>
                      <a:pt x="18" y="23"/>
                    </a:lnTo>
                    <a:lnTo>
                      <a:pt x="6" y="5"/>
                    </a:lnTo>
                    <a:close/>
                    <a:moveTo>
                      <a:pt x="6" y="0"/>
                    </a:moveTo>
                    <a:lnTo>
                      <a:pt x="6" y="5"/>
                    </a:lnTo>
                    <a:lnTo>
                      <a:pt x="6" y="5"/>
                    </a:lnTo>
                    <a:lnTo>
                      <a:pt x="12" y="11"/>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500" name="Freeform 300"/>
              <p:cNvSpPr>
                <a:spLocks noEditPoints="1"/>
              </p:cNvSpPr>
              <p:nvPr/>
            </p:nvSpPr>
            <p:spPr bwMode="auto">
              <a:xfrm>
                <a:off x="4573" y="2405"/>
                <a:ext cx="18" cy="30"/>
              </a:xfrm>
              <a:custGeom>
                <a:avLst/>
                <a:gdLst>
                  <a:gd name="T0" fmla="*/ 0 w 18"/>
                  <a:gd name="T1" fmla="*/ 6 h 30"/>
                  <a:gd name="T2" fmla="*/ 0 w 18"/>
                  <a:gd name="T3" fmla="*/ 6 h 30"/>
                  <a:gd name="T4" fmla="*/ 0 w 18"/>
                  <a:gd name="T5" fmla="*/ 6 h 30"/>
                  <a:gd name="T6" fmla="*/ 0 w 18"/>
                  <a:gd name="T7" fmla="*/ 6 h 30"/>
                  <a:gd name="T8" fmla="*/ 6 w 18"/>
                  <a:gd name="T9" fmla="*/ 6 h 30"/>
                  <a:gd name="T10" fmla="*/ 6 w 18"/>
                  <a:gd name="T11" fmla="*/ 30 h 30"/>
                  <a:gd name="T12" fmla="*/ 18 w 18"/>
                  <a:gd name="T13" fmla="*/ 24 h 30"/>
                  <a:gd name="T14" fmla="*/ 18 w 18"/>
                  <a:gd name="T15" fmla="*/ 18 h 30"/>
                  <a:gd name="T16" fmla="*/ 0 w 18"/>
                  <a:gd name="T17" fmla="*/ 6 h 30"/>
                  <a:gd name="T18" fmla="*/ 12 w 18"/>
                  <a:gd name="T19" fmla="*/ 0 h 30"/>
                  <a:gd name="T20" fmla="*/ 6 w 18"/>
                  <a:gd name="T21" fmla="*/ 0 h 30"/>
                  <a:gd name="T22" fmla="*/ 0 w 18"/>
                  <a:gd name="T23" fmla="*/ 6 h 30"/>
                  <a:gd name="T24" fmla="*/ 12 w 18"/>
                  <a:gd name="T25" fmla="*/ 12 h 30"/>
                  <a:gd name="T26" fmla="*/ 12 w 18"/>
                  <a:gd name="T2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30">
                    <a:moveTo>
                      <a:pt x="0" y="6"/>
                    </a:moveTo>
                    <a:lnTo>
                      <a:pt x="0" y="6"/>
                    </a:lnTo>
                    <a:lnTo>
                      <a:pt x="0" y="6"/>
                    </a:lnTo>
                    <a:lnTo>
                      <a:pt x="0" y="6"/>
                    </a:lnTo>
                    <a:lnTo>
                      <a:pt x="6" y="6"/>
                    </a:lnTo>
                    <a:lnTo>
                      <a:pt x="6" y="30"/>
                    </a:lnTo>
                    <a:lnTo>
                      <a:pt x="18" y="24"/>
                    </a:lnTo>
                    <a:lnTo>
                      <a:pt x="18" y="18"/>
                    </a:lnTo>
                    <a:lnTo>
                      <a:pt x="0" y="6"/>
                    </a:lnTo>
                    <a:close/>
                    <a:moveTo>
                      <a:pt x="12" y="0"/>
                    </a:moveTo>
                    <a:lnTo>
                      <a:pt x="6" y="0"/>
                    </a:lnTo>
                    <a:lnTo>
                      <a:pt x="0" y="6"/>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501" name="Freeform 301"/>
              <p:cNvSpPr>
                <a:spLocks noEditPoints="1"/>
              </p:cNvSpPr>
              <p:nvPr/>
            </p:nvSpPr>
            <p:spPr bwMode="auto">
              <a:xfrm>
                <a:off x="4567" y="2411"/>
                <a:ext cx="12" cy="24"/>
              </a:xfrm>
              <a:custGeom>
                <a:avLst/>
                <a:gdLst>
                  <a:gd name="T0" fmla="*/ 6 w 12"/>
                  <a:gd name="T1" fmla="*/ 0 h 24"/>
                  <a:gd name="T2" fmla="*/ 6 w 12"/>
                  <a:gd name="T3" fmla="*/ 0 h 24"/>
                  <a:gd name="T4" fmla="*/ 0 w 12"/>
                  <a:gd name="T5" fmla="*/ 6 h 24"/>
                  <a:gd name="T6" fmla="*/ 6 w 12"/>
                  <a:gd name="T7" fmla="*/ 24 h 24"/>
                  <a:gd name="T8" fmla="*/ 12 w 12"/>
                  <a:gd name="T9" fmla="*/ 24 h 24"/>
                  <a:gd name="T10" fmla="*/ 12 w 12"/>
                  <a:gd name="T11" fmla="*/ 24 h 24"/>
                  <a:gd name="T12" fmla="*/ 6 w 12"/>
                  <a:gd name="T13" fmla="*/ 0 h 24"/>
                  <a:gd name="T14" fmla="*/ 12 w 12"/>
                  <a:gd name="T15" fmla="*/ 0 h 24"/>
                  <a:gd name="T16" fmla="*/ 6 w 12"/>
                  <a:gd name="T17" fmla="*/ 0 h 24"/>
                  <a:gd name="T18" fmla="*/ 6 w 12"/>
                  <a:gd name="T19" fmla="*/ 0 h 24"/>
                  <a:gd name="T20" fmla="*/ 12 w 12"/>
                  <a:gd name="T21" fmla="*/ 12 h 24"/>
                  <a:gd name="T22" fmla="*/ 12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6" y="0"/>
                    </a:moveTo>
                    <a:lnTo>
                      <a:pt x="6" y="0"/>
                    </a:lnTo>
                    <a:lnTo>
                      <a:pt x="0" y="6"/>
                    </a:lnTo>
                    <a:lnTo>
                      <a:pt x="6" y="24"/>
                    </a:lnTo>
                    <a:lnTo>
                      <a:pt x="12" y="24"/>
                    </a:lnTo>
                    <a:lnTo>
                      <a:pt x="12" y="24"/>
                    </a:lnTo>
                    <a:lnTo>
                      <a:pt x="6" y="0"/>
                    </a:lnTo>
                    <a:close/>
                    <a:moveTo>
                      <a:pt x="12" y="0"/>
                    </a:moveTo>
                    <a:lnTo>
                      <a:pt x="6" y="0"/>
                    </a:lnTo>
                    <a:lnTo>
                      <a:pt x="6" y="0"/>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502" name="Freeform 302"/>
              <p:cNvSpPr>
                <a:spLocks noEditPoints="1"/>
              </p:cNvSpPr>
              <p:nvPr/>
            </p:nvSpPr>
            <p:spPr bwMode="auto">
              <a:xfrm>
                <a:off x="4561" y="2411"/>
                <a:ext cx="12" cy="24"/>
              </a:xfrm>
              <a:custGeom>
                <a:avLst/>
                <a:gdLst>
                  <a:gd name="T0" fmla="*/ 12 w 12"/>
                  <a:gd name="T1" fmla="*/ 0 h 24"/>
                  <a:gd name="T2" fmla="*/ 6 w 12"/>
                  <a:gd name="T3" fmla="*/ 0 h 24"/>
                  <a:gd name="T4" fmla="*/ 0 w 12"/>
                  <a:gd name="T5" fmla="*/ 0 h 24"/>
                  <a:gd name="T6" fmla="*/ 0 w 12"/>
                  <a:gd name="T7" fmla="*/ 24 h 24"/>
                  <a:gd name="T8" fmla="*/ 0 w 12"/>
                  <a:gd name="T9" fmla="*/ 24 h 24"/>
                  <a:gd name="T10" fmla="*/ 6 w 12"/>
                  <a:gd name="T11" fmla="*/ 24 h 24"/>
                  <a:gd name="T12" fmla="*/ 12 w 12"/>
                  <a:gd name="T13" fmla="*/ 24 h 24"/>
                  <a:gd name="T14" fmla="*/ 12 w 12"/>
                  <a:gd name="T15" fmla="*/ 24 h 24"/>
                  <a:gd name="T16" fmla="*/ 12 w 12"/>
                  <a:gd name="T17" fmla="*/ 0 h 24"/>
                  <a:gd name="T18" fmla="*/ 12 w 12"/>
                  <a:gd name="T19" fmla="*/ 24 h 24"/>
                  <a:gd name="T20" fmla="*/ 12 w 12"/>
                  <a:gd name="T21" fmla="*/ 24 h 24"/>
                  <a:gd name="T22" fmla="*/ 12 w 12"/>
                  <a:gd name="T23" fmla="*/ 24 h 24"/>
                  <a:gd name="T24" fmla="*/ 12 w 12"/>
                  <a:gd name="T25" fmla="*/ 12 h 24"/>
                  <a:gd name="T26" fmla="*/ 12 w 12"/>
                  <a:gd name="T2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 h="24">
                    <a:moveTo>
                      <a:pt x="12" y="0"/>
                    </a:moveTo>
                    <a:lnTo>
                      <a:pt x="6" y="0"/>
                    </a:lnTo>
                    <a:lnTo>
                      <a:pt x="0" y="0"/>
                    </a:lnTo>
                    <a:lnTo>
                      <a:pt x="0" y="24"/>
                    </a:lnTo>
                    <a:lnTo>
                      <a:pt x="0" y="24"/>
                    </a:lnTo>
                    <a:lnTo>
                      <a:pt x="6" y="24"/>
                    </a:lnTo>
                    <a:lnTo>
                      <a:pt x="12" y="24"/>
                    </a:lnTo>
                    <a:lnTo>
                      <a:pt x="12" y="24"/>
                    </a:lnTo>
                    <a:lnTo>
                      <a:pt x="12" y="0"/>
                    </a:lnTo>
                    <a:close/>
                    <a:moveTo>
                      <a:pt x="12" y="24"/>
                    </a:moveTo>
                    <a:lnTo>
                      <a:pt x="12" y="24"/>
                    </a:lnTo>
                    <a:lnTo>
                      <a:pt x="12" y="24"/>
                    </a:lnTo>
                    <a:lnTo>
                      <a:pt x="12" y="12"/>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51503" name="Freeform 303"/>
              <p:cNvSpPr>
                <a:spLocks noEditPoints="1"/>
              </p:cNvSpPr>
              <p:nvPr/>
            </p:nvSpPr>
            <p:spPr bwMode="auto">
              <a:xfrm>
                <a:off x="4549" y="2411"/>
                <a:ext cx="24" cy="24"/>
              </a:xfrm>
              <a:custGeom>
                <a:avLst/>
                <a:gdLst>
                  <a:gd name="T0" fmla="*/ 0 w 24"/>
                  <a:gd name="T1" fmla="*/ 6 h 24"/>
                  <a:gd name="T2" fmla="*/ 0 w 24"/>
                  <a:gd name="T3" fmla="*/ 12 h 24"/>
                  <a:gd name="T4" fmla="*/ 18 w 24"/>
                  <a:gd name="T5" fmla="*/ 24 h 24"/>
                  <a:gd name="T6" fmla="*/ 24 w 24"/>
                  <a:gd name="T7" fmla="*/ 18 h 24"/>
                  <a:gd name="T8" fmla="*/ 0 w 24"/>
                  <a:gd name="T9" fmla="*/ 6 h 24"/>
                  <a:gd name="T10" fmla="*/ 12 w 24"/>
                  <a:gd name="T11" fmla="*/ 0 h 24"/>
                  <a:gd name="T12" fmla="*/ 6 w 24"/>
                  <a:gd name="T13" fmla="*/ 0 h 24"/>
                  <a:gd name="T14" fmla="*/ 0 w 24"/>
                  <a:gd name="T15" fmla="*/ 6 h 24"/>
                  <a:gd name="T16" fmla="*/ 12 w 24"/>
                  <a:gd name="T17" fmla="*/ 12 h 24"/>
                  <a:gd name="T18" fmla="*/ 12 w 24"/>
                  <a:gd name="T19"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6"/>
                    </a:moveTo>
                    <a:lnTo>
                      <a:pt x="0" y="12"/>
                    </a:lnTo>
                    <a:lnTo>
                      <a:pt x="18" y="24"/>
                    </a:lnTo>
                    <a:lnTo>
                      <a:pt x="24" y="18"/>
                    </a:lnTo>
                    <a:lnTo>
                      <a:pt x="0" y="6"/>
                    </a:lnTo>
                    <a:close/>
                    <a:moveTo>
                      <a:pt x="12" y="0"/>
                    </a:moveTo>
                    <a:lnTo>
                      <a:pt x="6" y="0"/>
                    </a:lnTo>
                    <a:lnTo>
                      <a:pt x="0" y="6"/>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504" name="Freeform 304"/>
              <p:cNvSpPr>
                <a:spLocks/>
              </p:cNvSpPr>
              <p:nvPr/>
            </p:nvSpPr>
            <p:spPr bwMode="auto">
              <a:xfrm>
                <a:off x="4537" y="2423"/>
                <a:ext cx="18" cy="18"/>
              </a:xfrm>
              <a:custGeom>
                <a:avLst/>
                <a:gdLst>
                  <a:gd name="T0" fmla="*/ 12 w 18"/>
                  <a:gd name="T1" fmla="*/ 0 h 18"/>
                  <a:gd name="T2" fmla="*/ 0 w 18"/>
                  <a:gd name="T3" fmla="*/ 18 h 18"/>
                  <a:gd name="T4" fmla="*/ 18 w 18"/>
                  <a:gd name="T5" fmla="*/ 18 h 18"/>
                  <a:gd name="T6" fmla="*/ 18 w 18"/>
                  <a:gd name="T7" fmla="*/ 6 h 18"/>
                  <a:gd name="T8" fmla="*/ 12 w 18"/>
                  <a:gd name="T9" fmla="*/ 0 h 18"/>
                </a:gdLst>
                <a:ahLst/>
                <a:cxnLst>
                  <a:cxn ang="0">
                    <a:pos x="T0" y="T1"/>
                  </a:cxn>
                  <a:cxn ang="0">
                    <a:pos x="T2" y="T3"/>
                  </a:cxn>
                  <a:cxn ang="0">
                    <a:pos x="T4" y="T5"/>
                  </a:cxn>
                  <a:cxn ang="0">
                    <a:pos x="T6" y="T7"/>
                  </a:cxn>
                  <a:cxn ang="0">
                    <a:pos x="T8" y="T9"/>
                  </a:cxn>
                </a:cxnLst>
                <a:rect l="0" t="0" r="r" b="b"/>
                <a:pathLst>
                  <a:path w="18" h="18">
                    <a:moveTo>
                      <a:pt x="12" y="0"/>
                    </a:moveTo>
                    <a:lnTo>
                      <a:pt x="0" y="18"/>
                    </a:lnTo>
                    <a:lnTo>
                      <a:pt x="18" y="18"/>
                    </a:lnTo>
                    <a:lnTo>
                      <a:pt x="18" y="6"/>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505" name="Freeform 305"/>
              <p:cNvSpPr>
                <a:spLocks/>
              </p:cNvSpPr>
              <p:nvPr/>
            </p:nvSpPr>
            <p:spPr bwMode="auto">
              <a:xfrm>
                <a:off x="4525" y="2429"/>
                <a:ext cx="18" cy="30"/>
              </a:xfrm>
              <a:custGeom>
                <a:avLst/>
                <a:gdLst>
                  <a:gd name="T0" fmla="*/ 12 w 18"/>
                  <a:gd name="T1" fmla="*/ 6 h 30"/>
                  <a:gd name="T2" fmla="*/ 6 w 18"/>
                  <a:gd name="T3" fmla="*/ 12 h 30"/>
                  <a:gd name="T4" fmla="*/ 6 w 18"/>
                  <a:gd name="T5" fmla="*/ 18 h 30"/>
                  <a:gd name="T6" fmla="*/ 6 w 18"/>
                  <a:gd name="T7" fmla="*/ 18 h 30"/>
                  <a:gd name="T8" fmla="*/ 6 w 18"/>
                  <a:gd name="T9" fmla="*/ 24 h 30"/>
                  <a:gd name="T10" fmla="*/ 6 w 18"/>
                  <a:gd name="T11" fmla="*/ 24 h 30"/>
                  <a:gd name="T12" fmla="*/ 6 w 18"/>
                  <a:gd name="T13" fmla="*/ 30 h 30"/>
                  <a:gd name="T14" fmla="*/ 0 w 18"/>
                  <a:gd name="T15" fmla="*/ 30 h 30"/>
                  <a:gd name="T16" fmla="*/ 0 w 18"/>
                  <a:gd name="T17" fmla="*/ 30 h 30"/>
                  <a:gd name="T18" fmla="*/ 0 w 18"/>
                  <a:gd name="T19" fmla="*/ 24 h 30"/>
                  <a:gd name="T20" fmla="*/ 6 w 18"/>
                  <a:gd name="T21" fmla="*/ 24 h 30"/>
                  <a:gd name="T22" fmla="*/ 6 w 18"/>
                  <a:gd name="T23" fmla="*/ 18 h 30"/>
                  <a:gd name="T24" fmla="*/ 6 w 18"/>
                  <a:gd name="T25" fmla="*/ 18 h 30"/>
                  <a:gd name="T26" fmla="*/ 6 w 18"/>
                  <a:gd name="T27" fmla="*/ 12 h 30"/>
                  <a:gd name="T28" fmla="*/ 6 w 18"/>
                  <a:gd name="T29" fmla="*/ 12 h 30"/>
                  <a:gd name="T30" fmla="*/ 6 w 18"/>
                  <a:gd name="T31" fmla="*/ 6 h 30"/>
                  <a:gd name="T32" fmla="*/ 12 w 18"/>
                  <a:gd name="T33" fmla="*/ 6 h 30"/>
                  <a:gd name="T34" fmla="*/ 18 w 18"/>
                  <a:gd name="T35" fmla="*/ 0 h 30"/>
                  <a:gd name="T36" fmla="*/ 12 w 18"/>
                  <a:gd name="T37" fmla="*/ 6 h 30"/>
                  <a:gd name="T38" fmla="*/ 12 w 18"/>
                  <a:gd name="T39"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30">
                    <a:moveTo>
                      <a:pt x="12" y="6"/>
                    </a:moveTo>
                    <a:lnTo>
                      <a:pt x="6" y="12"/>
                    </a:lnTo>
                    <a:lnTo>
                      <a:pt x="6" y="18"/>
                    </a:lnTo>
                    <a:lnTo>
                      <a:pt x="6" y="18"/>
                    </a:lnTo>
                    <a:lnTo>
                      <a:pt x="6" y="24"/>
                    </a:lnTo>
                    <a:lnTo>
                      <a:pt x="6" y="24"/>
                    </a:lnTo>
                    <a:lnTo>
                      <a:pt x="6" y="30"/>
                    </a:lnTo>
                    <a:lnTo>
                      <a:pt x="0" y="30"/>
                    </a:lnTo>
                    <a:lnTo>
                      <a:pt x="0" y="30"/>
                    </a:lnTo>
                    <a:lnTo>
                      <a:pt x="0" y="24"/>
                    </a:lnTo>
                    <a:lnTo>
                      <a:pt x="6" y="24"/>
                    </a:lnTo>
                    <a:lnTo>
                      <a:pt x="6" y="18"/>
                    </a:lnTo>
                    <a:lnTo>
                      <a:pt x="6" y="18"/>
                    </a:lnTo>
                    <a:lnTo>
                      <a:pt x="6" y="12"/>
                    </a:lnTo>
                    <a:lnTo>
                      <a:pt x="6" y="12"/>
                    </a:lnTo>
                    <a:lnTo>
                      <a:pt x="6" y="6"/>
                    </a:lnTo>
                    <a:lnTo>
                      <a:pt x="12" y="6"/>
                    </a:lnTo>
                    <a:lnTo>
                      <a:pt x="18" y="0"/>
                    </a:lnTo>
                    <a:lnTo>
                      <a:pt x="12" y="6"/>
                    </a:lnTo>
                    <a:lnTo>
                      <a:pt x="12" y="6"/>
                    </a:lnTo>
                    <a:close/>
                  </a:path>
                </a:pathLst>
              </a:custGeom>
              <a:solidFill>
                <a:srgbClr val="00FF00"/>
              </a:solidFill>
              <a:ln w="9525">
                <a:solidFill>
                  <a:srgbClr val="00FF00"/>
                </a:solidFill>
                <a:round/>
                <a:headEnd/>
                <a:tailEnd/>
              </a:ln>
            </p:spPr>
            <p:txBody>
              <a:bodyPr/>
              <a:lstStyle/>
              <a:p>
                <a:endParaRPr lang="zh-CN" altLang="en-US"/>
              </a:p>
            </p:txBody>
          </p:sp>
          <p:sp>
            <p:nvSpPr>
              <p:cNvPr id="51506" name="Freeform 306"/>
              <p:cNvSpPr>
                <a:spLocks/>
              </p:cNvSpPr>
              <p:nvPr/>
            </p:nvSpPr>
            <p:spPr bwMode="auto">
              <a:xfrm>
                <a:off x="4525" y="2423"/>
                <a:ext cx="18" cy="30"/>
              </a:xfrm>
              <a:custGeom>
                <a:avLst/>
                <a:gdLst>
                  <a:gd name="T0" fmla="*/ 6 w 18"/>
                  <a:gd name="T1" fmla="*/ 0 h 30"/>
                  <a:gd name="T2" fmla="*/ 0 w 18"/>
                  <a:gd name="T3" fmla="*/ 6 h 30"/>
                  <a:gd name="T4" fmla="*/ 12 w 18"/>
                  <a:gd name="T5" fmla="*/ 30 h 30"/>
                  <a:gd name="T6" fmla="*/ 18 w 18"/>
                  <a:gd name="T7" fmla="*/ 24 h 30"/>
                  <a:gd name="T8" fmla="*/ 6 w 18"/>
                  <a:gd name="T9" fmla="*/ 0 h 30"/>
                </a:gdLst>
                <a:ahLst/>
                <a:cxnLst>
                  <a:cxn ang="0">
                    <a:pos x="T0" y="T1"/>
                  </a:cxn>
                  <a:cxn ang="0">
                    <a:pos x="T2" y="T3"/>
                  </a:cxn>
                  <a:cxn ang="0">
                    <a:pos x="T4" y="T5"/>
                  </a:cxn>
                  <a:cxn ang="0">
                    <a:pos x="T6" y="T7"/>
                  </a:cxn>
                  <a:cxn ang="0">
                    <a:pos x="T8" y="T9"/>
                  </a:cxn>
                </a:cxnLst>
                <a:rect l="0" t="0" r="r" b="b"/>
                <a:pathLst>
                  <a:path w="18" h="30">
                    <a:moveTo>
                      <a:pt x="6" y="0"/>
                    </a:moveTo>
                    <a:lnTo>
                      <a:pt x="0" y="6"/>
                    </a:lnTo>
                    <a:lnTo>
                      <a:pt x="12" y="30"/>
                    </a:lnTo>
                    <a:lnTo>
                      <a:pt x="18" y="24"/>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507" name="Freeform 307"/>
              <p:cNvSpPr>
                <a:spLocks noEditPoints="1"/>
              </p:cNvSpPr>
              <p:nvPr/>
            </p:nvSpPr>
            <p:spPr bwMode="auto">
              <a:xfrm>
                <a:off x="4519" y="2429"/>
                <a:ext cx="30" cy="30"/>
              </a:xfrm>
              <a:custGeom>
                <a:avLst/>
                <a:gdLst>
                  <a:gd name="T0" fmla="*/ 0 w 30"/>
                  <a:gd name="T1" fmla="*/ 12 h 30"/>
                  <a:gd name="T2" fmla="*/ 0 w 30"/>
                  <a:gd name="T3" fmla="*/ 12 h 30"/>
                  <a:gd name="T4" fmla="*/ 0 w 30"/>
                  <a:gd name="T5" fmla="*/ 12 h 30"/>
                  <a:gd name="T6" fmla="*/ 6 w 30"/>
                  <a:gd name="T7" fmla="*/ 12 h 30"/>
                  <a:gd name="T8" fmla="*/ 12 w 30"/>
                  <a:gd name="T9" fmla="*/ 6 h 30"/>
                  <a:gd name="T10" fmla="*/ 18 w 30"/>
                  <a:gd name="T11" fmla="*/ 30 h 30"/>
                  <a:gd name="T12" fmla="*/ 24 w 30"/>
                  <a:gd name="T13" fmla="*/ 18 h 30"/>
                  <a:gd name="T14" fmla="*/ 30 w 30"/>
                  <a:gd name="T15" fmla="*/ 12 h 30"/>
                  <a:gd name="T16" fmla="*/ 24 w 30"/>
                  <a:gd name="T17" fmla="*/ 6 h 30"/>
                  <a:gd name="T18" fmla="*/ 0 w 30"/>
                  <a:gd name="T19" fmla="*/ 12 h 30"/>
                  <a:gd name="T20" fmla="*/ 6 w 30"/>
                  <a:gd name="T21" fmla="*/ 0 h 30"/>
                  <a:gd name="T22" fmla="*/ 0 w 30"/>
                  <a:gd name="T23" fmla="*/ 6 h 30"/>
                  <a:gd name="T24" fmla="*/ 0 w 30"/>
                  <a:gd name="T25" fmla="*/ 12 h 30"/>
                  <a:gd name="T26" fmla="*/ 12 w 30"/>
                  <a:gd name="T27" fmla="*/ 12 h 30"/>
                  <a:gd name="T28" fmla="*/ 6 w 30"/>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30">
                    <a:moveTo>
                      <a:pt x="0" y="12"/>
                    </a:moveTo>
                    <a:lnTo>
                      <a:pt x="0" y="12"/>
                    </a:lnTo>
                    <a:lnTo>
                      <a:pt x="0" y="12"/>
                    </a:lnTo>
                    <a:lnTo>
                      <a:pt x="6" y="12"/>
                    </a:lnTo>
                    <a:lnTo>
                      <a:pt x="12" y="6"/>
                    </a:lnTo>
                    <a:lnTo>
                      <a:pt x="18" y="30"/>
                    </a:lnTo>
                    <a:lnTo>
                      <a:pt x="24" y="18"/>
                    </a:lnTo>
                    <a:lnTo>
                      <a:pt x="30" y="12"/>
                    </a:lnTo>
                    <a:lnTo>
                      <a:pt x="24" y="6"/>
                    </a:lnTo>
                    <a:lnTo>
                      <a:pt x="0" y="12"/>
                    </a:lnTo>
                    <a:close/>
                    <a:moveTo>
                      <a:pt x="6" y="0"/>
                    </a:moveTo>
                    <a:lnTo>
                      <a:pt x="0" y="6"/>
                    </a:lnTo>
                    <a:lnTo>
                      <a:pt x="0" y="12"/>
                    </a:lnTo>
                    <a:lnTo>
                      <a:pt x="12"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51508" name="Freeform 308"/>
              <p:cNvSpPr>
                <a:spLocks noEditPoints="1"/>
              </p:cNvSpPr>
              <p:nvPr/>
            </p:nvSpPr>
            <p:spPr bwMode="auto">
              <a:xfrm>
                <a:off x="4519" y="2435"/>
                <a:ext cx="24" cy="30"/>
              </a:xfrm>
              <a:custGeom>
                <a:avLst/>
                <a:gdLst>
                  <a:gd name="T0" fmla="*/ 0 w 24"/>
                  <a:gd name="T1" fmla="*/ 12 h 30"/>
                  <a:gd name="T2" fmla="*/ 0 w 24"/>
                  <a:gd name="T3" fmla="*/ 12 h 30"/>
                  <a:gd name="T4" fmla="*/ 0 w 24"/>
                  <a:gd name="T5" fmla="*/ 12 h 30"/>
                  <a:gd name="T6" fmla="*/ 0 w 24"/>
                  <a:gd name="T7" fmla="*/ 12 h 30"/>
                  <a:gd name="T8" fmla="*/ 0 w 24"/>
                  <a:gd name="T9" fmla="*/ 12 h 30"/>
                  <a:gd name="T10" fmla="*/ 0 w 24"/>
                  <a:gd name="T11" fmla="*/ 12 h 30"/>
                  <a:gd name="T12" fmla="*/ 6 w 24"/>
                  <a:gd name="T13" fmla="*/ 30 h 30"/>
                  <a:gd name="T14" fmla="*/ 18 w 24"/>
                  <a:gd name="T15" fmla="*/ 24 h 30"/>
                  <a:gd name="T16" fmla="*/ 24 w 24"/>
                  <a:gd name="T17" fmla="*/ 18 h 30"/>
                  <a:gd name="T18" fmla="*/ 24 w 24"/>
                  <a:gd name="T19" fmla="*/ 18 h 30"/>
                  <a:gd name="T20" fmla="*/ 24 w 24"/>
                  <a:gd name="T21" fmla="*/ 12 h 30"/>
                  <a:gd name="T22" fmla="*/ 0 w 24"/>
                  <a:gd name="T23" fmla="*/ 12 h 30"/>
                  <a:gd name="T24" fmla="*/ 12 w 24"/>
                  <a:gd name="T25" fmla="*/ 0 h 30"/>
                  <a:gd name="T26" fmla="*/ 0 w 24"/>
                  <a:gd name="T27" fmla="*/ 0 h 30"/>
                  <a:gd name="T28" fmla="*/ 0 w 24"/>
                  <a:gd name="T29" fmla="*/ 12 h 30"/>
                  <a:gd name="T30" fmla="*/ 12 w 24"/>
                  <a:gd name="T31" fmla="*/ 12 h 30"/>
                  <a:gd name="T32" fmla="*/ 12 w 24"/>
                  <a:gd name="T3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30">
                    <a:moveTo>
                      <a:pt x="0" y="12"/>
                    </a:moveTo>
                    <a:lnTo>
                      <a:pt x="0" y="12"/>
                    </a:lnTo>
                    <a:lnTo>
                      <a:pt x="0" y="12"/>
                    </a:lnTo>
                    <a:lnTo>
                      <a:pt x="0" y="12"/>
                    </a:lnTo>
                    <a:lnTo>
                      <a:pt x="0" y="12"/>
                    </a:lnTo>
                    <a:lnTo>
                      <a:pt x="0" y="12"/>
                    </a:lnTo>
                    <a:lnTo>
                      <a:pt x="6" y="30"/>
                    </a:lnTo>
                    <a:lnTo>
                      <a:pt x="18" y="24"/>
                    </a:lnTo>
                    <a:lnTo>
                      <a:pt x="24" y="18"/>
                    </a:lnTo>
                    <a:lnTo>
                      <a:pt x="24" y="18"/>
                    </a:lnTo>
                    <a:lnTo>
                      <a:pt x="24" y="12"/>
                    </a:lnTo>
                    <a:lnTo>
                      <a:pt x="0" y="12"/>
                    </a:lnTo>
                    <a:close/>
                    <a:moveTo>
                      <a:pt x="12" y="0"/>
                    </a:moveTo>
                    <a:lnTo>
                      <a:pt x="0" y="0"/>
                    </a:lnTo>
                    <a:lnTo>
                      <a:pt x="0" y="12"/>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509" name="Freeform 309"/>
              <p:cNvSpPr>
                <a:spLocks noEditPoints="1"/>
              </p:cNvSpPr>
              <p:nvPr/>
            </p:nvSpPr>
            <p:spPr bwMode="auto">
              <a:xfrm>
                <a:off x="4513" y="2441"/>
                <a:ext cx="24" cy="24"/>
              </a:xfrm>
              <a:custGeom>
                <a:avLst/>
                <a:gdLst>
                  <a:gd name="T0" fmla="*/ 6 w 24"/>
                  <a:gd name="T1" fmla="*/ 6 h 24"/>
                  <a:gd name="T2" fmla="*/ 6 w 24"/>
                  <a:gd name="T3" fmla="*/ 12 h 24"/>
                  <a:gd name="T4" fmla="*/ 0 w 24"/>
                  <a:gd name="T5" fmla="*/ 12 h 24"/>
                  <a:gd name="T6" fmla="*/ 24 w 24"/>
                  <a:gd name="T7" fmla="*/ 24 h 24"/>
                  <a:gd name="T8" fmla="*/ 24 w 24"/>
                  <a:gd name="T9" fmla="*/ 24 h 24"/>
                  <a:gd name="T10" fmla="*/ 24 w 24"/>
                  <a:gd name="T11" fmla="*/ 18 h 24"/>
                  <a:gd name="T12" fmla="*/ 6 w 24"/>
                  <a:gd name="T13" fmla="*/ 6 h 24"/>
                  <a:gd name="T14" fmla="*/ 24 w 24"/>
                  <a:gd name="T15" fmla="*/ 0 h 24"/>
                  <a:gd name="T16" fmla="*/ 12 w 24"/>
                  <a:gd name="T17" fmla="*/ 0 h 24"/>
                  <a:gd name="T18" fmla="*/ 6 w 24"/>
                  <a:gd name="T19" fmla="*/ 6 h 24"/>
                  <a:gd name="T20" fmla="*/ 18 w 24"/>
                  <a:gd name="T21" fmla="*/ 12 h 24"/>
                  <a:gd name="T22" fmla="*/ 24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6" y="6"/>
                    </a:moveTo>
                    <a:lnTo>
                      <a:pt x="6" y="12"/>
                    </a:lnTo>
                    <a:lnTo>
                      <a:pt x="0" y="12"/>
                    </a:lnTo>
                    <a:lnTo>
                      <a:pt x="24" y="24"/>
                    </a:lnTo>
                    <a:lnTo>
                      <a:pt x="24" y="24"/>
                    </a:lnTo>
                    <a:lnTo>
                      <a:pt x="24" y="18"/>
                    </a:lnTo>
                    <a:lnTo>
                      <a:pt x="6" y="6"/>
                    </a:lnTo>
                    <a:close/>
                    <a:moveTo>
                      <a:pt x="24" y="0"/>
                    </a:moveTo>
                    <a:lnTo>
                      <a:pt x="12" y="0"/>
                    </a:lnTo>
                    <a:lnTo>
                      <a:pt x="6" y="6"/>
                    </a:lnTo>
                    <a:lnTo>
                      <a:pt x="18" y="12"/>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51510" name="Freeform 310"/>
              <p:cNvSpPr>
                <a:spLocks noEditPoints="1"/>
              </p:cNvSpPr>
              <p:nvPr/>
            </p:nvSpPr>
            <p:spPr bwMode="auto">
              <a:xfrm>
                <a:off x="4513" y="2447"/>
                <a:ext cx="24" cy="18"/>
              </a:xfrm>
              <a:custGeom>
                <a:avLst/>
                <a:gdLst>
                  <a:gd name="T0" fmla="*/ 24 w 24"/>
                  <a:gd name="T1" fmla="*/ 12 h 18"/>
                  <a:gd name="T2" fmla="*/ 24 w 24"/>
                  <a:gd name="T3" fmla="*/ 12 h 18"/>
                  <a:gd name="T4" fmla="*/ 24 w 24"/>
                  <a:gd name="T5" fmla="*/ 12 h 18"/>
                  <a:gd name="T6" fmla="*/ 6 w 24"/>
                  <a:gd name="T7" fmla="*/ 0 h 18"/>
                  <a:gd name="T8" fmla="*/ 0 w 24"/>
                  <a:gd name="T9" fmla="*/ 6 h 18"/>
                  <a:gd name="T10" fmla="*/ 0 w 24"/>
                  <a:gd name="T11" fmla="*/ 12 h 18"/>
                  <a:gd name="T12" fmla="*/ 24 w 24"/>
                  <a:gd name="T13" fmla="*/ 12 h 18"/>
                  <a:gd name="T14" fmla="*/ 0 w 24"/>
                  <a:gd name="T15" fmla="*/ 6 h 18"/>
                  <a:gd name="T16" fmla="*/ 24 w 24"/>
                  <a:gd name="T17" fmla="*/ 12 h 18"/>
                  <a:gd name="T18" fmla="*/ 0 w 24"/>
                  <a:gd name="T19" fmla="*/ 12 h 18"/>
                  <a:gd name="T20" fmla="*/ 24 w 24"/>
                  <a:gd name="T21" fmla="*/ 18 h 18"/>
                  <a:gd name="T22" fmla="*/ 0 w 24"/>
                  <a:gd name="T23" fmla="*/ 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24" y="12"/>
                    </a:moveTo>
                    <a:lnTo>
                      <a:pt x="24" y="12"/>
                    </a:lnTo>
                    <a:lnTo>
                      <a:pt x="24" y="12"/>
                    </a:lnTo>
                    <a:lnTo>
                      <a:pt x="6" y="0"/>
                    </a:lnTo>
                    <a:lnTo>
                      <a:pt x="0" y="6"/>
                    </a:lnTo>
                    <a:lnTo>
                      <a:pt x="0" y="12"/>
                    </a:lnTo>
                    <a:lnTo>
                      <a:pt x="24" y="12"/>
                    </a:lnTo>
                    <a:close/>
                    <a:moveTo>
                      <a:pt x="0" y="6"/>
                    </a:moveTo>
                    <a:lnTo>
                      <a:pt x="24" y="12"/>
                    </a:lnTo>
                    <a:lnTo>
                      <a:pt x="0" y="12"/>
                    </a:lnTo>
                    <a:lnTo>
                      <a:pt x="24" y="18"/>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51511" name="Freeform 311"/>
              <p:cNvSpPr>
                <a:spLocks noEditPoints="1"/>
              </p:cNvSpPr>
              <p:nvPr/>
            </p:nvSpPr>
            <p:spPr bwMode="auto">
              <a:xfrm>
                <a:off x="4519" y="2441"/>
                <a:ext cx="24" cy="24"/>
              </a:xfrm>
              <a:custGeom>
                <a:avLst/>
                <a:gdLst>
                  <a:gd name="T0" fmla="*/ 12 w 24"/>
                  <a:gd name="T1" fmla="*/ 24 h 24"/>
                  <a:gd name="T2" fmla="*/ 18 w 24"/>
                  <a:gd name="T3" fmla="*/ 18 h 24"/>
                  <a:gd name="T4" fmla="*/ 24 w 24"/>
                  <a:gd name="T5" fmla="*/ 6 h 24"/>
                  <a:gd name="T6" fmla="*/ 0 w 24"/>
                  <a:gd name="T7" fmla="*/ 6 h 24"/>
                  <a:gd name="T8" fmla="*/ 0 w 24"/>
                  <a:gd name="T9" fmla="*/ 6 h 24"/>
                  <a:gd name="T10" fmla="*/ 0 w 24"/>
                  <a:gd name="T11" fmla="*/ 0 h 24"/>
                  <a:gd name="T12" fmla="*/ 12 w 24"/>
                  <a:gd name="T13" fmla="*/ 24 h 24"/>
                  <a:gd name="T14" fmla="*/ 0 w 24"/>
                  <a:gd name="T15" fmla="*/ 0 h 24"/>
                  <a:gd name="T16" fmla="*/ 0 w 24"/>
                  <a:gd name="T17" fmla="*/ 6 h 24"/>
                  <a:gd name="T18" fmla="*/ 0 w 24"/>
                  <a:gd name="T19" fmla="*/ 6 h 24"/>
                  <a:gd name="T20" fmla="*/ 6 w 24"/>
                  <a:gd name="T21" fmla="*/ 12 h 24"/>
                  <a:gd name="T22" fmla="*/ 0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2" y="24"/>
                    </a:moveTo>
                    <a:lnTo>
                      <a:pt x="18" y="18"/>
                    </a:lnTo>
                    <a:lnTo>
                      <a:pt x="24" y="6"/>
                    </a:lnTo>
                    <a:lnTo>
                      <a:pt x="0" y="6"/>
                    </a:lnTo>
                    <a:lnTo>
                      <a:pt x="0" y="6"/>
                    </a:lnTo>
                    <a:lnTo>
                      <a:pt x="0" y="0"/>
                    </a:lnTo>
                    <a:lnTo>
                      <a:pt x="12" y="24"/>
                    </a:lnTo>
                    <a:close/>
                    <a:moveTo>
                      <a:pt x="0" y="0"/>
                    </a:moveTo>
                    <a:lnTo>
                      <a:pt x="0" y="6"/>
                    </a:lnTo>
                    <a:lnTo>
                      <a:pt x="0" y="6"/>
                    </a:lnTo>
                    <a:lnTo>
                      <a:pt x="6" y="12"/>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51512" name="Freeform 312"/>
              <p:cNvSpPr>
                <a:spLocks noEditPoints="1"/>
              </p:cNvSpPr>
              <p:nvPr/>
            </p:nvSpPr>
            <p:spPr bwMode="auto">
              <a:xfrm>
                <a:off x="4519" y="2429"/>
                <a:ext cx="24" cy="24"/>
              </a:xfrm>
              <a:custGeom>
                <a:avLst/>
                <a:gdLst>
                  <a:gd name="T0" fmla="*/ 24 w 24"/>
                  <a:gd name="T1" fmla="*/ 24 h 24"/>
                  <a:gd name="T2" fmla="*/ 24 w 24"/>
                  <a:gd name="T3" fmla="*/ 12 h 24"/>
                  <a:gd name="T4" fmla="*/ 24 w 24"/>
                  <a:gd name="T5" fmla="*/ 6 h 24"/>
                  <a:gd name="T6" fmla="*/ 18 w 24"/>
                  <a:gd name="T7" fmla="*/ 0 h 24"/>
                  <a:gd name="T8" fmla="*/ 0 w 24"/>
                  <a:gd name="T9" fmla="*/ 18 h 24"/>
                  <a:gd name="T10" fmla="*/ 0 w 24"/>
                  <a:gd name="T11" fmla="*/ 18 h 24"/>
                  <a:gd name="T12" fmla="*/ 0 w 24"/>
                  <a:gd name="T13" fmla="*/ 12 h 24"/>
                  <a:gd name="T14" fmla="*/ 24 w 24"/>
                  <a:gd name="T15" fmla="*/ 24 h 24"/>
                  <a:gd name="T16" fmla="*/ 0 w 24"/>
                  <a:gd name="T17" fmla="*/ 12 h 24"/>
                  <a:gd name="T18" fmla="*/ 0 w 24"/>
                  <a:gd name="T19" fmla="*/ 18 h 24"/>
                  <a:gd name="T20" fmla="*/ 0 w 24"/>
                  <a:gd name="T21" fmla="*/ 18 h 24"/>
                  <a:gd name="T22" fmla="*/ 12 w 24"/>
                  <a:gd name="T23" fmla="*/ 18 h 24"/>
                  <a:gd name="T24" fmla="*/ 0 w 24"/>
                  <a:gd name="T25"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24" y="24"/>
                    </a:moveTo>
                    <a:lnTo>
                      <a:pt x="24" y="12"/>
                    </a:lnTo>
                    <a:lnTo>
                      <a:pt x="24" y="6"/>
                    </a:lnTo>
                    <a:lnTo>
                      <a:pt x="18" y="0"/>
                    </a:lnTo>
                    <a:lnTo>
                      <a:pt x="0" y="18"/>
                    </a:lnTo>
                    <a:lnTo>
                      <a:pt x="0" y="18"/>
                    </a:lnTo>
                    <a:lnTo>
                      <a:pt x="0" y="12"/>
                    </a:lnTo>
                    <a:lnTo>
                      <a:pt x="24" y="24"/>
                    </a:lnTo>
                    <a:close/>
                    <a:moveTo>
                      <a:pt x="0" y="12"/>
                    </a:moveTo>
                    <a:lnTo>
                      <a:pt x="0" y="18"/>
                    </a:lnTo>
                    <a:lnTo>
                      <a:pt x="0" y="18"/>
                    </a:lnTo>
                    <a:lnTo>
                      <a:pt x="12" y="18"/>
                    </a:lnTo>
                    <a:lnTo>
                      <a:pt x="0" y="12"/>
                    </a:lnTo>
                    <a:close/>
                  </a:path>
                </a:pathLst>
              </a:custGeom>
              <a:solidFill>
                <a:srgbClr val="00FF00"/>
              </a:solidFill>
              <a:ln w="9525">
                <a:solidFill>
                  <a:srgbClr val="00FF00"/>
                </a:solidFill>
                <a:round/>
                <a:headEnd/>
                <a:tailEnd/>
              </a:ln>
            </p:spPr>
            <p:txBody>
              <a:bodyPr/>
              <a:lstStyle/>
              <a:p>
                <a:endParaRPr lang="zh-CN" altLang="en-US"/>
              </a:p>
            </p:txBody>
          </p:sp>
          <p:sp>
            <p:nvSpPr>
              <p:cNvPr id="51513" name="Freeform 313"/>
              <p:cNvSpPr>
                <a:spLocks noEditPoints="1"/>
              </p:cNvSpPr>
              <p:nvPr/>
            </p:nvSpPr>
            <p:spPr bwMode="auto">
              <a:xfrm>
                <a:off x="4519" y="2423"/>
                <a:ext cx="18" cy="24"/>
              </a:xfrm>
              <a:custGeom>
                <a:avLst/>
                <a:gdLst>
                  <a:gd name="T0" fmla="*/ 18 w 18"/>
                  <a:gd name="T1" fmla="*/ 6 h 24"/>
                  <a:gd name="T2" fmla="*/ 18 w 18"/>
                  <a:gd name="T3" fmla="*/ 6 h 24"/>
                  <a:gd name="T4" fmla="*/ 18 w 18"/>
                  <a:gd name="T5" fmla="*/ 12 h 24"/>
                  <a:gd name="T6" fmla="*/ 18 w 18"/>
                  <a:gd name="T7" fmla="*/ 18 h 24"/>
                  <a:gd name="T8" fmla="*/ 18 w 18"/>
                  <a:gd name="T9" fmla="*/ 18 h 24"/>
                  <a:gd name="T10" fmla="*/ 6 w 18"/>
                  <a:gd name="T11" fmla="*/ 0 h 24"/>
                  <a:gd name="T12" fmla="*/ 0 w 18"/>
                  <a:gd name="T13" fmla="*/ 6 h 24"/>
                  <a:gd name="T14" fmla="*/ 0 w 18"/>
                  <a:gd name="T15" fmla="*/ 12 h 24"/>
                  <a:gd name="T16" fmla="*/ 0 w 18"/>
                  <a:gd name="T17" fmla="*/ 18 h 24"/>
                  <a:gd name="T18" fmla="*/ 0 w 18"/>
                  <a:gd name="T19" fmla="*/ 24 h 24"/>
                  <a:gd name="T20" fmla="*/ 18 w 18"/>
                  <a:gd name="T21" fmla="*/ 6 h 24"/>
                  <a:gd name="T22" fmla="*/ 18 w 18"/>
                  <a:gd name="T23" fmla="*/ 6 h 24"/>
                  <a:gd name="T24" fmla="*/ 18 w 18"/>
                  <a:gd name="T25" fmla="*/ 6 h 24"/>
                  <a:gd name="T26" fmla="*/ 18 w 18"/>
                  <a:gd name="T27" fmla="*/ 6 h 24"/>
                  <a:gd name="T28" fmla="*/ 12 w 18"/>
                  <a:gd name="T29" fmla="*/ 18 h 24"/>
                  <a:gd name="T30" fmla="*/ 18 w 18"/>
                  <a:gd name="T31"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24">
                    <a:moveTo>
                      <a:pt x="18" y="6"/>
                    </a:moveTo>
                    <a:lnTo>
                      <a:pt x="18" y="6"/>
                    </a:lnTo>
                    <a:lnTo>
                      <a:pt x="18" y="12"/>
                    </a:lnTo>
                    <a:lnTo>
                      <a:pt x="18" y="18"/>
                    </a:lnTo>
                    <a:lnTo>
                      <a:pt x="18" y="18"/>
                    </a:lnTo>
                    <a:lnTo>
                      <a:pt x="6" y="0"/>
                    </a:lnTo>
                    <a:lnTo>
                      <a:pt x="0" y="6"/>
                    </a:lnTo>
                    <a:lnTo>
                      <a:pt x="0" y="12"/>
                    </a:lnTo>
                    <a:lnTo>
                      <a:pt x="0" y="18"/>
                    </a:lnTo>
                    <a:lnTo>
                      <a:pt x="0" y="24"/>
                    </a:lnTo>
                    <a:lnTo>
                      <a:pt x="18" y="6"/>
                    </a:lnTo>
                    <a:close/>
                    <a:moveTo>
                      <a:pt x="18" y="6"/>
                    </a:moveTo>
                    <a:lnTo>
                      <a:pt x="18" y="6"/>
                    </a:lnTo>
                    <a:lnTo>
                      <a:pt x="18" y="6"/>
                    </a:lnTo>
                    <a:lnTo>
                      <a:pt x="12" y="18"/>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51514" name="Freeform 314"/>
              <p:cNvSpPr>
                <a:spLocks noEditPoints="1"/>
              </p:cNvSpPr>
              <p:nvPr/>
            </p:nvSpPr>
            <p:spPr bwMode="auto">
              <a:xfrm>
                <a:off x="4525" y="2417"/>
                <a:ext cx="18" cy="24"/>
              </a:xfrm>
              <a:custGeom>
                <a:avLst/>
                <a:gdLst>
                  <a:gd name="T0" fmla="*/ 18 w 18"/>
                  <a:gd name="T1" fmla="*/ 24 h 24"/>
                  <a:gd name="T2" fmla="*/ 18 w 18"/>
                  <a:gd name="T3" fmla="*/ 24 h 24"/>
                  <a:gd name="T4" fmla="*/ 12 w 18"/>
                  <a:gd name="T5" fmla="*/ 24 h 24"/>
                  <a:gd name="T6" fmla="*/ 18 w 18"/>
                  <a:gd name="T7" fmla="*/ 0 h 24"/>
                  <a:gd name="T8" fmla="*/ 6 w 18"/>
                  <a:gd name="T9" fmla="*/ 6 h 24"/>
                  <a:gd name="T10" fmla="*/ 0 w 18"/>
                  <a:gd name="T11" fmla="*/ 6 h 24"/>
                  <a:gd name="T12" fmla="*/ 18 w 18"/>
                  <a:gd name="T13" fmla="*/ 24 h 24"/>
                  <a:gd name="T14" fmla="*/ 12 w 18"/>
                  <a:gd name="T15" fmla="*/ 24 h 24"/>
                  <a:gd name="T16" fmla="*/ 18 w 18"/>
                  <a:gd name="T17" fmla="*/ 24 h 24"/>
                  <a:gd name="T18" fmla="*/ 18 w 18"/>
                  <a:gd name="T19" fmla="*/ 24 h 24"/>
                  <a:gd name="T20" fmla="*/ 6 w 18"/>
                  <a:gd name="T21" fmla="*/ 18 h 24"/>
                  <a:gd name="T22" fmla="*/ 12 w 18"/>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18" y="24"/>
                    </a:moveTo>
                    <a:lnTo>
                      <a:pt x="18" y="24"/>
                    </a:lnTo>
                    <a:lnTo>
                      <a:pt x="12" y="24"/>
                    </a:lnTo>
                    <a:lnTo>
                      <a:pt x="18" y="0"/>
                    </a:lnTo>
                    <a:lnTo>
                      <a:pt x="6" y="6"/>
                    </a:lnTo>
                    <a:lnTo>
                      <a:pt x="0" y="6"/>
                    </a:lnTo>
                    <a:lnTo>
                      <a:pt x="18" y="24"/>
                    </a:lnTo>
                    <a:close/>
                    <a:moveTo>
                      <a:pt x="12" y="24"/>
                    </a:moveTo>
                    <a:lnTo>
                      <a:pt x="18" y="24"/>
                    </a:lnTo>
                    <a:lnTo>
                      <a:pt x="18" y="24"/>
                    </a:lnTo>
                    <a:lnTo>
                      <a:pt x="6" y="18"/>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51515" name="Freeform 315"/>
              <p:cNvSpPr>
                <a:spLocks noEditPoints="1"/>
              </p:cNvSpPr>
              <p:nvPr/>
            </p:nvSpPr>
            <p:spPr bwMode="auto">
              <a:xfrm>
                <a:off x="4525" y="2417"/>
                <a:ext cx="30" cy="18"/>
              </a:xfrm>
              <a:custGeom>
                <a:avLst/>
                <a:gdLst>
                  <a:gd name="T0" fmla="*/ 6 w 30"/>
                  <a:gd name="T1" fmla="*/ 12 h 18"/>
                  <a:gd name="T2" fmla="*/ 0 w 30"/>
                  <a:gd name="T3" fmla="*/ 18 h 18"/>
                  <a:gd name="T4" fmla="*/ 24 w 30"/>
                  <a:gd name="T5" fmla="*/ 18 h 18"/>
                  <a:gd name="T6" fmla="*/ 30 w 30"/>
                  <a:gd name="T7" fmla="*/ 18 h 18"/>
                  <a:gd name="T8" fmla="*/ 6 w 30"/>
                  <a:gd name="T9" fmla="*/ 12 h 18"/>
                  <a:gd name="T10" fmla="*/ 30 w 30"/>
                  <a:gd name="T11" fmla="*/ 18 h 18"/>
                  <a:gd name="T12" fmla="*/ 30 w 30"/>
                  <a:gd name="T13" fmla="*/ 6 h 18"/>
                  <a:gd name="T14" fmla="*/ 18 w 30"/>
                  <a:gd name="T15" fmla="*/ 0 h 18"/>
                  <a:gd name="T16" fmla="*/ 18 w 30"/>
                  <a:gd name="T17" fmla="*/ 12 h 18"/>
                  <a:gd name="T18" fmla="*/ 30 w 30"/>
                  <a:gd name="T19"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8">
                    <a:moveTo>
                      <a:pt x="6" y="12"/>
                    </a:moveTo>
                    <a:lnTo>
                      <a:pt x="0" y="18"/>
                    </a:lnTo>
                    <a:lnTo>
                      <a:pt x="24" y="18"/>
                    </a:lnTo>
                    <a:lnTo>
                      <a:pt x="30" y="18"/>
                    </a:lnTo>
                    <a:lnTo>
                      <a:pt x="6" y="12"/>
                    </a:lnTo>
                    <a:close/>
                    <a:moveTo>
                      <a:pt x="30" y="18"/>
                    </a:moveTo>
                    <a:lnTo>
                      <a:pt x="30" y="6"/>
                    </a:lnTo>
                    <a:lnTo>
                      <a:pt x="18" y="0"/>
                    </a:lnTo>
                    <a:lnTo>
                      <a:pt x="18" y="12"/>
                    </a:lnTo>
                    <a:lnTo>
                      <a:pt x="30" y="18"/>
                    </a:lnTo>
                    <a:close/>
                  </a:path>
                </a:pathLst>
              </a:custGeom>
              <a:solidFill>
                <a:srgbClr val="00FF00"/>
              </a:solidFill>
              <a:ln w="9525">
                <a:solidFill>
                  <a:srgbClr val="00FF00"/>
                </a:solidFill>
                <a:round/>
                <a:headEnd/>
                <a:tailEnd/>
              </a:ln>
            </p:spPr>
            <p:txBody>
              <a:bodyPr/>
              <a:lstStyle/>
              <a:p>
                <a:endParaRPr lang="zh-CN" altLang="en-US"/>
              </a:p>
            </p:txBody>
          </p:sp>
          <p:sp>
            <p:nvSpPr>
              <p:cNvPr id="51516" name="Freeform 316"/>
              <p:cNvSpPr>
                <a:spLocks/>
              </p:cNvSpPr>
              <p:nvPr/>
            </p:nvSpPr>
            <p:spPr bwMode="auto">
              <a:xfrm>
                <a:off x="4537" y="2435"/>
                <a:ext cx="12" cy="12"/>
              </a:xfrm>
              <a:custGeom>
                <a:avLst/>
                <a:gdLst>
                  <a:gd name="T0" fmla="*/ 6 w 12"/>
                  <a:gd name="T1" fmla="*/ 12 h 12"/>
                  <a:gd name="T2" fmla="*/ 12 w 12"/>
                  <a:gd name="T3" fmla="*/ 6 h 12"/>
                  <a:gd name="T4" fmla="*/ 12 w 12"/>
                  <a:gd name="T5" fmla="*/ 0 h 12"/>
                  <a:gd name="T6" fmla="*/ 0 w 12"/>
                  <a:gd name="T7" fmla="*/ 0 h 12"/>
                  <a:gd name="T8" fmla="*/ 6 w 12"/>
                  <a:gd name="T9" fmla="*/ 12 h 12"/>
                </a:gdLst>
                <a:ahLst/>
                <a:cxnLst>
                  <a:cxn ang="0">
                    <a:pos x="T0" y="T1"/>
                  </a:cxn>
                  <a:cxn ang="0">
                    <a:pos x="T2" y="T3"/>
                  </a:cxn>
                  <a:cxn ang="0">
                    <a:pos x="T4" y="T5"/>
                  </a:cxn>
                  <a:cxn ang="0">
                    <a:pos x="T6" y="T7"/>
                  </a:cxn>
                  <a:cxn ang="0">
                    <a:pos x="T8" y="T9"/>
                  </a:cxn>
                </a:cxnLst>
                <a:rect l="0" t="0" r="r" b="b"/>
                <a:pathLst>
                  <a:path w="12" h="12">
                    <a:moveTo>
                      <a:pt x="6" y="12"/>
                    </a:moveTo>
                    <a:lnTo>
                      <a:pt x="12" y="6"/>
                    </a:lnTo>
                    <a:lnTo>
                      <a:pt x="12" y="0"/>
                    </a:lnTo>
                    <a:lnTo>
                      <a:pt x="0" y="0"/>
                    </a:lnTo>
                    <a:lnTo>
                      <a:pt x="6" y="12"/>
                    </a:lnTo>
                    <a:close/>
                  </a:path>
                </a:pathLst>
              </a:custGeom>
              <a:solidFill>
                <a:srgbClr val="00FF00"/>
              </a:solidFill>
              <a:ln w="9525">
                <a:solidFill>
                  <a:srgbClr val="00FF00"/>
                </a:solidFill>
                <a:round/>
                <a:headEnd/>
                <a:tailEnd/>
              </a:ln>
            </p:spPr>
            <p:txBody>
              <a:bodyPr/>
              <a:lstStyle/>
              <a:p>
                <a:endParaRPr lang="zh-CN" altLang="en-US"/>
              </a:p>
            </p:txBody>
          </p:sp>
          <p:sp>
            <p:nvSpPr>
              <p:cNvPr id="51517" name="Freeform 317"/>
              <p:cNvSpPr>
                <a:spLocks/>
              </p:cNvSpPr>
              <p:nvPr/>
            </p:nvSpPr>
            <p:spPr bwMode="auto">
              <a:xfrm>
                <a:off x="4537" y="2370"/>
                <a:ext cx="30" cy="77"/>
              </a:xfrm>
              <a:custGeom>
                <a:avLst/>
                <a:gdLst>
                  <a:gd name="T0" fmla="*/ 12 w 30"/>
                  <a:gd name="T1" fmla="*/ 0 h 77"/>
                  <a:gd name="T2" fmla="*/ 6 w 30"/>
                  <a:gd name="T3" fmla="*/ 6 h 77"/>
                  <a:gd name="T4" fmla="*/ 6 w 30"/>
                  <a:gd name="T5" fmla="*/ 12 h 77"/>
                  <a:gd name="T6" fmla="*/ 0 w 30"/>
                  <a:gd name="T7" fmla="*/ 35 h 77"/>
                  <a:gd name="T8" fmla="*/ 6 w 30"/>
                  <a:gd name="T9" fmla="*/ 65 h 77"/>
                  <a:gd name="T10" fmla="*/ 6 w 30"/>
                  <a:gd name="T11" fmla="*/ 77 h 77"/>
                  <a:gd name="T12" fmla="*/ 12 w 30"/>
                  <a:gd name="T13" fmla="*/ 77 h 77"/>
                  <a:gd name="T14" fmla="*/ 18 w 30"/>
                  <a:gd name="T15" fmla="*/ 77 h 77"/>
                  <a:gd name="T16" fmla="*/ 24 w 30"/>
                  <a:gd name="T17" fmla="*/ 65 h 77"/>
                  <a:gd name="T18" fmla="*/ 30 w 30"/>
                  <a:gd name="T19" fmla="*/ 35 h 77"/>
                  <a:gd name="T20" fmla="*/ 24 w 30"/>
                  <a:gd name="T21" fmla="*/ 12 h 77"/>
                  <a:gd name="T22" fmla="*/ 18 w 30"/>
                  <a:gd name="T23" fmla="*/ 6 h 77"/>
                  <a:gd name="T24" fmla="*/ 12 w 30"/>
                  <a:gd name="T25" fmla="*/ 0 h 77"/>
                  <a:gd name="T26" fmla="*/ 12 w 30"/>
                  <a:gd name="T27"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77">
                    <a:moveTo>
                      <a:pt x="12" y="0"/>
                    </a:moveTo>
                    <a:lnTo>
                      <a:pt x="6" y="6"/>
                    </a:lnTo>
                    <a:lnTo>
                      <a:pt x="6" y="12"/>
                    </a:lnTo>
                    <a:lnTo>
                      <a:pt x="0" y="35"/>
                    </a:lnTo>
                    <a:lnTo>
                      <a:pt x="6" y="65"/>
                    </a:lnTo>
                    <a:lnTo>
                      <a:pt x="6" y="77"/>
                    </a:lnTo>
                    <a:lnTo>
                      <a:pt x="12" y="77"/>
                    </a:lnTo>
                    <a:lnTo>
                      <a:pt x="18" y="77"/>
                    </a:lnTo>
                    <a:lnTo>
                      <a:pt x="24" y="65"/>
                    </a:lnTo>
                    <a:lnTo>
                      <a:pt x="30" y="35"/>
                    </a:lnTo>
                    <a:lnTo>
                      <a:pt x="24" y="12"/>
                    </a:lnTo>
                    <a:lnTo>
                      <a:pt x="18" y="6"/>
                    </a:lnTo>
                    <a:lnTo>
                      <a:pt x="12" y="0"/>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51518" name="Freeform 318"/>
              <p:cNvSpPr>
                <a:spLocks/>
              </p:cNvSpPr>
              <p:nvPr/>
            </p:nvSpPr>
            <p:spPr bwMode="auto">
              <a:xfrm>
                <a:off x="4525" y="2358"/>
                <a:ext cx="30" cy="47"/>
              </a:xfrm>
              <a:custGeom>
                <a:avLst/>
                <a:gdLst>
                  <a:gd name="T0" fmla="*/ 24 w 30"/>
                  <a:gd name="T1" fmla="*/ 0 h 47"/>
                  <a:gd name="T2" fmla="*/ 12 w 30"/>
                  <a:gd name="T3" fmla="*/ 6 h 47"/>
                  <a:gd name="T4" fmla="*/ 6 w 30"/>
                  <a:gd name="T5" fmla="*/ 18 h 47"/>
                  <a:gd name="T6" fmla="*/ 0 w 30"/>
                  <a:gd name="T7" fmla="*/ 47 h 47"/>
                  <a:gd name="T8" fmla="*/ 24 w 30"/>
                  <a:gd name="T9" fmla="*/ 47 h 47"/>
                  <a:gd name="T10" fmla="*/ 24 w 30"/>
                  <a:gd name="T11" fmla="*/ 36 h 47"/>
                  <a:gd name="T12" fmla="*/ 24 w 30"/>
                  <a:gd name="T13" fmla="*/ 30 h 47"/>
                  <a:gd name="T14" fmla="*/ 30 w 30"/>
                  <a:gd name="T15" fmla="*/ 24 h 47"/>
                  <a:gd name="T16" fmla="*/ 24 w 30"/>
                  <a:gd name="T17" fmla="*/ 24 h 47"/>
                  <a:gd name="T18" fmla="*/ 24 w 30"/>
                  <a:gd name="T1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47">
                    <a:moveTo>
                      <a:pt x="24" y="0"/>
                    </a:moveTo>
                    <a:lnTo>
                      <a:pt x="12" y="6"/>
                    </a:lnTo>
                    <a:lnTo>
                      <a:pt x="6" y="18"/>
                    </a:lnTo>
                    <a:lnTo>
                      <a:pt x="0" y="47"/>
                    </a:lnTo>
                    <a:lnTo>
                      <a:pt x="24" y="47"/>
                    </a:lnTo>
                    <a:lnTo>
                      <a:pt x="24" y="36"/>
                    </a:lnTo>
                    <a:lnTo>
                      <a:pt x="24" y="30"/>
                    </a:lnTo>
                    <a:lnTo>
                      <a:pt x="30" y="24"/>
                    </a:lnTo>
                    <a:lnTo>
                      <a:pt x="24" y="24"/>
                    </a:lnTo>
                    <a:lnTo>
                      <a:pt x="24" y="0"/>
                    </a:lnTo>
                    <a:close/>
                  </a:path>
                </a:pathLst>
              </a:custGeom>
              <a:solidFill>
                <a:srgbClr val="00FF00"/>
              </a:solidFill>
              <a:ln w="9525">
                <a:solidFill>
                  <a:srgbClr val="00FF00"/>
                </a:solidFill>
                <a:round/>
                <a:headEnd/>
                <a:tailEnd/>
              </a:ln>
            </p:spPr>
            <p:txBody>
              <a:bodyPr/>
              <a:lstStyle/>
              <a:p>
                <a:endParaRPr lang="zh-CN" altLang="en-US"/>
              </a:p>
            </p:txBody>
          </p:sp>
        </p:grpSp>
        <p:sp>
          <p:nvSpPr>
            <p:cNvPr id="51519" name="Freeform 319"/>
            <p:cNvSpPr>
              <a:spLocks noEditPoints="1"/>
            </p:cNvSpPr>
            <p:nvPr/>
          </p:nvSpPr>
          <p:spPr bwMode="auto">
            <a:xfrm>
              <a:off x="4524" y="2386"/>
              <a:ext cx="30" cy="54"/>
            </a:xfrm>
            <a:custGeom>
              <a:avLst/>
              <a:gdLst>
                <a:gd name="T0" fmla="*/ 0 w 30"/>
                <a:gd name="T1" fmla="*/ 0 h 54"/>
                <a:gd name="T2" fmla="*/ 6 w 30"/>
                <a:gd name="T3" fmla="*/ 36 h 54"/>
                <a:gd name="T4" fmla="*/ 12 w 30"/>
                <a:gd name="T5" fmla="*/ 48 h 54"/>
                <a:gd name="T6" fmla="*/ 24 w 30"/>
                <a:gd name="T7" fmla="*/ 54 h 54"/>
                <a:gd name="T8" fmla="*/ 24 w 30"/>
                <a:gd name="T9" fmla="*/ 30 h 54"/>
                <a:gd name="T10" fmla="*/ 30 w 30"/>
                <a:gd name="T11" fmla="*/ 30 h 54"/>
                <a:gd name="T12" fmla="*/ 30 w 30"/>
                <a:gd name="T13" fmla="*/ 24 h 54"/>
                <a:gd name="T14" fmla="*/ 24 w 30"/>
                <a:gd name="T15" fmla="*/ 0 h 54"/>
                <a:gd name="T16" fmla="*/ 0 w 30"/>
                <a:gd name="T17" fmla="*/ 0 h 54"/>
                <a:gd name="T18" fmla="*/ 24 w 30"/>
                <a:gd name="T19" fmla="*/ 0 h 54"/>
                <a:gd name="T20" fmla="*/ 24 w 30"/>
                <a:gd name="T21" fmla="*/ 0 h 54"/>
                <a:gd name="T22" fmla="*/ 12 w 30"/>
                <a:gd name="T23" fmla="*/ 0 h 54"/>
                <a:gd name="T24" fmla="*/ 24 w 30"/>
                <a:gd name="T2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54">
                  <a:moveTo>
                    <a:pt x="0" y="0"/>
                  </a:moveTo>
                  <a:lnTo>
                    <a:pt x="6" y="36"/>
                  </a:lnTo>
                  <a:lnTo>
                    <a:pt x="12" y="48"/>
                  </a:lnTo>
                  <a:lnTo>
                    <a:pt x="24" y="54"/>
                  </a:lnTo>
                  <a:lnTo>
                    <a:pt x="24" y="30"/>
                  </a:lnTo>
                  <a:lnTo>
                    <a:pt x="30" y="30"/>
                  </a:lnTo>
                  <a:lnTo>
                    <a:pt x="30" y="24"/>
                  </a:lnTo>
                  <a:lnTo>
                    <a:pt x="24" y="0"/>
                  </a:lnTo>
                  <a:lnTo>
                    <a:pt x="0" y="0"/>
                  </a:lnTo>
                  <a:close/>
                  <a:moveTo>
                    <a:pt x="24" y="0"/>
                  </a:moveTo>
                  <a:lnTo>
                    <a:pt x="24" y="0"/>
                  </a:lnTo>
                  <a:lnTo>
                    <a:pt x="12" y="0"/>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20" name="Freeform 320"/>
            <p:cNvSpPr>
              <a:spLocks noEditPoints="1"/>
            </p:cNvSpPr>
            <p:nvPr/>
          </p:nvSpPr>
          <p:spPr bwMode="auto">
            <a:xfrm>
              <a:off x="4548" y="2386"/>
              <a:ext cx="30" cy="54"/>
            </a:xfrm>
            <a:custGeom>
              <a:avLst/>
              <a:gdLst>
                <a:gd name="T0" fmla="*/ 0 w 30"/>
                <a:gd name="T1" fmla="*/ 54 h 54"/>
                <a:gd name="T2" fmla="*/ 12 w 30"/>
                <a:gd name="T3" fmla="*/ 48 h 54"/>
                <a:gd name="T4" fmla="*/ 24 w 30"/>
                <a:gd name="T5" fmla="*/ 36 h 54"/>
                <a:gd name="T6" fmla="*/ 30 w 30"/>
                <a:gd name="T7" fmla="*/ 0 h 54"/>
                <a:gd name="T8" fmla="*/ 6 w 30"/>
                <a:gd name="T9" fmla="*/ 0 h 54"/>
                <a:gd name="T10" fmla="*/ 0 w 30"/>
                <a:gd name="T11" fmla="*/ 24 h 54"/>
                <a:gd name="T12" fmla="*/ 0 w 30"/>
                <a:gd name="T13" fmla="*/ 30 h 54"/>
                <a:gd name="T14" fmla="*/ 0 w 30"/>
                <a:gd name="T15" fmla="*/ 30 h 54"/>
                <a:gd name="T16" fmla="*/ 0 w 30"/>
                <a:gd name="T17" fmla="*/ 54 h 54"/>
                <a:gd name="T18" fmla="*/ 0 w 30"/>
                <a:gd name="T19" fmla="*/ 30 h 54"/>
                <a:gd name="T20" fmla="*/ 0 w 30"/>
                <a:gd name="T21" fmla="*/ 30 h 54"/>
                <a:gd name="T22" fmla="*/ 0 w 30"/>
                <a:gd name="T23" fmla="*/ 42 h 54"/>
                <a:gd name="T24" fmla="*/ 0 w 30"/>
                <a:gd name="T25" fmla="*/ 3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54">
                  <a:moveTo>
                    <a:pt x="0" y="54"/>
                  </a:moveTo>
                  <a:lnTo>
                    <a:pt x="12" y="48"/>
                  </a:lnTo>
                  <a:lnTo>
                    <a:pt x="24" y="36"/>
                  </a:lnTo>
                  <a:lnTo>
                    <a:pt x="30" y="0"/>
                  </a:lnTo>
                  <a:lnTo>
                    <a:pt x="6" y="0"/>
                  </a:lnTo>
                  <a:lnTo>
                    <a:pt x="0" y="24"/>
                  </a:lnTo>
                  <a:lnTo>
                    <a:pt x="0" y="30"/>
                  </a:lnTo>
                  <a:lnTo>
                    <a:pt x="0" y="30"/>
                  </a:lnTo>
                  <a:lnTo>
                    <a:pt x="0" y="54"/>
                  </a:lnTo>
                  <a:close/>
                  <a:moveTo>
                    <a:pt x="0" y="30"/>
                  </a:moveTo>
                  <a:lnTo>
                    <a:pt x="0" y="30"/>
                  </a:lnTo>
                  <a:lnTo>
                    <a:pt x="0" y="42"/>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21" name="Freeform 321"/>
            <p:cNvSpPr>
              <a:spLocks noEditPoints="1"/>
            </p:cNvSpPr>
            <p:nvPr/>
          </p:nvSpPr>
          <p:spPr bwMode="auto">
            <a:xfrm>
              <a:off x="4548" y="2339"/>
              <a:ext cx="30" cy="47"/>
            </a:xfrm>
            <a:custGeom>
              <a:avLst/>
              <a:gdLst>
                <a:gd name="T0" fmla="*/ 30 w 30"/>
                <a:gd name="T1" fmla="*/ 47 h 47"/>
                <a:gd name="T2" fmla="*/ 24 w 30"/>
                <a:gd name="T3" fmla="*/ 18 h 47"/>
                <a:gd name="T4" fmla="*/ 12 w 30"/>
                <a:gd name="T5" fmla="*/ 6 h 47"/>
                <a:gd name="T6" fmla="*/ 0 w 30"/>
                <a:gd name="T7" fmla="*/ 0 h 47"/>
                <a:gd name="T8" fmla="*/ 0 w 30"/>
                <a:gd name="T9" fmla="*/ 24 h 47"/>
                <a:gd name="T10" fmla="*/ 0 w 30"/>
                <a:gd name="T11" fmla="*/ 24 h 47"/>
                <a:gd name="T12" fmla="*/ 0 w 30"/>
                <a:gd name="T13" fmla="*/ 30 h 47"/>
                <a:gd name="T14" fmla="*/ 6 w 30"/>
                <a:gd name="T15" fmla="*/ 47 h 47"/>
                <a:gd name="T16" fmla="*/ 30 w 30"/>
                <a:gd name="T17" fmla="*/ 47 h 47"/>
                <a:gd name="T18" fmla="*/ 6 w 30"/>
                <a:gd name="T19" fmla="*/ 47 h 47"/>
                <a:gd name="T20" fmla="*/ 6 w 30"/>
                <a:gd name="T21" fmla="*/ 47 h 47"/>
                <a:gd name="T22" fmla="*/ 18 w 30"/>
                <a:gd name="T23" fmla="*/ 47 h 47"/>
                <a:gd name="T24" fmla="*/ 6 w 30"/>
                <a:gd name="T25"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47">
                  <a:moveTo>
                    <a:pt x="30" y="47"/>
                  </a:moveTo>
                  <a:lnTo>
                    <a:pt x="24" y="18"/>
                  </a:lnTo>
                  <a:lnTo>
                    <a:pt x="12" y="6"/>
                  </a:lnTo>
                  <a:lnTo>
                    <a:pt x="0" y="0"/>
                  </a:lnTo>
                  <a:lnTo>
                    <a:pt x="0" y="24"/>
                  </a:lnTo>
                  <a:lnTo>
                    <a:pt x="0" y="24"/>
                  </a:lnTo>
                  <a:lnTo>
                    <a:pt x="0" y="30"/>
                  </a:lnTo>
                  <a:lnTo>
                    <a:pt x="6" y="47"/>
                  </a:lnTo>
                  <a:lnTo>
                    <a:pt x="30" y="47"/>
                  </a:lnTo>
                  <a:close/>
                  <a:moveTo>
                    <a:pt x="6" y="47"/>
                  </a:moveTo>
                  <a:lnTo>
                    <a:pt x="6" y="47"/>
                  </a:lnTo>
                  <a:lnTo>
                    <a:pt x="18" y="47"/>
                  </a:lnTo>
                  <a:lnTo>
                    <a:pt x="6" y="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22" name="Freeform 322"/>
            <p:cNvSpPr>
              <a:spLocks/>
            </p:cNvSpPr>
            <p:nvPr/>
          </p:nvSpPr>
          <p:spPr bwMode="auto">
            <a:xfrm>
              <a:off x="4548" y="2351"/>
              <a:ext cx="1" cy="12"/>
            </a:xfrm>
            <a:custGeom>
              <a:avLst/>
              <a:gdLst>
                <a:gd name="T0" fmla="*/ 12 h 12"/>
                <a:gd name="T1" fmla="*/ 12 h 12"/>
                <a:gd name="T2" fmla="*/ 12 h 12"/>
                <a:gd name="T3" fmla="*/ 0 h 12"/>
                <a:gd name="T4" fmla="*/ 12 h 12"/>
              </a:gdLst>
              <a:ahLst/>
              <a:cxnLst>
                <a:cxn ang="0">
                  <a:pos x="0" y="T0"/>
                </a:cxn>
                <a:cxn ang="0">
                  <a:pos x="0" y="T1"/>
                </a:cxn>
                <a:cxn ang="0">
                  <a:pos x="0" y="T2"/>
                </a:cxn>
                <a:cxn ang="0">
                  <a:pos x="0" y="T3"/>
                </a:cxn>
                <a:cxn ang="0">
                  <a:pos x="0" y="T4"/>
                </a:cxn>
              </a:cxnLst>
              <a:rect l="0" t="0" r="r" b="b"/>
              <a:pathLst>
                <a:path h="12">
                  <a:moveTo>
                    <a:pt x="0" y="12"/>
                  </a:moveTo>
                  <a:lnTo>
                    <a:pt x="0" y="12"/>
                  </a:lnTo>
                  <a:lnTo>
                    <a:pt x="0" y="12"/>
                  </a:lnTo>
                  <a:lnTo>
                    <a:pt x="0"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23" name="Freeform 323"/>
            <p:cNvSpPr>
              <a:spLocks/>
            </p:cNvSpPr>
            <p:nvPr/>
          </p:nvSpPr>
          <p:spPr bwMode="auto">
            <a:xfrm>
              <a:off x="4536" y="2428"/>
              <a:ext cx="24" cy="12"/>
            </a:xfrm>
            <a:custGeom>
              <a:avLst/>
              <a:gdLst>
                <a:gd name="T0" fmla="*/ 6 w 24"/>
                <a:gd name="T1" fmla="*/ 0 h 12"/>
                <a:gd name="T2" fmla="*/ 6 w 24"/>
                <a:gd name="T3" fmla="*/ 6 h 12"/>
                <a:gd name="T4" fmla="*/ 0 w 24"/>
                <a:gd name="T5" fmla="*/ 6 h 12"/>
                <a:gd name="T6" fmla="*/ 6 w 24"/>
                <a:gd name="T7" fmla="*/ 12 h 12"/>
                <a:gd name="T8" fmla="*/ 6 w 24"/>
                <a:gd name="T9" fmla="*/ 12 h 12"/>
                <a:gd name="T10" fmla="*/ 18 w 24"/>
                <a:gd name="T11" fmla="*/ 12 h 12"/>
                <a:gd name="T12" fmla="*/ 24 w 24"/>
                <a:gd name="T13" fmla="*/ 12 h 12"/>
                <a:gd name="T14" fmla="*/ 24 w 24"/>
                <a:gd name="T15" fmla="*/ 6 h 12"/>
                <a:gd name="T16" fmla="*/ 24 w 24"/>
                <a:gd name="T17" fmla="*/ 6 h 12"/>
                <a:gd name="T18" fmla="*/ 18 w 24"/>
                <a:gd name="T19" fmla="*/ 0 h 12"/>
                <a:gd name="T20" fmla="*/ 6 w 24"/>
                <a:gd name="T21" fmla="*/ 0 h 12"/>
                <a:gd name="T22" fmla="*/ 6 w 24"/>
                <a:gd name="T23"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2">
                  <a:moveTo>
                    <a:pt x="6" y="0"/>
                  </a:moveTo>
                  <a:lnTo>
                    <a:pt x="6" y="6"/>
                  </a:lnTo>
                  <a:lnTo>
                    <a:pt x="0" y="6"/>
                  </a:lnTo>
                  <a:lnTo>
                    <a:pt x="6" y="12"/>
                  </a:lnTo>
                  <a:lnTo>
                    <a:pt x="6" y="12"/>
                  </a:lnTo>
                  <a:lnTo>
                    <a:pt x="18" y="12"/>
                  </a:lnTo>
                  <a:lnTo>
                    <a:pt x="24" y="12"/>
                  </a:lnTo>
                  <a:lnTo>
                    <a:pt x="24" y="6"/>
                  </a:lnTo>
                  <a:lnTo>
                    <a:pt x="24" y="6"/>
                  </a:lnTo>
                  <a:lnTo>
                    <a:pt x="18" y="0"/>
                  </a:lnTo>
                  <a:lnTo>
                    <a:pt x="6" y="0"/>
                  </a:lnTo>
                  <a:lnTo>
                    <a:pt x="6" y="0"/>
                  </a:lnTo>
                  <a:close/>
                </a:path>
              </a:pathLst>
            </a:custGeom>
            <a:solidFill>
              <a:srgbClr val="61AC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24" name="Freeform 324"/>
            <p:cNvSpPr>
              <a:spLocks/>
            </p:cNvSpPr>
            <p:nvPr/>
          </p:nvSpPr>
          <p:spPr bwMode="auto">
            <a:xfrm>
              <a:off x="4524" y="2416"/>
              <a:ext cx="24" cy="24"/>
            </a:xfrm>
            <a:custGeom>
              <a:avLst/>
              <a:gdLst>
                <a:gd name="T0" fmla="*/ 18 w 24"/>
                <a:gd name="T1" fmla="*/ 0 h 24"/>
                <a:gd name="T2" fmla="*/ 6 w 24"/>
                <a:gd name="T3" fmla="*/ 6 h 24"/>
                <a:gd name="T4" fmla="*/ 0 w 24"/>
                <a:gd name="T5" fmla="*/ 18 h 24"/>
                <a:gd name="T6" fmla="*/ 24 w 24"/>
                <a:gd name="T7" fmla="*/ 18 h 24"/>
                <a:gd name="T8" fmla="*/ 24 w 24"/>
                <a:gd name="T9" fmla="*/ 24 h 24"/>
                <a:gd name="T10" fmla="*/ 18 w 24"/>
                <a:gd name="T11" fmla="*/ 24 h 24"/>
                <a:gd name="T12" fmla="*/ 18 w 24"/>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4" h="24">
                  <a:moveTo>
                    <a:pt x="18" y="0"/>
                  </a:moveTo>
                  <a:lnTo>
                    <a:pt x="6" y="6"/>
                  </a:lnTo>
                  <a:lnTo>
                    <a:pt x="0" y="18"/>
                  </a:lnTo>
                  <a:lnTo>
                    <a:pt x="24" y="18"/>
                  </a:lnTo>
                  <a:lnTo>
                    <a:pt x="24" y="24"/>
                  </a:lnTo>
                  <a:lnTo>
                    <a:pt x="18" y="24"/>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25" name="Freeform 325"/>
            <p:cNvSpPr>
              <a:spLocks noEditPoints="1"/>
            </p:cNvSpPr>
            <p:nvPr/>
          </p:nvSpPr>
          <p:spPr bwMode="auto">
            <a:xfrm>
              <a:off x="4524" y="2434"/>
              <a:ext cx="24" cy="18"/>
            </a:xfrm>
            <a:custGeom>
              <a:avLst/>
              <a:gdLst>
                <a:gd name="T0" fmla="*/ 0 w 24"/>
                <a:gd name="T1" fmla="*/ 0 h 18"/>
                <a:gd name="T2" fmla="*/ 6 w 24"/>
                <a:gd name="T3" fmla="*/ 12 h 18"/>
                <a:gd name="T4" fmla="*/ 18 w 24"/>
                <a:gd name="T5" fmla="*/ 18 h 18"/>
                <a:gd name="T6" fmla="*/ 24 w 24"/>
                <a:gd name="T7" fmla="*/ 0 h 18"/>
                <a:gd name="T8" fmla="*/ 24 w 24"/>
                <a:gd name="T9" fmla="*/ 0 h 18"/>
                <a:gd name="T10" fmla="*/ 0 w 24"/>
                <a:gd name="T11" fmla="*/ 0 h 18"/>
                <a:gd name="T12" fmla="*/ 24 w 24"/>
                <a:gd name="T13" fmla="*/ 0 h 18"/>
                <a:gd name="T14" fmla="*/ 24 w 24"/>
                <a:gd name="T15" fmla="*/ 0 h 18"/>
                <a:gd name="T16" fmla="*/ 12 w 24"/>
                <a:gd name="T17" fmla="*/ 0 h 18"/>
                <a:gd name="T18" fmla="*/ 24 w 24"/>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0" y="0"/>
                  </a:moveTo>
                  <a:lnTo>
                    <a:pt x="6" y="12"/>
                  </a:lnTo>
                  <a:lnTo>
                    <a:pt x="18" y="18"/>
                  </a:lnTo>
                  <a:lnTo>
                    <a:pt x="24" y="0"/>
                  </a:lnTo>
                  <a:lnTo>
                    <a:pt x="24" y="0"/>
                  </a:lnTo>
                  <a:lnTo>
                    <a:pt x="0" y="0"/>
                  </a:lnTo>
                  <a:close/>
                  <a:moveTo>
                    <a:pt x="24" y="0"/>
                  </a:moveTo>
                  <a:lnTo>
                    <a:pt x="24" y="0"/>
                  </a:lnTo>
                  <a:lnTo>
                    <a:pt x="12" y="0"/>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26" name="Freeform 326"/>
            <p:cNvSpPr>
              <a:spLocks noEditPoints="1"/>
            </p:cNvSpPr>
            <p:nvPr/>
          </p:nvSpPr>
          <p:spPr bwMode="auto">
            <a:xfrm>
              <a:off x="4542" y="2428"/>
              <a:ext cx="12" cy="24"/>
            </a:xfrm>
            <a:custGeom>
              <a:avLst/>
              <a:gdLst>
                <a:gd name="T0" fmla="*/ 0 w 12"/>
                <a:gd name="T1" fmla="*/ 24 h 24"/>
                <a:gd name="T2" fmla="*/ 12 w 12"/>
                <a:gd name="T3" fmla="*/ 24 h 24"/>
                <a:gd name="T4" fmla="*/ 12 w 12"/>
                <a:gd name="T5" fmla="*/ 0 h 24"/>
                <a:gd name="T6" fmla="*/ 0 w 12"/>
                <a:gd name="T7" fmla="*/ 0 h 24"/>
                <a:gd name="T8" fmla="*/ 0 w 12"/>
                <a:gd name="T9" fmla="*/ 24 h 24"/>
                <a:gd name="T10" fmla="*/ 0 w 12"/>
                <a:gd name="T11" fmla="*/ 24 h 24"/>
                <a:gd name="T12" fmla="*/ 0 w 12"/>
                <a:gd name="T13" fmla="*/ 24 h 24"/>
                <a:gd name="T14" fmla="*/ 0 w 12"/>
                <a:gd name="T15" fmla="*/ 24 h 24"/>
                <a:gd name="T16" fmla="*/ 0 w 12"/>
                <a:gd name="T17" fmla="*/ 12 h 24"/>
                <a:gd name="T18" fmla="*/ 0 w 12"/>
                <a:gd name="T1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4">
                  <a:moveTo>
                    <a:pt x="0" y="24"/>
                  </a:moveTo>
                  <a:lnTo>
                    <a:pt x="12" y="24"/>
                  </a:lnTo>
                  <a:lnTo>
                    <a:pt x="12" y="0"/>
                  </a:lnTo>
                  <a:lnTo>
                    <a:pt x="0" y="0"/>
                  </a:lnTo>
                  <a:lnTo>
                    <a:pt x="0" y="24"/>
                  </a:lnTo>
                  <a:close/>
                  <a:moveTo>
                    <a:pt x="0" y="24"/>
                  </a:moveTo>
                  <a:lnTo>
                    <a:pt x="0" y="24"/>
                  </a:lnTo>
                  <a:lnTo>
                    <a:pt x="0" y="24"/>
                  </a:lnTo>
                  <a:lnTo>
                    <a:pt x="0" y="12"/>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27" name="Freeform 327"/>
            <p:cNvSpPr>
              <a:spLocks noEditPoints="1"/>
            </p:cNvSpPr>
            <p:nvPr/>
          </p:nvSpPr>
          <p:spPr bwMode="auto">
            <a:xfrm>
              <a:off x="4548" y="2434"/>
              <a:ext cx="24" cy="18"/>
            </a:xfrm>
            <a:custGeom>
              <a:avLst/>
              <a:gdLst>
                <a:gd name="T0" fmla="*/ 12 w 24"/>
                <a:gd name="T1" fmla="*/ 18 h 18"/>
                <a:gd name="T2" fmla="*/ 18 w 24"/>
                <a:gd name="T3" fmla="*/ 12 h 18"/>
                <a:gd name="T4" fmla="*/ 24 w 24"/>
                <a:gd name="T5" fmla="*/ 0 h 18"/>
                <a:gd name="T6" fmla="*/ 0 w 24"/>
                <a:gd name="T7" fmla="*/ 0 h 18"/>
                <a:gd name="T8" fmla="*/ 6 w 24"/>
                <a:gd name="T9" fmla="*/ 0 h 18"/>
                <a:gd name="T10" fmla="*/ 6 w 24"/>
                <a:gd name="T11" fmla="*/ 0 h 18"/>
                <a:gd name="T12" fmla="*/ 12 w 24"/>
                <a:gd name="T13" fmla="*/ 18 h 18"/>
                <a:gd name="T14" fmla="*/ 6 w 24"/>
                <a:gd name="T15" fmla="*/ 18 h 18"/>
                <a:gd name="T16" fmla="*/ 12 w 24"/>
                <a:gd name="T17" fmla="*/ 18 h 18"/>
                <a:gd name="T18" fmla="*/ 12 w 24"/>
                <a:gd name="T19" fmla="*/ 18 h 18"/>
                <a:gd name="T20" fmla="*/ 6 w 24"/>
                <a:gd name="T21" fmla="*/ 6 h 18"/>
                <a:gd name="T22" fmla="*/ 6 w 24"/>
                <a:gd name="T23"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12" y="18"/>
                  </a:moveTo>
                  <a:lnTo>
                    <a:pt x="18" y="12"/>
                  </a:lnTo>
                  <a:lnTo>
                    <a:pt x="24" y="0"/>
                  </a:lnTo>
                  <a:lnTo>
                    <a:pt x="0" y="0"/>
                  </a:lnTo>
                  <a:lnTo>
                    <a:pt x="6" y="0"/>
                  </a:lnTo>
                  <a:lnTo>
                    <a:pt x="6" y="0"/>
                  </a:lnTo>
                  <a:lnTo>
                    <a:pt x="12" y="18"/>
                  </a:lnTo>
                  <a:close/>
                  <a:moveTo>
                    <a:pt x="6" y="18"/>
                  </a:moveTo>
                  <a:lnTo>
                    <a:pt x="12" y="18"/>
                  </a:lnTo>
                  <a:lnTo>
                    <a:pt x="12" y="18"/>
                  </a:lnTo>
                  <a:lnTo>
                    <a:pt x="6" y="6"/>
                  </a:lnTo>
                  <a:lnTo>
                    <a:pt x="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28" name="Freeform 328"/>
            <p:cNvSpPr>
              <a:spLocks noEditPoints="1"/>
            </p:cNvSpPr>
            <p:nvPr/>
          </p:nvSpPr>
          <p:spPr bwMode="auto">
            <a:xfrm>
              <a:off x="4548" y="2416"/>
              <a:ext cx="24" cy="24"/>
            </a:xfrm>
            <a:custGeom>
              <a:avLst/>
              <a:gdLst>
                <a:gd name="T0" fmla="*/ 24 w 24"/>
                <a:gd name="T1" fmla="*/ 18 h 24"/>
                <a:gd name="T2" fmla="*/ 18 w 24"/>
                <a:gd name="T3" fmla="*/ 6 h 24"/>
                <a:gd name="T4" fmla="*/ 6 w 24"/>
                <a:gd name="T5" fmla="*/ 0 h 24"/>
                <a:gd name="T6" fmla="*/ 6 w 24"/>
                <a:gd name="T7" fmla="*/ 24 h 24"/>
                <a:gd name="T8" fmla="*/ 6 w 24"/>
                <a:gd name="T9" fmla="*/ 24 h 24"/>
                <a:gd name="T10" fmla="*/ 0 w 24"/>
                <a:gd name="T11" fmla="*/ 18 h 24"/>
                <a:gd name="T12" fmla="*/ 24 w 24"/>
                <a:gd name="T13" fmla="*/ 18 h 24"/>
                <a:gd name="T14" fmla="*/ 0 w 24"/>
                <a:gd name="T15" fmla="*/ 18 h 24"/>
                <a:gd name="T16" fmla="*/ 0 w 24"/>
                <a:gd name="T17" fmla="*/ 18 h 24"/>
                <a:gd name="T18" fmla="*/ 12 w 24"/>
                <a:gd name="T19" fmla="*/ 18 h 24"/>
                <a:gd name="T20" fmla="*/ 0 w 24"/>
                <a:gd name="T21" fmla="*/ 1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24" y="18"/>
                  </a:moveTo>
                  <a:lnTo>
                    <a:pt x="18" y="6"/>
                  </a:lnTo>
                  <a:lnTo>
                    <a:pt x="6" y="0"/>
                  </a:lnTo>
                  <a:lnTo>
                    <a:pt x="6" y="24"/>
                  </a:lnTo>
                  <a:lnTo>
                    <a:pt x="6" y="24"/>
                  </a:lnTo>
                  <a:lnTo>
                    <a:pt x="0" y="18"/>
                  </a:lnTo>
                  <a:lnTo>
                    <a:pt x="24" y="18"/>
                  </a:lnTo>
                  <a:close/>
                  <a:moveTo>
                    <a:pt x="0" y="18"/>
                  </a:moveTo>
                  <a:lnTo>
                    <a:pt x="0" y="18"/>
                  </a:lnTo>
                  <a:lnTo>
                    <a:pt x="12"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29" name="Freeform 329"/>
            <p:cNvSpPr>
              <a:spLocks noEditPoints="1"/>
            </p:cNvSpPr>
            <p:nvPr/>
          </p:nvSpPr>
          <p:spPr bwMode="auto">
            <a:xfrm>
              <a:off x="4542" y="2416"/>
              <a:ext cx="12" cy="24"/>
            </a:xfrm>
            <a:custGeom>
              <a:avLst/>
              <a:gdLst>
                <a:gd name="T0" fmla="*/ 12 w 12"/>
                <a:gd name="T1" fmla="*/ 0 h 24"/>
                <a:gd name="T2" fmla="*/ 0 w 12"/>
                <a:gd name="T3" fmla="*/ 0 h 24"/>
                <a:gd name="T4" fmla="*/ 0 w 12"/>
                <a:gd name="T5" fmla="*/ 24 h 24"/>
                <a:gd name="T6" fmla="*/ 12 w 12"/>
                <a:gd name="T7" fmla="*/ 24 h 24"/>
                <a:gd name="T8" fmla="*/ 12 w 12"/>
                <a:gd name="T9" fmla="*/ 0 h 24"/>
                <a:gd name="T10" fmla="*/ 12 w 12"/>
                <a:gd name="T11" fmla="*/ 24 h 24"/>
                <a:gd name="T12" fmla="*/ 12 w 12"/>
                <a:gd name="T13" fmla="*/ 24 h 24"/>
                <a:gd name="T14" fmla="*/ 12 w 12"/>
                <a:gd name="T15" fmla="*/ 12 h 24"/>
                <a:gd name="T16" fmla="*/ 12 w 12"/>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4">
                  <a:moveTo>
                    <a:pt x="12" y="0"/>
                  </a:moveTo>
                  <a:lnTo>
                    <a:pt x="0" y="0"/>
                  </a:lnTo>
                  <a:lnTo>
                    <a:pt x="0" y="24"/>
                  </a:lnTo>
                  <a:lnTo>
                    <a:pt x="12" y="24"/>
                  </a:lnTo>
                  <a:lnTo>
                    <a:pt x="12" y="0"/>
                  </a:lnTo>
                  <a:close/>
                  <a:moveTo>
                    <a:pt x="12" y="24"/>
                  </a:moveTo>
                  <a:lnTo>
                    <a:pt x="12" y="24"/>
                  </a:lnTo>
                  <a:lnTo>
                    <a:pt x="12" y="12"/>
                  </a:lnTo>
                  <a:lnTo>
                    <a:pt x="12"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30" name="Freeform 330"/>
            <p:cNvSpPr>
              <a:spLocks/>
            </p:cNvSpPr>
            <p:nvPr/>
          </p:nvSpPr>
          <p:spPr bwMode="auto">
            <a:xfrm>
              <a:off x="4542" y="2428"/>
              <a:ext cx="1" cy="12"/>
            </a:xfrm>
            <a:custGeom>
              <a:avLst/>
              <a:gdLst>
                <a:gd name="T0" fmla="*/ 12 h 12"/>
                <a:gd name="T1" fmla="*/ 12 h 12"/>
                <a:gd name="T2" fmla="*/ 0 h 12"/>
                <a:gd name="T3" fmla="*/ 12 h 12"/>
              </a:gdLst>
              <a:ahLst/>
              <a:cxnLst>
                <a:cxn ang="0">
                  <a:pos x="0" y="T0"/>
                </a:cxn>
                <a:cxn ang="0">
                  <a:pos x="0" y="T1"/>
                </a:cxn>
                <a:cxn ang="0">
                  <a:pos x="0" y="T2"/>
                </a:cxn>
                <a:cxn ang="0">
                  <a:pos x="0" y="T3"/>
                </a:cxn>
              </a:cxnLst>
              <a:rect l="0" t="0" r="r" b="b"/>
              <a:pathLst>
                <a:path h="12">
                  <a:moveTo>
                    <a:pt x="0" y="12"/>
                  </a:moveTo>
                  <a:lnTo>
                    <a:pt x="0" y="12"/>
                  </a:lnTo>
                  <a:lnTo>
                    <a:pt x="0"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31" name="Freeform 331"/>
            <p:cNvSpPr>
              <a:spLocks/>
            </p:cNvSpPr>
            <p:nvPr/>
          </p:nvSpPr>
          <p:spPr bwMode="auto">
            <a:xfrm>
              <a:off x="4554" y="2375"/>
              <a:ext cx="6" cy="35"/>
            </a:xfrm>
            <a:custGeom>
              <a:avLst/>
              <a:gdLst>
                <a:gd name="T0" fmla="*/ 6 w 6"/>
                <a:gd name="T1" fmla="*/ 0 h 35"/>
                <a:gd name="T2" fmla="*/ 0 w 6"/>
                <a:gd name="T3" fmla="*/ 11 h 35"/>
                <a:gd name="T4" fmla="*/ 0 w 6"/>
                <a:gd name="T5" fmla="*/ 23 h 35"/>
                <a:gd name="T6" fmla="*/ 6 w 6"/>
                <a:gd name="T7" fmla="*/ 29 h 35"/>
                <a:gd name="T8" fmla="*/ 6 w 6"/>
                <a:gd name="T9" fmla="*/ 35 h 35"/>
                <a:gd name="T10" fmla="*/ 6 w 6"/>
                <a:gd name="T11" fmla="*/ 0 h 35"/>
                <a:gd name="T12" fmla="*/ 6 w 6"/>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6" h="35">
                  <a:moveTo>
                    <a:pt x="6" y="0"/>
                  </a:moveTo>
                  <a:lnTo>
                    <a:pt x="0" y="11"/>
                  </a:lnTo>
                  <a:lnTo>
                    <a:pt x="0" y="23"/>
                  </a:lnTo>
                  <a:lnTo>
                    <a:pt x="6" y="29"/>
                  </a:lnTo>
                  <a:lnTo>
                    <a:pt x="6" y="35"/>
                  </a:lnTo>
                  <a:lnTo>
                    <a:pt x="6" y="0"/>
                  </a:lnTo>
                  <a:lnTo>
                    <a:pt x="6"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32" name="Freeform 332"/>
            <p:cNvSpPr>
              <a:spLocks/>
            </p:cNvSpPr>
            <p:nvPr/>
          </p:nvSpPr>
          <p:spPr bwMode="auto">
            <a:xfrm>
              <a:off x="4542" y="2369"/>
              <a:ext cx="30" cy="47"/>
            </a:xfrm>
            <a:custGeom>
              <a:avLst/>
              <a:gdLst>
                <a:gd name="T0" fmla="*/ 12 w 30"/>
                <a:gd name="T1" fmla="*/ 0 h 47"/>
                <a:gd name="T2" fmla="*/ 6 w 30"/>
                <a:gd name="T3" fmla="*/ 17 h 47"/>
                <a:gd name="T4" fmla="*/ 0 w 30"/>
                <a:gd name="T5" fmla="*/ 35 h 47"/>
                <a:gd name="T6" fmla="*/ 6 w 30"/>
                <a:gd name="T7" fmla="*/ 41 h 47"/>
                <a:gd name="T8" fmla="*/ 6 w 30"/>
                <a:gd name="T9" fmla="*/ 47 h 47"/>
                <a:gd name="T10" fmla="*/ 30 w 30"/>
                <a:gd name="T11" fmla="*/ 41 h 47"/>
                <a:gd name="T12" fmla="*/ 30 w 30"/>
                <a:gd name="T13" fmla="*/ 35 h 47"/>
                <a:gd name="T14" fmla="*/ 30 w 30"/>
                <a:gd name="T15" fmla="*/ 29 h 47"/>
                <a:gd name="T16" fmla="*/ 30 w 30"/>
                <a:gd name="T17" fmla="*/ 23 h 47"/>
                <a:gd name="T18" fmla="*/ 30 w 30"/>
                <a:gd name="T19" fmla="*/ 17 h 47"/>
                <a:gd name="T20" fmla="*/ 12 w 30"/>
                <a:gd name="T21"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47">
                  <a:moveTo>
                    <a:pt x="12" y="0"/>
                  </a:moveTo>
                  <a:lnTo>
                    <a:pt x="6" y="17"/>
                  </a:lnTo>
                  <a:lnTo>
                    <a:pt x="0" y="35"/>
                  </a:lnTo>
                  <a:lnTo>
                    <a:pt x="6" y="41"/>
                  </a:lnTo>
                  <a:lnTo>
                    <a:pt x="6" y="47"/>
                  </a:lnTo>
                  <a:lnTo>
                    <a:pt x="30" y="41"/>
                  </a:lnTo>
                  <a:lnTo>
                    <a:pt x="30" y="35"/>
                  </a:lnTo>
                  <a:lnTo>
                    <a:pt x="30" y="29"/>
                  </a:lnTo>
                  <a:lnTo>
                    <a:pt x="30" y="23"/>
                  </a:lnTo>
                  <a:lnTo>
                    <a:pt x="30" y="17"/>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33" name="Freeform 333"/>
            <p:cNvSpPr>
              <a:spLocks noEditPoints="1"/>
            </p:cNvSpPr>
            <p:nvPr/>
          </p:nvSpPr>
          <p:spPr bwMode="auto">
            <a:xfrm>
              <a:off x="4548" y="2375"/>
              <a:ext cx="24" cy="41"/>
            </a:xfrm>
            <a:custGeom>
              <a:avLst/>
              <a:gdLst>
                <a:gd name="T0" fmla="*/ 24 w 24"/>
                <a:gd name="T1" fmla="*/ 41 h 41"/>
                <a:gd name="T2" fmla="*/ 24 w 24"/>
                <a:gd name="T3" fmla="*/ 6 h 41"/>
                <a:gd name="T4" fmla="*/ 0 w 24"/>
                <a:gd name="T5" fmla="*/ 0 h 41"/>
                <a:gd name="T6" fmla="*/ 0 w 24"/>
                <a:gd name="T7" fmla="*/ 35 h 41"/>
                <a:gd name="T8" fmla="*/ 24 w 24"/>
                <a:gd name="T9" fmla="*/ 41 h 41"/>
                <a:gd name="T10" fmla="*/ 0 w 24"/>
                <a:gd name="T11" fmla="*/ 41 h 41"/>
                <a:gd name="T12" fmla="*/ 24 w 24"/>
                <a:gd name="T13" fmla="*/ 41 h 41"/>
                <a:gd name="T14" fmla="*/ 0 w 24"/>
                <a:gd name="T15" fmla="*/ 35 h 41"/>
                <a:gd name="T16" fmla="*/ 24 w 24"/>
                <a:gd name="T17" fmla="*/ 35 h 41"/>
                <a:gd name="T18" fmla="*/ 0 w 24"/>
                <a:gd name="T19"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41">
                  <a:moveTo>
                    <a:pt x="24" y="41"/>
                  </a:moveTo>
                  <a:lnTo>
                    <a:pt x="24" y="6"/>
                  </a:lnTo>
                  <a:lnTo>
                    <a:pt x="0" y="0"/>
                  </a:lnTo>
                  <a:lnTo>
                    <a:pt x="0" y="35"/>
                  </a:lnTo>
                  <a:lnTo>
                    <a:pt x="24" y="41"/>
                  </a:lnTo>
                  <a:close/>
                  <a:moveTo>
                    <a:pt x="0" y="41"/>
                  </a:moveTo>
                  <a:lnTo>
                    <a:pt x="24" y="41"/>
                  </a:lnTo>
                  <a:lnTo>
                    <a:pt x="0" y="35"/>
                  </a:lnTo>
                  <a:lnTo>
                    <a:pt x="24" y="35"/>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34" name="Freeform 334"/>
            <p:cNvSpPr>
              <a:spLocks/>
            </p:cNvSpPr>
            <p:nvPr/>
          </p:nvSpPr>
          <p:spPr bwMode="auto">
            <a:xfrm>
              <a:off x="4554" y="2345"/>
              <a:ext cx="24" cy="36"/>
            </a:xfrm>
            <a:custGeom>
              <a:avLst/>
              <a:gdLst>
                <a:gd name="T0" fmla="*/ 18 w 24"/>
                <a:gd name="T1" fmla="*/ 36 h 36"/>
                <a:gd name="T2" fmla="*/ 24 w 24"/>
                <a:gd name="T3" fmla="*/ 0 h 36"/>
                <a:gd name="T4" fmla="*/ 0 w 24"/>
                <a:gd name="T5" fmla="*/ 24 h 36"/>
                <a:gd name="T6" fmla="*/ 6 w 24"/>
                <a:gd name="T7" fmla="*/ 30 h 36"/>
                <a:gd name="T8" fmla="*/ 18 w 24"/>
                <a:gd name="T9" fmla="*/ 36 h 36"/>
              </a:gdLst>
              <a:ahLst/>
              <a:cxnLst>
                <a:cxn ang="0">
                  <a:pos x="T0" y="T1"/>
                </a:cxn>
                <a:cxn ang="0">
                  <a:pos x="T2" y="T3"/>
                </a:cxn>
                <a:cxn ang="0">
                  <a:pos x="T4" y="T5"/>
                </a:cxn>
                <a:cxn ang="0">
                  <a:pos x="T6" y="T7"/>
                </a:cxn>
                <a:cxn ang="0">
                  <a:pos x="T8" y="T9"/>
                </a:cxn>
              </a:cxnLst>
              <a:rect l="0" t="0" r="r" b="b"/>
              <a:pathLst>
                <a:path w="24" h="36">
                  <a:moveTo>
                    <a:pt x="18" y="36"/>
                  </a:moveTo>
                  <a:lnTo>
                    <a:pt x="24" y="0"/>
                  </a:lnTo>
                  <a:lnTo>
                    <a:pt x="0" y="24"/>
                  </a:lnTo>
                  <a:lnTo>
                    <a:pt x="6" y="30"/>
                  </a:lnTo>
                  <a:lnTo>
                    <a:pt x="18"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35" name="Line 335"/>
            <p:cNvSpPr>
              <a:spLocks noChangeShapeType="1"/>
            </p:cNvSpPr>
            <p:nvPr/>
          </p:nvSpPr>
          <p:spPr bwMode="auto">
            <a:xfrm flipV="1">
              <a:off x="4554" y="2381"/>
              <a:ext cx="6" cy="23"/>
            </a:xfrm>
            <a:prstGeom prst="line">
              <a:avLst/>
            </a:prstGeom>
            <a:noFill/>
            <a:ln w="0">
              <a:solidFill>
                <a:srgbClr val="354A1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36" name="Freeform 336"/>
            <p:cNvSpPr>
              <a:spLocks/>
            </p:cNvSpPr>
            <p:nvPr/>
          </p:nvSpPr>
          <p:spPr bwMode="auto">
            <a:xfrm>
              <a:off x="4542" y="2375"/>
              <a:ext cx="30" cy="29"/>
            </a:xfrm>
            <a:custGeom>
              <a:avLst/>
              <a:gdLst>
                <a:gd name="T0" fmla="*/ 24 w 30"/>
                <a:gd name="T1" fmla="*/ 29 h 29"/>
                <a:gd name="T2" fmla="*/ 30 w 30"/>
                <a:gd name="T3" fmla="*/ 6 h 29"/>
                <a:gd name="T4" fmla="*/ 6 w 30"/>
                <a:gd name="T5" fmla="*/ 0 h 29"/>
                <a:gd name="T6" fmla="*/ 0 w 30"/>
                <a:gd name="T7" fmla="*/ 23 h 29"/>
                <a:gd name="T8" fmla="*/ 24 w 30"/>
                <a:gd name="T9" fmla="*/ 29 h 29"/>
              </a:gdLst>
              <a:ahLst/>
              <a:cxnLst>
                <a:cxn ang="0">
                  <a:pos x="T0" y="T1"/>
                </a:cxn>
                <a:cxn ang="0">
                  <a:pos x="T2" y="T3"/>
                </a:cxn>
                <a:cxn ang="0">
                  <a:pos x="T4" y="T5"/>
                </a:cxn>
                <a:cxn ang="0">
                  <a:pos x="T6" y="T7"/>
                </a:cxn>
                <a:cxn ang="0">
                  <a:pos x="T8" y="T9"/>
                </a:cxn>
              </a:cxnLst>
              <a:rect l="0" t="0" r="r" b="b"/>
              <a:pathLst>
                <a:path w="30" h="29">
                  <a:moveTo>
                    <a:pt x="24" y="29"/>
                  </a:moveTo>
                  <a:lnTo>
                    <a:pt x="30" y="6"/>
                  </a:lnTo>
                  <a:lnTo>
                    <a:pt x="6" y="0"/>
                  </a:lnTo>
                  <a:lnTo>
                    <a:pt x="0" y="23"/>
                  </a:lnTo>
                  <a:lnTo>
                    <a:pt x="2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37" name="Freeform 337"/>
            <p:cNvSpPr>
              <a:spLocks/>
            </p:cNvSpPr>
            <p:nvPr/>
          </p:nvSpPr>
          <p:spPr bwMode="auto">
            <a:xfrm>
              <a:off x="4536" y="2381"/>
              <a:ext cx="24" cy="29"/>
            </a:xfrm>
            <a:custGeom>
              <a:avLst/>
              <a:gdLst>
                <a:gd name="T0" fmla="*/ 24 w 24"/>
                <a:gd name="T1" fmla="*/ 29 h 29"/>
                <a:gd name="T2" fmla="*/ 24 w 24"/>
                <a:gd name="T3" fmla="*/ 29 h 29"/>
                <a:gd name="T4" fmla="*/ 24 w 24"/>
                <a:gd name="T5" fmla="*/ 29 h 29"/>
                <a:gd name="T6" fmla="*/ 24 w 24"/>
                <a:gd name="T7" fmla="*/ 23 h 29"/>
                <a:gd name="T8" fmla="*/ 24 w 24"/>
                <a:gd name="T9" fmla="*/ 23 h 29"/>
                <a:gd name="T10" fmla="*/ 18 w 24"/>
                <a:gd name="T11" fmla="*/ 0 h 29"/>
                <a:gd name="T12" fmla="*/ 6 w 24"/>
                <a:gd name="T13" fmla="*/ 11 h 29"/>
                <a:gd name="T14" fmla="*/ 6 w 24"/>
                <a:gd name="T15" fmla="*/ 17 h 29"/>
                <a:gd name="T16" fmla="*/ 6 w 24"/>
                <a:gd name="T17" fmla="*/ 29 h 29"/>
                <a:gd name="T18" fmla="*/ 0 w 24"/>
                <a:gd name="T19" fmla="*/ 29 h 29"/>
                <a:gd name="T20" fmla="*/ 24 w 24"/>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9">
                  <a:moveTo>
                    <a:pt x="24" y="29"/>
                  </a:moveTo>
                  <a:lnTo>
                    <a:pt x="24" y="29"/>
                  </a:lnTo>
                  <a:lnTo>
                    <a:pt x="24" y="29"/>
                  </a:lnTo>
                  <a:lnTo>
                    <a:pt x="24" y="23"/>
                  </a:lnTo>
                  <a:lnTo>
                    <a:pt x="24" y="23"/>
                  </a:lnTo>
                  <a:lnTo>
                    <a:pt x="18" y="0"/>
                  </a:lnTo>
                  <a:lnTo>
                    <a:pt x="6" y="11"/>
                  </a:lnTo>
                  <a:lnTo>
                    <a:pt x="6" y="17"/>
                  </a:lnTo>
                  <a:lnTo>
                    <a:pt x="6" y="29"/>
                  </a:lnTo>
                  <a:lnTo>
                    <a:pt x="0" y="29"/>
                  </a:lnTo>
                  <a:lnTo>
                    <a:pt x="2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38" name="Freeform 338"/>
            <p:cNvSpPr>
              <a:spLocks/>
            </p:cNvSpPr>
            <p:nvPr/>
          </p:nvSpPr>
          <p:spPr bwMode="auto">
            <a:xfrm>
              <a:off x="4536" y="2381"/>
              <a:ext cx="6" cy="29"/>
            </a:xfrm>
            <a:custGeom>
              <a:avLst/>
              <a:gdLst>
                <a:gd name="T0" fmla="*/ 0 w 6"/>
                <a:gd name="T1" fmla="*/ 0 h 29"/>
                <a:gd name="T2" fmla="*/ 6 w 6"/>
                <a:gd name="T3" fmla="*/ 11 h 29"/>
                <a:gd name="T4" fmla="*/ 6 w 6"/>
                <a:gd name="T5" fmla="*/ 17 h 29"/>
                <a:gd name="T6" fmla="*/ 0 w 6"/>
                <a:gd name="T7" fmla="*/ 29 h 29"/>
                <a:gd name="T8" fmla="*/ 0 w 6"/>
                <a:gd name="T9" fmla="*/ 29 h 29"/>
                <a:gd name="T10" fmla="*/ 0 w 6"/>
                <a:gd name="T11" fmla="*/ 0 h 29"/>
                <a:gd name="T12" fmla="*/ 0 w 6"/>
                <a:gd name="T13" fmla="*/ 0 h 29"/>
              </a:gdLst>
              <a:ahLst/>
              <a:cxnLst>
                <a:cxn ang="0">
                  <a:pos x="T0" y="T1"/>
                </a:cxn>
                <a:cxn ang="0">
                  <a:pos x="T2" y="T3"/>
                </a:cxn>
                <a:cxn ang="0">
                  <a:pos x="T4" y="T5"/>
                </a:cxn>
                <a:cxn ang="0">
                  <a:pos x="T6" y="T7"/>
                </a:cxn>
                <a:cxn ang="0">
                  <a:pos x="T8" y="T9"/>
                </a:cxn>
                <a:cxn ang="0">
                  <a:pos x="T10" y="T11"/>
                </a:cxn>
                <a:cxn ang="0">
                  <a:pos x="T12" y="T13"/>
                </a:cxn>
              </a:cxnLst>
              <a:rect l="0" t="0" r="r" b="b"/>
              <a:pathLst>
                <a:path w="6" h="29">
                  <a:moveTo>
                    <a:pt x="0" y="0"/>
                  </a:moveTo>
                  <a:lnTo>
                    <a:pt x="6" y="11"/>
                  </a:lnTo>
                  <a:lnTo>
                    <a:pt x="6" y="17"/>
                  </a:lnTo>
                  <a:lnTo>
                    <a:pt x="0" y="29"/>
                  </a:lnTo>
                  <a:lnTo>
                    <a:pt x="0" y="29"/>
                  </a:lnTo>
                  <a:lnTo>
                    <a:pt x="0" y="0"/>
                  </a:lnTo>
                  <a:lnTo>
                    <a:pt x="0"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39" name="Freeform 339"/>
            <p:cNvSpPr>
              <a:spLocks/>
            </p:cNvSpPr>
            <p:nvPr/>
          </p:nvSpPr>
          <p:spPr bwMode="auto">
            <a:xfrm>
              <a:off x="4530" y="2369"/>
              <a:ext cx="24" cy="47"/>
            </a:xfrm>
            <a:custGeom>
              <a:avLst/>
              <a:gdLst>
                <a:gd name="T0" fmla="*/ 0 w 24"/>
                <a:gd name="T1" fmla="*/ 17 h 47"/>
                <a:gd name="T2" fmla="*/ 0 w 24"/>
                <a:gd name="T3" fmla="*/ 23 h 47"/>
                <a:gd name="T4" fmla="*/ 0 w 24"/>
                <a:gd name="T5" fmla="*/ 29 h 47"/>
                <a:gd name="T6" fmla="*/ 0 w 24"/>
                <a:gd name="T7" fmla="*/ 35 h 47"/>
                <a:gd name="T8" fmla="*/ 0 w 24"/>
                <a:gd name="T9" fmla="*/ 41 h 47"/>
                <a:gd name="T10" fmla="*/ 18 w 24"/>
                <a:gd name="T11" fmla="*/ 47 h 47"/>
                <a:gd name="T12" fmla="*/ 18 w 24"/>
                <a:gd name="T13" fmla="*/ 41 h 47"/>
                <a:gd name="T14" fmla="*/ 24 w 24"/>
                <a:gd name="T15" fmla="*/ 35 h 47"/>
                <a:gd name="T16" fmla="*/ 18 w 24"/>
                <a:gd name="T17" fmla="*/ 17 h 47"/>
                <a:gd name="T18" fmla="*/ 12 w 24"/>
                <a:gd name="T19" fmla="*/ 0 h 47"/>
                <a:gd name="T20" fmla="*/ 0 w 24"/>
                <a:gd name="T21" fmla="*/ 1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47">
                  <a:moveTo>
                    <a:pt x="0" y="17"/>
                  </a:moveTo>
                  <a:lnTo>
                    <a:pt x="0" y="23"/>
                  </a:lnTo>
                  <a:lnTo>
                    <a:pt x="0" y="29"/>
                  </a:lnTo>
                  <a:lnTo>
                    <a:pt x="0" y="35"/>
                  </a:lnTo>
                  <a:lnTo>
                    <a:pt x="0" y="41"/>
                  </a:lnTo>
                  <a:lnTo>
                    <a:pt x="18" y="47"/>
                  </a:lnTo>
                  <a:lnTo>
                    <a:pt x="18" y="41"/>
                  </a:lnTo>
                  <a:lnTo>
                    <a:pt x="24" y="35"/>
                  </a:lnTo>
                  <a:lnTo>
                    <a:pt x="18" y="17"/>
                  </a:lnTo>
                  <a:lnTo>
                    <a:pt x="12" y="0"/>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40" name="Freeform 340"/>
            <p:cNvSpPr>
              <a:spLocks noEditPoints="1"/>
            </p:cNvSpPr>
            <p:nvPr/>
          </p:nvSpPr>
          <p:spPr bwMode="auto">
            <a:xfrm>
              <a:off x="4524" y="2375"/>
              <a:ext cx="24" cy="41"/>
            </a:xfrm>
            <a:custGeom>
              <a:avLst/>
              <a:gdLst>
                <a:gd name="T0" fmla="*/ 24 w 24"/>
                <a:gd name="T1" fmla="*/ 35 h 41"/>
                <a:gd name="T2" fmla="*/ 24 w 24"/>
                <a:gd name="T3" fmla="*/ 0 h 41"/>
                <a:gd name="T4" fmla="*/ 0 w 24"/>
                <a:gd name="T5" fmla="*/ 6 h 41"/>
                <a:gd name="T6" fmla="*/ 0 w 24"/>
                <a:gd name="T7" fmla="*/ 41 h 41"/>
                <a:gd name="T8" fmla="*/ 24 w 24"/>
                <a:gd name="T9" fmla="*/ 35 h 41"/>
                <a:gd name="T10" fmla="*/ 6 w 24"/>
                <a:gd name="T11" fmla="*/ 35 h 41"/>
                <a:gd name="T12" fmla="*/ 24 w 24"/>
                <a:gd name="T13" fmla="*/ 35 h 41"/>
                <a:gd name="T14" fmla="*/ 0 w 24"/>
                <a:gd name="T15" fmla="*/ 41 h 41"/>
                <a:gd name="T16" fmla="*/ 24 w 24"/>
                <a:gd name="T17" fmla="*/ 41 h 41"/>
                <a:gd name="T18" fmla="*/ 6 w 24"/>
                <a:gd name="T19" fmla="*/ 3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41">
                  <a:moveTo>
                    <a:pt x="24" y="35"/>
                  </a:moveTo>
                  <a:lnTo>
                    <a:pt x="24" y="0"/>
                  </a:lnTo>
                  <a:lnTo>
                    <a:pt x="0" y="6"/>
                  </a:lnTo>
                  <a:lnTo>
                    <a:pt x="0" y="41"/>
                  </a:lnTo>
                  <a:lnTo>
                    <a:pt x="24" y="35"/>
                  </a:lnTo>
                  <a:close/>
                  <a:moveTo>
                    <a:pt x="6" y="35"/>
                  </a:moveTo>
                  <a:lnTo>
                    <a:pt x="24" y="35"/>
                  </a:lnTo>
                  <a:lnTo>
                    <a:pt x="0" y="41"/>
                  </a:lnTo>
                  <a:lnTo>
                    <a:pt x="24" y="41"/>
                  </a:lnTo>
                  <a:lnTo>
                    <a:pt x="6"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41" name="Freeform 341"/>
            <p:cNvSpPr>
              <a:spLocks/>
            </p:cNvSpPr>
            <p:nvPr/>
          </p:nvSpPr>
          <p:spPr bwMode="auto">
            <a:xfrm>
              <a:off x="4518" y="2345"/>
              <a:ext cx="24" cy="36"/>
            </a:xfrm>
            <a:custGeom>
              <a:avLst/>
              <a:gdLst>
                <a:gd name="T0" fmla="*/ 24 w 24"/>
                <a:gd name="T1" fmla="*/ 24 h 36"/>
                <a:gd name="T2" fmla="*/ 0 w 24"/>
                <a:gd name="T3" fmla="*/ 0 h 36"/>
                <a:gd name="T4" fmla="*/ 6 w 24"/>
                <a:gd name="T5" fmla="*/ 36 h 36"/>
                <a:gd name="T6" fmla="*/ 18 w 24"/>
                <a:gd name="T7" fmla="*/ 36 h 36"/>
                <a:gd name="T8" fmla="*/ 24 w 24"/>
                <a:gd name="T9" fmla="*/ 24 h 36"/>
              </a:gdLst>
              <a:ahLst/>
              <a:cxnLst>
                <a:cxn ang="0">
                  <a:pos x="T0" y="T1"/>
                </a:cxn>
                <a:cxn ang="0">
                  <a:pos x="T2" y="T3"/>
                </a:cxn>
                <a:cxn ang="0">
                  <a:pos x="T4" y="T5"/>
                </a:cxn>
                <a:cxn ang="0">
                  <a:pos x="T6" y="T7"/>
                </a:cxn>
                <a:cxn ang="0">
                  <a:pos x="T8" y="T9"/>
                </a:cxn>
              </a:cxnLst>
              <a:rect l="0" t="0" r="r" b="b"/>
              <a:pathLst>
                <a:path w="24" h="36">
                  <a:moveTo>
                    <a:pt x="24" y="24"/>
                  </a:moveTo>
                  <a:lnTo>
                    <a:pt x="0" y="0"/>
                  </a:lnTo>
                  <a:lnTo>
                    <a:pt x="6" y="36"/>
                  </a:lnTo>
                  <a:lnTo>
                    <a:pt x="18" y="36"/>
                  </a:lnTo>
                  <a:lnTo>
                    <a:pt x="24"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42" name="Line 342"/>
            <p:cNvSpPr>
              <a:spLocks noChangeShapeType="1"/>
            </p:cNvSpPr>
            <p:nvPr/>
          </p:nvSpPr>
          <p:spPr bwMode="auto">
            <a:xfrm flipH="1" flipV="1">
              <a:off x="4536" y="2381"/>
              <a:ext cx="6" cy="23"/>
            </a:xfrm>
            <a:prstGeom prst="line">
              <a:avLst/>
            </a:prstGeom>
            <a:noFill/>
            <a:ln w="0">
              <a:solidFill>
                <a:srgbClr val="354A1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43" name="Freeform 343"/>
            <p:cNvSpPr>
              <a:spLocks/>
            </p:cNvSpPr>
            <p:nvPr/>
          </p:nvSpPr>
          <p:spPr bwMode="auto">
            <a:xfrm>
              <a:off x="4524" y="2375"/>
              <a:ext cx="30" cy="29"/>
            </a:xfrm>
            <a:custGeom>
              <a:avLst/>
              <a:gdLst>
                <a:gd name="T0" fmla="*/ 30 w 30"/>
                <a:gd name="T1" fmla="*/ 23 h 29"/>
                <a:gd name="T2" fmla="*/ 24 w 30"/>
                <a:gd name="T3" fmla="*/ 0 h 29"/>
                <a:gd name="T4" fmla="*/ 0 w 30"/>
                <a:gd name="T5" fmla="*/ 6 h 29"/>
                <a:gd name="T6" fmla="*/ 6 w 30"/>
                <a:gd name="T7" fmla="*/ 29 h 29"/>
                <a:gd name="T8" fmla="*/ 30 w 30"/>
                <a:gd name="T9" fmla="*/ 23 h 29"/>
              </a:gdLst>
              <a:ahLst/>
              <a:cxnLst>
                <a:cxn ang="0">
                  <a:pos x="T0" y="T1"/>
                </a:cxn>
                <a:cxn ang="0">
                  <a:pos x="T2" y="T3"/>
                </a:cxn>
                <a:cxn ang="0">
                  <a:pos x="T4" y="T5"/>
                </a:cxn>
                <a:cxn ang="0">
                  <a:pos x="T6" y="T7"/>
                </a:cxn>
                <a:cxn ang="0">
                  <a:pos x="T8" y="T9"/>
                </a:cxn>
              </a:cxnLst>
              <a:rect l="0" t="0" r="r" b="b"/>
              <a:pathLst>
                <a:path w="30" h="29">
                  <a:moveTo>
                    <a:pt x="30" y="23"/>
                  </a:moveTo>
                  <a:lnTo>
                    <a:pt x="24" y="0"/>
                  </a:lnTo>
                  <a:lnTo>
                    <a:pt x="0" y="6"/>
                  </a:lnTo>
                  <a:lnTo>
                    <a:pt x="6" y="29"/>
                  </a:lnTo>
                  <a:lnTo>
                    <a:pt x="3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44" name="Freeform 344"/>
            <p:cNvSpPr>
              <a:spLocks/>
            </p:cNvSpPr>
            <p:nvPr/>
          </p:nvSpPr>
          <p:spPr bwMode="auto">
            <a:xfrm>
              <a:off x="4536" y="2381"/>
              <a:ext cx="24" cy="29"/>
            </a:xfrm>
            <a:custGeom>
              <a:avLst/>
              <a:gdLst>
                <a:gd name="T0" fmla="*/ 24 w 24"/>
                <a:gd name="T1" fmla="*/ 29 h 29"/>
                <a:gd name="T2" fmla="*/ 24 w 24"/>
                <a:gd name="T3" fmla="*/ 29 h 29"/>
                <a:gd name="T4" fmla="*/ 24 w 24"/>
                <a:gd name="T5" fmla="*/ 17 h 29"/>
                <a:gd name="T6" fmla="*/ 24 w 24"/>
                <a:gd name="T7" fmla="*/ 11 h 29"/>
                <a:gd name="T8" fmla="*/ 12 w 24"/>
                <a:gd name="T9" fmla="*/ 0 h 29"/>
                <a:gd name="T10" fmla="*/ 0 w 24"/>
                <a:gd name="T11" fmla="*/ 23 h 29"/>
                <a:gd name="T12" fmla="*/ 0 w 24"/>
                <a:gd name="T13" fmla="*/ 23 h 29"/>
                <a:gd name="T14" fmla="*/ 0 w 24"/>
                <a:gd name="T15" fmla="*/ 29 h 29"/>
                <a:gd name="T16" fmla="*/ 0 w 24"/>
                <a:gd name="T17" fmla="*/ 29 h 29"/>
                <a:gd name="T18" fmla="*/ 0 w 24"/>
                <a:gd name="T19" fmla="*/ 29 h 29"/>
                <a:gd name="T20" fmla="*/ 24 w 24"/>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9">
                  <a:moveTo>
                    <a:pt x="24" y="29"/>
                  </a:moveTo>
                  <a:lnTo>
                    <a:pt x="24" y="29"/>
                  </a:lnTo>
                  <a:lnTo>
                    <a:pt x="24" y="17"/>
                  </a:lnTo>
                  <a:lnTo>
                    <a:pt x="24" y="11"/>
                  </a:lnTo>
                  <a:lnTo>
                    <a:pt x="12" y="0"/>
                  </a:lnTo>
                  <a:lnTo>
                    <a:pt x="0" y="23"/>
                  </a:lnTo>
                  <a:lnTo>
                    <a:pt x="0" y="23"/>
                  </a:lnTo>
                  <a:lnTo>
                    <a:pt x="0" y="29"/>
                  </a:lnTo>
                  <a:lnTo>
                    <a:pt x="0" y="29"/>
                  </a:lnTo>
                  <a:lnTo>
                    <a:pt x="0" y="29"/>
                  </a:lnTo>
                  <a:lnTo>
                    <a:pt x="2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45" name="Freeform 345"/>
            <p:cNvSpPr>
              <a:spLocks/>
            </p:cNvSpPr>
            <p:nvPr/>
          </p:nvSpPr>
          <p:spPr bwMode="auto">
            <a:xfrm>
              <a:off x="4536" y="2381"/>
              <a:ext cx="30" cy="23"/>
            </a:xfrm>
            <a:custGeom>
              <a:avLst/>
              <a:gdLst>
                <a:gd name="T0" fmla="*/ 30 w 30"/>
                <a:gd name="T1" fmla="*/ 5 h 23"/>
                <a:gd name="T2" fmla="*/ 30 w 30"/>
                <a:gd name="T3" fmla="*/ 5 h 23"/>
                <a:gd name="T4" fmla="*/ 18 w 30"/>
                <a:gd name="T5" fmla="*/ 0 h 23"/>
                <a:gd name="T6" fmla="*/ 12 w 30"/>
                <a:gd name="T7" fmla="*/ 0 h 23"/>
                <a:gd name="T8" fmla="*/ 0 w 30"/>
                <a:gd name="T9" fmla="*/ 5 h 23"/>
                <a:gd name="T10" fmla="*/ 18 w 30"/>
                <a:gd name="T11" fmla="*/ 23 h 23"/>
                <a:gd name="T12" fmla="*/ 12 w 30"/>
                <a:gd name="T13" fmla="*/ 23 h 23"/>
                <a:gd name="T14" fmla="*/ 6 w 30"/>
                <a:gd name="T15" fmla="*/ 23 h 23"/>
                <a:gd name="T16" fmla="*/ 30 w 30"/>
                <a:gd name="T17" fmla="*/ 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3">
                  <a:moveTo>
                    <a:pt x="30" y="5"/>
                  </a:moveTo>
                  <a:lnTo>
                    <a:pt x="30" y="5"/>
                  </a:lnTo>
                  <a:lnTo>
                    <a:pt x="18" y="0"/>
                  </a:lnTo>
                  <a:lnTo>
                    <a:pt x="12" y="0"/>
                  </a:lnTo>
                  <a:lnTo>
                    <a:pt x="0" y="5"/>
                  </a:lnTo>
                  <a:lnTo>
                    <a:pt x="18" y="23"/>
                  </a:lnTo>
                  <a:lnTo>
                    <a:pt x="12" y="23"/>
                  </a:lnTo>
                  <a:lnTo>
                    <a:pt x="6" y="23"/>
                  </a:lnTo>
                  <a:lnTo>
                    <a:pt x="3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46" name="Freeform 346"/>
            <p:cNvSpPr>
              <a:spLocks/>
            </p:cNvSpPr>
            <p:nvPr/>
          </p:nvSpPr>
          <p:spPr bwMode="auto">
            <a:xfrm>
              <a:off x="4536" y="2369"/>
              <a:ext cx="30" cy="29"/>
            </a:xfrm>
            <a:custGeom>
              <a:avLst/>
              <a:gdLst>
                <a:gd name="T0" fmla="*/ 30 w 30"/>
                <a:gd name="T1" fmla="*/ 6 h 29"/>
                <a:gd name="T2" fmla="*/ 30 w 30"/>
                <a:gd name="T3" fmla="*/ 6 h 29"/>
                <a:gd name="T4" fmla="*/ 18 w 30"/>
                <a:gd name="T5" fmla="*/ 0 h 29"/>
                <a:gd name="T6" fmla="*/ 12 w 30"/>
                <a:gd name="T7" fmla="*/ 0 h 29"/>
                <a:gd name="T8" fmla="*/ 0 w 30"/>
                <a:gd name="T9" fmla="*/ 6 h 29"/>
                <a:gd name="T10" fmla="*/ 12 w 30"/>
                <a:gd name="T11" fmla="*/ 29 h 29"/>
                <a:gd name="T12" fmla="*/ 12 w 30"/>
                <a:gd name="T13" fmla="*/ 29 h 29"/>
                <a:gd name="T14" fmla="*/ 12 w 30"/>
                <a:gd name="T15" fmla="*/ 23 h 29"/>
                <a:gd name="T16" fmla="*/ 30 w 30"/>
                <a:gd name="T1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9">
                  <a:moveTo>
                    <a:pt x="30" y="6"/>
                  </a:moveTo>
                  <a:lnTo>
                    <a:pt x="30" y="6"/>
                  </a:lnTo>
                  <a:lnTo>
                    <a:pt x="18" y="0"/>
                  </a:lnTo>
                  <a:lnTo>
                    <a:pt x="12" y="0"/>
                  </a:lnTo>
                  <a:lnTo>
                    <a:pt x="0" y="6"/>
                  </a:lnTo>
                  <a:lnTo>
                    <a:pt x="12" y="29"/>
                  </a:lnTo>
                  <a:lnTo>
                    <a:pt x="12" y="29"/>
                  </a:lnTo>
                  <a:lnTo>
                    <a:pt x="12" y="23"/>
                  </a:lnTo>
                  <a:lnTo>
                    <a:pt x="3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47" name="Freeform 347"/>
            <p:cNvSpPr>
              <a:spLocks/>
            </p:cNvSpPr>
            <p:nvPr/>
          </p:nvSpPr>
          <p:spPr bwMode="auto">
            <a:xfrm>
              <a:off x="4536" y="2369"/>
              <a:ext cx="30" cy="23"/>
            </a:xfrm>
            <a:custGeom>
              <a:avLst/>
              <a:gdLst>
                <a:gd name="T0" fmla="*/ 30 w 30"/>
                <a:gd name="T1" fmla="*/ 0 h 23"/>
                <a:gd name="T2" fmla="*/ 30 w 30"/>
                <a:gd name="T3" fmla="*/ 0 h 23"/>
                <a:gd name="T4" fmla="*/ 18 w 30"/>
                <a:gd name="T5" fmla="*/ 0 h 23"/>
                <a:gd name="T6" fmla="*/ 0 w 30"/>
                <a:gd name="T7" fmla="*/ 0 h 23"/>
                <a:gd name="T8" fmla="*/ 6 w 30"/>
                <a:gd name="T9" fmla="*/ 23 h 23"/>
                <a:gd name="T10" fmla="*/ 12 w 30"/>
                <a:gd name="T11" fmla="*/ 23 h 23"/>
                <a:gd name="T12" fmla="*/ 18 w 30"/>
                <a:gd name="T13" fmla="*/ 23 h 23"/>
                <a:gd name="T14" fmla="*/ 30 w 30"/>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3">
                  <a:moveTo>
                    <a:pt x="30" y="0"/>
                  </a:moveTo>
                  <a:lnTo>
                    <a:pt x="30" y="0"/>
                  </a:lnTo>
                  <a:lnTo>
                    <a:pt x="18" y="0"/>
                  </a:lnTo>
                  <a:lnTo>
                    <a:pt x="0" y="0"/>
                  </a:lnTo>
                  <a:lnTo>
                    <a:pt x="6" y="23"/>
                  </a:lnTo>
                  <a:lnTo>
                    <a:pt x="12" y="23"/>
                  </a:lnTo>
                  <a:lnTo>
                    <a:pt x="18" y="23"/>
                  </a:lnTo>
                  <a:lnTo>
                    <a:pt x="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48" name="Freeform 348"/>
            <p:cNvSpPr>
              <a:spLocks/>
            </p:cNvSpPr>
            <p:nvPr/>
          </p:nvSpPr>
          <p:spPr bwMode="auto">
            <a:xfrm>
              <a:off x="4530" y="2363"/>
              <a:ext cx="36" cy="23"/>
            </a:xfrm>
            <a:custGeom>
              <a:avLst/>
              <a:gdLst>
                <a:gd name="T0" fmla="*/ 36 w 36"/>
                <a:gd name="T1" fmla="*/ 6 h 23"/>
                <a:gd name="T2" fmla="*/ 36 w 36"/>
                <a:gd name="T3" fmla="*/ 6 h 23"/>
                <a:gd name="T4" fmla="*/ 24 w 36"/>
                <a:gd name="T5" fmla="*/ 0 h 23"/>
                <a:gd name="T6" fmla="*/ 12 w 36"/>
                <a:gd name="T7" fmla="*/ 0 h 23"/>
                <a:gd name="T8" fmla="*/ 0 w 36"/>
                <a:gd name="T9" fmla="*/ 6 h 23"/>
                <a:gd name="T10" fmla="*/ 12 w 36"/>
                <a:gd name="T11" fmla="*/ 23 h 23"/>
                <a:gd name="T12" fmla="*/ 18 w 36"/>
                <a:gd name="T13" fmla="*/ 23 h 23"/>
                <a:gd name="T14" fmla="*/ 24 w 36"/>
                <a:gd name="T15" fmla="*/ 23 h 23"/>
                <a:gd name="T16" fmla="*/ 36 w 36"/>
                <a:gd name="T17"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3">
                  <a:moveTo>
                    <a:pt x="36" y="6"/>
                  </a:moveTo>
                  <a:lnTo>
                    <a:pt x="36" y="6"/>
                  </a:lnTo>
                  <a:lnTo>
                    <a:pt x="24" y="0"/>
                  </a:lnTo>
                  <a:lnTo>
                    <a:pt x="12" y="0"/>
                  </a:lnTo>
                  <a:lnTo>
                    <a:pt x="0" y="6"/>
                  </a:lnTo>
                  <a:lnTo>
                    <a:pt x="12" y="23"/>
                  </a:lnTo>
                  <a:lnTo>
                    <a:pt x="18" y="23"/>
                  </a:lnTo>
                  <a:lnTo>
                    <a:pt x="24" y="23"/>
                  </a:lnTo>
                  <a:lnTo>
                    <a:pt x="3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49" name="Freeform 349"/>
            <p:cNvSpPr>
              <a:spLocks/>
            </p:cNvSpPr>
            <p:nvPr/>
          </p:nvSpPr>
          <p:spPr bwMode="auto">
            <a:xfrm>
              <a:off x="4530" y="2363"/>
              <a:ext cx="36" cy="23"/>
            </a:xfrm>
            <a:custGeom>
              <a:avLst/>
              <a:gdLst>
                <a:gd name="T0" fmla="*/ 36 w 36"/>
                <a:gd name="T1" fmla="*/ 0 h 23"/>
                <a:gd name="T2" fmla="*/ 30 w 36"/>
                <a:gd name="T3" fmla="*/ 0 h 23"/>
                <a:gd name="T4" fmla="*/ 0 w 36"/>
                <a:gd name="T5" fmla="*/ 0 h 23"/>
                <a:gd name="T6" fmla="*/ 12 w 36"/>
                <a:gd name="T7" fmla="*/ 23 h 23"/>
                <a:gd name="T8" fmla="*/ 24 w 36"/>
                <a:gd name="T9" fmla="*/ 23 h 23"/>
                <a:gd name="T10" fmla="*/ 24 w 36"/>
                <a:gd name="T11" fmla="*/ 23 h 23"/>
                <a:gd name="T12" fmla="*/ 24 w 36"/>
                <a:gd name="T13" fmla="*/ 23 h 23"/>
                <a:gd name="T14" fmla="*/ 36 w 36"/>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3">
                  <a:moveTo>
                    <a:pt x="36" y="0"/>
                  </a:moveTo>
                  <a:lnTo>
                    <a:pt x="30" y="0"/>
                  </a:lnTo>
                  <a:lnTo>
                    <a:pt x="0" y="0"/>
                  </a:lnTo>
                  <a:lnTo>
                    <a:pt x="12" y="23"/>
                  </a:lnTo>
                  <a:lnTo>
                    <a:pt x="24" y="23"/>
                  </a:lnTo>
                  <a:lnTo>
                    <a:pt x="24" y="23"/>
                  </a:lnTo>
                  <a:lnTo>
                    <a:pt x="24" y="23"/>
                  </a:lnTo>
                  <a:lnTo>
                    <a:pt x="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50" name="Freeform 350"/>
            <p:cNvSpPr>
              <a:spLocks/>
            </p:cNvSpPr>
            <p:nvPr/>
          </p:nvSpPr>
          <p:spPr bwMode="auto">
            <a:xfrm>
              <a:off x="4536" y="2357"/>
              <a:ext cx="30" cy="24"/>
            </a:xfrm>
            <a:custGeom>
              <a:avLst/>
              <a:gdLst>
                <a:gd name="T0" fmla="*/ 30 w 30"/>
                <a:gd name="T1" fmla="*/ 0 h 24"/>
                <a:gd name="T2" fmla="*/ 30 w 30"/>
                <a:gd name="T3" fmla="*/ 0 h 24"/>
                <a:gd name="T4" fmla="*/ 18 w 30"/>
                <a:gd name="T5" fmla="*/ 0 h 24"/>
                <a:gd name="T6" fmla="*/ 0 w 30"/>
                <a:gd name="T7" fmla="*/ 0 h 24"/>
                <a:gd name="T8" fmla="*/ 6 w 30"/>
                <a:gd name="T9" fmla="*/ 24 h 24"/>
                <a:gd name="T10" fmla="*/ 18 w 30"/>
                <a:gd name="T11" fmla="*/ 24 h 24"/>
                <a:gd name="T12" fmla="*/ 18 w 30"/>
                <a:gd name="T13" fmla="*/ 24 h 24"/>
                <a:gd name="T14" fmla="*/ 18 w 30"/>
                <a:gd name="T15" fmla="*/ 24 h 24"/>
                <a:gd name="T16" fmla="*/ 30 w 30"/>
                <a:gd name="T1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4">
                  <a:moveTo>
                    <a:pt x="30" y="0"/>
                  </a:moveTo>
                  <a:lnTo>
                    <a:pt x="30" y="0"/>
                  </a:lnTo>
                  <a:lnTo>
                    <a:pt x="18" y="0"/>
                  </a:lnTo>
                  <a:lnTo>
                    <a:pt x="0" y="0"/>
                  </a:lnTo>
                  <a:lnTo>
                    <a:pt x="6" y="24"/>
                  </a:lnTo>
                  <a:lnTo>
                    <a:pt x="18" y="24"/>
                  </a:lnTo>
                  <a:lnTo>
                    <a:pt x="18" y="24"/>
                  </a:lnTo>
                  <a:lnTo>
                    <a:pt x="18" y="24"/>
                  </a:lnTo>
                  <a:lnTo>
                    <a:pt x="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51" name="Freeform 351"/>
            <p:cNvSpPr>
              <a:spLocks/>
            </p:cNvSpPr>
            <p:nvPr/>
          </p:nvSpPr>
          <p:spPr bwMode="auto">
            <a:xfrm>
              <a:off x="4536" y="2351"/>
              <a:ext cx="24" cy="24"/>
            </a:xfrm>
            <a:custGeom>
              <a:avLst/>
              <a:gdLst>
                <a:gd name="T0" fmla="*/ 24 w 24"/>
                <a:gd name="T1" fmla="*/ 0 h 24"/>
                <a:gd name="T2" fmla="*/ 18 w 24"/>
                <a:gd name="T3" fmla="*/ 0 h 24"/>
                <a:gd name="T4" fmla="*/ 0 w 24"/>
                <a:gd name="T5" fmla="*/ 0 h 24"/>
                <a:gd name="T6" fmla="*/ 6 w 24"/>
                <a:gd name="T7" fmla="*/ 24 h 24"/>
                <a:gd name="T8" fmla="*/ 12 w 24"/>
                <a:gd name="T9" fmla="*/ 24 h 24"/>
                <a:gd name="T10" fmla="*/ 18 w 24"/>
                <a:gd name="T11" fmla="*/ 24 h 24"/>
                <a:gd name="T12" fmla="*/ 24 w 24"/>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4" h="24">
                  <a:moveTo>
                    <a:pt x="24" y="0"/>
                  </a:moveTo>
                  <a:lnTo>
                    <a:pt x="18" y="0"/>
                  </a:lnTo>
                  <a:lnTo>
                    <a:pt x="0" y="0"/>
                  </a:lnTo>
                  <a:lnTo>
                    <a:pt x="6" y="24"/>
                  </a:lnTo>
                  <a:lnTo>
                    <a:pt x="12" y="24"/>
                  </a:lnTo>
                  <a:lnTo>
                    <a:pt x="18" y="24"/>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52" name="Freeform 352"/>
            <p:cNvSpPr>
              <a:spLocks/>
            </p:cNvSpPr>
            <p:nvPr/>
          </p:nvSpPr>
          <p:spPr bwMode="auto">
            <a:xfrm>
              <a:off x="4542" y="2345"/>
              <a:ext cx="18" cy="24"/>
            </a:xfrm>
            <a:custGeom>
              <a:avLst/>
              <a:gdLst>
                <a:gd name="T0" fmla="*/ 18 w 18"/>
                <a:gd name="T1" fmla="*/ 0 h 24"/>
                <a:gd name="T2" fmla="*/ 12 w 18"/>
                <a:gd name="T3" fmla="*/ 0 h 24"/>
                <a:gd name="T4" fmla="*/ 0 w 18"/>
                <a:gd name="T5" fmla="*/ 0 h 24"/>
                <a:gd name="T6" fmla="*/ 6 w 18"/>
                <a:gd name="T7" fmla="*/ 24 h 24"/>
                <a:gd name="T8" fmla="*/ 12 w 18"/>
                <a:gd name="T9" fmla="*/ 24 h 24"/>
                <a:gd name="T10" fmla="*/ 12 w 18"/>
                <a:gd name="T11" fmla="*/ 24 h 24"/>
                <a:gd name="T12" fmla="*/ 18 w 18"/>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18" h="24">
                  <a:moveTo>
                    <a:pt x="18" y="0"/>
                  </a:moveTo>
                  <a:lnTo>
                    <a:pt x="12" y="0"/>
                  </a:lnTo>
                  <a:lnTo>
                    <a:pt x="0" y="0"/>
                  </a:lnTo>
                  <a:lnTo>
                    <a:pt x="6" y="24"/>
                  </a:lnTo>
                  <a:lnTo>
                    <a:pt x="12" y="24"/>
                  </a:lnTo>
                  <a:lnTo>
                    <a:pt x="12" y="24"/>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53" name="Freeform 353"/>
            <p:cNvSpPr>
              <a:spLocks/>
            </p:cNvSpPr>
            <p:nvPr/>
          </p:nvSpPr>
          <p:spPr bwMode="auto">
            <a:xfrm>
              <a:off x="4542" y="2434"/>
              <a:ext cx="18" cy="6"/>
            </a:xfrm>
            <a:custGeom>
              <a:avLst/>
              <a:gdLst>
                <a:gd name="T0" fmla="*/ 0 w 18"/>
                <a:gd name="T1" fmla="*/ 0 h 6"/>
                <a:gd name="T2" fmla="*/ 0 w 18"/>
                <a:gd name="T3" fmla="*/ 6 h 6"/>
                <a:gd name="T4" fmla="*/ 0 w 18"/>
                <a:gd name="T5" fmla="*/ 6 h 6"/>
                <a:gd name="T6" fmla="*/ 6 w 18"/>
                <a:gd name="T7" fmla="*/ 6 h 6"/>
                <a:gd name="T8" fmla="*/ 6 w 18"/>
                <a:gd name="T9" fmla="*/ 6 h 6"/>
                <a:gd name="T10" fmla="*/ 6 w 18"/>
                <a:gd name="T11" fmla="*/ 6 h 6"/>
                <a:gd name="T12" fmla="*/ 6 w 18"/>
                <a:gd name="T13" fmla="*/ 6 h 6"/>
                <a:gd name="T14" fmla="*/ 12 w 18"/>
                <a:gd name="T15" fmla="*/ 6 h 6"/>
                <a:gd name="T16" fmla="*/ 12 w 18"/>
                <a:gd name="T17" fmla="*/ 6 h 6"/>
                <a:gd name="T18" fmla="*/ 18 w 18"/>
                <a:gd name="T19" fmla="*/ 6 h 6"/>
                <a:gd name="T20" fmla="*/ 18 w 18"/>
                <a:gd name="T21" fmla="*/ 6 h 6"/>
                <a:gd name="T22" fmla="*/ 6 w 18"/>
                <a:gd name="T23" fmla="*/ 6 h 6"/>
                <a:gd name="T24" fmla="*/ 6 w 18"/>
                <a:gd name="T25" fmla="*/ 0 h 6"/>
                <a:gd name="T26" fmla="*/ 0 w 18"/>
                <a:gd name="T27" fmla="*/ 0 h 6"/>
                <a:gd name="T28" fmla="*/ 0 w 18"/>
                <a:gd name="T2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6">
                  <a:moveTo>
                    <a:pt x="0" y="0"/>
                  </a:moveTo>
                  <a:lnTo>
                    <a:pt x="0" y="6"/>
                  </a:lnTo>
                  <a:lnTo>
                    <a:pt x="0" y="6"/>
                  </a:lnTo>
                  <a:lnTo>
                    <a:pt x="6" y="6"/>
                  </a:lnTo>
                  <a:lnTo>
                    <a:pt x="6" y="6"/>
                  </a:lnTo>
                  <a:lnTo>
                    <a:pt x="6" y="6"/>
                  </a:lnTo>
                  <a:lnTo>
                    <a:pt x="6" y="6"/>
                  </a:lnTo>
                  <a:lnTo>
                    <a:pt x="12" y="6"/>
                  </a:lnTo>
                  <a:lnTo>
                    <a:pt x="12" y="6"/>
                  </a:lnTo>
                  <a:lnTo>
                    <a:pt x="18" y="6"/>
                  </a:lnTo>
                  <a:lnTo>
                    <a:pt x="18" y="6"/>
                  </a:lnTo>
                  <a:lnTo>
                    <a:pt x="6" y="6"/>
                  </a:lnTo>
                  <a:lnTo>
                    <a:pt x="6" y="0"/>
                  </a:lnTo>
                  <a:lnTo>
                    <a:pt x="0" y="0"/>
                  </a:lnTo>
                  <a:lnTo>
                    <a:pt x="0"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54" name="Freeform 354"/>
            <p:cNvSpPr>
              <a:spLocks/>
            </p:cNvSpPr>
            <p:nvPr/>
          </p:nvSpPr>
          <p:spPr bwMode="auto">
            <a:xfrm>
              <a:off x="4530" y="2428"/>
              <a:ext cx="24" cy="24"/>
            </a:xfrm>
            <a:custGeom>
              <a:avLst/>
              <a:gdLst>
                <a:gd name="T0" fmla="*/ 0 w 24"/>
                <a:gd name="T1" fmla="*/ 12 h 24"/>
                <a:gd name="T2" fmla="*/ 0 w 24"/>
                <a:gd name="T3" fmla="*/ 18 h 24"/>
                <a:gd name="T4" fmla="*/ 6 w 24"/>
                <a:gd name="T5" fmla="*/ 24 h 24"/>
                <a:gd name="T6" fmla="*/ 18 w 24"/>
                <a:gd name="T7" fmla="*/ 24 h 24"/>
                <a:gd name="T8" fmla="*/ 6 w 24"/>
                <a:gd name="T9" fmla="*/ 0 h 24"/>
                <a:gd name="T10" fmla="*/ 18 w 24"/>
                <a:gd name="T11" fmla="*/ 0 h 24"/>
                <a:gd name="T12" fmla="*/ 24 w 24"/>
                <a:gd name="T13" fmla="*/ 6 h 24"/>
                <a:gd name="T14" fmla="*/ 24 w 24"/>
                <a:gd name="T15" fmla="*/ 6 h 24"/>
                <a:gd name="T16" fmla="*/ 24 w 24"/>
                <a:gd name="T17" fmla="*/ 6 h 24"/>
                <a:gd name="T18" fmla="*/ 0 w 24"/>
                <a:gd name="T1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12"/>
                  </a:moveTo>
                  <a:lnTo>
                    <a:pt x="0" y="18"/>
                  </a:lnTo>
                  <a:lnTo>
                    <a:pt x="6" y="24"/>
                  </a:lnTo>
                  <a:lnTo>
                    <a:pt x="18" y="24"/>
                  </a:lnTo>
                  <a:lnTo>
                    <a:pt x="6" y="0"/>
                  </a:lnTo>
                  <a:lnTo>
                    <a:pt x="18" y="0"/>
                  </a:lnTo>
                  <a:lnTo>
                    <a:pt x="24" y="6"/>
                  </a:lnTo>
                  <a:lnTo>
                    <a:pt x="24" y="6"/>
                  </a:lnTo>
                  <a:lnTo>
                    <a:pt x="24" y="6"/>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55" name="Freeform 355"/>
            <p:cNvSpPr>
              <a:spLocks noEditPoints="1"/>
            </p:cNvSpPr>
            <p:nvPr/>
          </p:nvSpPr>
          <p:spPr bwMode="auto">
            <a:xfrm>
              <a:off x="4536" y="2428"/>
              <a:ext cx="18" cy="24"/>
            </a:xfrm>
            <a:custGeom>
              <a:avLst/>
              <a:gdLst>
                <a:gd name="T0" fmla="*/ 12 w 18"/>
                <a:gd name="T1" fmla="*/ 24 h 24"/>
                <a:gd name="T2" fmla="*/ 6 w 18"/>
                <a:gd name="T3" fmla="*/ 24 h 24"/>
                <a:gd name="T4" fmla="*/ 6 w 18"/>
                <a:gd name="T5" fmla="*/ 24 h 24"/>
                <a:gd name="T6" fmla="*/ 6 w 18"/>
                <a:gd name="T7" fmla="*/ 24 h 24"/>
                <a:gd name="T8" fmla="*/ 6 w 18"/>
                <a:gd name="T9" fmla="*/ 24 h 24"/>
                <a:gd name="T10" fmla="*/ 18 w 18"/>
                <a:gd name="T11" fmla="*/ 0 h 24"/>
                <a:gd name="T12" fmla="*/ 18 w 18"/>
                <a:gd name="T13" fmla="*/ 0 h 24"/>
                <a:gd name="T14" fmla="*/ 18 w 18"/>
                <a:gd name="T15" fmla="*/ 0 h 24"/>
                <a:gd name="T16" fmla="*/ 12 w 18"/>
                <a:gd name="T17" fmla="*/ 0 h 24"/>
                <a:gd name="T18" fmla="*/ 0 w 18"/>
                <a:gd name="T19" fmla="*/ 0 h 24"/>
                <a:gd name="T20" fmla="*/ 12 w 18"/>
                <a:gd name="T21" fmla="*/ 24 h 24"/>
                <a:gd name="T22" fmla="*/ 0 w 18"/>
                <a:gd name="T23" fmla="*/ 0 h 24"/>
                <a:gd name="T24" fmla="*/ 0 w 18"/>
                <a:gd name="T25" fmla="*/ 0 h 24"/>
                <a:gd name="T26" fmla="*/ 0 w 18"/>
                <a:gd name="T27" fmla="*/ 0 h 24"/>
                <a:gd name="T28" fmla="*/ 6 w 18"/>
                <a:gd name="T29" fmla="*/ 12 h 24"/>
                <a:gd name="T30" fmla="*/ 0 w 18"/>
                <a:gd name="T31"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24">
                  <a:moveTo>
                    <a:pt x="12" y="24"/>
                  </a:moveTo>
                  <a:lnTo>
                    <a:pt x="6" y="24"/>
                  </a:lnTo>
                  <a:lnTo>
                    <a:pt x="6" y="24"/>
                  </a:lnTo>
                  <a:lnTo>
                    <a:pt x="6" y="24"/>
                  </a:lnTo>
                  <a:lnTo>
                    <a:pt x="6" y="24"/>
                  </a:lnTo>
                  <a:lnTo>
                    <a:pt x="18" y="0"/>
                  </a:lnTo>
                  <a:lnTo>
                    <a:pt x="18" y="0"/>
                  </a:lnTo>
                  <a:lnTo>
                    <a:pt x="18" y="0"/>
                  </a:lnTo>
                  <a:lnTo>
                    <a:pt x="12" y="0"/>
                  </a:lnTo>
                  <a:lnTo>
                    <a:pt x="0" y="0"/>
                  </a:lnTo>
                  <a:lnTo>
                    <a:pt x="12" y="24"/>
                  </a:lnTo>
                  <a:close/>
                  <a:moveTo>
                    <a:pt x="0" y="0"/>
                  </a:moveTo>
                  <a:lnTo>
                    <a:pt x="0" y="0"/>
                  </a:lnTo>
                  <a:lnTo>
                    <a:pt x="0" y="0"/>
                  </a:lnTo>
                  <a:lnTo>
                    <a:pt x="6" y="1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56" name="Freeform 356"/>
            <p:cNvSpPr>
              <a:spLocks noEditPoints="1"/>
            </p:cNvSpPr>
            <p:nvPr/>
          </p:nvSpPr>
          <p:spPr bwMode="auto">
            <a:xfrm>
              <a:off x="4536" y="2428"/>
              <a:ext cx="24" cy="24"/>
            </a:xfrm>
            <a:custGeom>
              <a:avLst/>
              <a:gdLst>
                <a:gd name="T0" fmla="*/ 6 w 24"/>
                <a:gd name="T1" fmla="*/ 24 h 24"/>
                <a:gd name="T2" fmla="*/ 0 w 24"/>
                <a:gd name="T3" fmla="*/ 18 h 24"/>
                <a:gd name="T4" fmla="*/ 0 w 24"/>
                <a:gd name="T5" fmla="*/ 18 h 24"/>
                <a:gd name="T6" fmla="*/ 0 w 24"/>
                <a:gd name="T7" fmla="*/ 18 h 24"/>
                <a:gd name="T8" fmla="*/ 24 w 24"/>
                <a:gd name="T9" fmla="*/ 6 h 24"/>
                <a:gd name="T10" fmla="*/ 18 w 24"/>
                <a:gd name="T11" fmla="*/ 0 h 24"/>
                <a:gd name="T12" fmla="*/ 18 w 24"/>
                <a:gd name="T13" fmla="*/ 0 h 24"/>
                <a:gd name="T14" fmla="*/ 18 w 24"/>
                <a:gd name="T15" fmla="*/ 0 h 24"/>
                <a:gd name="T16" fmla="*/ 12 w 24"/>
                <a:gd name="T17" fmla="*/ 0 h 24"/>
                <a:gd name="T18" fmla="*/ 6 w 24"/>
                <a:gd name="T19" fmla="*/ 24 h 24"/>
                <a:gd name="T20" fmla="*/ 6 w 24"/>
                <a:gd name="T21" fmla="*/ 24 h 24"/>
                <a:gd name="T22" fmla="*/ 6 w 24"/>
                <a:gd name="T23" fmla="*/ 24 h 24"/>
                <a:gd name="T24" fmla="*/ 6 w 24"/>
                <a:gd name="T25" fmla="*/ 24 h 24"/>
                <a:gd name="T26" fmla="*/ 12 w 24"/>
                <a:gd name="T27" fmla="*/ 12 h 24"/>
                <a:gd name="T28" fmla="*/ 6 w 24"/>
                <a:gd name="T2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4">
                  <a:moveTo>
                    <a:pt x="6" y="24"/>
                  </a:moveTo>
                  <a:lnTo>
                    <a:pt x="0" y="18"/>
                  </a:lnTo>
                  <a:lnTo>
                    <a:pt x="0" y="18"/>
                  </a:lnTo>
                  <a:lnTo>
                    <a:pt x="0" y="18"/>
                  </a:lnTo>
                  <a:lnTo>
                    <a:pt x="24" y="6"/>
                  </a:lnTo>
                  <a:lnTo>
                    <a:pt x="18" y="0"/>
                  </a:lnTo>
                  <a:lnTo>
                    <a:pt x="18" y="0"/>
                  </a:lnTo>
                  <a:lnTo>
                    <a:pt x="18" y="0"/>
                  </a:lnTo>
                  <a:lnTo>
                    <a:pt x="12" y="0"/>
                  </a:lnTo>
                  <a:lnTo>
                    <a:pt x="6" y="24"/>
                  </a:lnTo>
                  <a:close/>
                  <a:moveTo>
                    <a:pt x="6" y="24"/>
                  </a:moveTo>
                  <a:lnTo>
                    <a:pt x="6" y="24"/>
                  </a:lnTo>
                  <a:lnTo>
                    <a:pt x="6" y="24"/>
                  </a:lnTo>
                  <a:lnTo>
                    <a:pt x="12" y="12"/>
                  </a:lnTo>
                  <a:lnTo>
                    <a:pt x="6"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57" name="Freeform 357"/>
            <p:cNvSpPr>
              <a:spLocks noEditPoints="1"/>
            </p:cNvSpPr>
            <p:nvPr/>
          </p:nvSpPr>
          <p:spPr bwMode="auto">
            <a:xfrm>
              <a:off x="4536" y="2428"/>
              <a:ext cx="24" cy="42"/>
            </a:xfrm>
            <a:custGeom>
              <a:avLst/>
              <a:gdLst>
                <a:gd name="T0" fmla="*/ 24 w 24"/>
                <a:gd name="T1" fmla="*/ 18 h 42"/>
                <a:gd name="T2" fmla="*/ 18 w 24"/>
                <a:gd name="T3" fmla="*/ 24 h 42"/>
                <a:gd name="T4" fmla="*/ 18 w 24"/>
                <a:gd name="T5" fmla="*/ 24 h 42"/>
                <a:gd name="T6" fmla="*/ 12 w 24"/>
                <a:gd name="T7" fmla="*/ 24 h 42"/>
                <a:gd name="T8" fmla="*/ 12 w 24"/>
                <a:gd name="T9" fmla="*/ 24 h 42"/>
                <a:gd name="T10" fmla="*/ 12 w 24"/>
                <a:gd name="T11" fmla="*/ 24 h 42"/>
                <a:gd name="T12" fmla="*/ 12 w 24"/>
                <a:gd name="T13" fmla="*/ 0 h 42"/>
                <a:gd name="T14" fmla="*/ 18 w 24"/>
                <a:gd name="T15" fmla="*/ 0 h 42"/>
                <a:gd name="T16" fmla="*/ 18 w 24"/>
                <a:gd name="T17" fmla="*/ 0 h 42"/>
                <a:gd name="T18" fmla="*/ 18 w 24"/>
                <a:gd name="T19" fmla="*/ 0 h 42"/>
                <a:gd name="T20" fmla="*/ 18 w 24"/>
                <a:gd name="T21" fmla="*/ 0 h 42"/>
                <a:gd name="T22" fmla="*/ 12 w 24"/>
                <a:gd name="T23" fmla="*/ 0 h 42"/>
                <a:gd name="T24" fmla="*/ 24 w 24"/>
                <a:gd name="T25" fmla="*/ 18 h 42"/>
                <a:gd name="T26" fmla="*/ 0 w 24"/>
                <a:gd name="T27" fmla="*/ 18 h 42"/>
                <a:gd name="T28" fmla="*/ 12 w 24"/>
                <a:gd name="T29" fmla="*/ 42 h 42"/>
                <a:gd name="T30" fmla="*/ 24 w 24"/>
                <a:gd name="T31" fmla="*/ 18 h 42"/>
                <a:gd name="T32" fmla="*/ 12 w 24"/>
                <a:gd name="T33" fmla="*/ 12 h 42"/>
                <a:gd name="T34" fmla="*/ 0 w 24"/>
                <a:gd name="T35"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42">
                  <a:moveTo>
                    <a:pt x="24" y="18"/>
                  </a:moveTo>
                  <a:lnTo>
                    <a:pt x="18" y="24"/>
                  </a:lnTo>
                  <a:lnTo>
                    <a:pt x="18" y="24"/>
                  </a:lnTo>
                  <a:lnTo>
                    <a:pt x="12" y="24"/>
                  </a:lnTo>
                  <a:lnTo>
                    <a:pt x="12" y="24"/>
                  </a:lnTo>
                  <a:lnTo>
                    <a:pt x="12" y="24"/>
                  </a:lnTo>
                  <a:lnTo>
                    <a:pt x="12" y="0"/>
                  </a:lnTo>
                  <a:lnTo>
                    <a:pt x="18" y="0"/>
                  </a:lnTo>
                  <a:lnTo>
                    <a:pt x="18" y="0"/>
                  </a:lnTo>
                  <a:lnTo>
                    <a:pt x="18" y="0"/>
                  </a:lnTo>
                  <a:lnTo>
                    <a:pt x="18" y="0"/>
                  </a:lnTo>
                  <a:lnTo>
                    <a:pt x="12" y="0"/>
                  </a:lnTo>
                  <a:lnTo>
                    <a:pt x="24" y="18"/>
                  </a:lnTo>
                  <a:close/>
                  <a:moveTo>
                    <a:pt x="0" y="18"/>
                  </a:moveTo>
                  <a:lnTo>
                    <a:pt x="12" y="42"/>
                  </a:lnTo>
                  <a:lnTo>
                    <a:pt x="24" y="18"/>
                  </a:lnTo>
                  <a:lnTo>
                    <a:pt x="12" y="12"/>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58" name="Freeform 358"/>
            <p:cNvSpPr>
              <a:spLocks noEditPoints="1"/>
            </p:cNvSpPr>
            <p:nvPr/>
          </p:nvSpPr>
          <p:spPr bwMode="auto">
            <a:xfrm>
              <a:off x="4548" y="2428"/>
              <a:ext cx="12" cy="24"/>
            </a:xfrm>
            <a:custGeom>
              <a:avLst/>
              <a:gdLst>
                <a:gd name="T0" fmla="*/ 12 w 12"/>
                <a:gd name="T1" fmla="*/ 24 h 24"/>
                <a:gd name="T2" fmla="*/ 12 w 12"/>
                <a:gd name="T3" fmla="*/ 24 h 24"/>
                <a:gd name="T4" fmla="*/ 12 w 12"/>
                <a:gd name="T5" fmla="*/ 24 h 24"/>
                <a:gd name="T6" fmla="*/ 12 w 12"/>
                <a:gd name="T7" fmla="*/ 24 h 24"/>
                <a:gd name="T8" fmla="*/ 6 w 12"/>
                <a:gd name="T9" fmla="*/ 24 h 24"/>
                <a:gd name="T10" fmla="*/ 12 w 12"/>
                <a:gd name="T11" fmla="*/ 0 h 24"/>
                <a:gd name="T12" fmla="*/ 6 w 12"/>
                <a:gd name="T13" fmla="*/ 0 h 24"/>
                <a:gd name="T14" fmla="*/ 0 w 12"/>
                <a:gd name="T15" fmla="*/ 0 h 24"/>
                <a:gd name="T16" fmla="*/ 0 w 12"/>
                <a:gd name="T17" fmla="*/ 0 h 24"/>
                <a:gd name="T18" fmla="*/ 0 w 12"/>
                <a:gd name="T19" fmla="*/ 0 h 24"/>
                <a:gd name="T20" fmla="*/ 12 w 12"/>
                <a:gd name="T21" fmla="*/ 24 h 24"/>
                <a:gd name="T22" fmla="*/ 6 w 12"/>
                <a:gd name="T23" fmla="*/ 24 h 24"/>
                <a:gd name="T24" fmla="*/ 6 w 12"/>
                <a:gd name="T25" fmla="*/ 24 h 24"/>
                <a:gd name="T26" fmla="*/ 12 w 12"/>
                <a:gd name="T27" fmla="*/ 24 h 24"/>
                <a:gd name="T28" fmla="*/ 6 w 12"/>
                <a:gd name="T29" fmla="*/ 12 h 24"/>
                <a:gd name="T30" fmla="*/ 6 w 12"/>
                <a:gd name="T3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 h="24">
                  <a:moveTo>
                    <a:pt x="12" y="24"/>
                  </a:moveTo>
                  <a:lnTo>
                    <a:pt x="12" y="24"/>
                  </a:lnTo>
                  <a:lnTo>
                    <a:pt x="12" y="24"/>
                  </a:lnTo>
                  <a:lnTo>
                    <a:pt x="12" y="24"/>
                  </a:lnTo>
                  <a:lnTo>
                    <a:pt x="6" y="24"/>
                  </a:lnTo>
                  <a:lnTo>
                    <a:pt x="12" y="0"/>
                  </a:lnTo>
                  <a:lnTo>
                    <a:pt x="6" y="0"/>
                  </a:lnTo>
                  <a:lnTo>
                    <a:pt x="0" y="0"/>
                  </a:lnTo>
                  <a:lnTo>
                    <a:pt x="0" y="0"/>
                  </a:lnTo>
                  <a:lnTo>
                    <a:pt x="0" y="0"/>
                  </a:lnTo>
                  <a:lnTo>
                    <a:pt x="12" y="24"/>
                  </a:lnTo>
                  <a:close/>
                  <a:moveTo>
                    <a:pt x="6" y="24"/>
                  </a:moveTo>
                  <a:lnTo>
                    <a:pt x="6" y="24"/>
                  </a:lnTo>
                  <a:lnTo>
                    <a:pt x="12" y="24"/>
                  </a:lnTo>
                  <a:lnTo>
                    <a:pt x="6" y="12"/>
                  </a:lnTo>
                  <a:lnTo>
                    <a:pt x="6"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59" name="Freeform 359"/>
            <p:cNvSpPr>
              <a:spLocks noEditPoints="1"/>
            </p:cNvSpPr>
            <p:nvPr/>
          </p:nvSpPr>
          <p:spPr bwMode="auto">
            <a:xfrm>
              <a:off x="4548" y="2428"/>
              <a:ext cx="24" cy="24"/>
            </a:xfrm>
            <a:custGeom>
              <a:avLst/>
              <a:gdLst>
                <a:gd name="T0" fmla="*/ 6 w 24"/>
                <a:gd name="T1" fmla="*/ 24 h 24"/>
                <a:gd name="T2" fmla="*/ 18 w 24"/>
                <a:gd name="T3" fmla="*/ 24 h 24"/>
                <a:gd name="T4" fmla="*/ 18 w 24"/>
                <a:gd name="T5" fmla="*/ 18 h 24"/>
                <a:gd name="T6" fmla="*/ 24 w 24"/>
                <a:gd name="T7" fmla="*/ 12 h 24"/>
                <a:gd name="T8" fmla="*/ 0 w 24"/>
                <a:gd name="T9" fmla="*/ 6 h 24"/>
                <a:gd name="T10" fmla="*/ 0 w 24"/>
                <a:gd name="T11" fmla="*/ 6 h 24"/>
                <a:gd name="T12" fmla="*/ 0 w 24"/>
                <a:gd name="T13" fmla="*/ 0 h 24"/>
                <a:gd name="T14" fmla="*/ 12 w 24"/>
                <a:gd name="T15" fmla="*/ 0 h 24"/>
                <a:gd name="T16" fmla="*/ 6 w 24"/>
                <a:gd name="T17" fmla="*/ 24 h 24"/>
                <a:gd name="T18" fmla="*/ 12 w 24"/>
                <a:gd name="T19" fmla="*/ 0 h 24"/>
                <a:gd name="T20" fmla="*/ 12 w 24"/>
                <a:gd name="T21" fmla="*/ 0 h 24"/>
                <a:gd name="T22" fmla="*/ 12 w 24"/>
                <a:gd name="T23" fmla="*/ 0 h 24"/>
                <a:gd name="T24" fmla="*/ 6 w 24"/>
                <a:gd name="T25" fmla="*/ 12 h 24"/>
                <a:gd name="T26" fmla="*/ 12 w 24"/>
                <a:gd name="T2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4">
                  <a:moveTo>
                    <a:pt x="6" y="24"/>
                  </a:moveTo>
                  <a:lnTo>
                    <a:pt x="18" y="24"/>
                  </a:lnTo>
                  <a:lnTo>
                    <a:pt x="18" y="18"/>
                  </a:lnTo>
                  <a:lnTo>
                    <a:pt x="24" y="12"/>
                  </a:lnTo>
                  <a:lnTo>
                    <a:pt x="0" y="6"/>
                  </a:lnTo>
                  <a:lnTo>
                    <a:pt x="0" y="6"/>
                  </a:lnTo>
                  <a:lnTo>
                    <a:pt x="0" y="0"/>
                  </a:lnTo>
                  <a:lnTo>
                    <a:pt x="12" y="0"/>
                  </a:lnTo>
                  <a:lnTo>
                    <a:pt x="6" y="24"/>
                  </a:lnTo>
                  <a:close/>
                  <a:moveTo>
                    <a:pt x="12" y="0"/>
                  </a:moveTo>
                  <a:lnTo>
                    <a:pt x="12" y="0"/>
                  </a:lnTo>
                  <a:lnTo>
                    <a:pt x="12" y="0"/>
                  </a:lnTo>
                  <a:lnTo>
                    <a:pt x="6" y="12"/>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60" name="Freeform 360"/>
            <p:cNvSpPr>
              <a:spLocks noEditPoints="1"/>
            </p:cNvSpPr>
            <p:nvPr/>
          </p:nvSpPr>
          <p:spPr bwMode="auto">
            <a:xfrm>
              <a:off x="4548" y="2428"/>
              <a:ext cx="24" cy="24"/>
            </a:xfrm>
            <a:custGeom>
              <a:avLst/>
              <a:gdLst>
                <a:gd name="T0" fmla="*/ 12 w 24"/>
                <a:gd name="T1" fmla="*/ 0 h 24"/>
                <a:gd name="T2" fmla="*/ 0 w 24"/>
                <a:gd name="T3" fmla="*/ 0 h 24"/>
                <a:gd name="T4" fmla="*/ 0 w 24"/>
                <a:gd name="T5" fmla="*/ 24 h 24"/>
                <a:gd name="T6" fmla="*/ 12 w 24"/>
                <a:gd name="T7" fmla="*/ 24 h 24"/>
                <a:gd name="T8" fmla="*/ 12 w 24"/>
                <a:gd name="T9" fmla="*/ 0 h 24"/>
                <a:gd name="T10" fmla="*/ 24 w 24"/>
                <a:gd name="T11" fmla="*/ 12 h 24"/>
                <a:gd name="T12" fmla="*/ 24 w 24"/>
                <a:gd name="T13" fmla="*/ 0 h 24"/>
                <a:gd name="T14" fmla="*/ 12 w 24"/>
                <a:gd name="T15" fmla="*/ 0 h 24"/>
                <a:gd name="T16" fmla="*/ 12 w 24"/>
                <a:gd name="T17" fmla="*/ 12 h 24"/>
                <a:gd name="T18" fmla="*/ 24 w 24"/>
                <a:gd name="T1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lnTo>
                    <a:pt x="0" y="0"/>
                  </a:lnTo>
                  <a:lnTo>
                    <a:pt x="0" y="24"/>
                  </a:lnTo>
                  <a:lnTo>
                    <a:pt x="12" y="24"/>
                  </a:lnTo>
                  <a:lnTo>
                    <a:pt x="12" y="0"/>
                  </a:lnTo>
                  <a:close/>
                  <a:moveTo>
                    <a:pt x="24" y="12"/>
                  </a:moveTo>
                  <a:lnTo>
                    <a:pt x="24" y="0"/>
                  </a:lnTo>
                  <a:lnTo>
                    <a:pt x="12" y="0"/>
                  </a:lnTo>
                  <a:lnTo>
                    <a:pt x="12" y="12"/>
                  </a:lnTo>
                  <a:lnTo>
                    <a:pt x="24"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61" name="Freeform 361"/>
            <p:cNvSpPr>
              <a:spLocks noEditPoints="1"/>
            </p:cNvSpPr>
            <p:nvPr/>
          </p:nvSpPr>
          <p:spPr bwMode="auto">
            <a:xfrm>
              <a:off x="4536" y="2434"/>
              <a:ext cx="24" cy="18"/>
            </a:xfrm>
            <a:custGeom>
              <a:avLst/>
              <a:gdLst>
                <a:gd name="T0" fmla="*/ 24 w 24"/>
                <a:gd name="T1" fmla="*/ 6 h 18"/>
                <a:gd name="T2" fmla="*/ 24 w 24"/>
                <a:gd name="T3" fmla="*/ 0 h 18"/>
                <a:gd name="T4" fmla="*/ 0 w 24"/>
                <a:gd name="T5" fmla="*/ 0 h 18"/>
                <a:gd name="T6" fmla="*/ 0 w 24"/>
                <a:gd name="T7" fmla="*/ 6 h 18"/>
                <a:gd name="T8" fmla="*/ 24 w 24"/>
                <a:gd name="T9" fmla="*/ 6 h 18"/>
                <a:gd name="T10" fmla="*/ 0 w 24"/>
                <a:gd name="T11" fmla="*/ 6 h 18"/>
                <a:gd name="T12" fmla="*/ 0 w 24"/>
                <a:gd name="T13" fmla="*/ 18 h 18"/>
                <a:gd name="T14" fmla="*/ 12 w 24"/>
                <a:gd name="T15" fmla="*/ 18 h 18"/>
                <a:gd name="T16" fmla="*/ 12 w 24"/>
                <a:gd name="T17" fmla="*/ 6 h 18"/>
                <a:gd name="T18" fmla="*/ 0 w 24"/>
                <a:gd name="T19" fmla="*/ 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24" y="6"/>
                  </a:moveTo>
                  <a:lnTo>
                    <a:pt x="24" y="0"/>
                  </a:lnTo>
                  <a:lnTo>
                    <a:pt x="0" y="0"/>
                  </a:lnTo>
                  <a:lnTo>
                    <a:pt x="0" y="6"/>
                  </a:lnTo>
                  <a:lnTo>
                    <a:pt x="24" y="6"/>
                  </a:lnTo>
                  <a:close/>
                  <a:moveTo>
                    <a:pt x="0" y="6"/>
                  </a:moveTo>
                  <a:lnTo>
                    <a:pt x="0" y="18"/>
                  </a:lnTo>
                  <a:lnTo>
                    <a:pt x="12" y="18"/>
                  </a:lnTo>
                  <a:lnTo>
                    <a:pt x="12"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62" name="Freeform 362"/>
            <p:cNvSpPr>
              <a:spLocks noEditPoints="1"/>
            </p:cNvSpPr>
            <p:nvPr/>
          </p:nvSpPr>
          <p:spPr bwMode="auto">
            <a:xfrm>
              <a:off x="4542" y="2422"/>
              <a:ext cx="18" cy="24"/>
            </a:xfrm>
            <a:custGeom>
              <a:avLst/>
              <a:gdLst>
                <a:gd name="T0" fmla="*/ 6 w 18"/>
                <a:gd name="T1" fmla="*/ 0 h 24"/>
                <a:gd name="T2" fmla="*/ 0 w 18"/>
                <a:gd name="T3" fmla="*/ 0 h 24"/>
                <a:gd name="T4" fmla="*/ 0 w 18"/>
                <a:gd name="T5" fmla="*/ 24 h 24"/>
                <a:gd name="T6" fmla="*/ 6 w 18"/>
                <a:gd name="T7" fmla="*/ 24 h 24"/>
                <a:gd name="T8" fmla="*/ 6 w 18"/>
                <a:gd name="T9" fmla="*/ 0 h 24"/>
                <a:gd name="T10" fmla="*/ 18 w 18"/>
                <a:gd name="T11" fmla="*/ 12 h 24"/>
                <a:gd name="T12" fmla="*/ 18 w 18"/>
                <a:gd name="T13" fmla="*/ 0 h 24"/>
                <a:gd name="T14" fmla="*/ 6 w 18"/>
                <a:gd name="T15" fmla="*/ 0 h 24"/>
                <a:gd name="T16" fmla="*/ 6 w 18"/>
                <a:gd name="T17" fmla="*/ 12 h 24"/>
                <a:gd name="T18" fmla="*/ 18 w 18"/>
                <a:gd name="T1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24">
                  <a:moveTo>
                    <a:pt x="6" y="0"/>
                  </a:moveTo>
                  <a:lnTo>
                    <a:pt x="0" y="0"/>
                  </a:lnTo>
                  <a:lnTo>
                    <a:pt x="0" y="24"/>
                  </a:lnTo>
                  <a:lnTo>
                    <a:pt x="6" y="24"/>
                  </a:lnTo>
                  <a:lnTo>
                    <a:pt x="6" y="0"/>
                  </a:lnTo>
                  <a:close/>
                  <a:moveTo>
                    <a:pt x="18" y="12"/>
                  </a:moveTo>
                  <a:lnTo>
                    <a:pt x="18" y="0"/>
                  </a:lnTo>
                  <a:lnTo>
                    <a:pt x="6" y="0"/>
                  </a:lnTo>
                  <a:lnTo>
                    <a:pt x="6" y="12"/>
                  </a:lnTo>
                  <a:lnTo>
                    <a:pt x="1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63" name="Freeform 363"/>
            <p:cNvSpPr>
              <a:spLocks/>
            </p:cNvSpPr>
            <p:nvPr/>
          </p:nvSpPr>
          <p:spPr bwMode="auto">
            <a:xfrm>
              <a:off x="4524" y="2422"/>
              <a:ext cx="18" cy="18"/>
            </a:xfrm>
            <a:custGeom>
              <a:avLst/>
              <a:gdLst>
                <a:gd name="T0" fmla="*/ 18 w 18"/>
                <a:gd name="T1" fmla="*/ 0 h 18"/>
                <a:gd name="T2" fmla="*/ 0 w 18"/>
                <a:gd name="T3" fmla="*/ 0 h 18"/>
                <a:gd name="T4" fmla="*/ 6 w 18"/>
                <a:gd name="T5" fmla="*/ 18 h 18"/>
                <a:gd name="T6" fmla="*/ 18 w 18"/>
                <a:gd name="T7" fmla="*/ 12 h 18"/>
                <a:gd name="T8" fmla="*/ 18 w 18"/>
                <a:gd name="T9" fmla="*/ 0 h 18"/>
              </a:gdLst>
              <a:ahLst/>
              <a:cxnLst>
                <a:cxn ang="0">
                  <a:pos x="T0" y="T1"/>
                </a:cxn>
                <a:cxn ang="0">
                  <a:pos x="T2" y="T3"/>
                </a:cxn>
                <a:cxn ang="0">
                  <a:pos x="T4" y="T5"/>
                </a:cxn>
                <a:cxn ang="0">
                  <a:pos x="T6" y="T7"/>
                </a:cxn>
                <a:cxn ang="0">
                  <a:pos x="T8" y="T9"/>
                </a:cxn>
              </a:cxnLst>
              <a:rect l="0" t="0" r="r" b="b"/>
              <a:pathLst>
                <a:path w="18" h="18">
                  <a:moveTo>
                    <a:pt x="18" y="0"/>
                  </a:moveTo>
                  <a:lnTo>
                    <a:pt x="0" y="0"/>
                  </a:lnTo>
                  <a:lnTo>
                    <a:pt x="6" y="18"/>
                  </a:lnTo>
                  <a:lnTo>
                    <a:pt x="18" y="12"/>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64" name="Freeform 364"/>
            <p:cNvSpPr>
              <a:spLocks/>
            </p:cNvSpPr>
            <p:nvPr/>
          </p:nvSpPr>
          <p:spPr bwMode="auto">
            <a:xfrm>
              <a:off x="4536" y="2410"/>
              <a:ext cx="24" cy="18"/>
            </a:xfrm>
            <a:custGeom>
              <a:avLst/>
              <a:gdLst>
                <a:gd name="T0" fmla="*/ 12 w 24"/>
                <a:gd name="T1" fmla="*/ 0 h 18"/>
                <a:gd name="T2" fmla="*/ 6 w 24"/>
                <a:gd name="T3" fmla="*/ 6 h 18"/>
                <a:gd name="T4" fmla="*/ 0 w 24"/>
                <a:gd name="T5" fmla="*/ 12 h 18"/>
                <a:gd name="T6" fmla="*/ 6 w 24"/>
                <a:gd name="T7" fmla="*/ 18 h 18"/>
                <a:gd name="T8" fmla="*/ 12 w 24"/>
                <a:gd name="T9" fmla="*/ 18 h 18"/>
                <a:gd name="T10" fmla="*/ 18 w 24"/>
                <a:gd name="T11" fmla="*/ 18 h 18"/>
                <a:gd name="T12" fmla="*/ 24 w 24"/>
                <a:gd name="T13" fmla="*/ 18 h 18"/>
                <a:gd name="T14" fmla="*/ 24 w 24"/>
                <a:gd name="T15" fmla="*/ 12 h 18"/>
                <a:gd name="T16" fmla="*/ 24 w 24"/>
                <a:gd name="T17" fmla="*/ 6 h 18"/>
                <a:gd name="T18" fmla="*/ 18 w 24"/>
                <a:gd name="T19" fmla="*/ 0 h 18"/>
                <a:gd name="T20" fmla="*/ 12 w 24"/>
                <a:gd name="T21" fmla="*/ 0 h 18"/>
                <a:gd name="T22" fmla="*/ 12 w 24"/>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12" y="0"/>
                  </a:moveTo>
                  <a:lnTo>
                    <a:pt x="6" y="6"/>
                  </a:lnTo>
                  <a:lnTo>
                    <a:pt x="0" y="12"/>
                  </a:lnTo>
                  <a:lnTo>
                    <a:pt x="6" y="18"/>
                  </a:lnTo>
                  <a:lnTo>
                    <a:pt x="12" y="18"/>
                  </a:lnTo>
                  <a:lnTo>
                    <a:pt x="18" y="18"/>
                  </a:lnTo>
                  <a:lnTo>
                    <a:pt x="24" y="18"/>
                  </a:lnTo>
                  <a:lnTo>
                    <a:pt x="24" y="12"/>
                  </a:lnTo>
                  <a:lnTo>
                    <a:pt x="24" y="6"/>
                  </a:lnTo>
                  <a:lnTo>
                    <a:pt x="18" y="0"/>
                  </a:lnTo>
                  <a:lnTo>
                    <a:pt x="12" y="0"/>
                  </a:lnTo>
                  <a:lnTo>
                    <a:pt x="12"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65" name="Freeform 365"/>
            <p:cNvSpPr>
              <a:spLocks/>
            </p:cNvSpPr>
            <p:nvPr/>
          </p:nvSpPr>
          <p:spPr bwMode="auto">
            <a:xfrm>
              <a:off x="4524" y="2398"/>
              <a:ext cx="24" cy="24"/>
            </a:xfrm>
            <a:custGeom>
              <a:avLst/>
              <a:gdLst>
                <a:gd name="T0" fmla="*/ 24 w 24"/>
                <a:gd name="T1" fmla="*/ 0 h 24"/>
                <a:gd name="T2" fmla="*/ 6 w 24"/>
                <a:gd name="T3" fmla="*/ 6 h 24"/>
                <a:gd name="T4" fmla="*/ 0 w 24"/>
                <a:gd name="T5" fmla="*/ 24 h 24"/>
                <a:gd name="T6" fmla="*/ 24 w 24"/>
                <a:gd name="T7" fmla="*/ 24 h 24"/>
                <a:gd name="T8" fmla="*/ 24 w 24"/>
                <a:gd name="T9" fmla="*/ 24 h 24"/>
                <a:gd name="T10" fmla="*/ 24 w 24"/>
                <a:gd name="T11" fmla="*/ 0 h 24"/>
              </a:gdLst>
              <a:ahLst/>
              <a:cxnLst>
                <a:cxn ang="0">
                  <a:pos x="T0" y="T1"/>
                </a:cxn>
                <a:cxn ang="0">
                  <a:pos x="T2" y="T3"/>
                </a:cxn>
                <a:cxn ang="0">
                  <a:pos x="T4" y="T5"/>
                </a:cxn>
                <a:cxn ang="0">
                  <a:pos x="T6" y="T7"/>
                </a:cxn>
                <a:cxn ang="0">
                  <a:pos x="T8" y="T9"/>
                </a:cxn>
                <a:cxn ang="0">
                  <a:pos x="T10" y="T11"/>
                </a:cxn>
              </a:cxnLst>
              <a:rect l="0" t="0" r="r" b="b"/>
              <a:pathLst>
                <a:path w="24" h="24">
                  <a:moveTo>
                    <a:pt x="24" y="0"/>
                  </a:moveTo>
                  <a:lnTo>
                    <a:pt x="6" y="6"/>
                  </a:lnTo>
                  <a:lnTo>
                    <a:pt x="0" y="24"/>
                  </a:lnTo>
                  <a:lnTo>
                    <a:pt x="24" y="24"/>
                  </a:lnTo>
                  <a:lnTo>
                    <a:pt x="24" y="24"/>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66" name="Freeform 366"/>
            <p:cNvSpPr>
              <a:spLocks noEditPoints="1"/>
            </p:cNvSpPr>
            <p:nvPr/>
          </p:nvSpPr>
          <p:spPr bwMode="auto">
            <a:xfrm>
              <a:off x="4524" y="2416"/>
              <a:ext cx="24" cy="24"/>
            </a:xfrm>
            <a:custGeom>
              <a:avLst/>
              <a:gdLst>
                <a:gd name="T0" fmla="*/ 0 w 24"/>
                <a:gd name="T1" fmla="*/ 6 h 24"/>
                <a:gd name="T2" fmla="*/ 6 w 24"/>
                <a:gd name="T3" fmla="*/ 18 h 24"/>
                <a:gd name="T4" fmla="*/ 24 w 24"/>
                <a:gd name="T5" fmla="*/ 24 h 24"/>
                <a:gd name="T6" fmla="*/ 24 w 24"/>
                <a:gd name="T7" fmla="*/ 0 h 24"/>
                <a:gd name="T8" fmla="*/ 24 w 24"/>
                <a:gd name="T9" fmla="*/ 6 h 24"/>
                <a:gd name="T10" fmla="*/ 24 w 24"/>
                <a:gd name="T11" fmla="*/ 6 h 24"/>
                <a:gd name="T12" fmla="*/ 0 w 24"/>
                <a:gd name="T13" fmla="*/ 6 h 24"/>
                <a:gd name="T14" fmla="*/ 24 w 24"/>
                <a:gd name="T15" fmla="*/ 6 h 24"/>
                <a:gd name="T16" fmla="*/ 24 w 24"/>
                <a:gd name="T17" fmla="*/ 6 h 24"/>
                <a:gd name="T18" fmla="*/ 12 w 24"/>
                <a:gd name="T19" fmla="*/ 6 h 24"/>
                <a:gd name="T20" fmla="*/ 24 w 24"/>
                <a:gd name="T21"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0" y="6"/>
                  </a:moveTo>
                  <a:lnTo>
                    <a:pt x="6" y="18"/>
                  </a:lnTo>
                  <a:lnTo>
                    <a:pt x="24" y="24"/>
                  </a:lnTo>
                  <a:lnTo>
                    <a:pt x="24" y="0"/>
                  </a:lnTo>
                  <a:lnTo>
                    <a:pt x="24" y="6"/>
                  </a:lnTo>
                  <a:lnTo>
                    <a:pt x="24" y="6"/>
                  </a:lnTo>
                  <a:lnTo>
                    <a:pt x="0" y="6"/>
                  </a:lnTo>
                  <a:close/>
                  <a:moveTo>
                    <a:pt x="24" y="6"/>
                  </a:moveTo>
                  <a:lnTo>
                    <a:pt x="24" y="6"/>
                  </a:lnTo>
                  <a:lnTo>
                    <a:pt x="12" y="6"/>
                  </a:lnTo>
                  <a:lnTo>
                    <a:pt x="2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67" name="Freeform 367"/>
            <p:cNvSpPr>
              <a:spLocks noEditPoints="1"/>
            </p:cNvSpPr>
            <p:nvPr/>
          </p:nvSpPr>
          <p:spPr bwMode="auto">
            <a:xfrm>
              <a:off x="4548" y="2416"/>
              <a:ext cx="6" cy="24"/>
            </a:xfrm>
            <a:custGeom>
              <a:avLst/>
              <a:gdLst>
                <a:gd name="T0" fmla="*/ 0 w 6"/>
                <a:gd name="T1" fmla="*/ 24 h 24"/>
                <a:gd name="T2" fmla="*/ 6 w 6"/>
                <a:gd name="T3" fmla="*/ 24 h 24"/>
                <a:gd name="T4" fmla="*/ 6 w 6"/>
                <a:gd name="T5" fmla="*/ 0 h 24"/>
                <a:gd name="T6" fmla="*/ 0 w 6"/>
                <a:gd name="T7" fmla="*/ 0 h 24"/>
                <a:gd name="T8" fmla="*/ 0 w 6"/>
                <a:gd name="T9" fmla="*/ 24 h 24"/>
                <a:gd name="T10" fmla="*/ 0 w 6"/>
                <a:gd name="T11" fmla="*/ 0 h 24"/>
                <a:gd name="T12" fmla="*/ 0 w 6"/>
                <a:gd name="T13" fmla="*/ 0 h 24"/>
                <a:gd name="T14" fmla="*/ 0 w 6"/>
                <a:gd name="T15" fmla="*/ 12 h 24"/>
                <a:gd name="T16" fmla="*/ 0 w 6"/>
                <a:gd name="T1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4">
                  <a:moveTo>
                    <a:pt x="0" y="24"/>
                  </a:moveTo>
                  <a:lnTo>
                    <a:pt x="6" y="24"/>
                  </a:lnTo>
                  <a:lnTo>
                    <a:pt x="6" y="0"/>
                  </a:lnTo>
                  <a:lnTo>
                    <a:pt x="0" y="0"/>
                  </a:lnTo>
                  <a:lnTo>
                    <a:pt x="0" y="24"/>
                  </a:lnTo>
                  <a:close/>
                  <a:moveTo>
                    <a:pt x="0" y="0"/>
                  </a:moveTo>
                  <a:lnTo>
                    <a:pt x="0" y="0"/>
                  </a:lnTo>
                  <a:lnTo>
                    <a:pt x="0" y="1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68" name="Freeform 368"/>
            <p:cNvSpPr>
              <a:spLocks noEditPoints="1"/>
            </p:cNvSpPr>
            <p:nvPr/>
          </p:nvSpPr>
          <p:spPr bwMode="auto">
            <a:xfrm>
              <a:off x="4548" y="2416"/>
              <a:ext cx="24" cy="24"/>
            </a:xfrm>
            <a:custGeom>
              <a:avLst/>
              <a:gdLst>
                <a:gd name="T0" fmla="*/ 6 w 24"/>
                <a:gd name="T1" fmla="*/ 24 h 24"/>
                <a:gd name="T2" fmla="*/ 18 w 24"/>
                <a:gd name="T3" fmla="*/ 18 h 24"/>
                <a:gd name="T4" fmla="*/ 24 w 24"/>
                <a:gd name="T5" fmla="*/ 6 h 24"/>
                <a:gd name="T6" fmla="*/ 0 w 24"/>
                <a:gd name="T7" fmla="*/ 6 h 24"/>
                <a:gd name="T8" fmla="*/ 0 w 24"/>
                <a:gd name="T9" fmla="*/ 6 h 24"/>
                <a:gd name="T10" fmla="*/ 6 w 24"/>
                <a:gd name="T11" fmla="*/ 0 h 24"/>
                <a:gd name="T12" fmla="*/ 6 w 24"/>
                <a:gd name="T13" fmla="*/ 24 h 24"/>
                <a:gd name="T14" fmla="*/ 6 w 24"/>
                <a:gd name="T15" fmla="*/ 0 h 24"/>
                <a:gd name="T16" fmla="*/ 6 w 24"/>
                <a:gd name="T17" fmla="*/ 0 h 24"/>
                <a:gd name="T18" fmla="*/ 6 w 24"/>
                <a:gd name="T19" fmla="*/ 12 h 24"/>
                <a:gd name="T20" fmla="*/ 6 w 24"/>
                <a:gd name="T21"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6" y="24"/>
                  </a:moveTo>
                  <a:lnTo>
                    <a:pt x="18" y="18"/>
                  </a:lnTo>
                  <a:lnTo>
                    <a:pt x="24" y="6"/>
                  </a:lnTo>
                  <a:lnTo>
                    <a:pt x="0" y="6"/>
                  </a:lnTo>
                  <a:lnTo>
                    <a:pt x="0" y="6"/>
                  </a:lnTo>
                  <a:lnTo>
                    <a:pt x="6" y="0"/>
                  </a:lnTo>
                  <a:lnTo>
                    <a:pt x="6" y="24"/>
                  </a:lnTo>
                  <a:close/>
                  <a:moveTo>
                    <a:pt x="6" y="0"/>
                  </a:moveTo>
                  <a:lnTo>
                    <a:pt x="6" y="0"/>
                  </a:lnTo>
                  <a:lnTo>
                    <a:pt x="6" y="1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69" name="Freeform 369"/>
            <p:cNvSpPr>
              <a:spLocks noEditPoints="1"/>
            </p:cNvSpPr>
            <p:nvPr/>
          </p:nvSpPr>
          <p:spPr bwMode="auto">
            <a:xfrm>
              <a:off x="4548" y="2398"/>
              <a:ext cx="24" cy="24"/>
            </a:xfrm>
            <a:custGeom>
              <a:avLst/>
              <a:gdLst>
                <a:gd name="T0" fmla="*/ 24 w 24"/>
                <a:gd name="T1" fmla="*/ 24 h 24"/>
                <a:gd name="T2" fmla="*/ 18 w 24"/>
                <a:gd name="T3" fmla="*/ 6 h 24"/>
                <a:gd name="T4" fmla="*/ 6 w 24"/>
                <a:gd name="T5" fmla="*/ 0 h 24"/>
                <a:gd name="T6" fmla="*/ 6 w 24"/>
                <a:gd name="T7" fmla="*/ 24 h 24"/>
                <a:gd name="T8" fmla="*/ 0 w 24"/>
                <a:gd name="T9" fmla="*/ 24 h 24"/>
                <a:gd name="T10" fmla="*/ 0 w 24"/>
                <a:gd name="T11" fmla="*/ 24 h 24"/>
                <a:gd name="T12" fmla="*/ 24 w 24"/>
                <a:gd name="T13" fmla="*/ 24 h 24"/>
                <a:gd name="T14" fmla="*/ 0 w 24"/>
                <a:gd name="T15" fmla="*/ 24 h 24"/>
                <a:gd name="T16" fmla="*/ 0 w 24"/>
                <a:gd name="T17" fmla="*/ 24 h 24"/>
                <a:gd name="T18" fmla="*/ 12 w 24"/>
                <a:gd name="T19" fmla="*/ 24 h 24"/>
                <a:gd name="T20" fmla="*/ 0 w 24"/>
                <a:gd name="T2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24" y="24"/>
                  </a:moveTo>
                  <a:lnTo>
                    <a:pt x="18" y="6"/>
                  </a:lnTo>
                  <a:lnTo>
                    <a:pt x="6" y="0"/>
                  </a:lnTo>
                  <a:lnTo>
                    <a:pt x="6" y="24"/>
                  </a:lnTo>
                  <a:lnTo>
                    <a:pt x="0" y="24"/>
                  </a:lnTo>
                  <a:lnTo>
                    <a:pt x="0" y="24"/>
                  </a:lnTo>
                  <a:lnTo>
                    <a:pt x="24" y="24"/>
                  </a:lnTo>
                  <a:close/>
                  <a:moveTo>
                    <a:pt x="0" y="24"/>
                  </a:moveTo>
                  <a:lnTo>
                    <a:pt x="0" y="24"/>
                  </a:lnTo>
                  <a:lnTo>
                    <a:pt x="12"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70" name="Freeform 370"/>
            <p:cNvSpPr>
              <a:spLocks noEditPoints="1"/>
            </p:cNvSpPr>
            <p:nvPr/>
          </p:nvSpPr>
          <p:spPr bwMode="auto">
            <a:xfrm>
              <a:off x="4548" y="2398"/>
              <a:ext cx="6" cy="24"/>
            </a:xfrm>
            <a:custGeom>
              <a:avLst/>
              <a:gdLst>
                <a:gd name="T0" fmla="*/ 6 w 6"/>
                <a:gd name="T1" fmla="*/ 0 h 24"/>
                <a:gd name="T2" fmla="*/ 0 w 6"/>
                <a:gd name="T3" fmla="*/ 0 h 24"/>
                <a:gd name="T4" fmla="*/ 0 w 6"/>
                <a:gd name="T5" fmla="*/ 24 h 24"/>
                <a:gd name="T6" fmla="*/ 6 w 6"/>
                <a:gd name="T7" fmla="*/ 24 h 24"/>
                <a:gd name="T8" fmla="*/ 6 w 6"/>
                <a:gd name="T9" fmla="*/ 0 h 24"/>
                <a:gd name="T10" fmla="*/ 6 w 6"/>
                <a:gd name="T11" fmla="*/ 24 h 24"/>
                <a:gd name="T12" fmla="*/ 6 w 6"/>
                <a:gd name="T13" fmla="*/ 24 h 24"/>
                <a:gd name="T14" fmla="*/ 6 w 6"/>
                <a:gd name="T15" fmla="*/ 12 h 24"/>
                <a:gd name="T16" fmla="*/ 6 w 6"/>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4">
                  <a:moveTo>
                    <a:pt x="6" y="0"/>
                  </a:moveTo>
                  <a:lnTo>
                    <a:pt x="0" y="0"/>
                  </a:lnTo>
                  <a:lnTo>
                    <a:pt x="0" y="24"/>
                  </a:lnTo>
                  <a:lnTo>
                    <a:pt x="6" y="24"/>
                  </a:lnTo>
                  <a:lnTo>
                    <a:pt x="6" y="0"/>
                  </a:lnTo>
                  <a:close/>
                  <a:moveTo>
                    <a:pt x="6" y="24"/>
                  </a:moveTo>
                  <a:lnTo>
                    <a:pt x="6" y="24"/>
                  </a:lnTo>
                  <a:lnTo>
                    <a:pt x="6" y="12"/>
                  </a:lnTo>
                  <a:lnTo>
                    <a:pt x="6"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71" name="Freeform 371"/>
            <p:cNvSpPr>
              <a:spLocks/>
            </p:cNvSpPr>
            <p:nvPr/>
          </p:nvSpPr>
          <p:spPr bwMode="auto">
            <a:xfrm>
              <a:off x="4548" y="2410"/>
              <a:ext cx="1" cy="12"/>
            </a:xfrm>
            <a:custGeom>
              <a:avLst/>
              <a:gdLst>
                <a:gd name="T0" fmla="*/ 12 h 12"/>
                <a:gd name="T1" fmla="*/ 12 h 12"/>
                <a:gd name="T2" fmla="*/ 0 h 12"/>
                <a:gd name="T3" fmla="*/ 12 h 12"/>
              </a:gdLst>
              <a:ahLst/>
              <a:cxnLst>
                <a:cxn ang="0">
                  <a:pos x="0" y="T0"/>
                </a:cxn>
                <a:cxn ang="0">
                  <a:pos x="0" y="T1"/>
                </a:cxn>
                <a:cxn ang="0">
                  <a:pos x="0" y="T2"/>
                </a:cxn>
                <a:cxn ang="0">
                  <a:pos x="0" y="T3"/>
                </a:cxn>
              </a:cxnLst>
              <a:rect l="0" t="0" r="r" b="b"/>
              <a:pathLst>
                <a:path h="12">
                  <a:moveTo>
                    <a:pt x="0" y="12"/>
                  </a:moveTo>
                  <a:lnTo>
                    <a:pt x="0" y="12"/>
                  </a:lnTo>
                  <a:lnTo>
                    <a:pt x="0"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72" name="Freeform 372"/>
            <p:cNvSpPr>
              <a:spLocks/>
            </p:cNvSpPr>
            <p:nvPr/>
          </p:nvSpPr>
          <p:spPr bwMode="auto">
            <a:xfrm>
              <a:off x="4548" y="2386"/>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73" name="Freeform 373"/>
            <p:cNvSpPr>
              <a:spLocks/>
            </p:cNvSpPr>
            <p:nvPr/>
          </p:nvSpPr>
          <p:spPr bwMode="auto">
            <a:xfrm>
              <a:off x="4548" y="2357"/>
              <a:ext cx="6" cy="6"/>
            </a:xfrm>
            <a:custGeom>
              <a:avLst/>
              <a:gdLst>
                <a:gd name="T0" fmla="*/ 0 w 6"/>
                <a:gd name="T1" fmla="*/ 0 h 6"/>
                <a:gd name="T2" fmla="*/ 0 w 6"/>
                <a:gd name="T3" fmla="*/ 0 h 6"/>
                <a:gd name="T4" fmla="*/ 0 w 6"/>
                <a:gd name="T5" fmla="*/ 6 h 6"/>
                <a:gd name="T6" fmla="*/ 0 w 6"/>
                <a:gd name="T7" fmla="*/ 6 h 6"/>
                <a:gd name="T8" fmla="*/ 6 w 6"/>
                <a:gd name="T9" fmla="*/ 6 h 6"/>
                <a:gd name="T10" fmla="*/ 6 w 6"/>
                <a:gd name="T11" fmla="*/ 0 h 6"/>
                <a:gd name="T12" fmla="*/ 6 w 6"/>
                <a:gd name="T13" fmla="*/ 0 h 6"/>
                <a:gd name="T14" fmla="*/ 0 w 6"/>
                <a:gd name="T15" fmla="*/ 0 h 6"/>
                <a:gd name="T16" fmla="*/ 0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0" y="0"/>
                  </a:moveTo>
                  <a:lnTo>
                    <a:pt x="0" y="0"/>
                  </a:lnTo>
                  <a:lnTo>
                    <a:pt x="0" y="6"/>
                  </a:lnTo>
                  <a:lnTo>
                    <a:pt x="0" y="6"/>
                  </a:lnTo>
                  <a:lnTo>
                    <a:pt x="6" y="6"/>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74" name="Freeform 374"/>
            <p:cNvSpPr>
              <a:spLocks/>
            </p:cNvSpPr>
            <p:nvPr/>
          </p:nvSpPr>
          <p:spPr bwMode="auto">
            <a:xfrm>
              <a:off x="4548" y="2363"/>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75" name="Freeform 375"/>
            <p:cNvSpPr>
              <a:spLocks/>
            </p:cNvSpPr>
            <p:nvPr/>
          </p:nvSpPr>
          <p:spPr bwMode="auto">
            <a:xfrm>
              <a:off x="4548" y="2369"/>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76" name="Freeform 376"/>
            <p:cNvSpPr>
              <a:spLocks/>
            </p:cNvSpPr>
            <p:nvPr/>
          </p:nvSpPr>
          <p:spPr bwMode="auto">
            <a:xfrm>
              <a:off x="4548" y="2375"/>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77" name="Freeform 377"/>
            <p:cNvSpPr>
              <a:spLocks/>
            </p:cNvSpPr>
            <p:nvPr/>
          </p:nvSpPr>
          <p:spPr bwMode="auto">
            <a:xfrm>
              <a:off x="4548" y="2375"/>
              <a:ext cx="6" cy="6"/>
            </a:xfrm>
            <a:custGeom>
              <a:avLst/>
              <a:gdLst>
                <a:gd name="T0" fmla="*/ 0 w 6"/>
                <a:gd name="T1" fmla="*/ 0 h 6"/>
                <a:gd name="T2" fmla="*/ 0 w 6"/>
                <a:gd name="T3" fmla="*/ 0 h 6"/>
                <a:gd name="T4" fmla="*/ 0 w 6"/>
                <a:gd name="T5" fmla="*/ 6 h 6"/>
                <a:gd name="T6" fmla="*/ 0 w 6"/>
                <a:gd name="T7" fmla="*/ 6 h 6"/>
                <a:gd name="T8" fmla="*/ 6 w 6"/>
                <a:gd name="T9" fmla="*/ 6 h 6"/>
                <a:gd name="T10" fmla="*/ 6 w 6"/>
                <a:gd name="T11" fmla="*/ 0 h 6"/>
                <a:gd name="T12" fmla="*/ 6 w 6"/>
                <a:gd name="T13" fmla="*/ 0 h 6"/>
                <a:gd name="T14" fmla="*/ 0 w 6"/>
                <a:gd name="T15" fmla="*/ 0 h 6"/>
                <a:gd name="T16" fmla="*/ 0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0" y="0"/>
                  </a:moveTo>
                  <a:lnTo>
                    <a:pt x="0" y="0"/>
                  </a:lnTo>
                  <a:lnTo>
                    <a:pt x="0" y="6"/>
                  </a:lnTo>
                  <a:lnTo>
                    <a:pt x="0" y="6"/>
                  </a:lnTo>
                  <a:lnTo>
                    <a:pt x="6" y="6"/>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78" name="Freeform 378"/>
            <p:cNvSpPr>
              <a:spLocks/>
            </p:cNvSpPr>
            <p:nvPr/>
          </p:nvSpPr>
          <p:spPr bwMode="auto">
            <a:xfrm>
              <a:off x="4548" y="2381"/>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79" name="Freeform 379"/>
            <p:cNvSpPr>
              <a:spLocks/>
            </p:cNvSpPr>
            <p:nvPr/>
          </p:nvSpPr>
          <p:spPr bwMode="auto">
            <a:xfrm>
              <a:off x="4548" y="2357"/>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80" name="Freeform 380"/>
            <p:cNvSpPr>
              <a:spLocks/>
            </p:cNvSpPr>
            <p:nvPr/>
          </p:nvSpPr>
          <p:spPr bwMode="auto">
            <a:xfrm>
              <a:off x="4548" y="2392"/>
              <a:ext cx="6" cy="6"/>
            </a:xfrm>
            <a:custGeom>
              <a:avLst/>
              <a:gdLst>
                <a:gd name="T0" fmla="*/ 0 w 6"/>
                <a:gd name="T1" fmla="*/ 0 h 6"/>
                <a:gd name="T2" fmla="*/ 0 w 6"/>
                <a:gd name="T3" fmla="*/ 0 h 6"/>
                <a:gd name="T4" fmla="*/ 0 w 6"/>
                <a:gd name="T5" fmla="*/ 6 h 6"/>
                <a:gd name="T6" fmla="*/ 0 w 6"/>
                <a:gd name="T7" fmla="*/ 6 h 6"/>
                <a:gd name="T8" fmla="*/ 6 w 6"/>
                <a:gd name="T9" fmla="*/ 6 h 6"/>
                <a:gd name="T10" fmla="*/ 6 w 6"/>
                <a:gd name="T11" fmla="*/ 6 h 6"/>
                <a:gd name="T12" fmla="*/ 6 w 6"/>
                <a:gd name="T13" fmla="*/ 0 h 6"/>
                <a:gd name="T14" fmla="*/ 0 w 6"/>
                <a:gd name="T15" fmla="*/ 0 h 6"/>
                <a:gd name="T16" fmla="*/ 0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0" y="0"/>
                  </a:moveTo>
                  <a:lnTo>
                    <a:pt x="0" y="0"/>
                  </a:lnTo>
                  <a:lnTo>
                    <a:pt x="0" y="6"/>
                  </a:lnTo>
                  <a:lnTo>
                    <a:pt x="0" y="6"/>
                  </a:lnTo>
                  <a:lnTo>
                    <a:pt x="6" y="6"/>
                  </a:lnTo>
                  <a:lnTo>
                    <a:pt x="6" y="6"/>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81" name="Freeform 381"/>
            <p:cNvSpPr>
              <a:spLocks/>
            </p:cNvSpPr>
            <p:nvPr/>
          </p:nvSpPr>
          <p:spPr bwMode="auto">
            <a:xfrm>
              <a:off x="4542" y="2422"/>
              <a:ext cx="12" cy="1"/>
            </a:xfrm>
            <a:custGeom>
              <a:avLst/>
              <a:gdLst>
                <a:gd name="T0" fmla="*/ 6 w 12"/>
                <a:gd name="T1" fmla="*/ 6 w 12"/>
                <a:gd name="T2" fmla="*/ 0 w 12"/>
                <a:gd name="T3" fmla="*/ 6 w 12"/>
                <a:gd name="T4" fmla="*/ 6 w 12"/>
                <a:gd name="T5" fmla="*/ 12 w 12"/>
                <a:gd name="T6" fmla="*/ 12 w 12"/>
                <a:gd name="T7" fmla="*/ 12 w 12"/>
                <a:gd name="T8" fmla="*/ 6 w 12"/>
                <a:gd name="T9" fmla="*/ 6 w 12"/>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2">
                  <a:moveTo>
                    <a:pt x="6" y="0"/>
                  </a:moveTo>
                  <a:lnTo>
                    <a:pt x="6" y="0"/>
                  </a:lnTo>
                  <a:lnTo>
                    <a:pt x="0" y="0"/>
                  </a:lnTo>
                  <a:lnTo>
                    <a:pt x="6" y="0"/>
                  </a:lnTo>
                  <a:lnTo>
                    <a:pt x="6" y="0"/>
                  </a:lnTo>
                  <a:lnTo>
                    <a:pt x="12" y="0"/>
                  </a:lnTo>
                  <a:lnTo>
                    <a:pt x="12" y="0"/>
                  </a:lnTo>
                  <a:lnTo>
                    <a:pt x="12" y="0"/>
                  </a:lnTo>
                  <a:lnTo>
                    <a:pt x="6" y="0"/>
                  </a:lnTo>
                  <a:lnTo>
                    <a:pt x="6"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82" name="Freeform 382"/>
            <p:cNvSpPr>
              <a:spLocks/>
            </p:cNvSpPr>
            <p:nvPr/>
          </p:nvSpPr>
          <p:spPr bwMode="auto">
            <a:xfrm>
              <a:off x="4548" y="2434"/>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1583" name="Text Box 383"/>
          <p:cNvSpPr txBox="1">
            <a:spLocks noChangeArrowheads="1"/>
          </p:cNvSpPr>
          <p:nvPr/>
        </p:nvSpPr>
        <p:spPr bwMode="auto">
          <a:xfrm>
            <a:off x="6767513" y="4052888"/>
            <a:ext cx="4048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eaLnBrk="0" hangingPunct="0"/>
            <a:r>
              <a:rPr lang="en-US" altLang="zh-CN" sz="2400" b="1" i="1">
                <a:solidFill>
                  <a:srgbClr val="FFFF00"/>
                </a:solidFill>
                <a:latin typeface="Times New Roman" pitchFamily="18" charset="0"/>
              </a:rPr>
              <a:t>O</a:t>
            </a:r>
            <a:endParaRPr lang="en-US" altLang="zh-CN" sz="2400" b="1" i="1">
              <a:latin typeface="Times New Roman" pitchFamily="18" charset="0"/>
            </a:endParaRPr>
          </a:p>
        </p:txBody>
      </p:sp>
      <p:graphicFrame>
        <p:nvGraphicFramePr>
          <p:cNvPr id="51584" name="Object 384"/>
          <p:cNvGraphicFramePr>
            <a:graphicFrameLocks/>
          </p:cNvGraphicFramePr>
          <p:nvPr/>
        </p:nvGraphicFramePr>
        <p:xfrm>
          <a:off x="7335838" y="3938588"/>
          <a:ext cx="331787" cy="503237"/>
        </p:xfrm>
        <a:graphic>
          <a:graphicData uri="http://schemas.openxmlformats.org/presentationml/2006/ole">
            <mc:AlternateContent xmlns:mc="http://schemas.openxmlformats.org/markup-compatibility/2006">
              <mc:Choice xmlns:v="urn:schemas-microsoft-com:vml" Requires="v">
                <p:oleObj spid="_x0000_s42006" name="Equation" r:id="rId7" imgW="152280" imgH="419040" progId="Equation.3">
                  <p:embed/>
                </p:oleObj>
              </mc:Choice>
              <mc:Fallback>
                <p:oleObj name="Equation" r:id="rId7" imgW="152280" imgH="41904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35838" y="3938588"/>
                        <a:ext cx="331787"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585" name="Rectangle 385"/>
          <p:cNvSpPr>
            <a:spLocks noChangeArrowheads="1"/>
          </p:cNvSpPr>
          <p:nvPr/>
        </p:nvSpPr>
        <p:spPr bwMode="auto">
          <a:xfrm rot="1463351">
            <a:off x="7335838" y="4700588"/>
            <a:ext cx="3032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eaLnBrk="0" hangingPunct="0"/>
            <a:r>
              <a:rPr lang="en-US" altLang="zh-CN" sz="2400" b="1" i="1">
                <a:solidFill>
                  <a:srgbClr val="00FF00"/>
                </a:solidFill>
                <a:latin typeface="Times New Roman" pitchFamily="18" charset="0"/>
              </a:rPr>
              <a:t>r</a:t>
            </a:r>
          </a:p>
        </p:txBody>
      </p:sp>
      <p:sp>
        <p:nvSpPr>
          <p:cNvPr id="51586" name="Arc 386"/>
          <p:cNvSpPr>
            <a:spLocks/>
          </p:cNvSpPr>
          <p:nvPr/>
        </p:nvSpPr>
        <p:spPr bwMode="auto">
          <a:xfrm flipH="1">
            <a:off x="6257925" y="4168775"/>
            <a:ext cx="76200" cy="3048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FF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587" name="Text Box 387"/>
          <p:cNvSpPr txBox="1">
            <a:spLocks noChangeArrowheads="1"/>
          </p:cNvSpPr>
          <p:nvPr/>
        </p:nvSpPr>
        <p:spPr bwMode="auto">
          <a:xfrm>
            <a:off x="5811838" y="4014788"/>
            <a:ext cx="342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0" hangingPunct="0"/>
            <a:r>
              <a:rPr lang="en-US" altLang="zh-CN" sz="2400" b="1" i="1">
                <a:solidFill>
                  <a:srgbClr val="FFFF00"/>
                </a:solidFill>
                <a:latin typeface="Times New Roman" pitchFamily="18" charset="0"/>
                <a:sym typeface="Symbol" pitchFamily="18" charset="2"/>
              </a:rPr>
              <a:t></a:t>
            </a:r>
            <a:endParaRPr lang="en-US" altLang="zh-CN" sz="2400" b="1" i="1">
              <a:latin typeface="Times New Roman" pitchFamily="18" charset="0"/>
            </a:endParaRPr>
          </a:p>
        </p:txBody>
      </p:sp>
      <p:sp>
        <p:nvSpPr>
          <p:cNvPr id="51588" name="Text Box 388"/>
          <p:cNvSpPr txBox="1">
            <a:spLocks noChangeArrowheads="1"/>
          </p:cNvSpPr>
          <p:nvPr/>
        </p:nvSpPr>
        <p:spPr bwMode="auto">
          <a:xfrm>
            <a:off x="738188" y="3357563"/>
            <a:ext cx="5057775"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5000"/>
              </a:lnSpc>
            </a:pPr>
            <a:r>
              <a:rPr lang="zh-CN" altLang="en-US" sz="2400" b="1">
                <a:solidFill>
                  <a:schemeClr val="bg1"/>
                </a:solidFill>
                <a:latin typeface="Times New Roman" pitchFamily="18" charset="0"/>
              </a:rPr>
              <a:t>昆虫落到杆上的过程为完全非弹性碰撞</a:t>
            </a:r>
            <a:r>
              <a:rPr lang="en-US" altLang="zh-CN" sz="2400" b="1">
                <a:solidFill>
                  <a:schemeClr val="bg1"/>
                </a:solidFill>
                <a:latin typeface="Times New Roman" pitchFamily="18" charset="0"/>
              </a:rPr>
              <a:t>,</a:t>
            </a:r>
            <a:r>
              <a:rPr lang="zh-CN" altLang="en-US" sz="2400" b="1">
                <a:solidFill>
                  <a:schemeClr val="bg1"/>
                </a:solidFill>
                <a:latin typeface="Times New Roman" pitchFamily="18" charset="0"/>
              </a:rPr>
              <a:t>对于昆虫和杆构成的系统，合外力矩为零，动量矩守恒</a:t>
            </a:r>
          </a:p>
        </p:txBody>
      </p:sp>
      <p:sp>
        <p:nvSpPr>
          <p:cNvPr id="51589" name="AutoShape 389"/>
          <p:cNvSpPr>
            <a:spLocks noChangeArrowheads="1"/>
          </p:cNvSpPr>
          <p:nvPr/>
        </p:nvSpPr>
        <p:spPr bwMode="auto">
          <a:xfrm>
            <a:off x="1314450" y="5251450"/>
            <a:ext cx="304800" cy="914400"/>
          </a:xfrm>
          <a:prstGeom prst="curvedRightArrow">
            <a:avLst>
              <a:gd name="adj1" fmla="val 60000"/>
              <a:gd name="adj2" fmla="val 120000"/>
              <a:gd name="adj3" fmla="val 33333"/>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90" name="Text Box 390"/>
          <p:cNvSpPr txBox="1">
            <a:spLocks noChangeArrowheads="1"/>
          </p:cNvSpPr>
          <p:nvPr/>
        </p:nvSpPr>
        <p:spPr bwMode="auto">
          <a:xfrm>
            <a:off x="111125" y="400050"/>
            <a:ext cx="827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b="1">
                <a:solidFill>
                  <a:srgbClr val="FFFF00"/>
                </a:solidFill>
                <a:latin typeface="Times New Roman" pitchFamily="18" charset="0"/>
              </a:rPr>
              <a:t>例</a:t>
            </a:r>
          </a:p>
        </p:txBody>
      </p:sp>
      <p:sp>
        <p:nvSpPr>
          <p:cNvPr id="51591" name="Text Box 391"/>
          <p:cNvSpPr txBox="1">
            <a:spLocks noChangeArrowheads="1"/>
          </p:cNvSpPr>
          <p:nvPr/>
        </p:nvSpPr>
        <p:spPr bwMode="auto">
          <a:xfrm>
            <a:off x="144463" y="3452813"/>
            <a:ext cx="8270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b="1">
                <a:solidFill>
                  <a:srgbClr val="FFFF00"/>
                </a:solidFill>
                <a:latin typeface="Times New Roman" pitchFamily="18" charset="0"/>
              </a:rPr>
              <a:t>解</a:t>
            </a:r>
          </a:p>
        </p:txBody>
      </p:sp>
      <p:sp>
        <p:nvSpPr>
          <p:cNvPr id="51592" name="Text Box 392"/>
          <p:cNvSpPr txBox="1">
            <a:spLocks noChangeArrowheads="1"/>
          </p:cNvSpPr>
          <p:nvPr/>
        </p:nvSpPr>
        <p:spPr bwMode="auto">
          <a:xfrm>
            <a:off x="250825" y="2784475"/>
            <a:ext cx="47180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5000"/>
              </a:lnSpc>
            </a:pPr>
            <a:r>
              <a:rPr lang="zh-CN" altLang="en-US" sz="2400" b="1">
                <a:solidFill>
                  <a:srgbClr val="FFFF00"/>
                </a:solidFill>
                <a:latin typeface="Times New Roman" pitchFamily="18" charset="0"/>
              </a:rPr>
              <a:t>求</a:t>
            </a:r>
            <a:r>
              <a:rPr lang="zh-CN" altLang="en-US" sz="2400" b="1">
                <a:solidFill>
                  <a:srgbClr val="FFFF66"/>
                </a:solidFill>
                <a:latin typeface="Times New Roman" pitchFamily="18" charset="0"/>
              </a:rPr>
              <a:t> </a:t>
            </a:r>
            <a:r>
              <a:rPr lang="zh-CN" altLang="en-US" sz="2400" b="1">
                <a:solidFill>
                  <a:schemeClr val="bg1"/>
                </a:solidFill>
                <a:latin typeface="Times New Roman" pitchFamily="18" charset="0"/>
              </a:rPr>
              <a:t> 昆虫沿杆爬行的</a:t>
            </a:r>
            <a:r>
              <a:rPr lang="zh-CN" altLang="en-US" sz="2400" b="1">
                <a:solidFill>
                  <a:srgbClr val="66FFFF"/>
                </a:solidFill>
                <a:latin typeface="Times New Roman" pitchFamily="18" charset="0"/>
              </a:rPr>
              <a:t>速度</a:t>
            </a:r>
            <a:r>
              <a:rPr lang="zh-CN" altLang="en-US" sz="2400" b="1">
                <a:solidFill>
                  <a:schemeClr val="bg1"/>
                </a:solidFill>
                <a:latin typeface="Times New Roman" pitchFamily="18" charset="0"/>
              </a:rPr>
              <a:t>。</a:t>
            </a:r>
            <a:endParaRPr kumimoji="1" lang="zh-CN" altLang="en-US" sz="2400" b="1">
              <a:latin typeface="Times New Roman" pitchFamily="18" charset="0"/>
            </a:endParaRPr>
          </a:p>
        </p:txBody>
      </p:sp>
    </p:spTree>
    <p:extLst>
      <p:ext uri="{BB962C8B-B14F-4D97-AF65-F5344CB8AC3E}">
        <p14:creationId xmlns:p14="http://schemas.microsoft.com/office/powerpoint/2010/main" val="141165221"/>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591"/>
                                        </p:tgtEl>
                                        <p:attrNameLst>
                                          <p:attrName>style.visibility</p:attrName>
                                        </p:attrNameLst>
                                      </p:cBhvr>
                                      <p:to>
                                        <p:strVal val="visible"/>
                                      </p:to>
                                    </p:set>
                                    <p:animEffect transition="in" filter="wipe(left)">
                                      <p:cBhvr>
                                        <p:cTn id="7" dur="500"/>
                                        <p:tgtEl>
                                          <p:spTgt spid="515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588"/>
                                        </p:tgtEl>
                                        <p:attrNameLst>
                                          <p:attrName>style.visibility</p:attrName>
                                        </p:attrNameLst>
                                      </p:cBhvr>
                                      <p:to>
                                        <p:strVal val="visible"/>
                                      </p:to>
                                    </p:set>
                                    <p:animEffect transition="in" filter="wipe(left)">
                                      <p:cBhvr>
                                        <p:cTn id="12" dur="500"/>
                                        <p:tgtEl>
                                          <p:spTgt spid="515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1203"/>
                                        </p:tgtEl>
                                        <p:attrNameLst>
                                          <p:attrName>style.visibility</p:attrName>
                                        </p:attrNameLst>
                                      </p:cBhvr>
                                      <p:to>
                                        <p:strVal val="visible"/>
                                      </p:to>
                                    </p:set>
                                    <p:animEffect transition="in" filter="wipe(left)">
                                      <p:cBhvr>
                                        <p:cTn id="17" dur="500"/>
                                        <p:tgtEl>
                                          <p:spTgt spid="5120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1589"/>
                                        </p:tgtEl>
                                        <p:attrNameLst>
                                          <p:attrName>style.visibility</p:attrName>
                                        </p:attrNameLst>
                                      </p:cBhvr>
                                      <p:to>
                                        <p:strVal val="visible"/>
                                      </p:to>
                                    </p:set>
                                    <p:animEffect transition="in" filter="wipe(up)">
                                      <p:cBhvr>
                                        <p:cTn id="22" dur="500"/>
                                        <p:tgtEl>
                                          <p:spTgt spid="5158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1204"/>
                                        </p:tgtEl>
                                        <p:attrNameLst>
                                          <p:attrName>style.visibility</p:attrName>
                                        </p:attrNameLst>
                                      </p:cBhvr>
                                      <p:to>
                                        <p:strVal val="visible"/>
                                      </p:to>
                                    </p:set>
                                    <p:animEffect transition="in" filter="wipe(left)">
                                      <p:cBhvr>
                                        <p:cTn id="27" dur="500"/>
                                        <p:tgtEl>
                                          <p:spTgt spid="5120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1389"/>
                                        </p:tgtEl>
                                        <p:attrNameLst>
                                          <p:attrName>style.visibility</p:attrName>
                                        </p:attrNameLst>
                                      </p:cBhvr>
                                      <p:to>
                                        <p:strVal val="visible"/>
                                      </p:to>
                                    </p:set>
                                    <p:animEffect transition="in" filter="wipe(left)">
                                      <p:cBhvr>
                                        <p:cTn id="32" dur="500"/>
                                        <p:tgtEl>
                                          <p:spTgt spid="5138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1586"/>
                                        </p:tgtEl>
                                        <p:attrNameLst>
                                          <p:attrName>style.visibility</p:attrName>
                                        </p:attrNameLst>
                                      </p:cBhvr>
                                      <p:to>
                                        <p:strVal val="visible"/>
                                      </p:to>
                                    </p:set>
                                    <p:animEffect transition="in" filter="wipe(left)">
                                      <p:cBhvr>
                                        <p:cTn id="37" dur="500"/>
                                        <p:tgtEl>
                                          <p:spTgt spid="5158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1587"/>
                                        </p:tgtEl>
                                        <p:attrNameLst>
                                          <p:attrName>style.visibility</p:attrName>
                                        </p:attrNameLst>
                                      </p:cBhvr>
                                      <p:to>
                                        <p:strVal val="visible"/>
                                      </p:to>
                                    </p:set>
                                    <p:animEffect transition="in" filter="wipe(left)">
                                      <p:cBhvr>
                                        <p:cTn id="42" dur="500"/>
                                        <p:tgtEl>
                                          <p:spTgt spid="5158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1395"/>
                                        </p:tgtEl>
                                        <p:attrNameLst>
                                          <p:attrName>style.visibility</p:attrName>
                                        </p:attrNameLst>
                                      </p:cBhvr>
                                      <p:to>
                                        <p:strVal val="visible"/>
                                      </p:to>
                                    </p:set>
                                    <p:animEffect transition="in" filter="wipe(left)">
                                      <p:cBhvr>
                                        <p:cTn id="47" dur="500"/>
                                        <p:tgtEl>
                                          <p:spTgt spid="5139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1585"/>
                                        </p:tgtEl>
                                        <p:attrNameLst>
                                          <p:attrName>style.visibility</p:attrName>
                                        </p:attrNameLst>
                                      </p:cBhvr>
                                      <p:to>
                                        <p:strVal val="visible"/>
                                      </p:to>
                                    </p:set>
                                    <p:animEffect transition="in" filter="wipe(left)">
                                      <p:cBhvr>
                                        <p:cTn id="52" dur="500"/>
                                        <p:tgtEl>
                                          <p:spTgt spid="5158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51400"/>
                                        </p:tgtEl>
                                        <p:attrNameLst>
                                          <p:attrName>style.visibility</p:attrName>
                                        </p:attrNameLst>
                                      </p:cBhvr>
                                      <p:to>
                                        <p:strVal val="visible"/>
                                      </p:to>
                                    </p:set>
                                    <p:animEffect transition="in" filter="wipe(left)">
                                      <p:cBhvr>
                                        <p:cTn id="57" dur="500"/>
                                        <p:tgtEl>
                                          <p:spTgt spid="51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89" grpId="0" animBg="1"/>
      <p:bldP spid="51585" grpId="0" autoUpdateAnimBg="0"/>
      <p:bldP spid="51586" grpId="0" animBg="1"/>
      <p:bldP spid="51587" grpId="0" autoUpdateAnimBg="0"/>
      <p:bldP spid="51588" grpId="0" autoUpdateAnimBg="0"/>
      <p:bldP spid="51589" grpId="0" animBg="1"/>
      <p:bldP spid="5159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26" name="Object 2"/>
          <p:cNvGraphicFramePr>
            <a:graphicFrameLocks/>
          </p:cNvGraphicFramePr>
          <p:nvPr>
            <p:extLst>
              <p:ext uri="{D42A27DB-BD31-4B8C-83A1-F6EECF244321}">
                <p14:modId xmlns:p14="http://schemas.microsoft.com/office/powerpoint/2010/main" val="435978151"/>
              </p:ext>
            </p:extLst>
          </p:nvPr>
        </p:nvGraphicFramePr>
        <p:xfrm>
          <a:off x="5238970" y="2455225"/>
          <a:ext cx="1690687" cy="827087"/>
        </p:xfrm>
        <a:graphic>
          <a:graphicData uri="http://schemas.openxmlformats.org/presentationml/2006/ole">
            <mc:AlternateContent xmlns:mc="http://schemas.openxmlformats.org/markup-compatibility/2006">
              <mc:Choice xmlns:v="urn:schemas-microsoft-com:vml" Requires="v">
                <p:oleObj spid="_x0000_s43058" name="Equation" r:id="rId3" imgW="1688760" imgH="825480" progId="Equation.3">
                  <p:embed/>
                </p:oleObj>
              </mc:Choice>
              <mc:Fallback>
                <p:oleObj name="Equation" r:id="rId3" imgW="1688760" imgH="82548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8970" y="2455225"/>
                        <a:ext cx="1690687" cy="82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27" name="Object 3"/>
          <p:cNvGraphicFramePr>
            <a:graphicFrameLocks/>
          </p:cNvGraphicFramePr>
          <p:nvPr>
            <p:extLst>
              <p:ext uri="{D42A27DB-BD31-4B8C-83A1-F6EECF244321}">
                <p14:modId xmlns:p14="http://schemas.microsoft.com/office/powerpoint/2010/main" val="2639098360"/>
              </p:ext>
            </p:extLst>
          </p:nvPr>
        </p:nvGraphicFramePr>
        <p:xfrm>
          <a:off x="5020622" y="3375182"/>
          <a:ext cx="2792413" cy="825500"/>
        </p:xfrm>
        <a:graphic>
          <a:graphicData uri="http://schemas.openxmlformats.org/presentationml/2006/ole">
            <mc:AlternateContent xmlns:mc="http://schemas.openxmlformats.org/markup-compatibility/2006">
              <mc:Choice xmlns:v="urn:schemas-microsoft-com:vml" Requires="v">
                <p:oleObj spid="_x0000_s43059" name="Equation" r:id="rId5" imgW="2793960" imgH="825480" progId="Equation.3">
                  <p:embed/>
                </p:oleObj>
              </mc:Choice>
              <mc:Fallback>
                <p:oleObj name="Equation" r:id="rId5" imgW="2793960" imgH="82548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0622" y="3375182"/>
                        <a:ext cx="2792413"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28" name="Object 4"/>
          <p:cNvGraphicFramePr>
            <a:graphicFrameLocks/>
          </p:cNvGraphicFramePr>
          <p:nvPr>
            <p:extLst>
              <p:ext uri="{D42A27DB-BD31-4B8C-83A1-F6EECF244321}">
                <p14:modId xmlns:p14="http://schemas.microsoft.com/office/powerpoint/2010/main" val="1154509577"/>
              </p:ext>
            </p:extLst>
          </p:nvPr>
        </p:nvGraphicFramePr>
        <p:xfrm>
          <a:off x="3220397" y="4456269"/>
          <a:ext cx="2979738" cy="828675"/>
        </p:xfrm>
        <a:graphic>
          <a:graphicData uri="http://schemas.openxmlformats.org/presentationml/2006/ole">
            <mc:AlternateContent xmlns:mc="http://schemas.openxmlformats.org/markup-compatibility/2006">
              <mc:Choice xmlns:v="urn:schemas-microsoft-com:vml" Requires="v">
                <p:oleObj spid="_x0000_s43060" name="Equation" r:id="rId7" imgW="2971800" imgH="825480" progId="Equation.3">
                  <p:embed/>
                </p:oleObj>
              </mc:Choice>
              <mc:Fallback>
                <p:oleObj name="Equation" r:id="rId7" imgW="2971800" imgH="82548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20397" y="4456269"/>
                        <a:ext cx="2979738"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29" name="Object 5"/>
          <p:cNvGraphicFramePr>
            <a:graphicFrameLocks/>
          </p:cNvGraphicFramePr>
          <p:nvPr>
            <p:extLst>
              <p:ext uri="{D42A27DB-BD31-4B8C-83A1-F6EECF244321}">
                <p14:modId xmlns:p14="http://schemas.microsoft.com/office/powerpoint/2010/main" val="2601185528"/>
              </p:ext>
            </p:extLst>
          </p:nvPr>
        </p:nvGraphicFramePr>
        <p:xfrm>
          <a:off x="1334447" y="5607207"/>
          <a:ext cx="4117975" cy="825500"/>
        </p:xfrm>
        <a:graphic>
          <a:graphicData uri="http://schemas.openxmlformats.org/presentationml/2006/ole">
            <mc:AlternateContent xmlns:mc="http://schemas.openxmlformats.org/markup-compatibility/2006">
              <mc:Choice xmlns:v="urn:schemas-microsoft-com:vml" Requires="v">
                <p:oleObj spid="_x0000_s43061" name="Equation" r:id="rId9" imgW="4101840" imgH="825480" progId="Equation.3">
                  <p:embed/>
                </p:oleObj>
              </mc:Choice>
              <mc:Fallback>
                <p:oleObj name="Equation" r:id="rId9" imgW="4101840" imgH="825480"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34447" y="5607207"/>
                        <a:ext cx="411797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30" name="Object 6"/>
          <p:cNvGraphicFramePr>
            <a:graphicFrameLocks/>
          </p:cNvGraphicFramePr>
          <p:nvPr>
            <p:extLst>
              <p:ext uri="{D42A27DB-BD31-4B8C-83A1-F6EECF244321}">
                <p14:modId xmlns:p14="http://schemas.microsoft.com/office/powerpoint/2010/main" val="2372601517"/>
              </p:ext>
            </p:extLst>
          </p:nvPr>
        </p:nvGraphicFramePr>
        <p:xfrm>
          <a:off x="5452422" y="5607207"/>
          <a:ext cx="2565400" cy="917575"/>
        </p:xfrm>
        <a:graphic>
          <a:graphicData uri="http://schemas.openxmlformats.org/presentationml/2006/ole">
            <mc:AlternateContent xmlns:mc="http://schemas.openxmlformats.org/markup-compatibility/2006">
              <mc:Choice xmlns:v="urn:schemas-microsoft-com:vml" Requires="v">
                <p:oleObj spid="_x0000_s43062" name="Equation" r:id="rId11" imgW="2552400" imgH="914400" progId="Equation.3">
                  <p:embed/>
                </p:oleObj>
              </mc:Choice>
              <mc:Fallback>
                <p:oleObj name="Equation" r:id="rId11" imgW="2552400" imgH="914400"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52422" y="5607207"/>
                        <a:ext cx="2565400"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31" name="Text Box 7"/>
          <p:cNvSpPr txBox="1">
            <a:spLocks noChangeArrowheads="1"/>
          </p:cNvSpPr>
          <p:nvPr/>
        </p:nvSpPr>
        <p:spPr bwMode="auto">
          <a:xfrm>
            <a:off x="520920" y="2633025"/>
            <a:ext cx="3457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b="1">
                <a:solidFill>
                  <a:schemeClr val="bg1"/>
                </a:solidFill>
                <a:latin typeface="Times New Roman" pitchFamily="18" charset="0"/>
              </a:rPr>
              <a:t>使杆以匀角速度转动</a:t>
            </a:r>
          </a:p>
        </p:txBody>
      </p:sp>
      <p:sp>
        <p:nvSpPr>
          <p:cNvPr id="52232" name="AutoShape 8"/>
          <p:cNvSpPr>
            <a:spLocks noChangeArrowheads="1"/>
          </p:cNvSpPr>
          <p:nvPr/>
        </p:nvSpPr>
        <p:spPr bwMode="auto">
          <a:xfrm>
            <a:off x="4119782" y="2777487"/>
            <a:ext cx="720725" cy="215900"/>
          </a:xfrm>
          <a:prstGeom prst="rightArrow">
            <a:avLst>
              <a:gd name="adj1" fmla="val 50000"/>
              <a:gd name="adj2" fmla="val 83456"/>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2233" name="Object 9"/>
          <p:cNvGraphicFramePr>
            <a:graphicFrameLocks noGrp="1"/>
          </p:cNvGraphicFramePr>
          <p:nvPr>
            <p:ph sz="half" idx="1"/>
            <p:extLst>
              <p:ext uri="{D42A27DB-BD31-4B8C-83A1-F6EECF244321}">
                <p14:modId xmlns:p14="http://schemas.microsoft.com/office/powerpoint/2010/main" val="4147652189"/>
              </p:ext>
            </p:extLst>
          </p:nvPr>
        </p:nvGraphicFramePr>
        <p:xfrm>
          <a:off x="1956747" y="3591082"/>
          <a:ext cx="2197100" cy="419100"/>
        </p:xfrm>
        <a:graphic>
          <a:graphicData uri="http://schemas.openxmlformats.org/presentationml/2006/ole">
            <mc:AlternateContent xmlns:mc="http://schemas.openxmlformats.org/markup-compatibility/2006">
              <mc:Choice xmlns:v="urn:schemas-microsoft-com:vml" Requires="v">
                <p:oleObj spid="_x0000_s43063" name="公式" r:id="rId13" imgW="2197080" imgH="419040" progId="Equation.3">
                  <p:embed/>
                </p:oleObj>
              </mc:Choice>
              <mc:Fallback>
                <p:oleObj name="公式" r:id="rId13" imgW="2197080" imgH="419040" progId="Equation.3">
                  <p:embed/>
                  <p:pic>
                    <p:nvPicPr>
                      <p:cNvPr id="0" name=""/>
                      <p:cNvPicPr>
                        <a:picLocks noGrp="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56747" y="3591082"/>
                        <a:ext cx="21971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34" name="Text Box 10"/>
          <p:cNvSpPr txBox="1">
            <a:spLocks noChangeArrowheads="1"/>
          </p:cNvSpPr>
          <p:nvPr/>
        </p:nvSpPr>
        <p:spPr bwMode="auto">
          <a:xfrm>
            <a:off x="485135" y="4672169"/>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400" b="1">
                <a:solidFill>
                  <a:schemeClr val="bg1"/>
                </a:solidFill>
                <a:latin typeface="Times New Roman" pitchFamily="18" charset="0"/>
              </a:rPr>
              <a:t>代入得</a:t>
            </a:r>
          </a:p>
        </p:txBody>
      </p:sp>
      <p:sp>
        <p:nvSpPr>
          <p:cNvPr id="52235" name="Text Box 11"/>
          <p:cNvSpPr txBox="1">
            <a:spLocks noChangeArrowheads="1"/>
          </p:cNvSpPr>
          <p:nvPr/>
        </p:nvSpPr>
        <p:spPr bwMode="auto">
          <a:xfrm>
            <a:off x="899592" y="468510"/>
            <a:ext cx="1447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r>
              <a:rPr lang="zh-CN" altLang="en-US" sz="2400" b="1">
                <a:solidFill>
                  <a:schemeClr val="bg1"/>
                </a:solidFill>
                <a:latin typeface="Times New Roman" pitchFamily="18" charset="0"/>
              </a:rPr>
              <a:t>转动定律</a:t>
            </a:r>
          </a:p>
        </p:txBody>
      </p:sp>
      <p:graphicFrame>
        <p:nvGraphicFramePr>
          <p:cNvPr id="52236" name="Object 12"/>
          <p:cNvGraphicFramePr>
            <a:graphicFrameLocks noGrp="1"/>
          </p:cNvGraphicFramePr>
          <p:nvPr>
            <p:ph sz="half" idx="2"/>
            <p:extLst>
              <p:ext uri="{D42A27DB-BD31-4B8C-83A1-F6EECF244321}">
                <p14:modId xmlns:p14="http://schemas.microsoft.com/office/powerpoint/2010/main" val="150795966"/>
              </p:ext>
            </p:extLst>
          </p:nvPr>
        </p:nvGraphicFramePr>
        <p:xfrm>
          <a:off x="2843734" y="309959"/>
          <a:ext cx="1905000" cy="825500"/>
        </p:xfrm>
        <a:graphic>
          <a:graphicData uri="http://schemas.openxmlformats.org/presentationml/2006/ole">
            <mc:AlternateContent xmlns:mc="http://schemas.openxmlformats.org/markup-compatibility/2006">
              <mc:Choice xmlns:v="urn:schemas-microsoft-com:vml" Requires="v">
                <p:oleObj spid="_x0000_s43064" name="Equation" r:id="rId15" imgW="1904760" imgH="825480" progId="Equation.3">
                  <p:embed/>
                </p:oleObj>
              </mc:Choice>
              <mc:Fallback>
                <p:oleObj name="Equation" r:id="rId15" imgW="1904760" imgH="825480" progId="Equation.3">
                  <p:embed/>
                  <p:pic>
                    <p:nvPicPr>
                      <p:cNvPr id="0" name=""/>
                      <p:cNvPicPr>
                        <a:picLocks noGrp="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43734" y="309959"/>
                        <a:ext cx="19050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37" name="Text Box 13"/>
          <p:cNvSpPr txBox="1">
            <a:spLocks noChangeArrowheads="1"/>
          </p:cNvSpPr>
          <p:nvPr/>
        </p:nvSpPr>
        <p:spPr bwMode="auto">
          <a:xfrm>
            <a:off x="628010" y="3519644"/>
            <a:ext cx="10810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400" b="1">
                <a:solidFill>
                  <a:schemeClr val="bg1"/>
                </a:solidFill>
                <a:latin typeface="Times New Roman" pitchFamily="18" charset="0"/>
              </a:rPr>
              <a:t>其中</a:t>
            </a:r>
          </a:p>
        </p:txBody>
      </p:sp>
      <p:grpSp>
        <p:nvGrpSpPr>
          <p:cNvPr id="2" name="组合 1"/>
          <p:cNvGrpSpPr/>
          <p:nvPr/>
        </p:nvGrpSpPr>
        <p:grpSpPr>
          <a:xfrm>
            <a:off x="5744370" y="66966"/>
            <a:ext cx="3286125" cy="1693863"/>
            <a:chOff x="5744370" y="66966"/>
            <a:chExt cx="3286125" cy="1693863"/>
          </a:xfrm>
        </p:grpSpPr>
        <p:grpSp>
          <p:nvGrpSpPr>
            <p:cNvPr id="14" name="Group 5"/>
            <p:cNvGrpSpPr>
              <a:grpSpLocks/>
            </p:cNvGrpSpPr>
            <p:nvPr/>
          </p:nvGrpSpPr>
          <p:grpSpPr bwMode="auto">
            <a:xfrm>
              <a:off x="8020845" y="66966"/>
              <a:ext cx="180975" cy="322263"/>
              <a:chOff x="4495" y="2334"/>
              <a:chExt cx="114" cy="203"/>
            </a:xfrm>
          </p:grpSpPr>
          <p:grpSp>
            <p:nvGrpSpPr>
              <p:cNvPr id="15" name="Group 6"/>
              <p:cNvGrpSpPr>
                <a:grpSpLocks/>
              </p:cNvGrpSpPr>
              <p:nvPr/>
            </p:nvGrpSpPr>
            <p:grpSpPr bwMode="auto">
              <a:xfrm>
                <a:off x="4495" y="2334"/>
                <a:ext cx="114" cy="203"/>
                <a:chOff x="4495" y="2334"/>
                <a:chExt cx="114" cy="203"/>
              </a:xfrm>
            </p:grpSpPr>
            <p:sp>
              <p:nvSpPr>
                <p:cNvPr id="80" name="Freeform 7"/>
                <p:cNvSpPr>
                  <a:spLocks/>
                </p:cNvSpPr>
                <p:nvPr/>
              </p:nvSpPr>
              <p:spPr bwMode="auto">
                <a:xfrm>
                  <a:off x="4513" y="2346"/>
                  <a:ext cx="36" cy="71"/>
                </a:xfrm>
                <a:custGeom>
                  <a:avLst/>
                  <a:gdLst>
                    <a:gd name="T0" fmla="*/ 36 w 36"/>
                    <a:gd name="T1" fmla="*/ 71 h 71"/>
                    <a:gd name="T2" fmla="*/ 30 w 36"/>
                    <a:gd name="T3" fmla="*/ 71 h 71"/>
                    <a:gd name="T4" fmla="*/ 24 w 36"/>
                    <a:gd name="T5" fmla="*/ 71 h 71"/>
                    <a:gd name="T6" fmla="*/ 12 w 36"/>
                    <a:gd name="T7" fmla="*/ 65 h 71"/>
                    <a:gd name="T8" fmla="*/ 6 w 36"/>
                    <a:gd name="T9" fmla="*/ 59 h 71"/>
                    <a:gd name="T10" fmla="*/ 0 w 36"/>
                    <a:gd name="T11" fmla="*/ 54 h 71"/>
                    <a:gd name="T12" fmla="*/ 0 w 36"/>
                    <a:gd name="T13" fmla="*/ 48 h 71"/>
                    <a:gd name="T14" fmla="*/ 0 w 36"/>
                    <a:gd name="T15" fmla="*/ 42 h 71"/>
                    <a:gd name="T16" fmla="*/ 0 w 36"/>
                    <a:gd name="T17" fmla="*/ 42 h 71"/>
                    <a:gd name="T18" fmla="*/ 6 w 36"/>
                    <a:gd name="T19" fmla="*/ 36 h 71"/>
                    <a:gd name="T20" fmla="*/ 12 w 36"/>
                    <a:gd name="T21" fmla="*/ 30 h 71"/>
                    <a:gd name="T22" fmla="*/ 12 w 36"/>
                    <a:gd name="T23" fmla="*/ 30 h 71"/>
                    <a:gd name="T24" fmla="*/ 12 w 36"/>
                    <a:gd name="T25" fmla="*/ 12 h 71"/>
                    <a:gd name="T26" fmla="*/ 12 w 36"/>
                    <a:gd name="T27" fmla="*/ 0 h 71"/>
                    <a:gd name="T28" fmla="*/ 12 w 36"/>
                    <a:gd name="T29" fmla="*/ 12 h 71"/>
                    <a:gd name="T30" fmla="*/ 12 w 36"/>
                    <a:gd name="T31" fmla="*/ 6 h 71"/>
                    <a:gd name="T32" fmla="*/ 12 w 36"/>
                    <a:gd name="T33" fmla="*/ 12 h 71"/>
                    <a:gd name="T34" fmla="*/ 18 w 36"/>
                    <a:gd name="T35" fmla="*/ 18 h 71"/>
                    <a:gd name="T36" fmla="*/ 18 w 36"/>
                    <a:gd name="T37" fmla="*/ 24 h 71"/>
                    <a:gd name="T38" fmla="*/ 18 w 36"/>
                    <a:gd name="T39" fmla="*/ 24 h 71"/>
                    <a:gd name="T40" fmla="*/ 18 w 36"/>
                    <a:gd name="T41" fmla="*/ 24 h 71"/>
                    <a:gd name="T42" fmla="*/ 18 w 36"/>
                    <a:gd name="T43" fmla="*/ 24 h 71"/>
                    <a:gd name="T44" fmla="*/ 18 w 36"/>
                    <a:gd name="T45" fmla="*/ 30 h 71"/>
                    <a:gd name="T46" fmla="*/ 18 w 36"/>
                    <a:gd name="T47" fmla="*/ 36 h 71"/>
                    <a:gd name="T48" fmla="*/ 12 w 36"/>
                    <a:gd name="T49" fmla="*/ 42 h 71"/>
                    <a:gd name="T50" fmla="*/ 0 w 36"/>
                    <a:gd name="T51" fmla="*/ 48 h 71"/>
                    <a:gd name="T52" fmla="*/ 6 w 36"/>
                    <a:gd name="T53" fmla="*/ 48 h 71"/>
                    <a:gd name="T54" fmla="*/ 6 w 36"/>
                    <a:gd name="T55" fmla="*/ 48 h 71"/>
                    <a:gd name="T56" fmla="*/ 12 w 36"/>
                    <a:gd name="T57" fmla="*/ 48 h 71"/>
                    <a:gd name="T58" fmla="*/ 18 w 36"/>
                    <a:gd name="T59" fmla="*/ 54 h 71"/>
                    <a:gd name="T60" fmla="*/ 30 w 36"/>
                    <a:gd name="T61" fmla="*/ 54 h 71"/>
                    <a:gd name="T62" fmla="*/ 36 w 36"/>
                    <a:gd name="T63" fmla="*/ 59 h 71"/>
                    <a:gd name="T64" fmla="*/ 36 w 36"/>
                    <a:gd name="T65" fmla="*/ 71 h 71"/>
                    <a:gd name="T66" fmla="*/ 36 w 36"/>
                    <a:gd name="T67"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6" h="71">
                      <a:moveTo>
                        <a:pt x="36" y="71"/>
                      </a:moveTo>
                      <a:lnTo>
                        <a:pt x="30" y="71"/>
                      </a:lnTo>
                      <a:lnTo>
                        <a:pt x="24" y="71"/>
                      </a:lnTo>
                      <a:lnTo>
                        <a:pt x="12" y="65"/>
                      </a:lnTo>
                      <a:lnTo>
                        <a:pt x="6" y="59"/>
                      </a:lnTo>
                      <a:lnTo>
                        <a:pt x="0" y="54"/>
                      </a:lnTo>
                      <a:lnTo>
                        <a:pt x="0" y="48"/>
                      </a:lnTo>
                      <a:lnTo>
                        <a:pt x="0" y="42"/>
                      </a:lnTo>
                      <a:lnTo>
                        <a:pt x="0" y="42"/>
                      </a:lnTo>
                      <a:lnTo>
                        <a:pt x="6" y="36"/>
                      </a:lnTo>
                      <a:lnTo>
                        <a:pt x="12" y="30"/>
                      </a:lnTo>
                      <a:lnTo>
                        <a:pt x="12" y="30"/>
                      </a:lnTo>
                      <a:lnTo>
                        <a:pt x="12" y="12"/>
                      </a:lnTo>
                      <a:lnTo>
                        <a:pt x="12" y="0"/>
                      </a:lnTo>
                      <a:lnTo>
                        <a:pt x="12" y="12"/>
                      </a:lnTo>
                      <a:lnTo>
                        <a:pt x="12" y="6"/>
                      </a:lnTo>
                      <a:lnTo>
                        <a:pt x="12" y="12"/>
                      </a:lnTo>
                      <a:lnTo>
                        <a:pt x="18" y="18"/>
                      </a:lnTo>
                      <a:lnTo>
                        <a:pt x="18" y="24"/>
                      </a:lnTo>
                      <a:lnTo>
                        <a:pt x="18" y="24"/>
                      </a:lnTo>
                      <a:lnTo>
                        <a:pt x="18" y="24"/>
                      </a:lnTo>
                      <a:lnTo>
                        <a:pt x="18" y="24"/>
                      </a:lnTo>
                      <a:lnTo>
                        <a:pt x="18" y="30"/>
                      </a:lnTo>
                      <a:lnTo>
                        <a:pt x="18" y="36"/>
                      </a:lnTo>
                      <a:lnTo>
                        <a:pt x="12" y="42"/>
                      </a:lnTo>
                      <a:lnTo>
                        <a:pt x="0" y="48"/>
                      </a:lnTo>
                      <a:lnTo>
                        <a:pt x="6" y="48"/>
                      </a:lnTo>
                      <a:lnTo>
                        <a:pt x="6" y="48"/>
                      </a:lnTo>
                      <a:lnTo>
                        <a:pt x="12" y="48"/>
                      </a:lnTo>
                      <a:lnTo>
                        <a:pt x="18" y="54"/>
                      </a:lnTo>
                      <a:lnTo>
                        <a:pt x="30" y="54"/>
                      </a:lnTo>
                      <a:lnTo>
                        <a:pt x="36" y="59"/>
                      </a:lnTo>
                      <a:lnTo>
                        <a:pt x="36" y="71"/>
                      </a:lnTo>
                      <a:lnTo>
                        <a:pt x="36" y="71"/>
                      </a:lnTo>
                      <a:close/>
                    </a:path>
                  </a:pathLst>
                </a:custGeom>
                <a:solidFill>
                  <a:srgbClr val="00FF00"/>
                </a:solidFill>
                <a:ln w="9525">
                  <a:solidFill>
                    <a:srgbClr val="00FF00"/>
                  </a:solidFill>
                  <a:round/>
                  <a:headEnd/>
                  <a:tailEnd/>
                </a:ln>
              </p:spPr>
              <p:txBody>
                <a:bodyPr/>
                <a:lstStyle/>
                <a:p>
                  <a:endParaRPr lang="zh-CN" altLang="en-US"/>
                </a:p>
              </p:txBody>
            </p:sp>
            <p:sp>
              <p:nvSpPr>
                <p:cNvPr id="81" name="Freeform 8"/>
                <p:cNvSpPr>
                  <a:spLocks/>
                </p:cNvSpPr>
                <p:nvPr/>
              </p:nvSpPr>
              <p:spPr bwMode="auto">
                <a:xfrm>
                  <a:off x="4513" y="2400"/>
                  <a:ext cx="42" cy="35"/>
                </a:xfrm>
                <a:custGeom>
                  <a:avLst/>
                  <a:gdLst>
                    <a:gd name="T0" fmla="*/ 30 w 42"/>
                    <a:gd name="T1" fmla="*/ 11 h 35"/>
                    <a:gd name="T2" fmla="*/ 36 w 42"/>
                    <a:gd name="T3" fmla="*/ 5 h 35"/>
                    <a:gd name="T4" fmla="*/ 30 w 42"/>
                    <a:gd name="T5" fmla="*/ 5 h 35"/>
                    <a:gd name="T6" fmla="*/ 18 w 42"/>
                    <a:gd name="T7" fmla="*/ 0 h 35"/>
                    <a:gd name="T8" fmla="*/ 0 w 42"/>
                    <a:gd name="T9" fmla="*/ 17 h 35"/>
                    <a:gd name="T10" fmla="*/ 18 w 42"/>
                    <a:gd name="T11" fmla="*/ 29 h 35"/>
                    <a:gd name="T12" fmla="*/ 30 w 42"/>
                    <a:gd name="T13" fmla="*/ 35 h 35"/>
                    <a:gd name="T14" fmla="*/ 42 w 42"/>
                    <a:gd name="T15" fmla="*/ 29 h 35"/>
                    <a:gd name="T16" fmla="*/ 30 w 42"/>
                    <a:gd name="T1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5">
                      <a:moveTo>
                        <a:pt x="30" y="11"/>
                      </a:moveTo>
                      <a:lnTo>
                        <a:pt x="36" y="5"/>
                      </a:lnTo>
                      <a:lnTo>
                        <a:pt x="30" y="5"/>
                      </a:lnTo>
                      <a:lnTo>
                        <a:pt x="18" y="0"/>
                      </a:lnTo>
                      <a:lnTo>
                        <a:pt x="0" y="17"/>
                      </a:lnTo>
                      <a:lnTo>
                        <a:pt x="18" y="29"/>
                      </a:lnTo>
                      <a:lnTo>
                        <a:pt x="30" y="35"/>
                      </a:lnTo>
                      <a:lnTo>
                        <a:pt x="42" y="29"/>
                      </a:lnTo>
                      <a:lnTo>
                        <a:pt x="30" y="11"/>
                      </a:lnTo>
                      <a:close/>
                    </a:path>
                  </a:pathLst>
                </a:custGeom>
                <a:solidFill>
                  <a:srgbClr val="00FF00"/>
                </a:solidFill>
                <a:ln w="9525">
                  <a:solidFill>
                    <a:srgbClr val="00FF00"/>
                  </a:solidFill>
                  <a:round/>
                  <a:headEnd/>
                  <a:tailEnd/>
                </a:ln>
              </p:spPr>
              <p:txBody>
                <a:bodyPr/>
                <a:lstStyle/>
                <a:p>
                  <a:endParaRPr lang="zh-CN" altLang="en-US"/>
                </a:p>
              </p:txBody>
            </p:sp>
            <p:sp>
              <p:nvSpPr>
                <p:cNvPr id="82" name="Freeform 9"/>
                <p:cNvSpPr>
                  <a:spLocks noEditPoints="1"/>
                </p:cNvSpPr>
                <p:nvPr/>
              </p:nvSpPr>
              <p:spPr bwMode="auto">
                <a:xfrm>
                  <a:off x="4507" y="2388"/>
                  <a:ext cx="24" cy="29"/>
                </a:xfrm>
                <a:custGeom>
                  <a:avLst/>
                  <a:gdLst>
                    <a:gd name="T0" fmla="*/ 24 w 24"/>
                    <a:gd name="T1" fmla="*/ 12 h 29"/>
                    <a:gd name="T2" fmla="*/ 24 w 24"/>
                    <a:gd name="T3" fmla="*/ 6 h 29"/>
                    <a:gd name="T4" fmla="*/ 18 w 24"/>
                    <a:gd name="T5" fmla="*/ 6 h 29"/>
                    <a:gd name="T6" fmla="*/ 6 w 24"/>
                    <a:gd name="T7" fmla="*/ 0 h 29"/>
                    <a:gd name="T8" fmla="*/ 6 w 24"/>
                    <a:gd name="T9" fmla="*/ 23 h 29"/>
                    <a:gd name="T10" fmla="*/ 0 w 24"/>
                    <a:gd name="T11" fmla="*/ 23 h 29"/>
                    <a:gd name="T12" fmla="*/ 6 w 24"/>
                    <a:gd name="T13" fmla="*/ 29 h 29"/>
                    <a:gd name="T14" fmla="*/ 6 w 24"/>
                    <a:gd name="T15" fmla="*/ 29 h 29"/>
                    <a:gd name="T16" fmla="*/ 6 w 24"/>
                    <a:gd name="T17" fmla="*/ 29 h 29"/>
                    <a:gd name="T18" fmla="*/ 24 w 24"/>
                    <a:gd name="T19" fmla="*/ 12 h 29"/>
                    <a:gd name="T20" fmla="*/ 6 w 24"/>
                    <a:gd name="T21" fmla="*/ 29 h 29"/>
                    <a:gd name="T22" fmla="*/ 6 w 24"/>
                    <a:gd name="T23" fmla="*/ 29 h 29"/>
                    <a:gd name="T24" fmla="*/ 6 w 24"/>
                    <a:gd name="T25" fmla="*/ 29 h 29"/>
                    <a:gd name="T26" fmla="*/ 18 w 24"/>
                    <a:gd name="T27" fmla="*/ 23 h 29"/>
                    <a:gd name="T28" fmla="*/ 6 w 24"/>
                    <a:gd name="T29"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9">
                      <a:moveTo>
                        <a:pt x="24" y="12"/>
                      </a:moveTo>
                      <a:lnTo>
                        <a:pt x="24" y="6"/>
                      </a:lnTo>
                      <a:lnTo>
                        <a:pt x="18" y="6"/>
                      </a:lnTo>
                      <a:lnTo>
                        <a:pt x="6" y="0"/>
                      </a:lnTo>
                      <a:lnTo>
                        <a:pt x="6" y="23"/>
                      </a:lnTo>
                      <a:lnTo>
                        <a:pt x="0" y="23"/>
                      </a:lnTo>
                      <a:lnTo>
                        <a:pt x="6" y="29"/>
                      </a:lnTo>
                      <a:lnTo>
                        <a:pt x="6" y="29"/>
                      </a:lnTo>
                      <a:lnTo>
                        <a:pt x="6" y="29"/>
                      </a:lnTo>
                      <a:lnTo>
                        <a:pt x="24" y="12"/>
                      </a:lnTo>
                      <a:close/>
                      <a:moveTo>
                        <a:pt x="6" y="29"/>
                      </a:moveTo>
                      <a:lnTo>
                        <a:pt x="6" y="29"/>
                      </a:lnTo>
                      <a:lnTo>
                        <a:pt x="6" y="29"/>
                      </a:lnTo>
                      <a:lnTo>
                        <a:pt x="18" y="23"/>
                      </a:lnTo>
                      <a:lnTo>
                        <a:pt x="6" y="29"/>
                      </a:lnTo>
                      <a:close/>
                    </a:path>
                  </a:pathLst>
                </a:custGeom>
                <a:solidFill>
                  <a:srgbClr val="00FF00"/>
                </a:solidFill>
                <a:ln w="9525">
                  <a:solidFill>
                    <a:srgbClr val="00FF00"/>
                  </a:solidFill>
                  <a:round/>
                  <a:headEnd/>
                  <a:tailEnd/>
                </a:ln>
              </p:spPr>
              <p:txBody>
                <a:bodyPr/>
                <a:lstStyle/>
                <a:p>
                  <a:endParaRPr lang="zh-CN" altLang="en-US"/>
                </a:p>
              </p:txBody>
            </p:sp>
            <p:sp>
              <p:nvSpPr>
                <p:cNvPr id="83" name="Freeform 10"/>
                <p:cNvSpPr>
                  <a:spLocks noEditPoints="1"/>
                </p:cNvSpPr>
                <p:nvPr/>
              </p:nvSpPr>
              <p:spPr bwMode="auto">
                <a:xfrm>
                  <a:off x="4495" y="2382"/>
                  <a:ext cx="24" cy="35"/>
                </a:xfrm>
                <a:custGeom>
                  <a:avLst/>
                  <a:gdLst>
                    <a:gd name="T0" fmla="*/ 24 w 24"/>
                    <a:gd name="T1" fmla="*/ 12 h 35"/>
                    <a:gd name="T2" fmla="*/ 24 w 24"/>
                    <a:gd name="T3" fmla="*/ 12 h 35"/>
                    <a:gd name="T4" fmla="*/ 24 w 24"/>
                    <a:gd name="T5" fmla="*/ 18 h 35"/>
                    <a:gd name="T6" fmla="*/ 6 w 24"/>
                    <a:gd name="T7" fmla="*/ 0 h 35"/>
                    <a:gd name="T8" fmla="*/ 0 w 24"/>
                    <a:gd name="T9" fmla="*/ 12 h 35"/>
                    <a:gd name="T10" fmla="*/ 6 w 24"/>
                    <a:gd name="T11" fmla="*/ 23 h 35"/>
                    <a:gd name="T12" fmla="*/ 12 w 24"/>
                    <a:gd name="T13" fmla="*/ 29 h 35"/>
                    <a:gd name="T14" fmla="*/ 12 w 24"/>
                    <a:gd name="T15" fmla="*/ 29 h 35"/>
                    <a:gd name="T16" fmla="*/ 24 w 24"/>
                    <a:gd name="T17" fmla="*/ 12 h 35"/>
                    <a:gd name="T18" fmla="*/ 12 w 24"/>
                    <a:gd name="T19" fmla="*/ 29 h 35"/>
                    <a:gd name="T20" fmla="*/ 18 w 24"/>
                    <a:gd name="T21" fmla="*/ 35 h 35"/>
                    <a:gd name="T22" fmla="*/ 18 w 24"/>
                    <a:gd name="T23" fmla="*/ 29 h 35"/>
                    <a:gd name="T24" fmla="*/ 18 w 24"/>
                    <a:gd name="T25" fmla="*/ 18 h 35"/>
                    <a:gd name="T26" fmla="*/ 12 w 24"/>
                    <a:gd name="T27" fmla="*/ 2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5">
                      <a:moveTo>
                        <a:pt x="24" y="12"/>
                      </a:moveTo>
                      <a:lnTo>
                        <a:pt x="24" y="12"/>
                      </a:lnTo>
                      <a:lnTo>
                        <a:pt x="24" y="18"/>
                      </a:lnTo>
                      <a:lnTo>
                        <a:pt x="6" y="0"/>
                      </a:lnTo>
                      <a:lnTo>
                        <a:pt x="0" y="12"/>
                      </a:lnTo>
                      <a:lnTo>
                        <a:pt x="6" y="23"/>
                      </a:lnTo>
                      <a:lnTo>
                        <a:pt x="12" y="29"/>
                      </a:lnTo>
                      <a:lnTo>
                        <a:pt x="12" y="29"/>
                      </a:lnTo>
                      <a:lnTo>
                        <a:pt x="24" y="12"/>
                      </a:lnTo>
                      <a:close/>
                      <a:moveTo>
                        <a:pt x="12" y="29"/>
                      </a:moveTo>
                      <a:lnTo>
                        <a:pt x="18" y="35"/>
                      </a:lnTo>
                      <a:lnTo>
                        <a:pt x="18" y="29"/>
                      </a:lnTo>
                      <a:lnTo>
                        <a:pt x="18" y="18"/>
                      </a:lnTo>
                      <a:lnTo>
                        <a:pt x="12" y="29"/>
                      </a:lnTo>
                      <a:close/>
                    </a:path>
                  </a:pathLst>
                </a:custGeom>
                <a:solidFill>
                  <a:srgbClr val="00FF00"/>
                </a:solidFill>
                <a:ln w="9525">
                  <a:solidFill>
                    <a:srgbClr val="00FF00"/>
                  </a:solidFill>
                  <a:round/>
                  <a:headEnd/>
                  <a:tailEnd/>
                </a:ln>
              </p:spPr>
              <p:txBody>
                <a:bodyPr/>
                <a:lstStyle/>
                <a:p>
                  <a:endParaRPr lang="zh-CN" altLang="en-US"/>
                </a:p>
              </p:txBody>
            </p:sp>
            <p:sp>
              <p:nvSpPr>
                <p:cNvPr id="84" name="Freeform 11"/>
                <p:cNvSpPr>
                  <a:spLocks noEditPoints="1"/>
                </p:cNvSpPr>
                <p:nvPr/>
              </p:nvSpPr>
              <p:spPr bwMode="auto">
                <a:xfrm>
                  <a:off x="4501" y="2370"/>
                  <a:ext cx="36" cy="30"/>
                </a:xfrm>
                <a:custGeom>
                  <a:avLst/>
                  <a:gdLst>
                    <a:gd name="T0" fmla="*/ 18 w 36"/>
                    <a:gd name="T1" fmla="*/ 30 h 30"/>
                    <a:gd name="T2" fmla="*/ 24 w 36"/>
                    <a:gd name="T3" fmla="*/ 30 h 30"/>
                    <a:gd name="T4" fmla="*/ 30 w 36"/>
                    <a:gd name="T5" fmla="*/ 24 h 30"/>
                    <a:gd name="T6" fmla="*/ 36 w 36"/>
                    <a:gd name="T7" fmla="*/ 12 h 30"/>
                    <a:gd name="T8" fmla="*/ 36 w 36"/>
                    <a:gd name="T9" fmla="*/ 6 h 30"/>
                    <a:gd name="T10" fmla="*/ 18 w 36"/>
                    <a:gd name="T11" fmla="*/ 12 h 30"/>
                    <a:gd name="T12" fmla="*/ 12 w 36"/>
                    <a:gd name="T13" fmla="*/ 0 h 30"/>
                    <a:gd name="T14" fmla="*/ 12 w 36"/>
                    <a:gd name="T15" fmla="*/ 6 h 30"/>
                    <a:gd name="T16" fmla="*/ 6 w 36"/>
                    <a:gd name="T17" fmla="*/ 12 h 30"/>
                    <a:gd name="T18" fmla="*/ 6 w 36"/>
                    <a:gd name="T19" fmla="*/ 12 h 30"/>
                    <a:gd name="T20" fmla="*/ 18 w 36"/>
                    <a:gd name="T21" fmla="*/ 30 h 30"/>
                    <a:gd name="T22" fmla="*/ 6 w 36"/>
                    <a:gd name="T23" fmla="*/ 12 h 30"/>
                    <a:gd name="T24" fmla="*/ 0 w 36"/>
                    <a:gd name="T25" fmla="*/ 12 h 30"/>
                    <a:gd name="T26" fmla="*/ 0 w 36"/>
                    <a:gd name="T27" fmla="*/ 12 h 30"/>
                    <a:gd name="T28" fmla="*/ 12 w 36"/>
                    <a:gd name="T29" fmla="*/ 18 h 30"/>
                    <a:gd name="T30" fmla="*/ 6 w 36"/>
                    <a:gd name="T31"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 h="30">
                      <a:moveTo>
                        <a:pt x="18" y="30"/>
                      </a:moveTo>
                      <a:lnTo>
                        <a:pt x="24" y="30"/>
                      </a:lnTo>
                      <a:lnTo>
                        <a:pt x="30" y="24"/>
                      </a:lnTo>
                      <a:lnTo>
                        <a:pt x="36" y="12"/>
                      </a:lnTo>
                      <a:lnTo>
                        <a:pt x="36" y="6"/>
                      </a:lnTo>
                      <a:lnTo>
                        <a:pt x="18" y="12"/>
                      </a:lnTo>
                      <a:lnTo>
                        <a:pt x="12" y="0"/>
                      </a:lnTo>
                      <a:lnTo>
                        <a:pt x="12" y="6"/>
                      </a:lnTo>
                      <a:lnTo>
                        <a:pt x="6" y="12"/>
                      </a:lnTo>
                      <a:lnTo>
                        <a:pt x="6" y="12"/>
                      </a:lnTo>
                      <a:lnTo>
                        <a:pt x="18" y="30"/>
                      </a:lnTo>
                      <a:close/>
                      <a:moveTo>
                        <a:pt x="6" y="12"/>
                      </a:moveTo>
                      <a:lnTo>
                        <a:pt x="0" y="12"/>
                      </a:lnTo>
                      <a:lnTo>
                        <a:pt x="0" y="12"/>
                      </a:lnTo>
                      <a:lnTo>
                        <a:pt x="12" y="18"/>
                      </a:lnTo>
                      <a:lnTo>
                        <a:pt x="6" y="12"/>
                      </a:lnTo>
                      <a:close/>
                    </a:path>
                  </a:pathLst>
                </a:custGeom>
                <a:solidFill>
                  <a:srgbClr val="00FF00"/>
                </a:solidFill>
                <a:ln w="9525">
                  <a:solidFill>
                    <a:srgbClr val="00FF00"/>
                  </a:solidFill>
                  <a:round/>
                  <a:headEnd/>
                  <a:tailEnd/>
                </a:ln>
              </p:spPr>
              <p:txBody>
                <a:bodyPr/>
                <a:lstStyle/>
                <a:p>
                  <a:endParaRPr lang="zh-CN" altLang="en-US"/>
                </a:p>
              </p:txBody>
            </p:sp>
            <p:sp>
              <p:nvSpPr>
                <p:cNvPr id="85" name="Freeform 12"/>
                <p:cNvSpPr>
                  <a:spLocks noEditPoints="1"/>
                </p:cNvSpPr>
                <p:nvPr/>
              </p:nvSpPr>
              <p:spPr bwMode="auto">
                <a:xfrm>
                  <a:off x="4513" y="2352"/>
                  <a:ext cx="24" cy="30"/>
                </a:xfrm>
                <a:custGeom>
                  <a:avLst/>
                  <a:gdLst>
                    <a:gd name="T0" fmla="*/ 24 w 24"/>
                    <a:gd name="T1" fmla="*/ 18 h 30"/>
                    <a:gd name="T2" fmla="*/ 24 w 24"/>
                    <a:gd name="T3" fmla="*/ 0 h 30"/>
                    <a:gd name="T4" fmla="*/ 0 w 24"/>
                    <a:gd name="T5" fmla="*/ 6 h 30"/>
                    <a:gd name="T6" fmla="*/ 0 w 24"/>
                    <a:gd name="T7" fmla="*/ 24 h 30"/>
                    <a:gd name="T8" fmla="*/ 24 w 24"/>
                    <a:gd name="T9" fmla="*/ 18 h 30"/>
                    <a:gd name="T10" fmla="*/ 0 w 24"/>
                    <a:gd name="T11" fmla="*/ 24 h 30"/>
                    <a:gd name="T12" fmla="*/ 0 w 24"/>
                    <a:gd name="T13" fmla="*/ 30 h 30"/>
                    <a:gd name="T14" fmla="*/ 6 w 24"/>
                    <a:gd name="T15" fmla="*/ 30 h 30"/>
                    <a:gd name="T16" fmla="*/ 12 w 24"/>
                    <a:gd name="T17" fmla="*/ 24 h 30"/>
                    <a:gd name="T18" fmla="*/ 0 w 24"/>
                    <a:gd name="T19"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0">
                      <a:moveTo>
                        <a:pt x="24" y="18"/>
                      </a:moveTo>
                      <a:lnTo>
                        <a:pt x="24" y="0"/>
                      </a:lnTo>
                      <a:lnTo>
                        <a:pt x="0" y="6"/>
                      </a:lnTo>
                      <a:lnTo>
                        <a:pt x="0" y="24"/>
                      </a:lnTo>
                      <a:lnTo>
                        <a:pt x="24" y="18"/>
                      </a:lnTo>
                      <a:close/>
                      <a:moveTo>
                        <a:pt x="0" y="24"/>
                      </a:moveTo>
                      <a:lnTo>
                        <a:pt x="0" y="30"/>
                      </a:lnTo>
                      <a:lnTo>
                        <a:pt x="6" y="30"/>
                      </a:lnTo>
                      <a:lnTo>
                        <a:pt x="12" y="24"/>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86" name="Freeform 13"/>
                <p:cNvSpPr>
                  <a:spLocks noEditPoints="1"/>
                </p:cNvSpPr>
                <p:nvPr/>
              </p:nvSpPr>
              <p:spPr bwMode="auto">
                <a:xfrm>
                  <a:off x="4513" y="2346"/>
                  <a:ext cx="24" cy="12"/>
                </a:xfrm>
                <a:custGeom>
                  <a:avLst/>
                  <a:gdLst>
                    <a:gd name="T0" fmla="*/ 24 w 24"/>
                    <a:gd name="T1" fmla="*/ 6 h 12"/>
                    <a:gd name="T2" fmla="*/ 24 w 24"/>
                    <a:gd name="T3" fmla="*/ 0 h 12"/>
                    <a:gd name="T4" fmla="*/ 0 w 24"/>
                    <a:gd name="T5" fmla="*/ 6 h 12"/>
                    <a:gd name="T6" fmla="*/ 0 w 24"/>
                    <a:gd name="T7" fmla="*/ 12 h 12"/>
                    <a:gd name="T8" fmla="*/ 24 w 24"/>
                    <a:gd name="T9" fmla="*/ 6 h 12"/>
                    <a:gd name="T10" fmla="*/ 24 w 24"/>
                    <a:gd name="T11" fmla="*/ 6 h 12"/>
                    <a:gd name="T12" fmla="*/ 24 w 24"/>
                    <a:gd name="T13" fmla="*/ 6 h 12"/>
                    <a:gd name="T14" fmla="*/ 24 w 24"/>
                    <a:gd name="T15" fmla="*/ 6 h 12"/>
                    <a:gd name="T16" fmla="*/ 12 w 24"/>
                    <a:gd name="T17" fmla="*/ 12 h 12"/>
                    <a:gd name="T18" fmla="*/ 24 w 24"/>
                    <a:gd name="T19"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2">
                      <a:moveTo>
                        <a:pt x="24" y="6"/>
                      </a:moveTo>
                      <a:lnTo>
                        <a:pt x="24" y="0"/>
                      </a:lnTo>
                      <a:lnTo>
                        <a:pt x="0" y="6"/>
                      </a:lnTo>
                      <a:lnTo>
                        <a:pt x="0" y="12"/>
                      </a:lnTo>
                      <a:lnTo>
                        <a:pt x="24" y="6"/>
                      </a:lnTo>
                      <a:close/>
                      <a:moveTo>
                        <a:pt x="24" y="6"/>
                      </a:moveTo>
                      <a:lnTo>
                        <a:pt x="24" y="6"/>
                      </a:lnTo>
                      <a:lnTo>
                        <a:pt x="24" y="6"/>
                      </a:lnTo>
                      <a:lnTo>
                        <a:pt x="12" y="12"/>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87" name="Freeform 14"/>
                <p:cNvSpPr>
                  <a:spLocks noEditPoints="1"/>
                </p:cNvSpPr>
                <p:nvPr/>
              </p:nvSpPr>
              <p:spPr bwMode="auto">
                <a:xfrm>
                  <a:off x="4513" y="2346"/>
                  <a:ext cx="24" cy="12"/>
                </a:xfrm>
                <a:custGeom>
                  <a:avLst/>
                  <a:gdLst>
                    <a:gd name="T0" fmla="*/ 0 w 24"/>
                    <a:gd name="T1" fmla="*/ 6 h 12"/>
                    <a:gd name="T2" fmla="*/ 0 w 24"/>
                    <a:gd name="T3" fmla="*/ 12 h 12"/>
                    <a:gd name="T4" fmla="*/ 24 w 24"/>
                    <a:gd name="T5" fmla="*/ 6 h 12"/>
                    <a:gd name="T6" fmla="*/ 24 w 24"/>
                    <a:gd name="T7" fmla="*/ 0 h 12"/>
                    <a:gd name="T8" fmla="*/ 0 w 24"/>
                    <a:gd name="T9" fmla="*/ 6 h 12"/>
                    <a:gd name="T10" fmla="*/ 24 w 24"/>
                    <a:gd name="T11" fmla="*/ 0 h 12"/>
                    <a:gd name="T12" fmla="*/ 0 w 24"/>
                    <a:gd name="T13" fmla="*/ 6 h 12"/>
                    <a:gd name="T14" fmla="*/ 24 w 24"/>
                    <a:gd name="T15" fmla="*/ 0 h 12"/>
                    <a:gd name="T16" fmla="*/ 0 w 24"/>
                    <a:gd name="T17" fmla="*/ 6 h 12"/>
                    <a:gd name="T18" fmla="*/ 24 w 24"/>
                    <a:gd name="T19"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2">
                      <a:moveTo>
                        <a:pt x="0" y="6"/>
                      </a:moveTo>
                      <a:lnTo>
                        <a:pt x="0" y="12"/>
                      </a:lnTo>
                      <a:lnTo>
                        <a:pt x="24" y="6"/>
                      </a:lnTo>
                      <a:lnTo>
                        <a:pt x="24" y="0"/>
                      </a:lnTo>
                      <a:lnTo>
                        <a:pt x="0" y="6"/>
                      </a:lnTo>
                      <a:close/>
                      <a:moveTo>
                        <a:pt x="24" y="0"/>
                      </a:moveTo>
                      <a:lnTo>
                        <a:pt x="0" y="6"/>
                      </a:lnTo>
                      <a:lnTo>
                        <a:pt x="24" y="0"/>
                      </a:lnTo>
                      <a:lnTo>
                        <a:pt x="0" y="6"/>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88" name="Freeform 15"/>
                <p:cNvSpPr>
                  <a:spLocks noEditPoints="1"/>
                </p:cNvSpPr>
                <p:nvPr/>
              </p:nvSpPr>
              <p:spPr bwMode="auto">
                <a:xfrm>
                  <a:off x="4513" y="2352"/>
                  <a:ext cx="24" cy="6"/>
                </a:xfrm>
                <a:custGeom>
                  <a:avLst/>
                  <a:gdLst>
                    <a:gd name="T0" fmla="*/ 24 w 24"/>
                    <a:gd name="T1" fmla="*/ 6 h 6"/>
                    <a:gd name="T2" fmla="*/ 24 w 24"/>
                    <a:gd name="T3" fmla="*/ 0 h 6"/>
                    <a:gd name="T4" fmla="*/ 0 w 24"/>
                    <a:gd name="T5" fmla="*/ 0 h 6"/>
                    <a:gd name="T6" fmla="*/ 0 w 24"/>
                    <a:gd name="T7" fmla="*/ 6 h 6"/>
                    <a:gd name="T8" fmla="*/ 24 w 24"/>
                    <a:gd name="T9" fmla="*/ 6 h 6"/>
                    <a:gd name="T10" fmla="*/ 0 w 24"/>
                    <a:gd name="T11" fmla="*/ 6 h 6"/>
                    <a:gd name="T12" fmla="*/ 24 w 24"/>
                    <a:gd name="T13" fmla="*/ 6 h 6"/>
                    <a:gd name="T14" fmla="*/ 0 w 24"/>
                    <a:gd name="T15" fmla="*/ 6 h 6"/>
                    <a:gd name="T16" fmla="*/ 24 w 24"/>
                    <a:gd name="T17" fmla="*/ 0 h 6"/>
                    <a:gd name="T18" fmla="*/ 0 w 24"/>
                    <a:gd name="T19"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6">
                      <a:moveTo>
                        <a:pt x="24" y="6"/>
                      </a:moveTo>
                      <a:lnTo>
                        <a:pt x="24" y="0"/>
                      </a:lnTo>
                      <a:lnTo>
                        <a:pt x="0" y="0"/>
                      </a:lnTo>
                      <a:lnTo>
                        <a:pt x="0" y="6"/>
                      </a:lnTo>
                      <a:lnTo>
                        <a:pt x="24" y="6"/>
                      </a:lnTo>
                      <a:close/>
                      <a:moveTo>
                        <a:pt x="0" y="6"/>
                      </a:moveTo>
                      <a:lnTo>
                        <a:pt x="24" y="6"/>
                      </a:lnTo>
                      <a:lnTo>
                        <a:pt x="0" y="6"/>
                      </a:lnTo>
                      <a:lnTo>
                        <a:pt x="24" y="0"/>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89" name="Freeform 16"/>
                <p:cNvSpPr>
                  <a:spLocks noEditPoints="1"/>
                </p:cNvSpPr>
                <p:nvPr/>
              </p:nvSpPr>
              <p:spPr bwMode="auto">
                <a:xfrm>
                  <a:off x="4513" y="2352"/>
                  <a:ext cx="24" cy="24"/>
                </a:xfrm>
                <a:custGeom>
                  <a:avLst/>
                  <a:gdLst>
                    <a:gd name="T0" fmla="*/ 0 w 24"/>
                    <a:gd name="T1" fmla="*/ 6 h 24"/>
                    <a:gd name="T2" fmla="*/ 0 w 24"/>
                    <a:gd name="T3" fmla="*/ 6 h 24"/>
                    <a:gd name="T4" fmla="*/ 0 w 24"/>
                    <a:gd name="T5" fmla="*/ 12 h 24"/>
                    <a:gd name="T6" fmla="*/ 6 w 24"/>
                    <a:gd name="T7" fmla="*/ 24 h 24"/>
                    <a:gd name="T8" fmla="*/ 6 w 24"/>
                    <a:gd name="T9" fmla="*/ 24 h 24"/>
                    <a:gd name="T10" fmla="*/ 6 w 24"/>
                    <a:gd name="T11" fmla="*/ 24 h 24"/>
                    <a:gd name="T12" fmla="*/ 6 w 24"/>
                    <a:gd name="T13" fmla="*/ 12 h 24"/>
                    <a:gd name="T14" fmla="*/ 24 w 24"/>
                    <a:gd name="T15" fmla="*/ 12 h 24"/>
                    <a:gd name="T16" fmla="*/ 24 w 24"/>
                    <a:gd name="T17" fmla="*/ 6 h 24"/>
                    <a:gd name="T18" fmla="*/ 24 w 24"/>
                    <a:gd name="T19" fmla="*/ 6 h 24"/>
                    <a:gd name="T20" fmla="*/ 24 w 24"/>
                    <a:gd name="T21" fmla="*/ 0 h 24"/>
                    <a:gd name="T22" fmla="*/ 0 w 24"/>
                    <a:gd name="T23" fmla="*/ 6 h 24"/>
                    <a:gd name="T24" fmla="*/ 24 w 24"/>
                    <a:gd name="T25" fmla="*/ 0 h 24"/>
                    <a:gd name="T26" fmla="*/ 0 w 24"/>
                    <a:gd name="T27" fmla="*/ 6 h 24"/>
                    <a:gd name="T28" fmla="*/ 24 w 24"/>
                    <a:gd name="T29" fmla="*/ 0 h 24"/>
                    <a:gd name="T30" fmla="*/ 0 w 24"/>
                    <a:gd name="T31" fmla="*/ 0 h 24"/>
                    <a:gd name="T32" fmla="*/ 24 w 24"/>
                    <a:gd name="T3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24">
                      <a:moveTo>
                        <a:pt x="0" y="6"/>
                      </a:moveTo>
                      <a:lnTo>
                        <a:pt x="0" y="6"/>
                      </a:lnTo>
                      <a:lnTo>
                        <a:pt x="0" y="12"/>
                      </a:lnTo>
                      <a:lnTo>
                        <a:pt x="6" y="24"/>
                      </a:lnTo>
                      <a:lnTo>
                        <a:pt x="6" y="24"/>
                      </a:lnTo>
                      <a:lnTo>
                        <a:pt x="6" y="24"/>
                      </a:lnTo>
                      <a:lnTo>
                        <a:pt x="6" y="12"/>
                      </a:lnTo>
                      <a:lnTo>
                        <a:pt x="24" y="12"/>
                      </a:lnTo>
                      <a:lnTo>
                        <a:pt x="24" y="6"/>
                      </a:lnTo>
                      <a:lnTo>
                        <a:pt x="24" y="6"/>
                      </a:lnTo>
                      <a:lnTo>
                        <a:pt x="24" y="0"/>
                      </a:lnTo>
                      <a:lnTo>
                        <a:pt x="0" y="6"/>
                      </a:lnTo>
                      <a:close/>
                      <a:moveTo>
                        <a:pt x="24" y="0"/>
                      </a:moveTo>
                      <a:lnTo>
                        <a:pt x="0" y="6"/>
                      </a:lnTo>
                      <a:lnTo>
                        <a:pt x="24" y="0"/>
                      </a:lnTo>
                      <a:lnTo>
                        <a:pt x="0" y="0"/>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90" name="Freeform 17"/>
                <p:cNvSpPr>
                  <a:spLocks noEditPoints="1"/>
                </p:cNvSpPr>
                <p:nvPr/>
              </p:nvSpPr>
              <p:spPr bwMode="auto">
                <a:xfrm>
                  <a:off x="4519" y="2358"/>
                  <a:ext cx="24" cy="18"/>
                </a:xfrm>
                <a:custGeom>
                  <a:avLst/>
                  <a:gdLst>
                    <a:gd name="T0" fmla="*/ 18 w 24"/>
                    <a:gd name="T1" fmla="*/ 18 h 18"/>
                    <a:gd name="T2" fmla="*/ 24 w 24"/>
                    <a:gd name="T3" fmla="*/ 18 h 18"/>
                    <a:gd name="T4" fmla="*/ 6 w 24"/>
                    <a:gd name="T5" fmla="*/ 0 h 18"/>
                    <a:gd name="T6" fmla="*/ 0 w 24"/>
                    <a:gd name="T7" fmla="*/ 0 h 18"/>
                    <a:gd name="T8" fmla="*/ 18 w 24"/>
                    <a:gd name="T9" fmla="*/ 18 h 18"/>
                    <a:gd name="T10" fmla="*/ 0 w 24"/>
                    <a:gd name="T11" fmla="*/ 0 h 18"/>
                    <a:gd name="T12" fmla="*/ 0 w 24"/>
                    <a:gd name="T13" fmla="*/ 6 h 18"/>
                    <a:gd name="T14" fmla="*/ 0 w 24"/>
                    <a:gd name="T15" fmla="*/ 6 h 18"/>
                    <a:gd name="T16" fmla="*/ 12 w 24"/>
                    <a:gd name="T17" fmla="*/ 12 h 18"/>
                    <a:gd name="T18" fmla="*/ 0 w 24"/>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18" y="18"/>
                      </a:moveTo>
                      <a:lnTo>
                        <a:pt x="24" y="18"/>
                      </a:lnTo>
                      <a:lnTo>
                        <a:pt x="6" y="0"/>
                      </a:lnTo>
                      <a:lnTo>
                        <a:pt x="0" y="0"/>
                      </a:lnTo>
                      <a:lnTo>
                        <a:pt x="18" y="18"/>
                      </a:lnTo>
                      <a:close/>
                      <a:moveTo>
                        <a:pt x="0" y="0"/>
                      </a:moveTo>
                      <a:lnTo>
                        <a:pt x="0" y="6"/>
                      </a:lnTo>
                      <a:lnTo>
                        <a:pt x="0" y="6"/>
                      </a:lnTo>
                      <a:lnTo>
                        <a:pt x="12" y="12"/>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91" name="Freeform 18"/>
                <p:cNvSpPr>
                  <a:spLocks noEditPoints="1"/>
                </p:cNvSpPr>
                <p:nvPr/>
              </p:nvSpPr>
              <p:spPr bwMode="auto">
                <a:xfrm>
                  <a:off x="4519" y="2346"/>
                  <a:ext cx="24" cy="36"/>
                </a:xfrm>
                <a:custGeom>
                  <a:avLst/>
                  <a:gdLst>
                    <a:gd name="T0" fmla="*/ 0 w 24"/>
                    <a:gd name="T1" fmla="*/ 24 h 36"/>
                    <a:gd name="T2" fmla="*/ 0 w 24"/>
                    <a:gd name="T3" fmla="*/ 24 h 36"/>
                    <a:gd name="T4" fmla="*/ 24 w 24"/>
                    <a:gd name="T5" fmla="*/ 36 h 36"/>
                    <a:gd name="T6" fmla="*/ 24 w 24"/>
                    <a:gd name="T7" fmla="*/ 24 h 36"/>
                    <a:gd name="T8" fmla="*/ 24 w 24"/>
                    <a:gd name="T9" fmla="*/ 18 h 36"/>
                    <a:gd name="T10" fmla="*/ 0 w 24"/>
                    <a:gd name="T11" fmla="*/ 24 h 36"/>
                    <a:gd name="T12" fmla="*/ 24 w 24"/>
                    <a:gd name="T13" fmla="*/ 18 h 36"/>
                    <a:gd name="T14" fmla="*/ 18 w 24"/>
                    <a:gd name="T15" fmla="*/ 0 h 36"/>
                    <a:gd name="T16" fmla="*/ 6 w 24"/>
                    <a:gd name="T17" fmla="*/ 12 h 36"/>
                    <a:gd name="T18" fmla="*/ 12 w 24"/>
                    <a:gd name="T19" fmla="*/ 24 h 36"/>
                    <a:gd name="T20" fmla="*/ 24 w 24"/>
                    <a:gd name="T21"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36">
                      <a:moveTo>
                        <a:pt x="0" y="24"/>
                      </a:moveTo>
                      <a:lnTo>
                        <a:pt x="0" y="24"/>
                      </a:lnTo>
                      <a:lnTo>
                        <a:pt x="24" y="36"/>
                      </a:lnTo>
                      <a:lnTo>
                        <a:pt x="24" y="24"/>
                      </a:lnTo>
                      <a:lnTo>
                        <a:pt x="24" y="18"/>
                      </a:lnTo>
                      <a:lnTo>
                        <a:pt x="0" y="24"/>
                      </a:lnTo>
                      <a:close/>
                      <a:moveTo>
                        <a:pt x="24" y="18"/>
                      </a:moveTo>
                      <a:lnTo>
                        <a:pt x="18" y="0"/>
                      </a:lnTo>
                      <a:lnTo>
                        <a:pt x="6" y="12"/>
                      </a:lnTo>
                      <a:lnTo>
                        <a:pt x="12" y="24"/>
                      </a:lnTo>
                      <a:lnTo>
                        <a:pt x="24" y="18"/>
                      </a:lnTo>
                      <a:close/>
                    </a:path>
                  </a:pathLst>
                </a:custGeom>
                <a:solidFill>
                  <a:srgbClr val="00FF00"/>
                </a:solidFill>
                <a:ln w="9525">
                  <a:solidFill>
                    <a:srgbClr val="00FF00"/>
                  </a:solidFill>
                  <a:round/>
                  <a:headEnd/>
                  <a:tailEnd/>
                </a:ln>
              </p:spPr>
              <p:txBody>
                <a:bodyPr/>
                <a:lstStyle/>
                <a:p>
                  <a:endParaRPr lang="zh-CN" altLang="en-US"/>
                </a:p>
              </p:txBody>
            </p:sp>
            <p:sp>
              <p:nvSpPr>
                <p:cNvPr id="92" name="Freeform 19"/>
                <p:cNvSpPr>
                  <a:spLocks noEditPoints="1"/>
                </p:cNvSpPr>
                <p:nvPr/>
              </p:nvSpPr>
              <p:spPr bwMode="auto">
                <a:xfrm>
                  <a:off x="4507" y="2370"/>
                  <a:ext cx="36" cy="35"/>
                </a:xfrm>
                <a:custGeom>
                  <a:avLst/>
                  <a:gdLst>
                    <a:gd name="T0" fmla="*/ 12 w 36"/>
                    <a:gd name="T1" fmla="*/ 6 h 35"/>
                    <a:gd name="T2" fmla="*/ 12 w 36"/>
                    <a:gd name="T3" fmla="*/ 6 h 35"/>
                    <a:gd name="T4" fmla="*/ 0 w 36"/>
                    <a:gd name="T5" fmla="*/ 12 h 35"/>
                    <a:gd name="T6" fmla="*/ 12 w 36"/>
                    <a:gd name="T7" fmla="*/ 35 h 35"/>
                    <a:gd name="T8" fmla="*/ 30 w 36"/>
                    <a:gd name="T9" fmla="*/ 18 h 35"/>
                    <a:gd name="T10" fmla="*/ 36 w 36"/>
                    <a:gd name="T11" fmla="*/ 6 h 35"/>
                    <a:gd name="T12" fmla="*/ 12 w 36"/>
                    <a:gd name="T13" fmla="*/ 6 h 35"/>
                    <a:gd name="T14" fmla="*/ 12 w 36"/>
                    <a:gd name="T15" fmla="*/ 0 h 35"/>
                    <a:gd name="T16" fmla="*/ 12 w 36"/>
                    <a:gd name="T17" fmla="*/ 0 h 35"/>
                    <a:gd name="T18" fmla="*/ 12 w 36"/>
                    <a:gd name="T19" fmla="*/ 6 h 35"/>
                    <a:gd name="T20" fmla="*/ 24 w 36"/>
                    <a:gd name="T21" fmla="*/ 6 h 35"/>
                    <a:gd name="T22" fmla="*/ 12 w 36"/>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35">
                      <a:moveTo>
                        <a:pt x="12" y="6"/>
                      </a:moveTo>
                      <a:lnTo>
                        <a:pt x="12" y="6"/>
                      </a:lnTo>
                      <a:lnTo>
                        <a:pt x="0" y="12"/>
                      </a:lnTo>
                      <a:lnTo>
                        <a:pt x="12" y="35"/>
                      </a:lnTo>
                      <a:lnTo>
                        <a:pt x="30" y="18"/>
                      </a:lnTo>
                      <a:lnTo>
                        <a:pt x="36" y="6"/>
                      </a:lnTo>
                      <a:lnTo>
                        <a:pt x="12" y="6"/>
                      </a:lnTo>
                      <a:close/>
                      <a:moveTo>
                        <a:pt x="12" y="0"/>
                      </a:moveTo>
                      <a:lnTo>
                        <a:pt x="12" y="0"/>
                      </a:lnTo>
                      <a:lnTo>
                        <a:pt x="12" y="6"/>
                      </a:lnTo>
                      <a:lnTo>
                        <a:pt x="24" y="6"/>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93" name="Freeform 20"/>
                <p:cNvSpPr>
                  <a:spLocks noEditPoints="1"/>
                </p:cNvSpPr>
                <p:nvPr/>
              </p:nvSpPr>
              <p:spPr bwMode="auto">
                <a:xfrm>
                  <a:off x="4495" y="2382"/>
                  <a:ext cx="30" cy="18"/>
                </a:xfrm>
                <a:custGeom>
                  <a:avLst/>
                  <a:gdLst>
                    <a:gd name="T0" fmla="*/ 12 w 30"/>
                    <a:gd name="T1" fmla="*/ 18 h 18"/>
                    <a:gd name="T2" fmla="*/ 12 w 30"/>
                    <a:gd name="T3" fmla="*/ 18 h 18"/>
                    <a:gd name="T4" fmla="*/ 12 w 30"/>
                    <a:gd name="T5" fmla="*/ 18 h 18"/>
                    <a:gd name="T6" fmla="*/ 30 w 30"/>
                    <a:gd name="T7" fmla="*/ 6 h 18"/>
                    <a:gd name="T8" fmla="*/ 30 w 30"/>
                    <a:gd name="T9" fmla="*/ 6 h 18"/>
                    <a:gd name="T10" fmla="*/ 24 w 30"/>
                    <a:gd name="T11" fmla="*/ 0 h 18"/>
                    <a:gd name="T12" fmla="*/ 12 w 30"/>
                    <a:gd name="T13" fmla="*/ 18 h 18"/>
                    <a:gd name="T14" fmla="*/ 12 w 30"/>
                    <a:gd name="T15" fmla="*/ 0 h 18"/>
                    <a:gd name="T16" fmla="*/ 0 w 30"/>
                    <a:gd name="T17" fmla="*/ 12 h 18"/>
                    <a:gd name="T18" fmla="*/ 12 w 30"/>
                    <a:gd name="T19" fmla="*/ 18 h 18"/>
                    <a:gd name="T20" fmla="*/ 18 w 30"/>
                    <a:gd name="T21" fmla="*/ 12 h 18"/>
                    <a:gd name="T22" fmla="*/ 12 w 30"/>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 h="18">
                      <a:moveTo>
                        <a:pt x="12" y="18"/>
                      </a:moveTo>
                      <a:lnTo>
                        <a:pt x="12" y="18"/>
                      </a:lnTo>
                      <a:lnTo>
                        <a:pt x="12" y="18"/>
                      </a:lnTo>
                      <a:lnTo>
                        <a:pt x="30" y="6"/>
                      </a:lnTo>
                      <a:lnTo>
                        <a:pt x="30" y="6"/>
                      </a:lnTo>
                      <a:lnTo>
                        <a:pt x="24" y="0"/>
                      </a:lnTo>
                      <a:lnTo>
                        <a:pt x="12" y="18"/>
                      </a:lnTo>
                      <a:close/>
                      <a:moveTo>
                        <a:pt x="12" y="0"/>
                      </a:moveTo>
                      <a:lnTo>
                        <a:pt x="0" y="12"/>
                      </a:lnTo>
                      <a:lnTo>
                        <a:pt x="12" y="18"/>
                      </a:lnTo>
                      <a:lnTo>
                        <a:pt x="18"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94" name="Freeform 21"/>
                <p:cNvSpPr>
                  <a:spLocks noEditPoints="1"/>
                </p:cNvSpPr>
                <p:nvPr/>
              </p:nvSpPr>
              <p:spPr bwMode="auto">
                <a:xfrm>
                  <a:off x="4507" y="2382"/>
                  <a:ext cx="48" cy="29"/>
                </a:xfrm>
                <a:custGeom>
                  <a:avLst/>
                  <a:gdLst>
                    <a:gd name="T0" fmla="*/ 6 w 48"/>
                    <a:gd name="T1" fmla="*/ 23 h 29"/>
                    <a:gd name="T2" fmla="*/ 12 w 48"/>
                    <a:gd name="T3" fmla="*/ 23 h 29"/>
                    <a:gd name="T4" fmla="*/ 18 w 48"/>
                    <a:gd name="T5" fmla="*/ 29 h 29"/>
                    <a:gd name="T6" fmla="*/ 30 w 48"/>
                    <a:gd name="T7" fmla="*/ 29 h 29"/>
                    <a:gd name="T8" fmla="*/ 30 w 48"/>
                    <a:gd name="T9" fmla="*/ 29 h 29"/>
                    <a:gd name="T10" fmla="*/ 48 w 48"/>
                    <a:gd name="T11" fmla="*/ 12 h 29"/>
                    <a:gd name="T12" fmla="*/ 24 w 48"/>
                    <a:gd name="T13" fmla="*/ 6 h 29"/>
                    <a:gd name="T14" fmla="*/ 18 w 48"/>
                    <a:gd name="T15" fmla="*/ 6 h 29"/>
                    <a:gd name="T16" fmla="*/ 12 w 48"/>
                    <a:gd name="T17" fmla="*/ 0 h 29"/>
                    <a:gd name="T18" fmla="*/ 6 w 48"/>
                    <a:gd name="T19" fmla="*/ 23 h 29"/>
                    <a:gd name="T20" fmla="*/ 0 w 48"/>
                    <a:gd name="T21" fmla="*/ 18 h 29"/>
                    <a:gd name="T22" fmla="*/ 0 w 48"/>
                    <a:gd name="T23" fmla="*/ 23 h 29"/>
                    <a:gd name="T24" fmla="*/ 6 w 48"/>
                    <a:gd name="T25" fmla="*/ 23 h 29"/>
                    <a:gd name="T26" fmla="*/ 12 w 48"/>
                    <a:gd name="T27" fmla="*/ 12 h 29"/>
                    <a:gd name="T28" fmla="*/ 0 w 48"/>
                    <a:gd name="T29" fmla="*/ 18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29">
                      <a:moveTo>
                        <a:pt x="6" y="23"/>
                      </a:moveTo>
                      <a:lnTo>
                        <a:pt x="12" y="23"/>
                      </a:lnTo>
                      <a:lnTo>
                        <a:pt x="18" y="29"/>
                      </a:lnTo>
                      <a:lnTo>
                        <a:pt x="30" y="29"/>
                      </a:lnTo>
                      <a:lnTo>
                        <a:pt x="30" y="29"/>
                      </a:lnTo>
                      <a:lnTo>
                        <a:pt x="48" y="12"/>
                      </a:lnTo>
                      <a:lnTo>
                        <a:pt x="24" y="6"/>
                      </a:lnTo>
                      <a:lnTo>
                        <a:pt x="18" y="6"/>
                      </a:lnTo>
                      <a:lnTo>
                        <a:pt x="12" y="0"/>
                      </a:lnTo>
                      <a:lnTo>
                        <a:pt x="6" y="23"/>
                      </a:lnTo>
                      <a:close/>
                      <a:moveTo>
                        <a:pt x="0" y="18"/>
                      </a:moveTo>
                      <a:lnTo>
                        <a:pt x="0" y="23"/>
                      </a:lnTo>
                      <a:lnTo>
                        <a:pt x="6" y="23"/>
                      </a:lnTo>
                      <a:lnTo>
                        <a:pt x="12" y="12"/>
                      </a:lnTo>
                      <a:lnTo>
                        <a:pt x="0" y="18"/>
                      </a:lnTo>
                      <a:close/>
                    </a:path>
                  </a:pathLst>
                </a:custGeom>
                <a:solidFill>
                  <a:srgbClr val="00FF00"/>
                </a:solidFill>
                <a:ln w="9525">
                  <a:solidFill>
                    <a:srgbClr val="00FF00"/>
                  </a:solidFill>
                  <a:round/>
                  <a:headEnd/>
                  <a:tailEnd/>
                </a:ln>
              </p:spPr>
              <p:txBody>
                <a:bodyPr/>
                <a:lstStyle/>
                <a:p>
                  <a:endParaRPr lang="zh-CN" altLang="en-US"/>
                </a:p>
              </p:txBody>
            </p:sp>
            <p:sp>
              <p:nvSpPr>
                <p:cNvPr id="95" name="Freeform 22"/>
                <p:cNvSpPr>
                  <a:spLocks noEditPoints="1"/>
                </p:cNvSpPr>
                <p:nvPr/>
              </p:nvSpPr>
              <p:spPr bwMode="auto">
                <a:xfrm>
                  <a:off x="4537" y="2394"/>
                  <a:ext cx="24" cy="29"/>
                </a:xfrm>
                <a:custGeom>
                  <a:avLst/>
                  <a:gdLst>
                    <a:gd name="T0" fmla="*/ 0 w 24"/>
                    <a:gd name="T1" fmla="*/ 11 h 29"/>
                    <a:gd name="T2" fmla="*/ 0 w 24"/>
                    <a:gd name="T3" fmla="*/ 29 h 29"/>
                    <a:gd name="T4" fmla="*/ 24 w 24"/>
                    <a:gd name="T5" fmla="*/ 23 h 29"/>
                    <a:gd name="T6" fmla="*/ 24 w 24"/>
                    <a:gd name="T7" fmla="*/ 6 h 29"/>
                    <a:gd name="T8" fmla="*/ 0 w 24"/>
                    <a:gd name="T9" fmla="*/ 11 h 29"/>
                    <a:gd name="T10" fmla="*/ 24 w 24"/>
                    <a:gd name="T11" fmla="*/ 6 h 29"/>
                    <a:gd name="T12" fmla="*/ 18 w 24"/>
                    <a:gd name="T13" fmla="*/ 6 h 29"/>
                    <a:gd name="T14" fmla="*/ 18 w 24"/>
                    <a:gd name="T15" fmla="*/ 0 h 29"/>
                    <a:gd name="T16" fmla="*/ 12 w 24"/>
                    <a:gd name="T17" fmla="*/ 11 h 29"/>
                    <a:gd name="T18" fmla="*/ 24 w 24"/>
                    <a:gd name="T19"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9">
                      <a:moveTo>
                        <a:pt x="0" y="11"/>
                      </a:moveTo>
                      <a:lnTo>
                        <a:pt x="0" y="29"/>
                      </a:lnTo>
                      <a:lnTo>
                        <a:pt x="24" y="23"/>
                      </a:lnTo>
                      <a:lnTo>
                        <a:pt x="24" y="6"/>
                      </a:lnTo>
                      <a:lnTo>
                        <a:pt x="0" y="11"/>
                      </a:lnTo>
                      <a:close/>
                      <a:moveTo>
                        <a:pt x="24" y="6"/>
                      </a:moveTo>
                      <a:lnTo>
                        <a:pt x="18" y="6"/>
                      </a:lnTo>
                      <a:lnTo>
                        <a:pt x="18" y="0"/>
                      </a:lnTo>
                      <a:lnTo>
                        <a:pt x="12" y="11"/>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96" name="Freeform 23"/>
                <p:cNvSpPr>
                  <a:spLocks/>
                </p:cNvSpPr>
                <p:nvPr/>
              </p:nvSpPr>
              <p:spPr bwMode="auto">
                <a:xfrm>
                  <a:off x="4549" y="2417"/>
                  <a:ext cx="12" cy="12"/>
                </a:xfrm>
                <a:custGeom>
                  <a:avLst/>
                  <a:gdLst>
                    <a:gd name="T0" fmla="*/ 6 w 12"/>
                    <a:gd name="T1" fmla="*/ 12 h 12"/>
                    <a:gd name="T2" fmla="*/ 12 w 12"/>
                    <a:gd name="T3" fmla="*/ 6 h 12"/>
                    <a:gd name="T4" fmla="*/ 12 w 12"/>
                    <a:gd name="T5" fmla="*/ 0 h 12"/>
                    <a:gd name="T6" fmla="*/ 0 w 12"/>
                    <a:gd name="T7" fmla="*/ 0 h 12"/>
                    <a:gd name="T8" fmla="*/ 6 w 12"/>
                    <a:gd name="T9" fmla="*/ 12 h 12"/>
                  </a:gdLst>
                  <a:ahLst/>
                  <a:cxnLst>
                    <a:cxn ang="0">
                      <a:pos x="T0" y="T1"/>
                    </a:cxn>
                    <a:cxn ang="0">
                      <a:pos x="T2" y="T3"/>
                    </a:cxn>
                    <a:cxn ang="0">
                      <a:pos x="T4" y="T5"/>
                    </a:cxn>
                    <a:cxn ang="0">
                      <a:pos x="T6" y="T7"/>
                    </a:cxn>
                    <a:cxn ang="0">
                      <a:pos x="T8" y="T9"/>
                    </a:cxn>
                  </a:cxnLst>
                  <a:rect l="0" t="0" r="r" b="b"/>
                  <a:pathLst>
                    <a:path w="12" h="12">
                      <a:moveTo>
                        <a:pt x="6" y="12"/>
                      </a:moveTo>
                      <a:lnTo>
                        <a:pt x="12" y="6"/>
                      </a:lnTo>
                      <a:lnTo>
                        <a:pt x="12" y="0"/>
                      </a:lnTo>
                      <a:lnTo>
                        <a:pt x="0" y="0"/>
                      </a:lnTo>
                      <a:lnTo>
                        <a:pt x="6" y="12"/>
                      </a:lnTo>
                      <a:close/>
                    </a:path>
                  </a:pathLst>
                </a:custGeom>
                <a:solidFill>
                  <a:srgbClr val="00FF00"/>
                </a:solidFill>
                <a:ln w="9525">
                  <a:solidFill>
                    <a:srgbClr val="00FF00"/>
                  </a:solidFill>
                  <a:round/>
                  <a:headEnd/>
                  <a:tailEnd/>
                </a:ln>
              </p:spPr>
              <p:txBody>
                <a:bodyPr/>
                <a:lstStyle/>
                <a:p>
                  <a:endParaRPr lang="zh-CN" altLang="en-US"/>
                </a:p>
              </p:txBody>
            </p:sp>
            <p:sp>
              <p:nvSpPr>
                <p:cNvPr id="97" name="Freeform 24"/>
                <p:cNvSpPr>
                  <a:spLocks/>
                </p:cNvSpPr>
                <p:nvPr/>
              </p:nvSpPr>
              <p:spPr bwMode="auto">
                <a:xfrm>
                  <a:off x="4555" y="2459"/>
                  <a:ext cx="6" cy="6"/>
                </a:xfrm>
                <a:custGeom>
                  <a:avLst/>
                  <a:gdLst>
                    <a:gd name="T0" fmla="*/ 6 w 6"/>
                    <a:gd name="T1" fmla="*/ 0 h 6"/>
                    <a:gd name="T2" fmla="*/ 0 w 6"/>
                    <a:gd name="T3" fmla="*/ 0 h 6"/>
                    <a:gd name="T4" fmla="*/ 0 w 6"/>
                    <a:gd name="T5" fmla="*/ 0 h 6"/>
                    <a:gd name="T6" fmla="*/ 0 w 6"/>
                    <a:gd name="T7" fmla="*/ 6 h 6"/>
                    <a:gd name="T8" fmla="*/ 6 w 6"/>
                    <a:gd name="T9" fmla="*/ 6 h 6"/>
                    <a:gd name="T10" fmla="*/ 6 w 6"/>
                    <a:gd name="T11" fmla="*/ 6 h 6"/>
                    <a:gd name="T12" fmla="*/ 6 w 6"/>
                    <a:gd name="T13" fmla="*/ 0 h 6"/>
                    <a:gd name="T14" fmla="*/ 6 w 6"/>
                    <a:gd name="T15" fmla="*/ 0 h 6"/>
                    <a:gd name="T16" fmla="*/ 6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6" y="0"/>
                      </a:moveTo>
                      <a:lnTo>
                        <a:pt x="0" y="0"/>
                      </a:lnTo>
                      <a:lnTo>
                        <a:pt x="0" y="0"/>
                      </a:lnTo>
                      <a:lnTo>
                        <a:pt x="0" y="6"/>
                      </a:lnTo>
                      <a:lnTo>
                        <a:pt x="6" y="6"/>
                      </a:lnTo>
                      <a:lnTo>
                        <a:pt x="6" y="6"/>
                      </a:lnTo>
                      <a:lnTo>
                        <a:pt x="6" y="0"/>
                      </a:lnTo>
                      <a:lnTo>
                        <a:pt x="6" y="0"/>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98" name="Freeform 25"/>
                <p:cNvSpPr>
                  <a:spLocks/>
                </p:cNvSpPr>
                <p:nvPr/>
              </p:nvSpPr>
              <p:spPr bwMode="auto">
                <a:xfrm>
                  <a:off x="4537" y="2459"/>
                  <a:ext cx="12" cy="6"/>
                </a:xfrm>
                <a:custGeom>
                  <a:avLst/>
                  <a:gdLst>
                    <a:gd name="T0" fmla="*/ 6 w 12"/>
                    <a:gd name="T1" fmla="*/ 0 h 6"/>
                    <a:gd name="T2" fmla="*/ 6 w 12"/>
                    <a:gd name="T3" fmla="*/ 0 h 6"/>
                    <a:gd name="T4" fmla="*/ 0 w 12"/>
                    <a:gd name="T5" fmla="*/ 0 h 6"/>
                    <a:gd name="T6" fmla="*/ 6 w 12"/>
                    <a:gd name="T7" fmla="*/ 6 h 6"/>
                    <a:gd name="T8" fmla="*/ 6 w 12"/>
                    <a:gd name="T9" fmla="*/ 6 h 6"/>
                    <a:gd name="T10" fmla="*/ 12 w 12"/>
                    <a:gd name="T11" fmla="*/ 6 h 6"/>
                    <a:gd name="T12" fmla="*/ 12 w 12"/>
                    <a:gd name="T13" fmla="*/ 0 h 6"/>
                    <a:gd name="T14" fmla="*/ 12 w 12"/>
                    <a:gd name="T15" fmla="*/ 0 h 6"/>
                    <a:gd name="T16" fmla="*/ 6 w 12"/>
                    <a:gd name="T17" fmla="*/ 0 h 6"/>
                    <a:gd name="T18" fmla="*/ 6 w 12"/>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6">
                      <a:moveTo>
                        <a:pt x="6" y="0"/>
                      </a:moveTo>
                      <a:lnTo>
                        <a:pt x="6" y="0"/>
                      </a:lnTo>
                      <a:lnTo>
                        <a:pt x="0" y="0"/>
                      </a:lnTo>
                      <a:lnTo>
                        <a:pt x="6" y="6"/>
                      </a:lnTo>
                      <a:lnTo>
                        <a:pt x="6" y="6"/>
                      </a:lnTo>
                      <a:lnTo>
                        <a:pt x="12" y="6"/>
                      </a:lnTo>
                      <a:lnTo>
                        <a:pt x="12" y="0"/>
                      </a:lnTo>
                      <a:lnTo>
                        <a:pt x="12" y="0"/>
                      </a:lnTo>
                      <a:lnTo>
                        <a:pt x="6" y="0"/>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99" name="Freeform 26"/>
                <p:cNvSpPr>
                  <a:spLocks/>
                </p:cNvSpPr>
                <p:nvPr/>
              </p:nvSpPr>
              <p:spPr bwMode="auto">
                <a:xfrm>
                  <a:off x="4549" y="2358"/>
                  <a:ext cx="1" cy="12"/>
                </a:xfrm>
                <a:custGeom>
                  <a:avLst/>
                  <a:gdLst>
                    <a:gd name="T0" fmla="*/ 12 h 12"/>
                    <a:gd name="T1" fmla="*/ 6 h 12"/>
                    <a:gd name="T2" fmla="*/ 0 h 12"/>
                    <a:gd name="T3" fmla="*/ 6 h 12"/>
                    <a:gd name="T4" fmla="*/ 12 h 12"/>
                    <a:gd name="T5" fmla="*/ 12 h 12"/>
                    <a:gd name="T6" fmla="*/ 12 h 12"/>
                  </a:gdLst>
                  <a:ahLst/>
                  <a:cxnLst>
                    <a:cxn ang="0">
                      <a:pos x="0" y="T0"/>
                    </a:cxn>
                    <a:cxn ang="0">
                      <a:pos x="0" y="T1"/>
                    </a:cxn>
                    <a:cxn ang="0">
                      <a:pos x="0" y="T2"/>
                    </a:cxn>
                    <a:cxn ang="0">
                      <a:pos x="0" y="T3"/>
                    </a:cxn>
                    <a:cxn ang="0">
                      <a:pos x="0" y="T4"/>
                    </a:cxn>
                    <a:cxn ang="0">
                      <a:pos x="0" y="T5"/>
                    </a:cxn>
                    <a:cxn ang="0">
                      <a:pos x="0" y="T6"/>
                    </a:cxn>
                  </a:cxnLst>
                  <a:rect l="0" t="0" r="r" b="b"/>
                  <a:pathLst>
                    <a:path h="12">
                      <a:moveTo>
                        <a:pt x="0" y="12"/>
                      </a:moveTo>
                      <a:lnTo>
                        <a:pt x="0" y="6"/>
                      </a:lnTo>
                      <a:lnTo>
                        <a:pt x="0" y="0"/>
                      </a:lnTo>
                      <a:lnTo>
                        <a:pt x="0" y="6"/>
                      </a:lnTo>
                      <a:lnTo>
                        <a:pt x="0" y="12"/>
                      </a:lnTo>
                      <a:lnTo>
                        <a:pt x="0" y="12"/>
                      </a:lnTo>
                      <a:lnTo>
                        <a:pt x="0" y="12"/>
                      </a:lnTo>
                      <a:close/>
                    </a:path>
                  </a:pathLst>
                </a:custGeom>
                <a:solidFill>
                  <a:srgbClr val="00FF00"/>
                </a:solidFill>
                <a:ln w="9525">
                  <a:solidFill>
                    <a:srgbClr val="00FF00"/>
                  </a:solidFill>
                  <a:round/>
                  <a:headEnd/>
                  <a:tailEnd/>
                </a:ln>
              </p:spPr>
              <p:txBody>
                <a:bodyPr/>
                <a:lstStyle/>
                <a:p>
                  <a:endParaRPr lang="zh-CN" altLang="en-US"/>
                </a:p>
              </p:txBody>
            </p:sp>
            <p:sp>
              <p:nvSpPr>
                <p:cNvPr id="100" name="Freeform 27"/>
                <p:cNvSpPr>
                  <a:spLocks/>
                </p:cNvSpPr>
                <p:nvPr/>
              </p:nvSpPr>
              <p:spPr bwMode="auto">
                <a:xfrm>
                  <a:off x="4555" y="2346"/>
                  <a:ext cx="12" cy="30"/>
                </a:xfrm>
                <a:custGeom>
                  <a:avLst/>
                  <a:gdLst>
                    <a:gd name="T0" fmla="*/ 0 w 12"/>
                    <a:gd name="T1" fmla="*/ 30 h 30"/>
                    <a:gd name="T2" fmla="*/ 6 w 12"/>
                    <a:gd name="T3" fmla="*/ 6 h 30"/>
                    <a:gd name="T4" fmla="*/ 6 w 12"/>
                    <a:gd name="T5" fmla="*/ 6 h 30"/>
                    <a:gd name="T6" fmla="*/ 12 w 12"/>
                    <a:gd name="T7" fmla="*/ 0 h 30"/>
                    <a:gd name="T8" fmla="*/ 12 w 12"/>
                    <a:gd name="T9" fmla="*/ 0 h 30"/>
                    <a:gd name="T10" fmla="*/ 6 w 12"/>
                    <a:gd name="T11" fmla="*/ 6 h 30"/>
                    <a:gd name="T12" fmla="*/ 6 w 12"/>
                    <a:gd name="T13" fmla="*/ 12 h 30"/>
                    <a:gd name="T14" fmla="*/ 6 w 12"/>
                    <a:gd name="T15" fmla="*/ 18 h 30"/>
                    <a:gd name="T16" fmla="*/ 0 w 12"/>
                    <a:gd name="T17" fmla="*/ 24 h 30"/>
                    <a:gd name="T18" fmla="*/ 0 w 12"/>
                    <a:gd name="T19" fmla="*/ 24 h 30"/>
                    <a:gd name="T20" fmla="*/ 0 w 12"/>
                    <a:gd name="T21" fmla="*/ 30 h 30"/>
                    <a:gd name="T22" fmla="*/ 0 w 12"/>
                    <a:gd name="T23" fmla="*/ 30 h 30"/>
                    <a:gd name="T24" fmla="*/ 0 w 12"/>
                    <a:gd name="T25" fmla="*/ 30 h 30"/>
                    <a:gd name="T26" fmla="*/ 0 w 12"/>
                    <a:gd name="T2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 h="30">
                      <a:moveTo>
                        <a:pt x="0" y="30"/>
                      </a:moveTo>
                      <a:lnTo>
                        <a:pt x="6" y="6"/>
                      </a:lnTo>
                      <a:lnTo>
                        <a:pt x="6" y="6"/>
                      </a:lnTo>
                      <a:lnTo>
                        <a:pt x="12" y="0"/>
                      </a:lnTo>
                      <a:lnTo>
                        <a:pt x="12" y="0"/>
                      </a:lnTo>
                      <a:lnTo>
                        <a:pt x="6" y="6"/>
                      </a:lnTo>
                      <a:lnTo>
                        <a:pt x="6" y="12"/>
                      </a:lnTo>
                      <a:lnTo>
                        <a:pt x="6" y="18"/>
                      </a:lnTo>
                      <a:lnTo>
                        <a:pt x="0" y="24"/>
                      </a:lnTo>
                      <a:lnTo>
                        <a:pt x="0" y="24"/>
                      </a:lnTo>
                      <a:lnTo>
                        <a:pt x="0" y="30"/>
                      </a:lnTo>
                      <a:lnTo>
                        <a:pt x="0" y="30"/>
                      </a:lnTo>
                      <a:lnTo>
                        <a:pt x="0" y="30"/>
                      </a:lnTo>
                      <a:lnTo>
                        <a:pt x="0" y="30"/>
                      </a:lnTo>
                      <a:close/>
                    </a:path>
                  </a:pathLst>
                </a:custGeom>
                <a:solidFill>
                  <a:srgbClr val="00FF00"/>
                </a:solidFill>
                <a:ln w="9525">
                  <a:solidFill>
                    <a:srgbClr val="00FF00"/>
                  </a:solidFill>
                  <a:round/>
                  <a:headEnd/>
                  <a:tailEnd/>
                </a:ln>
              </p:spPr>
              <p:txBody>
                <a:bodyPr/>
                <a:lstStyle/>
                <a:p>
                  <a:endParaRPr lang="zh-CN" altLang="en-US"/>
                </a:p>
              </p:txBody>
            </p:sp>
            <p:sp>
              <p:nvSpPr>
                <p:cNvPr id="101" name="Freeform 28"/>
                <p:cNvSpPr>
                  <a:spLocks/>
                </p:cNvSpPr>
                <p:nvPr/>
              </p:nvSpPr>
              <p:spPr bwMode="auto">
                <a:xfrm>
                  <a:off x="4543" y="2352"/>
                  <a:ext cx="30" cy="30"/>
                </a:xfrm>
                <a:custGeom>
                  <a:avLst/>
                  <a:gdLst>
                    <a:gd name="T0" fmla="*/ 24 w 30"/>
                    <a:gd name="T1" fmla="*/ 30 h 30"/>
                    <a:gd name="T2" fmla="*/ 30 w 30"/>
                    <a:gd name="T3" fmla="*/ 6 h 30"/>
                    <a:gd name="T4" fmla="*/ 6 w 30"/>
                    <a:gd name="T5" fmla="*/ 0 h 30"/>
                    <a:gd name="T6" fmla="*/ 0 w 30"/>
                    <a:gd name="T7" fmla="*/ 24 h 30"/>
                    <a:gd name="T8" fmla="*/ 24 w 30"/>
                    <a:gd name="T9" fmla="*/ 30 h 30"/>
                  </a:gdLst>
                  <a:ahLst/>
                  <a:cxnLst>
                    <a:cxn ang="0">
                      <a:pos x="T0" y="T1"/>
                    </a:cxn>
                    <a:cxn ang="0">
                      <a:pos x="T2" y="T3"/>
                    </a:cxn>
                    <a:cxn ang="0">
                      <a:pos x="T4" y="T5"/>
                    </a:cxn>
                    <a:cxn ang="0">
                      <a:pos x="T6" y="T7"/>
                    </a:cxn>
                    <a:cxn ang="0">
                      <a:pos x="T8" y="T9"/>
                    </a:cxn>
                  </a:cxnLst>
                  <a:rect l="0" t="0" r="r" b="b"/>
                  <a:pathLst>
                    <a:path w="30" h="30">
                      <a:moveTo>
                        <a:pt x="24" y="30"/>
                      </a:moveTo>
                      <a:lnTo>
                        <a:pt x="30" y="6"/>
                      </a:lnTo>
                      <a:lnTo>
                        <a:pt x="6" y="0"/>
                      </a:lnTo>
                      <a:lnTo>
                        <a:pt x="0" y="24"/>
                      </a:lnTo>
                      <a:lnTo>
                        <a:pt x="24" y="30"/>
                      </a:lnTo>
                      <a:close/>
                    </a:path>
                  </a:pathLst>
                </a:custGeom>
                <a:solidFill>
                  <a:srgbClr val="00FF00"/>
                </a:solidFill>
                <a:ln w="9525">
                  <a:solidFill>
                    <a:srgbClr val="00FF00"/>
                  </a:solidFill>
                  <a:round/>
                  <a:headEnd/>
                  <a:tailEnd/>
                </a:ln>
              </p:spPr>
              <p:txBody>
                <a:bodyPr/>
                <a:lstStyle/>
                <a:p>
                  <a:endParaRPr lang="zh-CN" altLang="en-US"/>
                </a:p>
              </p:txBody>
            </p:sp>
            <p:sp>
              <p:nvSpPr>
                <p:cNvPr id="102" name="Freeform 29"/>
                <p:cNvSpPr>
                  <a:spLocks noEditPoints="1"/>
                </p:cNvSpPr>
                <p:nvPr/>
              </p:nvSpPr>
              <p:spPr bwMode="auto">
                <a:xfrm>
                  <a:off x="4549" y="2334"/>
                  <a:ext cx="24" cy="24"/>
                </a:xfrm>
                <a:custGeom>
                  <a:avLst/>
                  <a:gdLst>
                    <a:gd name="T0" fmla="*/ 24 w 24"/>
                    <a:gd name="T1" fmla="*/ 24 h 24"/>
                    <a:gd name="T2" fmla="*/ 24 w 24"/>
                    <a:gd name="T3" fmla="*/ 18 h 24"/>
                    <a:gd name="T4" fmla="*/ 24 w 24"/>
                    <a:gd name="T5" fmla="*/ 18 h 24"/>
                    <a:gd name="T6" fmla="*/ 24 w 24"/>
                    <a:gd name="T7" fmla="*/ 24 h 24"/>
                    <a:gd name="T8" fmla="*/ 12 w 24"/>
                    <a:gd name="T9" fmla="*/ 0 h 24"/>
                    <a:gd name="T10" fmla="*/ 0 w 24"/>
                    <a:gd name="T11" fmla="*/ 12 h 24"/>
                    <a:gd name="T12" fmla="*/ 0 w 24"/>
                    <a:gd name="T13" fmla="*/ 18 h 24"/>
                    <a:gd name="T14" fmla="*/ 24 w 24"/>
                    <a:gd name="T15" fmla="*/ 24 h 24"/>
                    <a:gd name="T16" fmla="*/ 24 w 24"/>
                    <a:gd name="T17" fmla="*/ 24 h 24"/>
                    <a:gd name="T18" fmla="*/ 24 w 24"/>
                    <a:gd name="T19" fmla="*/ 24 h 24"/>
                    <a:gd name="T20" fmla="*/ 24 w 24"/>
                    <a:gd name="T21" fmla="*/ 24 h 24"/>
                    <a:gd name="T22" fmla="*/ 12 w 24"/>
                    <a:gd name="T23" fmla="*/ 18 h 24"/>
                    <a:gd name="T24" fmla="*/ 24 w 24"/>
                    <a:gd name="T25"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24" y="24"/>
                      </a:moveTo>
                      <a:lnTo>
                        <a:pt x="24" y="18"/>
                      </a:lnTo>
                      <a:lnTo>
                        <a:pt x="24" y="18"/>
                      </a:lnTo>
                      <a:lnTo>
                        <a:pt x="24" y="24"/>
                      </a:lnTo>
                      <a:lnTo>
                        <a:pt x="12" y="0"/>
                      </a:lnTo>
                      <a:lnTo>
                        <a:pt x="0" y="12"/>
                      </a:lnTo>
                      <a:lnTo>
                        <a:pt x="0" y="18"/>
                      </a:lnTo>
                      <a:lnTo>
                        <a:pt x="24" y="24"/>
                      </a:lnTo>
                      <a:close/>
                      <a:moveTo>
                        <a:pt x="24" y="24"/>
                      </a:moveTo>
                      <a:lnTo>
                        <a:pt x="24" y="24"/>
                      </a:lnTo>
                      <a:lnTo>
                        <a:pt x="24" y="24"/>
                      </a:lnTo>
                      <a:lnTo>
                        <a:pt x="12" y="18"/>
                      </a:lnTo>
                      <a:lnTo>
                        <a:pt x="24" y="24"/>
                      </a:lnTo>
                      <a:close/>
                    </a:path>
                  </a:pathLst>
                </a:custGeom>
                <a:solidFill>
                  <a:srgbClr val="00FF00"/>
                </a:solidFill>
                <a:ln w="9525">
                  <a:solidFill>
                    <a:srgbClr val="00FF00"/>
                  </a:solidFill>
                  <a:round/>
                  <a:headEnd/>
                  <a:tailEnd/>
                </a:ln>
              </p:spPr>
              <p:txBody>
                <a:bodyPr/>
                <a:lstStyle/>
                <a:p>
                  <a:endParaRPr lang="zh-CN" altLang="en-US"/>
                </a:p>
              </p:txBody>
            </p:sp>
            <p:sp>
              <p:nvSpPr>
                <p:cNvPr id="103" name="Freeform 30"/>
                <p:cNvSpPr>
                  <a:spLocks noEditPoints="1"/>
                </p:cNvSpPr>
                <p:nvPr/>
              </p:nvSpPr>
              <p:spPr bwMode="auto">
                <a:xfrm>
                  <a:off x="4549" y="2334"/>
                  <a:ext cx="24" cy="24"/>
                </a:xfrm>
                <a:custGeom>
                  <a:avLst/>
                  <a:gdLst>
                    <a:gd name="T0" fmla="*/ 12 w 24"/>
                    <a:gd name="T1" fmla="*/ 0 h 24"/>
                    <a:gd name="T2" fmla="*/ 6 w 24"/>
                    <a:gd name="T3" fmla="*/ 6 h 24"/>
                    <a:gd name="T4" fmla="*/ 0 w 24"/>
                    <a:gd name="T5" fmla="*/ 18 h 24"/>
                    <a:gd name="T6" fmla="*/ 24 w 24"/>
                    <a:gd name="T7" fmla="*/ 24 h 24"/>
                    <a:gd name="T8" fmla="*/ 24 w 24"/>
                    <a:gd name="T9" fmla="*/ 24 h 24"/>
                    <a:gd name="T10" fmla="*/ 24 w 24"/>
                    <a:gd name="T11" fmla="*/ 18 h 24"/>
                    <a:gd name="T12" fmla="*/ 12 w 24"/>
                    <a:gd name="T13" fmla="*/ 0 h 24"/>
                    <a:gd name="T14" fmla="*/ 24 w 24"/>
                    <a:gd name="T15" fmla="*/ 24 h 24"/>
                    <a:gd name="T16" fmla="*/ 12 w 24"/>
                    <a:gd name="T17" fmla="*/ 0 h 24"/>
                    <a:gd name="T18" fmla="*/ 24 w 24"/>
                    <a:gd name="T19" fmla="*/ 18 h 24"/>
                    <a:gd name="T20" fmla="*/ 12 w 24"/>
                    <a:gd name="T21" fmla="*/ 0 h 24"/>
                    <a:gd name="T22" fmla="*/ 24 w 24"/>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2" y="0"/>
                      </a:moveTo>
                      <a:lnTo>
                        <a:pt x="6" y="6"/>
                      </a:lnTo>
                      <a:lnTo>
                        <a:pt x="0" y="18"/>
                      </a:lnTo>
                      <a:lnTo>
                        <a:pt x="24" y="24"/>
                      </a:lnTo>
                      <a:lnTo>
                        <a:pt x="24" y="24"/>
                      </a:lnTo>
                      <a:lnTo>
                        <a:pt x="24" y="18"/>
                      </a:lnTo>
                      <a:lnTo>
                        <a:pt x="12" y="0"/>
                      </a:lnTo>
                      <a:close/>
                      <a:moveTo>
                        <a:pt x="24" y="24"/>
                      </a:moveTo>
                      <a:lnTo>
                        <a:pt x="12" y="0"/>
                      </a:lnTo>
                      <a:lnTo>
                        <a:pt x="24" y="18"/>
                      </a:lnTo>
                      <a:lnTo>
                        <a:pt x="12" y="0"/>
                      </a:lnTo>
                      <a:lnTo>
                        <a:pt x="24" y="24"/>
                      </a:lnTo>
                      <a:close/>
                    </a:path>
                  </a:pathLst>
                </a:custGeom>
                <a:solidFill>
                  <a:srgbClr val="00FF00"/>
                </a:solidFill>
                <a:ln w="9525">
                  <a:solidFill>
                    <a:srgbClr val="00FF00"/>
                  </a:solidFill>
                  <a:round/>
                  <a:headEnd/>
                  <a:tailEnd/>
                </a:ln>
              </p:spPr>
              <p:txBody>
                <a:bodyPr/>
                <a:lstStyle/>
                <a:p>
                  <a:endParaRPr lang="zh-CN" altLang="en-US"/>
                </a:p>
              </p:txBody>
            </p:sp>
            <p:sp>
              <p:nvSpPr>
                <p:cNvPr id="104" name="Freeform 31"/>
                <p:cNvSpPr>
                  <a:spLocks noEditPoints="1"/>
                </p:cNvSpPr>
                <p:nvPr/>
              </p:nvSpPr>
              <p:spPr bwMode="auto">
                <a:xfrm>
                  <a:off x="4543" y="2346"/>
                  <a:ext cx="30" cy="30"/>
                </a:xfrm>
                <a:custGeom>
                  <a:avLst/>
                  <a:gdLst>
                    <a:gd name="T0" fmla="*/ 6 w 30"/>
                    <a:gd name="T1" fmla="*/ 0 h 30"/>
                    <a:gd name="T2" fmla="*/ 6 w 30"/>
                    <a:gd name="T3" fmla="*/ 12 h 30"/>
                    <a:gd name="T4" fmla="*/ 0 w 30"/>
                    <a:gd name="T5" fmla="*/ 30 h 30"/>
                    <a:gd name="T6" fmla="*/ 24 w 30"/>
                    <a:gd name="T7" fmla="*/ 24 h 30"/>
                    <a:gd name="T8" fmla="*/ 24 w 30"/>
                    <a:gd name="T9" fmla="*/ 24 h 30"/>
                    <a:gd name="T10" fmla="*/ 30 w 30"/>
                    <a:gd name="T11" fmla="*/ 18 h 30"/>
                    <a:gd name="T12" fmla="*/ 30 w 30"/>
                    <a:gd name="T13" fmla="*/ 12 h 30"/>
                    <a:gd name="T14" fmla="*/ 30 w 30"/>
                    <a:gd name="T15" fmla="*/ 12 h 30"/>
                    <a:gd name="T16" fmla="*/ 6 w 30"/>
                    <a:gd name="T17" fmla="*/ 0 h 30"/>
                    <a:gd name="T18" fmla="*/ 30 w 30"/>
                    <a:gd name="T19" fmla="*/ 12 h 30"/>
                    <a:gd name="T20" fmla="*/ 30 w 30"/>
                    <a:gd name="T21" fmla="*/ 12 h 30"/>
                    <a:gd name="T22" fmla="*/ 30 w 30"/>
                    <a:gd name="T23" fmla="*/ 12 h 30"/>
                    <a:gd name="T24" fmla="*/ 18 w 30"/>
                    <a:gd name="T25" fmla="*/ 6 h 30"/>
                    <a:gd name="T26" fmla="*/ 30 w 30"/>
                    <a:gd name="T27"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0">
                      <a:moveTo>
                        <a:pt x="6" y="0"/>
                      </a:moveTo>
                      <a:lnTo>
                        <a:pt x="6" y="12"/>
                      </a:lnTo>
                      <a:lnTo>
                        <a:pt x="0" y="30"/>
                      </a:lnTo>
                      <a:lnTo>
                        <a:pt x="24" y="24"/>
                      </a:lnTo>
                      <a:lnTo>
                        <a:pt x="24" y="24"/>
                      </a:lnTo>
                      <a:lnTo>
                        <a:pt x="30" y="18"/>
                      </a:lnTo>
                      <a:lnTo>
                        <a:pt x="30" y="12"/>
                      </a:lnTo>
                      <a:lnTo>
                        <a:pt x="30" y="12"/>
                      </a:lnTo>
                      <a:lnTo>
                        <a:pt x="6" y="0"/>
                      </a:lnTo>
                      <a:close/>
                      <a:moveTo>
                        <a:pt x="30" y="12"/>
                      </a:moveTo>
                      <a:lnTo>
                        <a:pt x="30" y="12"/>
                      </a:lnTo>
                      <a:lnTo>
                        <a:pt x="30" y="12"/>
                      </a:lnTo>
                      <a:lnTo>
                        <a:pt x="18" y="6"/>
                      </a:lnTo>
                      <a:lnTo>
                        <a:pt x="30" y="12"/>
                      </a:lnTo>
                      <a:close/>
                    </a:path>
                  </a:pathLst>
                </a:custGeom>
                <a:solidFill>
                  <a:srgbClr val="00FF00"/>
                </a:solidFill>
                <a:ln w="9525">
                  <a:solidFill>
                    <a:srgbClr val="00FF00"/>
                  </a:solidFill>
                  <a:round/>
                  <a:headEnd/>
                  <a:tailEnd/>
                </a:ln>
              </p:spPr>
              <p:txBody>
                <a:bodyPr/>
                <a:lstStyle/>
                <a:p>
                  <a:endParaRPr lang="zh-CN" altLang="en-US"/>
                </a:p>
              </p:txBody>
            </p:sp>
            <p:sp>
              <p:nvSpPr>
                <p:cNvPr id="105" name="Freeform 32"/>
                <p:cNvSpPr>
                  <a:spLocks noEditPoints="1"/>
                </p:cNvSpPr>
                <p:nvPr/>
              </p:nvSpPr>
              <p:spPr bwMode="auto">
                <a:xfrm>
                  <a:off x="4543" y="2364"/>
                  <a:ext cx="24" cy="24"/>
                </a:xfrm>
                <a:custGeom>
                  <a:avLst/>
                  <a:gdLst>
                    <a:gd name="T0" fmla="*/ 0 w 24"/>
                    <a:gd name="T1" fmla="*/ 6 h 24"/>
                    <a:gd name="T2" fmla="*/ 0 w 24"/>
                    <a:gd name="T3" fmla="*/ 6 h 24"/>
                    <a:gd name="T4" fmla="*/ 0 w 24"/>
                    <a:gd name="T5" fmla="*/ 6 h 24"/>
                    <a:gd name="T6" fmla="*/ 12 w 24"/>
                    <a:gd name="T7" fmla="*/ 0 h 24"/>
                    <a:gd name="T8" fmla="*/ 6 w 24"/>
                    <a:gd name="T9" fmla="*/ 24 h 24"/>
                    <a:gd name="T10" fmla="*/ 18 w 24"/>
                    <a:gd name="T11" fmla="*/ 18 h 24"/>
                    <a:gd name="T12" fmla="*/ 24 w 24"/>
                    <a:gd name="T13" fmla="*/ 12 h 24"/>
                    <a:gd name="T14" fmla="*/ 24 w 24"/>
                    <a:gd name="T15" fmla="*/ 12 h 24"/>
                    <a:gd name="T16" fmla="*/ 24 w 24"/>
                    <a:gd name="T17" fmla="*/ 12 h 24"/>
                    <a:gd name="T18" fmla="*/ 0 w 24"/>
                    <a:gd name="T19" fmla="*/ 6 h 24"/>
                    <a:gd name="T20" fmla="*/ 24 w 24"/>
                    <a:gd name="T21" fmla="*/ 12 h 24"/>
                    <a:gd name="T22" fmla="*/ 24 w 24"/>
                    <a:gd name="T23" fmla="*/ 6 h 24"/>
                    <a:gd name="T24" fmla="*/ 24 w 24"/>
                    <a:gd name="T25" fmla="*/ 6 h 24"/>
                    <a:gd name="T26" fmla="*/ 12 w 24"/>
                    <a:gd name="T27" fmla="*/ 6 h 24"/>
                    <a:gd name="T28" fmla="*/ 24 w 24"/>
                    <a:gd name="T2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4">
                      <a:moveTo>
                        <a:pt x="0" y="6"/>
                      </a:moveTo>
                      <a:lnTo>
                        <a:pt x="0" y="6"/>
                      </a:lnTo>
                      <a:lnTo>
                        <a:pt x="0" y="6"/>
                      </a:lnTo>
                      <a:lnTo>
                        <a:pt x="12" y="0"/>
                      </a:lnTo>
                      <a:lnTo>
                        <a:pt x="6" y="24"/>
                      </a:lnTo>
                      <a:lnTo>
                        <a:pt x="18" y="18"/>
                      </a:lnTo>
                      <a:lnTo>
                        <a:pt x="24" y="12"/>
                      </a:lnTo>
                      <a:lnTo>
                        <a:pt x="24" y="12"/>
                      </a:lnTo>
                      <a:lnTo>
                        <a:pt x="24" y="12"/>
                      </a:lnTo>
                      <a:lnTo>
                        <a:pt x="0" y="6"/>
                      </a:lnTo>
                      <a:close/>
                      <a:moveTo>
                        <a:pt x="24" y="12"/>
                      </a:moveTo>
                      <a:lnTo>
                        <a:pt x="24" y="6"/>
                      </a:lnTo>
                      <a:lnTo>
                        <a:pt x="24" y="6"/>
                      </a:lnTo>
                      <a:lnTo>
                        <a:pt x="12" y="6"/>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106" name="Freeform 33"/>
                <p:cNvSpPr>
                  <a:spLocks noEditPoints="1"/>
                </p:cNvSpPr>
                <p:nvPr/>
              </p:nvSpPr>
              <p:spPr bwMode="auto">
                <a:xfrm>
                  <a:off x="4549" y="2364"/>
                  <a:ext cx="12" cy="24"/>
                </a:xfrm>
                <a:custGeom>
                  <a:avLst/>
                  <a:gdLst>
                    <a:gd name="T0" fmla="*/ 0 w 12"/>
                    <a:gd name="T1" fmla="*/ 24 h 24"/>
                    <a:gd name="T2" fmla="*/ 0 w 12"/>
                    <a:gd name="T3" fmla="*/ 24 h 24"/>
                    <a:gd name="T4" fmla="*/ 12 w 12"/>
                    <a:gd name="T5" fmla="*/ 0 h 24"/>
                    <a:gd name="T6" fmla="*/ 6 w 12"/>
                    <a:gd name="T7" fmla="*/ 0 h 24"/>
                    <a:gd name="T8" fmla="*/ 0 w 12"/>
                    <a:gd name="T9" fmla="*/ 24 h 24"/>
                    <a:gd name="T10" fmla="*/ 6 w 12"/>
                    <a:gd name="T11" fmla="*/ 0 h 24"/>
                    <a:gd name="T12" fmla="*/ 0 w 12"/>
                    <a:gd name="T13" fmla="*/ 24 h 24"/>
                    <a:gd name="T14" fmla="*/ 6 w 12"/>
                    <a:gd name="T15" fmla="*/ 0 h 24"/>
                    <a:gd name="T16" fmla="*/ 0 w 12"/>
                    <a:gd name="T17" fmla="*/ 24 h 24"/>
                    <a:gd name="T18" fmla="*/ 6 w 12"/>
                    <a:gd name="T19"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4">
                      <a:moveTo>
                        <a:pt x="0" y="24"/>
                      </a:moveTo>
                      <a:lnTo>
                        <a:pt x="0" y="24"/>
                      </a:lnTo>
                      <a:lnTo>
                        <a:pt x="12" y="0"/>
                      </a:lnTo>
                      <a:lnTo>
                        <a:pt x="6" y="0"/>
                      </a:lnTo>
                      <a:lnTo>
                        <a:pt x="0" y="24"/>
                      </a:lnTo>
                      <a:close/>
                      <a:moveTo>
                        <a:pt x="6" y="0"/>
                      </a:moveTo>
                      <a:lnTo>
                        <a:pt x="0" y="24"/>
                      </a:lnTo>
                      <a:lnTo>
                        <a:pt x="6" y="0"/>
                      </a:lnTo>
                      <a:lnTo>
                        <a:pt x="0" y="24"/>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107" name="Freeform 34"/>
                <p:cNvSpPr>
                  <a:spLocks/>
                </p:cNvSpPr>
                <p:nvPr/>
              </p:nvSpPr>
              <p:spPr bwMode="auto">
                <a:xfrm>
                  <a:off x="4549" y="2376"/>
                  <a:ext cx="18" cy="18"/>
                </a:xfrm>
                <a:custGeom>
                  <a:avLst/>
                  <a:gdLst>
                    <a:gd name="T0" fmla="*/ 0 w 18"/>
                    <a:gd name="T1" fmla="*/ 12 h 18"/>
                    <a:gd name="T2" fmla="*/ 18 w 18"/>
                    <a:gd name="T3" fmla="*/ 18 h 18"/>
                    <a:gd name="T4" fmla="*/ 18 w 18"/>
                    <a:gd name="T5" fmla="*/ 6 h 18"/>
                    <a:gd name="T6" fmla="*/ 6 w 18"/>
                    <a:gd name="T7" fmla="*/ 0 h 18"/>
                    <a:gd name="T8" fmla="*/ 0 w 18"/>
                    <a:gd name="T9" fmla="*/ 12 h 18"/>
                  </a:gdLst>
                  <a:ahLst/>
                  <a:cxnLst>
                    <a:cxn ang="0">
                      <a:pos x="T0" y="T1"/>
                    </a:cxn>
                    <a:cxn ang="0">
                      <a:pos x="T2" y="T3"/>
                    </a:cxn>
                    <a:cxn ang="0">
                      <a:pos x="T4" y="T5"/>
                    </a:cxn>
                    <a:cxn ang="0">
                      <a:pos x="T6" y="T7"/>
                    </a:cxn>
                    <a:cxn ang="0">
                      <a:pos x="T8" y="T9"/>
                    </a:cxn>
                  </a:cxnLst>
                  <a:rect l="0" t="0" r="r" b="b"/>
                  <a:pathLst>
                    <a:path w="18" h="18">
                      <a:moveTo>
                        <a:pt x="0" y="12"/>
                      </a:moveTo>
                      <a:lnTo>
                        <a:pt x="18" y="18"/>
                      </a:lnTo>
                      <a:lnTo>
                        <a:pt x="18" y="6"/>
                      </a:lnTo>
                      <a:lnTo>
                        <a:pt x="6" y="0"/>
                      </a:lnTo>
                      <a:lnTo>
                        <a:pt x="0" y="12"/>
                      </a:lnTo>
                      <a:close/>
                    </a:path>
                  </a:pathLst>
                </a:custGeom>
                <a:solidFill>
                  <a:srgbClr val="00FF00"/>
                </a:solidFill>
                <a:ln w="9525">
                  <a:solidFill>
                    <a:srgbClr val="00FF00"/>
                  </a:solidFill>
                  <a:round/>
                  <a:headEnd/>
                  <a:tailEnd/>
                </a:ln>
              </p:spPr>
              <p:txBody>
                <a:bodyPr/>
                <a:lstStyle/>
                <a:p>
                  <a:endParaRPr lang="zh-CN" altLang="en-US"/>
                </a:p>
              </p:txBody>
            </p:sp>
            <p:sp>
              <p:nvSpPr>
                <p:cNvPr id="108" name="Freeform 35"/>
                <p:cNvSpPr>
                  <a:spLocks/>
                </p:cNvSpPr>
                <p:nvPr/>
              </p:nvSpPr>
              <p:spPr bwMode="auto">
                <a:xfrm>
                  <a:off x="4531" y="2346"/>
                  <a:ext cx="18" cy="30"/>
                </a:xfrm>
                <a:custGeom>
                  <a:avLst/>
                  <a:gdLst>
                    <a:gd name="T0" fmla="*/ 12 w 18"/>
                    <a:gd name="T1" fmla="*/ 30 h 30"/>
                    <a:gd name="T2" fmla="*/ 6 w 18"/>
                    <a:gd name="T3" fmla="*/ 6 h 30"/>
                    <a:gd name="T4" fmla="*/ 6 w 18"/>
                    <a:gd name="T5" fmla="*/ 6 h 30"/>
                    <a:gd name="T6" fmla="*/ 0 w 18"/>
                    <a:gd name="T7" fmla="*/ 0 h 30"/>
                    <a:gd name="T8" fmla="*/ 6 w 18"/>
                    <a:gd name="T9" fmla="*/ 0 h 30"/>
                    <a:gd name="T10" fmla="*/ 6 w 18"/>
                    <a:gd name="T11" fmla="*/ 6 h 30"/>
                    <a:gd name="T12" fmla="*/ 6 w 18"/>
                    <a:gd name="T13" fmla="*/ 12 h 30"/>
                    <a:gd name="T14" fmla="*/ 12 w 18"/>
                    <a:gd name="T15" fmla="*/ 18 h 30"/>
                    <a:gd name="T16" fmla="*/ 12 w 18"/>
                    <a:gd name="T17" fmla="*/ 24 h 30"/>
                    <a:gd name="T18" fmla="*/ 12 w 18"/>
                    <a:gd name="T19" fmla="*/ 24 h 30"/>
                    <a:gd name="T20" fmla="*/ 12 w 18"/>
                    <a:gd name="T21" fmla="*/ 30 h 30"/>
                    <a:gd name="T22" fmla="*/ 18 w 18"/>
                    <a:gd name="T23" fmla="*/ 30 h 30"/>
                    <a:gd name="T24" fmla="*/ 12 w 18"/>
                    <a:gd name="T25" fmla="*/ 30 h 30"/>
                    <a:gd name="T26" fmla="*/ 12 w 18"/>
                    <a:gd name="T2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30">
                      <a:moveTo>
                        <a:pt x="12" y="30"/>
                      </a:moveTo>
                      <a:lnTo>
                        <a:pt x="6" y="6"/>
                      </a:lnTo>
                      <a:lnTo>
                        <a:pt x="6" y="6"/>
                      </a:lnTo>
                      <a:lnTo>
                        <a:pt x="0" y="0"/>
                      </a:lnTo>
                      <a:lnTo>
                        <a:pt x="6" y="0"/>
                      </a:lnTo>
                      <a:lnTo>
                        <a:pt x="6" y="6"/>
                      </a:lnTo>
                      <a:lnTo>
                        <a:pt x="6" y="12"/>
                      </a:lnTo>
                      <a:lnTo>
                        <a:pt x="12" y="18"/>
                      </a:lnTo>
                      <a:lnTo>
                        <a:pt x="12" y="24"/>
                      </a:lnTo>
                      <a:lnTo>
                        <a:pt x="12" y="24"/>
                      </a:lnTo>
                      <a:lnTo>
                        <a:pt x="12" y="30"/>
                      </a:lnTo>
                      <a:lnTo>
                        <a:pt x="18" y="30"/>
                      </a:lnTo>
                      <a:lnTo>
                        <a:pt x="12" y="30"/>
                      </a:lnTo>
                      <a:lnTo>
                        <a:pt x="12" y="30"/>
                      </a:lnTo>
                      <a:close/>
                    </a:path>
                  </a:pathLst>
                </a:custGeom>
                <a:solidFill>
                  <a:srgbClr val="00FF00"/>
                </a:solidFill>
                <a:ln w="9525">
                  <a:solidFill>
                    <a:srgbClr val="00FF00"/>
                  </a:solidFill>
                  <a:round/>
                  <a:headEnd/>
                  <a:tailEnd/>
                </a:ln>
              </p:spPr>
              <p:txBody>
                <a:bodyPr/>
                <a:lstStyle/>
                <a:p>
                  <a:endParaRPr lang="zh-CN" altLang="en-US"/>
                </a:p>
              </p:txBody>
            </p:sp>
            <p:sp>
              <p:nvSpPr>
                <p:cNvPr id="109" name="Freeform 36"/>
                <p:cNvSpPr>
                  <a:spLocks/>
                </p:cNvSpPr>
                <p:nvPr/>
              </p:nvSpPr>
              <p:spPr bwMode="auto">
                <a:xfrm>
                  <a:off x="4525" y="2352"/>
                  <a:ext cx="30" cy="30"/>
                </a:xfrm>
                <a:custGeom>
                  <a:avLst/>
                  <a:gdLst>
                    <a:gd name="T0" fmla="*/ 30 w 30"/>
                    <a:gd name="T1" fmla="*/ 24 h 30"/>
                    <a:gd name="T2" fmla="*/ 24 w 30"/>
                    <a:gd name="T3" fmla="*/ 0 h 30"/>
                    <a:gd name="T4" fmla="*/ 0 w 30"/>
                    <a:gd name="T5" fmla="*/ 6 h 30"/>
                    <a:gd name="T6" fmla="*/ 6 w 30"/>
                    <a:gd name="T7" fmla="*/ 30 h 30"/>
                    <a:gd name="T8" fmla="*/ 30 w 30"/>
                    <a:gd name="T9" fmla="*/ 24 h 30"/>
                  </a:gdLst>
                  <a:ahLst/>
                  <a:cxnLst>
                    <a:cxn ang="0">
                      <a:pos x="T0" y="T1"/>
                    </a:cxn>
                    <a:cxn ang="0">
                      <a:pos x="T2" y="T3"/>
                    </a:cxn>
                    <a:cxn ang="0">
                      <a:pos x="T4" y="T5"/>
                    </a:cxn>
                    <a:cxn ang="0">
                      <a:pos x="T6" y="T7"/>
                    </a:cxn>
                    <a:cxn ang="0">
                      <a:pos x="T8" y="T9"/>
                    </a:cxn>
                  </a:cxnLst>
                  <a:rect l="0" t="0" r="r" b="b"/>
                  <a:pathLst>
                    <a:path w="30" h="30">
                      <a:moveTo>
                        <a:pt x="30" y="24"/>
                      </a:moveTo>
                      <a:lnTo>
                        <a:pt x="24" y="0"/>
                      </a:lnTo>
                      <a:lnTo>
                        <a:pt x="0" y="6"/>
                      </a:lnTo>
                      <a:lnTo>
                        <a:pt x="6" y="30"/>
                      </a:lnTo>
                      <a:lnTo>
                        <a:pt x="30" y="24"/>
                      </a:lnTo>
                      <a:close/>
                    </a:path>
                  </a:pathLst>
                </a:custGeom>
                <a:solidFill>
                  <a:srgbClr val="00FF00"/>
                </a:solidFill>
                <a:ln w="9525">
                  <a:solidFill>
                    <a:srgbClr val="00FF00"/>
                  </a:solidFill>
                  <a:round/>
                  <a:headEnd/>
                  <a:tailEnd/>
                </a:ln>
              </p:spPr>
              <p:txBody>
                <a:bodyPr/>
                <a:lstStyle/>
                <a:p>
                  <a:endParaRPr lang="zh-CN" altLang="en-US"/>
                </a:p>
              </p:txBody>
            </p:sp>
            <p:sp>
              <p:nvSpPr>
                <p:cNvPr id="110" name="Freeform 37"/>
                <p:cNvSpPr>
                  <a:spLocks noEditPoints="1"/>
                </p:cNvSpPr>
                <p:nvPr/>
              </p:nvSpPr>
              <p:spPr bwMode="auto">
                <a:xfrm>
                  <a:off x="4525" y="2334"/>
                  <a:ext cx="24" cy="24"/>
                </a:xfrm>
                <a:custGeom>
                  <a:avLst/>
                  <a:gdLst>
                    <a:gd name="T0" fmla="*/ 24 w 24"/>
                    <a:gd name="T1" fmla="*/ 18 h 24"/>
                    <a:gd name="T2" fmla="*/ 24 w 24"/>
                    <a:gd name="T3" fmla="*/ 12 h 24"/>
                    <a:gd name="T4" fmla="*/ 24 w 24"/>
                    <a:gd name="T5" fmla="*/ 6 h 24"/>
                    <a:gd name="T6" fmla="*/ 12 w 24"/>
                    <a:gd name="T7" fmla="*/ 0 h 24"/>
                    <a:gd name="T8" fmla="*/ 6 w 24"/>
                    <a:gd name="T9" fmla="*/ 24 h 24"/>
                    <a:gd name="T10" fmla="*/ 0 w 24"/>
                    <a:gd name="T11" fmla="*/ 18 h 24"/>
                    <a:gd name="T12" fmla="*/ 0 w 24"/>
                    <a:gd name="T13" fmla="*/ 18 h 24"/>
                    <a:gd name="T14" fmla="*/ 0 w 24"/>
                    <a:gd name="T15" fmla="*/ 24 h 24"/>
                    <a:gd name="T16" fmla="*/ 24 w 24"/>
                    <a:gd name="T17" fmla="*/ 18 h 24"/>
                    <a:gd name="T18" fmla="*/ 0 w 24"/>
                    <a:gd name="T19" fmla="*/ 24 h 24"/>
                    <a:gd name="T20" fmla="*/ 0 w 24"/>
                    <a:gd name="T21" fmla="*/ 24 h 24"/>
                    <a:gd name="T22" fmla="*/ 0 w 24"/>
                    <a:gd name="T23" fmla="*/ 24 h 24"/>
                    <a:gd name="T24" fmla="*/ 12 w 24"/>
                    <a:gd name="T25" fmla="*/ 18 h 24"/>
                    <a:gd name="T26" fmla="*/ 0 w 24"/>
                    <a:gd name="T2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4">
                      <a:moveTo>
                        <a:pt x="24" y="18"/>
                      </a:moveTo>
                      <a:lnTo>
                        <a:pt x="24" y="12"/>
                      </a:lnTo>
                      <a:lnTo>
                        <a:pt x="24" y="6"/>
                      </a:lnTo>
                      <a:lnTo>
                        <a:pt x="12" y="0"/>
                      </a:lnTo>
                      <a:lnTo>
                        <a:pt x="6" y="24"/>
                      </a:lnTo>
                      <a:lnTo>
                        <a:pt x="0" y="18"/>
                      </a:lnTo>
                      <a:lnTo>
                        <a:pt x="0" y="18"/>
                      </a:lnTo>
                      <a:lnTo>
                        <a:pt x="0" y="24"/>
                      </a:lnTo>
                      <a:lnTo>
                        <a:pt x="24" y="18"/>
                      </a:lnTo>
                      <a:close/>
                      <a:moveTo>
                        <a:pt x="0" y="24"/>
                      </a:moveTo>
                      <a:lnTo>
                        <a:pt x="0" y="24"/>
                      </a:lnTo>
                      <a:lnTo>
                        <a:pt x="0" y="24"/>
                      </a:lnTo>
                      <a:lnTo>
                        <a:pt x="12" y="18"/>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111" name="Freeform 38"/>
                <p:cNvSpPr>
                  <a:spLocks noEditPoints="1"/>
                </p:cNvSpPr>
                <p:nvPr/>
              </p:nvSpPr>
              <p:spPr bwMode="auto">
                <a:xfrm>
                  <a:off x="4525" y="2334"/>
                  <a:ext cx="24" cy="24"/>
                </a:xfrm>
                <a:custGeom>
                  <a:avLst/>
                  <a:gdLst>
                    <a:gd name="T0" fmla="*/ 0 w 24"/>
                    <a:gd name="T1" fmla="*/ 18 h 24"/>
                    <a:gd name="T2" fmla="*/ 0 w 24"/>
                    <a:gd name="T3" fmla="*/ 24 h 24"/>
                    <a:gd name="T4" fmla="*/ 0 w 24"/>
                    <a:gd name="T5" fmla="*/ 24 h 24"/>
                    <a:gd name="T6" fmla="*/ 24 w 24"/>
                    <a:gd name="T7" fmla="*/ 18 h 24"/>
                    <a:gd name="T8" fmla="*/ 24 w 24"/>
                    <a:gd name="T9" fmla="*/ 6 h 24"/>
                    <a:gd name="T10" fmla="*/ 18 w 24"/>
                    <a:gd name="T11" fmla="*/ 0 h 24"/>
                    <a:gd name="T12" fmla="*/ 0 w 24"/>
                    <a:gd name="T13" fmla="*/ 18 h 24"/>
                    <a:gd name="T14" fmla="*/ 12 w 24"/>
                    <a:gd name="T15" fmla="*/ 0 h 24"/>
                    <a:gd name="T16" fmla="*/ 0 w 24"/>
                    <a:gd name="T17" fmla="*/ 18 h 24"/>
                    <a:gd name="T18" fmla="*/ 18 w 24"/>
                    <a:gd name="T19" fmla="*/ 0 h 24"/>
                    <a:gd name="T20" fmla="*/ 6 w 24"/>
                    <a:gd name="T21" fmla="*/ 24 h 24"/>
                    <a:gd name="T22" fmla="*/ 12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0" y="18"/>
                      </a:moveTo>
                      <a:lnTo>
                        <a:pt x="0" y="24"/>
                      </a:lnTo>
                      <a:lnTo>
                        <a:pt x="0" y="24"/>
                      </a:lnTo>
                      <a:lnTo>
                        <a:pt x="24" y="18"/>
                      </a:lnTo>
                      <a:lnTo>
                        <a:pt x="24" y="6"/>
                      </a:lnTo>
                      <a:lnTo>
                        <a:pt x="18" y="0"/>
                      </a:lnTo>
                      <a:lnTo>
                        <a:pt x="0" y="18"/>
                      </a:lnTo>
                      <a:close/>
                      <a:moveTo>
                        <a:pt x="12" y="0"/>
                      </a:moveTo>
                      <a:lnTo>
                        <a:pt x="0" y="18"/>
                      </a:lnTo>
                      <a:lnTo>
                        <a:pt x="18" y="0"/>
                      </a:lnTo>
                      <a:lnTo>
                        <a:pt x="6" y="24"/>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112" name="Freeform 39"/>
                <p:cNvSpPr>
                  <a:spLocks noEditPoints="1"/>
                </p:cNvSpPr>
                <p:nvPr/>
              </p:nvSpPr>
              <p:spPr bwMode="auto">
                <a:xfrm>
                  <a:off x="4525" y="2352"/>
                  <a:ext cx="30" cy="24"/>
                </a:xfrm>
                <a:custGeom>
                  <a:avLst/>
                  <a:gdLst>
                    <a:gd name="T0" fmla="*/ 6 w 30"/>
                    <a:gd name="T1" fmla="*/ 6 h 24"/>
                    <a:gd name="T2" fmla="*/ 6 w 30"/>
                    <a:gd name="T3" fmla="*/ 6 h 24"/>
                    <a:gd name="T4" fmla="*/ 6 w 30"/>
                    <a:gd name="T5" fmla="*/ 12 h 24"/>
                    <a:gd name="T6" fmla="*/ 6 w 30"/>
                    <a:gd name="T7" fmla="*/ 18 h 24"/>
                    <a:gd name="T8" fmla="*/ 6 w 30"/>
                    <a:gd name="T9" fmla="*/ 18 h 24"/>
                    <a:gd name="T10" fmla="*/ 30 w 30"/>
                    <a:gd name="T11" fmla="*/ 24 h 24"/>
                    <a:gd name="T12" fmla="*/ 30 w 30"/>
                    <a:gd name="T13" fmla="*/ 6 h 24"/>
                    <a:gd name="T14" fmla="*/ 24 w 30"/>
                    <a:gd name="T15" fmla="*/ 0 h 24"/>
                    <a:gd name="T16" fmla="*/ 6 w 30"/>
                    <a:gd name="T17" fmla="*/ 6 h 24"/>
                    <a:gd name="T18" fmla="*/ 0 w 30"/>
                    <a:gd name="T19" fmla="*/ 6 h 24"/>
                    <a:gd name="T20" fmla="*/ 0 w 30"/>
                    <a:gd name="T21" fmla="*/ 6 h 24"/>
                    <a:gd name="T22" fmla="*/ 6 w 30"/>
                    <a:gd name="T23" fmla="*/ 6 h 24"/>
                    <a:gd name="T24" fmla="*/ 12 w 30"/>
                    <a:gd name="T25" fmla="*/ 0 h 24"/>
                    <a:gd name="T26" fmla="*/ 0 w 30"/>
                    <a:gd name="T27"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24">
                      <a:moveTo>
                        <a:pt x="6" y="6"/>
                      </a:moveTo>
                      <a:lnTo>
                        <a:pt x="6" y="6"/>
                      </a:lnTo>
                      <a:lnTo>
                        <a:pt x="6" y="12"/>
                      </a:lnTo>
                      <a:lnTo>
                        <a:pt x="6" y="18"/>
                      </a:lnTo>
                      <a:lnTo>
                        <a:pt x="6" y="18"/>
                      </a:lnTo>
                      <a:lnTo>
                        <a:pt x="30" y="24"/>
                      </a:lnTo>
                      <a:lnTo>
                        <a:pt x="30" y="6"/>
                      </a:lnTo>
                      <a:lnTo>
                        <a:pt x="24" y="0"/>
                      </a:lnTo>
                      <a:lnTo>
                        <a:pt x="6" y="6"/>
                      </a:lnTo>
                      <a:close/>
                      <a:moveTo>
                        <a:pt x="0" y="6"/>
                      </a:moveTo>
                      <a:lnTo>
                        <a:pt x="0" y="6"/>
                      </a:lnTo>
                      <a:lnTo>
                        <a:pt x="6" y="6"/>
                      </a:lnTo>
                      <a:lnTo>
                        <a:pt x="12" y="0"/>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113" name="Freeform 40"/>
                <p:cNvSpPr>
                  <a:spLocks noEditPoints="1"/>
                </p:cNvSpPr>
                <p:nvPr/>
              </p:nvSpPr>
              <p:spPr bwMode="auto">
                <a:xfrm>
                  <a:off x="4531" y="2364"/>
                  <a:ext cx="30" cy="24"/>
                </a:xfrm>
                <a:custGeom>
                  <a:avLst/>
                  <a:gdLst>
                    <a:gd name="T0" fmla="*/ 0 w 30"/>
                    <a:gd name="T1" fmla="*/ 12 h 24"/>
                    <a:gd name="T2" fmla="*/ 0 w 30"/>
                    <a:gd name="T3" fmla="*/ 12 h 24"/>
                    <a:gd name="T4" fmla="*/ 0 w 30"/>
                    <a:gd name="T5" fmla="*/ 12 h 24"/>
                    <a:gd name="T6" fmla="*/ 6 w 30"/>
                    <a:gd name="T7" fmla="*/ 18 h 24"/>
                    <a:gd name="T8" fmla="*/ 18 w 30"/>
                    <a:gd name="T9" fmla="*/ 24 h 24"/>
                    <a:gd name="T10" fmla="*/ 12 w 30"/>
                    <a:gd name="T11" fmla="*/ 0 h 24"/>
                    <a:gd name="T12" fmla="*/ 24 w 30"/>
                    <a:gd name="T13" fmla="*/ 6 h 24"/>
                    <a:gd name="T14" fmla="*/ 30 w 30"/>
                    <a:gd name="T15" fmla="*/ 6 h 24"/>
                    <a:gd name="T16" fmla="*/ 24 w 30"/>
                    <a:gd name="T17" fmla="*/ 6 h 24"/>
                    <a:gd name="T18" fmla="*/ 0 w 30"/>
                    <a:gd name="T19" fmla="*/ 12 h 24"/>
                    <a:gd name="T20" fmla="*/ 0 w 30"/>
                    <a:gd name="T21" fmla="*/ 6 h 24"/>
                    <a:gd name="T22" fmla="*/ 0 w 30"/>
                    <a:gd name="T23" fmla="*/ 6 h 24"/>
                    <a:gd name="T24" fmla="*/ 0 w 30"/>
                    <a:gd name="T25" fmla="*/ 12 h 24"/>
                    <a:gd name="T26" fmla="*/ 12 w 30"/>
                    <a:gd name="T27" fmla="*/ 6 h 24"/>
                    <a:gd name="T28" fmla="*/ 0 w 30"/>
                    <a:gd name="T29"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24">
                      <a:moveTo>
                        <a:pt x="0" y="12"/>
                      </a:moveTo>
                      <a:lnTo>
                        <a:pt x="0" y="12"/>
                      </a:lnTo>
                      <a:lnTo>
                        <a:pt x="0" y="12"/>
                      </a:lnTo>
                      <a:lnTo>
                        <a:pt x="6" y="18"/>
                      </a:lnTo>
                      <a:lnTo>
                        <a:pt x="18" y="24"/>
                      </a:lnTo>
                      <a:lnTo>
                        <a:pt x="12" y="0"/>
                      </a:lnTo>
                      <a:lnTo>
                        <a:pt x="24" y="6"/>
                      </a:lnTo>
                      <a:lnTo>
                        <a:pt x="30" y="6"/>
                      </a:lnTo>
                      <a:lnTo>
                        <a:pt x="24" y="6"/>
                      </a:lnTo>
                      <a:lnTo>
                        <a:pt x="0" y="12"/>
                      </a:lnTo>
                      <a:close/>
                      <a:moveTo>
                        <a:pt x="0" y="6"/>
                      </a:moveTo>
                      <a:lnTo>
                        <a:pt x="0" y="6"/>
                      </a:lnTo>
                      <a:lnTo>
                        <a:pt x="0" y="12"/>
                      </a:lnTo>
                      <a:lnTo>
                        <a:pt x="12" y="6"/>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114" name="Freeform 41"/>
                <p:cNvSpPr>
                  <a:spLocks noEditPoints="1"/>
                </p:cNvSpPr>
                <p:nvPr/>
              </p:nvSpPr>
              <p:spPr bwMode="auto">
                <a:xfrm>
                  <a:off x="4537" y="2364"/>
                  <a:ext cx="18" cy="24"/>
                </a:xfrm>
                <a:custGeom>
                  <a:avLst/>
                  <a:gdLst>
                    <a:gd name="T0" fmla="*/ 6 w 18"/>
                    <a:gd name="T1" fmla="*/ 0 h 24"/>
                    <a:gd name="T2" fmla="*/ 0 w 18"/>
                    <a:gd name="T3" fmla="*/ 0 h 24"/>
                    <a:gd name="T4" fmla="*/ 12 w 18"/>
                    <a:gd name="T5" fmla="*/ 24 h 24"/>
                    <a:gd name="T6" fmla="*/ 18 w 18"/>
                    <a:gd name="T7" fmla="*/ 24 h 24"/>
                    <a:gd name="T8" fmla="*/ 6 w 18"/>
                    <a:gd name="T9" fmla="*/ 0 h 24"/>
                    <a:gd name="T10" fmla="*/ 12 w 18"/>
                    <a:gd name="T11" fmla="*/ 24 h 24"/>
                    <a:gd name="T12" fmla="*/ 6 w 18"/>
                    <a:gd name="T13" fmla="*/ 0 h 24"/>
                    <a:gd name="T14" fmla="*/ 18 w 18"/>
                    <a:gd name="T15" fmla="*/ 24 h 24"/>
                    <a:gd name="T16" fmla="*/ 6 w 18"/>
                    <a:gd name="T17" fmla="*/ 0 h 24"/>
                    <a:gd name="T18" fmla="*/ 12 w 18"/>
                    <a:gd name="T1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24">
                      <a:moveTo>
                        <a:pt x="6" y="0"/>
                      </a:moveTo>
                      <a:lnTo>
                        <a:pt x="0" y="0"/>
                      </a:lnTo>
                      <a:lnTo>
                        <a:pt x="12" y="24"/>
                      </a:lnTo>
                      <a:lnTo>
                        <a:pt x="18" y="24"/>
                      </a:lnTo>
                      <a:lnTo>
                        <a:pt x="6" y="0"/>
                      </a:lnTo>
                      <a:close/>
                      <a:moveTo>
                        <a:pt x="12" y="24"/>
                      </a:moveTo>
                      <a:lnTo>
                        <a:pt x="6" y="0"/>
                      </a:lnTo>
                      <a:lnTo>
                        <a:pt x="18" y="24"/>
                      </a:lnTo>
                      <a:lnTo>
                        <a:pt x="6" y="0"/>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115" name="Freeform 42"/>
                <p:cNvSpPr>
                  <a:spLocks/>
                </p:cNvSpPr>
                <p:nvPr/>
              </p:nvSpPr>
              <p:spPr bwMode="auto">
                <a:xfrm>
                  <a:off x="4531" y="2376"/>
                  <a:ext cx="18" cy="18"/>
                </a:xfrm>
                <a:custGeom>
                  <a:avLst/>
                  <a:gdLst>
                    <a:gd name="T0" fmla="*/ 0 w 18"/>
                    <a:gd name="T1" fmla="*/ 6 h 18"/>
                    <a:gd name="T2" fmla="*/ 6 w 18"/>
                    <a:gd name="T3" fmla="*/ 18 h 18"/>
                    <a:gd name="T4" fmla="*/ 18 w 18"/>
                    <a:gd name="T5" fmla="*/ 12 h 18"/>
                    <a:gd name="T6" fmla="*/ 12 w 18"/>
                    <a:gd name="T7" fmla="*/ 0 h 18"/>
                    <a:gd name="T8" fmla="*/ 0 w 18"/>
                    <a:gd name="T9" fmla="*/ 6 h 18"/>
                  </a:gdLst>
                  <a:ahLst/>
                  <a:cxnLst>
                    <a:cxn ang="0">
                      <a:pos x="T0" y="T1"/>
                    </a:cxn>
                    <a:cxn ang="0">
                      <a:pos x="T2" y="T3"/>
                    </a:cxn>
                    <a:cxn ang="0">
                      <a:pos x="T4" y="T5"/>
                    </a:cxn>
                    <a:cxn ang="0">
                      <a:pos x="T6" y="T7"/>
                    </a:cxn>
                    <a:cxn ang="0">
                      <a:pos x="T8" y="T9"/>
                    </a:cxn>
                  </a:cxnLst>
                  <a:rect l="0" t="0" r="r" b="b"/>
                  <a:pathLst>
                    <a:path w="18" h="18">
                      <a:moveTo>
                        <a:pt x="0" y="6"/>
                      </a:moveTo>
                      <a:lnTo>
                        <a:pt x="6" y="18"/>
                      </a:lnTo>
                      <a:lnTo>
                        <a:pt x="18" y="12"/>
                      </a:lnTo>
                      <a:lnTo>
                        <a:pt x="12" y="0"/>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116" name="Freeform 43"/>
                <p:cNvSpPr>
                  <a:spLocks/>
                </p:cNvSpPr>
                <p:nvPr/>
              </p:nvSpPr>
              <p:spPr bwMode="auto">
                <a:xfrm>
                  <a:off x="4501" y="2459"/>
                  <a:ext cx="48" cy="78"/>
                </a:xfrm>
                <a:custGeom>
                  <a:avLst/>
                  <a:gdLst>
                    <a:gd name="T0" fmla="*/ 48 w 48"/>
                    <a:gd name="T1" fmla="*/ 0 h 78"/>
                    <a:gd name="T2" fmla="*/ 48 w 48"/>
                    <a:gd name="T3" fmla="*/ 0 h 78"/>
                    <a:gd name="T4" fmla="*/ 42 w 48"/>
                    <a:gd name="T5" fmla="*/ 12 h 78"/>
                    <a:gd name="T6" fmla="*/ 36 w 48"/>
                    <a:gd name="T7" fmla="*/ 24 h 78"/>
                    <a:gd name="T8" fmla="*/ 30 w 48"/>
                    <a:gd name="T9" fmla="*/ 36 h 78"/>
                    <a:gd name="T10" fmla="*/ 24 w 48"/>
                    <a:gd name="T11" fmla="*/ 42 h 78"/>
                    <a:gd name="T12" fmla="*/ 18 w 48"/>
                    <a:gd name="T13" fmla="*/ 54 h 78"/>
                    <a:gd name="T14" fmla="*/ 12 w 48"/>
                    <a:gd name="T15" fmla="*/ 60 h 78"/>
                    <a:gd name="T16" fmla="*/ 6 w 48"/>
                    <a:gd name="T17" fmla="*/ 72 h 78"/>
                    <a:gd name="T18" fmla="*/ 0 w 48"/>
                    <a:gd name="T19" fmla="*/ 78 h 78"/>
                    <a:gd name="T20" fmla="*/ 0 w 48"/>
                    <a:gd name="T21" fmla="*/ 78 h 78"/>
                    <a:gd name="T22" fmla="*/ 0 w 48"/>
                    <a:gd name="T23" fmla="*/ 78 h 78"/>
                    <a:gd name="T24" fmla="*/ 6 w 48"/>
                    <a:gd name="T25" fmla="*/ 72 h 78"/>
                    <a:gd name="T26" fmla="*/ 12 w 48"/>
                    <a:gd name="T27" fmla="*/ 60 h 78"/>
                    <a:gd name="T28" fmla="*/ 18 w 48"/>
                    <a:gd name="T29" fmla="*/ 54 h 78"/>
                    <a:gd name="T30" fmla="*/ 24 w 48"/>
                    <a:gd name="T31" fmla="*/ 42 h 78"/>
                    <a:gd name="T32" fmla="*/ 36 w 48"/>
                    <a:gd name="T33" fmla="*/ 30 h 78"/>
                    <a:gd name="T34" fmla="*/ 42 w 48"/>
                    <a:gd name="T35" fmla="*/ 18 h 78"/>
                    <a:gd name="T36" fmla="*/ 48 w 48"/>
                    <a:gd name="T37" fmla="*/ 12 h 78"/>
                    <a:gd name="T38" fmla="*/ 48 w 48"/>
                    <a:gd name="T39" fmla="*/ 0 h 78"/>
                    <a:gd name="T40" fmla="*/ 48 w 48"/>
                    <a:gd name="T41" fmla="*/ 0 h 78"/>
                    <a:gd name="T42" fmla="*/ 48 w 48"/>
                    <a:gd name="T43" fmla="*/ 0 h 78"/>
                    <a:gd name="T44" fmla="*/ 48 w 48"/>
                    <a:gd name="T45" fmla="*/ 0 h 78"/>
                    <a:gd name="T46" fmla="*/ 48 w 48"/>
                    <a:gd name="T4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78">
                      <a:moveTo>
                        <a:pt x="48" y="0"/>
                      </a:moveTo>
                      <a:lnTo>
                        <a:pt x="48" y="0"/>
                      </a:lnTo>
                      <a:lnTo>
                        <a:pt x="42" y="12"/>
                      </a:lnTo>
                      <a:lnTo>
                        <a:pt x="36" y="24"/>
                      </a:lnTo>
                      <a:lnTo>
                        <a:pt x="30" y="36"/>
                      </a:lnTo>
                      <a:lnTo>
                        <a:pt x="24" y="42"/>
                      </a:lnTo>
                      <a:lnTo>
                        <a:pt x="18" y="54"/>
                      </a:lnTo>
                      <a:lnTo>
                        <a:pt x="12" y="60"/>
                      </a:lnTo>
                      <a:lnTo>
                        <a:pt x="6" y="72"/>
                      </a:lnTo>
                      <a:lnTo>
                        <a:pt x="0" y="78"/>
                      </a:lnTo>
                      <a:lnTo>
                        <a:pt x="0" y="78"/>
                      </a:lnTo>
                      <a:lnTo>
                        <a:pt x="0" y="78"/>
                      </a:lnTo>
                      <a:lnTo>
                        <a:pt x="6" y="72"/>
                      </a:lnTo>
                      <a:lnTo>
                        <a:pt x="12" y="60"/>
                      </a:lnTo>
                      <a:lnTo>
                        <a:pt x="18" y="54"/>
                      </a:lnTo>
                      <a:lnTo>
                        <a:pt x="24" y="42"/>
                      </a:lnTo>
                      <a:lnTo>
                        <a:pt x="36" y="30"/>
                      </a:lnTo>
                      <a:lnTo>
                        <a:pt x="42" y="18"/>
                      </a:lnTo>
                      <a:lnTo>
                        <a:pt x="48" y="12"/>
                      </a:lnTo>
                      <a:lnTo>
                        <a:pt x="48" y="0"/>
                      </a:lnTo>
                      <a:lnTo>
                        <a:pt x="48" y="0"/>
                      </a:lnTo>
                      <a:lnTo>
                        <a:pt x="48" y="0"/>
                      </a:lnTo>
                      <a:lnTo>
                        <a:pt x="48" y="0"/>
                      </a:lnTo>
                      <a:lnTo>
                        <a:pt x="48" y="0"/>
                      </a:lnTo>
                      <a:close/>
                    </a:path>
                  </a:pathLst>
                </a:custGeom>
                <a:solidFill>
                  <a:srgbClr val="00FF00"/>
                </a:solidFill>
                <a:ln w="9525">
                  <a:solidFill>
                    <a:srgbClr val="00FF00"/>
                  </a:solidFill>
                  <a:round/>
                  <a:headEnd/>
                  <a:tailEnd/>
                </a:ln>
              </p:spPr>
              <p:txBody>
                <a:bodyPr/>
                <a:lstStyle/>
                <a:p>
                  <a:endParaRPr lang="zh-CN" altLang="en-US"/>
                </a:p>
              </p:txBody>
            </p:sp>
            <p:sp>
              <p:nvSpPr>
                <p:cNvPr id="117" name="Freeform 44"/>
                <p:cNvSpPr>
                  <a:spLocks/>
                </p:cNvSpPr>
                <p:nvPr/>
              </p:nvSpPr>
              <p:spPr bwMode="auto">
                <a:xfrm>
                  <a:off x="4555" y="2459"/>
                  <a:ext cx="48" cy="78"/>
                </a:xfrm>
                <a:custGeom>
                  <a:avLst/>
                  <a:gdLst>
                    <a:gd name="T0" fmla="*/ 0 w 48"/>
                    <a:gd name="T1" fmla="*/ 0 h 78"/>
                    <a:gd name="T2" fmla="*/ 0 w 48"/>
                    <a:gd name="T3" fmla="*/ 0 h 78"/>
                    <a:gd name="T4" fmla="*/ 6 w 48"/>
                    <a:gd name="T5" fmla="*/ 12 h 78"/>
                    <a:gd name="T6" fmla="*/ 12 w 48"/>
                    <a:gd name="T7" fmla="*/ 24 h 78"/>
                    <a:gd name="T8" fmla="*/ 18 w 48"/>
                    <a:gd name="T9" fmla="*/ 36 h 78"/>
                    <a:gd name="T10" fmla="*/ 24 w 48"/>
                    <a:gd name="T11" fmla="*/ 42 h 78"/>
                    <a:gd name="T12" fmla="*/ 30 w 48"/>
                    <a:gd name="T13" fmla="*/ 54 h 78"/>
                    <a:gd name="T14" fmla="*/ 36 w 48"/>
                    <a:gd name="T15" fmla="*/ 60 h 78"/>
                    <a:gd name="T16" fmla="*/ 42 w 48"/>
                    <a:gd name="T17" fmla="*/ 72 h 78"/>
                    <a:gd name="T18" fmla="*/ 48 w 48"/>
                    <a:gd name="T19" fmla="*/ 78 h 78"/>
                    <a:gd name="T20" fmla="*/ 48 w 48"/>
                    <a:gd name="T21" fmla="*/ 78 h 78"/>
                    <a:gd name="T22" fmla="*/ 48 w 48"/>
                    <a:gd name="T23" fmla="*/ 78 h 78"/>
                    <a:gd name="T24" fmla="*/ 42 w 48"/>
                    <a:gd name="T25" fmla="*/ 72 h 78"/>
                    <a:gd name="T26" fmla="*/ 36 w 48"/>
                    <a:gd name="T27" fmla="*/ 60 h 78"/>
                    <a:gd name="T28" fmla="*/ 30 w 48"/>
                    <a:gd name="T29" fmla="*/ 54 h 78"/>
                    <a:gd name="T30" fmla="*/ 24 w 48"/>
                    <a:gd name="T31" fmla="*/ 42 h 78"/>
                    <a:gd name="T32" fmla="*/ 12 w 48"/>
                    <a:gd name="T33" fmla="*/ 30 h 78"/>
                    <a:gd name="T34" fmla="*/ 6 w 48"/>
                    <a:gd name="T35" fmla="*/ 18 h 78"/>
                    <a:gd name="T36" fmla="*/ 0 w 48"/>
                    <a:gd name="T37" fmla="*/ 12 h 78"/>
                    <a:gd name="T38" fmla="*/ 0 w 48"/>
                    <a:gd name="T39" fmla="*/ 0 h 78"/>
                    <a:gd name="T40" fmla="*/ 0 w 48"/>
                    <a:gd name="T41" fmla="*/ 0 h 78"/>
                    <a:gd name="T42" fmla="*/ 0 w 48"/>
                    <a:gd name="T43" fmla="*/ 0 h 78"/>
                    <a:gd name="T44" fmla="*/ 0 w 48"/>
                    <a:gd name="T45" fmla="*/ 0 h 78"/>
                    <a:gd name="T46" fmla="*/ 0 w 48"/>
                    <a:gd name="T4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78">
                      <a:moveTo>
                        <a:pt x="0" y="0"/>
                      </a:moveTo>
                      <a:lnTo>
                        <a:pt x="0" y="0"/>
                      </a:lnTo>
                      <a:lnTo>
                        <a:pt x="6" y="12"/>
                      </a:lnTo>
                      <a:lnTo>
                        <a:pt x="12" y="24"/>
                      </a:lnTo>
                      <a:lnTo>
                        <a:pt x="18" y="36"/>
                      </a:lnTo>
                      <a:lnTo>
                        <a:pt x="24" y="42"/>
                      </a:lnTo>
                      <a:lnTo>
                        <a:pt x="30" y="54"/>
                      </a:lnTo>
                      <a:lnTo>
                        <a:pt x="36" y="60"/>
                      </a:lnTo>
                      <a:lnTo>
                        <a:pt x="42" y="72"/>
                      </a:lnTo>
                      <a:lnTo>
                        <a:pt x="48" y="78"/>
                      </a:lnTo>
                      <a:lnTo>
                        <a:pt x="48" y="78"/>
                      </a:lnTo>
                      <a:lnTo>
                        <a:pt x="48" y="78"/>
                      </a:lnTo>
                      <a:lnTo>
                        <a:pt x="42" y="72"/>
                      </a:lnTo>
                      <a:lnTo>
                        <a:pt x="36" y="60"/>
                      </a:lnTo>
                      <a:lnTo>
                        <a:pt x="30" y="54"/>
                      </a:lnTo>
                      <a:lnTo>
                        <a:pt x="24" y="42"/>
                      </a:lnTo>
                      <a:lnTo>
                        <a:pt x="12" y="30"/>
                      </a:lnTo>
                      <a:lnTo>
                        <a:pt x="6" y="18"/>
                      </a:lnTo>
                      <a:lnTo>
                        <a:pt x="0" y="12"/>
                      </a:lnTo>
                      <a:lnTo>
                        <a:pt x="0" y="0"/>
                      </a:lnTo>
                      <a:lnTo>
                        <a:pt x="0" y="0"/>
                      </a:lnTo>
                      <a:lnTo>
                        <a:pt x="0" y="0"/>
                      </a:lnTo>
                      <a:lnTo>
                        <a:pt x="0" y="0"/>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118" name="Freeform 45"/>
                <p:cNvSpPr>
                  <a:spLocks/>
                </p:cNvSpPr>
                <p:nvPr/>
              </p:nvSpPr>
              <p:spPr bwMode="auto">
                <a:xfrm>
                  <a:off x="4549" y="2346"/>
                  <a:ext cx="42" cy="71"/>
                </a:xfrm>
                <a:custGeom>
                  <a:avLst/>
                  <a:gdLst>
                    <a:gd name="T0" fmla="*/ 0 w 42"/>
                    <a:gd name="T1" fmla="*/ 71 h 71"/>
                    <a:gd name="T2" fmla="*/ 6 w 42"/>
                    <a:gd name="T3" fmla="*/ 71 h 71"/>
                    <a:gd name="T4" fmla="*/ 18 w 42"/>
                    <a:gd name="T5" fmla="*/ 71 h 71"/>
                    <a:gd name="T6" fmla="*/ 30 w 42"/>
                    <a:gd name="T7" fmla="*/ 65 h 71"/>
                    <a:gd name="T8" fmla="*/ 36 w 42"/>
                    <a:gd name="T9" fmla="*/ 59 h 71"/>
                    <a:gd name="T10" fmla="*/ 36 w 42"/>
                    <a:gd name="T11" fmla="*/ 54 h 71"/>
                    <a:gd name="T12" fmla="*/ 42 w 42"/>
                    <a:gd name="T13" fmla="*/ 48 h 71"/>
                    <a:gd name="T14" fmla="*/ 42 w 42"/>
                    <a:gd name="T15" fmla="*/ 42 h 71"/>
                    <a:gd name="T16" fmla="*/ 42 w 42"/>
                    <a:gd name="T17" fmla="*/ 42 h 71"/>
                    <a:gd name="T18" fmla="*/ 36 w 42"/>
                    <a:gd name="T19" fmla="*/ 36 h 71"/>
                    <a:gd name="T20" fmla="*/ 30 w 42"/>
                    <a:gd name="T21" fmla="*/ 30 h 71"/>
                    <a:gd name="T22" fmla="*/ 24 w 42"/>
                    <a:gd name="T23" fmla="*/ 30 h 71"/>
                    <a:gd name="T24" fmla="*/ 30 w 42"/>
                    <a:gd name="T25" fmla="*/ 12 h 71"/>
                    <a:gd name="T26" fmla="*/ 30 w 42"/>
                    <a:gd name="T27" fmla="*/ 0 h 71"/>
                    <a:gd name="T28" fmla="*/ 24 w 42"/>
                    <a:gd name="T29" fmla="*/ 12 h 71"/>
                    <a:gd name="T30" fmla="*/ 24 w 42"/>
                    <a:gd name="T31" fmla="*/ 6 h 71"/>
                    <a:gd name="T32" fmla="*/ 24 w 42"/>
                    <a:gd name="T33" fmla="*/ 12 h 71"/>
                    <a:gd name="T34" fmla="*/ 24 w 42"/>
                    <a:gd name="T35" fmla="*/ 18 h 71"/>
                    <a:gd name="T36" fmla="*/ 24 w 42"/>
                    <a:gd name="T37" fmla="*/ 24 h 71"/>
                    <a:gd name="T38" fmla="*/ 18 w 42"/>
                    <a:gd name="T39" fmla="*/ 24 h 71"/>
                    <a:gd name="T40" fmla="*/ 18 w 42"/>
                    <a:gd name="T41" fmla="*/ 18 h 71"/>
                    <a:gd name="T42" fmla="*/ 18 w 42"/>
                    <a:gd name="T43" fmla="*/ 24 h 71"/>
                    <a:gd name="T44" fmla="*/ 18 w 42"/>
                    <a:gd name="T45" fmla="*/ 30 h 71"/>
                    <a:gd name="T46" fmla="*/ 24 w 42"/>
                    <a:gd name="T47" fmla="*/ 36 h 71"/>
                    <a:gd name="T48" fmla="*/ 36 w 42"/>
                    <a:gd name="T49" fmla="*/ 48 h 71"/>
                    <a:gd name="T50" fmla="*/ 36 w 42"/>
                    <a:gd name="T51" fmla="*/ 48 h 71"/>
                    <a:gd name="T52" fmla="*/ 30 w 42"/>
                    <a:gd name="T53" fmla="*/ 48 h 71"/>
                    <a:gd name="T54" fmla="*/ 24 w 42"/>
                    <a:gd name="T55" fmla="*/ 54 h 71"/>
                    <a:gd name="T56" fmla="*/ 12 w 42"/>
                    <a:gd name="T57" fmla="*/ 54 h 71"/>
                    <a:gd name="T58" fmla="*/ 6 w 42"/>
                    <a:gd name="T59" fmla="*/ 59 h 71"/>
                    <a:gd name="T60" fmla="*/ 0 w 42"/>
                    <a:gd name="T61" fmla="*/ 71 h 71"/>
                    <a:gd name="T62" fmla="*/ 0 w 42"/>
                    <a:gd name="T63"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 h="71">
                      <a:moveTo>
                        <a:pt x="0" y="71"/>
                      </a:moveTo>
                      <a:lnTo>
                        <a:pt x="6" y="71"/>
                      </a:lnTo>
                      <a:lnTo>
                        <a:pt x="18" y="71"/>
                      </a:lnTo>
                      <a:lnTo>
                        <a:pt x="30" y="65"/>
                      </a:lnTo>
                      <a:lnTo>
                        <a:pt x="36" y="59"/>
                      </a:lnTo>
                      <a:lnTo>
                        <a:pt x="36" y="54"/>
                      </a:lnTo>
                      <a:lnTo>
                        <a:pt x="42" y="48"/>
                      </a:lnTo>
                      <a:lnTo>
                        <a:pt x="42" y="42"/>
                      </a:lnTo>
                      <a:lnTo>
                        <a:pt x="42" y="42"/>
                      </a:lnTo>
                      <a:lnTo>
                        <a:pt x="36" y="36"/>
                      </a:lnTo>
                      <a:lnTo>
                        <a:pt x="30" y="30"/>
                      </a:lnTo>
                      <a:lnTo>
                        <a:pt x="24" y="30"/>
                      </a:lnTo>
                      <a:lnTo>
                        <a:pt x="30" y="12"/>
                      </a:lnTo>
                      <a:lnTo>
                        <a:pt x="30" y="0"/>
                      </a:lnTo>
                      <a:lnTo>
                        <a:pt x="24" y="12"/>
                      </a:lnTo>
                      <a:lnTo>
                        <a:pt x="24" y="6"/>
                      </a:lnTo>
                      <a:lnTo>
                        <a:pt x="24" y="12"/>
                      </a:lnTo>
                      <a:lnTo>
                        <a:pt x="24" y="18"/>
                      </a:lnTo>
                      <a:lnTo>
                        <a:pt x="24" y="24"/>
                      </a:lnTo>
                      <a:lnTo>
                        <a:pt x="18" y="24"/>
                      </a:lnTo>
                      <a:lnTo>
                        <a:pt x="18" y="18"/>
                      </a:lnTo>
                      <a:lnTo>
                        <a:pt x="18" y="24"/>
                      </a:lnTo>
                      <a:lnTo>
                        <a:pt x="18" y="30"/>
                      </a:lnTo>
                      <a:lnTo>
                        <a:pt x="24" y="36"/>
                      </a:lnTo>
                      <a:lnTo>
                        <a:pt x="36" y="48"/>
                      </a:lnTo>
                      <a:lnTo>
                        <a:pt x="36" y="48"/>
                      </a:lnTo>
                      <a:lnTo>
                        <a:pt x="30" y="48"/>
                      </a:lnTo>
                      <a:lnTo>
                        <a:pt x="24" y="54"/>
                      </a:lnTo>
                      <a:lnTo>
                        <a:pt x="12" y="54"/>
                      </a:lnTo>
                      <a:lnTo>
                        <a:pt x="6" y="59"/>
                      </a:lnTo>
                      <a:lnTo>
                        <a:pt x="0" y="71"/>
                      </a:lnTo>
                      <a:lnTo>
                        <a:pt x="0" y="71"/>
                      </a:lnTo>
                      <a:close/>
                    </a:path>
                  </a:pathLst>
                </a:custGeom>
                <a:solidFill>
                  <a:srgbClr val="00FF00"/>
                </a:solidFill>
                <a:ln w="9525">
                  <a:solidFill>
                    <a:srgbClr val="00FF00"/>
                  </a:solidFill>
                  <a:round/>
                  <a:headEnd/>
                  <a:tailEnd/>
                </a:ln>
              </p:spPr>
              <p:txBody>
                <a:bodyPr/>
                <a:lstStyle/>
                <a:p>
                  <a:endParaRPr lang="zh-CN" altLang="en-US"/>
                </a:p>
              </p:txBody>
            </p:sp>
            <p:sp>
              <p:nvSpPr>
                <p:cNvPr id="119" name="Freeform 46"/>
                <p:cNvSpPr>
                  <a:spLocks/>
                </p:cNvSpPr>
                <p:nvPr/>
              </p:nvSpPr>
              <p:spPr bwMode="auto">
                <a:xfrm>
                  <a:off x="4543" y="2400"/>
                  <a:ext cx="42" cy="35"/>
                </a:xfrm>
                <a:custGeom>
                  <a:avLst/>
                  <a:gdLst>
                    <a:gd name="T0" fmla="*/ 0 w 42"/>
                    <a:gd name="T1" fmla="*/ 29 h 35"/>
                    <a:gd name="T2" fmla="*/ 12 w 42"/>
                    <a:gd name="T3" fmla="*/ 35 h 35"/>
                    <a:gd name="T4" fmla="*/ 24 w 42"/>
                    <a:gd name="T5" fmla="*/ 29 h 35"/>
                    <a:gd name="T6" fmla="*/ 42 w 42"/>
                    <a:gd name="T7" fmla="*/ 17 h 35"/>
                    <a:gd name="T8" fmla="*/ 24 w 42"/>
                    <a:gd name="T9" fmla="*/ 0 h 35"/>
                    <a:gd name="T10" fmla="*/ 12 w 42"/>
                    <a:gd name="T11" fmla="*/ 5 h 35"/>
                    <a:gd name="T12" fmla="*/ 12 w 42"/>
                    <a:gd name="T13" fmla="*/ 5 h 35"/>
                    <a:gd name="T14" fmla="*/ 18 w 42"/>
                    <a:gd name="T15" fmla="*/ 11 h 35"/>
                    <a:gd name="T16" fmla="*/ 0 w 42"/>
                    <a:gd name="T17" fmla="*/ 2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5">
                      <a:moveTo>
                        <a:pt x="0" y="29"/>
                      </a:moveTo>
                      <a:lnTo>
                        <a:pt x="12" y="35"/>
                      </a:lnTo>
                      <a:lnTo>
                        <a:pt x="24" y="29"/>
                      </a:lnTo>
                      <a:lnTo>
                        <a:pt x="42" y="17"/>
                      </a:lnTo>
                      <a:lnTo>
                        <a:pt x="24" y="0"/>
                      </a:lnTo>
                      <a:lnTo>
                        <a:pt x="12" y="5"/>
                      </a:lnTo>
                      <a:lnTo>
                        <a:pt x="12" y="5"/>
                      </a:lnTo>
                      <a:lnTo>
                        <a:pt x="18" y="11"/>
                      </a:lnTo>
                      <a:lnTo>
                        <a:pt x="0" y="29"/>
                      </a:lnTo>
                      <a:close/>
                    </a:path>
                  </a:pathLst>
                </a:custGeom>
                <a:solidFill>
                  <a:srgbClr val="00FF00"/>
                </a:solidFill>
                <a:ln w="9525">
                  <a:solidFill>
                    <a:srgbClr val="00FF00"/>
                  </a:solidFill>
                  <a:round/>
                  <a:headEnd/>
                  <a:tailEnd/>
                </a:ln>
              </p:spPr>
              <p:txBody>
                <a:bodyPr/>
                <a:lstStyle/>
                <a:p>
                  <a:endParaRPr lang="zh-CN" altLang="en-US"/>
                </a:p>
              </p:txBody>
            </p:sp>
            <p:sp>
              <p:nvSpPr>
                <p:cNvPr id="120" name="Freeform 47"/>
                <p:cNvSpPr>
                  <a:spLocks noEditPoints="1"/>
                </p:cNvSpPr>
                <p:nvPr/>
              </p:nvSpPr>
              <p:spPr bwMode="auto">
                <a:xfrm>
                  <a:off x="4567" y="2388"/>
                  <a:ext cx="24" cy="29"/>
                </a:xfrm>
                <a:custGeom>
                  <a:avLst/>
                  <a:gdLst>
                    <a:gd name="T0" fmla="*/ 18 w 24"/>
                    <a:gd name="T1" fmla="*/ 29 h 29"/>
                    <a:gd name="T2" fmla="*/ 24 w 24"/>
                    <a:gd name="T3" fmla="*/ 29 h 29"/>
                    <a:gd name="T4" fmla="*/ 24 w 24"/>
                    <a:gd name="T5" fmla="*/ 23 h 29"/>
                    <a:gd name="T6" fmla="*/ 18 w 24"/>
                    <a:gd name="T7" fmla="*/ 23 h 29"/>
                    <a:gd name="T8" fmla="*/ 24 w 24"/>
                    <a:gd name="T9" fmla="*/ 0 h 29"/>
                    <a:gd name="T10" fmla="*/ 12 w 24"/>
                    <a:gd name="T11" fmla="*/ 6 h 29"/>
                    <a:gd name="T12" fmla="*/ 6 w 24"/>
                    <a:gd name="T13" fmla="*/ 6 h 29"/>
                    <a:gd name="T14" fmla="*/ 0 w 24"/>
                    <a:gd name="T15" fmla="*/ 12 h 29"/>
                    <a:gd name="T16" fmla="*/ 18 w 24"/>
                    <a:gd name="T17" fmla="*/ 29 h 29"/>
                    <a:gd name="T18" fmla="*/ 18 w 24"/>
                    <a:gd name="T19" fmla="*/ 29 h 29"/>
                    <a:gd name="T20" fmla="*/ 18 w 24"/>
                    <a:gd name="T21" fmla="*/ 29 h 29"/>
                    <a:gd name="T22" fmla="*/ 18 w 24"/>
                    <a:gd name="T23" fmla="*/ 29 h 29"/>
                    <a:gd name="T24" fmla="*/ 12 w 24"/>
                    <a:gd name="T25" fmla="*/ 23 h 29"/>
                    <a:gd name="T26" fmla="*/ 18 w 24"/>
                    <a:gd name="T2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9">
                      <a:moveTo>
                        <a:pt x="18" y="29"/>
                      </a:moveTo>
                      <a:lnTo>
                        <a:pt x="24" y="29"/>
                      </a:lnTo>
                      <a:lnTo>
                        <a:pt x="24" y="23"/>
                      </a:lnTo>
                      <a:lnTo>
                        <a:pt x="18" y="23"/>
                      </a:lnTo>
                      <a:lnTo>
                        <a:pt x="24" y="0"/>
                      </a:lnTo>
                      <a:lnTo>
                        <a:pt x="12" y="6"/>
                      </a:lnTo>
                      <a:lnTo>
                        <a:pt x="6" y="6"/>
                      </a:lnTo>
                      <a:lnTo>
                        <a:pt x="0" y="12"/>
                      </a:lnTo>
                      <a:lnTo>
                        <a:pt x="18" y="29"/>
                      </a:lnTo>
                      <a:close/>
                      <a:moveTo>
                        <a:pt x="18" y="29"/>
                      </a:moveTo>
                      <a:lnTo>
                        <a:pt x="18" y="29"/>
                      </a:lnTo>
                      <a:lnTo>
                        <a:pt x="18" y="29"/>
                      </a:lnTo>
                      <a:lnTo>
                        <a:pt x="12" y="23"/>
                      </a:lnTo>
                      <a:lnTo>
                        <a:pt x="18" y="29"/>
                      </a:lnTo>
                      <a:close/>
                    </a:path>
                  </a:pathLst>
                </a:custGeom>
                <a:solidFill>
                  <a:srgbClr val="00FF00"/>
                </a:solidFill>
                <a:ln w="9525">
                  <a:solidFill>
                    <a:srgbClr val="00FF00"/>
                  </a:solidFill>
                  <a:round/>
                  <a:headEnd/>
                  <a:tailEnd/>
                </a:ln>
              </p:spPr>
              <p:txBody>
                <a:bodyPr/>
                <a:lstStyle/>
                <a:p>
                  <a:endParaRPr lang="zh-CN" altLang="en-US"/>
                </a:p>
              </p:txBody>
            </p:sp>
            <p:sp>
              <p:nvSpPr>
                <p:cNvPr id="121" name="Freeform 48"/>
                <p:cNvSpPr>
                  <a:spLocks noEditPoints="1"/>
                </p:cNvSpPr>
                <p:nvPr/>
              </p:nvSpPr>
              <p:spPr bwMode="auto">
                <a:xfrm>
                  <a:off x="4579" y="2382"/>
                  <a:ext cx="24" cy="29"/>
                </a:xfrm>
                <a:custGeom>
                  <a:avLst/>
                  <a:gdLst>
                    <a:gd name="T0" fmla="*/ 12 w 24"/>
                    <a:gd name="T1" fmla="*/ 29 h 29"/>
                    <a:gd name="T2" fmla="*/ 12 w 24"/>
                    <a:gd name="T3" fmla="*/ 29 h 29"/>
                    <a:gd name="T4" fmla="*/ 18 w 24"/>
                    <a:gd name="T5" fmla="*/ 23 h 29"/>
                    <a:gd name="T6" fmla="*/ 24 w 24"/>
                    <a:gd name="T7" fmla="*/ 12 h 29"/>
                    <a:gd name="T8" fmla="*/ 18 w 24"/>
                    <a:gd name="T9" fmla="*/ 0 h 29"/>
                    <a:gd name="T10" fmla="*/ 0 w 24"/>
                    <a:gd name="T11" fmla="*/ 18 h 29"/>
                    <a:gd name="T12" fmla="*/ 0 w 24"/>
                    <a:gd name="T13" fmla="*/ 12 h 29"/>
                    <a:gd name="T14" fmla="*/ 0 w 24"/>
                    <a:gd name="T15" fmla="*/ 12 h 29"/>
                    <a:gd name="T16" fmla="*/ 12 w 24"/>
                    <a:gd name="T17" fmla="*/ 29 h 29"/>
                    <a:gd name="T18" fmla="*/ 6 w 24"/>
                    <a:gd name="T19" fmla="*/ 29 h 29"/>
                    <a:gd name="T20" fmla="*/ 12 w 24"/>
                    <a:gd name="T21" fmla="*/ 29 h 29"/>
                    <a:gd name="T22" fmla="*/ 12 w 24"/>
                    <a:gd name="T23" fmla="*/ 29 h 29"/>
                    <a:gd name="T24" fmla="*/ 6 w 24"/>
                    <a:gd name="T25" fmla="*/ 18 h 29"/>
                    <a:gd name="T26" fmla="*/ 6 w 24"/>
                    <a:gd name="T2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9">
                      <a:moveTo>
                        <a:pt x="12" y="29"/>
                      </a:moveTo>
                      <a:lnTo>
                        <a:pt x="12" y="29"/>
                      </a:lnTo>
                      <a:lnTo>
                        <a:pt x="18" y="23"/>
                      </a:lnTo>
                      <a:lnTo>
                        <a:pt x="24" y="12"/>
                      </a:lnTo>
                      <a:lnTo>
                        <a:pt x="18" y="0"/>
                      </a:lnTo>
                      <a:lnTo>
                        <a:pt x="0" y="18"/>
                      </a:lnTo>
                      <a:lnTo>
                        <a:pt x="0" y="12"/>
                      </a:lnTo>
                      <a:lnTo>
                        <a:pt x="0" y="12"/>
                      </a:lnTo>
                      <a:lnTo>
                        <a:pt x="12" y="29"/>
                      </a:lnTo>
                      <a:close/>
                      <a:moveTo>
                        <a:pt x="6" y="29"/>
                      </a:moveTo>
                      <a:lnTo>
                        <a:pt x="12" y="29"/>
                      </a:lnTo>
                      <a:lnTo>
                        <a:pt x="12" y="29"/>
                      </a:lnTo>
                      <a:lnTo>
                        <a:pt x="6" y="18"/>
                      </a:lnTo>
                      <a:lnTo>
                        <a:pt x="6" y="29"/>
                      </a:lnTo>
                      <a:close/>
                    </a:path>
                  </a:pathLst>
                </a:custGeom>
                <a:solidFill>
                  <a:srgbClr val="00FF00"/>
                </a:solidFill>
                <a:ln w="9525">
                  <a:solidFill>
                    <a:srgbClr val="00FF00"/>
                  </a:solidFill>
                  <a:round/>
                  <a:headEnd/>
                  <a:tailEnd/>
                </a:ln>
              </p:spPr>
              <p:txBody>
                <a:bodyPr/>
                <a:lstStyle/>
                <a:p>
                  <a:endParaRPr lang="zh-CN" altLang="en-US"/>
                </a:p>
              </p:txBody>
            </p:sp>
            <p:sp>
              <p:nvSpPr>
                <p:cNvPr id="122" name="Freeform 49"/>
                <p:cNvSpPr>
                  <a:spLocks noEditPoints="1"/>
                </p:cNvSpPr>
                <p:nvPr/>
              </p:nvSpPr>
              <p:spPr bwMode="auto">
                <a:xfrm>
                  <a:off x="4567" y="2364"/>
                  <a:ext cx="30" cy="36"/>
                </a:xfrm>
                <a:custGeom>
                  <a:avLst/>
                  <a:gdLst>
                    <a:gd name="T0" fmla="*/ 30 w 30"/>
                    <a:gd name="T1" fmla="*/ 18 h 36"/>
                    <a:gd name="T2" fmla="*/ 30 w 30"/>
                    <a:gd name="T3" fmla="*/ 18 h 36"/>
                    <a:gd name="T4" fmla="*/ 24 w 30"/>
                    <a:gd name="T5" fmla="*/ 12 h 36"/>
                    <a:gd name="T6" fmla="*/ 18 w 30"/>
                    <a:gd name="T7" fmla="*/ 6 h 36"/>
                    <a:gd name="T8" fmla="*/ 18 w 30"/>
                    <a:gd name="T9" fmla="*/ 6 h 36"/>
                    <a:gd name="T10" fmla="*/ 0 w 30"/>
                    <a:gd name="T11" fmla="*/ 0 h 36"/>
                    <a:gd name="T12" fmla="*/ 0 w 30"/>
                    <a:gd name="T13" fmla="*/ 18 h 36"/>
                    <a:gd name="T14" fmla="*/ 6 w 30"/>
                    <a:gd name="T15" fmla="*/ 30 h 36"/>
                    <a:gd name="T16" fmla="*/ 12 w 30"/>
                    <a:gd name="T17" fmla="*/ 36 h 36"/>
                    <a:gd name="T18" fmla="*/ 12 w 30"/>
                    <a:gd name="T19" fmla="*/ 36 h 36"/>
                    <a:gd name="T20" fmla="*/ 30 w 30"/>
                    <a:gd name="T21" fmla="*/ 18 h 36"/>
                    <a:gd name="T22" fmla="*/ 30 w 30"/>
                    <a:gd name="T23" fmla="*/ 18 h 36"/>
                    <a:gd name="T24" fmla="*/ 30 w 30"/>
                    <a:gd name="T25" fmla="*/ 18 h 36"/>
                    <a:gd name="T26" fmla="*/ 30 w 30"/>
                    <a:gd name="T27" fmla="*/ 18 h 36"/>
                    <a:gd name="T28" fmla="*/ 24 w 30"/>
                    <a:gd name="T29" fmla="*/ 24 h 36"/>
                    <a:gd name="T30" fmla="*/ 30 w 30"/>
                    <a:gd name="T31"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30" y="18"/>
                      </a:moveTo>
                      <a:lnTo>
                        <a:pt x="30" y="18"/>
                      </a:lnTo>
                      <a:lnTo>
                        <a:pt x="24" y="12"/>
                      </a:lnTo>
                      <a:lnTo>
                        <a:pt x="18" y="6"/>
                      </a:lnTo>
                      <a:lnTo>
                        <a:pt x="18" y="6"/>
                      </a:lnTo>
                      <a:lnTo>
                        <a:pt x="0" y="0"/>
                      </a:lnTo>
                      <a:lnTo>
                        <a:pt x="0" y="18"/>
                      </a:lnTo>
                      <a:lnTo>
                        <a:pt x="6" y="30"/>
                      </a:lnTo>
                      <a:lnTo>
                        <a:pt x="12" y="36"/>
                      </a:lnTo>
                      <a:lnTo>
                        <a:pt x="12" y="36"/>
                      </a:lnTo>
                      <a:lnTo>
                        <a:pt x="30" y="18"/>
                      </a:lnTo>
                      <a:close/>
                      <a:moveTo>
                        <a:pt x="30" y="18"/>
                      </a:moveTo>
                      <a:lnTo>
                        <a:pt x="30" y="18"/>
                      </a:lnTo>
                      <a:lnTo>
                        <a:pt x="30" y="18"/>
                      </a:lnTo>
                      <a:lnTo>
                        <a:pt x="24" y="24"/>
                      </a:lnTo>
                      <a:lnTo>
                        <a:pt x="30" y="18"/>
                      </a:lnTo>
                      <a:close/>
                    </a:path>
                  </a:pathLst>
                </a:custGeom>
                <a:solidFill>
                  <a:srgbClr val="00FF00"/>
                </a:solidFill>
                <a:ln w="9525">
                  <a:solidFill>
                    <a:srgbClr val="00FF00"/>
                  </a:solidFill>
                  <a:round/>
                  <a:headEnd/>
                  <a:tailEnd/>
                </a:ln>
              </p:spPr>
              <p:txBody>
                <a:bodyPr/>
                <a:lstStyle/>
                <a:p>
                  <a:endParaRPr lang="zh-CN" altLang="en-US"/>
                </a:p>
              </p:txBody>
            </p:sp>
            <p:sp>
              <p:nvSpPr>
                <p:cNvPr id="123" name="Freeform 50"/>
                <p:cNvSpPr>
                  <a:spLocks noEditPoints="1"/>
                </p:cNvSpPr>
                <p:nvPr/>
              </p:nvSpPr>
              <p:spPr bwMode="auto">
                <a:xfrm>
                  <a:off x="4561" y="2352"/>
                  <a:ext cx="24" cy="30"/>
                </a:xfrm>
                <a:custGeom>
                  <a:avLst/>
                  <a:gdLst>
                    <a:gd name="T0" fmla="*/ 24 w 24"/>
                    <a:gd name="T1" fmla="*/ 24 h 30"/>
                    <a:gd name="T2" fmla="*/ 24 w 24"/>
                    <a:gd name="T3" fmla="*/ 6 h 30"/>
                    <a:gd name="T4" fmla="*/ 6 w 24"/>
                    <a:gd name="T5" fmla="*/ 0 h 30"/>
                    <a:gd name="T6" fmla="*/ 0 w 24"/>
                    <a:gd name="T7" fmla="*/ 18 h 30"/>
                    <a:gd name="T8" fmla="*/ 24 w 24"/>
                    <a:gd name="T9" fmla="*/ 24 h 30"/>
                    <a:gd name="T10" fmla="*/ 24 w 24"/>
                    <a:gd name="T11" fmla="*/ 30 h 30"/>
                    <a:gd name="T12" fmla="*/ 24 w 24"/>
                    <a:gd name="T13" fmla="*/ 24 h 30"/>
                    <a:gd name="T14" fmla="*/ 24 w 24"/>
                    <a:gd name="T15" fmla="*/ 24 h 30"/>
                    <a:gd name="T16" fmla="*/ 12 w 24"/>
                    <a:gd name="T17" fmla="*/ 24 h 30"/>
                    <a:gd name="T18" fmla="*/ 24 w 24"/>
                    <a:gd name="T19"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0">
                      <a:moveTo>
                        <a:pt x="24" y="24"/>
                      </a:moveTo>
                      <a:lnTo>
                        <a:pt x="24" y="6"/>
                      </a:lnTo>
                      <a:lnTo>
                        <a:pt x="6" y="0"/>
                      </a:lnTo>
                      <a:lnTo>
                        <a:pt x="0" y="18"/>
                      </a:lnTo>
                      <a:lnTo>
                        <a:pt x="24" y="24"/>
                      </a:lnTo>
                      <a:close/>
                      <a:moveTo>
                        <a:pt x="24" y="30"/>
                      </a:moveTo>
                      <a:lnTo>
                        <a:pt x="24" y="24"/>
                      </a:lnTo>
                      <a:lnTo>
                        <a:pt x="24" y="24"/>
                      </a:lnTo>
                      <a:lnTo>
                        <a:pt x="12" y="24"/>
                      </a:lnTo>
                      <a:lnTo>
                        <a:pt x="24" y="30"/>
                      </a:lnTo>
                      <a:close/>
                    </a:path>
                  </a:pathLst>
                </a:custGeom>
                <a:solidFill>
                  <a:srgbClr val="00FF00"/>
                </a:solidFill>
                <a:ln w="9525">
                  <a:solidFill>
                    <a:srgbClr val="00FF00"/>
                  </a:solidFill>
                  <a:round/>
                  <a:headEnd/>
                  <a:tailEnd/>
                </a:ln>
              </p:spPr>
              <p:txBody>
                <a:bodyPr/>
                <a:lstStyle/>
                <a:p>
                  <a:endParaRPr lang="zh-CN" altLang="en-US"/>
                </a:p>
              </p:txBody>
            </p:sp>
            <p:sp>
              <p:nvSpPr>
                <p:cNvPr id="124" name="Freeform 51"/>
                <p:cNvSpPr>
                  <a:spLocks noEditPoints="1"/>
                </p:cNvSpPr>
                <p:nvPr/>
              </p:nvSpPr>
              <p:spPr bwMode="auto">
                <a:xfrm>
                  <a:off x="4567" y="2346"/>
                  <a:ext cx="24" cy="12"/>
                </a:xfrm>
                <a:custGeom>
                  <a:avLst/>
                  <a:gdLst>
                    <a:gd name="T0" fmla="*/ 18 w 24"/>
                    <a:gd name="T1" fmla="*/ 12 h 12"/>
                    <a:gd name="T2" fmla="*/ 24 w 24"/>
                    <a:gd name="T3" fmla="*/ 6 h 12"/>
                    <a:gd name="T4" fmla="*/ 0 w 24"/>
                    <a:gd name="T5" fmla="*/ 0 h 12"/>
                    <a:gd name="T6" fmla="*/ 0 w 24"/>
                    <a:gd name="T7" fmla="*/ 6 h 12"/>
                    <a:gd name="T8" fmla="*/ 18 w 24"/>
                    <a:gd name="T9" fmla="*/ 12 h 12"/>
                    <a:gd name="T10" fmla="*/ 0 w 24"/>
                    <a:gd name="T11" fmla="*/ 6 h 12"/>
                    <a:gd name="T12" fmla="*/ 0 w 24"/>
                    <a:gd name="T13" fmla="*/ 6 h 12"/>
                    <a:gd name="T14" fmla="*/ 0 w 24"/>
                    <a:gd name="T15" fmla="*/ 6 h 12"/>
                    <a:gd name="T16" fmla="*/ 12 w 24"/>
                    <a:gd name="T17" fmla="*/ 12 h 12"/>
                    <a:gd name="T18" fmla="*/ 0 w 24"/>
                    <a:gd name="T19"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2">
                      <a:moveTo>
                        <a:pt x="18" y="12"/>
                      </a:moveTo>
                      <a:lnTo>
                        <a:pt x="24" y="6"/>
                      </a:lnTo>
                      <a:lnTo>
                        <a:pt x="0" y="0"/>
                      </a:lnTo>
                      <a:lnTo>
                        <a:pt x="0" y="6"/>
                      </a:lnTo>
                      <a:lnTo>
                        <a:pt x="18" y="12"/>
                      </a:lnTo>
                      <a:close/>
                      <a:moveTo>
                        <a:pt x="0" y="6"/>
                      </a:moveTo>
                      <a:lnTo>
                        <a:pt x="0" y="6"/>
                      </a:lnTo>
                      <a:lnTo>
                        <a:pt x="0" y="6"/>
                      </a:lnTo>
                      <a:lnTo>
                        <a:pt x="12" y="12"/>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125" name="Freeform 52"/>
                <p:cNvSpPr>
                  <a:spLocks noEditPoints="1"/>
                </p:cNvSpPr>
                <p:nvPr/>
              </p:nvSpPr>
              <p:spPr bwMode="auto">
                <a:xfrm>
                  <a:off x="4561" y="2346"/>
                  <a:ext cx="30" cy="12"/>
                </a:xfrm>
                <a:custGeom>
                  <a:avLst/>
                  <a:gdLst>
                    <a:gd name="T0" fmla="*/ 6 w 30"/>
                    <a:gd name="T1" fmla="*/ 0 h 12"/>
                    <a:gd name="T2" fmla="*/ 0 w 30"/>
                    <a:gd name="T3" fmla="*/ 6 h 12"/>
                    <a:gd name="T4" fmla="*/ 24 w 30"/>
                    <a:gd name="T5" fmla="*/ 12 h 12"/>
                    <a:gd name="T6" fmla="*/ 30 w 30"/>
                    <a:gd name="T7" fmla="*/ 6 h 12"/>
                    <a:gd name="T8" fmla="*/ 6 w 30"/>
                    <a:gd name="T9" fmla="*/ 0 h 12"/>
                    <a:gd name="T10" fmla="*/ 30 w 30"/>
                    <a:gd name="T11" fmla="*/ 6 h 12"/>
                    <a:gd name="T12" fmla="*/ 6 w 30"/>
                    <a:gd name="T13" fmla="*/ 0 h 12"/>
                    <a:gd name="T14" fmla="*/ 30 w 30"/>
                    <a:gd name="T15" fmla="*/ 6 h 12"/>
                    <a:gd name="T16" fmla="*/ 6 w 30"/>
                    <a:gd name="T17" fmla="*/ 0 h 12"/>
                    <a:gd name="T18" fmla="*/ 30 w 30"/>
                    <a:gd name="T19"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2">
                      <a:moveTo>
                        <a:pt x="6" y="0"/>
                      </a:moveTo>
                      <a:lnTo>
                        <a:pt x="0" y="6"/>
                      </a:lnTo>
                      <a:lnTo>
                        <a:pt x="24" y="12"/>
                      </a:lnTo>
                      <a:lnTo>
                        <a:pt x="30" y="6"/>
                      </a:lnTo>
                      <a:lnTo>
                        <a:pt x="6" y="0"/>
                      </a:lnTo>
                      <a:close/>
                      <a:moveTo>
                        <a:pt x="30" y="6"/>
                      </a:moveTo>
                      <a:lnTo>
                        <a:pt x="6" y="0"/>
                      </a:lnTo>
                      <a:lnTo>
                        <a:pt x="30" y="6"/>
                      </a:lnTo>
                      <a:lnTo>
                        <a:pt x="6" y="0"/>
                      </a:lnTo>
                      <a:lnTo>
                        <a:pt x="30" y="6"/>
                      </a:lnTo>
                      <a:close/>
                    </a:path>
                  </a:pathLst>
                </a:custGeom>
                <a:solidFill>
                  <a:srgbClr val="00FF00"/>
                </a:solidFill>
                <a:ln w="9525">
                  <a:solidFill>
                    <a:srgbClr val="00FF00"/>
                  </a:solidFill>
                  <a:round/>
                  <a:headEnd/>
                  <a:tailEnd/>
                </a:ln>
              </p:spPr>
              <p:txBody>
                <a:bodyPr/>
                <a:lstStyle/>
                <a:p>
                  <a:endParaRPr lang="zh-CN" altLang="en-US"/>
                </a:p>
              </p:txBody>
            </p:sp>
            <p:sp>
              <p:nvSpPr>
                <p:cNvPr id="126" name="Freeform 53"/>
                <p:cNvSpPr>
                  <a:spLocks noEditPoints="1"/>
                </p:cNvSpPr>
                <p:nvPr/>
              </p:nvSpPr>
              <p:spPr bwMode="auto">
                <a:xfrm>
                  <a:off x="4561" y="2352"/>
                  <a:ext cx="24" cy="6"/>
                </a:xfrm>
                <a:custGeom>
                  <a:avLst/>
                  <a:gdLst>
                    <a:gd name="T0" fmla="*/ 24 w 24"/>
                    <a:gd name="T1" fmla="*/ 0 h 6"/>
                    <a:gd name="T2" fmla="*/ 24 w 24"/>
                    <a:gd name="T3" fmla="*/ 0 h 6"/>
                    <a:gd name="T4" fmla="*/ 0 w 24"/>
                    <a:gd name="T5" fmla="*/ 0 h 6"/>
                    <a:gd name="T6" fmla="*/ 0 w 24"/>
                    <a:gd name="T7" fmla="*/ 6 h 6"/>
                    <a:gd name="T8" fmla="*/ 24 w 24"/>
                    <a:gd name="T9" fmla="*/ 0 h 6"/>
                    <a:gd name="T10" fmla="*/ 0 w 24"/>
                    <a:gd name="T11" fmla="*/ 0 h 6"/>
                    <a:gd name="T12" fmla="*/ 24 w 24"/>
                    <a:gd name="T13" fmla="*/ 0 h 6"/>
                    <a:gd name="T14" fmla="*/ 0 w 24"/>
                    <a:gd name="T15" fmla="*/ 6 h 6"/>
                    <a:gd name="T16" fmla="*/ 24 w 24"/>
                    <a:gd name="T17" fmla="*/ 6 h 6"/>
                    <a:gd name="T18" fmla="*/ 0 w 24"/>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6">
                      <a:moveTo>
                        <a:pt x="24" y="0"/>
                      </a:moveTo>
                      <a:lnTo>
                        <a:pt x="24" y="0"/>
                      </a:lnTo>
                      <a:lnTo>
                        <a:pt x="0" y="0"/>
                      </a:lnTo>
                      <a:lnTo>
                        <a:pt x="0" y="6"/>
                      </a:lnTo>
                      <a:lnTo>
                        <a:pt x="24" y="0"/>
                      </a:lnTo>
                      <a:close/>
                      <a:moveTo>
                        <a:pt x="0" y="0"/>
                      </a:moveTo>
                      <a:lnTo>
                        <a:pt x="24" y="0"/>
                      </a:lnTo>
                      <a:lnTo>
                        <a:pt x="0" y="6"/>
                      </a:lnTo>
                      <a:lnTo>
                        <a:pt x="24" y="6"/>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127" name="Freeform 54"/>
                <p:cNvSpPr>
                  <a:spLocks noEditPoints="1"/>
                </p:cNvSpPr>
                <p:nvPr/>
              </p:nvSpPr>
              <p:spPr bwMode="auto">
                <a:xfrm>
                  <a:off x="4561" y="2352"/>
                  <a:ext cx="24" cy="24"/>
                </a:xfrm>
                <a:custGeom>
                  <a:avLst/>
                  <a:gdLst>
                    <a:gd name="T0" fmla="*/ 0 w 24"/>
                    <a:gd name="T1" fmla="*/ 0 h 24"/>
                    <a:gd name="T2" fmla="*/ 0 w 24"/>
                    <a:gd name="T3" fmla="*/ 6 h 24"/>
                    <a:gd name="T4" fmla="*/ 0 w 24"/>
                    <a:gd name="T5" fmla="*/ 6 h 24"/>
                    <a:gd name="T6" fmla="*/ 0 w 24"/>
                    <a:gd name="T7" fmla="*/ 6 h 24"/>
                    <a:gd name="T8" fmla="*/ 0 w 24"/>
                    <a:gd name="T9" fmla="*/ 6 h 24"/>
                    <a:gd name="T10" fmla="*/ 0 w 24"/>
                    <a:gd name="T11" fmla="*/ 24 h 24"/>
                    <a:gd name="T12" fmla="*/ 18 w 24"/>
                    <a:gd name="T13" fmla="*/ 18 h 24"/>
                    <a:gd name="T14" fmla="*/ 24 w 24"/>
                    <a:gd name="T15" fmla="*/ 12 h 24"/>
                    <a:gd name="T16" fmla="*/ 24 w 24"/>
                    <a:gd name="T17" fmla="*/ 6 h 24"/>
                    <a:gd name="T18" fmla="*/ 24 w 24"/>
                    <a:gd name="T19" fmla="*/ 0 h 24"/>
                    <a:gd name="T20" fmla="*/ 0 w 24"/>
                    <a:gd name="T21" fmla="*/ 0 h 24"/>
                    <a:gd name="T22" fmla="*/ 24 w 24"/>
                    <a:gd name="T23" fmla="*/ 0 h 24"/>
                    <a:gd name="T24" fmla="*/ 0 w 24"/>
                    <a:gd name="T25" fmla="*/ 0 h 24"/>
                    <a:gd name="T26" fmla="*/ 24 w 24"/>
                    <a:gd name="T27" fmla="*/ 0 h 24"/>
                    <a:gd name="T28" fmla="*/ 0 w 24"/>
                    <a:gd name="T29" fmla="*/ 0 h 24"/>
                    <a:gd name="T30" fmla="*/ 24 w 24"/>
                    <a:gd name="T31"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 h="24">
                      <a:moveTo>
                        <a:pt x="0" y="0"/>
                      </a:moveTo>
                      <a:lnTo>
                        <a:pt x="0" y="6"/>
                      </a:lnTo>
                      <a:lnTo>
                        <a:pt x="0" y="6"/>
                      </a:lnTo>
                      <a:lnTo>
                        <a:pt x="0" y="6"/>
                      </a:lnTo>
                      <a:lnTo>
                        <a:pt x="0" y="6"/>
                      </a:lnTo>
                      <a:lnTo>
                        <a:pt x="0" y="24"/>
                      </a:lnTo>
                      <a:lnTo>
                        <a:pt x="18" y="18"/>
                      </a:lnTo>
                      <a:lnTo>
                        <a:pt x="24" y="12"/>
                      </a:lnTo>
                      <a:lnTo>
                        <a:pt x="24" y="6"/>
                      </a:lnTo>
                      <a:lnTo>
                        <a:pt x="24" y="0"/>
                      </a:lnTo>
                      <a:lnTo>
                        <a:pt x="0" y="0"/>
                      </a:lnTo>
                      <a:close/>
                      <a:moveTo>
                        <a:pt x="24" y="0"/>
                      </a:moveTo>
                      <a:lnTo>
                        <a:pt x="0" y="0"/>
                      </a:lnTo>
                      <a:lnTo>
                        <a:pt x="24" y="0"/>
                      </a:lnTo>
                      <a:lnTo>
                        <a:pt x="0" y="0"/>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128" name="Freeform 55"/>
                <p:cNvSpPr>
                  <a:spLocks noEditPoints="1"/>
                </p:cNvSpPr>
                <p:nvPr/>
              </p:nvSpPr>
              <p:spPr bwMode="auto">
                <a:xfrm>
                  <a:off x="4561" y="2358"/>
                  <a:ext cx="18" cy="18"/>
                </a:xfrm>
                <a:custGeom>
                  <a:avLst/>
                  <a:gdLst>
                    <a:gd name="T0" fmla="*/ 18 w 18"/>
                    <a:gd name="T1" fmla="*/ 0 h 18"/>
                    <a:gd name="T2" fmla="*/ 18 w 18"/>
                    <a:gd name="T3" fmla="*/ 0 h 18"/>
                    <a:gd name="T4" fmla="*/ 0 w 18"/>
                    <a:gd name="T5" fmla="*/ 18 h 18"/>
                    <a:gd name="T6" fmla="*/ 0 w 18"/>
                    <a:gd name="T7" fmla="*/ 18 h 18"/>
                    <a:gd name="T8" fmla="*/ 18 w 18"/>
                    <a:gd name="T9" fmla="*/ 0 h 18"/>
                    <a:gd name="T10" fmla="*/ 18 w 18"/>
                    <a:gd name="T11" fmla="*/ 6 h 18"/>
                    <a:gd name="T12" fmla="*/ 18 w 18"/>
                    <a:gd name="T13" fmla="*/ 0 h 18"/>
                    <a:gd name="T14" fmla="*/ 18 w 18"/>
                    <a:gd name="T15" fmla="*/ 0 h 18"/>
                    <a:gd name="T16" fmla="*/ 6 w 18"/>
                    <a:gd name="T17" fmla="*/ 12 h 18"/>
                    <a:gd name="T18" fmla="*/ 18 w 18"/>
                    <a:gd name="T19" fmla="*/ 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18" y="0"/>
                      </a:moveTo>
                      <a:lnTo>
                        <a:pt x="18" y="0"/>
                      </a:lnTo>
                      <a:lnTo>
                        <a:pt x="0" y="18"/>
                      </a:lnTo>
                      <a:lnTo>
                        <a:pt x="0" y="18"/>
                      </a:lnTo>
                      <a:lnTo>
                        <a:pt x="18" y="0"/>
                      </a:lnTo>
                      <a:close/>
                      <a:moveTo>
                        <a:pt x="18" y="6"/>
                      </a:moveTo>
                      <a:lnTo>
                        <a:pt x="18" y="0"/>
                      </a:lnTo>
                      <a:lnTo>
                        <a:pt x="18" y="0"/>
                      </a:lnTo>
                      <a:lnTo>
                        <a:pt x="6"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129" name="Freeform 56"/>
                <p:cNvSpPr>
                  <a:spLocks noEditPoints="1"/>
                </p:cNvSpPr>
                <p:nvPr/>
              </p:nvSpPr>
              <p:spPr bwMode="auto">
                <a:xfrm>
                  <a:off x="4555" y="2346"/>
                  <a:ext cx="24" cy="36"/>
                </a:xfrm>
                <a:custGeom>
                  <a:avLst/>
                  <a:gdLst>
                    <a:gd name="T0" fmla="*/ 0 w 24"/>
                    <a:gd name="T1" fmla="*/ 18 h 36"/>
                    <a:gd name="T2" fmla="*/ 0 w 24"/>
                    <a:gd name="T3" fmla="*/ 24 h 36"/>
                    <a:gd name="T4" fmla="*/ 6 w 24"/>
                    <a:gd name="T5" fmla="*/ 36 h 36"/>
                    <a:gd name="T6" fmla="*/ 24 w 24"/>
                    <a:gd name="T7" fmla="*/ 24 h 36"/>
                    <a:gd name="T8" fmla="*/ 24 w 24"/>
                    <a:gd name="T9" fmla="*/ 24 h 36"/>
                    <a:gd name="T10" fmla="*/ 0 w 24"/>
                    <a:gd name="T11" fmla="*/ 18 h 36"/>
                    <a:gd name="T12" fmla="*/ 24 w 24"/>
                    <a:gd name="T13" fmla="*/ 12 h 36"/>
                    <a:gd name="T14" fmla="*/ 12 w 24"/>
                    <a:gd name="T15" fmla="*/ 0 h 36"/>
                    <a:gd name="T16" fmla="*/ 0 w 24"/>
                    <a:gd name="T17" fmla="*/ 18 h 36"/>
                    <a:gd name="T18" fmla="*/ 12 w 24"/>
                    <a:gd name="T19" fmla="*/ 18 h 36"/>
                    <a:gd name="T20" fmla="*/ 24 w 24"/>
                    <a:gd name="T21"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36">
                      <a:moveTo>
                        <a:pt x="0" y="18"/>
                      </a:moveTo>
                      <a:lnTo>
                        <a:pt x="0" y="24"/>
                      </a:lnTo>
                      <a:lnTo>
                        <a:pt x="6" y="36"/>
                      </a:lnTo>
                      <a:lnTo>
                        <a:pt x="24" y="24"/>
                      </a:lnTo>
                      <a:lnTo>
                        <a:pt x="24" y="24"/>
                      </a:lnTo>
                      <a:lnTo>
                        <a:pt x="0" y="18"/>
                      </a:lnTo>
                      <a:close/>
                      <a:moveTo>
                        <a:pt x="24" y="12"/>
                      </a:moveTo>
                      <a:lnTo>
                        <a:pt x="12" y="0"/>
                      </a:lnTo>
                      <a:lnTo>
                        <a:pt x="0" y="18"/>
                      </a:lnTo>
                      <a:lnTo>
                        <a:pt x="12" y="18"/>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130" name="Freeform 57"/>
                <p:cNvSpPr>
                  <a:spLocks noEditPoints="1"/>
                </p:cNvSpPr>
                <p:nvPr/>
              </p:nvSpPr>
              <p:spPr bwMode="auto">
                <a:xfrm>
                  <a:off x="4555" y="2370"/>
                  <a:ext cx="36" cy="30"/>
                </a:xfrm>
                <a:custGeom>
                  <a:avLst/>
                  <a:gdLst>
                    <a:gd name="T0" fmla="*/ 0 w 36"/>
                    <a:gd name="T1" fmla="*/ 6 h 30"/>
                    <a:gd name="T2" fmla="*/ 6 w 36"/>
                    <a:gd name="T3" fmla="*/ 18 h 30"/>
                    <a:gd name="T4" fmla="*/ 24 w 36"/>
                    <a:gd name="T5" fmla="*/ 30 h 30"/>
                    <a:gd name="T6" fmla="*/ 36 w 36"/>
                    <a:gd name="T7" fmla="*/ 12 h 30"/>
                    <a:gd name="T8" fmla="*/ 24 w 36"/>
                    <a:gd name="T9" fmla="*/ 6 h 30"/>
                    <a:gd name="T10" fmla="*/ 24 w 36"/>
                    <a:gd name="T11" fmla="*/ 6 h 30"/>
                    <a:gd name="T12" fmla="*/ 0 w 36"/>
                    <a:gd name="T13" fmla="*/ 6 h 30"/>
                    <a:gd name="T14" fmla="*/ 24 w 36"/>
                    <a:gd name="T15" fmla="*/ 6 h 30"/>
                    <a:gd name="T16" fmla="*/ 24 w 36"/>
                    <a:gd name="T17" fmla="*/ 0 h 30"/>
                    <a:gd name="T18" fmla="*/ 24 w 36"/>
                    <a:gd name="T19" fmla="*/ 0 h 30"/>
                    <a:gd name="T20" fmla="*/ 12 w 36"/>
                    <a:gd name="T21" fmla="*/ 6 h 30"/>
                    <a:gd name="T22" fmla="*/ 24 w 36"/>
                    <a:gd name="T23"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30">
                      <a:moveTo>
                        <a:pt x="0" y="6"/>
                      </a:moveTo>
                      <a:lnTo>
                        <a:pt x="6" y="18"/>
                      </a:lnTo>
                      <a:lnTo>
                        <a:pt x="24" y="30"/>
                      </a:lnTo>
                      <a:lnTo>
                        <a:pt x="36" y="12"/>
                      </a:lnTo>
                      <a:lnTo>
                        <a:pt x="24" y="6"/>
                      </a:lnTo>
                      <a:lnTo>
                        <a:pt x="24" y="6"/>
                      </a:lnTo>
                      <a:lnTo>
                        <a:pt x="0" y="6"/>
                      </a:lnTo>
                      <a:close/>
                      <a:moveTo>
                        <a:pt x="24" y="6"/>
                      </a:moveTo>
                      <a:lnTo>
                        <a:pt x="24" y="0"/>
                      </a:lnTo>
                      <a:lnTo>
                        <a:pt x="24" y="0"/>
                      </a:lnTo>
                      <a:lnTo>
                        <a:pt x="12" y="6"/>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131" name="Freeform 58"/>
                <p:cNvSpPr>
                  <a:spLocks noEditPoints="1"/>
                </p:cNvSpPr>
                <p:nvPr/>
              </p:nvSpPr>
              <p:spPr bwMode="auto">
                <a:xfrm>
                  <a:off x="4573" y="2382"/>
                  <a:ext cx="36" cy="18"/>
                </a:xfrm>
                <a:custGeom>
                  <a:avLst/>
                  <a:gdLst>
                    <a:gd name="T0" fmla="*/ 6 w 36"/>
                    <a:gd name="T1" fmla="*/ 0 h 18"/>
                    <a:gd name="T2" fmla="*/ 6 w 36"/>
                    <a:gd name="T3" fmla="*/ 0 h 18"/>
                    <a:gd name="T4" fmla="*/ 0 w 36"/>
                    <a:gd name="T5" fmla="*/ 6 h 18"/>
                    <a:gd name="T6" fmla="*/ 18 w 36"/>
                    <a:gd name="T7" fmla="*/ 18 h 18"/>
                    <a:gd name="T8" fmla="*/ 18 w 36"/>
                    <a:gd name="T9" fmla="*/ 18 h 18"/>
                    <a:gd name="T10" fmla="*/ 6 w 36"/>
                    <a:gd name="T11" fmla="*/ 0 h 18"/>
                    <a:gd name="T12" fmla="*/ 18 w 36"/>
                    <a:gd name="T13" fmla="*/ 18 h 18"/>
                    <a:gd name="T14" fmla="*/ 36 w 36"/>
                    <a:gd name="T15" fmla="*/ 6 h 18"/>
                    <a:gd name="T16" fmla="*/ 18 w 36"/>
                    <a:gd name="T17" fmla="*/ 0 h 18"/>
                    <a:gd name="T18" fmla="*/ 12 w 36"/>
                    <a:gd name="T19" fmla="*/ 12 h 18"/>
                    <a:gd name="T20" fmla="*/ 18 w 36"/>
                    <a:gd name="T21"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8">
                      <a:moveTo>
                        <a:pt x="6" y="0"/>
                      </a:moveTo>
                      <a:lnTo>
                        <a:pt x="6" y="0"/>
                      </a:lnTo>
                      <a:lnTo>
                        <a:pt x="0" y="6"/>
                      </a:lnTo>
                      <a:lnTo>
                        <a:pt x="18" y="18"/>
                      </a:lnTo>
                      <a:lnTo>
                        <a:pt x="18" y="18"/>
                      </a:lnTo>
                      <a:lnTo>
                        <a:pt x="6" y="0"/>
                      </a:lnTo>
                      <a:close/>
                      <a:moveTo>
                        <a:pt x="18" y="18"/>
                      </a:moveTo>
                      <a:lnTo>
                        <a:pt x="36" y="6"/>
                      </a:lnTo>
                      <a:lnTo>
                        <a:pt x="18" y="0"/>
                      </a:lnTo>
                      <a:lnTo>
                        <a:pt x="12" y="12"/>
                      </a:lnTo>
                      <a:lnTo>
                        <a:pt x="18" y="18"/>
                      </a:lnTo>
                      <a:close/>
                    </a:path>
                  </a:pathLst>
                </a:custGeom>
                <a:solidFill>
                  <a:srgbClr val="00FF00"/>
                </a:solidFill>
                <a:ln w="9525">
                  <a:solidFill>
                    <a:srgbClr val="00FF00"/>
                  </a:solidFill>
                  <a:round/>
                  <a:headEnd/>
                  <a:tailEnd/>
                </a:ln>
              </p:spPr>
              <p:txBody>
                <a:bodyPr/>
                <a:lstStyle/>
                <a:p>
                  <a:endParaRPr lang="zh-CN" altLang="en-US"/>
                </a:p>
              </p:txBody>
            </p:sp>
            <p:sp>
              <p:nvSpPr>
                <p:cNvPr id="132" name="Freeform 59"/>
                <p:cNvSpPr>
                  <a:spLocks noEditPoints="1"/>
                </p:cNvSpPr>
                <p:nvPr/>
              </p:nvSpPr>
              <p:spPr bwMode="auto">
                <a:xfrm>
                  <a:off x="4543" y="2382"/>
                  <a:ext cx="48" cy="29"/>
                </a:xfrm>
                <a:custGeom>
                  <a:avLst/>
                  <a:gdLst>
                    <a:gd name="T0" fmla="*/ 36 w 48"/>
                    <a:gd name="T1" fmla="*/ 0 h 29"/>
                    <a:gd name="T2" fmla="*/ 30 w 48"/>
                    <a:gd name="T3" fmla="*/ 0 h 29"/>
                    <a:gd name="T4" fmla="*/ 24 w 48"/>
                    <a:gd name="T5" fmla="*/ 6 h 29"/>
                    <a:gd name="T6" fmla="*/ 0 w 48"/>
                    <a:gd name="T7" fmla="*/ 12 h 29"/>
                    <a:gd name="T8" fmla="*/ 18 w 48"/>
                    <a:gd name="T9" fmla="*/ 29 h 29"/>
                    <a:gd name="T10" fmla="*/ 18 w 48"/>
                    <a:gd name="T11" fmla="*/ 29 h 29"/>
                    <a:gd name="T12" fmla="*/ 30 w 48"/>
                    <a:gd name="T13" fmla="*/ 29 h 29"/>
                    <a:gd name="T14" fmla="*/ 36 w 48"/>
                    <a:gd name="T15" fmla="*/ 23 h 29"/>
                    <a:gd name="T16" fmla="*/ 42 w 48"/>
                    <a:gd name="T17" fmla="*/ 23 h 29"/>
                    <a:gd name="T18" fmla="*/ 36 w 48"/>
                    <a:gd name="T19" fmla="*/ 0 h 29"/>
                    <a:gd name="T20" fmla="*/ 42 w 48"/>
                    <a:gd name="T21" fmla="*/ 23 h 29"/>
                    <a:gd name="T22" fmla="*/ 48 w 48"/>
                    <a:gd name="T23" fmla="*/ 23 h 29"/>
                    <a:gd name="T24" fmla="*/ 48 w 48"/>
                    <a:gd name="T25" fmla="*/ 18 h 29"/>
                    <a:gd name="T26" fmla="*/ 42 w 48"/>
                    <a:gd name="T27" fmla="*/ 12 h 29"/>
                    <a:gd name="T28" fmla="*/ 42 w 48"/>
                    <a:gd name="T29"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29">
                      <a:moveTo>
                        <a:pt x="36" y="0"/>
                      </a:moveTo>
                      <a:lnTo>
                        <a:pt x="30" y="0"/>
                      </a:lnTo>
                      <a:lnTo>
                        <a:pt x="24" y="6"/>
                      </a:lnTo>
                      <a:lnTo>
                        <a:pt x="0" y="12"/>
                      </a:lnTo>
                      <a:lnTo>
                        <a:pt x="18" y="29"/>
                      </a:lnTo>
                      <a:lnTo>
                        <a:pt x="18" y="29"/>
                      </a:lnTo>
                      <a:lnTo>
                        <a:pt x="30" y="29"/>
                      </a:lnTo>
                      <a:lnTo>
                        <a:pt x="36" y="23"/>
                      </a:lnTo>
                      <a:lnTo>
                        <a:pt x="42" y="23"/>
                      </a:lnTo>
                      <a:lnTo>
                        <a:pt x="36" y="0"/>
                      </a:lnTo>
                      <a:close/>
                      <a:moveTo>
                        <a:pt x="42" y="23"/>
                      </a:moveTo>
                      <a:lnTo>
                        <a:pt x="48" y="23"/>
                      </a:lnTo>
                      <a:lnTo>
                        <a:pt x="48" y="18"/>
                      </a:lnTo>
                      <a:lnTo>
                        <a:pt x="42" y="12"/>
                      </a:lnTo>
                      <a:lnTo>
                        <a:pt x="42" y="23"/>
                      </a:lnTo>
                      <a:close/>
                    </a:path>
                  </a:pathLst>
                </a:custGeom>
                <a:solidFill>
                  <a:srgbClr val="00FF00"/>
                </a:solidFill>
                <a:ln w="9525">
                  <a:solidFill>
                    <a:srgbClr val="00FF00"/>
                  </a:solidFill>
                  <a:round/>
                  <a:headEnd/>
                  <a:tailEnd/>
                </a:ln>
              </p:spPr>
              <p:txBody>
                <a:bodyPr/>
                <a:lstStyle/>
                <a:p>
                  <a:endParaRPr lang="zh-CN" altLang="en-US"/>
                </a:p>
              </p:txBody>
            </p:sp>
            <p:sp>
              <p:nvSpPr>
                <p:cNvPr id="133" name="Freeform 60"/>
                <p:cNvSpPr>
                  <a:spLocks noEditPoints="1"/>
                </p:cNvSpPr>
                <p:nvPr/>
              </p:nvSpPr>
              <p:spPr bwMode="auto">
                <a:xfrm>
                  <a:off x="4537" y="2394"/>
                  <a:ext cx="30" cy="29"/>
                </a:xfrm>
                <a:custGeom>
                  <a:avLst/>
                  <a:gdLst>
                    <a:gd name="T0" fmla="*/ 6 w 30"/>
                    <a:gd name="T1" fmla="*/ 6 h 29"/>
                    <a:gd name="T2" fmla="*/ 0 w 30"/>
                    <a:gd name="T3" fmla="*/ 23 h 29"/>
                    <a:gd name="T4" fmla="*/ 24 w 30"/>
                    <a:gd name="T5" fmla="*/ 29 h 29"/>
                    <a:gd name="T6" fmla="*/ 30 w 30"/>
                    <a:gd name="T7" fmla="*/ 11 h 29"/>
                    <a:gd name="T8" fmla="*/ 6 w 30"/>
                    <a:gd name="T9" fmla="*/ 6 h 29"/>
                    <a:gd name="T10" fmla="*/ 6 w 30"/>
                    <a:gd name="T11" fmla="*/ 0 h 29"/>
                    <a:gd name="T12" fmla="*/ 6 w 30"/>
                    <a:gd name="T13" fmla="*/ 6 h 29"/>
                    <a:gd name="T14" fmla="*/ 6 w 30"/>
                    <a:gd name="T15" fmla="*/ 6 h 29"/>
                    <a:gd name="T16" fmla="*/ 18 w 30"/>
                    <a:gd name="T17" fmla="*/ 11 h 29"/>
                    <a:gd name="T18" fmla="*/ 6 w 30"/>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29">
                      <a:moveTo>
                        <a:pt x="6" y="6"/>
                      </a:moveTo>
                      <a:lnTo>
                        <a:pt x="0" y="23"/>
                      </a:lnTo>
                      <a:lnTo>
                        <a:pt x="24" y="29"/>
                      </a:lnTo>
                      <a:lnTo>
                        <a:pt x="30" y="11"/>
                      </a:lnTo>
                      <a:lnTo>
                        <a:pt x="6" y="6"/>
                      </a:lnTo>
                      <a:close/>
                      <a:moveTo>
                        <a:pt x="6" y="0"/>
                      </a:moveTo>
                      <a:lnTo>
                        <a:pt x="6" y="6"/>
                      </a:lnTo>
                      <a:lnTo>
                        <a:pt x="6" y="6"/>
                      </a:lnTo>
                      <a:lnTo>
                        <a:pt x="18" y="11"/>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134" name="Freeform 61"/>
                <p:cNvSpPr>
                  <a:spLocks/>
                </p:cNvSpPr>
                <p:nvPr/>
              </p:nvSpPr>
              <p:spPr bwMode="auto">
                <a:xfrm>
                  <a:off x="4537" y="2417"/>
                  <a:ext cx="12" cy="12"/>
                </a:xfrm>
                <a:custGeom>
                  <a:avLst/>
                  <a:gdLst>
                    <a:gd name="T0" fmla="*/ 0 w 12"/>
                    <a:gd name="T1" fmla="*/ 0 h 12"/>
                    <a:gd name="T2" fmla="*/ 0 w 12"/>
                    <a:gd name="T3" fmla="*/ 6 h 12"/>
                    <a:gd name="T4" fmla="*/ 6 w 12"/>
                    <a:gd name="T5" fmla="*/ 12 h 12"/>
                    <a:gd name="T6" fmla="*/ 12 w 12"/>
                    <a:gd name="T7" fmla="*/ 0 h 12"/>
                    <a:gd name="T8" fmla="*/ 0 w 12"/>
                    <a:gd name="T9" fmla="*/ 0 h 12"/>
                  </a:gdLst>
                  <a:ahLst/>
                  <a:cxnLst>
                    <a:cxn ang="0">
                      <a:pos x="T0" y="T1"/>
                    </a:cxn>
                    <a:cxn ang="0">
                      <a:pos x="T2" y="T3"/>
                    </a:cxn>
                    <a:cxn ang="0">
                      <a:pos x="T4" y="T5"/>
                    </a:cxn>
                    <a:cxn ang="0">
                      <a:pos x="T6" y="T7"/>
                    </a:cxn>
                    <a:cxn ang="0">
                      <a:pos x="T8" y="T9"/>
                    </a:cxn>
                  </a:cxnLst>
                  <a:rect l="0" t="0" r="r" b="b"/>
                  <a:pathLst>
                    <a:path w="12" h="12">
                      <a:moveTo>
                        <a:pt x="0" y="0"/>
                      </a:moveTo>
                      <a:lnTo>
                        <a:pt x="0" y="6"/>
                      </a:lnTo>
                      <a:lnTo>
                        <a:pt x="6" y="12"/>
                      </a:lnTo>
                      <a:lnTo>
                        <a:pt x="12" y="0"/>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135" name="Freeform 62"/>
                <p:cNvSpPr>
                  <a:spLocks/>
                </p:cNvSpPr>
                <p:nvPr/>
              </p:nvSpPr>
              <p:spPr bwMode="auto">
                <a:xfrm>
                  <a:off x="4495" y="2411"/>
                  <a:ext cx="48" cy="18"/>
                </a:xfrm>
                <a:custGeom>
                  <a:avLst/>
                  <a:gdLst>
                    <a:gd name="T0" fmla="*/ 48 w 48"/>
                    <a:gd name="T1" fmla="*/ 18 h 18"/>
                    <a:gd name="T2" fmla="*/ 42 w 48"/>
                    <a:gd name="T3" fmla="*/ 18 h 18"/>
                    <a:gd name="T4" fmla="*/ 30 w 48"/>
                    <a:gd name="T5" fmla="*/ 18 h 18"/>
                    <a:gd name="T6" fmla="*/ 30 w 48"/>
                    <a:gd name="T7" fmla="*/ 18 h 18"/>
                    <a:gd name="T8" fmla="*/ 24 w 48"/>
                    <a:gd name="T9" fmla="*/ 12 h 18"/>
                    <a:gd name="T10" fmla="*/ 18 w 48"/>
                    <a:gd name="T11" fmla="*/ 6 h 18"/>
                    <a:gd name="T12" fmla="*/ 18 w 48"/>
                    <a:gd name="T13" fmla="*/ 6 h 18"/>
                    <a:gd name="T14" fmla="*/ 18 w 48"/>
                    <a:gd name="T15" fmla="*/ 6 h 18"/>
                    <a:gd name="T16" fmla="*/ 12 w 48"/>
                    <a:gd name="T17" fmla="*/ 6 h 18"/>
                    <a:gd name="T18" fmla="*/ 12 w 48"/>
                    <a:gd name="T19" fmla="*/ 6 h 18"/>
                    <a:gd name="T20" fmla="*/ 12 w 48"/>
                    <a:gd name="T21" fmla="*/ 6 h 18"/>
                    <a:gd name="T22" fmla="*/ 6 w 48"/>
                    <a:gd name="T23" fmla="*/ 0 h 18"/>
                    <a:gd name="T24" fmla="*/ 6 w 48"/>
                    <a:gd name="T25" fmla="*/ 0 h 18"/>
                    <a:gd name="T26" fmla="*/ 6 w 48"/>
                    <a:gd name="T27" fmla="*/ 0 h 18"/>
                    <a:gd name="T28" fmla="*/ 0 w 48"/>
                    <a:gd name="T29" fmla="*/ 0 h 18"/>
                    <a:gd name="T30" fmla="*/ 6 w 48"/>
                    <a:gd name="T31" fmla="*/ 0 h 18"/>
                    <a:gd name="T32" fmla="*/ 6 w 48"/>
                    <a:gd name="T33" fmla="*/ 0 h 18"/>
                    <a:gd name="T34" fmla="*/ 12 w 48"/>
                    <a:gd name="T35" fmla="*/ 0 h 18"/>
                    <a:gd name="T36" fmla="*/ 12 w 48"/>
                    <a:gd name="T37" fmla="*/ 0 h 18"/>
                    <a:gd name="T38" fmla="*/ 18 w 48"/>
                    <a:gd name="T39" fmla="*/ 6 h 18"/>
                    <a:gd name="T40" fmla="*/ 18 w 48"/>
                    <a:gd name="T41" fmla="*/ 6 h 18"/>
                    <a:gd name="T42" fmla="*/ 24 w 48"/>
                    <a:gd name="T43" fmla="*/ 12 h 18"/>
                    <a:gd name="T44" fmla="*/ 30 w 48"/>
                    <a:gd name="T45" fmla="*/ 12 h 18"/>
                    <a:gd name="T46" fmla="*/ 30 w 48"/>
                    <a:gd name="T47" fmla="*/ 12 h 18"/>
                    <a:gd name="T48" fmla="*/ 36 w 48"/>
                    <a:gd name="T49" fmla="*/ 12 h 18"/>
                    <a:gd name="T50" fmla="*/ 42 w 48"/>
                    <a:gd name="T51" fmla="*/ 12 h 18"/>
                    <a:gd name="T52" fmla="*/ 42 w 48"/>
                    <a:gd name="T53" fmla="*/ 12 h 18"/>
                    <a:gd name="T54" fmla="*/ 48 w 48"/>
                    <a:gd name="T55" fmla="*/ 18 h 18"/>
                    <a:gd name="T56" fmla="*/ 48 w 48"/>
                    <a:gd name="T5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 h="18">
                      <a:moveTo>
                        <a:pt x="48" y="18"/>
                      </a:moveTo>
                      <a:lnTo>
                        <a:pt x="42" y="18"/>
                      </a:lnTo>
                      <a:lnTo>
                        <a:pt x="30" y="18"/>
                      </a:lnTo>
                      <a:lnTo>
                        <a:pt x="30" y="18"/>
                      </a:lnTo>
                      <a:lnTo>
                        <a:pt x="24" y="12"/>
                      </a:lnTo>
                      <a:lnTo>
                        <a:pt x="18" y="6"/>
                      </a:lnTo>
                      <a:lnTo>
                        <a:pt x="18" y="6"/>
                      </a:lnTo>
                      <a:lnTo>
                        <a:pt x="18" y="6"/>
                      </a:lnTo>
                      <a:lnTo>
                        <a:pt x="12" y="6"/>
                      </a:lnTo>
                      <a:lnTo>
                        <a:pt x="12" y="6"/>
                      </a:lnTo>
                      <a:lnTo>
                        <a:pt x="12" y="6"/>
                      </a:lnTo>
                      <a:lnTo>
                        <a:pt x="6" y="0"/>
                      </a:lnTo>
                      <a:lnTo>
                        <a:pt x="6" y="0"/>
                      </a:lnTo>
                      <a:lnTo>
                        <a:pt x="6" y="0"/>
                      </a:lnTo>
                      <a:lnTo>
                        <a:pt x="0" y="0"/>
                      </a:lnTo>
                      <a:lnTo>
                        <a:pt x="6" y="0"/>
                      </a:lnTo>
                      <a:lnTo>
                        <a:pt x="6" y="0"/>
                      </a:lnTo>
                      <a:lnTo>
                        <a:pt x="12" y="0"/>
                      </a:lnTo>
                      <a:lnTo>
                        <a:pt x="12" y="0"/>
                      </a:lnTo>
                      <a:lnTo>
                        <a:pt x="18" y="6"/>
                      </a:lnTo>
                      <a:lnTo>
                        <a:pt x="18" y="6"/>
                      </a:lnTo>
                      <a:lnTo>
                        <a:pt x="24" y="12"/>
                      </a:lnTo>
                      <a:lnTo>
                        <a:pt x="30" y="12"/>
                      </a:lnTo>
                      <a:lnTo>
                        <a:pt x="30" y="12"/>
                      </a:lnTo>
                      <a:lnTo>
                        <a:pt x="36" y="12"/>
                      </a:lnTo>
                      <a:lnTo>
                        <a:pt x="42" y="12"/>
                      </a:lnTo>
                      <a:lnTo>
                        <a:pt x="42" y="12"/>
                      </a:lnTo>
                      <a:lnTo>
                        <a:pt x="48" y="18"/>
                      </a:lnTo>
                      <a:lnTo>
                        <a:pt x="48" y="18"/>
                      </a:lnTo>
                      <a:close/>
                    </a:path>
                  </a:pathLst>
                </a:custGeom>
                <a:solidFill>
                  <a:srgbClr val="00FF00"/>
                </a:solidFill>
                <a:ln w="9525">
                  <a:solidFill>
                    <a:srgbClr val="00FF00"/>
                  </a:solidFill>
                  <a:round/>
                  <a:headEnd/>
                  <a:tailEnd/>
                </a:ln>
              </p:spPr>
              <p:txBody>
                <a:bodyPr/>
                <a:lstStyle/>
                <a:p>
                  <a:endParaRPr lang="zh-CN" altLang="en-US"/>
                </a:p>
              </p:txBody>
            </p:sp>
            <p:sp>
              <p:nvSpPr>
                <p:cNvPr id="136" name="Freeform 63"/>
                <p:cNvSpPr>
                  <a:spLocks/>
                </p:cNvSpPr>
                <p:nvPr/>
              </p:nvSpPr>
              <p:spPr bwMode="auto">
                <a:xfrm>
                  <a:off x="4519" y="2417"/>
                  <a:ext cx="24" cy="24"/>
                </a:xfrm>
                <a:custGeom>
                  <a:avLst/>
                  <a:gdLst>
                    <a:gd name="T0" fmla="*/ 18 w 24"/>
                    <a:gd name="T1" fmla="*/ 0 h 24"/>
                    <a:gd name="T2" fmla="*/ 18 w 24"/>
                    <a:gd name="T3" fmla="*/ 0 h 24"/>
                    <a:gd name="T4" fmla="*/ 18 w 24"/>
                    <a:gd name="T5" fmla="*/ 0 h 24"/>
                    <a:gd name="T6" fmla="*/ 12 w 24"/>
                    <a:gd name="T7" fmla="*/ 0 h 24"/>
                    <a:gd name="T8" fmla="*/ 18 w 24"/>
                    <a:gd name="T9" fmla="*/ 6 h 24"/>
                    <a:gd name="T10" fmla="*/ 0 w 24"/>
                    <a:gd name="T11" fmla="*/ 18 h 24"/>
                    <a:gd name="T12" fmla="*/ 12 w 24"/>
                    <a:gd name="T13" fmla="*/ 24 h 24"/>
                    <a:gd name="T14" fmla="*/ 18 w 24"/>
                    <a:gd name="T15" fmla="*/ 24 h 24"/>
                    <a:gd name="T16" fmla="*/ 24 w 24"/>
                    <a:gd name="T17" fmla="*/ 24 h 24"/>
                    <a:gd name="T18" fmla="*/ 18 w 24"/>
                    <a:gd name="T19"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8" y="0"/>
                      </a:moveTo>
                      <a:lnTo>
                        <a:pt x="18" y="0"/>
                      </a:lnTo>
                      <a:lnTo>
                        <a:pt x="18" y="0"/>
                      </a:lnTo>
                      <a:lnTo>
                        <a:pt x="12" y="0"/>
                      </a:lnTo>
                      <a:lnTo>
                        <a:pt x="18" y="6"/>
                      </a:lnTo>
                      <a:lnTo>
                        <a:pt x="0" y="18"/>
                      </a:lnTo>
                      <a:lnTo>
                        <a:pt x="12" y="24"/>
                      </a:lnTo>
                      <a:lnTo>
                        <a:pt x="18" y="24"/>
                      </a:lnTo>
                      <a:lnTo>
                        <a:pt x="24" y="24"/>
                      </a:lnTo>
                      <a:lnTo>
                        <a:pt x="18" y="0"/>
                      </a:lnTo>
                      <a:close/>
                    </a:path>
                  </a:pathLst>
                </a:custGeom>
                <a:solidFill>
                  <a:srgbClr val="00FF00"/>
                </a:solidFill>
                <a:ln w="9525">
                  <a:solidFill>
                    <a:srgbClr val="00FF00"/>
                  </a:solidFill>
                  <a:round/>
                  <a:headEnd/>
                  <a:tailEnd/>
                </a:ln>
              </p:spPr>
              <p:txBody>
                <a:bodyPr/>
                <a:lstStyle/>
                <a:p>
                  <a:endParaRPr lang="zh-CN" altLang="en-US"/>
                </a:p>
              </p:txBody>
            </p:sp>
            <p:sp>
              <p:nvSpPr>
                <p:cNvPr id="137" name="Freeform 64"/>
                <p:cNvSpPr>
                  <a:spLocks noEditPoints="1"/>
                </p:cNvSpPr>
                <p:nvPr/>
              </p:nvSpPr>
              <p:spPr bwMode="auto">
                <a:xfrm>
                  <a:off x="4513" y="2417"/>
                  <a:ext cx="24" cy="24"/>
                </a:xfrm>
                <a:custGeom>
                  <a:avLst/>
                  <a:gdLst>
                    <a:gd name="T0" fmla="*/ 12 w 24"/>
                    <a:gd name="T1" fmla="*/ 0 h 24"/>
                    <a:gd name="T2" fmla="*/ 12 w 24"/>
                    <a:gd name="T3" fmla="*/ 0 h 24"/>
                    <a:gd name="T4" fmla="*/ 18 w 24"/>
                    <a:gd name="T5" fmla="*/ 6 h 24"/>
                    <a:gd name="T6" fmla="*/ 0 w 24"/>
                    <a:gd name="T7" fmla="*/ 18 h 24"/>
                    <a:gd name="T8" fmla="*/ 6 w 24"/>
                    <a:gd name="T9" fmla="*/ 24 h 24"/>
                    <a:gd name="T10" fmla="*/ 12 w 24"/>
                    <a:gd name="T11" fmla="*/ 24 h 24"/>
                    <a:gd name="T12" fmla="*/ 18 w 24"/>
                    <a:gd name="T13" fmla="*/ 24 h 24"/>
                    <a:gd name="T14" fmla="*/ 12 w 24"/>
                    <a:gd name="T15" fmla="*/ 0 h 24"/>
                    <a:gd name="T16" fmla="*/ 24 w 24"/>
                    <a:gd name="T17" fmla="*/ 6 h 24"/>
                    <a:gd name="T18" fmla="*/ 18 w 24"/>
                    <a:gd name="T19" fmla="*/ 0 h 24"/>
                    <a:gd name="T20" fmla="*/ 12 w 24"/>
                    <a:gd name="T21" fmla="*/ 0 h 24"/>
                    <a:gd name="T22" fmla="*/ 12 w 24"/>
                    <a:gd name="T23" fmla="*/ 12 h 24"/>
                    <a:gd name="T24" fmla="*/ 24 w 24"/>
                    <a:gd name="T25"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12" y="0"/>
                      </a:moveTo>
                      <a:lnTo>
                        <a:pt x="12" y="0"/>
                      </a:lnTo>
                      <a:lnTo>
                        <a:pt x="18" y="6"/>
                      </a:lnTo>
                      <a:lnTo>
                        <a:pt x="0" y="18"/>
                      </a:lnTo>
                      <a:lnTo>
                        <a:pt x="6" y="24"/>
                      </a:lnTo>
                      <a:lnTo>
                        <a:pt x="12" y="24"/>
                      </a:lnTo>
                      <a:lnTo>
                        <a:pt x="18" y="24"/>
                      </a:lnTo>
                      <a:lnTo>
                        <a:pt x="12" y="0"/>
                      </a:lnTo>
                      <a:close/>
                      <a:moveTo>
                        <a:pt x="24" y="6"/>
                      </a:moveTo>
                      <a:lnTo>
                        <a:pt x="18" y="0"/>
                      </a:lnTo>
                      <a:lnTo>
                        <a:pt x="12" y="0"/>
                      </a:lnTo>
                      <a:lnTo>
                        <a:pt x="12" y="12"/>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138" name="Freeform 65"/>
                <p:cNvSpPr>
                  <a:spLocks noEditPoints="1"/>
                </p:cNvSpPr>
                <p:nvPr/>
              </p:nvSpPr>
              <p:spPr bwMode="auto">
                <a:xfrm>
                  <a:off x="4501" y="2411"/>
                  <a:ext cx="30" cy="24"/>
                </a:xfrm>
                <a:custGeom>
                  <a:avLst/>
                  <a:gdLst>
                    <a:gd name="T0" fmla="*/ 30 w 30"/>
                    <a:gd name="T1" fmla="*/ 6 h 24"/>
                    <a:gd name="T2" fmla="*/ 24 w 30"/>
                    <a:gd name="T3" fmla="*/ 0 h 24"/>
                    <a:gd name="T4" fmla="*/ 24 w 30"/>
                    <a:gd name="T5" fmla="*/ 6 h 24"/>
                    <a:gd name="T6" fmla="*/ 24 w 30"/>
                    <a:gd name="T7" fmla="*/ 12 h 24"/>
                    <a:gd name="T8" fmla="*/ 0 w 30"/>
                    <a:gd name="T9" fmla="*/ 6 h 24"/>
                    <a:gd name="T10" fmla="*/ 6 w 30"/>
                    <a:gd name="T11" fmla="*/ 18 h 24"/>
                    <a:gd name="T12" fmla="*/ 12 w 30"/>
                    <a:gd name="T13" fmla="*/ 24 h 24"/>
                    <a:gd name="T14" fmla="*/ 18 w 30"/>
                    <a:gd name="T15" fmla="*/ 24 h 24"/>
                    <a:gd name="T16" fmla="*/ 30 w 30"/>
                    <a:gd name="T17" fmla="*/ 6 h 24"/>
                    <a:gd name="T18" fmla="*/ 30 w 30"/>
                    <a:gd name="T19" fmla="*/ 12 h 24"/>
                    <a:gd name="T20" fmla="*/ 30 w 30"/>
                    <a:gd name="T21" fmla="*/ 6 h 24"/>
                    <a:gd name="T22" fmla="*/ 30 w 30"/>
                    <a:gd name="T23" fmla="*/ 6 h 24"/>
                    <a:gd name="T24" fmla="*/ 24 w 30"/>
                    <a:gd name="T25" fmla="*/ 18 h 24"/>
                    <a:gd name="T26" fmla="*/ 30 w 30"/>
                    <a:gd name="T27"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24">
                      <a:moveTo>
                        <a:pt x="30" y="6"/>
                      </a:moveTo>
                      <a:lnTo>
                        <a:pt x="24" y="0"/>
                      </a:lnTo>
                      <a:lnTo>
                        <a:pt x="24" y="6"/>
                      </a:lnTo>
                      <a:lnTo>
                        <a:pt x="24" y="12"/>
                      </a:lnTo>
                      <a:lnTo>
                        <a:pt x="0" y="6"/>
                      </a:lnTo>
                      <a:lnTo>
                        <a:pt x="6" y="18"/>
                      </a:lnTo>
                      <a:lnTo>
                        <a:pt x="12" y="24"/>
                      </a:lnTo>
                      <a:lnTo>
                        <a:pt x="18" y="24"/>
                      </a:lnTo>
                      <a:lnTo>
                        <a:pt x="30" y="6"/>
                      </a:lnTo>
                      <a:close/>
                      <a:moveTo>
                        <a:pt x="30" y="12"/>
                      </a:moveTo>
                      <a:lnTo>
                        <a:pt x="30" y="6"/>
                      </a:lnTo>
                      <a:lnTo>
                        <a:pt x="30" y="6"/>
                      </a:lnTo>
                      <a:lnTo>
                        <a:pt x="24" y="18"/>
                      </a:lnTo>
                      <a:lnTo>
                        <a:pt x="30" y="12"/>
                      </a:lnTo>
                      <a:close/>
                    </a:path>
                  </a:pathLst>
                </a:custGeom>
                <a:solidFill>
                  <a:srgbClr val="00FF00"/>
                </a:solidFill>
                <a:ln w="9525">
                  <a:solidFill>
                    <a:srgbClr val="00FF00"/>
                  </a:solidFill>
                  <a:round/>
                  <a:headEnd/>
                  <a:tailEnd/>
                </a:ln>
              </p:spPr>
              <p:txBody>
                <a:bodyPr/>
                <a:lstStyle/>
                <a:p>
                  <a:endParaRPr lang="zh-CN" altLang="en-US"/>
                </a:p>
              </p:txBody>
            </p:sp>
            <p:sp>
              <p:nvSpPr>
                <p:cNvPr id="139" name="Freeform 66"/>
                <p:cNvSpPr>
                  <a:spLocks noEditPoints="1"/>
                </p:cNvSpPr>
                <p:nvPr/>
              </p:nvSpPr>
              <p:spPr bwMode="auto">
                <a:xfrm>
                  <a:off x="4507" y="2405"/>
                  <a:ext cx="18" cy="24"/>
                </a:xfrm>
                <a:custGeom>
                  <a:avLst/>
                  <a:gdLst>
                    <a:gd name="T0" fmla="*/ 6 w 18"/>
                    <a:gd name="T1" fmla="*/ 0 h 24"/>
                    <a:gd name="T2" fmla="*/ 6 w 18"/>
                    <a:gd name="T3" fmla="*/ 0 h 24"/>
                    <a:gd name="T4" fmla="*/ 6 w 18"/>
                    <a:gd name="T5" fmla="*/ 0 h 24"/>
                    <a:gd name="T6" fmla="*/ 0 w 18"/>
                    <a:gd name="T7" fmla="*/ 24 h 24"/>
                    <a:gd name="T8" fmla="*/ 6 w 18"/>
                    <a:gd name="T9" fmla="*/ 24 h 24"/>
                    <a:gd name="T10" fmla="*/ 6 w 18"/>
                    <a:gd name="T11" fmla="*/ 24 h 24"/>
                    <a:gd name="T12" fmla="*/ 6 w 18"/>
                    <a:gd name="T13" fmla="*/ 0 h 24"/>
                    <a:gd name="T14" fmla="*/ 18 w 18"/>
                    <a:gd name="T15" fmla="*/ 18 h 24"/>
                    <a:gd name="T16" fmla="*/ 18 w 18"/>
                    <a:gd name="T17" fmla="*/ 6 h 24"/>
                    <a:gd name="T18" fmla="*/ 6 w 18"/>
                    <a:gd name="T19" fmla="*/ 0 h 24"/>
                    <a:gd name="T20" fmla="*/ 6 w 18"/>
                    <a:gd name="T21" fmla="*/ 12 h 24"/>
                    <a:gd name="T22" fmla="*/ 18 w 18"/>
                    <a:gd name="T23" fmla="*/ 1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6" y="0"/>
                      </a:moveTo>
                      <a:lnTo>
                        <a:pt x="6" y="0"/>
                      </a:lnTo>
                      <a:lnTo>
                        <a:pt x="6" y="0"/>
                      </a:lnTo>
                      <a:lnTo>
                        <a:pt x="0" y="24"/>
                      </a:lnTo>
                      <a:lnTo>
                        <a:pt x="6" y="24"/>
                      </a:lnTo>
                      <a:lnTo>
                        <a:pt x="6" y="24"/>
                      </a:lnTo>
                      <a:lnTo>
                        <a:pt x="6" y="0"/>
                      </a:lnTo>
                      <a:close/>
                      <a:moveTo>
                        <a:pt x="18" y="18"/>
                      </a:moveTo>
                      <a:lnTo>
                        <a:pt x="18" y="6"/>
                      </a:lnTo>
                      <a:lnTo>
                        <a:pt x="6" y="0"/>
                      </a:lnTo>
                      <a:lnTo>
                        <a:pt x="6" y="12"/>
                      </a:lnTo>
                      <a:lnTo>
                        <a:pt x="18" y="18"/>
                      </a:lnTo>
                      <a:close/>
                    </a:path>
                  </a:pathLst>
                </a:custGeom>
                <a:solidFill>
                  <a:srgbClr val="00FF00"/>
                </a:solidFill>
                <a:ln w="9525">
                  <a:solidFill>
                    <a:srgbClr val="00FF00"/>
                  </a:solidFill>
                  <a:round/>
                  <a:headEnd/>
                  <a:tailEnd/>
                </a:ln>
              </p:spPr>
              <p:txBody>
                <a:bodyPr/>
                <a:lstStyle/>
                <a:p>
                  <a:endParaRPr lang="zh-CN" altLang="en-US"/>
                </a:p>
              </p:txBody>
            </p:sp>
            <p:sp>
              <p:nvSpPr>
                <p:cNvPr id="140" name="Freeform 67"/>
                <p:cNvSpPr>
                  <a:spLocks noEditPoints="1"/>
                </p:cNvSpPr>
                <p:nvPr/>
              </p:nvSpPr>
              <p:spPr bwMode="auto">
                <a:xfrm>
                  <a:off x="4501" y="2405"/>
                  <a:ext cx="18" cy="24"/>
                </a:xfrm>
                <a:custGeom>
                  <a:avLst/>
                  <a:gdLst>
                    <a:gd name="T0" fmla="*/ 18 w 18"/>
                    <a:gd name="T1" fmla="*/ 6 h 24"/>
                    <a:gd name="T2" fmla="*/ 18 w 18"/>
                    <a:gd name="T3" fmla="*/ 6 h 24"/>
                    <a:gd name="T4" fmla="*/ 12 w 18"/>
                    <a:gd name="T5" fmla="*/ 0 h 24"/>
                    <a:gd name="T6" fmla="*/ 6 w 18"/>
                    <a:gd name="T7" fmla="*/ 24 h 24"/>
                    <a:gd name="T8" fmla="*/ 6 w 18"/>
                    <a:gd name="T9" fmla="*/ 24 h 24"/>
                    <a:gd name="T10" fmla="*/ 0 w 18"/>
                    <a:gd name="T11" fmla="*/ 24 h 24"/>
                    <a:gd name="T12" fmla="*/ 18 w 18"/>
                    <a:gd name="T13" fmla="*/ 6 h 24"/>
                    <a:gd name="T14" fmla="*/ 0 w 18"/>
                    <a:gd name="T15" fmla="*/ 24 h 24"/>
                    <a:gd name="T16" fmla="*/ 6 w 18"/>
                    <a:gd name="T17" fmla="*/ 24 h 24"/>
                    <a:gd name="T18" fmla="*/ 6 w 18"/>
                    <a:gd name="T19" fmla="*/ 24 h 24"/>
                    <a:gd name="T20" fmla="*/ 12 w 18"/>
                    <a:gd name="T21" fmla="*/ 12 h 24"/>
                    <a:gd name="T22" fmla="*/ 0 w 18"/>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18" y="6"/>
                      </a:moveTo>
                      <a:lnTo>
                        <a:pt x="18" y="6"/>
                      </a:lnTo>
                      <a:lnTo>
                        <a:pt x="12" y="0"/>
                      </a:lnTo>
                      <a:lnTo>
                        <a:pt x="6" y="24"/>
                      </a:lnTo>
                      <a:lnTo>
                        <a:pt x="6" y="24"/>
                      </a:lnTo>
                      <a:lnTo>
                        <a:pt x="0" y="24"/>
                      </a:lnTo>
                      <a:lnTo>
                        <a:pt x="18" y="6"/>
                      </a:lnTo>
                      <a:close/>
                      <a:moveTo>
                        <a:pt x="0" y="24"/>
                      </a:moveTo>
                      <a:lnTo>
                        <a:pt x="6" y="24"/>
                      </a:lnTo>
                      <a:lnTo>
                        <a:pt x="6" y="24"/>
                      </a:lnTo>
                      <a:lnTo>
                        <a:pt x="12" y="12"/>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141" name="Freeform 68"/>
                <p:cNvSpPr>
                  <a:spLocks noEditPoints="1"/>
                </p:cNvSpPr>
                <p:nvPr/>
              </p:nvSpPr>
              <p:spPr bwMode="auto">
                <a:xfrm>
                  <a:off x="4501" y="2405"/>
                  <a:ext cx="12" cy="24"/>
                </a:xfrm>
                <a:custGeom>
                  <a:avLst/>
                  <a:gdLst>
                    <a:gd name="T0" fmla="*/ 6 w 12"/>
                    <a:gd name="T1" fmla="*/ 0 h 24"/>
                    <a:gd name="T2" fmla="*/ 6 w 12"/>
                    <a:gd name="T3" fmla="*/ 0 h 24"/>
                    <a:gd name="T4" fmla="*/ 6 w 12"/>
                    <a:gd name="T5" fmla="*/ 0 h 24"/>
                    <a:gd name="T6" fmla="*/ 0 w 12"/>
                    <a:gd name="T7" fmla="*/ 24 h 24"/>
                    <a:gd name="T8" fmla="*/ 6 w 12"/>
                    <a:gd name="T9" fmla="*/ 24 h 24"/>
                    <a:gd name="T10" fmla="*/ 6 w 12"/>
                    <a:gd name="T11" fmla="*/ 24 h 24"/>
                    <a:gd name="T12" fmla="*/ 6 w 12"/>
                    <a:gd name="T13" fmla="*/ 0 h 24"/>
                    <a:gd name="T14" fmla="*/ 12 w 12"/>
                    <a:gd name="T15" fmla="*/ 0 h 24"/>
                    <a:gd name="T16" fmla="*/ 12 w 12"/>
                    <a:gd name="T17" fmla="*/ 0 h 24"/>
                    <a:gd name="T18" fmla="*/ 6 w 12"/>
                    <a:gd name="T19" fmla="*/ 0 h 24"/>
                    <a:gd name="T20" fmla="*/ 6 w 12"/>
                    <a:gd name="T21" fmla="*/ 12 h 24"/>
                    <a:gd name="T22" fmla="*/ 12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6" y="0"/>
                      </a:moveTo>
                      <a:lnTo>
                        <a:pt x="6" y="0"/>
                      </a:lnTo>
                      <a:lnTo>
                        <a:pt x="6" y="0"/>
                      </a:lnTo>
                      <a:lnTo>
                        <a:pt x="0" y="24"/>
                      </a:lnTo>
                      <a:lnTo>
                        <a:pt x="6" y="24"/>
                      </a:lnTo>
                      <a:lnTo>
                        <a:pt x="6" y="24"/>
                      </a:lnTo>
                      <a:lnTo>
                        <a:pt x="6" y="0"/>
                      </a:lnTo>
                      <a:close/>
                      <a:moveTo>
                        <a:pt x="12" y="0"/>
                      </a:moveTo>
                      <a:lnTo>
                        <a:pt x="12" y="0"/>
                      </a:lnTo>
                      <a:lnTo>
                        <a:pt x="6" y="0"/>
                      </a:lnTo>
                      <a:lnTo>
                        <a:pt x="6"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142" name="Freeform 69"/>
                <p:cNvSpPr>
                  <a:spLocks noEditPoints="1"/>
                </p:cNvSpPr>
                <p:nvPr/>
              </p:nvSpPr>
              <p:spPr bwMode="auto">
                <a:xfrm>
                  <a:off x="4495" y="2405"/>
                  <a:ext cx="12" cy="18"/>
                </a:xfrm>
                <a:custGeom>
                  <a:avLst/>
                  <a:gdLst>
                    <a:gd name="T0" fmla="*/ 12 w 12"/>
                    <a:gd name="T1" fmla="*/ 0 h 18"/>
                    <a:gd name="T2" fmla="*/ 12 w 12"/>
                    <a:gd name="T3" fmla="*/ 0 h 18"/>
                    <a:gd name="T4" fmla="*/ 12 w 12"/>
                    <a:gd name="T5" fmla="*/ 0 h 18"/>
                    <a:gd name="T6" fmla="*/ 12 w 12"/>
                    <a:gd name="T7" fmla="*/ 0 h 18"/>
                    <a:gd name="T8" fmla="*/ 12 w 12"/>
                    <a:gd name="T9" fmla="*/ 0 h 18"/>
                    <a:gd name="T10" fmla="*/ 12 w 12"/>
                    <a:gd name="T11" fmla="*/ 0 h 18"/>
                    <a:gd name="T12" fmla="*/ 12 w 12"/>
                    <a:gd name="T13" fmla="*/ 0 h 18"/>
                    <a:gd name="T14" fmla="*/ 12 w 12"/>
                    <a:gd name="T15" fmla="*/ 0 h 18"/>
                    <a:gd name="T16" fmla="*/ 12 w 12"/>
                    <a:gd name="T17" fmla="*/ 0 h 18"/>
                    <a:gd name="T18" fmla="*/ 6 w 12"/>
                    <a:gd name="T19" fmla="*/ 18 h 18"/>
                    <a:gd name="T20" fmla="*/ 0 w 12"/>
                    <a:gd name="T21" fmla="*/ 18 h 18"/>
                    <a:gd name="T22" fmla="*/ 0 w 12"/>
                    <a:gd name="T23" fmla="*/ 18 h 18"/>
                    <a:gd name="T24" fmla="*/ 0 w 12"/>
                    <a:gd name="T25" fmla="*/ 18 h 18"/>
                    <a:gd name="T26" fmla="*/ 0 w 12"/>
                    <a:gd name="T27" fmla="*/ 18 h 18"/>
                    <a:gd name="T28" fmla="*/ 6 w 12"/>
                    <a:gd name="T29" fmla="*/ 18 h 18"/>
                    <a:gd name="T30" fmla="*/ 6 w 12"/>
                    <a:gd name="T31" fmla="*/ 18 h 18"/>
                    <a:gd name="T32" fmla="*/ 6 w 12"/>
                    <a:gd name="T33" fmla="*/ 18 h 18"/>
                    <a:gd name="T34" fmla="*/ 6 w 12"/>
                    <a:gd name="T35" fmla="*/ 18 h 18"/>
                    <a:gd name="T36" fmla="*/ 12 w 12"/>
                    <a:gd name="T37" fmla="*/ 0 h 18"/>
                    <a:gd name="T38" fmla="*/ 12 w 12"/>
                    <a:gd name="T39" fmla="*/ 0 h 18"/>
                    <a:gd name="T40" fmla="*/ 12 w 12"/>
                    <a:gd name="T41" fmla="*/ 0 h 18"/>
                    <a:gd name="T42" fmla="*/ 12 w 12"/>
                    <a:gd name="T43" fmla="*/ 0 h 18"/>
                    <a:gd name="T44" fmla="*/ 12 w 12"/>
                    <a:gd name="T45" fmla="*/ 12 h 18"/>
                    <a:gd name="T46" fmla="*/ 12 w 12"/>
                    <a:gd name="T4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 h="18">
                      <a:moveTo>
                        <a:pt x="12" y="0"/>
                      </a:moveTo>
                      <a:lnTo>
                        <a:pt x="12" y="0"/>
                      </a:lnTo>
                      <a:lnTo>
                        <a:pt x="12" y="0"/>
                      </a:lnTo>
                      <a:lnTo>
                        <a:pt x="12" y="0"/>
                      </a:lnTo>
                      <a:lnTo>
                        <a:pt x="12" y="0"/>
                      </a:lnTo>
                      <a:lnTo>
                        <a:pt x="12" y="0"/>
                      </a:lnTo>
                      <a:lnTo>
                        <a:pt x="12" y="0"/>
                      </a:lnTo>
                      <a:lnTo>
                        <a:pt x="12" y="0"/>
                      </a:lnTo>
                      <a:lnTo>
                        <a:pt x="12" y="0"/>
                      </a:lnTo>
                      <a:lnTo>
                        <a:pt x="6" y="18"/>
                      </a:lnTo>
                      <a:lnTo>
                        <a:pt x="0" y="18"/>
                      </a:lnTo>
                      <a:lnTo>
                        <a:pt x="0" y="18"/>
                      </a:lnTo>
                      <a:lnTo>
                        <a:pt x="0" y="18"/>
                      </a:lnTo>
                      <a:lnTo>
                        <a:pt x="0" y="18"/>
                      </a:lnTo>
                      <a:lnTo>
                        <a:pt x="6" y="18"/>
                      </a:lnTo>
                      <a:lnTo>
                        <a:pt x="6" y="18"/>
                      </a:lnTo>
                      <a:lnTo>
                        <a:pt x="6" y="18"/>
                      </a:lnTo>
                      <a:lnTo>
                        <a:pt x="6" y="18"/>
                      </a:lnTo>
                      <a:lnTo>
                        <a:pt x="12" y="0"/>
                      </a:lnTo>
                      <a:close/>
                      <a:moveTo>
                        <a:pt x="12" y="0"/>
                      </a:moveTo>
                      <a:lnTo>
                        <a:pt x="12" y="0"/>
                      </a:lnTo>
                      <a:lnTo>
                        <a:pt x="12" y="0"/>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143" name="Freeform 70"/>
                <p:cNvSpPr>
                  <a:spLocks noEditPoints="1"/>
                </p:cNvSpPr>
                <p:nvPr/>
              </p:nvSpPr>
              <p:spPr bwMode="auto">
                <a:xfrm>
                  <a:off x="4495" y="2400"/>
                  <a:ext cx="12" cy="23"/>
                </a:xfrm>
                <a:custGeom>
                  <a:avLst/>
                  <a:gdLst>
                    <a:gd name="T0" fmla="*/ 12 w 12"/>
                    <a:gd name="T1" fmla="*/ 5 h 23"/>
                    <a:gd name="T2" fmla="*/ 12 w 12"/>
                    <a:gd name="T3" fmla="*/ 5 h 23"/>
                    <a:gd name="T4" fmla="*/ 12 w 12"/>
                    <a:gd name="T5" fmla="*/ 0 h 23"/>
                    <a:gd name="T6" fmla="*/ 0 w 12"/>
                    <a:gd name="T7" fmla="*/ 23 h 23"/>
                    <a:gd name="T8" fmla="*/ 0 w 12"/>
                    <a:gd name="T9" fmla="*/ 23 h 23"/>
                    <a:gd name="T10" fmla="*/ 12 w 12"/>
                    <a:gd name="T11" fmla="*/ 5 h 23"/>
                    <a:gd name="T12" fmla="*/ 0 w 12"/>
                    <a:gd name="T13" fmla="*/ 23 h 23"/>
                    <a:gd name="T14" fmla="*/ 0 w 12"/>
                    <a:gd name="T15" fmla="*/ 23 h 23"/>
                    <a:gd name="T16" fmla="*/ 6 w 12"/>
                    <a:gd name="T17" fmla="*/ 23 h 23"/>
                    <a:gd name="T18" fmla="*/ 6 w 12"/>
                    <a:gd name="T19" fmla="*/ 11 h 23"/>
                    <a:gd name="T20" fmla="*/ 0 w 12"/>
                    <a:gd name="T21"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23">
                      <a:moveTo>
                        <a:pt x="12" y="5"/>
                      </a:moveTo>
                      <a:lnTo>
                        <a:pt x="12" y="5"/>
                      </a:lnTo>
                      <a:lnTo>
                        <a:pt x="12" y="0"/>
                      </a:lnTo>
                      <a:lnTo>
                        <a:pt x="0" y="23"/>
                      </a:lnTo>
                      <a:lnTo>
                        <a:pt x="0" y="23"/>
                      </a:lnTo>
                      <a:lnTo>
                        <a:pt x="12" y="5"/>
                      </a:lnTo>
                      <a:close/>
                      <a:moveTo>
                        <a:pt x="0" y="23"/>
                      </a:moveTo>
                      <a:lnTo>
                        <a:pt x="0" y="23"/>
                      </a:lnTo>
                      <a:lnTo>
                        <a:pt x="6" y="23"/>
                      </a:lnTo>
                      <a:lnTo>
                        <a:pt x="6" y="11"/>
                      </a:lnTo>
                      <a:lnTo>
                        <a:pt x="0" y="23"/>
                      </a:lnTo>
                      <a:close/>
                    </a:path>
                  </a:pathLst>
                </a:custGeom>
                <a:solidFill>
                  <a:srgbClr val="00FF00"/>
                </a:solidFill>
                <a:ln w="9525">
                  <a:solidFill>
                    <a:srgbClr val="00FF00"/>
                  </a:solidFill>
                  <a:round/>
                  <a:headEnd/>
                  <a:tailEnd/>
                </a:ln>
              </p:spPr>
              <p:txBody>
                <a:bodyPr/>
                <a:lstStyle/>
                <a:p>
                  <a:endParaRPr lang="zh-CN" altLang="en-US"/>
                </a:p>
              </p:txBody>
            </p:sp>
            <p:sp>
              <p:nvSpPr>
                <p:cNvPr id="144" name="Freeform 71"/>
                <p:cNvSpPr>
                  <a:spLocks noEditPoints="1"/>
                </p:cNvSpPr>
                <p:nvPr/>
              </p:nvSpPr>
              <p:spPr bwMode="auto">
                <a:xfrm>
                  <a:off x="4495" y="2400"/>
                  <a:ext cx="12" cy="23"/>
                </a:xfrm>
                <a:custGeom>
                  <a:avLst/>
                  <a:gdLst>
                    <a:gd name="T0" fmla="*/ 6 w 12"/>
                    <a:gd name="T1" fmla="*/ 0 h 23"/>
                    <a:gd name="T2" fmla="*/ 6 w 12"/>
                    <a:gd name="T3" fmla="*/ 0 h 23"/>
                    <a:gd name="T4" fmla="*/ 6 w 12"/>
                    <a:gd name="T5" fmla="*/ 0 h 23"/>
                    <a:gd name="T6" fmla="*/ 0 w 12"/>
                    <a:gd name="T7" fmla="*/ 23 h 23"/>
                    <a:gd name="T8" fmla="*/ 0 w 12"/>
                    <a:gd name="T9" fmla="*/ 23 h 23"/>
                    <a:gd name="T10" fmla="*/ 0 w 12"/>
                    <a:gd name="T11" fmla="*/ 23 h 23"/>
                    <a:gd name="T12" fmla="*/ 6 w 12"/>
                    <a:gd name="T13" fmla="*/ 0 h 23"/>
                    <a:gd name="T14" fmla="*/ 12 w 12"/>
                    <a:gd name="T15" fmla="*/ 0 h 23"/>
                    <a:gd name="T16" fmla="*/ 6 w 12"/>
                    <a:gd name="T17" fmla="*/ 0 h 23"/>
                    <a:gd name="T18" fmla="*/ 6 w 12"/>
                    <a:gd name="T19" fmla="*/ 0 h 23"/>
                    <a:gd name="T20" fmla="*/ 6 w 12"/>
                    <a:gd name="T21" fmla="*/ 11 h 23"/>
                    <a:gd name="T22" fmla="*/ 12 w 12"/>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3">
                      <a:moveTo>
                        <a:pt x="6" y="0"/>
                      </a:moveTo>
                      <a:lnTo>
                        <a:pt x="6" y="0"/>
                      </a:lnTo>
                      <a:lnTo>
                        <a:pt x="6" y="0"/>
                      </a:lnTo>
                      <a:lnTo>
                        <a:pt x="0" y="23"/>
                      </a:lnTo>
                      <a:lnTo>
                        <a:pt x="0" y="23"/>
                      </a:lnTo>
                      <a:lnTo>
                        <a:pt x="0" y="23"/>
                      </a:lnTo>
                      <a:lnTo>
                        <a:pt x="6" y="0"/>
                      </a:lnTo>
                      <a:close/>
                      <a:moveTo>
                        <a:pt x="12" y="0"/>
                      </a:moveTo>
                      <a:lnTo>
                        <a:pt x="6" y="0"/>
                      </a:lnTo>
                      <a:lnTo>
                        <a:pt x="6" y="0"/>
                      </a:lnTo>
                      <a:lnTo>
                        <a:pt x="6" y="11"/>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145" name="Freeform 72"/>
                <p:cNvSpPr>
                  <a:spLocks noEditPoints="1"/>
                </p:cNvSpPr>
                <p:nvPr/>
              </p:nvSpPr>
              <p:spPr bwMode="auto">
                <a:xfrm>
                  <a:off x="4495" y="2400"/>
                  <a:ext cx="6" cy="23"/>
                </a:xfrm>
                <a:custGeom>
                  <a:avLst/>
                  <a:gdLst>
                    <a:gd name="T0" fmla="*/ 6 w 6"/>
                    <a:gd name="T1" fmla="*/ 23 h 23"/>
                    <a:gd name="T2" fmla="*/ 6 w 6"/>
                    <a:gd name="T3" fmla="*/ 23 h 23"/>
                    <a:gd name="T4" fmla="*/ 6 w 6"/>
                    <a:gd name="T5" fmla="*/ 0 h 23"/>
                    <a:gd name="T6" fmla="*/ 6 w 6"/>
                    <a:gd name="T7" fmla="*/ 0 h 23"/>
                    <a:gd name="T8" fmla="*/ 0 w 6"/>
                    <a:gd name="T9" fmla="*/ 0 h 23"/>
                    <a:gd name="T10" fmla="*/ 6 w 6"/>
                    <a:gd name="T11" fmla="*/ 23 h 23"/>
                    <a:gd name="T12" fmla="*/ 6 w 6"/>
                    <a:gd name="T13" fmla="*/ 0 h 23"/>
                    <a:gd name="T14" fmla="*/ 6 w 6"/>
                    <a:gd name="T15" fmla="*/ 23 h 23"/>
                    <a:gd name="T16" fmla="*/ 0 w 6"/>
                    <a:gd name="T17" fmla="*/ 0 h 23"/>
                    <a:gd name="T18" fmla="*/ 0 w 6"/>
                    <a:gd name="T19" fmla="*/ 23 h 23"/>
                    <a:gd name="T20" fmla="*/ 6 w 6"/>
                    <a:gd name="T2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 h="23">
                      <a:moveTo>
                        <a:pt x="6" y="23"/>
                      </a:moveTo>
                      <a:lnTo>
                        <a:pt x="6" y="23"/>
                      </a:lnTo>
                      <a:lnTo>
                        <a:pt x="6" y="0"/>
                      </a:lnTo>
                      <a:lnTo>
                        <a:pt x="6" y="0"/>
                      </a:lnTo>
                      <a:lnTo>
                        <a:pt x="0" y="0"/>
                      </a:lnTo>
                      <a:lnTo>
                        <a:pt x="6" y="23"/>
                      </a:lnTo>
                      <a:close/>
                      <a:moveTo>
                        <a:pt x="6" y="0"/>
                      </a:moveTo>
                      <a:lnTo>
                        <a:pt x="6" y="23"/>
                      </a:lnTo>
                      <a:lnTo>
                        <a:pt x="0" y="0"/>
                      </a:lnTo>
                      <a:lnTo>
                        <a:pt x="0" y="23"/>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146" name="Freeform 73"/>
                <p:cNvSpPr>
                  <a:spLocks noEditPoints="1"/>
                </p:cNvSpPr>
                <p:nvPr/>
              </p:nvSpPr>
              <p:spPr bwMode="auto">
                <a:xfrm>
                  <a:off x="4495" y="2400"/>
                  <a:ext cx="18" cy="23"/>
                </a:xfrm>
                <a:custGeom>
                  <a:avLst/>
                  <a:gdLst>
                    <a:gd name="T0" fmla="*/ 0 w 18"/>
                    <a:gd name="T1" fmla="*/ 23 h 23"/>
                    <a:gd name="T2" fmla="*/ 6 w 18"/>
                    <a:gd name="T3" fmla="*/ 23 h 23"/>
                    <a:gd name="T4" fmla="*/ 6 w 18"/>
                    <a:gd name="T5" fmla="*/ 23 h 23"/>
                    <a:gd name="T6" fmla="*/ 18 w 18"/>
                    <a:gd name="T7" fmla="*/ 5 h 23"/>
                    <a:gd name="T8" fmla="*/ 18 w 18"/>
                    <a:gd name="T9" fmla="*/ 5 h 23"/>
                    <a:gd name="T10" fmla="*/ 12 w 18"/>
                    <a:gd name="T11" fmla="*/ 0 h 23"/>
                    <a:gd name="T12" fmla="*/ 0 w 18"/>
                    <a:gd name="T13" fmla="*/ 23 h 23"/>
                    <a:gd name="T14" fmla="*/ 12 w 18"/>
                    <a:gd name="T15" fmla="*/ 0 h 23"/>
                    <a:gd name="T16" fmla="*/ 12 w 18"/>
                    <a:gd name="T17" fmla="*/ 0 h 23"/>
                    <a:gd name="T18" fmla="*/ 6 w 18"/>
                    <a:gd name="T19" fmla="*/ 0 h 23"/>
                    <a:gd name="T20" fmla="*/ 6 w 18"/>
                    <a:gd name="T21" fmla="*/ 11 h 23"/>
                    <a:gd name="T22" fmla="*/ 12 w 18"/>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3">
                      <a:moveTo>
                        <a:pt x="0" y="23"/>
                      </a:moveTo>
                      <a:lnTo>
                        <a:pt x="6" y="23"/>
                      </a:lnTo>
                      <a:lnTo>
                        <a:pt x="6" y="23"/>
                      </a:lnTo>
                      <a:lnTo>
                        <a:pt x="18" y="5"/>
                      </a:lnTo>
                      <a:lnTo>
                        <a:pt x="18" y="5"/>
                      </a:lnTo>
                      <a:lnTo>
                        <a:pt x="12" y="0"/>
                      </a:lnTo>
                      <a:lnTo>
                        <a:pt x="0" y="23"/>
                      </a:lnTo>
                      <a:close/>
                      <a:moveTo>
                        <a:pt x="12" y="0"/>
                      </a:moveTo>
                      <a:lnTo>
                        <a:pt x="12" y="0"/>
                      </a:lnTo>
                      <a:lnTo>
                        <a:pt x="6" y="0"/>
                      </a:lnTo>
                      <a:lnTo>
                        <a:pt x="6" y="11"/>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147" name="Freeform 74"/>
                <p:cNvSpPr>
                  <a:spLocks noEditPoints="1"/>
                </p:cNvSpPr>
                <p:nvPr/>
              </p:nvSpPr>
              <p:spPr bwMode="auto">
                <a:xfrm>
                  <a:off x="4501" y="2405"/>
                  <a:ext cx="18" cy="24"/>
                </a:xfrm>
                <a:custGeom>
                  <a:avLst/>
                  <a:gdLst>
                    <a:gd name="T0" fmla="*/ 0 w 18"/>
                    <a:gd name="T1" fmla="*/ 18 h 24"/>
                    <a:gd name="T2" fmla="*/ 0 w 18"/>
                    <a:gd name="T3" fmla="*/ 24 h 24"/>
                    <a:gd name="T4" fmla="*/ 6 w 18"/>
                    <a:gd name="T5" fmla="*/ 24 h 24"/>
                    <a:gd name="T6" fmla="*/ 18 w 18"/>
                    <a:gd name="T7" fmla="*/ 24 h 24"/>
                    <a:gd name="T8" fmla="*/ 12 w 18"/>
                    <a:gd name="T9" fmla="*/ 0 h 24"/>
                    <a:gd name="T10" fmla="*/ 18 w 18"/>
                    <a:gd name="T11" fmla="*/ 0 h 24"/>
                    <a:gd name="T12" fmla="*/ 18 w 18"/>
                    <a:gd name="T13" fmla="*/ 0 h 24"/>
                    <a:gd name="T14" fmla="*/ 12 w 18"/>
                    <a:gd name="T15" fmla="*/ 0 h 24"/>
                    <a:gd name="T16" fmla="*/ 0 w 18"/>
                    <a:gd name="T17" fmla="*/ 18 h 24"/>
                    <a:gd name="T18" fmla="*/ 12 w 18"/>
                    <a:gd name="T19" fmla="*/ 0 h 24"/>
                    <a:gd name="T20" fmla="*/ 12 w 18"/>
                    <a:gd name="T21" fmla="*/ 0 h 24"/>
                    <a:gd name="T22" fmla="*/ 12 w 18"/>
                    <a:gd name="T23" fmla="*/ 0 h 24"/>
                    <a:gd name="T24" fmla="*/ 6 w 18"/>
                    <a:gd name="T25" fmla="*/ 6 h 24"/>
                    <a:gd name="T26" fmla="*/ 12 w 18"/>
                    <a:gd name="T2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24">
                      <a:moveTo>
                        <a:pt x="0" y="18"/>
                      </a:moveTo>
                      <a:lnTo>
                        <a:pt x="0" y="24"/>
                      </a:lnTo>
                      <a:lnTo>
                        <a:pt x="6" y="24"/>
                      </a:lnTo>
                      <a:lnTo>
                        <a:pt x="18" y="24"/>
                      </a:lnTo>
                      <a:lnTo>
                        <a:pt x="12" y="0"/>
                      </a:lnTo>
                      <a:lnTo>
                        <a:pt x="18" y="0"/>
                      </a:lnTo>
                      <a:lnTo>
                        <a:pt x="18" y="0"/>
                      </a:lnTo>
                      <a:lnTo>
                        <a:pt x="12" y="0"/>
                      </a:lnTo>
                      <a:lnTo>
                        <a:pt x="0" y="18"/>
                      </a:lnTo>
                      <a:close/>
                      <a:moveTo>
                        <a:pt x="12" y="0"/>
                      </a:moveTo>
                      <a:lnTo>
                        <a:pt x="12" y="0"/>
                      </a:lnTo>
                      <a:lnTo>
                        <a:pt x="12" y="0"/>
                      </a:lnTo>
                      <a:lnTo>
                        <a:pt x="6" y="6"/>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148" name="Freeform 75"/>
                <p:cNvSpPr>
                  <a:spLocks noEditPoints="1"/>
                </p:cNvSpPr>
                <p:nvPr/>
              </p:nvSpPr>
              <p:spPr bwMode="auto">
                <a:xfrm>
                  <a:off x="4507" y="2405"/>
                  <a:ext cx="18" cy="30"/>
                </a:xfrm>
                <a:custGeom>
                  <a:avLst/>
                  <a:gdLst>
                    <a:gd name="T0" fmla="*/ 0 w 18"/>
                    <a:gd name="T1" fmla="*/ 18 h 30"/>
                    <a:gd name="T2" fmla="*/ 0 w 18"/>
                    <a:gd name="T3" fmla="*/ 24 h 30"/>
                    <a:gd name="T4" fmla="*/ 6 w 18"/>
                    <a:gd name="T5" fmla="*/ 24 h 30"/>
                    <a:gd name="T6" fmla="*/ 18 w 18"/>
                    <a:gd name="T7" fmla="*/ 30 h 30"/>
                    <a:gd name="T8" fmla="*/ 12 w 18"/>
                    <a:gd name="T9" fmla="*/ 6 h 30"/>
                    <a:gd name="T10" fmla="*/ 18 w 18"/>
                    <a:gd name="T11" fmla="*/ 6 h 30"/>
                    <a:gd name="T12" fmla="*/ 18 w 18"/>
                    <a:gd name="T13" fmla="*/ 6 h 30"/>
                    <a:gd name="T14" fmla="*/ 18 w 18"/>
                    <a:gd name="T15" fmla="*/ 6 h 30"/>
                    <a:gd name="T16" fmla="*/ 18 w 18"/>
                    <a:gd name="T17" fmla="*/ 6 h 30"/>
                    <a:gd name="T18" fmla="*/ 0 w 18"/>
                    <a:gd name="T19" fmla="*/ 18 h 30"/>
                    <a:gd name="T20" fmla="*/ 18 w 18"/>
                    <a:gd name="T21" fmla="*/ 6 h 30"/>
                    <a:gd name="T22" fmla="*/ 12 w 18"/>
                    <a:gd name="T23" fmla="*/ 0 h 30"/>
                    <a:gd name="T24" fmla="*/ 6 w 18"/>
                    <a:gd name="T25" fmla="*/ 0 h 30"/>
                    <a:gd name="T26" fmla="*/ 6 w 18"/>
                    <a:gd name="T27" fmla="*/ 12 h 30"/>
                    <a:gd name="T28" fmla="*/ 18 w 18"/>
                    <a:gd name="T29"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30">
                      <a:moveTo>
                        <a:pt x="0" y="18"/>
                      </a:moveTo>
                      <a:lnTo>
                        <a:pt x="0" y="24"/>
                      </a:lnTo>
                      <a:lnTo>
                        <a:pt x="6" y="24"/>
                      </a:lnTo>
                      <a:lnTo>
                        <a:pt x="18" y="30"/>
                      </a:lnTo>
                      <a:lnTo>
                        <a:pt x="12" y="6"/>
                      </a:lnTo>
                      <a:lnTo>
                        <a:pt x="18" y="6"/>
                      </a:lnTo>
                      <a:lnTo>
                        <a:pt x="18" y="6"/>
                      </a:lnTo>
                      <a:lnTo>
                        <a:pt x="18" y="6"/>
                      </a:lnTo>
                      <a:lnTo>
                        <a:pt x="18" y="6"/>
                      </a:lnTo>
                      <a:lnTo>
                        <a:pt x="0" y="18"/>
                      </a:lnTo>
                      <a:close/>
                      <a:moveTo>
                        <a:pt x="18" y="6"/>
                      </a:moveTo>
                      <a:lnTo>
                        <a:pt x="12" y="0"/>
                      </a:lnTo>
                      <a:lnTo>
                        <a:pt x="6" y="0"/>
                      </a:lnTo>
                      <a:lnTo>
                        <a:pt x="6"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149" name="Freeform 76"/>
                <p:cNvSpPr>
                  <a:spLocks noEditPoints="1"/>
                </p:cNvSpPr>
                <p:nvPr/>
              </p:nvSpPr>
              <p:spPr bwMode="auto">
                <a:xfrm>
                  <a:off x="4519" y="2411"/>
                  <a:ext cx="12" cy="24"/>
                </a:xfrm>
                <a:custGeom>
                  <a:avLst/>
                  <a:gdLst>
                    <a:gd name="T0" fmla="*/ 0 w 12"/>
                    <a:gd name="T1" fmla="*/ 24 h 24"/>
                    <a:gd name="T2" fmla="*/ 6 w 12"/>
                    <a:gd name="T3" fmla="*/ 24 h 24"/>
                    <a:gd name="T4" fmla="*/ 6 w 12"/>
                    <a:gd name="T5" fmla="*/ 24 h 24"/>
                    <a:gd name="T6" fmla="*/ 12 w 12"/>
                    <a:gd name="T7" fmla="*/ 0 h 24"/>
                    <a:gd name="T8" fmla="*/ 6 w 12"/>
                    <a:gd name="T9" fmla="*/ 0 h 24"/>
                    <a:gd name="T10" fmla="*/ 6 w 12"/>
                    <a:gd name="T11" fmla="*/ 0 h 24"/>
                    <a:gd name="T12" fmla="*/ 0 w 12"/>
                    <a:gd name="T13" fmla="*/ 24 h 24"/>
                    <a:gd name="T14" fmla="*/ 6 w 12"/>
                    <a:gd name="T15" fmla="*/ 0 h 24"/>
                    <a:gd name="T16" fmla="*/ 6 w 12"/>
                    <a:gd name="T17" fmla="*/ 0 h 24"/>
                    <a:gd name="T18" fmla="*/ 0 w 12"/>
                    <a:gd name="T19" fmla="*/ 0 h 24"/>
                    <a:gd name="T20" fmla="*/ 6 w 12"/>
                    <a:gd name="T21" fmla="*/ 12 h 24"/>
                    <a:gd name="T22" fmla="*/ 6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0" y="24"/>
                      </a:moveTo>
                      <a:lnTo>
                        <a:pt x="6" y="24"/>
                      </a:lnTo>
                      <a:lnTo>
                        <a:pt x="6" y="24"/>
                      </a:lnTo>
                      <a:lnTo>
                        <a:pt x="12" y="0"/>
                      </a:lnTo>
                      <a:lnTo>
                        <a:pt x="6" y="0"/>
                      </a:lnTo>
                      <a:lnTo>
                        <a:pt x="6" y="0"/>
                      </a:lnTo>
                      <a:lnTo>
                        <a:pt x="0" y="24"/>
                      </a:lnTo>
                      <a:close/>
                      <a:moveTo>
                        <a:pt x="6" y="0"/>
                      </a:moveTo>
                      <a:lnTo>
                        <a:pt x="6" y="0"/>
                      </a:lnTo>
                      <a:lnTo>
                        <a:pt x="0" y="0"/>
                      </a:lnTo>
                      <a:lnTo>
                        <a:pt x="6"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150" name="Freeform 77"/>
                <p:cNvSpPr>
                  <a:spLocks noEditPoints="1"/>
                </p:cNvSpPr>
                <p:nvPr/>
              </p:nvSpPr>
              <p:spPr bwMode="auto">
                <a:xfrm>
                  <a:off x="4525" y="2411"/>
                  <a:ext cx="18" cy="24"/>
                </a:xfrm>
                <a:custGeom>
                  <a:avLst/>
                  <a:gdLst>
                    <a:gd name="T0" fmla="*/ 6 w 18"/>
                    <a:gd name="T1" fmla="*/ 24 h 24"/>
                    <a:gd name="T2" fmla="*/ 6 w 18"/>
                    <a:gd name="T3" fmla="*/ 24 h 24"/>
                    <a:gd name="T4" fmla="*/ 12 w 18"/>
                    <a:gd name="T5" fmla="*/ 24 h 24"/>
                    <a:gd name="T6" fmla="*/ 18 w 18"/>
                    <a:gd name="T7" fmla="*/ 24 h 24"/>
                    <a:gd name="T8" fmla="*/ 18 w 18"/>
                    <a:gd name="T9" fmla="*/ 24 h 24"/>
                    <a:gd name="T10" fmla="*/ 12 w 18"/>
                    <a:gd name="T11" fmla="*/ 0 h 24"/>
                    <a:gd name="T12" fmla="*/ 6 w 18"/>
                    <a:gd name="T13" fmla="*/ 0 h 24"/>
                    <a:gd name="T14" fmla="*/ 0 w 18"/>
                    <a:gd name="T15" fmla="*/ 0 h 24"/>
                    <a:gd name="T16" fmla="*/ 6 w 18"/>
                    <a:gd name="T17" fmla="*/ 24 h 24"/>
                    <a:gd name="T18" fmla="*/ 0 w 18"/>
                    <a:gd name="T19" fmla="*/ 24 h 24"/>
                    <a:gd name="T20" fmla="*/ 0 w 18"/>
                    <a:gd name="T21" fmla="*/ 24 h 24"/>
                    <a:gd name="T22" fmla="*/ 6 w 18"/>
                    <a:gd name="T23" fmla="*/ 24 h 24"/>
                    <a:gd name="T24" fmla="*/ 6 w 18"/>
                    <a:gd name="T25" fmla="*/ 12 h 24"/>
                    <a:gd name="T26" fmla="*/ 0 w 18"/>
                    <a:gd name="T2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24">
                      <a:moveTo>
                        <a:pt x="6" y="24"/>
                      </a:moveTo>
                      <a:lnTo>
                        <a:pt x="6" y="24"/>
                      </a:lnTo>
                      <a:lnTo>
                        <a:pt x="12" y="24"/>
                      </a:lnTo>
                      <a:lnTo>
                        <a:pt x="18" y="24"/>
                      </a:lnTo>
                      <a:lnTo>
                        <a:pt x="18" y="24"/>
                      </a:lnTo>
                      <a:lnTo>
                        <a:pt x="12" y="0"/>
                      </a:lnTo>
                      <a:lnTo>
                        <a:pt x="6" y="0"/>
                      </a:lnTo>
                      <a:lnTo>
                        <a:pt x="0" y="0"/>
                      </a:lnTo>
                      <a:lnTo>
                        <a:pt x="6" y="24"/>
                      </a:lnTo>
                      <a:close/>
                      <a:moveTo>
                        <a:pt x="0" y="24"/>
                      </a:moveTo>
                      <a:lnTo>
                        <a:pt x="0" y="24"/>
                      </a:lnTo>
                      <a:lnTo>
                        <a:pt x="6" y="24"/>
                      </a:lnTo>
                      <a:lnTo>
                        <a:pt x="6" y="12"/>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151" name="Freeform 78"/>
                <p:cNvSpPr>
                  <a:spLocks noEditPoints="1"/>
                </p:cNvSpPr>
                <p:nvPr/>
              </p:nvSpPr>
              <p:spPr bwMode="auto">
                <a:xfrm>
                  <a:off x="4531" y="2411"/>
                  <a:ext cx="24" cy="24"/>
                </a:xfrm>
                <a:custGeom>
                  <a:avLst/>
                  <a:gdLst>
                    <a:gd name="T0" fmla="*/ 0 w 24"/>
                    <a:gd name="T1" fmla="*/ 18 h 24"/>
                    <a:gd name="T2" fmla="*/ 0 w 24"/>
                    <a:gd name="T3" fmla="*/ 24 h 24"/>
                    <a:gd name="T4" fmla="*/ 24 w 24"/>
                    <a:gd name="T5" fmla="*/ 12 h 24"/>
                    <a:gd name="T6" fmla="*/ 18 w 24"/>
                    <a:gd name="T7" fmla="*/ 6 h 24"/>
                    <a:gd name="T8" fmla="*/ 0 w 24"/>
                    <a:gd name="T9" fmla="*/ 18 h 24"/>
                    <a:gd name="T10" fmla="*/ 18 w 24"/>
                    <a:gd name="T11" fmla="*/ 6 h 24"/>
                    <a:gd name="T12" fmla="*/ 12 w 24"/>
                    <a:gd name="T13" fmla="*/ 0 h 24"/>
                    <a:gd name="T14" fmla="*/ 6 w 24"/>
                    <a:gd name="T15" fmla="*/ 0 h 24"/>
                    <a:gd name="T16" fmla="*/ 6 w 24"/>
                    <a:gd name="T17" fmla="*/ 12 h 24"/>
                    <a:gd name="T18" fmla="*/ 18 w 24"/>
                    <a:gd name="T19"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18"/>
                      </a:moveTo>
                      <a:lnTo>
                        <a:pt x="0" y="24"/>
                      </a:lnTo>
                      <a:lnTo>
                        <a:pt x="24" y="12"/>
                      </a:lnTo>
                      <a:lnTo>
                        <a:pt x="18" y="6"/>
                      </a:lnTo>
                      <a:lnTo>
                        <a:pt x="0" y="18"/>
                      </a:lnTo>
                      <a:close/>
                      <a:moveTo>
                        <a:pt x="18" y="6"/>
                      </a:moveTo>
                      <a:lnTo>
                        <a:pt x="12" y="0"/>
                      </a:lnTo>
                      <a:lnTo>
                        <a:pt x="6" y="0"/>
                      </a:lnTo>
                      <a:lnTo>
                        <a:pt x="6"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152" name="Freeform 79"/>
                <p:cNvSpPr>
                  <a:spLocks/>
                </p:cNvSpPr>
                <p:nvPr/>
              </p:nvSpPr>
              <p:spPr bwMode="auto">
                <a:xfrm>
                  <a:off x="4543" y="2423"/>
                  <a:ext cx="18" cy="18"/>
                </a:xfrm>
                <a:custGeom>
                  <a:avLst/>
                  <a:gdLst>
                    <a:gd name="T0" fmla="*/ 0 w 18"/>
                    <a:gd name="T1" fmla="*/ 18 h 18"/>
                    <a:gd name="T2" fmla="*/ 18 w 18"/>
                    <a:gd name="T3" fmla="*/ 12 h 18"/>
                    <a:gd name="T4" fmla="*/ 12 w 18"/>
                    <a:gd name="T5" fmla="*/ 0 h 18"/>
                    <a:gd name="T6" fmla="*/ 0 w 18"/>
                    <a:gd name="T7" fmla="*/ 6 h 18"/>
                    <a:gd name="T8" fmla="*/ 0 w 18"/>
                    <a:gd name="T9" fmla="*/ 18 h 18"/>
                  </a:gdLst>
                  <a:ahLst/>
                  <a:cxnLst>
                    <a:cxn ang="0">
                      <a:pos x="T0" y="T1"/>
                    </a:cxn>
                    <a:cxn ang="0">
                      <a:pos x="T2" y="T3"/>
                    </a:cxn>
                    <a:cxn ang="0">
                      <a:pos x="T4" y="T5"/>
                    </a:cxn>
                    <a:cxn ang="0">
                      <a:pos x="T6" y="T7"/>
                    </a:cxn>
                    <a:cxn ang="0">
                      <a:pos x="T8" y="T9"/>
                    </a:cxn>
                  </a:cxnLst>
                  <a:rect l="0" t="0" r="r" b="b"/>
                  <a:pathLst>
                    <a:path w="18" h="18">
                      <a:moveTo>
                        <a:pt x="0" y="18"/>
                      </a:moveTo>
                      <a:lnTo>
                        <a:pt x="18" y="12"/>
                      </a:lnTo>
                      <a:lnTo>
                        <a:pt x="12" y="0"/>
                      </a:lnTo>
                      <a:lnTo>
                        <a:pt x="0" y="6"/>
                      </a:lnTo>
                      <a:lnTo>
                        <a:pt x="0" y="18"/>
                      </a:lnTo>
                      <a:close/>
                    </a:path>
                  </a:pathLst>
                </a:custGeom>
                <a:solidFill>
                  <a:srgbClr val="00FF00"/>
                </a:solidFill>
                <a:ln w="9525">
                  <a:solidFill>
                    <a:srgbClr val="00FF00"/>
                  </a:solidFill>
                  <a:round/>
                  <a:headEnd/>
                  <a:tailEnd/>
                </a:ln>
              </p:spPr>
              <p:txBody>
                <a:bodyPr/>
                <a:lstStyle/>
                <a:p>
                  <a:endParaRPr lang="zh-CN" altLang="en-US"/>
                </a:p>
              </p:txBody>
            </p:sp>
            <p:sp>
              <p:nvSpPr>
                <p:cNvPr id="153" name="Freeform 80"/>
                <p:cNvSpPr>
                  <a:spLocks/>
                </p:cNvSpPr>
                <p:nvPr/>
              </p:nvSpPr>
              <p:spPr bwMode="auto">
                <a:xfrm>
                  <a:off x="4561" y="2429"/>
                  <a:ext cx="12" cy="30"/>
                </a:xfrm>
                <a:custGeom>
                  <a:avLst/>
                  <a:gdLst>
                    <a:gd name="T0" fmla="*/ 0 w 12"/>
                    <a:gd name="T1" fmla="*/ 6 h 30"/>
                    <a:gd name="T2" fmla="*/ 6 w 12"/>
                    <a:gd name="T3" fmla="*/ 12 h 30"/>
                    <a:gd name="T4" fmla="*/ 6 w 12"/>
                    <a:gd name="T5" fmla="*/ 18 h 30"/>
                    <a:gd name="T6" fmla="*/ 6 w 12"/>
                    <a:gd name="T7" fmla="*/ 18 h 30"/>
                    <a:gd name="T8" fmla="*/ 12 w 12"/>
                    <a:gd name="T9" fmla="*/ 24 h 30"/>
                    <a:gd name="T10" fmla="*/ 12 w 12"/>
                    <a:gd name="T11" fmla="*/ 24 h 30"/>
                    <a:gd name="T12" fmla="*/ 12 w 12"/>
                    <a:gd name="T13" fmla="*/ 30 h 30"/>
                    <a:gd name="T14" fmla="*/ 12 w 12"/>
                    <a:gd name="T15" fmla="*/ 30 h 30"/>
                    <a:gd name="T16" fmla="*/ 12 w 12"/>
                    <a:gd name="T17" fmla="*/ 30 h 30"/>
                    <a:gd name="T18" fmla="*/ 12 w 12"/>
                    <a:gd name="T19" fmla="*/ 24 h 30"/>
                    <a:gd name="T20" fmla="*/ 12 w 12"/>
                    <a:gd name="T21" fmla="*/ 24 h 30"/>
                    <a:gd name="T22" fmla="*/ 12 w 12"/>
                    <a:gd name="T23" fmla="*/ 18 h 30"/>
                    <a:gd name="T24" fmla="*/ 12 w 12"/>
                    <a:gd name="T25" fmla="*/ 18 h 30"/>
                    <a:gd name="T26" fmla="*/ 12 w 12"/>
                    <a:gd name="T27" fmla="*/ 12 h 30"/>
                    <a:gd name="T28" fmla="*/ 12 w 12"/>
                    <a:gd name="T29" fmla="*/ 12 h 30"/>
                    <a:gd name="T30" fmla="*/ 6 w 12"/>
                    <a:gd name="T31" fmla="*/ 6 h 30"/>
                    <a:gd name="T32" fmla="*/ 6 w 12"/>
                    <a:gd name="T33" fmla="*/ 6 h 30"/>
                    <a:gd name="T34" fmla="*/ 0 w 12"/>
                    <a:gd name="T35" fmla="*/ 0 h 30"/>
                    <a:gd name="T36" fmla="*/ 0 w 12"/>
                    <a:gd name="T37" fmla="*/ 6 h 30"/>
                    <a:gd name="T38" fmla="*/ 0 w 12"/>
                    <a:gd name="T39"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 h="30">
                      <a:moveTo>
                        <a:pt x="0" y="6"/>
                      </a:moveTo>
                      <a:lnTo>
                        <a:pt x="6" y="12"/>
                      </a:lnTo>
                      <a:lnTo>
                        <a:pt x="6" y="18"/>
                      </a:lnTo>
                      <a:lnTo>
                        <a:pt x="6" y="18"/>
                      </a:lnTo>
                      <a:lnTo>
                        <a:pt x="12" y="24"/>
                      </a:lnTo>
                      <a:lnTo>
                        <a:pt x="12" y="24"/>
                      </a:lnTo>
                      <a:lnTo>
                        <a:pt x="12" y="30"/>
                      </a:lnTo>
                      <a:lnTo>
                        <a:pt x="12" y="30"/>
                      </a:lnTo>
                      <a:lnTo>
                        <a:pt x="12" y="30"/>
                      </a:lnTo>
                      <a:lnTo>
                        <a:pt x="12" y="24"/>
                      </a:lnTo>
                      <a:lnTo>
                        <a:pt x="12" y="24"/>
                      </a:lnTo>
                      <a:lnTo>
                        <a:pt x="12" y="18"/>
                      </a:lnTo>
                      <a:lnTo>
                        <a:pt x="12" y="18"/>
                      </a:lnTo>
                      <a:lnTo>
                        <a:pt x="12" y="12"/>
                      </a:lnTo>
                      <a:lnTo>
                        <a:pt x="12" y="12"/>
                      </a:lnTo>
                      <a:lnTo>
                        <a:pt x="6" y="6"/>
                      </a:lnTo>
                      <a:lnTo>
                        <a:pt x="6" y="6"/>
                      </a:lnTo>
                      <a:lnTo>
                        <a:pt x="0" y="0"/>
                      </a:lnTo>
                      <a:lnTo>
                        <a:pt x="0" y="6"/>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154" name="Freeform 81"/>
                <p:cNvSpPr>
                  <a:spLocks/>
                </p:cNvSpPr>
                <p:nvPr/>
              </p:nvSpPr>
              <p:spPr bwMode="auto">
                <a:xfrm>
                  <a:off x="4555" y="2423"/>
                  <a:ext cx="18" cy="30"/>
                </a:xfrm>
                <a:custGeom>
                  <a:avLst/>
                  <a:gdLst>
                    <a:gd name="T0" fmla="*/ 0 w 18"/>
                    <a:gd name="T1" fmla="*/ 24 h 30"/>
                    <a:gd name="T2" fmla="*/ 6 w 18"/>
                    <a:gd name="T3" fmla="*/ 30 h 30"/>
                    <a:gd name="T4" fmla="*/ 18 w 18"/>
                    <a:gd name="T5" fmla="*/ 6 h 30"/>
                    <a:gd name="T6" fmla="*/ 12 w 18"/>
                    <a:gd name="T7" fmla="*/ 0 h 30"/>
                    <a:gd name="T8" fmla="*/ 0 w 18"/>
                    <a:gd name="T9" fmla="*/ 24 h 30"/>
                  </a:gdLst>
                  <a:ahLst/>
                  <a:cxnLst>
                    <a:cxn ang="0">
                      <a:pos x="T0" y="T1"/>
                    </a:cxn>
                    <a:cxn ang="0">
                      <a:pos x="T2" y="T3"/>
                    </a:cxn>
                    <a:cxn ang="0">
                      <a:pos x="T4" y="T5"/>
                    </a:cxn>
                    <a:cxn ang="0">
                      <a:pos x="T6" y="T7"/>
                    </a:cxn>
                    <a:cxn ang="0">
                      <a:pos x="T8" y="T9"/>
                    </a:cxn>
                  </a:cxnLst>
                  <a:rect l="0" t="0" r="r" b="b"/>
                  <a:pathLst>
                    <a:path w="18" h="30">
                      <a:moveTo>
                        <a:pt x="0" y="24"/>
                      </a:moveTo>
                      <a:lnTo>
                        <a:pt x="6" y="30"/>
                      </a:lnTo>
                      <a:lnTo>
                        <a:pt x="18" y="6"/>
                      </a:lnTo>
                      <a:lnTo>
                        <a:pt x="12" y="0"/>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155" name="Freeform 82"/>
                <p:cNvSpPr>
                  <a:spLocks noEditPoints="1"/>
                </p:cNvSpPr>
                <p:nvPr/>
              </p:nvSpPr>
              <p:spPr bwMode="auto">
                <a:xfrm>
                  <a:off x="4555" y="2429"/>
                  <a:ext cx="24" cy="30"/>
                </a:xfrm>
                <a:custGeom>
                  <a:avLst/>
                  <a:gdLst>
                    <a:gd name="T0" fmla="*/ 0 w 24"/>
                    <a:gd name="T1" fmla="*/ 6 h 30"/>
                    <a:gd name="T2" fmla="*/ 0 w 24"/>
                    <a:gd name="T3" fmla="*/ 12 h 30"/>
                    <a:gd name="T4" fmla="*/ 0 w 24"/>
                    <a:gd name="T5" fmla="*/ 12 h 30"/>
                    <a:gd name="T6" fmla="*/ 6 w 24"/>
                    <a:gd name="T7" fmla="*/ 18 h 30"/>
                    <a:gd name="T8" fmla="*/ 12 w 24"/>
                    <a:gd name="T9" fmla="*/ 30 h 30"/>
                    <a:gd name="T10" fmla="*/ 18 w 24"/>
                    <a:gd name="T11" fmla="*/ 6 h 30"/>
                    <a:gd name="T12" fmla="*/ 24 w 24"/>
                    <a:gd name="T13" fmla="*/ 12 h 30"/>
                    <a:gd name="T14" fmla="*/ 24 w 24"/>
                    <a:gd name="T15" fmla="*/ 12 h 30"/>
                    <a:gd name="T16" fmla="*/ 24 w 24"/>
                    <a:gd name="T17" fmla="*/ 12 h 30"/>
                    <a:gd name="T18" fmla="*/ 0 w 24"/>
                    <a:gd name="T19" fmla="*/ 6 h 30"/>
                    <a:gd name="T20" fmla="*/ 24 w 24"/>
                    <a:gd name="T21" fmla="*/ 12 h 30"/>
                    <a:gd name="T22" fmla="*/ 24 w 24"/>
                    <a:gd name="T23" fmla="*/ 6 h 30"/>
                    <a:gd name="T24" fmla="*/ 18 w 24"/>
                    <a:gd name="T25" fmla="*/ 0 h 30"/>
                    <a:gd name="T26" fmla="*/ 12 w 24"/>
                    <a:gd name="T27" fmla="*/ 12 h 30"/>
                    <a:gd name="T28" fmla="*/ 24 w 24"/>
                    <a:gd name="T29"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30">
                      <a:moveTo>
                        <a:pt x="0" y="6"/>
                      </a:moveTo>
                      <a:lnTo>
                        <a:pt x="0" y="12"/>
                      </a:lnTo>
                      <a:lnTo>
                        <a:pt x="0" y="12"/>
                      </a:lnTo>
                      <a:lnTo>
                        <a:pt x="6" y="18"/>
                      </a:lnTo>
                      <a:lnTo>
                        <a:pt x="12" y="30"/>
                      </a:lnTo>
                      <a:lnTo>
                        <a:pt x="18" y="6"/>
                      </a:lnTo>
                      <a:lnTo>
                        <a:pt x="24" y="12"/>
                      </a:lnTo>
                      <a:lnTo>
                        <a:pt x="24" y="12"/>
                      </a:lnTo>
                      <a:lnTo>
                        <a:pt x="24" y="12"/>
                      </a:lnTo>
                      <a:lnTo>
                        <a:pt x="0" y="6"/>
                      </a:lnTo>
                      <a:close/>
                      <a:moveTo>
                        <a:pt x="24" y="12"/>
                      </a:moveTo>
                      <a:lnTo>
                        <a:pt x="24" y="6"/>
                      </a:lnTo>
                      <a:lnTo>
                        <a:pt x="18" y="0"/>
                      </a:lnTo>
                      <a:lnTo>
                        <a:pt x="12" y="12"/>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156" name="Freeform 83"/>
                <p:cNvSpPr>
                  <a:spLocks noEditPoints="1"/>
                </p:cNvSpPr>
                <p:nvPr/>
              </p:nvSpPr>
              <p:spPr bwMode="auto">
                <a:xfrm>
                  <a:off x="4555" y="2435"/>
                  <a:ext cx="24" cy="30"/>
                </a:xfrm>
                <a:custGeom>
                  <a:avLst/>
                  <a:gdLst>
                    <a:gd name="T0" fmla="*/ 0 w 24"/>
                    <a:gd name="T1" fmla="*/ 12 h 30"/>
                    <a:gd name="T2" fmla="*/ 0 w 24"/>
                    <a:gd name="T3" fmla="*/ 18 h 30"/>
                    <a:gd name="T4" fmla="*/ 6 w 24"/>
                    <a:gd name="T5" fmla="*/ 18 h 30"/>
                    <a:gd name="T6" fmla="*/ 6 w 24"/>
                    <a:gd name="T7" fmla="*/ 18 h 30"/>
                    <a:gd name="T8" fmla="*/ 6 w 24"/>
                    <a:gd name="T9" fmla="*/ 24 h 30"/>
                    <a:gd name="T10" fmla="*/ 12 w 24"/>
                    <a:gd name="T11" fmla="*/ 30 h 30"/>
                    <a:gd name="T12" fmla="*/ 12 w 24"/>
                    <a:gd name="T13" fmla="*/ 6 h 30"/>
                    <a:gd name="T14" fmla="*/ 24 w 24"/>
                    <a:gd name="T15" fmla="*/ 12 h 30"/>
                    <a:gd name="T16" fmla="*/ 24 w 24"/>
                    <a:gd name="T17" fmla="*/ 12 h 30"/>
                    <a:gd name="T18" fmla="*/ 24 w 24"/>
                    <a:gd name="T19" fmla="*/ 12 h 30"/>
                    <a:gd name="T20" fmla="*/ 24 w 24"/>
                    <a:gd name="T21" fmla="*/ 12 h 30"/>
                    <a:gd name="T22" fmla="*/ 0 w 24"/>
                    <a:gd name="T23" fmla="*/ 12 h 30"/>
                    <a:gd name="T24" fmla="*/ 24 w 24"/>
                    <a:gd name="T25" fmla="*/ 12 h 30"/>
                    <a:gd name="T26" fmla="*/ 24 w 24"/>
                    <a:gd name="T27" fmla="*/ 0 h 30"/>
                    <a:gd name="T28" fmla="*/ 18 w 24"/>
                    <a:gd name="T29" fmla="*/ 0 h 30"/>
                    <a:gd name="T30" fmla="*/ 12 w 24"/>
                    <a:gd name="T31" fmla="*/ 12 h 30"/>
                    <a:gd name="T32" fmla="*/ 24 w 24"/>
                    <a:gd name="T33"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30">
                      <a:moveTo>
                        <a:pt x="0" y="12"/>
                      </a:moveTo>
                      <a:lnTo>
                        <a:pt x="0" y="18"/>
                      </a:lnTo>
                      <a:lnTo>
                        <a:pt x="6" y="18"/>
                      </a:lnTo>
                      <a:lnTo>
                        <a:pt x="6" y="18"/>
                      </a:lnTo>
                      <a:lnTo>
                        <a:pt x="6" y="24"/>
                      </a:lnTo>
                      <a:lnTo>
                        <a:pt x="12" y="30"/>
                      </a:lnTo>
                      <a:lnTo>
                        <a:pt x="12" y="6"/>
                      </a:lnTo>
                      <a:lnTo>
                        <a:pt x="24" y="12"/>
                      </a:lnTo>
                      <a:lnTo>
                        <a:pt x="24" y="12"/>
                      </a:lnTo>
                      <a:lnTo>
                        <a:pt x="24" y="12"/>
                      </a:lnTo>
                      <a:lnTo>
                        <a:pt x="24" y="12"/>
                      </a:lnTo>
                      <a:lnTo>
                        <a:pt x="0" y="12"/>
                      </a:lnTo>
                      <a:close/>
                      <a:moveTo>
                        <a:pt x="24" y="12"/>
                      </a:moveTo>
                      <a:lnTo>
                        <a:pt x="24" y="0"/>
                      </a:lnTo>
                      <a:lnTo>
                        <a:pt x="18" y="0"/>
                      </a:lnTo>
                      <a:lnTo>
                        <a:pt x="12" y="12"/>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157" name="Freeform 84"/>
                <p:cNvSpPr>
                  <a:spLocks noEditPoints="1"/>
                </p:cNvSpPr>
                <p:nvPr/>
              </p:nvSpPr>
              <p:spPr bwMode="auto">
                <a:xfrm>
                  <a:off x="4561" y="2441"/>
                  <a:ext cx="24" cy="24"/>
                </a:xfrm>
                <a:custGeom>
                  <a:avLst/>
                  <a:gdLst>
                    <a:gd name="T0" fmla="*/ 0 w 24"/>
                    <a:gd name="T1" fmla="*/ 24 h 24"/>
                    <a:gd name="T2" fmla="*/ 6 w 24"/>
                    <a:gd name="T3" fmla="*/ 24 h 24"/>
                    <a:gd name="T4" fmla="*/ 6 w 24"/>
                    <a:gd name="T5" fmla="*/ 24 h 24"/>
                    <a:gd name="T6" fmla="*/ 24 w 24"/>
                    <a:gd name="T7" fmla="*/ 12 h 24"/>
                    <a:gd name="T8" fmla="*/ 24 w 24"/>
                    <a:gd name="T9" fmla="*/ 12 h 24"/>
                    <a:gd name="T10" fmla="*/ 24 w 24"/>
                    <a:gd name="T11" fmla="*/ 12 h 24"/>
                    <a:gd name="T12" fmla="*/ 18 w 24"/>
                    <a:gd name="T13" fmla="*/ 6 h 24"/>
                    <a:gd name="T14" fmla="*/ 0 w 24"/>
                    <a:gd name="T15" fmla="*/ 24 h 24"/>
                    <a:gd name="T16" fmla="*/ 18 w 24"/>
                    <a:gd name="T17" fmla="*/ 6 h 24"/>
                    <a:gd name="T18" fmla="*/ 12 w 24"/>
                    <a:gd name="T19" fmla="*/ 0 h 24"/>
                    <a:gd name="T20" fmla="*/ 6 w 24"/>
                    <a:gd name="T21" fmla="*/ 0 h 24"/>
                    <a:gd name="T22" fmla="*/ 12 w 24"/>
                    <a:gd name="T23" fmla="*/ 12 h 24"/>
                    <a:gd name="T24" fmla="*/ 18 w 24"/>
                    <a:gd name="T25"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0" y="24"/>
                      </a:moveTo>
                      <a:lnTo>
                        <a:pt x="6" y="24"/>
                      </a:lnTo>
                      <a:lnTo>
                        <a:pt x="6" y="24"/>
                      </a:lnTo>
                      <a:lnTo>
                        <a:pt x="24" y="12"/>
                      </a:lnTo>
                      <a:lnTo>
                        <a:pt x="24" y="12"/>
                      </a:lnTo>
                      <a:lnTo>
                        <a:pt x="24" y="12"/>
                      </a:lnTo>
                      <a:lnTo>
                        <a:pt x="18" y="6"/>
                      </a:lnTo>
                      <a:lnTo>
                        <a:pt x="0" y="24"/>
                      </a:lnTo>
                      <a:close/>
                      <a:moveTo>
                        <a:pt x="18" y="6"/>
                      </a:moveTo>
                      <a:lnTo>
                        <a:pt x="12" y="0"/>
                      </a:lnTo>
                      <a:lnTo>
                        <a:pt x="6" y="0"/>
                      </a:lnTo>
                      <a:lnTo>
                        <a:pt x="12"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158" name="Freeform 85"/>
                <p:cNvSpPr>
                  <a:spLocks noEditPoints="1"/>
                </p:cNvSpPr>
                <p:nvPr/>
              </p:nvSpPr>
              <p:spPr bwMode="auto">
                <a:xfrm>
                  <a:off x="4561" y="2447"/>
                  <a:ext cx="24" cy="18"/>
                </a:xfrm>
                <a:custGeom>
                  <a:avLst/>
                  <a:gdLst>
                    <a:gd name="T0" fmla="*/ 24 w 24"/>
                    <a:gd name="T1" fmla="*/ 12 h 18"/>
                    <a:gd name="T2" fmla="*/ 24 w 24"/>
                    <a:gd name="T3" fmla="*/ 6 h 18"/>
                    <a:gd name="T4" fmla="*/ 24 w 24"/>
                    <a:gd name="T5" fmla="*/ 0 h 18"/>
                    <a:gd name="T6" fmla="*/ 0 w 24"/>
                    <a:gd name="T7" fmla="*/ 12 h 18"/>
                    <a:gd name="T8" fmla="*/ 0 w 24"/>
                    <a:gd name="T9" fmla="*/ 12 h 18"/>
                    <a:gd name="T10" fmla="*/ 0 w 24"/>
                    <a:gd name="T11" fmla="*/ 12 h 18"/>
                    <a:gd name="T12" fmla="*/ 24 w 24"/>
                    <a:gd name="T13" fmla="*/ 12 h 18"/>
                    <a:gd name="T14" fmla="*/ 6 w 24"/>
                    <a:gd name="T15" fmla="*/ 18 h 18"/>
                    <a:gd name="T16" fmla="*/ 24 w 24"/>
                    <a:gd name="T17" fmla="*/ 12 h 18"/>
                    <a:gd name="T18" fmla="*/ 0 w 24"/>
                    <a:gd name="T19" fmla="*/ 12 h 18"/>
                    <a:gd name="T20" fmla="*/ 24 w 24"/>
                    <a:gd name="T21" fmla="*/ 6 h 18"/>
                    <a:gd name="T22" fmla="*/ 6 w 24"/>
                    <a:gd name="T23"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24" y="12"/>
                      </a:moveTo>
                      <a:lnTo>
                        <a:pt x="24" y="6"/>
                      </a:lnTo>
                      <a:lnTo>
                        <a:pt x="24" y="0"/>
                      </a:lnTo>
                      <a:lnTo>
                        <a:pt x="0" y="12"/>
                      </a:lnTo>
                      <a:lnTo>
                        <a:pt x="0" y="12"/>
                      </a:lnTo>
                      <a:lnTo>
                        <a:pt x="0" y="12"/>
                      </a:lnTo>
                      <a:lnTo>
                        <a:pt x="24" y="12"/>
                      </a:lnTo>
                      <a:close/>
                      <a:moveTo>
                        <a:pt x="6" y="18"/>
                      </a:moveTo>
                      <a:lnTo>
                        <a:pt x="24" y="12"/>
                      </a:lnTo>
                      <a:lnTo>
                        <a:pt x="0" y="12"/>
                      </a:lnTo>
                      <a:lnTo>
                        <a:pt x="24" y="6"/>
                      </a:lnTo>
                      <a:lnTo>
                        <a:pt x="6" y="18"/>
                      </a:lnTo>
                      <a:close/>
                    </a:path>
                  </a:pathLst>
                </a:custGeom>
                <a:solidFill>
                  <a:srgbClr val="00FF00"/>
                </a:solidFill>
                <a:ln w="9525">
                  <a:solidFill>
                    <a:srgbClr val="00FF00"/>
                  </a:solidFill>
                  <a:round/>
                  <a:headEnd/>
                  <a:tailEnd/>
                </a:ln>
              </p:spPr>
              <p:txBody>
                <a:bodyPr/>
                <a:lstStyle/>
                <a:p>
                  <a:endParaRPr lang="zh-CN" altLang="en-US"/>
                </a:p>
              </p:txBody>
            </p:sp>
            <p:sp>
              <p:nvSpPr>
                <p:cNvPr id="159" name="Freeform 86"/>
                <p:cNvSpPr>
                  <a:spLocks noEditPoints="1"/>
                </p:cNvSpPr>
                <p:nvPr/>
              </p:nvSpPr>
              <p:spPr bwMode="auto">
                <a:xfrm>
                  <a:off x="4561" y="2441"/>
                  <a:ext cx="24" cy="24"/>
                </a:xfrm>
                <a:custGeom>
                  <a:avLst/>
                  <a:gdLst>
                    <a:gd name="T0" fmla="*/ 18 w 24"/>
                    <a:gd name="T1" fmla="*/ 0 h 24"/>
                    <a:gd name="T2" fmla="*/ 18 w 24"/>
                    <a:gd name="T3" fmla="*/ 6 h 24"/>
                    <a:gd name="T4" fmla="*/ 24 w 24"/>
                    <a:gd name="T5" fmla="*/ 6 h 24"/>
                    <a:gd name="T6" fmla="*/ 0 w 24"/>
                    <a:gd name="T7" fmla="*/ 6 h 24"/>
                    <a:gd name="T8" fmla="*/ 6 w 24"/>
                    <a:gd name="T9" fmla="*/ 18 h 24"/>
                    <a:gd name="T10" fmla="*/ 6 w 24"/>
                    <a:gd name="T11" fmla="*/ 24 h 24"/>
                    <a:gd name="T12" fmla="*/ 18 w 24"/>
                    <a:gd name="T13" fmla="*/ 0 h 24"/>
                    <a:gd name="T14" fmla="*/ 24 w 24"/>
                    <a:gd name="T15" fmla="*/ 6 h 24"/>
                    <a:gd name="T16" fmla="*/ 24 w 24"/>
                    <a:gd name="T17" fmla="*/ 6 h 24"/>
                    <a:gd name="T18" fmla="*/ 18 w 24"/>
                    <a:gd name="T19" fmla="*/ 0 h 24"/>
                    <a:gd name="T20" fmla="*/ 12 w 24"/>
                    <a:gd name="T21" fmla="*/ 12 h 24"/>
                    <a:gd name="T22" fmla="*/ 24 w 24"/>
                    <a:gd name="T23"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8" y="0"/>
                      </a:moveTo>
                      <a:lnTo>
                        <a:pt x="18" y="6"/>
                      </a:lnTo>
                      <a:lnTo>
                        <a:pt x="24" y="6"/>
                      </a:lnTo>
                      <a:lnTo>
                        <a:pt x="0" y="6"/>
                      </a:lnTo>
                      <a:lnTo>
                        <a:pt x="6" y="18"/>
                      </a:lnTo>
                      <a:lnTo>
                        <a:pt x="6" y="24"/>
                      </a:lnTo>
                      <a:lnTo>
                        <a:pt x="18" y="0"/>
                      </a:lnTo>
                      <a:close/>
                      <a:moveTo>
                        <a:pt x="24" y="6"/>
                      </a:moveTo>
                      <a:lnTo>
                        <a:pt x="24" y="6"/>
                      </a:lnTo>
                      <a:lnTo>
                        <a:pt x="18" y="0"/>
                      </a:lnTo>
                      <a:lnTo>
                        <a:pt x="12" y="12"/>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160" name="Freeform 87"/>
                <p:cNvSpPr>
                  <a:spLocks noEditPoints="1"/>
                </p:cNvSpPr>
                <p:nvPr/>
              </p:nvSpPr>
              <p:spPr bwMode="auto">
                <a:xfrm>
                  <a:off x="4561" y="2429"/>
                  <a:ext cx="24" cy="24"/>
                </a:xfrm>
                <a:custGeom>
                  <a:avLst/>
                  <a:gdLst>
                    <a:gd name="T0" fmla="*/ 18 w 24"/>
                    <a:gd name="T1" fmla="*/ 12 h 24"/>
                    <a:gd name="T2" fmla="*/ 18 w 24"/>
                    <a:gd name="T3" fmla="*/ 18 h 24"/>
                    <a:gd name="T4" fmla="*/ 18 w 24"/>
                    <a:gd name="T5" fmla="*/ 18 h 24"/>
                    <a:gd name="T6" fmla="*/ 0 w 24"/>
                    <a:gd name="T7" fmla="*/ 0 h 24"/>
                    <a:gd name="T8" fmla="*/ 0 w 24"/>
                    <a:gd name="T9" fmla="*/ 12 h 24"/>
                    <a:gd name="T10" fmla="*/ 0 w 24"/>
                    <a:gd name="T11" fmla="*/ 24 h 24"/>
                    <a:gd name="T12" fmla="*/ 18 w 24"/>
                    <a:gd name="T13" fmla="*/ 12 h 24"/>
                    <a:gd name="T14" fmla="*/ 24 w 24"/>
                    <a:gd name="T15" fmla="*/ 18 h 24"/>
                    <a:gd name="T16" fmla="*/ 24 w 24"/>
                    <a:gd name="T17" fmla="*/ 18 h 24"/>
                    <a:gd name="T18" fmla="*/ 18 w 24"/>
                    <a:gd name="T19" fmla="*/ 12 h 24"/>
                    <a:gd name="T20" fmla="*/ 12 w 24"/>
                    <a:gd name="T21" fmla="*/ 18 h 24"/>
                    <a:gd name="T22" fmla="*/ 24 w 24"/>
                    <a:gd name="T23" fmla="*/ 1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8" y="12"/>
                      </a:moveTo>
                      <a:lnTo>
                        <a:pt x="18" y="18"/>
                      </a:lnTo>
                      <a:lnTo>
                        <a:pt x="18" y="18"/>
                      </a:lnTo>
                      <a:lnTo>
                        <a:pt x="0" y="0"/>
                      </a:lnTo>
                      <a:lnTo>
                        <a:pt x="0" y="12"/>
                      </a:lnTo>
                      <a:lnTo>
                        <a:pt x="0" y="24"/>
                      </a:lnTo>
                      <a:lnTo>
                        <a:pt x="18" y="12"/>
                      </a:lnTo>
                      <a:close/>
                      <a:moveTo>
                        <a:pt x="24" y="18"/>
                      </a:moveTo>
                      <a:lnTo>
                        <a:pt x="24" y="18"/>
                      </a:lnTo>
                      <a:lnTo>
                        <a:pt x="18" y="12"/>
                      </a:lnTo>
                      <a:lnTo>
                        <a:pt x="12" y="18"/>
                      </a:lnTo>
                      <a:lnTo>
                        <a:pt x="24" y="18"/>
                      </a:lnTo>
                      <a:close/>
                    </a:path>
                  </a:pathLst>
                </a:custGeom>
                <a:solidFill>
                  <a:srgbClr val="00FF00"/>
                </a:solidFill>
                <a:ln w="9525">
                  <a:solidFill>
                    <a:srgbClr val="00FF00"/>
                  </a:solidFill>
                  <a:round/>
                  <a:headEnd/>
                  <a:tailEnd/>
                </a:ln>
              </p:spPr>
              <p:txBody>
                <a:bodyPr/>
                <a:lstStyle/>
                <a:p>
                  <a:endParaRPr lang="zh-CN" altLang="en-US"/>
                </a:p>
              </p:txBody>
            </p:sp>
            <p:sp>
              <p:nvSpPr>
                <p:cNvPr id="161" name="Freeform 88"/>
                <p:cNvSpPr>
                  <a:spLocks noEditPoints="1"/>
                </p:cNvSpPr>
                <p:nvPr/>
              </p:nvSpPr>
              <p:spPr bwMode="auto">
                <a:xfrm>
                  <a:off x="4561" y="2423"/>
                  <a:ext cx="24" cy="24"/>
                </a:xfrm>
                <a:custGeom>
                  <a:avLst/>
                  <a:gdLst>
                    <a:gd name="T0" fmla="*/ 18 w 24"/>
                    <a:gd name="T1" fmla="*/ 24 h 24"/>
                    <a:gd name="T2" fmla="*/ 24 w 24"/>
                    <a:gd name="T3" fmla="*/ 18 h 24"/>
                    <a:gd name="T4" fmla="*/ 24 w 24"/>
                    <a:gd name="T5" fmla="*/ 12 h 24"/>
                    <a:gd name="T6" fmla="*/ 18 w 24"/>
                    <a:gd name="T7" fmla="*/ 6 h 24"/>
                    <a:gd name="T8" fmla="*/ 12 w 24"/>
                    <a:gd name="T9" fmla="*/ 0 h 24"/>
                    <a:gd name="T10" fmla="*/ 0 w 24"/>
                    <a:gd name="T11" fmla="*/ 18 h 24"/>
                    <a:gd name="T12" fmla="*/ 0 w 24"/>
                    <a:gd name="T13" fmla="*/ 18 h 24"/>
                    <a:gd name="T14" fmla="*/ 0 w 24"/>
                    <a:gd name="T15" fmla="*/ 18 h 24"/>
                    <a:gd name="T16" fmla="*/ 0 w 24"/>
                    <a:gd name="T17" fmla="*/ 6 h 24"/>
                    <a:gd name="T18" fmla="*/ 18 w 24"/>
                    <a:gd name="T19" fmla="*/ 24 h 24"/>
                    <a:gd name="T20" fmla="*/ 0 w 24"/>
                    <a:gd name="T21" fmla="*/ 6 h 24"/>
                    <a:gd name="T22" fmla="*/ 0 w 24"/>
                    <a:gd name="T23" fmla="*/ 6 h 24"/>
                    <a:gd name="T24" fmla="*/ 0 w 24"/>
                    <a:gd name="T25" fmla="*/ 6 h 24"/>
                    <a:gd name="T26" fmla="*/ 12 w 24"/>
                    <a:gd name="T27" fmla="*/ 18 h 24"/>
                    <a:gd name="T28" fmla="*/ 0 w 24"/>
                    <a:gd name="T29"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4">
                      <a:moveTo>
                        <a:pt x="18" y="24"/>
                      </a:moveTo>
                      <a:lnTo>
                        <a:pt x="24" y="18"/>
                      </a:lnTo>
                      <a:lnTo>
                        <a:pt x="24" y="12"/>
                      </a:lnTo>
                      <a:lnTo>
                        <a:pt x="18" y="6"/>
                      </a:lnTo>
                      <a:lnTo>
                        <a:pt x="12" y="0"/>
                      </a:lnTo>
                      <a:lnTo>
                        <a:pt x="0" y="18"/>
                      </a:lnTo>
                      <a:lnTo>
                        <a:pt x="0" y="18"/>
                      </a:lnTo>
                      <a:lnTo>
                        <a:pt x="0" y="18"/>
                      </a:lnTo>
                      <a:lnTo>
                        <a:pt x="0" y="6"/>
                      </a:lnTo>
                      <a:lnTo>
                        <a:pt x="18" y="24"/>
                      </a:lnTo>
                      <a:close/>
                      <a:moveTo>
                        <a:pt x="0" y="6"/>
                      </a:moveTo>
                      <a:lnTo>
                        <a:pt x="0" y="6"/>
                      </a:lnTo>
                      <a:lnTo>
                        <a:pt x="0" y="6"/>
                      </a:lnTo>
                      <a:lnTo>
                        <a:pt x="12" y="18"/>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162" name="Freeform 89"/>
                <p:cNvSpPr>
                  <a:spLocks noEditPoints="1"/>
                </p:cNvSpPr>
                <p:nvPr/>
              </p:nvSpPr>
              <p:spPr bwMode="auto">
                <a:xfrm>
                  <a:off x="4555" y="2417"/>
                  <a:ext cx="18" cy="24"/>
                </a:xfrm>
                <a:custGeom>
                  <a:avLst/>
                  <a:gdLst>
                    <a:gd name="T0" fmla="*/ 18 w 18"/>
                    <a:gd name="T1" fmla="*/ 6 h 24"/>
                    <a:gd name="T2" fmla="*/ 12 w 18"/>
                    <a:gd name="T3" fmla="*/ 6 h 24"/>
                    <a:gd name="T4" fmla="*/ 0 w 18"/>
                    <a:gd name="T5" fmla="*/ 0 h 24"/>
                    <a:gd name="T6" fmla="*/ 6 w 18"/>
                    <a:gd name="T7" fmla="*/ 24 h 24"/>
                    <a:gd name="T8" fmla="*/ 6 w 18"/>
                    <a:gd name="T9" fmla="*/ 24 h 24"/>
                    <a:gd name="T10" fmla="*/ 18 w 18"/>
                    <a:gd name="T11" fmla="*/ 6 h 24"/>
                    <a:gd name="T12" fmla="*/ 6 w 18"/>
                    <a:gd name="T13" fmla="*/ 24 h 24"/>
                    <a:gd name="T14" fmla="*/ 6 w 18"/>
                    <a:gd name="T15" fmla="*/ 24 h 24"/>
                    <a:gd name="T16" fmla="*/ 6 w 18"/>
                    <a:gd name="T17" fmla="*/ 24 h 24"/>
                    <a:gd name="T18" fmla="*/ 12 w 18"/>
                    <a:gd name="T19" fmla="*/ 18 h 24"/>
                    <a:gd name="T20" fmla="*/ 6 w 18"/>
                    <a:gd name="T2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24">
                      <a:moveTo>
                        <a:pt x="18" y="6"/>
                      </a:moveTo>
                      <a:lnTo>
                        <a:pt x="12" y="6"/>
                      </a:lnTo>
                      <a:lnTo>
                        <a:pt x="0" y="0"/>
                      </a:lnTo>
                      <a:lnTo>
                        <a:pt x="6" y="24"/>
                      </a:lnTo>
                      <a:lnTo>
                        <a:pt x="6" y="24"/>
                      </a:lnTo>
                      <a:lnTo>
                        <a:pt x="18" y="6"/>
                      </a:lnTo>
                      <a:close/>
                      <a:moveTo>
                        <a:pt x="6" y="24"/>
                      </a:moveTo>
                      <a:lnTo>
                        <a:pt x="6" y="24"/>
                      </a:lnTo>
                      <a:lnTo>
                        <a:pt x="6" y="24"/>
                      </a:lnTo>
                      <a:lnTo>
                        <a:pt x="12" y="18"/>
                      </a:lnTo>
                      <a:lnTo>
                        <a:pt x="6" y="24"/>
                      </a:lnTo>
                      <a:close/>
                    </a:path>
                  </a:pathLst>
                </a:custGeom>
                <a:solidFill>
                  <a:srgbClr val="00FF00"/>
                </a:solidFill>
                <a:ln w="9525">
                  <a:solidFill>
                    <a:srgbClr val="00FF00"/>
                  </a:solidFill>
                  <a:round/>
                  <a:headEnd/>
                  <a:tailEnd/>
                </a:ln>
              </p:spPr>
              <p:txBody>
                <a:bodyPr/>
                <a:lstStyle/>
                <a:p>
                  <a:endParaRPr lang="zh-CN" altLang="en-US"/>
                </a:p>
              </p:txBody>
            </p:sp>
            <p:sp>
              <p:nvSpPr>
                <p:cNvPr id="163" name="Freeform 90"/>
                <p:cNvSpPr>
                  <a:spLocks noEditPoints="1"/>
                </p:cNvSpPr>
                <p:nvPr/>
              </p:nvSpPr>
              <p:spPr bwMode="auto">
                <a:xfrm>
                  <a:off x="4549" y="2417"/>
                  <a:ext cx="24" cy="18"/>
                </a:xfrm>
                <a:custGeom>
                  <a:avLst/>
                  <a:gdLst>
                    <a:gd name="T0" fmla="*/ 0 w 24"/>
                    <a:gd name="T1" fmla="*/ 18 h 18"/>
                    <a:gd name="T2" fmla="*/ 0 w 24"/>
                    <a:gd name="T3" fmla="*/ 18 h 18"/>
                    <a:gd name="T4" fmla="*/ 24 w 24"/>
                    <a:gd name="T5" fmla="*/ 18 h 18"/>
                    <a:gd name="T6" fmla="*/ 24 w 24"/>
                    <a:gd name="T7" fmla="*/ 12 h 18"/>
                    <a:gd name="T8" fmla="*/ 0 w 24"/>
                    <a:gd name="T9" fmla="*/ 18 h 18"/>
                    <a:gd name="T10" fmla="*/ 6 w 24"/>
                    <a:gd name="T11" fmla="*/ 0 h 18"/>
                    <a:gd name="T12" fmla="*/ 0 w 24"/>
                    <a:gd name="T13" fmla="*/ 6 h 18"/>
                    <a:gd name="T14" fmla="*/ 0 w 24"/>
                    <a:gd name="T15" fmla="*/ 18 h 18"/>
                    <a:gd name="T16" fmla="*/ 12 w 24"/>
                    <a:gd name="T17" fmla="*/ 12 h 18"/>
                    <a:gd name="T18" fmla="*/ 6 w 24"/>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0" y="18"/>
                      </a:moveTo>
                      <a:lnTo>
                        <a:pt x="0" y="18"/>
                      </a:lnTo>
                      <a:lnTo>
                        <a:pt x="24" y="18"/>
                      </a:lnTo>
                      <a:lnTo>
                        <a:pt x="24" y="12"/>
                      </a:lnTo>
                      <a:lnTo>
                        <a:pt x="0" y="18"/>
                      </a:lnTo>
                      <a:close/>
                      <a:moveTo>
                        <a:pt x="6" y="0"/>
                      </a:moveTo>
                      <a:lnTo>
                        <a:pt x="0" y="6"/>
                      </a:lnTo>
                      <a:lnTo>
                        <a:pt x="0" y="18"/>
                      </a:lnTo>
                      <a:lnTo>
                        <a:pt x="12"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164" name="Freeform 91"/>
                <p:cNvSpPr>
                  <a:spLocks/>
                </p:cNvSpPr>
                <p:nvPr/>
              </p:nvSpPr>
              <p:spPr bwMode="auto">
                <a:xfrm>
                  <a:off x="4549" y="2435"/>
                  <a:ext cx="12" cy="12"/>
                </a:xfrm>
                <a:custGeom>
                  <a:avLst/>
                  <a:gdLst>
                    <a:gd name="T0" fmla="*/ 0 w 12"/>
                    <a:gd name="T1" fmla="*/ 0 h 12"/>
                    <a:gd name="T2" fmla="*/ 0 w 12"/>
                    <a:gd name="T3" fmla="*/ 6 h 12"/>
                    <a:gd name="T4" fmla="*/ 6 w 12"/>
                    <a:gd name="T5" fmla="*/ 12 h 12"/>
                    <a:gd name="T6" fmla="*/ 12 w 12"/>
                    <a:gd name="T7" fmla="*/ 0 h 12"/>
                    <a:gd name="T8" fmla="*/ 0 w 12"/>
                    <a:gd name="T9" fmla="*/ 0 h 12"/>
                  </a:gdLst>
                  <a:ahLst/>
                  <a:cxnLst>
                    <a:cxn ang="0">
                      <a:pos x="T0" y="T1"/>
                    </a:cxn>
                    <a:cxn ang="0">
                      <a:pos x="T2" y="T3"/>
                    </a:cxn>
                    <a:cxn ang="0">
                      <a:pos x="T4" y="T5"/>
                    </a:cxn>
                    <a:cxn ang="0">
                      <a:pos x="T6" y="T7"/>
                    </a:cxn>
                    <a:cxn ang="0">
                      <a:pos x="T8" y="T9"/>
                    </a:cxn>
                  </a:cxnLst>
                  <a:rect l="0" t="0" r="r" b="b"/>
                  <a:pathLst>
                    <a:path w="12" h="12">
                      <a:moveTo>
                        <a:pt x="0" y="0"/>
                      </a:moveTo>
                      <a:lnTo>
                        <a:pt x="0" y="6"/>
                      </a:lnTo>
                      <a:lnTo>
                        <a:pt x="6" y="12"/>
                      </a:lnTo>
                      <a:lnTo>
                        <a:pt x="12" y="0"/>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165" name="Freeform 92"/>
                <p:cNvSpPr>
                  <a:spLocks/>
                </p:cNvSpPr>
                <p:nvPr/>
              </p:nvSpPr>
              <p:spPr bwMode="auto">
                <a:xfrm>
                  <a:off x="4555" y="2411"/>
                  <a:ext cx="48" cy="18"/>
                </a:xfrm>
                <a:custGeom>
                  <a:avLst/>
                  <a:gdLst>
                    <a:gd name="T0" fmla="*/ 0 w 48"/>
                    <a:gd name="T1" fmla="*/ 18 h 18"/>
                    <a:gd name="T2" fmla="*/ 6 w 48"/>
                    <a:gd name="T3" fmla="*/ 18 h 18"/>
                    <a:gd name="T4" fmla="*/ 18 w 48"/>
                    <a:gd name="T5" fmla="*/ 18 h 18"/>
                    <a:gd name="T6" fmla="*/ 18 w 48"/>
                    <a:gd name="T7" fmla="*/ 18 h 18"/>
                    <a:gd name="T8" fmla="*/ 24 w 48"/>
                    <a:gd name="T9" fmla="*/ 18 h 18"/>
                    <a:gd name="T10" fmla="*/ 30 w 48"/>
                    <a:gd name="T11" fmla="*/ 12 h 18"/>
                    <a:gd name="T12" fmla="*/ 30 w 48"/>
                    <a:gd name="T13" fmla="*/ 6 h 18"/>
                    <a:gd name="T14" fmla="*/ 30 w 48"/>
                    <a:gd name="T15" fmla="*/ 6 h 18"/>
                    <a:gd name="T16" fmla="*/ 36 w 48"/>
                    <a:gd name="T17" fmla="*/ 6 h 18"/>
                    <a:gd name="T18" fmla="*/ 36 w 48"/>
                    <a:gd name="T19" fmla="*/ 6 h 18"/>
                    <a:gd name="T20" fmla="*/ 36 w 48"/>
                    <a:gd name="T21" fmla="*/ 6 h 18"/>
                    <a:gd name="T22" fmla="*/ 42 w 48"/>
                    <a:gd name="T23" fmla="*/ 0 h 18"/>
                    <a:gd name="T24" fmla="*/ 42 w 48"/>
                    <a:gd name="T25" fmla="*/ 0 h 18"/>
                    <a:gd name="T26" fmla="*/ 42 w 48"/>
                    <a:gd name="T27" fmla="*/ 0 h 18"/>
                    <a:gd name="T28" fmla="*/ 48 w 48"/>
                    <a:gd name="T29" fmla="*/ 0 h 18"/>
                    <a:gd name="T30" fmla="*/ 48 w 48"/>
                    <a:gd name="T31" fmla="*/ 0 h 18"/>
                    <a:gd name="T32" fmla="*/ 48 w 48"/>
                    <a:gd name="T33" fmla="*/ 0 h 18"/>
                    <a:gd name="T34" fmla="*/ 42 w 48"/>
                    <a:gd name="T35" fmla="*/ 0 h 18"/>
                    <a:gd name="T36" fmla="*/ 42 w 48"/>
                    <a:gd name="T37" fmla="*/ 0 h 18"/>
                    <a:gd name="T38" fmla="*/ 36 w 48"/>
                    <a:gd name="T39" fmla="*/ 0 h 18"/>
                    <a:gd name="T40" fmla="*/ 36 w 48"/>
                    <a:gd name="T41" fmla="*/ 6 h 18"/>
                    <a:gd name="T42" fmla="*/ 30 w 48"/>
                    <a:gd name="T43" fmla="*/ 6 h 18"/>
                    <a:gd name="T44" fmla="*/ 30 w 48"/>
                    <a:gd name="T45" fmla="*/ 12 h 18"/>
                    <a:gd name="T46" fmla="*/ 24 w 48"/>
                    <a:gd name="T47" fmla="*/ 12 h 18"/>
                    <a:gd name="T48" fmla="*/ 24 w 48"/>
                    <a:gd name="T49" fmla="*/ 12 h 18"/>
                    <a:gd name="T50" fmla="*/ 18 w 48"/>
                    <a:gd name="T51" fmla="*/ 12 h 18"/>
                    <a:gd name="T52" fmla="*/ 12 w 48"/>
                    <a:gd name="T53" fmla="*/ 12 h 18"/>
                    <a:gd name="T54" fmla="*/ 6 w 48"/>
                    <a:gd name="T55" fmla="*/ 12 h 18"/>
                    <a:gd name="T56" fmla="*/ 0 w 48"/>
                    <a:gd name="T57" fmla="*/ 18 h 18"/>
                    <a:gd name="T58" fmla="*/ 0 w 48"/>
                    <a:gd name="T59"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8" h="18">
                      <a:moveTo>
                        <a:pt x="0" y="18"/>
                      </a:moveTo>
                      <a:lnTo>
                        <a:pt x="6" y="18"/>
                      </a:lnTo>
                      <a:lnTo>
                        <a:pt x="18" y="18"/>
                      </a:lnTo>
                      <a:lnTo>
                        <a:pt x="18" y="18"/>
                      </a:lnTo>
                      <a:lnTo>
                        <a:pt x="24" y="18"/>
                      </a:lnTo>
                      <a:lnTo>
                        <a:pt x="30" y="12"/>
                      </a:lnTo>
                      <a:lnTo>
                        <a:pt x="30" y="6"/>
                      </a:lnTo>
                      <a:lnTo>
                        <a:pt x="30" y="6"/>
                      </a:lnTo>
                      <a:lnTo>
                        <a:pt x="36" y="6"/>
                      </a:lnTo>
                      <a:lnTo>
                        <a:pt x="36" y="6"/>
                      </a:lnTo>
                      <a:lnTo>
                        <a:pt x="36" y="6"/>
                      </a:lnTo>
                      <a:lnTo>
                        <a:pt x="42" y="0"/>
                      </a:lnTo>
                      <a:lnTo>
                        <a:pt x="42" y="0"/>
                      </a:lnTo>
                      <a:lnTo>
                        <a:pt x="42" y="0"/>
                      </a:lnTo>
                      <a:lnTo>
                        <a:pt x="48" y="0"/>
                      </a:lnTo>
                      <a:lnTo>
                        <a:pt x="48" y="0"/>
                      </a:lnTo>
                      <a:lnTo>
                        <a:pt x="48" y="0"/>
                      </a:lnTo>
                      <a:lnTo>
                        <a:pt x="42" y="0"/>
                      </a:lnTo>
                      <a:lnTo>
                        <a:pt x="42" y="0"/>
                      </a:lnTo>
                      <a:lnTo>
                        <a:pt x="36" y="0"/>
                      </a:lnTo>
                      <a:lnTo>
                        <a:pt x="36" y="6"/>
                      </a:lnTo>
                      <a:lnTo>
                        <a:pt x="30" y="6"/>
                      </a:lnTo>
                      <a:lnTo>
                        <a:pt x="30" y="12"/>
                      </a:lnTo>
                      <a:lnTo>
                        <a:pt x="24" y="12"/>
                      </a:lnTo>
                      <a:lnTo>
                        <a:pt x="24" y="12"/>
                      </a:lnTo>
                      <a:lnTo>
                        <a:pt x="18" y="12"/>
                      </a:lnTo>
                      <a:lnTo>
                        <a:pt x="12" y="12"/>
                      </a:lnTo>
                      <a:lnTo>
                        <a:pt x="6" y="12"/>
                      </a:lnTo>
                      <a:lnTo>
                        <a:pt x="0" y="18"/>
                      </a:lnTo>
                      <a:lnTo>
                        <a:pt x="0" y="18"/>
                      </a:lnTo>
                      <a:close/>
                    </a:path>
                  </a:pathLst>
                </a:custGeom>
                <a:solidFill>
                  <a:srgbClr val="00FF00"/>
                </a:solidFill>
                <a:ln w="9525">
                  <a:solidFill>
                    <a:srgbClr val="00FF00"/>
                  </a:solidFill>
                  <a:round/>
                  <a:headEnd/>
                  <a:tailEnd/>
                </a:ln>
              </p:spPr>
              <p:txBody>
                <a:bodyPr/>
                <a:lstStyle/>
                <a:p>
                  <a:endParaRPr lang="zh-CN" altLang="en-US"/>
                </a:p>
              </p:txBody>
            </p:sp>
            <p:sp>
              <p:nvSpPr>
                <p:cNvPr id="166" name="Freeform 93"/>
                <p:cNvSpPr>
                  <a:spLocks/>
                </p:cNvSpPr>
                <p:nvPr/>
              </p:nvSpPr>
              <p:spPr bwMode="auto">
                <a:xfrm>
                  <a:off x="4555" y="2417"/>
                  <a:ext cx="24" cy="24"/>
                </a:xfrm>
                <a:custGeom>
                  <a:avLst/>
                  <a:gdLst>
                    <a:gd name="T0" fmla="*/ 0 w 24"/>
                    <a:gd name="T1" fmla="*/ 24 h 24"/>
                    <a:gd name="T2" fmla="*/ 6 w 24"/>
                    <a:gd name="T3" fmla="*/ 24 h 24"/>
                    <a:gd name="T4" fmla="*/ 18 w 24"/>
                    <a:gd name="T5" fmla="*/ 24 h 24"/>
                    <a:gd name="T6" fmla="*/ 24 w 24"/>
                    <a:gd name="T7" fmla="*/ 18 h 24"/>
                    <a:gd name="T8" fmla="*/ 6 w 24"/>
                    <a:gd name="T9" fmla="*/ 6 h 24"/>
                    <a:gd name="T10" fmla="*/ 12 w 24"/>
                    <a:gd name="T11" fmla="*/ 0 h 24"/>
                    <a:gd name="T12" fmla="*/ 6 w 24"/>
                    <a:gd name="T13" fmla="*/ 0 h 24"/>
                    <a:gd name="T14" fmla="*/ 6 w 24"/>
                    <a:gd name="T15" fmla="*/ 0 h 24"/>
                    <a:gd name="T16" fmla="*/ 6 w 24"/>
                    <a:gd name="T17" fmla="*/ 0 h 24"/>
                    <a:gd name="T18" fmla="*/ 0 w 24"/>
                    <a:gd name="T1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24"/>
                      </a:moveTo>
                      <a:lnTo>
                        <a:pt x="6" y="24"/>
                      </a:lnTo>
                      <a:lnTo>
                        <a:pt x="18" y="24"/>
                      </a:lnTo>
                      <a:lnTo>
                        <a:pt x="24" y="18"/>
                      </a:lnTo>
                      <a:lnTo>
                        <a:pt x="6" y="6"/>
                      </a:lnTo>
                      <a:lnTo>
                        <a:pt x="12" y="0"/>
                      </a:lnTo>
                      <a:lnTo>
                        <a:pt x="6" y="0"/>
                      </a:lnTo>
                      <a:lnTo>
                        <a:pt x="6" y="0"/>
                      </a:lnTo>
                      <a:lnTo>
                        <a:pt x="6" y="0"/>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167" name="Freeform 94"/>
                <p:cNvSpPr>
                  <a:spLocks noEditPoints="1"/>
                </p:cNvSpPr>
                <p:nvPr/>
              </p:nvSpPr>
              <p:spPr bwMode="auto">
                <a:xfrm>
                  <a:off x="4561" y="2417"/>
                  <a:ext cx="24" cy="24"/>
                </a:xfrm>
                <a:custGeom>
                  <a:avLst/>
                  <a:gdLst>
                    <a:gd name="T0" fmla="*/ 12 w 24"/>
                    <a:gd name="T1" fmla="*/ 24 h 24"/>
                    <a:gd name="T2" fmla="*/ 18 w 24"/>
                    <a:gd name="T3" fmla="*/ 24 h 24"/>
                    <a:gd name="T4" fmla="*/ 24 w 24"/>
                    <a:gd name="T5" fmla="*/ 18 h 24"/>
                    <a:gd name="T6" fmla="*/ 6 w 24"/>
                    <a:gd name="T7" fmla="*/ 6 h 24"/>
                    <a:gd name="T8" fmla="*/ 12 w 24"/>
                    <a:gd name="T9" fmla="*/ 0 h 24"/>
                    <a:gd name="T10" fmla="*/ 12 w 24"/>
                    <a:gd name="T11" fmla="*/ 0 h 24"/>
                    <a:gd name="T12" fmla="*/ 12 w 24"/>
                    <a:gd name="T13" fmla="*/ 24 h 24"/>
                    <a:gd name="T14" fmla="*/ 12 w 24"/>
                    <a:gd name="T15" fmla="*/ 0 h 24"/>
                    <a:gd name="T16" fmla="*/ 6 w 24"/>
                    <a:gd name="T17" fmla="*/ 0 h 24"/>
                    <a:gd name="T18" fmla="*/ 0 w 24"/>
                    <a:gd name="T19" fmla="*/ 6 h 24"/>
                    <a:gd name="T20" fmla="*/ 12 w 24"/>
                    <a:gd name="T21" fmla="*/ 12 h 24"/>
                    <a:gd name="T22" fmla="*/ 12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2" y="24"/>
                      </a:moveTo>
                      <a:lnTo>
                        <a:pt x="18" y="24"/>
                      </a:lnTo>
                      <a:lnTo>
                        <a:pt x="24" y="18"/>
                      </a:lnTo>
                      <a:lnTo>
                        <a:pt x="6" y="6"/>
                      </a:lnTo>
                      <a:lnTo>
                        <a:pt x="12" y="0"/>
                      </a:lnTo>
                      <a:lnTo>
                        <a:pt x="12" y="0"/>
                      </a:lnTo>
                      <a:lnTo>
                        <a:pt x="12" y="24"/>
                      </a:lnTo>
                      <a:close/>
                      <a:moveTo>
                        <a:pt x="12" y="0"/>
                      </a:moveTo>
                      <a:lnTo>
                        <a:pt x="6" y="0"/>
                      </a:lnTo>
                      <a:lnTo>
                        <a:pt x="0" y="6"/>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168" name="Freeform 95"/>
                <p:cNvSpPr>
                  <a:spLocks noEditPoints="1"/>
                </p:cNvSpPr>
                <p:nvPr/>
              </p:nvSpPr>
              <p:spPr bwMode="auto">
                <a:xfrm>
                  <a:off x="4567" y="2411"/>
                  <a:ext cx="30" cy="24"/>
                </a:xfrm>
                <a:custGeom>
                  <a:avLst/>
                  <a:gdLst>
                    <a:gd name="T0" fmla="*/ 18 w 30"/>
                    <a:gd name="T1" fmla="*/ 24 h 24"/>
                    <a:gd name="T2" fmla="*/ 24 w 30"/>
                    <a:gd name="T3" fmla="*/ 24 h 24"/>
                    <a:gd name="T4" fmla="*/ 24 w 30"/>
                    <a:gd name="T5" fmla="*/ 18 h 24"/>
                    <a:gd name="T6" fmla="*/ 30 w 30"/>
                    <a:gd name="T7" fmla="*/ 6 h 24"/>
                    <a:gd name="T8" fmla="*/ 6 w 30"/>
                    <a:gd name="T9" fmla="*/ 6 h 24"/>
                    <a:gd name="T10" fmla="*/ 6 w 30"/>
                    <a:gd name="T11" fmla="*/ 0 h 24"/>
                    <a:gd name="T12" fmla="*/ 6 w 30"/>
                    <a:gd name="T13" fmla="*/ 0 h 24"/>
                    <a:gd name="T14" fmla="*/ 0 w 30"/>
                    <a:gd name="T15" fmla="*/ 6 h 24"/>
                    <a:gd name="T16" fmla="*/ 18 w 30"/>
                    <a:gd name="T17" fmla="*/ 24 h 24"/>
                    <a:gd name="T18" fmla="*/ 0 w 30"/>
                    <a:gd name="T19" fmla="*/ 6 h 24"/>
                    <a:gd name="T20" fmla="*/ 0 w 30"/>
                    <a:gd name="T21" fmla="*/ 6 h 24"/>
                    <a:gd name="T22" fmla="*/ 0 w 30"/>
                    <a:gd name="T23" fmla="*/ 12 h 24"/>
                    <a:gd name="T24" fmla="*/ 12 w 30"/>
                    <a:gd name="T25" fmla="*/ 18 h 24"/>
                    <a:gd name="T26" fmla="*/ 0 w 30"/>
                    <a:gd name="T27"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24">
                      <a:moveTo>
                        <a:pt x="18" y="24"/>
                      </a:moveTo>
                      <a:lnTo>
                        <a:pt x="24" y="24"/>
                      </a:lnTo>
                      <a:lnTo>
                        <a:pt x="24" y="18"/>
                      </a:lnTo>
                      <a:lnTo>
                        <a:pt x="30" y="6"/>
                      </a:lnTo>
                      <a:lnTo>
                        <a:pt x="6" y="6"/>
                      </a:lnTo>
                      <a:lnTo>
                        <a:pt x="6" y="0"/>
                      </a:lnTo>
                      <a:lnTo>
                        <a:pt x="6" y="0"/>
                      </a:lnTo>
                      <a:lnTo>
                        <a:pt x="0" y="6"/>
                      </a:lnTo>
                      <a:lnTo>
                        <a:pt x="18" y="24"/>
                      </a:lnTo>
                      <a:close/>
                      <a:moveTo>
                        <a:pt x="0" y="6"/>
                      </a:moveTo>
                      <a:lnTo>
                        <a:pt x="0" y="6"/>
                      </a:lnTo>
                      <a:lnTo>
                        <a:pt x="0" y="12"/>
                      </a:lnTo>
                      <a:lnTo>
                        <a:pt x="12" y="18"/>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169" name="Freeform 96"/>
                <p:cNvSpPr>
                  <a:spLocks noEditPoints="1"/>
                </p:cNvSpPr>
                <p:nvPr/>
              </p:nvSpPr>
              <p:spPr bwMode="auto">
                <a:xfrm>
                  <a:off x="4573" y="2405"/>
                  <a:ext cx="18" cy="24"/>
                </a:xfrm>
                <a:custGeom>
                  <a:avLst/>
                  <a:gdLst>
                    <a:gd name="T0" fmla="*/ 12 w 18"/>
                    <a:gd name="T1" fmla="*/ 24 h 24"/>
                    <a:gd name="T2" fmla="*/ 18 w 18"/>
                    <a:gd name="T3" fmla="*/ 24 h 24"/>
                    <a:gd name="T4" fmla="*/ 18 w 18"/>
                    <a:gd name="T5" fmla="*/ 24 h 24"/>
                    <a:gd name="T6" fmla="*/ 18 w 18"/>
                    <a:gd name="T7" fmla="*/ 24 h 24"/>
                    <a:gd name="T8" fmla="*/ 12 w 18"/>
                    <a:gd name="T9" fmla="*/ 0 h 24"/>
                    <a:gd name="T10" fmla="*/ 12 w 18"/>
                    <a:gd name="T11" fmla="*/ 0 h 24"/>
                    <a:gd name="T12" fmla="*/ 12 w 18"/>
                    <a:gd name="T13" fmla="*/ 0 h 24"/>
                    <a:gd name="T14" fmla="*/ 12 w 18"/>
                    <a:gd name="T15" fmla="*/ 24 h 24"/>
                    <a:gd name="T16" fmla="*/ 12 w 18"/>
                    <a:gd name="T17" fmla="*/ 0 h 24"/>
                    <a:gd name="T18" fmla="*/ 0 w 18"/>
                    <a:gd name="T19" fmla="*/ 6 h 24"/>
                    <a:gd name="T20" fmla="*/ 0 w 18"/>
                    <a:gd name="T21" fmla="*/ 12 h 24"/>
                    <a:gd name="T22" fmla="*/ 12 w 18"/>
                    <a:gd name="T23" fmla="*/ 12 h 24"/>
                    <a:gd name="T24" fmla="*/ 12 w 18"/>
                    <a:gd name="T25"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24">
                      <a:moveTo>
                        <a:pt x="12" y="24"/>
                      </a:moveTo>
                      <a:lnTo>
                        <a:pt x="18" y="24"/>
                      </a:lnTo>
                      <a:lnTo>
                        <a:pt x="18" y="24"/>
                      </a:lnTo>
                      <a:lnTo>
                        <a:pt x="18" y="24"/>
                      </a:lnTo>
                      <a:lnTo>
                        <a:pt x="12" y="0"/>
                      </a:lnTo>
                      <a:lnTo>
                        <a:pt x="12" y="0"/>
                      </a:lnTo>
                      <a:lnTo>
                        <a:pt x="12" y="0"/>
                      </a:lnTo>
                      <a:lnTo>
                        <a:pt x="12" y="24"/>
                      </a:lnTo>
                      <a:close/>
                      <a:moveTo>
                        <a:pt x="12" y="0"/>
                      </a:moveTo>
                      <a:lnTo>
                        <a:pt x="0" y="6"/>
                      </a:lnTo>
                      <a:lnTo>
                        <a:pt x="0" y="12"/>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170" name="Freeform 97"/>
                <p:cNvSpPr>
                  <a:spLocks noEditPoints="1"/>
                </p:cNvSpPr>
                <p:nvPr/>
              </p:nvSpPr>
              <p:spPr bwMode="auto">
                <a:xfrm>
                  <a:off x="4579" y="2405"/>
                  <a:ext cx="18" cy="24"/>
                </a:xfrm>
                <a:custGeom>
                  <a:avLst/>
                  <a:gdLst>
                    <a:gd name="T0" fmla="*/ 18 w 18"/>
                    <a:gd name="T1" fmla="*/ 24 h 24"/>
                    <a:gd name="T2" fmla="*/ 18 w 18"/>
                    <a:gd name="T3" fmla="*/ 24 h 24"/>
                    <a:gd name="T4" fmla="*/ 12 w 18"/>
                    <a:gd name="T5" fmla="*/ 24 h 24"/>
                    <a:gd name="T6" fmla="*/ 6 w 18"/>
                    <a:gd name="T7" fmla="*/ 0 h 24"/>
                    <a:gd name="T8" fmla="*/ 6 w 18"/>
                    <a:gd name="T9" fmla="*/ 0 h 24"/>
                    <a:gd name="T10" fmla="*/ 0 w 18"/>
                    <a:gd name="T11" fmla="*/ 0 h 24"/>
                    <a:gd name="T12" fmla="*/ 18 w 18"/>
                    <a:gd name="T13" fmla="*/ 24 h 24"/>
                    <a:gd name="T14" fmla="*/ 12 w 18"/>
                    <a:gd name="T15" fmla="*/ 24 h 24"/>
                    <a:gd name="T16" fmla="*/ 18 w 18"/>
                    <a:gd name="T17" fmla="*/ 24 h 24"/>
                    <a:gd name="T18" fmla="*/ 18 w 18"/>
                    <a:gd name="T19" fmla="*/ 24 h 24"/>
                    <a:gd name="T20" fmla="*/ 6 w 18"/>
                    <a:gd name="T21" fmla="*/ 12 h 24"/>
                    <a:gd name="T22" fmla="*/ 12 w 18"/>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18" y="24"/>
                      </a:moveTo>
                      <a:lnTo>
                        <a:pt x="18" y="24"/>
                      </a:lnTo>
                      <a:lnTo>
                        <a:pt x="12" y="24"/>
                      </a:lnTo>
                      <a:lnTo>
                        <a:pt x="6" y="0"/>
                      </a:lnTo>
                      <a:lnTo>
                        <a:pt x="6" y="0"/>
                      </a:lnTo>
                      <a:lnTo>
                        <a:pt x="0" y="0"/>
                      </a:lnTo>
                      <a:lnTo>
                        <a:pt x="18" y="24"/>
                      </a:lnTo>
                      <a:close/>
                      <a:moveTo>
                        <a:pt x="12" y="24"/>
                      </a:moveTo>
                      <a:lnTo>
                        <a:pt x="18" y="24"/>
                      </a:lnTo>
                      <a:lnTo>
                        <a:pt x="18" y="24"/>
                      </a:lnTo>
                      <a:lnTo>
                        <a:pt x="6" y="12"/>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171" name="Freeform 98"/>
                <p:cNvSpPr>
                  <a:spLocks noEditPoints="1"/>
                </p:cNvSpPr>
                <p:nvPr/>
              </p:nvSpPr>
              <p:spPr bwMode="auto">
                <a:xfrm>
                  <a:off x="4585" y="2405"/>
                  <a:ext cx="12" cy="24"/>
                </a:xfrm>
                <a:custGeom>
                  <a:avLst/>
                  <a:gdLst>
                    <a:gd name="T0" fmla="*/ 6 w 12"/>
                    <a:gd name="T1" fmla="*/ 24 h 24"/>
                    <a:gd name="T2" fmla="*/ 12 w 12"/>
                    <a:gd name="T3" fmla="*/ 24 h 24"/>
                    <a:gd name="T4" fmla="*/ 12 w 12"/>
                    <a:gd name="T5" fmla="*/ 18 h 24"/>
                    <a:gd name="T6" fmla="*/ 6 w 12"/>
                    <a:gd name="T7" fmla="*/ 0 h 24"/>
                    <a:gd name="T8" fmla="*/ 6 w 12"/>
                    <a:gd name="T9" fmla="*/ 0 h 24"/>
                    <a:gd name="T10" fmla="*/ 6 w 12"/>
                    <a:gd name="T11" fmla="*/ 0 h 24"/>
                    <a:gd name="T12" fmla="*/ 6 w 12"/>
                    <a:gd name="T13" fmla="*/ 24 h 24"/>
                    <a:gd name="T14" fmla="*/ 6 w 12"/>
                    <a:gd name="T15" fmla="*/ 0 h 24"/>
                    <a:gd name="T16" fmla="*/ 0 w 12"/>
                    <a:gd name="T17" fmla="*/ 0 h 24"/>
                    <a:gd name="T18" fmla="*/ 0 w 12"/>
                    <a:gd name="T19" fmla="*/ 0 h 24"/>
                    <a:gd name="T20" fmla="*/ 6 w 12"/>
                    <a:gd name="T21" fmla="*/ 12 h 24"/>
                    <a:gd name="T22" fmla="*/ 6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6" y="24"/>
                      </a:moveTo>
                      <a:lnTo>
                        <a:pt x="12" y="24"/>
                      </a:lnTo>
                      <a:lnTo>
                        <a:pt x="12" y="18"/>
                      </a:lnTo>
                      <a:lnTo>
                        <a:pt x="6" y="0"/>
                      </a:lnTo>
                      <a:lnTo>
                        <a:pt x="6" y="0"/>
                      </a:lnTo>
                      <a:lnTo>
                        <a:pt x="6" y="0"/>
                      </a:lnTo>
                      <a:lnTo>
                        <a:pt x="6" y="24"/>
                      </a:lnTo>
                      <a:close/>
                      <a:moveTo>
                        <a:pt x="6" y="0"/>
                      </a:moveTo>
                      <a:lnTo>
                        <a:pt x="0" y="0"/>
                      </a:lnTo>
                      <a:lnTo>
                        <a:pt x="0" y="0"/>
                      </a:lnTo>
                      <a:lnTo>
                        <a:pt x="6"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172" name="Freeform 99"/>
                <p:cNvSpPr>
                  <a:spLocks noEditPoints="1"/>
                </p:cNvSpPr>
                <p:nvPr/>
              </p:nvSpPr>
              <p:spPr bwMode="auto">
                <a:xfrm>
                  <a:off x="4585" y="2400"/>
                  <a:ext cx="18" cy="23"/>
                </a:xfrm>
                <a:custGeom>
                  <a:avLst/>
                  <a:gdLst>
                    <a:gd name="T0" fmla="*/ 12 w 18"/>
                    <a:gd name="T1" fmla="*/ 23 h 23"/>
                    <a:gd name="T2" fmla="*/ 18 w 18"/>
                    <a:gd name="T3" fmla="*/ 23 h 23"/>
                    <a:gd name="T4" fmla="*/ 18 w 18"/>
                    <a:gd name="T5" fmla="*/ 23 h 23"/>
                    <a:gd name="T6" fmla="*/ 18 w 18"/>
                    <a:gd name="T7" fmla="*/ 23 h 23"/>
                    <a:gd name="T8" fmla="*/ 18 w 18"/>
                    <a:gd name="T9" fmla="*/ 23 h 23"/>
                    <a:gd name="T10" fmla="*/ 18 w 18"/>
                    <a:gd name="T11" fmla="*/ 23 h 23"/>
                    <a:gd name="T12" fmla="*/ 18 w 18"/>
                    <a:gd name="T13" fmla="*/ 23 h 23"/>
                    <a:gd name="T14" fmla="*/ 6 w 18"/>
                    <a:gd name="T15" fmla="*/ 0 h 23"/>
                    <a:gd name="T16" fmla="*/ 6 w 18"/>
                    <a:gd name="T17" fmla="*/ 0 h 23"/>
                    <a:gd name="T18" fmla="*/ 6 w 18"/>
                    <a:gd name="T19" fmla="*/ 5 h 23"/>
                    <a:gd name="T20" fmla="*/ 6 w 18"/>
                    <a:gd name="T21" fmla="*/ 5 h 23"/>
                    <a:gd name="T22" fmla="*/ 6 w 18"/>
                    <a:gd name="T23" fmla="*/ 5 h 23"/>
                    <a:gd name="T24" fmla="*/ 6 w 18"/>
                    <a:gd name="T25" fmla="*/ 5 h 23"/>
                    <a:gd name="T26" fmla="*/ 6 w 18"/>
                    <a:gd name="T27" fmla="*/ 5 h 23"/>
                    <a:gd name="T28" fmla="*/ 0 w 18"/>
                    <a:gd name="T29" fmla="*/ 5 h 23"/>
                    <a:gd name="T30" fmla="*/ 12 w 18"/>
                    <a:gd name="T31" fmla="*/ 23 h 23"/>
                    <a:gd name="T32" fmla="*/ 6 w 18"/>
                    <a:gd name="T33" fmla="*/ 5 h 23"/>
                    <a:gd name="T34" fmla="*/ 6 w 18"/>
                    <a:gd name="T35" fmla="*/ 5 h 23"/>
                    <a:gd name="T36" fmla="*/ 6 w 18"/>
                    <a:gd name="T37" fmla="*/ 5 h 23"/>
                    <a:gd name="T38" fmla="*/ 6 w 18"/>
                    <a:gd name="T39" fmla="*/ 17 h 23"/>
                    <a:gd name="T40" fmla="*/ 6 w 18"/>
                    <a:gd name="T41" fmla="*/ 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 h="23">
                      <a:moveTo>
                        <a:pt x="12" y="23"/>
                      </a:moveTo>
                      <a:lnTo>
                        <a:pt x="18" y="23"/>
                      </a:lnTo>
                      <a:lnTo>
                        <a:pt x="18" y="23"/>
                      </a:lnTo>
                      <a:lnTo>
                        <a:pt x="18" y="23"/>
                      </a:lnTo>
                      <a:lnTo>
                        <a:pt x="18" y="23"/>
                      </a:lnTo>
                      <a:lnTo>
                        <a:pt x="18" y="23"/>
                      </a:lnTo>
                      <a:lnTo>
                        <a:pt x="18" y="23"/>
                      </a:lnTo>
                      <a:lnTo>
                        <a:pt x="6" y="0"/>
                      </a:lnTo>
                      <a:lnTo>
                        <a:pt x="6" y="0"/>
                      </a:lnTo>
                      <a:lnTo>
                        <a:pt x="6" y="5"/>
                      </a:lnTo>
                      <a:lnTo>
                        <a:pt x="6" y="5"/>
                      </a:lnTo>
                      <a:lnTo>
                        <a:pt x="6" y="5"/>
                      </a:lnTo>
                      <a:lnTo>
                        <a:pt x="6" y="5"/>
                      </a:lnTo>
                      <a:lnTo>
                        <a:pt x="6" y="5"/>
                      </a:lnTo>
                      <a:lnTo>
                        <a:pt x="0" y="5"/>
                      </a:lnTo>
                      <a:lnTo>
                        <a:pt x="12" y="23"/>
                      </a:lnTo>
                      <a:close/>
                      <a:moveTo>
                        <a:pt x="6" y="5"/>
                      </a:moveTo>
                      <a:lnTo>
                        <a:pt x="6" y="5"/>
                      </a:lnTo>
                      <a:lnTo>
                        <a:pt x="6" y="5"/>
                      </a:lnTo>
                      <a:lnTo>
                        <a:pt x="6" y="17"/>
                      </a:lnTo>
                      <a:lnTo>
                        <a:pt x="6" y="5"/>
                      </a:lnTo>
                      <a:close/>
                    </a:path>
                  </a:pathLst>
                </a:custGeom>
                <a:solidFill>
                  <a:srgbClr val="00FF00"/>
                </a:solidFill>
                <a:ln w="9525">
                  <a:solidFill>
                    <a:srgbClr val="00FF00"/>
                  </a:solidFill>
                  <a:round/>
                  <a:headEnd/>
                  <a:tailEnd/>
                </a:ln>
              </p:spPr>
              <p:txBody>
                <a:bodyPr/>
                <a:lstStyle/>
                <a:p>
                  <a:endParaRPr lang="zh-CN" altLang="en-US"/>
                </a:p>
              </p:txBody>
            </p:sp>
            <p:sp>
              <p:nvSpPr>
                <p:cNvPr id="173" name="Freeform 100"/>
                <p:cNvSpPr>
                  <a:spLocks noEditPoints="1"/>
                </p:cNvSpPr>
                <p:nvPr/>
              </p:nvSpPr>
              <p:spPr bwMode="auto">
                <a:xfrm>
                  <a:off x="4591" y="2400"/>
                  <a:ext cx="12" cy="23"/>
                </a:xfrm>
                <a:custGeom>
                  <a:avLst/>
                  <a:gdLst>
                    <a:gd name="T0" fmla="*/ 12 w 12"/>
                    <a:gd name="T1" fmla="*/ 23 h 23"/>
                    <a:gd name="T2" fmla="*/ 12 w 12"/>
                    <a:gd name="T3" fmla="*/ 23 h 23"/>
                    <a:gd name="T4" fmla="*/ 12 w 12"/>
                    <a:gd name="T5" fmla="*/ 23 h 23"/>
                    <a:gd name="T6" fmla="*/ 0 w 12"/>
                    <a:gd name="T7" fmla="*/ 0 h 23"/>
                    <a:gd name="T8" fmla="*/ 0 w 12"/>
                    <a:gd name="T9" fmla="*/ 5 h 23"/>
                    <a:gd name="T10" fmla="*/ 0 w 12"/>
                    <a:gd name="T11" fmla="*/ 5 h 23"/>
                    <a:gd name="T12" fmla="*/ 12 w 12"/>
                    <a:gd name="T13" fmla="*/ 23 h 23"/>
                    <a:gd name="T14" fmla="*/ 12 w 12"/>
                    <a:gd name="T15" fmla="*/ 23 h 23"/>
                    <a:gd name="T16" fmla="*/ 12 w 12"/>
                    <a:gd name="T17" fmla="*/ 23 h 23"/>
                    <a:gd name="T18" fmla="*/ 12 w 12"/>
                    <a:gd name="T19" fmla="*/ 23 h 23"/>
                    <a:gd name="T20" fmla="*/ 6 w 12"/>
                    <a:gd name="T21" fmla="*/ 11 h 23"/>
                    <a:gd name="T22" fmla="*/ 12 w 12"/>
                    <a:gd name="T23"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3">
                      <a:moveTo>
                        <a:pt x="12" y="23"/>
                      </a:moveTo>
                      <a:lnTo>
                        <a:pt x="12" y="23"/>
                      </a:lnTo>
                      <a:lnTo>
                        <a:pt x="12" y="23"/>
                      </a:lnTo>
                      <a:lnTo>
                        <a:pt x="0" y="0"/>
                      </a:lnTo>
                      <a:lnTo>
                        <a:pt x="0" y="5"/>
                      </a:lnTo>
                      <a:lnTo>
                        <a:pt x="0" y="5"/>
                      </a:lnTo>
                      <a:lnTo>
                        <a:pt x="12" y="23"/>
                      </a:lnTo>
                      <a:close/>
                      <a:moveTo>
                        <a:pt x="12" y="23"/>
                      </a:moveTo>
                      <a:lnTo>
                        <a:pt x="12" y="23"/>
                      </a:lnTo>
                      <a:lnTo>
                        <a:pt x="12" y="23"/>
                      </a:lnTo>
                      <a:lnTo>
                        <a:pt x="6" y="11"/>
                      </a:lnTo>
                      <a:lnTo>
                        <a:pt x="12" y="23"/>
                      </a:lnTo>
                      <a:close/>
                    </a:path>
                  </a:pathLst>
                </a:custGeom>
                <a:solidFill>
                  <a:srgbClr val="00FF00"/>
                </a:solidFill>
                <a:ln w="9525">
                  <a:solidFill>
                    <a:srgbClr val="00FF00"/>
                  </a:solidFill>
                  <a:round/>
                  <a:headEnd/>
                  <a:tailEnd/>
                </a:ln>
              </p:spPr>
              <p:txBody>
                <a:bodyPr/>
                <a:lstStyle/>
                <a:p>
                  <a:endParaRPr lang="zh-CN" altLang="en-US"/>
                </a:p>
              </p:txBody>
            </p:sp>
            <p:sp>
              <p:nvSpPr>
                <p:cNvPr id="174" name="Freeform 101"/>
                <p:cNvSpPr>
                  <a:spLocks noEditPoints="1"/>
                </p:cNvSpPr>
                <p:nvPr/>
              </p:nvSpPr>
              <p:spPr bwMode="auto">
                <a:xfrm>
                  <a:off x="4591" y="2400"/>
                  <a:ext cx="12" cy="23"/>
                </a:xfrm>
                <a:custGeom>
                  <a:avLst/>
                  <a:gdLst>
                    <a:gd name="T0" fmla="*/ 12 w 12"/>
                    <a:gd name="T1" fmla="*/ 23 h 23"/>
                    <a:gd name="T2" fmla="*/ 12 w 12"/>
                    <a:gd name="T3" fmla="*/ 23 h 23"/>
                    <a:gd name="T4" fmla="*/ 12 w 12"/>
                    <a:gd name="T5" fmla="*/ 23 h 23"/>
                    <a:gd name="T6" fmla="*/ 6 w 12"/>
                    <a:gd name="T7" fmla="*/ 0 h 23"/>
                    <a:gd name="T8" fmla="*/ 6 w 12"/>
                    <a:gd name="T9" fmla="*/ 0 h 23"/>
                    <a:gd name="T10" fmla="*/ 6 w 12"/>
                    <a:gd name="T11" fmla="*/ 0 h 23"/>
                    <a:gd name="T12" fmla="*/ 12 w 12"/>
                    <a:gd name="T13" fmla="*/ 23 h 23"/>
                    <a:gd name="T14" fmla="*/ 6 w 12"/>
                    <a:gd name="T15" fmla="*/ 0 h 23"/>
                    <a:gd name="T16" fmla="*/ 6 w 12"/>
                    <a:gd name="T17" fmla="*/ 0 h 23"/>
                    <a:gd name="T18" fmla="*/ 0 w 12"/>
                    <a:gd name="T19" fmla="*/ 0 h 23"/>
                    <a:gd name="T20" fmla="*/ 6 w 12"/>
                    <a:gd name="T21" fmla="*/ 11 h 23"/>
                    <a:gd name="T22" fmla="*/ 6 w 12"/>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3">
                      <a:moveTo>
                        <a:pt x="12" y="23"/>
                      </a:moveTo>
                      <a:lnTo>
                        <a:pt x="12" y="23"/>
                      </a:lnTo>
                      <a:lnTo>
                        <a:pt x="12" y="23"/>
                      </a:lnTo>
                      <a:lnTo>
                        <a:pt x="6" y="0"/>
                      </a:lnTo>
                      <a:lnTo>
                        <a:pt x="6" y="0"/>
                      </a:lnTo>
                      <a:lnTo>
                        <a:pt x="6" y="0"/>
                      </a:lnTo>
                      <a:lnTo>
                        <a:pt x="12" y="23"/>
                      </a:lnTo>
                      <a:close/>
                      <a:moveTo>
                        <a:pt x="6" y="0"/>
                      </a:moveTo>
                      <a:lnTo>
                        <a:pt x="6" y="0"/>
                      </a:lnTo>
                      <a:lnTo>
                        <a:pt x="0" y="0"/>
                      </a:lnTo>
                      <a:lnTo>
                        <a:pt x="6" y="11"/>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175" name="Freeform 102"/>
                <p:cNvSpPr>
                  <a:spLocks noEditPoints="1"/>
                </p:cNvSpPr>
                <p:nvPr/>
              </p:nvSpPr>
              <p:spPr bwMode="auto">
                <a:xfrm>
                  <a:off x="4597" y="2400"/>
                  <a:ext cx="6" cy="23"/>
                </a:xfrm>
                <a:custGeom>
                  <a:avLst/>
                  <a:gdLst>
                    <a:gd name="T0" fmla="*/ 6 w 6"/>
                    <a:gd name="T1" fmla="*/ 0 h 23"/>
                    <a:gd name="T2" fmla="*/ 6 w 6"/>
                    <a:gd name="T3" fmla="*/ 0 h 23"/>
                    <a:gd name="T4" fmla="*/ 0 w 6"/>
                    <a:gd name="T5" fmla="*/ 0 h 23"/>
                    <a:gd name="T6" fmla="*/ 0 w 6"/>
                    <a:gd name="T7" fmla="*/ 23 h 23"/>
                    <a:gd name="T8" fmla="*/ 0 w 6"/>
                    <a:gd name="T9" fmla="*/ 23 h 23"/>
                    <a:gd name="T10" fmla="*/ 6 w 6"/>
                    <a:gd name="T11" fmla="*/ 0 h 23"/>
                    <a:gd name="T12" fmla="*/ 6 w 6"/>
                    <a:gd name="T13" fmla="*/ 23 h 23"/>
                    <a:gd name="T14" fmla="*/ 6 w 6"/>
                    <a:gd name="T15" fmla="*/ 0 h 23"/>
                    <a:gd name="T16" fmla="*/ 0 w 6"/>
                    <a:gd name="T17" fmla="*/ 23 h 23"/>
                    <a:gd name="T18" fmla="*/ 0 w 6"/>
                    <a:gd name="T19" fmla="*/ 0 h 23"/>
                    <a:gd name="T20" fmla="*/ 6 w 6"/>
                    <a:gd name="T21"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 h="23">
                      <a:moveTo>
                        <a:pt x="6" y="0"/>
                      </a:moveTo>
                      <a:lnTo>
                        <a:pt x="6" y="0"/>
                      </a:lnTo>
                      <a:lnTo>
                        <a:pt x="0" y="0"/>
                      </a:lnTo>
                      <a:lnTo>
                        <a:pt x="0" y="23"/>
                      </a:lnTo>
                      <a:lnTo>
                        <a:pt x="0" y="23"/>
                      </a:lnTo>
                      <a:lnTo>
                        <a:pt x="6" y="0"/>
                      </a:lnTo>
                      <a:close/>
                      <a:moveTo>
                        <a:pt x="6" y="23"/>
                      </a:moveTo>
                      <a:lnTo>
                        <a:pt x="6" y="0"/>
                      </a:lnTo>
                      <a:lnTo>
                        <a:pt x="0" y="23"/>
                      </a:lnTo>
                      <a:lnTo>
                        <a:pt x="0" y="0"/>
                      </a:lnTo>
                      <a:lnTo>
                        <a:pt x="6" y="23"/>
                      </a:lnTo>
                      <a:close/>
                    </a:path>
                  </a:pathLst>
                </a:custGeom>
                <a:solidFill>
                  <a:srgbClr val="00FF00"/>
                </a:solidFill>
                <a:ln w="9525">
                  <a:solidFill>
                    <a:srgbClr val="00FF00"/>
                  </a:solidFill>
                  <a:round/>
                  <a:headEnd/>
                  <a:tailEnd/>
                </a:ln>
              </p:spPr>
              <p:txBody>
                <a:bodyPr/>
                <a:lstStyle/>
                <a:p>
                  <a:endParaRPr lang="zh-CN" altLang="en-US"/>
                </a:p>
              </p:txBody>
            </p:sp>
            <p:sp>
              <p:nvSpPr>
                <p:cNvPr id="176" name="Freeform 103"/>
                <p:cNvSpPr>
                  <a:spLocks noEditPoints="1"/>
                </p:cNvSpPr>
                <p:nvPr/>
              </p:nvSpPr>
              <p:spPr bwMode="auto">
                <a:xfrm>
                  <a:off x="4585" y="2400"/>
                  <a:ext cx="18" cy="23"/>
                </a:xfrm>
                <a:custGeom>
                  <a:avLst/>
                  <a:gdLst>
                    <a:gd name="T0" fmla="*/ 6 w 18"/>
                    <a:gd name="T1" fmla="*/ 0 h 23"/>
                    <a:gd name="T2" fmla="*/ 6 w 18"/>
                    <a:gd name="T3" fmla="*/ 0 h 23"/>
                    <a:gd name="T4" fmla="*/ 0 w 18"/>
                    <a:gd name="T5" fmla="*/ 0 h 23"/>
                    <a:gd name="T6" fmla="*/ 12 w 18"/>
                    <a:gd name="T7" fmla="*/ 23 h 23"/>
                    <a:gd name="T8" fmla="*/ 18 w 18"/>
                    <a:gd name="T9" fmla="*/ 23 h 23"/>
                    <a:gd name="T10" fmla="*/ 18 w 18"/>
                    <a:gd name="T11" fmla="*/ 23 h 23"/>
                    <a:gd name="T12" fmla="*/ 6 w 18"/>
                    <a:gd name="T13" fmla="*/ 0 h 23"/>
                    <a:gd name="T14" fmla="*/ 12 w 18"/>
                    <a:gd name="T15" fmla="*/ 0 h 23"/>
                    <a:gd name="T16" fmla="*/ 6 w 18"/>
                    <a:gd name="T17" fmla="*/ 0 h 23"/>
                    <a:gd name="T18" fmla="*/ 6 w 18"/>
                    <a:gd name="T19" fmla="*/ 0 h 23"/>
                    <a:gd name="T20" fmla="*/ 12 w 18"/>
                    <a:gd name="T21" fmla="*/ 11 h 23"/>
                    <a:gd name="T22" fmla="*/ 12 w 18"/>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3">
                      <a:moveTo>
                        <a:pt x="6" y="0"/>
                      </a:moveTo>
                      <a:lnTo>
                        <a:pt x="6" y="0"/>
                      </a:lnTo>
                      <a:lnTo>
                        <a:pt x="0" y="0"/>
                      </a:lnTo>
                      <a:lnTo>
                        <a:pt x="12" y="23"/>
                      </a:lnTo>
                      <a:lnTo>
                        <a:pt x="18" y="23"/>
                      </a:lnTo>
                      <a:lnTo>
                        <a:pt x="18" y="23"/>
                      </a:lnTo>
                      <a:lnTo>
                        <a:pt x="6" y="0"/>
                      </a:lnTo>
                      <a:close/>
                      <a:moveTo>
                        <a:pt x="12" y="0"/>
                      </a:moveTo>
                      <a:lnTo>
                        <a:pt x="6" y="0"/>
                      </a:lnTo>
                      <a:lnTo>
                        <a:pt x="6" y="0"/>
                      </a:lnTo>
                      <a:lnTo>
                        <a:pt x="12" y="11"/>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177" name="Freeform 104"/>
                <p:cNvSpPr>
                  <a:spLocks noEditPoints="1"/>
                </p:cNvSpPr>
                <p:nvPr/>
              </p:nvSpPr>
              <p:spPr bwMode="auto">
                <a:xfrm>
                  <a:off x="4579" y="2400"/>
                  <a:ext cx="18" cy="29"/>
                </a:xfrm>
                <a:custGeom>
                  <a:avLst/>
                  <a:gdLst>
                    <a:gd name="T0" fmla="*/ 6 w 18"/>
                    <a:gd name="T1" fmla="*/ 5 h 29"/>
                    <a:gd name="T2" fmla="*/ 0 w 18"/>
                    <a:gd name="T3" fmla="*/ 5 h 29"/>
                    <a:gd name="T4" fmla="*/ 0 w 18"/>
                    <a:gd name="T5" fmla="*/ 5 h 29"/>
                    <a:gd name="T6" fmla="*/ 6 w 18"/>
                    <a:gd name="T7" fmla="*/ 5 h 29"/>
                    <a:gd name="T8" fmla="*/ 0 w 18"/>
                    <a:gd name="T9" fmla="*/ 29 h 29"/>
                    <a:gd name="T10" fmla="*/ 12 w 18"/>
                    <a:gd name="T11" fmla="*/ 29 h 29"/>
                    <a:gd name="T12" fmla="*/ 18 w 18"/>
                    <a:gd name="T13" fmla="*/ 29 h 29"/>
                    <a:gd name="T14" fmla="*/ 18 w 18"/>
                    <a:gd name="T15" fmla="*/ 23 h 29"/>
                    <a:gd name="T16" fmla="*/ 6 w 18"/>
                    <a:gd name="T17" fmla="*/ 5 h 29"/>
                    <a:gd name="T18" fmla="*/ 6 w 18"/>
                    <a:gd name="T19" fmla="*/ 0 h 29"/>
                    <a:gd name="T20" fmla="*/ 6 w 18"/>
                    <a:gd name="T21" fmla="*/ 5 h 29"/>
                    <a:gd name="T22" fmla="*/ 6 w 18"/>
                    <a:gd name="T23" fmla="*/ 5 h 29"/>
                    <a:gd name="T24" fmla="*/ 12 w 18"/>
                    <a:gd name="T25" fmla="*/ 11 h 29"/>
                    <a:gd name="T26" fmla="*/ 6 w 18"/>
                    <a:gd name="T2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29">
                      <a:moveTo>
                        <a:pt x="6" y="5"/>
                      </a:moveTo>
                      <a:lnTo>
                        <a:pt x="0" y="5"/>
                      </a:lnTo>
                      <a:lnTo>
                        <a:pt x="0" y="5"/>
                      </a:lnTo>
                      <a:lnTo>
                        <a:pt x="6" y="5"/>
                      </a:lnTo>
                      <a:lnTo>
                        <a:pt x="0" y="29"/>
                      </a:lnTo>
                      <a:lnTo>
                        <a:pt x="12" y="29"/>
                      </a:lnTo>
                      <a:lnTo>
                        <a:pt x="18" y="29"/>
                      </a:lnTo>
                      <a:lnTo>
                        <a:pt x="18" y="23"/>
                      </a:lnTo>
                      <a:lnTo>
                        <a:pt x="6" y="5"/>
                      </a:lnTo>
                      <a:close/>
                      <a:moveTo>
                        <a:pt x="6" y="0"/>
                      </a:moveTo>
                      <a:lnTo>
                        <a:pt x="6" y="5"/>
                      </a:lnTo>
                      <a:lnTo>
                        <a:pt x="6" y="5"/>
                      </a:lnTo>
                      <a:lnTo>
                        <a:pt x="12" y="11"/>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178" name="Freeform 105"/>
                <p:cNvSpPr>
                  <a:spLocks noEditPoints="1"/>
                </p:cNvSpPr>
                <p:nvPr/>
              </p:nvSpPr>
              <p:spPr bwMode="auto">
                <a:xfrm>
                  <a:off x="4573" y="2405"/>
                  <a:ext cx="18" cy="30"/>
                </a:xfrm>
                <a:custGeom>
                  <a:avLst/>
                  <a:gdLst>
                    <a:gd name="T0" fmla="*/ 0 w 18"/>
                    <a:gd name="T1" fmla="*/ 6 h 30"/>
                    <a:gd name="T2" fmla="*/ 0 w 18"/>
                    <a:gd name="T3" fmla="*/ 6 h 30"/>
                    <a:gd name="T4" fmla="*/ 0 w 18"/>
                    <a:gd name="T5" fmla="*/ 6 h 30"/>
                    <a:gd name="T6" fmla="*/ 0 w 18"/>
                    <a:gd name="T7" fmla="*/ 6 h 30"/>
                    <a:gd name="T8" fmla="*/ 6 w 18"/>
                    <a:gd name="T9" fmla="*/ 6 h 30"/>
                    <a:gd name="T10" fmla="*/ 6 w 18"/>
                    <a:gd name="T11" fmla="*/ 30 h 30"/>
                    <a:gd name="T12" fmla="*/ 18 w 18"/>
                    <a:gd name="T13" fmla="*/ 24 h 30"/>
                    <a:gd name="T14" fmla="*/ 18 w 18"/>
                    <a:gd name="T15" fmla="*/ 18 h 30"/>
                    <a:gd name="T16" fmla="*/ 0 w 18"/>
                    <a:gd name="T17" fmla="*/ 6 h 30"/>
                    <a:gd name="T18" fmla="*/ 12 w 18"/>
                    <a:gd name="T19" fmla="*/ 0 h 30"/>
                    <a:gd name="T20" fmla="*/ 6 w 18"/>
                    <a:gd name="T21" fmla="*/ 0 h 30"/>
                    <a:gd name="T22" fmla="*/ 0 w 18"/>
                    <a:gd name="T23" fmla="*/ 6 h 30"/>
                    <a:gd name="T24" fmla="*/ 12 w 18"/>
                    <a:gd name="T25" fmla="*/ 12 h 30"/>
                    <a:gd name="T26" fmla="*/ 12 w 18"/>
                    <a:gd name="T2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30">
                      <a:moveTo>
                        <a:pt x="0" y="6"/>
                      </a:moveTo>
                      <a:lnTo>
                        <a:pt x="0" y="6"/>
                      </a:lnTo>
                      <a:lnTo>
                        <a:pt x="0" y="6"/>
                      </a:lnTo>
                      <a:lnTo>
                        <a:pt x="0" y="6"/>
                      </a:lnTo>
                      <a:lnTo>
                        <a:pt x="6" y="6"/>
                      </a:lnTo>
                      <a:lnTo>
                        <a:pt x="6" y="30"/>
                      </a:lnTo>
                      <a:lnTo>
                        <a:pt x="18" y="24"/>
                      </a:lnTo>
                      <a:lnTo>
                        <a:pt x="18" y="18"/>
                      </a:lnTo>
                      <a:lnTo>
                        <a:pt x="0" y="6"/>
                      </a:lnTo>
                      <a:close/>
                      <a:moveTo>
                        <a:pt x="12" y="0"/>
                      </a:moveTo>
                      <a:lnTo>
                        <a:pt x="6" y="0"/>
                      </a:lnTo>
                      <a:lnTo>
                        <a:pt x="0" y="6"/>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179" name="Freeform 106"/>
                <p:cNvSpPr>
                  <a:spLocks noEditPoints="1"/>
                </p:cNvSpPr>
                <p:nvPr/>
              </p:nvSpPr>
              <p:spPr bwMode="auto">
                <a:xfrm>
                  <a:off x="4567" y="2411"/>
                  <a:ext cx="12" cy="24"/>
                </a:xfrm>
                <a:custGeom>
                  <a:avLst/>
                  <a:gdLst>
                    <a:gd name="T0" fmla="*/ 6 w 12"/>
                    <a:gd name="T1" fmla="*/ 0 h 24"/>
                    <a:gd name="T2" fmla="*/ 6 w 12"/>
                    <a:gd name="T3" fmla="*/ 0 h 24"/>
                    <a:gd name="T4" fmla="*/ 0 w 12"/>
                    <a:gd name="T5" fmla="*/ 6 h 24"/>
                    <a:gd name="T6" fmla="*/ 6 w 12"/>
                    <a:gd name="T7" fmla="*/ 24 h 24"/>
                    <a:gd name="T8" fmla="*/ 12 w 12"/>
                    <a:gd name="T9" fmla="*/ 24 h 24"/>
                    <a:gd name="T10" fmla="*/ 12 w 12"/>
                    <a:gd name="T11" fmla="*/ 24 h 24"/>
                    <a:gd name="T12" fmla="*/ 6 w 12"/>
                    <a:gd name="T13" fmla="*/ 0 h 24"/>
                    <a:gd name="T14" fmla="*/ 12 w 12"/>
                    <a:gd name="T15" fmla="*/ 0 h 24"/>
                    <a:gd name="T16" fmla="*/ 6 w 12"/>
                    <a:gd name="T17" fmla="*/ 0 h 24"/>
                    <a:gd name="T18" fmla="*/ 6 w 12"/>
                    <a:gd name="T19" fmla="*/ 0 h 24"/>
                    <a:gd name="T20" fmla="*/ 12 w 12"/>
                    <a:gd name="T21" fmla="*/ 12 h 24"/>
                    <a:gd name="T22" fmla="*/ 12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6" y="0"/>
                      </a:moveTo>
                      <a:lnTo>
                        <a:pt x="6" y="0"/>
                      </a:lnTo>
                      <a:lnTo>
                        <a:pt x="0" y="6"/>
                      </a:lnTo>
                      <a:lnTo>
                        <a:pt x="6" y="24"/>
                      </a:lnTo>
                      <a:lnTo>
                        <a:pt x="12" y="24"/>
                      </a:lnTo>
                      <a:lnTo>
                        <a:pt x="12" y="24"/>
                      </a:lnTo>
                      <a:lnTo>
                        <a:pt x="6" y="0"/>
                      </a:lnTo>
                      <a:close/>
                      <a:moveTo>
                        <a:pt x="12" y="0"/>
                      </a:moveTo>
                      <a:lnTo>
                        <a:pt x="6" y="0"/>
                      </a:lnTo>
                      <a:lnTo>
                        <a:pt x="6" y="0"/>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180" name="Freeform 107"/>
                <p:cNvSpPr>
                  <a:spLocks noEditPoints="1"/>
                </p:cNvSpPr>
                <p:nvPr/>
              </p:nvSpPr>
              <p:spPr bwMode="auto">
                <a:xfrm>
                  <a:off x="4561" y="2411"/>
                  <a:ext cx="12" cy="24"/>
                </a:xfrm>
                <a:custGeom>
                  <a:avLst/>
                  <a:gdLst>
                    <a:gd name="T0" fmla="*/ 12 w 12"/>
                    <a:gd name="T1" fmla="*/ 0 h 24"/>
                    <a:gd name="T2" fmla="*/ 6 w 12"/>
                    <a:gd name="T3" fmla="*/ 0 h 24"/>
                    <a:gd name="T4" fmla="*/ 0 w 12"/>
                    <a:gd name="T5" fmla="*/ 0 h 24"/>
                    <a:gd name="T6" fmla="*/ 0 w 12"/>
                    <a:gd name="T7" fmla="*/ 24 h 24"/>
                    <a:gd name="T8" fmla="*/ 0 w 12"/>
                    <a:gd name="T9" fmla="*/ 24 h 24"/>
                    <a:gd name="T10" fmla="*/ 6 w 12"/>
                    <a:gd name="T11" fmla="*/ 24 h 24"/>
                    <a:gd name="T12" fmla="*/ 12 w 12"/>
                    <a:gd name="T13" fmla="*/ 24 h 24"/>
                    <a:gd name="T14" fmla="*/ 12 w 12"/>
                    <a:gd name="T15" fmla="*/ 24 h 24"/>
                    <a:gd name="T16" fmla="*/ 12 w 12"/>
                    <a:gd name="T17" fmla="*/ 0 h 24"/>
                    <a:gd name="T18" fmla="*/ 12 w 12"/>
                    <a:gd name="T19" fmla="*/ 24 h 24"/>
                    <a:gd name="T20" fmla="*/ 12 w 12"/>
                    <a:gd name="T21" fmla="*/ 24 h 24"/>
                    <a:gd name="T22" fmla="*/ 12 w 12"/>
                    <a:gd name="T23" fmla="*/ 24 h 24"/>
                    <a:gd name="T24" fmla="*/ 12 w 12"/>
                    <a:gd name="T25" fmla="*/ 12 h 24"/>
                    <a:gd name="T26" fmla="*/ 12 w 12"/>
                    <a:gd name="T2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 h="24">
                      <a:moveTo>
                        <a:pt x="12" y="0"/>
                      </a:moveTo>
                      <a:lnTo>
                        <a:pt x="6" y="0"/>
                      </a:lnTo>
                      <a:lnTo>
                        <a:pt x="0" y="0"/>
                      </a:lnTo>
                      <a:lnTo>
                        <a:pt x="0" y="24"/>
                      </a:lnTo>
                      <a:lnTo>
                        <a:pt x="0" y="24"/>
                      </a:lnTo>
                      <a:lnTo>
                        <a:pt x="6" y="24"/>
                      </a:lnTo>
                      <a:lnTo>
                        <a:pt x="12" y="24"/>
                      </a:lnTo>
                      <a:lnTo>
                        <a:pt x="12" y="24"/>
                      </a:lnTo>
                      <a:lnTo>
                        <a:pt x="12" y="0"/>
                      </a:lnTo>
                      <a:close/>
                      <a:moveTo>
                        <a:pt x="12" y="24"/>
                      </a:moveTo>
                      <a:lnTo>
                        <a:pt x="12" y="24"/>
                      </a:lnTo>
                      <a:lnTo>
                        <a:pt x="12" y="24"/>
                      </a:lnTo>
                      <a:lnTo>
                        <a:pt x="12" y="12"/>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181" name="Freeform 108"/>
                <p:cNvSpPr>
                  <a:spLocks noEditPoints="1"/>
                </p:cNvSpPr>
                <p:nvPr/>
              </p:nvSpPr>
              <p:spPr bwMode="auto">
                <a:xfrm>
                  <a:off x="4549" y="2411"/>
                  <a:ext cx="24" cy="24"/>
                </a:xfrm>
                <a:custGeom>
                  <a:avLst/>
                  <a:gdLst>
                    <a:gd name="T0" fmla="*/ 0 w 24"/>
                    <a:gd name="T1" fmla="*/ 6 h 24"/>
                    <a:gd name="T2" fmla="*/ 0 w 24"/>
                    <a:gd name="T3" fmla="*/ 12 h 24"/>
                    <a:gd name="T4" fmla="*/ 18 w 24"/>
                    <a:gd name="T5" fmla="*/ 24 h 24"/>
                    <a:gd name="T6" fmla="*/ 24 w 24"/>
                    <a:gd name="T7" fmla="*/ 18 h 24"/>
                    <a:gd name="T8" fmla="*/ 0 w 24"/>
                    <a:gd name="T9" fmla="*/ 6 h 24"/>
                    <a:gd name="T10" fmla="*/ 12 w 24"/>
                    <a:gd name="T11" fmla="*/ 0 h 24"/>
                    <a:gd name="T12" fmla="*/ 6 w 24"/>
                    <a:gd name="T13" fmla="*/ 0 h 24"/>
                    <a:gd name="T14" fmla="*/ 0 w 24"/>
                    <a:gd name="T15" fmla="*/ 6 h 24"/>
                    <a:gd name="T16" fmla="*/ 12 w 24"/>
                    <a:gd name="T17" fmla="*/ 12 h 24"/>
                    <a:gd name="T18" fmla="*/ 12 w 24"/>
                    <a:gd name="T19"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6"/>
                      </a:moveTo>
                      <a:lnTo>
                        <a:pt x="0" y="12"/>
                      </a:lnTo>
                      <a:lnTo>
                        <a:pt x="18" y="24"/>
                      </a:lnTo>
                      <a:lnTo>
                        <a:pt x="24" y="18"/>
                      </a:lnTo>
                      <a:lnTo>
                        <a:pt x="0" y="6"/>
                      </a:lnTo>
                      <a:close/>
                      <a:moveTo>
                        <a:pt x="12" y="0"/>
                      </a:moveTo>
                      <a:lnTo>
                        <a:pt x="6" y="0"/>
                      </a:lnTo>
                      <a:lnTo>
                        <a:pt x="0" y="6"/>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182" name="Freeform 109"/>
                <p:cNvSpPr>
                  <a:spLocks/>
                </p:cNvSpPr>
                <p:nvPr/>
              </p:nvSpPr>
              <p:spPr bwMode="auto">
                <a:xfrm>
                  <a:off x="4537" y="2423"/>
                  <a:ext cx="18" cy="18"/>
                </a:xfrm>
                <a:custGeom>
                  <a:avLst/>
                  <a:gdLst>
                    <a:gd name="T0" fmla="*/ 12 w 18"/>
                    <a:gd name="T1" fmla="*/ 0 h 18"/>
                    <a:gd name="T2" fmla="*/ 0 w 18"/>
                    <a:gd name="T3" fmla="*/ 18 h 18"/>
                    <a:gd name="T4" fmla="*/ 18 w 18"/>
                    <a:gd name="T5" fmla="*/ 18 h 18"/>
                    <a:gd name="T6" fmla="*/ 18 w 18"/>
                    <a:gd name="T7" fmla="*/ 6 h 18"/>
                    <a:gd name="T8" fmla="*/ 12 w 18"/>
                    <a:gd name="T9" fmla="*/ 0 h 18"/>
                  </a:gdLst>
                  <a:ahLst/>
                  <a:cxnLst>
                    <a:cxn ang="0">
                      <a:pos x="T0" y="T1"/>
                    </a:cxn>
                    <a:cxn ang="0">
                      <a:pos x="T2" y="T3"/>
                    </a:cxn>
                    <a:cxn ang="0">
                      <a:pos x="T4" y="T5"/>
                    </a:cxn>
                    <a:cxn ang="0">
                      <a:pos x="T6" y="T7"/>
                    </a:cxn>
                    <a:cxn ang="0">
                      <a:pos x="T8" y="T9"/>
                    </a:cxn>
                  </a:cxnLst>
                  <a:rect l="0" t="0" r="r" b="b"/>
                  <a:pathLst>
                    <a:path w="18" h="18">
                      <a:moveTo>
                        <a:pt x="12" y="0"/>
                      </a:moveTo>
                      <a:lnTo>
                        <a:pt x="0" y="18"/>
                      </a:lnTo>
                      <a:lnTo>
                        <a:pt x="18" y="18"/>
                      </a:lnTo>
                      <a:lnTo>
                        <a:pt x="18" y="6"/>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183" name="Freeform 110"/>
                <p:cNvSpPr>
                  <a:spLocks/>
                </p:cNvSpPr>
                <p:nvPr/>
              </p:nvSpPr>
              <p:spPr bwMode="auto">
                <a:xfrm>
                  <a:off x="4525" y="2429"/>
                  <a:ext cx="18" cy="30"/>
                </a:xfrm>
                <a:custGeom>
                  <a:avLst/>
                  <a:gdLst>
                    <a:gd name="T0" fmla="*/ 12 w 18"/>
                    <a:gd name="T1" fmla="*/ 6 h 30"/>
                    <a:gd name="T2" fmla="*/ 6 w 18"/>
                    <a:gd name="T3" fmla="*/ 12 h 30"/>
                    <a:gd name="T4" fmla="*/ 6 w 18"/>
                    <a:gd name="T5" fmla="*/ 18 h 30"/>
                    <a:gd name="T6" fmla="*/ 6 w 18"/>
                    <a:gd name="T7" fmla="*/ 18 h 30"/>
                    <a:gd name="T8" fmla="*/ 6 w 18"/>
                    <a:gd name="T9" fmla="*/ 24 h 30"/>
                    <a:gd name="T10" fmla="*/ 6 w 18"/>
                    <a:gd name="T11" fmla="*/ 24 h 30"/>
                    <a:gd name="T12" fmla="*/ 6 w 18"/>
                    <a:gd name="T13" fmla="*/ 30 h 30"/>
                    <a:gd name="T14" fmla="*/ 0 w 18"/>
                    <a:gd name="T15" fmla="*/ 30 h 30"/>
                    <a:gd name="T16" fmla="*/ 0 w 18"/>
                    <a:gd name="T17" fmla="*/ 30 h 30"/>
                    <a:gd name="T18" fmla="*/ 0 w 18"/>
                    <a:gd name="T19" fmla="*/ 24 h 30"/>
                    <a:gd name="T20" fmla="*/ 6 w 18"/>
                    <a:gd name="T21" fmla="*/ 24 h 30"/>
                    <a:gd name="T22" fmla="*/ 6 w 18"/>
                    <a:gd name="T23" fmla="*/ 18 h 30"/>
                    <a:gd name="T24" fmla="*/ 6 w 18"/>
                    <a:gd name="T25" fmla="*/ 18 h 30"/>
                    <a:gd name="T26" fmla="*/ 6 w 18"/>
                    <a:gd name="T27" fmla="*/ 12 h 30"/>
                    <a:gd name="T28" fmla="*/ 6 w 18"/>
                    <a:gd name="T29" fmla="*/ 12 h 30"/>
                    <a:gd name="T30" fmla="*/ 6 w 18"/>
                    <a:gd name="T31" fmla="*/ 6 h 30"/>
                    <a:gd name="T32" fmla="*/ 12 w 18"/>
                    <a:gd name="T33" fmla="*/ 6 h 30"/>
                    <a:gd name="T34" fmla="*/ 18 w 18"/>
                    <a:gd name="T35" fmla="*/ 0 h 30"/>
                    <a:gd name="T36" fmla="*/ 12 w 18"/>
                    <a:gd name="T37" fmla="*/ 6 h 30"/>
                    <a:gd name="T38" fmla="*/ 12 w 18"/>
                    <a:gd name="T39"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30">
                      <a:moveTo>
                        <a:pt x="12" y="6"/>
                      </a:moveTo>
                      <a:lnTo>
                        <a:pt x="6" y="12"/>
                      </a:lnTo>
                      <a:lnTo>
                        <a:pt x="6" y="18"/>
                      </a:lnTo>
                      <a:lnTo>
                        <a:pt x="6" y="18"/>
                      </a:lnTo>
                      <a:lnTo>
                        <a:pt x="6" y="24"/>
                      </a:lnTo>
                      <a:lnTo>
                        <a:pt x="6" y="24"/>
                      </a:lnTo>
                      <a:lnTo>
                        <a:pt x="6" y="30"/>
                      </a:lnTo>
                      <a:lnTo>
                        <a:pt x="0" y="30"/>
                      </a:lnTo>
                      <a:lnTo>
                        <a:pt x="0" y="30"/>
                      </a:lnTo>
                      <a:lnTo>
                        <a:pt x="0" y="24"/>
                      </a:lnTo>
                      <a:lnTo>
                        <a:pt x="6" y="24"/>
                      </a:lnTo>
                      <a:lnTo>
                        <a:pt x="6" y="18"/>
                      </a:lnTo>
                      <a:lnTo>
                        <a:pt x="6" y="18"/>
                      </a:lnTo>
                      <a:lnTo>
                        <a:pt x="6" y="12"/>
                      </a:lnTo>
                      <a:lnTo>
                        <a:pt x="6" y="12"/>
                      </a:lnTo>
                      <a:lnTo>
                        <a:pt x="6" y="6"/>
                      </a:lnTo>
                      <a:lnTo>
                        <a:pt x="12" y="6"/>
                      </a:lnTo>
                      <a:lnTo>
                        <a:pt x="18" y="0"/>
                      </a:lnTo>
                      <a:lnTo>
                        <a:pt x="12" y="6"/>
                      </a:lnTo>
                      <a:lnTo>
                        <a:pt x="12" y="6"/>
                      </a:lnTo>
                      <a:close/>
                    </a:path>
                  </a:pathLst>
                </a:custGeom>
                <a:solidFill>
                  <a:srgbClr val="00FF00"/>
                </a:solidFill>
                <a:ln w="9525">
                  <a:solidFill>
                    <a:srgbClr val="00FF00"/>
                  </a:solidFill>
                  <a:round/>
                  <a:headEnd/>
                  <a:tailEnd/>
                </a:ln>
              </p:spPr>
              <p:txBody>
                <a:bodyPr/>
                <a:lstStyle/>
                <a:p>
                  <a:endParaRPr lang="zh-CN" altLang="en-US"/>
                </a:p>
              </p:txBody>
            </p:sp>
            <p:sp>
              <p:nvSpPr>
                <p:cNvPr id="184" name="Freeform 111"/>
                <p:cNvSpPr>
                  <a:spLocks/>
                </p:cNvSpPr>
                <p:nvPr/>
              </p:nvSpPr>
              <p:spPr bwMode="auto">
                <a:xfrm>
                  <a:off x="4525" y="2423"/>
                  <a:ext cx="18" cy="30"/>
                </a:xfrm>
                <a:custGeom>
                  <a:avLst/>
                  <a:gdLst>
                    <a:gd name="T0" fmla="*/ 6 w 18"/>
                    <a:gd name="T1" fmla="*/ 0 h 30"/>
                    <a:gd name="T2" fmla="*/ 0 w 18"/>
                    <a:gd name="T3" fmla="*/ 6 h 30"/>
                    <a:gd name="T4" fmla="*/ 12 w 18"/>
                    <a:gd name="T5" fmla="*/ 30 h 30"/>
                    <a:gd name="T6" fmla="*/ 18 w 18"/>
                    <a:gd name="T7" fmla="*/ 24 h 30"/>
                    <a:gd name="T8" fmla="*/ 6 w 18"/>
                    <a:gd name="T9" fmla="*/ 0 h 30"/>
                  </a:gdLst>
                  <a:ahLst/>
                  <a:cxnLst>
                    <a:cxn ang="0">
                      <a:pos x="T0" y="T1"/>
                    </a:cxn>
                    <a:cxn ang="0">
                      <a:pos x="T2" y="T3"/>
                    </a:cxn>
                    <a:cxn ang="0">
                      <a:pos x="T4" y="T5"/>
                    </a:cxn>
                    <a:cxn ang="0">
                      <a:pos x="T6" y="T7"/>
                    </a:cxn>
                    <a:cxn ang="0">
                      <a:pos x="T8" y="T9"/>
                    </a:cxn>
                  </a:cxnLst>
                  <a:rect l="0" t="0" r="r" b="b"/>
                  <a:pathLst>
                    <a:path w="18" h="30">
                      <a:moveTo>
                        <a:pt x="6" y="0"/>
                      </a:moveTo>
                      <a:lnTo>
                        <a:pt x="0" y="6"/>
                      </a:lnTo>
                      <a:lnTo>
                        <a:pt x="12" y="30"/>
                      </a:lnTo>
                      <a:lnTo>
                        <a:pt x="18" y="24"/>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185" name="Freeform 112"/>
                <p:cNvSpPr>
                  <a:spLocks noEditPoints="1"/>
                </p:cNvSpPr>
                <p:nvPr/>
              </p:nvSpPr>
              <p:spPr bwMode="auto">
                <a:xfrm>
                  <a:off x="4519" y="2429"/>
                  <a:ext cx="30" cy="30"/>
                </a:xfrm>
                <a:custGeom>
                  <a:avLst/>
                  <a:gdLst>
                    <a:gd name="T0" fmla="*/ 0 w 30"/>
                    <a:gd name="T1" fmla="*/ 12 h 30"/>
                    <a:gd name="T2" fmla="*/ 0 w 30"/>
                    <a:gd name="T3" fmla="*/ 12 h 30"/>
                    <a:gd name="T4" fmla="*/ 0 w 30"/>
                    <a:gd name="T5" fmla="*/ 12 h 30"/>
                    <a:gd name="T6" fmla="*/ 6 w 30"/>
                    <a:gd name="T7" fmla="*/ 12 h 30"/>
                    <a:gd name="T8" fmla="*/ 12 w 30"/>
                    <a:gd name="T9" fmla="*/ 6 h 30"/>
                    <a:gd name="T10" fmla="*/ 18 w 30"/>
                    <a:gd name="T11" fmla="*/ 30 h 30"/>
                    <a:gd name="T12" fmla="*/ 24 w 30"/>
                    <a:gd name="T13" fmla="*/ 18 h 30"/>
                    <a:gd name="T14" fmla="*/ 30 w 30"/>
                    <a:gd name="T15" fmla="*/ 12 h 30"/>
                    <a:gd name="T16" fmla="*/ 24 w 30"/>
                    <a:gd name="T17" fmla="*/ 6 h 30"/>
                    <a:gd name="T18" fmla="*/ 0 w 30"/>
                    <a:gd name="T19" fmla="*/ 12 h 30"/>
                    <a:gd name="T20" fmla="*/ 6 w 30"/>
                    <a:gd name="T21" fmla="*/ 0 h 30"/>
                    <a:gd name="T22" fmla="*/ 0 w 30"/>
                    <a:gd name="T23" fmla="*/ 6 h 30"/>
                    <a:gd name="T24" fmla="*/ 0 w 30"/>
                    <a:gd name="T25" fmla="*/ 12 h 30"/>
                    <a:gd name="T26" fmla="*/ 12 w 30"/>
                    <a:gd name="T27" fmla="*/ 12 h 30"/>
                    <a:gd name="T28" fmla="*/ 6 w 30"/>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30">
                      <a:moveTo>
                        <a:pt x="0" y="12"/>
                      </a:moveTo>
                      <a:lnTo>
                        <a:pt x="0" y="12"/>
                      </a:lnTo>
                      <a:lnTo>
                        <a:pt x="0" y="12"/>
                      </a:lnTo>
                      <a:lnTo>
                        <a:pt x="6" y="12"/>
                      </a:lnTo>
                      <a:lnTo>
                        <a:pt x="12" y="6"/>
                      </a:lnTo>
                      <a:lnTo>
                        <a:pt x="18" y="30"/>
                      </a:lnTo>
                      <a:lnTo>
                        <a:pt x="24" y="18"/>
                      </a:lnTo>
                      <a:lnTo>
                        <a:pt x="30" y="12"/>
                      </a:lnTo>
                      <a:lnTo>
                        <a:pt x="24" y="6"/>
                      </a:lnTo>
                      <a:lnTo>
                        <a:pt x="0" y="12"/>
                      </a:lnTo>
                      <a:close/>
                      <a:moveTo>
                        <a:pt x="6" y="0"/>
                      </a:moveTo>
                      <a:lnTo>
                        <a:pt x="0" y="6"/>
                      </a:lnTo>
                      <a:lnTo>
                        <a:pt x="0" y="12"/>
                      </a:lnTo>
                      <a:lnTo>
                        <a:pt x="12"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186" name="Freeform 113"/>
                <p:cNvSpPr>
                  <a:spLocks noEditPoints="1"/>
                </p:cNvSpPr>
                <p:nvPr/>
              </p:nvSpPr>
              <p:spPr bwMode="auto">
                <a:xfrm>
                  <a:off x="4519" y="2435"/>
                  <a:ext cx="24" cy="30"/>
                </a:xfrm>
                <a:custGeom>
                  <a:avLst/>
                  <a:gdLst>
                    <a:gd name="T0" fmla="*/ 0 w 24"/>
                    <a:gd name="T1" fmla="*/ 12 h 30"/>
                    <a:gd name="T2" fmla="*/ 0 w 24"/>
                    <a:gd name="T3" fmla="*/ 12 h 30"/>
                    <a:gd name="T4" fmla="*/ 0 w 24"/>
                    <a:gd name="T5" fmla="*/ 12 h 30"/>
                    <a:gd name="T6" fmla="*/ 0 w 24"/>
                    <a:gd name="T7" fmla="*/ 12 h 30"/>
                    <a:gd name="T8" fmla="*/ 0 w 24"/>
                    <a:gd name="T9" fmla="*/ 12 h 30"/>
                    <a:gd name="T10" fmla="*/ 0 w 24"/>
                    <a:gd name="T11" fmla="*/ 12 h 30"/>
                    <a:gd name="T12" fmla="*/ 6 w 24"/>
                    <a:gd name="T13" fmla="*/ 30 h 30"/>
                    <a:gd name="T14" fmla="*/ 18 w 24"/>
                    <a:gd name="T15" fmla="*/ 24 h 30"/>
                    <a:gd name="T16" fmla="*/ 24 w 24"/>
                    <a:gd name="T17" fmla="*/ 18 h 30"/>
                    <a:gd name="T18" fmla="*/ 24 w 24"/>
                    <a:gd name="T19" fmla="*/ 18 h 30"/>
                    <a:gd name="T20" fmla="*/ 24 w 24"/>
                    <a:gd name="T21" fmla="*/ 12 h 30"/>
                    <a:gd name="T22" fmla="*/ 0 w 24"/>
                    <a:gd name="T23" fmla="*/ 12 h 30"/>
                    <a:gd name="T24" fmla="*/ 12 w 24"/>
                    <a:gd name="T25" fmla="*/ 0 h 30"/>
                    <a:gd name="T26" fmla="*/ 0 w 24"/>
                    <a:gd name="T27" fmla="*/ 0 h 30"/>
                    <a:gd name="T28" fmla="*/ 0 w 24"/>
                    <a:gd name="T29" fmla="*/ 12 h 30"/>
                    <a:gd name="T30" fmla="*/ 12 w 24"/>
                    <a:gd name="T31" fmla="*/ 12 h 30"/>
                    <a:gd name="T32" fmla="*/ 12 w 24"/>
                    <a:gd name="T3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30">
                      <a:moveTo>
                        <a:pt x="0" y="12"/>
                      </a:moveTo>
                      <a:lnTo>
                        <a:pt x="0" y="12"/>
                      </a:lnTo>
                      <a:lnTo>
                        <a:pt x="0" y="12"/>
                      </a:lnTo>
                      <a:lnTo>
                        <a:pt x="0" y="12"/>
                      </a:lnTo>
                      <a:lnTo>
                        <a:pt x="0" y="12"/>
                      </a:lnTo>
                      <a:lnTo>
                        <a:pt x="0" y="12"/>
                      </a:lnTo>
                      <a:lnTo>
                        <a:pt x="6" y="30"/>
                      </a:lnTo>
                      <a:lnTo>
                        <a:pt x="18" y="24"/>
                      </a:lnTo>
                      <a:lnTo>
                        <a:pt x="24" y="18"/>
                      </a:lnTo>
                      <a:lnTo>
                        <a:pt x="24" y="18"/>
                      </a:lnTo>
                      <a:lnTo>
                        <a:pt x="24" y="12"/>
                      </a:lnTo>
                      <a:lnTo>
                        <a:pt x="0" y="12"/>
                      </a:lnTo>
                      <a:close/>
                      <a:moveTo>
                        <a:pt x="12" y="0"/>
                      </a:moveTo>
                      <a:lnTo>
                        <a:pt x="0" y="0"/>
                      </a:lnTo>
                      <a:lnTo>
                        <a:pt x="0" y="12"/>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187" name="Freeform 114"/>
                <p:cNvSpPr>
                  <a:spLocks noEditPoints="1"/>
                </p:cNvSpPr>
                <p:nvPr/>
              </p:nvSpPr>
              <p:spPr bwMode="auto">
                <a:xfrm>
                  <a:off x="4513" y="2441"/>
                  <a:ext cx="24" cy="24"/>
                </a:xfrm>
                <a:custGeom>
                  <a:avLst/>
                  <a:gdLst>
                    <a:gd name="T0" fmla="*/ 6 w 24"/>
                    <a:gd name="T1" fmla="*/ 6 h 24"/>
                    <a:gd name="T2" fmla="*/ 6 w 24"/>
                    <a:gd name="T3" fmla="*/ 12 h 24"/>
                    <a:gd name="T4" fmla="*/ 0 w 24"/>
                    <a:gd name="T5" fmla="*/ 12 h 24"/>
                    <a:gd name="T6" fmla="*/ 24 w 24"/>
                    <a:gd name="T7" fmla="*/ 24 h 24"/>
                    <a:gd name="T8" fmla="*/ 24 w 24"/>
                    <a:gd name="T9" fmla="*/ 24 h 24"/>
                    <a:gd name="T10" fmla="*/ 24 w 24"/>
                    <a:gd name="T11" fmla="*/ 18 h 24"/>
                    <a:gd name="T12" fmla="*/ 6 w 24"/>
                    <a:gd name="T13" fmla="*/ 6 h 24"/>
                    <a:gd name="T14" fmla="*/ 24 w 24"/>
                    <a:gd name="T15" fmla="*/ 0 h 24"/>
                    <a:gd name="T16" fmla="*/ 12 w 24"/>
                    <a:gd name="T17" fmla="*/ 0 h 24"/>
                    <a:gd name="T18" fmla="*/ 6 w 24"/>
                    <a:gd name="T19" fmla="*/ 6 h 24"/>
                    <a:gd name="T20" fmla="*/ 18 w 24"/>
                    <a:gd name="T21" fmla="*/ 12 h 24"/>
                    <a:gd name="T22" fmla="*/ 24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6" y="6"/>
                      </a:moveTo>
                      <a:lnTo>
                        <a:pt x="6" y="12"/>
                      </a:lnTo>
                      <a:lnTo>
                        <a:pt x="0" y="12"/>
                      </a:lnTo>
                      <a:lnTo>
                        <a:pt x="24" y="24"/>
                      </a:lnTo>
                      <a:lnTo>
                        <a:pt x="24" y="24"/>
                      </a:lnTo>
                      <a:lnTo>
                        <a:pt x="24" y="18"/>
                      </a:lnTo>
                      <a:lnTo>
                        <a:pt x="6" y="6"/>
                      </a:lnTo>
                      <a:close/>
                      <a:moveTo>
                        <a:pt x="24" y="0"/>
                      </a:moveTo>
                      <a:lnTo>
                        <a:pt x="12" y="0"/>
                      </a:lnTo>
                      <a:lnTo>
                        <a:pt x="6" y="6"/>
                      </a:lnTo>
                      <a:lnTo>
                        <a:pt x="18" y="12"/>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188" name="Freeform 115"/>
                <p:cNvSpPr>
                  <a:spLocks noEditPoints="1"/>
                </p:cNvSpPr>
                <p:nvPr/>
              </p:nvSpPr>
              <p:spPr bwMode="auto">
                <a:xfrm>
                  <a:off x="4513" y="2447"/>
                  <a:ext cx="24" cy="18"/>
                </a:xfrm>
                <a:custGeom>
                  <a:avLst/>
                  <a:gdLst>
                    <a:gd name="T0" fmla="*/ 24 w 24"/>
                    <a:gd name="T1" fmla="*/ 12 h 18"/>
                    <a:gd name="T2" fmla="*/ 24 w 24"/>
                    <a:gd name="T3" fmla="*/ 12 h 18"/>
                    <a:gd name="T4" fmla="*/ 24 w 24"/>
                    <a:gd name="T5" fmla="*/ 12 h 18"/>
                    <a:gd name="T6" fmla="*/ 6 w 24"/>
                    <a:gd name="T7" fmla="*/ 0 h 18"/>
                    <a:gd name="T8" fmla="*/ 0 w 24"/>
                    <a:gd name="T9" fmla="*/ 6 h 18"/>
                    <a:gd name="T10" fmla="*/ 0 w 24"/>
                    <a:gd name="T11" fmla="*/ 12 h 18"/>
                    <a:gd name="T12" fmla="*/ 24 w 24"/>
                    <a:gd name="T13" fmla="*/ 12 h 18"/>
                    <a:gd name="T14" fmla="*/ 0 w 24"/>
                    <a:gd name="T15" fmla="*/ 6 h 18"/>
                    <a:gd name="T16" fmla="*/ 24 w 24"/>
                    <a:gd name="T17" fmla="*/ 12 h 18"/>
                    <a:gd name="T18" fmla="*/ 0 w 24"/>
                    <a:gd name="T19" fmla="*/ 12 h 18"/>
                    <a:gd name="T20" fmla="*/ 24 w 24"/>
                    <a:gd name="T21" fmla="*/ 18 h 18"/>
                    <a:gd name="T22" fmla="*/ 0 w 24"/>
                    <a:gd name="T23" fmla="*/ 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24" y="12"/>
                      </a:moveTo>
                      <a:lnTo>
                        <a:pt x="24" y="12"/>
                      </a:lnTo>
                      <a:lnTo>
                        <a:pt x="24" y="12"/>
                      </a:lnTo>
                      <a:lnTo>
                        <a:pt x="6" y="0"/>
                      </a:lnTo>
                      <a:lnTo>
                        <a:pt x="0" y="6"/>
                      </a:lnTo>
                      <a:lnTo>
                        <a:pt x="0" y="12"/>
                      </a:lnTo>
                      <a:lnTo>
                        <a:pt x="24" y="12"/>
                      </a:lnTo>
                      <a:close/>
                      <a:moveTo>
                        <a:pt x="0" y="6"/>
                      </a:moveTo>
                      <a:lnTo>
                        <a:pt x="24" y="12"/>
                      </a:lnTo>
                      <a:lnTo>
                        <a:pt x="0" y="12"/>
                      </a:lnTo>
                      <a:lnTo>
                        <a:pt x="24" y="18"/>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189" name="Freeform 116"/>
                <p:cNvSpPr>
                  <a:spLocks noEditPoints="1"/>
                </p:cNvSpPr>
                <p:nvPr/>
              </p:nvSpPr>
              <p:spPr bwMode="auto">
                <a:xfrm>
                  <a:off x="4519" y="2441"/>
                  <a:ext cx="24" cy="24"/>
                </a:xfrm>
                <a:custGeom>
                  <a:avLst/>
                  <a:gdLst>
                    <a:gd name="T0" fmla="*/ 12 w 24"/>
                    <a:gd name="T1" fmla="*/ 24 h 24"/>
                    <a:gd name="T2" fmla="*/ 18 w 24"/>
                    <a:gd name="T3" fmla="*/ 18 h 24"/>
                    <a:gd name="T4" fmla="*/ 24 w 24"/>
                    <a:gd name="T5" fmla="*/ 6 h 24"/>
                    <a:gd name="T6" fmla="*/ 0 w 24"/>
                    <a:gd name="T7" fmla="*/ 6 h 24"/>
                    <a:gd name="T8" fmla="*/ 0 w 24"/>
                    <a:gd name="T9" fmla="*/ 6 h 24"/>
                    <a:gd name="T10" fmla="*/ 0 w 24"/>
                    <a:gd name="T11" fmla="*/ 0 h 24"/>
                    <a:gd name="T12" fmla="*/ 12 w 24"/>
                    <a:gd name="T13" fmla="*/ 24 h 24"/>
                    <a:gd name="T14" fmla="*/ 0 w 24"/>
                    <a:gd name="T15" fmla="*/ 0 h 24"/>
                    <a:gd name="T16" fmla="*/ 0 w 24"/>
                    <a:gd name="T17" fmla="*/ 6 h 24"/>
                    <a:gd name="T18" fmla="*/ 0 w 24"/>
                    <a:gd name="T19" fmla="*/ 6 h 24"/>
                    <a:gd name="T20" fmla="*/ 6 w 24"/>
                    <a:gd name="T21" fmla="*/ 12 h 24"/>
                    <a:gd name="T22" fmla="*/ 0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2" y="24"/>
                      </a:moveTo>
                      <a:lnTo>
                        <a:pt x="18" y="18"/>
                      </a:lnTo>
                      <a:lnTo>
                        <a:pt x="24" y="6"/>
                      </a:lnTo>
                      <a:lnTo>
                        <a:pt x="0" y="6"/>
                      </a:lnTo>
                      <a:lnTo>
                        <a:pt x="0" y="6"/>
                      </a:lnTo>
                      <a:lnTo>
                        <a:pt x="0" y="0"/>
                      </a:lnTo>
                      <a:lnTo>
                        <a:pt x="12" y="24"/>
                      </a:lnTo>
                      <a:close/>
                      <a:moveTo>
                        <a:pt x="0" y="0"/>
                      </a:moveTo>
                      <a:lnTo>
                        <a:pt x="0" y="6"/>
                      </a:lnTo>
                      <a:lnTo>
                        <a:pt x="0" y="6"/>
                      </a:lnTo>
                      <a:lnTo>
                        <a:pt x="6" y="12"/>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190" name="Freeform 117"/>
                <p:cNvSpPr>
                  <a:spLocks noEditPoints="1"/>
                </p:cNvSpPr>
                <p:nvPr/>
              </p:nvSpPr>
              <p:spPr bwMode="auto">
                <a:xfrm>
                  <a:off x="4519" y="2429"/>
                  <a:ext cx="24" cy="24"/>
                </a:xfrm>
                <a:custGeom>
                  <a:avLst/>
                  <a:gdLst>
                    <a:gd name="T0" fmla="*/ 24 w 24"/>
                    <a:gd name="T1" fmla="*/ 24 h 24"/>
                    <a:gd name="T2" fmla="*/ 24 w 24"/>
                    <a:gd name="T3" fmla="*/ 12 h 24"/>
                    <a:gd name="T4" fmla="*/ 24 w 24"/>
                    <a:gd name="T5" fmla="*/ 6 h 24"/>
                    <a:gd name="T6" fmla="*/ 18 w 24"/>
                    <a:gd name="T7" fmla="*/ 0 h 24"/>
                    <a:gd name="T8" fmla="*/ 0 w 24"/>
                    <a:gd name="T9" fmla="*/ 18 h 24"/>
                    <a:gd name="T10" fmla="*/ 0 w 24"/>
                    <a:gd name="T11" fmla="*/ 18 h 24"/>
                    <a:gd name="T12" fmla="*/ 0 w 24"/>
                    <a:gd name="T13" fmla="*/ 12 h 24"/>
                    <a:gd name="T14" fmla="*/ 24 w 24"/>
                    <a:gd name="T15" fmla="*/ 24 h 24"/>
                    <a:gd name="T16" fmla="*/ 0 w 24"/>
                    <a:gd name="T17" fmla="*/ 12 h 24"/>
                    <a:gd name="T18" fmla="*/ 0 w 24"/>
                    <a:gd name="T19" fmla="*/ 18 h 24"/>
                    <a:gd name="T20" fmla="*/ 0 w 24"/>
                    <a:gd name="T21" fmla="*/ 18 h 24"/>
                    <a:gd name="T22" fmla="*/ 12 w 24"/>
                    <a:gd name="T23" fmla="*/ 18 h 24"/>
                    <a:gd name="T24" fmla="*/ 0 w 24"/>
                    <a:gd name="T25"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24" y="24"/>
                      </a:moveTo>
                      <a:lnTo>
                        <a:pt x="24" y="12"/>
                      </a:lnTo>
                      <a:lnTo>
                        <a:pt x="24" y="6"/>
                      </a:lnTo>
                      <a:lnTo>
                        <a:pt x="18" y="0"/>
                      </a:lnTo>
                      <a:lnTo>
                        <a:pt x="0" y="18"/>
                      </a:lnTo>
                      <a:lnTo>
                        <a:pt x="0" y="18"/>
                      </a:lnTo>
                      <a:lnTo>
                        <a:pt x="0" y="12"/>
                      </a:lnTo>
                      <a:lnTo>
                        <a:pt x="24" y="24"/>
                      </a:lnTo>
                      <a:close/>
                      <a:moveTo>
                        <a:pt x="0" y="12"/>
                      </a:moveTo>
                      <a:lnTo>
                        <a:pt x="0" y="18"/>
                      </a:lnTo>
                      <a:lnTo>
                        <a:pt x="0" y="18"/>
                      </a:lnTo>
                      <a:lnTo>
                        <a:pt x="12" y="18"/>
                      </a:lnTo>
                      <a:lnTo>
                        <a:pt x="0" y="12"/>
                      </a:lnTo>
                      <a:close/>
                    </a:path>
                  </a:pathLst>
                </a:custGeom>
                <a:solidFill>
                  <a:srgbClr val="00FF00"/>
                </a:solidFill>
                <a:ln w="9525">
                  <a:solidFill>
                    <a:srgbClr val="00FF00"/>
                  </a:solidFill>
                  <a:round/>
                  <a:headEnd/>
                  <a:tailEnd/>
                </a:ln>
              </p:spPr>
              <p:txBody>
                <a:bodyPr/>
                <a:lstStyle/>
                <a:p>
                  <a:endParaRPr lang="zh-CN" altLang="en-US"/>
                </a:p>
              </p:txBody>
            </p:sp>
            <p:sp>
              <p:nvSpPr>
                <p:cNvPr id="191" name="Freeform 118"/>
                <p:cNvSpPr>
                  <a:spLocks noEditPoints="1"/>
                </p:cNvSpPr>
                <p:nvPr/>
              </p:nvSpPr>
              <p:spPr bwMode="auto">
                <a:xfrm>
                  <a:off x="4519" y="2423"/>
                  <a:ext cx="18" cy="24"/>
                </a:xfrm>
                <a:custGeom>
                  <a:avLst/>
                  <a:gdLst>
                    <a:gd name="T0" fmla="*/ 18 w 18"/>
                    <a:gd name="T1" fmla="*/ 6 h 24"/>
                    <a:gd name="T2" fmla="*/ 18 w 18"/>
                    <a:gd name="T3" fmla="*/ 6 h 24"/>
                    <a:gd name="T4" fmla="*/ 18 w 18"/>
                    <a:gd name="T5" fmla="*/ 12 h 24"/>
                    <a:gd name="T6" fmla="*/ 18 w 18"/>
                    <a:gd name="T7" fmla="*/ 18 h 24"/>
                    <a:gd name="T8" fmla="*/ 18 w 18"/>
                    <a:gd name="T9" fmla="*/ 18 h 24"/>
                    <a:gd name="T10" fmla="*/ 6 w 18"/>
                    <a:gd name="T11" fmla="*/ 0 h 24"/>
                    <a:gd name="T12" fmla="*/ 0 w 18"/>
                    <a:gd name="T13" fmla="*/ 6 h 24"/>
                    <a:gd name="T14" fmla="*/ 0 w 18"/>
                    <a:gd name="T15" fmla="*/ 12 h 24"/>
                    <a:gd name="T16" fmla="*/ 0 w 18"/>
                    <a:gd name="T17" fmla="*/ 18 h 24"/>
                    <a:gd name="T18" fmla="*/ 0 w 18"/>
                    <a:gd name="T19" fmla="*/ 24 h 24"/>
                    <a:gd name="T20" fmla="*/ 18 w 18"/>
                    <a:gd name="T21" fmla="*/ 6 h 24"/>
                    <a:gd name="T22" fmla="*/ 18 w 18"/>
                    <a:gd name="T23" fmla="*/ 6 h 24"/>
                    <a:gd name="T24" fmla="*/ 18 w 18"/>
                    <a:gd name="T25" fmla="*/ 6 h 24"/>
                    <a:gd name="T26" fmla="*/ 18 w 18"/>
                    <a:gd name="T27" fmla="*/ 6 h 24"/>
                    <a:gd name="T28" fmla="*/ 12 w 18"/>
                    <a:gd name="T29" fmla="*/ 18 h 24"/>
                    <a:gd name="T30" fmla="*/ 18 w 18"/>
                    <a:gd name="T31"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24">
                      <a:moveTo>
                        <a:pt x="18" y="6"/>
                      </a:moveTo>
                      <a:lnTo>
                        <a:pt x="18" y="6"/>
                      </a:lnTo>
                      <a:lnTo>
                        <a:pt x="18" y="12"/>
                      </a:lnTo>
                      <a:lnTo>
                        <a:pt x="18" y="18"/>
                      </a:lnTo>
                      <a:lnTo>
                        <a:pt x="18" y="18"/>
                      </a:lnTo>
                      <a:lnTo>
                        <a:pt x="6" y="0"/>
                      </a:lnTo>
                      <a:lnTo>
                        <a:pt x="0" y="6"/>
                      </a:lnTo>
                      <a:lnTo>
                        <a:pt x="0" y="12"/>
                      </a:lnTo>
                      <a:lnTo>
                        <a:pt x="0" y="18"/>
                      </a:lnTo>
                      <a:lnTo>
                        <a:pt x="0" y="24"/>
                      </a:lnTo>
                      <a:lnTo>
                        <a:pt x="18" y="6"/>
                      </a:lnTo>
                      <a:close/>
                      <a:moveTo>
                        <a:pt x="18" y="6"/>
                      </a:moveTo>
                      <a:lnTo>
                        <a:pt x="18" y="6"/>
                      </a:lnTo>
                      <a:lnTo>
                        <a:pt x="18" y="6"/>
                      </a:lnTo>
                      <a:lnTo>
                        <a:pt x="12" y="18"/>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192" name="Freeform 119"/>
                <p:cNvSpPr>
                  <a:spLocks noEditPoints="1"/>
                </p:cNvSpPr>
                <p:nvPr/>
              </p:nvSpPr>
              <p:spPr bwMode="auto">
                <a:xfrm>
                  <a:off x="4525" y="2417"/>
                  <a:ext cx="18" cy="24"/>
                </a:xfrm>
                <a:custGeom>
                  <a:avLst/>
                  <a:gdLst>
                    <a:gd name="T0" fmla="*/ 18 w 18"/>
                    <a:gd name="T1" fmla="*/ 24 h 24"/>
                    <a:gd name="T2" fmla="*/ 18 w 18"/>
                    <a:gd name="T3" fmla="*/ 24 h 24"/>
                    <a:gd name="T4" fmla="*/ 12 w 18"/>
                    <a:gd name="T5" fmla="*/ 24 h 24"/>
                    <a:gd name="T6" fmla="*/ 18 w 18"/>
                    <a:gd name="T7" fmla="*/ 0 h 24"/>
                    <a:gd name="T8" fmla="*/ 6 w 18"/>
                    <a:gd name="T9" fmla="*/ 6 h 24"/>
                    <a:gd name="T10" fmla="*/ 0 w 18"/>
                    <a:gd name="T11" fmla="*/ 6 h 24"/>
                    <a:gd name="T12" fmla="*/ 18 w 18"/>
                    <a:gd name="T13" fmla="*/ 24 h 24"/>
                    <a:gd name="T14" fmla="*/ 12 w 18"/>
                    <a:gd name="T15" fmla="*/ 24 h 24"/>
                    <a:gd name="T16" fmla="*/ 18 w 18"/>
                    <a:gd name="T17" fmla="*/ 24 h 24"/>
                    <a:gd name="T18" fmla="*/ 18 w 18"/>
                    <a:gd name="T19" fmla="*/ 24 h 24"/>
                    <a:gd name="T20" fmla="*/ 6 w 18"/>
                    <a:gd name="T21" fmla="*/ 18 h 24"/>
                    <a:gd name="T22" fmla="*/ 12 w 18"/>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18" y="24"/>
                      </a:moveTo>
                      <a:lnTo>
                        <a:pt x="18" y="24"/>
                      </a:lnTo>
                      <a:lnTo>
                        <a:pt x="12" y="24"/>
                      </a:lnTo>
                      <a:lnTo>
                        <a:pt x="18" y="0"/>
                      </a:lnTo>
                      <a:lnTo>
                        <a:pt x="6" y="6"/>
                      </a:lnTo>
                      <a:lnTo>
                        <a:pt x="0" y="6"/>
                      </a:lnTo>
                      <a:lnTo>
                        <a:pt x="18" y="24"/>
                      </a:lnTo>
                      <a:close/>
                      <a:moveTo>
                        <a:pt x="12" y="24"/>
                      </a:moveTo>
                      <a:lnTo>
                        <a:pt x="18" y="24"/>
                      </a:lnTo>
                      <a:lnTo>
                        <a:pt x="18" y="24"/>
                      </a:lnTo>
                      <a:lnTo>
                        <a:pt x="6" y="18"/>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193" name="Freeform 120"/>
                <p:cNvSpPr>
                  <a:spLocks noEditPoints="1"/>
                </p:cNvSpPr>
                <p:nvPr/>
              </p:nvSpPr>
              <p:spPr bwMode="auto">
                <a:xfrm>
                  <a:off x="4525" y="2417"/>
                  <a:ext cx="30" cy="18"/>
                </a:xfrm>
                <a:custGeom>
                  <a:avLst/>
                  <a:gdLst>
                    <a:gd name="T0" fmla="*/ 6 w 30"/>
                    <a:gd name="T1" fmla="*/ 12 h 18"/>
                    <a:gd name="T2" fmla="*/ 0 w 30"/>
                    <a:gd name="T3" fmla="*/ 18 h 18"/>
                    <a:gd name="T4" fmla="*/ 24 w 30"/>
                    <a:gd name="T5" fmla="*/ 18 h 18"/>
                    <a:gd name="T6" fmla="*/ 30 w 30"/>
                    <a:gd name="T7" fmla="*/ 18 h 18"/>
                    <a:gd name="T8" fmla="*/ 6 w 30"/>
                    <a:gd name="T9" fmla="*/ 12 h 18"/>
                    <a:gd name="T10" fmla="*/ 30 w 30"/>
                    <a:gd name="T11" fmla="*/ 18 h 18"/>
                    <a:gd name="T12" fmla="*/ 30 w 30"/>
                    <a:gd name="T13" fmla="*/ 6 h 18"/>
                    <a:gd name="T14" fmla="*/ 18 w 30"/>
                    <a:gd name="T15" fmla="*/ 0 h 18"/>
                    <a:gd name="T16" fmla="*/ 18 w 30"/>
                    <a:gd name="T17" fmla="*/ 12 h 18"/>
                    <a:gd name="T18" fmla="*/ 30 w 30"/>
                    <a:gd name="T19"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8">
                      <a:moveTo>
                        <a:pt x="6" y="12"/>
                      </a:moveTo>
                      <a:lnTo>
                        <a:pt x="0" y="18"/>
                      </a:lnTo>
                      <a:lnTo>
                        <a:pt x="24" y="18"/>
                      </a:lnTo>
                      <a:lnTo>
                        <a:pt x="30" y="18"/>
                      </a:lnTo>
                      <a:lnTo>
                        <a:pt x="6" y="12"/>
                      </a:lnTo>
                      <a:close/>
                      <a:moveTo>
                        <a:pt x="30" y="18"/>
                      </a:moveTo>
                      <a:lnTo>
                        <a:pt x="30" y="6"/>
                      </a:lnTo>
                      <a:lnTo>
                        <a:pt x="18" y="0"/>
                      </a:lnTo>
                      <a:lnTo>
                        <a:pt x="18" y="12"/>
                      </a:lnTo>
                      <a:lnTo>
                        <a:pt x="30" y="18"/>
                      </a:lnTo>
                      <a:close/>
                    </a:path>
                  </a:pathLst>
                </a:custGeom>
                <a:solidFill>
                  <a:srgbClr val="00FF00"/>
                </a:solidFill>
                <a:ln w="9525">
                  <a:solidFill>
                    <a:srgbClr val="00FF00"/>
                  </a:solidFill>
                  <a:round/>
                  <a:headEnd/>
                  <a:tailEnd/>
                </a:ln>
              </p:spPr>
              <p:txBody>
                <a:bodyPr/>
                <a:lstStyle/>
                <a:p>
                  <a:endParaRPr lang="zh-CN" altLang="en-US"/>
                </a:p>
              </p:txBody>
            </p:sp>
            <p:sp>
              <p:nvSpPr>
                <p:cNvPr id="194" name="Freeform 121"/>
                <p:cNvSpPr>
                  <a:spLocks/>
                </p:cNvSpPr>
                <p:nvPr/>
              </p:nvSpPr>
              <p:spPr bwMode="auto">
                <a:xfrm>
                  <a:off x="4537" y="2435"/>
                  <a:ext cx="12" cy="12"/>
                </a:xfrm>
                <a:custGeom>
                  <a:avLst/>
                  <a:gdLst>
                    <a:gd name="T0" fmla="*/ 6 w 12"/>
                    <a:gd name="T1" fmla="*/ 12 h 12"/>
                    <a:gd name="T2" fmla="*/ 12 w 12"/>
                    <a:gd name="T3" fmla="*/ 6 h 12"/>
                    <a:gd name="T4" fmla="*/ 12 w 12"/>
                    <a:gd name="T5" fmla="*/ 0 h 12"/>
                    <a:gd name="T6" fmla="*/ 0 w 12"/>
                    <a:gd name="T7" fmla="*/ 0 h 12"/>
                    <a:gd name="T8" fmla="*/ 6 w 12"/>
                    <a:gd name="T9" fmla="*/ 12 h 12"/>
                  </a:gdLst>
                  <a:ahLst/>
                  <a:cxnLst>
                    <a:cxn ang="0">
                      <a:pos x="T0" y="T1"/>
                    </a:cxn>
                    <a:cxn ang="0">
                      <a:pos x="T2" y="T3"/>
                    </a:cxn>
                    <a:cxn ang="0">
                      <a:pos x="T4" y="T5"/>
                    </a:cxn>
                    <a:cxn ang="0">
                      <a:pos x="T6" y="T7"/>
                    </a:cxn>
                    <a:cxn ang="0">
                      <a:pos x="T8" y="T9"/>
                    </a:cxn>
                  </a:cxnLst>
                  <a:rect l="0" t="0" r="r" b="b"/>
                  <a:pathLst>
                    <a:path w="12" h="12">
                      <a:moveTo>
                        <a:pt x="6" y="12"/>
                      </a:moveTo>
                      <a:lnTo>
                        <a:pt x="12" y="6"/>
                      </a:lnTo>
                      <a:lnTo>
                        <a:pt x="12" y="0"/>
                      </a:lnTo>
                      <a:lnTo>
                        <a:pt x="0" y="0"/>
                      </a:lnTo>
                      <a:lnTo>
                        <a:pt x="6" y="12"/>
                      </a:lnTo>
                      <a:close/>
                    </a:path>
                  </a:pathLst>
                </a:custGeom>
                <a:solidFill>
                  <a:srgbClr val="00FF00"/>
                </a:solidFill>
                <a:ln w="9525">
                  <a:solidFill>
                    <a:srgbClr val="00FF00"/>
                  </a:solidFill>
                  <a:round/>
                  <a:headEnd/>
                  <a:tailEnd/>
                </a:ln>
              </p:spPr>
              <p:txBody>
                <a:bodyPr/>
                <a:lstStyle/>
                <a:p>
                  <a:endParaRPr lang="zh-CN" altLang="en-US"/>
                </a:p>
              </p:txBody>
            </p:sp>
            <p:sp>
              <p:nvSpPr>
                <p:cNvPr id="195" name="Freeform 122"/>
                <p:cNvSpPr>
                  <a:spLocks/>
                </p:cNvSpPr>
                <p:nvPr/>
              </p:nvSpPr>
              <p:spPr bwMode="auto">
                <a:xfrm>
                  <a:off x="4537" y="2370"/>
                  <a:ext cx="30" cy="77"/>
                </a:xfrm>
                <a:custGeom>
                  <a:avLst/>
                  <a:gdLst>
                    <a:gd name="T0" fmla="*/ 12 w 30"/>
                    <a:gd name="T1" fmla="*/ 0 h 77"/>
                    <a:gd name="T2" fmla="*/ 6 w 30"/>
                    <a:gd name="T3" fmla="*/ 6 h 77"/>
                    <a:gd name="T4" fmla="*/ 6 w 30"/>
                    <a:gd name="T5" fmla="*/ 12 h 77"/>
                    <a:gd name="T6" fmla="*/ 0 w 30"/>
                    <a:gd name="T7" fmla="*/ 35 h 77"/>
                    <a:gd name="T8" fmla="*/ 6 w 30"/>
                    <a:gd name="T9" fmla="*/ 65 h 77"/>
                    <a:gd name="T10" fmla="*/ 6 w 30"/>
                    <a:gd name="T11" fmla="*/ 77 h 77"/>
                    <a:gd name="T12" fmla="*/ 12 w 30"/>
                    <a:gd name="T13" fmla="*/ 77 h 77"/>
                    <a:gd name="T14" fmla="*/ 18 w 30"/>
                    <a:gd name="T15" fmla="*/ 77 h 77"/>
                    <a:gd name="T16" fmla="*/ 24 w 30"/>
                    <a:gd name="T17" fmla="*/ 65 h 77"/>
                    <a:gd name="T18" fmla="*/ 30 w 30"/>
                    <a:gd name="T19" fmla="*/ 35 h 77"/>
                    <a:gd name="T20" fmla="*/ 24 w 30"/>
                    <a:gd name="T21" fmla="*/ 12 h 77"/>
                    <a:gd name="T22" fmla="*/ 18 w 30"/>
                    <a:gd name="T23" fmla="*/ 6 h 77"/>
                    <a:gd name="T24" fmla="*/ 12 w 30"/>
                    <a:gd name="T25" fmla="*/ 0 h 77"/>
                    <a:gd name="T26" fmla="*/ 12 w 30"/>
                    <a:gd name="T27"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77">
                      <a:moveTo>
                        <a:pt x="12" y="0"/>
                      </a:moveTo>
                      <a:lnTo>
                        <a:pt x="6" y="6"/>
                      </a:lnTo>
                      <a:lnTo>
                        <a:pt x="6" y="12"/>
                      </a:lnTo>
                      <a:lnTo>
                        <a:pt x="0" y="35"/>
                      </a:lnTo>
                      <a:lnTo>
                        <a:pt x="6" y="65"/>
                      </a:lnTo>
                      <a:lnTo>
                        <a:pt x="6" y="77"/>
                      </a:lnTo>
                      <a:lnTo>
                        <a:pt x="12" y="77"/>
                      </a:lnTo>
                      <a:lnTo>
                        <a:pt x="18" y="77"/>
                      </a:lnTo>
                      <a:lnTo>
                        <a:pt x="24" y="65"/>
                      </a:lnTo>
                      <a:lnTo>
                        <a:pt x="30" y="35"/>
                      </a:lnTo>
                      <a:lnTo>
                        <a:pt x="24" y="12"/>
                      </a:lnTo>
                      <a:lnTo>
                        <a:pt x="18" y="6"/>
                      </a:lnTo>
                      <a:lnTo>
                        <a:pt x="12" y="0"/>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196" name="Freeform 123"/>
                <p:cNvSpPr>
                  <a:spLocks/>
                </p:cNvSpPr>
                <p:nvPr/>
              </p:nvSpPr>
              <p:spPr bwMode="auto">
                <a:xfrm>
                  <a:off x="4525" y="2358"/>
                  <a:ext cx="30" cy="47"/>
                </a:xfrm>
                <a:custGeom>
                  <a:avLst/>
                  <a:gdLst>
                    <a:gd name="T0" fmla="*/ 24 w 30"/>
                    <a:gd name="T1" fmla="*/ 0 h 47"/>
                    <a:gd name="T2" fmla="*/ 12 w 30"/>
                    <a:gd name="T3" fmla="*/ 6 h 47"/>
                    <a:gd name="T4" fmla="*/ 6 w 30"/>
                    <a:gd name="T5" fmla="*/ 18 h 47"/>
                    <a:gd name="T6" fmla="*/ 0 w 30"/>
                    <a:gd name="T7" fmla="*/ 47 h 47"/>
                    <a:gd name="T8" fmla="*/ 24 w 30"/>
                    <a:gd name="T9" fmla="*/ 47 h 47"/>
                    <a:gd name="T10" fmla="*/ 24 w 30"/>
                    <a:gd name="T11" fmla="*/ 36 h 47"/>
                    <a:gd name="T12" fmla="*/ 24 w 30"/>
                    <a:gd name="T13" fmla="*/ 30 h 47"/>
                    <a:gd name="T14" fmla="*/ 30 w 30"/>
                    <a:gd name="T15" fmla="*/ 24 h 47"/>
                    <a:gd name="T16" fmla="*/ 24 w 30"/>
                    <a:gd name="T17" fmla="*/ 24 h 47"/>
                    <a:gd name="T18" fmla="*/ 24 w 30"/>
                    <a:gd name="T1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47">
                      <a:moveTo>
                        <a:pt x="24" y="0"/>
                      </a:moveTo>
                      <a:lnTo>
                        <a:pt x="12" y="6"/>
                      </a:lnTo>
                      <a:lnTo>
                        <a:pt x="6" y="18"/>
                      </a:lnTo>
                      <a:lnTo>
                        <a:pt x="0" y="47"/>
                      </a:lnTo>
                      <a:lnTo>
                        <a:pt x="24" y="47"/>
                      </a:lnTo>
                      <a:lnTo>
                        <a:pt x="24" y="36"/>
                      </a:lnTo>
                      <a:lnTo>
                        <a:pt x="24" y="30"/>
                      </a:lnTo>
                      <a:lnTo>
                        <a:pt x="30" y="24"/>
                      </a:lnTo>
                      <a:lnTo>
                        <a:pt x="24" y="24"/>
                      </a:lnTo>
                      <a:lnTo>
                        <a:pt x="24" y="0"/>
                      </a:lnTo>
                      <a:close/>
                    </a:path>
                  </a:pathLst>
                </a:custGeom>
                <a:solidFill>
                  <a:srgbClr val="00FF00"/>
                </a:solidFill>
                <a:ln w="9525">
                  <a:solidFill>
                    <a:srgbClr val="00FF00"/>
                  </a:solidFill>
                  <a:round/>
                  <a:headEnd/>
                  <a:tailEnd/>
                </a:ln>
              </p:spPr>
              <p:txBody>
                <a:bodyPr/>
                <a:lstStyle/>
                <a:p>
                  <a:endParaRPr lang="zh-CN" altLang="en-US"/>
                </a:p>
              </p:txBody>
            </p:sp>
          </p:grpSp>
          <p:sp>
            <p:nvSpPr>
              <p:cNvPr id="16" name="Freeform 124"/>
              <p:cNvSpPr>
                <a:spLocks noEditPoints="1"/>
              </p:cNvSpPr>
              <p:nvPr/>
            </p:nvSpPr>
            <p:spPr bwMode="auto">
              <a:xfrm>
                <a:off x="4524" y="2386"/>
                <a:ext cx="30" cy="54"/>
              </a:xfrm>
              <a:custGeom>
                <a:avLst/>
                <a:gdLst>
                  <a:gd name="T0" fmla="*/ 0 w 30"/>
                  <a:gd name="T1" fmla="*/ 0 h 54"/>
                  <a:gd name="T2" fmla="*/ 6 w 30"/>
                  <a:gd name="T3" fmla="*/ 36 h 54"/>
                  <a:gd name="T4" fmla="*/ 12 w 30"/>
                  <a:gd name="T5" fmla="*/ 48 h 54"/>
                  <a:gd name="T6" fmla="*/ 24 w 30"/>
                  <a:gd name="T7" fmla="*/ 54 h 54"/>
                  <a:gd name="T8" fmla="*/ 24 w 30"/>
                  <a:gd name="T9" fmla="*/ 30 h 54"/>
                  <a:gd name="T10" fmla="*/ 30 w 30"/>
                  <a:gd name="T11" fmla="*/ 30 h 54"/>
                  <a:gd name="T12" fmla="*/ 30 w 30"/>
                  <a:gd name="T13" fmla="*/ 24 h 54"/>
                  <a:gd name="T14" fmla="*/ 24 w 30"/>
                  <a:gd name="T15" fmla="*/ 0 h 54"/>
                  <a:gd name="T16" fmla="*/ 0 w 30"/>
                  <a:gd name="T17" fmla="*/ 0 h 54"/>
                  <a:gd name="T18" fmla="*/ 24 w 30"/>
                  <a:gd name="T19" fmla="*/ 0 h 54"/>
                  <a:gd name="T20" fmla="*/ 24 w 30"/>
                  <a:gd name="T21" fmla="*/ 0 h 54"/>
                  <a:gd name="T22" fmla="*/ 12 w 30"/>
                  <a:gd name="T23" fmla="*/ 0 h 54"/>
                  <a:gd name="T24" fmla="*/ 24 w 30"/>
                  <a:gd name="T2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54">
                    <a:moveTo>
                      <a:pt x="0" y="0"/>
                    </a:moveTo>
                    <a:lnTo>
                      <a:pt x="6" y="36"/>
                    </a:lnTo>
                    <a:lnTo>
                      <a:pt x="12" y="48"/>
                    </a:lnTo>
                    <a:lnTo>
                      <a:pt x="24" y="54"/>
                    </a:lnTo>
                    <a:lnTo>
                      <a:pt x="24" y="30"/>
                    </a:lnTo>
                    <a:lnTo>
                      <a:pt x="30" y="30"/>
                    </a:lnTo>
                    <a:lnTo>
                      <a:pt x="30" y="24"/>
                    </a:lnTo>
                    <a:lnTo>
                      <a:pt x="24" y="0"/>
                    </a:lnTo>
                    <a:lnTo>
                      <a:pt x="0" y="0"/>
                    </a:lnTo>
                    <a:close/>
                    <a:moveTo>
                      <a:pt x="24" y="0"/>
                    </a:moveTo>
                    <a:lnTo>
                      <a:pt x="24" y="0"/>
                    </a:lnTo>
                    <a:lnTo>
                      <a:pt x="12" y="0"/>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25"/>
              <p:cNvSpPr>
                <a:spLocks noEditPoints="1"/>
              </p:cNvSpPr>
              <p:nvPr/>
            </p:nvSpPr>
            <p:spPr bwMode="auto">
              <a:xfrm>
                <a:off x="4548" y="2386"/>
                <a:ext cx="30" cy="54"/>
              </a:xfrm>
              <a:custGeom>
                <a:avLst/>
                <a:gdLst>
                  <a:gd name="T0" fmla="*/ 0 w 30"/>
                  <a:gd name="T1" fmla="*/ 54 h 54"/>
                  <a:gd name="T2" fmla="*/ 12 w 30"/>
                  <a:gd name="T3" fmla="*/ 48 h 54"/>
                  <a:gd name="T4" fmla="*/ 24 w 30"/>
                  <a:gd name="T5" fmla="*/ 36 h 54"/>
                  <a:gd name="T6" fmla="*/ 30 w 30"/>
                  <a:gd name="T7" fmla="*/ 0 h 54"/>
                  <a:gd name="T8" fmla="*/ 6 w 30"/>
                  <a:gd name="T9" fmla="*/ 0 h 54"/>
                  <a:gd name="T10" fmla="*/ 0 w 30"/>
                  <a:gd name="T11" fmla="*/ 24 h 54"/>
                  <a:gd name="T12" fmla="*/ 0 w 30"/>
                  <a:gd name="T13" fmla="*/ 30 h 54"/>
                  <a:gd name="T14" fmla="*/ 0 w 30"/>
                  <a:gd name="T15" fmla="*/ 30 h 54"/>
                  <a:gd name="T16" fmla="*/ 0 w 30"/>
                  <a:gd name="T17" fmla="*/ 54 h 54"/>
                  <a:gd name="T18" fmla="*/ 0 w 30"/>
                  <a:gd name="T19" fmla="*/ 30 h 54"/>
                  <a:gd name="T20" fmla="*/ 0 w 30"/>
                  <a:gd name="T21" fmla="*/ 30 h 54"/>
                  <a:gd name="T22" fmla="*/ 0 w 30"/>
                  <a:gd name="T23" fmla="*/ 42 h 54"/>
                  <a:gd name="T24" fmla="*/ 0 w 30"/>
                  <a:gd name="T25" fmla="*/ 3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54">
                    <a:moveTo>
                      <a:pt x="0" y="54"/>
                    </a:moveTo>
                    <a:lnTo>
                      <a:pt x="12" y="48"/>
                    </a:lnTo>
                    <a:lnTo>
                      <a:pt x="24" y="36"/>
                    </a:lnTo>
                    <a:lnTo>
                      <a:pt x="30" y="0"/>
                    </a:lnTo>
                    <a:lnTo>
                      <a:pt x="6" y="0"/>
                    </a:lnTo>
                    <a:lnTo>
                      <a:pt x="0" y="24"/>
                    </a:lnTo>
                    <a:lnTo>
                      <a:pt x="0" y="30"/>
                    </a:lnTo>
                    <a:lnTo>
                      <a:pt x="0" y="30"/>
                    </a:lnTo>
                    <a:lnTo>
                      <a:pt x="0" y="54"/>
                    </a:lnTo>
                    <a:close/>
                    <a:moveTo>
                      <a:pt x="0" y="30"/>
                    </a:moveTo>
                    <a:lnTo>
                      <a:pt x="0" y="30"/>
                    </a:lnTo>
                    <a:lnTo>
                      <a:pt x="0" y="42"/>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26"/>
              <p:cNvSpPr>
                <a:spLocks noEditPoints="1"/>
              </p:cNvSpPr>
              <p:nvPr/>
            </p:nvSpPr>
            <p:spPr bwMode="auto">
              <a:xfrm>
                <a:off x="4548" y="2339"/>
                <a:ext cx="30" cy="47"/>
              </a:xfrm>
              <a:custGeom>
                <a:avLst/>
                <a:gdLst>
                  <a:gd name="T0" fmla="*/ 30 w 30"/>
                  <a:gd name="T1" fmla="*/ 47 h 47"/>
                  <a:gd name="T2" fmla="*/ 24 w 30"/>
                  <a:gd name="T3" fmla="*/ 18 h 47"/>
                  <a:gd name="T4" fmla="*/ 12 w 30"/>
                  <a:gd name="T5" fmla="*/ 6 h 47"/>
                  <a:gd name="T6" fmla="*/ 0 w 30"/>
                  <a:gd name="T7" fmla="*/ 0 h 47"/>
                  <a:gd name="T8" fmla="*/ 0 w 30"/>
                  <a:gd name="T9" fmla="*/ 24 h 47"/>
                  <a:gd name="T10" fmla="*/ 0 w 30"/>
                  <a:gd name="T11" fmla="*/ 24 h 47"/>
                  <a:gd name="T12" fmla="*/ 0 w 30"/>
                  <a:gd name="T13" fmla="*/ 30 h 47"/>
                  <a:gd name="T14" fmla="*/ 6 w 30"/>
                  <a:gd name="T15" fmla="*/ 47 h 47"/>
                  <a:gd name="T16" fmla="*/ 30 w 30"/>
                  <a:gd name="T17" fmla="*/ 47 h 47"/>
                  <a:gd name="T18" fmla="*/ 6 w 30"/>
                  <a:gd name="T19" fmla="*/ 47 h 47"/>
                  <a:gd name="T20" fmla="*/ 6 w 30"/>
                  <a:gd name="T21" fmla="*/ 47 h 47"/>
                  <a:gd name="T22" fmla="*/ 18 w 30"/>
                  <a:gd name="T23" fmla="*/ 47 h 47"/>
                  <a:gd name="T24" fmla="*/ 6 w 30"/>
                  <a:gd name="T25"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47">
                    <a:moveTo>
                      <a:pt x="30" y="47"/>
                    </a:moveTo>
                    <a:lnTo>
                      <a:pt x="24" y="18"/>
                    </a:lnTo>
                    <a:lnTo>
                      <a:pt x="12" y="6"/>
                    </a:lnTo>
                    <a:lnTo>
                      <a:pt x="0" y="0"/>
                    </a:lnTo>
                    <a:lnTo>
                      <a:pt x="0" y="24"/>
                    </a:lnTo>
                    <a:lnTo>
                      <a:pt x="0" y="24"/>
                    </a:lnTo>
                    <a:lnTo>
                      <a:pt x="0" y="30"/>
                    </a:lnTo>
                    <a:lnTo>
                      <a:pt x="6" y="47"/>
                    </a:lnTo>
                    <a:lnTo>
                      <a:pt x="30" y="47"/>
                    </a:lnTo>
                    <a:close/>
                    <a:moveTo>
                      <a:pt x="6" y="47"/>
                    </a:moveTo>
                    <a:lnTo>
                      <a:pt x="6" y="47"/>
                    </a:lnTo>
                    <a:lnTo>
                      <a:pt x="18" y="47"/>
                    </a:lnTo>
                    <a:lnTo>
                      <a:pt x="6" y="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27"/>
              <p:cNvSpPr>
                <a:spLocks/>
              </p:cNvSpPr>
              <p:nvPr/>
            </p:nvSpPr>
            <p:spPr bwMode="auto">
              <a:xfrm>
                <a:off x="4548" y="2351"/>
                <a:ext cx="1" cy="12"/>
              </a:xfrm>
              <a:custGeom>
                <a:avLst/>
                <a:gdLst>
                  <a:gd name="T0" fmla="*/ 12 h 12"/>
                  <a:gd name="T1" fmla="*/ 12 h 12"/>
                  <a:gd name="T2" fmla="*/ 12 h 12"/>
                  <a:gd name="T3" fmla="*/ 0 h 12"/>
                  <a:gd name="T4" fmla="*/ 12 h 12"/>
                </a:gdLst>
                <a:ahLst/>
                <a:cxnLst>
                  <a:cxn ang="0">
                    <a:pos x="0" y="T0"/>
                  </a:cxn>
                  <a:cxn ang="0">
                    <a:pos x="0" y="T1"/>
                  </a:cxn>
                  <a:cxn ang="0">
                    <a:pos x="0" y="T2"/>
                  </a:cxn>
                  <a:cxn ang="0">
                    <a:pos x="0" y="T3"/>
                  </a:cxn>
                  <a:cxn ang="0">
                    <a:pos x="0" y="T4"/>
                  </a:cxn>
                </a:cxnLst>
                <a:rect l="0" t="0" r="r" b="b"/>
                <a:pathLst>
                  <a:path h="12">
                    <a:moveTo>
                      <a:pt x="0" y="12"/>
                    </a:moveTo>
                    <a:lnTo>
                      <a:pt x="0" y="12"/>
                    </a:lnTo>
                    <a:lnTo>
                      <a:pt x="0" y="12"/>
                    </a:lnTo>
                    <a:lnTo>
                      <a:pt x="0"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28"/>
              <p:cNvSpPr>
                <a:spLocks/>
              </p:cNvSpPr>
              <p:nvPr/>
            </p:nvSpPr>
            <p:spPr bwMode="auto">
              <a:xfrm>
                <a:off x="4536" y="2428"/>
                <a:ext cx="24" cy="12"/>
              </a:xfrm>
              <a:custGeom>
                <a:avLst/>
                <a:gdLst>
                  <a:gd name="T0" fmla="*/ 6 w 24"/>
                  <a:gd name="T1" fmla="*/ 0 h 12"/>
                  <a:gd name="T2" fmla="*/ 6 w 24"/>
                  <a:gd name="T3" fmla="*/ 6 h 12"/>
                  <a:gd name="T4" fmla="*/ 0 w 24"/>
                  <a:gd name="T5" fmla="*/ 6 h 12"/>
                  <a:gd name="T6" fmla="*/ 6 w 24"/>
                  <a:gd name="T7" fmla="*/ 12 h 12"/>
                  <a:gd name="T8" fmla="*/ 6 w 24"/>
                  <a:gd name="T9" fmla="*/ 12 h 12"/>
                  <a:gd name="T10" fmla="*/ 18 w 24"/>
                  <a:gd name="T11" fmla="*/ 12 h 12"/>
                  <a:gd name="T12" fmla="*/ 24 w 24"/>
                  <a:gd name="T13" fmla="*/ 12 h 12"/>
                  <a:gd name="T14" fmla="*/ 24 w 24"/>
                  <a:gd name="T15" fmla="*/ 6 h 12"/>
                  <a:gd name="T16" fmla="*/ 24 w 24"/>
                  <a:gd name="T17" fmla="*/ 6 h 12"/>
                  <a:gd name="T18" fmla="*/ 18 w 24"/>
                  <a:gd name="T19" fmla="*/ 0 h 12"/>
                  <a:gd name="T20" fmla="*/ 6 w 24"/>
                  <a:gd name="T21" fmla="*/ 0 h 12"/>
                  <a:gd name="T22" fmla="*/ 6 w 24"/>
                  <a:gd name="T23"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2">
                    <a:moveTo>
                      <a:pt x="6" y="0"/>
                    </a:moveTo>
                    <a:lnTo>
                      <a:pt x="6" y="6"/>
                    </a:lnTo>
                    <a:lnTo>
                      <a:pt x="0" y="6"/>
                    </a:lnTo>
                    <a:lnTo>
                      <a:pt x="6" y="12"/>
                    </a:lnTo>
                    <a:lnTo>
                      <a:pt x="6" y="12"/>
                    </a:lnTo>
                    <a:lnTo>
                      <a:pt x="18" y="12"/>
                    </a:lnTo>
                    <a:lnTo>
                      <a:pt x="24" y="12"/>
                    </a:lnTo>
                    <a:lnTo>
                      <a:pt x="24" y="6"/>
                    </a:lnTo>
                    <a:lnTo>
                      <a:pt x="24" y="6"/>
                    </a:lnTo>
                    <a:lnTo>
                      <a:pt x="18" y="0"/>
                    </a:lnTo>
                    <a:lnTo>
                      <a:pt x="6" y="0"/>
                    </a:lnTo>
                    <a:lnTo>
                      <a:pt x="6" y="0"/>
                    </a:lnTo>
                    <a:close/>
                  </a:path>
                </a:pathLst>
              </a:custGeom>
              <a:solidFill>
                <a:srgbClr val="61AC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29"/>
              <p:cNvSpPr>
                <a:spLocks/>
              </p:cNvSpPr>
              <p:nvPr/>
            </p:nvSpPr>
            <p:spPr bwMode="auto">
              <a:xfrm>
                <a:off x="4524" y="2416"/>
                <a:ext cx="24" cy="24"/>
              </a:xfrm>
              <a:custGeom>
                <a:avLst/>
                <a:gdLst>
                  <a:gd name="T0" fmla="*/ 18 w 24"/>
                  <a:gd name="T1" fmla="*/ 0 h 24"/>
                  <a:gd name="T2" fmla="*/ 6 w 24"/>
                  <a:gd name="T3" fmla="*/ 6 h 24"/>
                  <a:gd name="T4" fmla="*/ 0 w 24"/>
                  <a:gd name="T5" fmla="*/ 18 h 24"/>
                  <a:gd name="T6" fmla="*/ 24 w 24"/>
                  <a:gd name="T7" fmla="*/ 18 h 24"/>
                  <a:gd name="T8" fmla="*/ 24 w 24"/>
                  <a:gd name="T9" fmla="*/ 24 h 24"/>
                  <a:gd name="T10" fmla="*/ 18 w 24"/>
                  <a:gd name="T11" fmla="*/ 24 h 24"/>
                  <a:gd name="T12" fmla="*/ 18 w 24"/>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4" h="24">
                    <a:moveTo>
                      <a:pt x="18" y="0"/>
                    </a:moveTo>
                    <a:lnTo>
                      <a:pt x="6" y="6"/>
                    </a:lnTo>
                    <a:lnTo>
                      <a:pt x="0" y="18"/>
                    </a:lnTo>
                    <a:lnTo>
                      <a:pt x="24" y="18"/>
                    </a:lnTo>
                    <a:lnTo>
                      <a:pt x="24" y="24"/>
                    </a:lnTo>
                    <a:lnTo>
                      <a:pt x="18" y="24"/>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30"/>
              <p:cNvSpPr>
                <a:spLocks noEditPoints="1"/>
              </p:cNvSpPr>
              <p:nvPr/>
            </p:nvSpPr>
            <p:spPr bwMode="auto">
              <a:xfrm>
                <a:off x="4524" y="2434"/>
                <a:ext cx="24" cy="18"/>
              </a:xfrm>
              <a:custGeom>
                <a:avLst/>
                <a:gdLst>
                  <a:gd name="T0" fmla="*/ 0 w 24"/>
                  <a:gd name="T1" fmla="*/ 0 h 18"/>
                  <a:gd name="T2" fmla="*/ 6 w 24"/>
                  <a:gd name="T3" fmla="*/ 12 h 18"/>
                  <a:gd name="T4" fmla="*/ 18 w 24"/>
                  <a:gd name="T5" fmla="*/ 18 h 18"/>
                  <a:gd name="T6" fmla="*/ 24 w 24"/>
                  <a:gd name="T7" fmla="*/ 0 h 18"/>
                  <a:gd name="T8" fmla="*/ 24 w 24"/>
                  <a:gd name="T9" fmla="*/ 0 h 18"/>
                  <a:gd name="T10" fmla="*/ 0 w 24"/>
                  <a:gd name="T11" fmla="*/ 0 h 18"/>
                  <a:gd name="T12" fmla="*/ 24 w 24"/>
                  <a:gd name="T13" fmla="*/ 0 h 18"/>
                  <a:gd name="T14" fmla="*/ 24 w 24"/>
                  <a:gd name="T15" fmla="*/ 0 h 18"/>
                  <a:gd name="T16" fmla="*/ 12 w 24"/>
                  <a:gd name="T17" fmla="*/ 0 h 18"/>
                  <a:gd name="T18" fmla="*/ 24 w 24"/>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0" y="0"/>
                    </a:moveTo>
                    <a:lnTo>
                      <a:pt x="6" y="12"/>
                    </a:lnTo>
                    <a:lnTo>
                      <a:pt x="18" y="18"/>
                    </a:lnTo>
                    <a:lnTo>
                      <a:pt x="24" y="0"/>
                    </a:lnTo>
                    <a:lnTo>
                      <a:pt x="24" y="0"/>
                    </a:lnTo>
                    <a:lnTo>
                      <a:pt x="0" y="0"/>
                    </a:lnTo>
                    <a:close/>
                    <a:moveTo>
                      <a:pt x="24" y="0"/>
                    </a:moveTo>
                    <a:lnTo>
                      <a:pt x="24" y="0"/>
                    </a:lnTo>
                    <a:lnTo>
                      <a:pt x="12" y="0"/>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31"/>
              <p:cNvSpPr>
                <a:spLocks noEditPoints="1"/>
              </p:cNvSpPr>
              <p:nvPr/>
            </p:nvSpPr>
            <p:spPr bwMode="auto">
              <a:xfrm>
                <a:off x="4542" y="2428"/>
                <a:ext cx="12" cy="24"/>
              </a:xfrm>
              <a:custGeom>
                <a:avLst/>
                <a:gdLst>
                  <a:gd name="T0" fmla="*/ 0 w 12"/>
                  <a:gd name="T1" fmla="*/ 24 h 24"/>
                  <a:gd name="T2" fmla="*/ 12 w 12"/>
                  <a:gd name="T3" fmla="*/ 24 h 24"/>
                  <a:gd name="T4" fmla="*/ 12 w 12"/>
                  <a:gd name="T5" fmla="*/ 0 h 24"/>
                  <a:gd name="T6" fmla="*/ 0 w 12"/>
                  <a:gd name="T7" fmla="*/ 0 h 24"/>
                  <a:gd name="T8" fmla="*/ 0 w 12"/>
                  <a:gd name="T9" fmla="*/ 24 h 24"/>
                  <a:gd name="T10" fmla="*/ 0 w 12"/>
                  <a:gd name="T11" fmla="*/ 24 h 24"/>
                  <a:gd name="T12" fmla="*/ 0 w 12"/>
                  <a:gd name="T13" fmla="*/ 24 h 24"/>
                  <a:gd name="T14" fmla="*/ 0 w 12"/>
                  <a:gd name="T15" fmla="*/ 24 h 24"/>
                  <a:gd name="T16" fmla="*/ 0 w 12"/>
                  <a:gd name="T17" fmla="*/ 12 h 24"/>
                  <a:gd name="T18" fmla="*/ 0 w 12"/>
                  <a:gd name="T1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4">
                    <a:moveTo>
                      <a:pt x="0" y="24"/>
                    </a:moveTo>
                    <a:lnTo>
                      <a:pt x="12" y="24"/>
                    </a:lnTo>
                    <a:lnTo>
                      <a:pt x="12" y="0"/>
                    </a:lnTo>
                    <a:lnTo>
                      <a:pt x="0" y="0"/>
                    </a:lnTo>
                    <a:lnTo>
                      <a:pt x="0" y="24"/>
                    </a:lnTo>
                    <a:close/>
                    <a:moveTo>
                      <a:pt x="0" y="24"/>
                    </a:moveTo>
                    <a:lnTo>
                      <a:pt x="0" y="24"/>
                    </a:lnTo>
                    <a:lnTo>
                      <a:pt x="0" y="24"/>
                    </a:lnTo>
                    <a:lnTo>
                      <a:pt x="0" y="12"/>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32"/>
              <p:cNvSpPr>
                <a:spLocks noEditPoints="1"/>
              </p:cNvSpPr>
              <p:nvPr/>
            </p:nvSpPr>
            <p:spPr bwMode="auto">
              <a:xfrm>
                <a:off x="4548" y="2434"/>
                <a:ext cx="24" cy="18"/>
              </a:xfrm>
              <a:custGeom>
                <a:avLst/>
                <a:gdLst>
                  <a:gd name="T0" fmla="*/ 12 w 24"/>
                  <a:gd name="T1" fmla="*/ 18 h 18"/>
                  <a:gd name="T2" fmla="*/ 18 w 24"/>
                  <a:gd name="T3" fmla="*/ 12 h 18"/>
                  <a:gd name="T4" fmla="*/ 24 w 24"/>
                  <a:gd name="T5" fmla="*/ 0 h 18"/>
                  <a:gd name="T6" fmla="*/ 0 w 24"/>
                  <a:gd name="T7" fmla="*/ 0 h 18"/>
                  <a:gd name="T8" fmla="*/ 6 w 24"/>
                  <a:gd name="T9" fmla="*/ 0 h 18"/>
                  <a:gd name="T10" fmla="*/ 6 w 24"/>
                  <a:gd name="T11" fmla="*/ 0 h 18"/>
                  <a:gd name="T12" fmla="*/ 12 w 24"/>
                  <a:gd name="T13" fmla="*/ 18 h 18"/>
                  <a:gd name="T14" fmla="*/ 6 w 24"/>
                  <a:gd name="T15" fmla="*/ 18 h 18"/>
                  <a:gd name="T16" fmla="*/ 12 w 24"/>
                  <a:gd name="T17" fmla="*/ 18 h 18"/>
                  <a:gd name="T18" fmla="*/ 12 w 24"/>
                  <a:gd name="T19" fmla="*/ 18 h 18"/>
                  <a:gd name="T20" fmla="*/ 6 w 24"/>
                  <a:gd name="T21" fmla="*/ 6 h 18"/>
                  <a:gd name="T22" fmla="*/ 6 w 24"/>
                  <a:gd name="T23"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12" y="18"/>
                    </a:moveTo>
                    <a:lnTo>
                      <a:pt x="18" y="12"/>
                    </a:lnTo>
                    <a:lnTo>
                      <a:pt x="24" y="0"/>
                    </a:lnTo>
                    <a:lnTo>
                      <a:pt x="0" y="0"/>
                    </a:lnTo>
                    <a:lnTo>
                      <a:pt x="6" y="0"/>
                    </a:lnTo>
                    <a:lnTo>
                      <a:pt x="6" y="0"/>
                    </a:lnTo>
                    <a:lnTo>
                      <a:pt x="12" y="18"/>
                    </a:lnTo>
                    <a:close/>
                    <a:moveTo>
                      <a:pt x="6" y="18"/>
                    </a:moveTo>
                    <a:lnTo>
                      <a:pt x="12" y="18"/>
                    </a:lnTo>
                    <a:lnTo>
                      <a:pt x="12" y="18"/>
                    </a:lnTo>
                    <a:lnTo>
                      <a:pt x="6" y="6"/>
                    </a:lnTo>
                    <a:lnTo>
                      <a:pt x="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33"/>
              <p:cNvSpPr>
                <a:spLocks noEditPoints="1"/>
              </p:cNvSpPr>
              <p:nvPr/>
            </p:nvSpPr>
            <p:spPr bwMode="auto">
              <a:xfrm>
                <a:off x="4548" y="2416"/>
                <a:ext cx="24" cy="24"/>
              </a:xfrm>
              <a:custGeom>
                <a:avLst/>
                <a:gdLst>
                  <a:gd name="T0" fmla="*/ 24 w 24"/>
                  <a:gd name="T1" fmla="*/ 18 h 24"/>
                  <a:gd name="T2" fmla="*/ 18 w 24"/>
                  <a:gd name="T3" fmla="*/ 6 h 24"/>
                  <a:gd name="T4" fmla="*/ 6 w 24"/>
                  <a:gd name="T5" fmla="*/ 0 h 24"/>
                  <a:gd name="T6" fmla="*/ 6 w 24"/>
                  <a:gd name="T7" fmla="*/ 24 h 24"/>
                  <a:gd name="T8" fmla="*/ 6 w 24"/>
                  <a:gd name="T9" fmla="*/ 24 h 24"/>
                  <a:gd name="T10" fmla="*/ 0 w 24"/>
                  <a:gd name="T11" fmla="*/ 18 h 24"/>
                  <a:gd name="T12" fmla="*/ 24 w 24"/>
                  <a:gd name="T13" fmla="*/ 18 h 24"/>
                  <a:gd name="T14" fmla="*/ 0 w 24"/>
                  <a:gd name="T15" fmla="*/ 18 h 24"/>
                  <a:gd name="T16" fmla="*/ 0 w 24"/>
                  <a:gd name="T17" fmla="*/ 18 h 24"/>
                  <a:gd name="T18" fmla="*/ 12 w 24"/>
                  <a:gd name="T19" fmla="*/ 18 h 24"/>
                  <a:gd name="T20" fmla="*/ 0 w 24"/>
                  <a:gd name="T21" fmla="*/ 1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24" y="18"/>
                    </a:moveTo>
                    <a:lnTo>
                      <a:pt x="18" y="6"/>
                    </a:lnTo>
                    <a:lnTo>
                      <a:pt x="6" y="0"/>
                    </a:lnTo>
                    <a:lnTo>
                      <a:pt x="6" y="24"/>
                    </a:lnTo>
                    <a:lnTo>
                      <a:pt x="6" y="24"/>
                    </a:lnTo>
                    <a:lnTo>
                      <a:pt x="0" y="18"/>
                    </a:lnTo>
                    <a:lnTo>
                      <a:pt x="24" y="18"/>
                    </a:lnTo>
                    <a:close/>
                    <a:moveTo>
                      <a:pt x="0" y="18"/>
                    </a:moveTo>
                    <a:lnTo>
                      <a:pt x="0" y="18"/>
                    </a:lnTo>
                    <a:lnTo>
                      <a:pt x="12"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34"/>
              <p:cNvSpPr>
                <a:spLocks noEditPoints="1"/>
              </p:cNvSpPr>
              <p:nvPr/>
            </p:nvSpPr>
            <p:spPr bwMode="auto">
              <a:xfrm>
                <a:off x="4542" y="2416"/>
                <a:ext cx="12" cy="24"/>
              </a:xfrm>
              <a:custGeom>
                <a:avLst/>
                <a:gdLst>
                  <a:gd name="T0" fmla="*/ 12 w 12"/>
                  <a:gd name="T1" fmla="*/ 0 h 24"/>
                  <a:gd name="T2" fmla="*/ 0 w 12"/>
                  <a:gd name="T3" fmla="*/ 0 h 24"/>
                  <a:gd name="T4" fmla="*/ 0 w 12"/>
                  <a:gd name="T5" fmla="*/ 24 h 24"/>
                  <a:gd name="T6" fmla="*/ 12 w 12"/>
                  <a:gd name="T7" fmla="*/ 24 h 24"/>
                  <a:gd name="T8" fmla="*/ 12 w 12"/>
                  <a:gd name="T9" fmla="*/ 0 h 24"/>
                  <a:gd name="T10" fmla="*/ 12 w 12"/>
                  <a:gd name="T11" fmla="*/ 24 h 24"/>
                  <a:gd name="T12" fmla="*/ 12 w 12"/>
                  <a:gd name="T13" fmla="*/ 24 h 24"/>
                  <a:gd name="T14" fmla="*/ 12 w 12"/>
                  <a:gd name="T15" fmla="*/ 12 h 24"/>
                  <a:gd name="T16" fmla="*/ 12 w 12"/>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4">
                    <a:moveTo>
                      <a:pt x="12" y="0"/>
                    </a:moveTo>
                    <a:lnTo>
                      <a:pt x="0" y="0"/>
                    </a:lnTo>
                    <a:lnTo>
                      <a:pt x="0" y="24"/>
                    </a:lnTo>
                    <a:lnTo>
                      <a:pt x="12" y="24"/>
                    </a:lnTo>
                    <a:lnTo>
                      <a:pt x="12" y="0"/>
                    </a:lnTo>
                    <a:close/>
                    <a:moveTo>
                      <a:pt x="12" y="24"/>
                    </a:moveTo>
                    <a:lnTo>
                      <a:pt x="12" y="24"/>
                    </a:lnTo>
                    <a:lnTo>
                      <a:pt x="12" y="12"/>
                    </a:lnTo>
                    <a:lnTo>
                      <a:pt x="12"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35"/>
              <p:cNvSpPr>
                <a:spLocks/>
              </p:cNvSpPr>
              <p:nvPr/>
            </p:nvSpPr>
            <p:spPr bwMode="auto">
              <a:xfrm>
                <a:off x="4542" y="2428"/>
                <a:ext cx="1" cy="12"/>
              </a:xfrm>
              <a:custGeom>
                <a:avLst/>
                <a:gdLst>
                  <a:gd name="T0" fmla="*/ 12 h 12"/>
                  <a:gd name="T1" fmla="*/ 12 h 12"/>
                  <a:gd name="T2" fmla="*/ 0 h 12"/>
                  <a:gd name="T3" fmla="*/ 12 h 12"/>
                </a:gdLst>
                <a:ahLst/>
                <a:cxnLst>
                  <a:cxn ang="0">
                    <a:pos x="0" y="T0"/>
                  </a:cxn>
                  <a:cxn ang="0">
                    <a:pos x="0" y="T1"/>
                  </a:cxn>
                  <a:cxn ang="0">
                    <a:pos x="0" y="T2"/>
                  </a:cxn>
                  <a:cxn ang="0">
                    <a:pos x="0" y="T3"/>
                  </a:cxn>
                </a:cxnLst>
                <a:rect l="0" t="0" r="r" b="b"/>
                <a:pathLst>
                  <a:path h="12">
                    <a:moveTo>
                      <a:pt x="0" y="12"/>
                    </a:moveTo>
                    <a:lnTo>
                      <a:pt x="0" y="12"/>
                    </a:lnTo>
                    <a:lnTo>
                      <a:pt x="0"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36"/>
              <p:cNvSpPr>
                <a:spLocks/>
              </p:cNvSpPr>
              <p:nvPr/>
            </p:nvSpPr>
            <p:spPr bwMode="auto">
              <a:xfrm>
                <a:off x="4554" y="2375"/>
                <a:ext cx="6" cy="35"/>
              </a:xfrm>
              <a:custGeom>
                <a:avLst/>
                <a:gdLst>
                  <a:gd name="T0" fmla="*/ 6 w 6"/>
                  <a:gd name="T1" fmla="*/ 0 h 35"/>
                  <a:gd name="T2" fmla="*/ 0 w 6"/>
                  <a:gd name="T3" fmla="*/ 11 h 35"/>
                  <a:gd name="T4" fmla="*/ 0 w 6"/>
                  <a:gd name="T5" fmla="*/ 23 h 35"/>
                  <a:gd name="T6" fmla="*/ 6 w 6"/>
                  <a:gd name="T7" fmla="*/ 29 h 35"/>
                  <a:gd name="T8" fmla="*/ 6 w 6"/>
                  <a:gd name="T9" fmla="*/ 35 h 35"/>
                  <a:gd name="T10" fmla="*/ 6 w 6"/>
                  <a:gd name="T11" fmla="*/ 0 h 35"/>
                  <a:gd name="T12" fmla="*/ 6 w 6"/>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6" h="35">
                    <a:moveTo>
                      <a:pt x="6" y="0"/>
                    </a:moveTo>
                    <a:lnTo>
                      <a:pt x="0" y="11"/>
                    </a:lnTo>
                    <a:lnTo>
                      <a:pt x="0" y="23"/>
                    </a:lnTo>
                    <a:lnTo>
                      <a:pt x="6" y="29"/>
                    </a:lnTo>
                    <a:lnTo>
                      <a:pt x="6" y="35"/>
                    </a:lnTo>
                    <a:lnTo>
                      <a:pt x="6" y="0"/>
                    </a:lnTo>
                    <a:lnTo>
                      <a:pt x="6"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37"/>
              <p:cNvSpPr>
                <a:spLocks/>
              </p:cNvSpPr>
              <p:nvPr/>
            </p:nvSpPr>
            <p:spPr bwMode="auto">
              <a:xfrm>
                <a:off x="4542" y="2369"/>
                <a:ext cx="30" cy="47"/>
              </a:xfrm>
              <a:custGeom>
                <a:avLst/>
                <a:gdLst>
                  <a:gd name="T0" fmla="*/ 12 w 30"/>
                  <a:gd name="T1" fmla="*/ 0 h 47"/>
                  <a:gd name="T2" fmla="*/ 6 w 30"/>
                  <a:gd name="T3" fmla="*/ 17 h 47"/>
                  <a:gd name="T4" fmla="*/ 0 w 30"/>
                  <a:gd name="T5" fmla="*/ 35 h 47"/>
                  <a:gd name="T6" fmla="*/ 6 w 30"/>
                  <a:gd name="T7" fmla="*/ 41 h 47"/>
                  <a:gd name="T8" fmla="*/ 6 w 30"/>
                  <a:gd name="T9" fmla="*/ 47 h 47"/>
                  <a:gd name="T10" fmla="*/ 30 w 30"/>
                  <a:gd name="T11" fmla="*/ 41 h 47"/>
                  <a:gd name="T12" fmla="*/ 30 w 30"/>
                  <a:gd name="T13" fmla="*/ 35 h 47"/>
                  <a:gd name="T14" fmla="*/ 30 w 30"/>
                  <a:gd name="T15" fmla="*/ 29 h 47"/>
                  <a:gd name="T16" fmla="*/ 30 w 30"/>
                  <a:gd name="T17" fmla="*/ 23 h 47"/>
                  <a:gd name="T18" fmla="*/ 30 w 30"/>
                  <a:gd name="T19" fmla="*/ 17 h 47"/>
                  <a:gd name="T20" fmla="*/ 12 w 30"/>
                  <a:gd name="T21"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47">
                    <a:moveTo>
                      <a:pt x="12" y="0"/>
                    </a:moveTo>
                    <a:lnTo>
                      <a:pt x="6" y="17"/>
                    </a:lnTo>
                    <a:lnTo>
                      <a:pt x="0" y="35"/>
                    </a:lnTo>
                    <a:lnTo>
                      <a:pt x="6" y="41"/>
                    </a:lnTo>
                    <a:lnTo>
                      <a:pt x="6" y="47"/>
                    </a:lnTo>
                    <a:lnTo>
                      <a:pt x="30" y="41"/>
                    </a:lnTo>
                    <a:lnTo>
                      <a:pt x="30" y="35"/>
                    </a:lnTo>
                    <a:lnTo>
                      <a:pt x="30" y="29"/>
                    </a:lnTo>
                    <a:lnTo>
                      <a:pt x="30" y="23"/>
                    </a:lnTo>
                    <a:lnTo>
                      <a:pt x="30" y="17"/>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38"/>
              <p:cNvSpPr>
                <a:spLocks noEditPoints="1"/>
              </p:cNvSpPr>
              <p:nvPr/>
            </p:nvSpPr>
            <p:spPr bwMode="auto">
              <a:xfrm>
                <a:off x="4548" y="2375"/>
                <a:ext cx="24" cy="41"/>
              </a:xfrm>
              <a:custGeom>
                <a:avLst/>
                <a:gdLst>
                  <a:gd name="T0" fmla="*/ 24 w 24"/>
                  <a:gd name="T1" fmla="*/ 41 h 41"/>
                  <a:gd name="T2" fmla="*/ 24 w 24"/>
                  <a:gd name="T3" fmla="*/ 6 h 41"/>
                  <a:gd name="T4" fmla="*/ 0 w 24"/>
                  <a:gd name="T5" fmla="*/ 0 h 41"/>
                  <a:gd name="T6" fmla="*/ 0 w 24"/>
                  <a:gd name="T7" fmla="*/ 35 h 41"/>
                  <a:gd name="T8" fmla="*/ 24 w 24"/>
                  <a:gd name="T9" fmla="*/ 41 h 41"/>
                  <a:gd name="T10" fmla="*/ 0 w 24"/>
                  <a:gd name="T11" fmla="*/ 41 h 41"/>
                  <a:gd name="T12" fmla="*/ 24 w 24"/>
                  <a:gd name="T13" fmla="*/ 41 h 41"/>
                  <a:gd name="T14" fmla="*/ 0 w 24"/>
                  <a:gd name="T15" fmla="*/ 35 h 41"/>
                  <a:gd name="T16" fmla="*/ 24 w 24"/>
                  <a:gd name="T17" fmla="*/ 35 h 41"/>
                  <a:gd name="T18" fmla="*/ 0 w 24"/>
                  <a:gd name="T19"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41">
                    <a:moveTo>
                      <a:pt x="24" y="41"/>
                    </a:moveTo>
                    <a:lnTo>
                      <a:pt x="24" y="6"/>
                    </a:lnTo>
                    <a:lnTo>
                      <a:pt x="0" y="0"/>
                    </a:lnTo>
                    <a:lnTo>
                      <a:pt x="0" y="35"/>
                    </a:lnTo>
                    <a:lnTo>
                      <a:pt x="24" y="41"/>
                    </a:lnTo>
                    <a:close/>
                    <a:moveTo>
                      <a:pt x="0" y="41"/>
                    </a:moveTo>
                    <a:lnTo>
                      <a:pt x="24" y="41"/>
                    </a:lnTo>
                    <a:lnTo>
                      <a:pt x="0" y="35"/>
                    </a:lnTo>
                    <a:lnTo>
                      <a:pt x="24" y="35"/>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39"/>
              <p:cNvSpPr>
                <a:spLocks/>
              </p:cNvSpPr>
              <p:nvPr/>
            </p:nvSpPr>
            <p:spPr bwMode="auto">
              <a:xfrm>
                <a:off x="4554" y="2345"/>
                <a:ext cx="24" cy="36"/>
              </a:xfrm>
              <a:custGeom>
                <a:avLst/>
                <a:gdLst>
                  <a:gd name="T0" fmla="*/ 18 w 24"/>
                  <a:gd name="T1" fmla="*/ 36 h 36"/>
                  <a:gd name="T2" fmla="*/ 24 w 24"/>
                  <a:gd name="T3" fmla="*/ 0 h 36"/>
                  <a:gd name="T4" fmla="*/ 0 w 24"/>
                  <a:gd name="T5" fmla="*/ 24 h 36"/>
                  <a:gd name="T6" fmla="*/ 6 w 24"/>
                  <a:gd name="T7" fmla="*/ 30 h 36"/>
                  <a:gd name="T8" fmla="*/ 18 w 24"/>
                  <a:gd name="T9" fmla="*/ 36 h 36"/>
                </a:gdLst>
                <a:ahLst/>
                <a:cxnLst>
                  <a:cxn ang="0">
                    <a:pos x="T0" y="T1"/>
                  </a:cxn>
                  <a:cxn ang="0">
                    <a:pos x="T2" y="T3"/>
                  </a:cxn>
                  <a:cxn ang="0">
                    <a:pos x="T4" y="T5"/>
                  </a:cxn>
                  <a:cxn ang="0">
                    <a:pos x="T6" y="T7"/>
                  </a:cxn>
                  <a:cxn ang="0">
                    <a:pos x="T8" y="T9"/>
                  </a:cxn>
                </a:cxnLst>
                <a:rect l="0" t="0" r="r" b="b"/>
                <a:pathLst>
                  <a:path w="24" h="36">
                    <a:moveTo>
                      <a:pt x="18" y="36"/>
                    </a:moveTo>
                    <a:lnTo>
                      <a:pt x="24" y="0"/>
                    </a:lnTo>
                    <a:lnTo>
                      <a:pt x="0" y="24"/>
                    </a:lnTo>
                    <a:lnTo>
                      <a:pt x="6" y="30"/>
                    </a:lnTo>
                    <a:lnTo>
                      <a:pt x="18"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Line 140"/>
              <p:cNvSpPr>
                <a:spLocks noChangeShapeType="1"/>
              </p:cNvSpPr>
              <p:nvPr/>
            </p:nvSpPr>
            <p:spPr bwMode="auto">
              <a:xfrm flipV="1">
                <a:off x="4554" y="2381"/>
                <a:ext cx="6" cy="23"/>
              </a:xfrm>
              <a:prstGeom prst="line">
                <a:avLst/>
              </a:prstGeom>
              <a:noFill/>
              <a:ln w="0">
                <a:solidFill>
                  <a:srgbClr val="354A1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Freeform 141"/>
              <p:cNvSpPr>
                <a:spLocks/>
              </p:cNvSpPr>
              <p:nvPr/>
            </p:nvSpPr>
            <p:spPr bwMode="auto">
              <a:xfrm>
                <a:off x="4542" y="2375"/>
                <a:ext cx="30" cy="29"/>
              </a:xfrm>
              <a:custGeom>
                <a:avLst/>
                <a:gdLst>
                  <a:gd name="T0" fmla="*/ 24 w 30"/>
                  <a:gd name="T1" fmla="*/ 29 h 29"/>
                  <a:gd name="T2" fmla="*/ 30 w 30"/>
                  <a:gd name="T3" fmla="*/ 6 h 29"/>
                  <a:gd name="T4" fmla="*/ 6 w 30"/>
                  <a:gd name="T5" fmla="*/ 0 h 29"/>
                  <a:gd name="T6" fmla="*/ 0 w 30"/>
                  <a:gd name="T7" fmla="*/ 23 h 29"/>
                  <a:gd name="T8" fmla="*/ 24 w 30"/>
                  <a:gd name="T9" fmla="*/ 29 h 29"/>
                </a:gdLst>
                <a:ahLst/>
                <a:cxnLst>
                  <a:cxn ang="0">
                    <a:pos x="T0" y="T1"/>
                  </a:cxn>
                  <a:cxn ang="0">
                    <a:pos x="T2" y="T3"/>
                  </a:cxn>
                  <a:cxn ang="0">
                    <a:pos x="T4" y="T5"/>
                  </a:cxn>
                  <a:cxn ang="0">
                    <a:pos x="T6" y="T7"/>
                  </a:cxn>
                  <a:cxn ang="0">
                    <a:pos x="T8" y="T9"/>
                  </a:cxn>
                </a:cxnLst>
                <a:rect l="0" t="0" r="r" b="b"/>
                <a:pathLst>
                  <a:path w="30" h="29">
                    <a:moveTo>
                      <a:pt x="24" y="29"/>
                    </a:moveTo>
                    <a:lnTo>
                      <a:pt x="30" y="6"/>
                    </a:lnTo>
                    <a:lnTo>
                      <a:pt x="6" y="0"/>
                    </a:lnTo>
                    <a:lnTo>
                      <a:pt x="0" y="23"/>
                    </a:lnTo>
                    <a:lnTo>
                      <a:pt x="2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42"/>
              <p:cNvSpPr>
                <a:spLocks/>
              </p:cNvSpPr>
              <p:nvPr/>
            </p:nvSpPr>
            <p:spPr bwMode="auto">
              <a:xfrm>
                <a:off x="4536" y="2381"/>
                <a:ext cx="24" cy="29"/>
              </a:xfrm>
              <a:custGeom>
                <a:avLst/>
                <a:gdLst>
                  <a:gd name="T0" fmla="*/ 24 w 24"/>
                  <a:gd name="T1" fmla="*/ 29 h 29"/>
                  <a:gd name="T2" fmla="*/ 24 w 24"/>
                  <a:gd name="T3" fmla="*/ 29 h 29"/>
                  <a:gd name="T4" fmla="*/ 24 w 24"/>
                  <a:gd name="T5" fmla="*/ 29 h 29"/>
                  <a:gd name="T6" fmla="*/ 24 w 24"/>
                  <a:gd name="T7" fmla="*/ 23 h 29"/>
                  <a:gd name="T8" fmla="*/ 24 w 24"/>
                  <a:gd name="T9" fmla="*/ 23 h 29"/>
                  <a:gd name="T10" fmla="*/ 18 w 24"/>
                  <a:gd name="T11" fmla="*/ 0 h 29"/>
                  <a:gd name="T12" fmla="*/ 6 w 24"/>
                  <a:gd name="T13" fmla="*/ 11 h 29"/>
                  <a:gd name="T14" fmla="*/ 6 w 24"/>
                  <a:gd name="T15" fmla="*/ 17 h 29"/>
                  <a:gd name="T16" fmla="*/ 6 w 24"/>
                  <a:gd name="T17" fmla="*/ 29 h 29"/>
                  <a:gd name="T18" fmla="*/ 0 w 24"/>
                  <a:gd name="T19" fmla="*/ 29 h 29"/>
                  <a:gd name="T20" fmla="*/ 24 w 24"/>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9">
                    <a:moveTo>
                      <a:pt x="24" y="29"/>
                    </a:moveTo>
                    <a:lnTo>
                      <a:pt x="24" y="29"/>
                    </a:lnTo>
                    <a:lnTo>
                      <a:pt x="24" y="29"/>
                    </a:lnTo>
                    <a:lnTo>
                      <a:pt x="24" y="23"/>
                    </a:lnTo>
                    <a:lnTo>
                      <a:pt x="24" y="23"/>
                    </a:lnTo>
                    <a:lnTo>
                      <a:pt x="18" y="0"/>
                    </a:lnTo>
                    <a:lnTo>
                      <a:pt x="6" y="11"/>
                    </a:lnTo>
                    <a:lnTo>
                      <a:pt x="6" y="17"/>
                    </a:lnTo>
                    <a:lnTo>
                      <a:pt x="6" y="29"/>
                    </a:lnTo>
                    <a:lnTo>
                      <a:pt x="0" y="29"/>
                    </a:lnTo>
                    <a:lnTo>
                      <a:pt x="2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43"/>
              <p:cNvSpPr>
                <a:spLocks/>
              </p:cNvSpPr>
              <p:nvPr/>
            </p:nvSpPr>
            <p:spPr bwMode="auto">
              <a:xfrm>
                <a:off x="4536" y="2381"/>
                <a:ext cx="6" cy="29"/>
              </a:xfrm>
              <a:custGeom>
                <a:avLst/>
                <a:gdLst>
                  <a:gd name="T0" fmla="*/ 0 w 6"/>
                  <a:gd name="T1" fmla="*/ 0 h 29"/>
                  <a:gd name="T2" fmla="*/ 6 w 6"/>
                  <a:gd name="T3" fmla="*/ 11 h 29"/>
                  <a:gd name="T4" fmla="*/ 6 w 6"/>
                  <a:gd name="T5" fmla="*/ 17 h 29"/>
                  <a:gd name="T6" fmla="*/ 0 w 6"/>
                  <a:gd name="T7" fmla="*/ 29 h 29"/>
                  <a:gd name="T8" fmla="*/ 0 w 6"/>
                  <a:gd name="T9" fmla="*/ 29 h 29"/>
                  <a:gd name="T10" fmla="*/ 0 w 6"/>
                  <a:gd name="T11" fmla="*/ 0 h 29"/>
                  <a:gd name="T12" fmla="*/ 0 w 6"/>
                  <a:gd name="T13" fmla="*/ 0 h 29"/>
                </a:gdLst>
                <a:ahLst/>
                <a:cxnLst>
                  <a:cxn ang="0">
                    <a:pos x="T0" y="T1"/>
                  </a:cxn>
                  <a:cxn ang="0">
                    <a:pos x="T2" y="T3"/>
                  </a:cxn>
                  <a:cxn ang="0">
                    <a:pos x="T4" y="T5"/>
                  </a:cxn>
                  <a:cxn ang="0">
                    <a:pos x="T6" y="T7"/>
                  </a:cxn>
                  <a:cxn ang="0">
                    <a:pos x="T8" y="T9"/>
                  </a:cxn>
                  <a:cxn ang="0">
                    <a:pos x="T10" y="T11"/>
                  </a:cxn>
                  <a:cxn ang="0">
                    <a:pos x="T12" y="T13"/>
                  </a:cxn>
                </a:cxnLst>
                <a:rect l="0" t="0" r="r" b="b"/>
                <a:pathLst>
                  <a:path w="6" h="29">
                    <a:moveTo>
                      <a:pt x="0" y="0"/>
                    </a:moveTo>
                    <a:lnTo>
                      <a:pt x="6" y="11"/>
                    </a:lnTo>
                    <a:lnTo>
                      <a:pt x="6" y="17"/>
                    </a:lnTo>
                    <a:lnTo>
                      <a:pt x="0" y="29"/>
                    </a:lnTo>
                    <a:lnTo>
                      <a:pt x="0" y="29"/>
                    </a:lnTo>
                    <a:lnTo>
                      <a:pt x="0" y="0"/>
                    </a:lnTo>
                    <a:lnTo>
                      <a:pt x="0"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44"/>
              <p:cNvSpPr>
                <a:spLocks/>
              </p:cNvSpPr>
              <p:nvPr/>
            </p:nvSpPr>
            <p:spPr bwMode="auto">
              <a:xfrm>
                <a:off x="4530" y="2369"/>
                <a:ext cx="24" cy="47"/>
              </a:xfrm>
              <a:custGeom>
                <a:avLst/>
                <a:gdLst>
                  <a:gd name="T0" fmla="*/ 0 w 24"/>
                  <a:gd name="T1" fmla="*/ 17 h 47"/>
                  <a:gd name="T2" fmla="*/ 0 w 24"/>
                  <a:gd name="T3" fmla="*/ 23 h 47"/>
                  <a:gd name="T4" fmla="*/ 0 w 24"/>
                  <a:gd name="T5" fmla="*/ 29 h 47"/>
                  <a:gd name="T6" fmla="*/ 0 w 24"/>
                  <a:gd name="T7" fmla="*/ 35 h 47"/>
                  <a:gd name="T8" fmla="*/ 0 w 24"/>
                  <a:gd name="T9" fmla="*/ 41 h 47"/>
                  <a:gd name="T10" fmla="*/ 18 w 24"/>
                  <a:gd name="T11" fmla="*/ 47 h 47"/>
                  <a:gd name="T12" fmla="*/ 18 w 24"/>
                  <a:gd name="T13" fmla="*/ 41 h 47"/>
                  <a:gd name="T14" fmla="*/ 24 w 24"/>
                  <a:gd name="T15" fmla="*/ 35 h 47"/>
                  <a:gd name="T16" fmla="*/ 18 w 24"/>
                  <a:gd name="T17" fmla="*/ 17 h 47"/>
                  <a:gd name="T18" fmla="*/ 12 w 24"/>
                  <a:gd name="T19" fmla="*/ 0 h 47"/>
                  <a:gd name="T20" fmla="*/ 0 w 24"/>
                  <a:gd name="T21" fmla="*/ 1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47">
                    <a:moveTo>
                      <a:pt x="0" y="17"/>
                    </a:moveTo>
                    <a:lnTo>
                      <a:pt x="0" y="23"/>
                    </a:lnTo>
                    <a:lnTo>
                      <a:pt x="0" y="29"/>
                    </a:lnTo>
                    <a:lnTo>
                      <a:pt x="0" y="35"/>
                    </a:lnTo>
                    <a:lnTo>
                      <a:pt x="0" y="41"/>
                    </a:lnTo>
                    <a:lnTo>
                      <a:pt x="18" y="47"/>
                    </a:lnTo>
                    <a:lnTo>
                      <a:pt x="18" y="41"/>
                    </a:lnTo>
                    <a:lnTo>
                      <a:pt x="24" y="35"/>
                    </a:lnTo>
                    <a:lnTo>
                      <a:pt x="18" y="17"/>
                    </a:lnTo>
                    <a:lnTo>
                      <a:pt x="12" y="0"/>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45"/>
              <p:cNvSpPr>
                <a:spLocks noEditPoints="1"/>
              </p:cNvSpPr>
              <p:nvPr/>
            </p:nvSpPr>
            <p:spPr bwMode="auto">
              <a:xfrm>
                <a:off x="4524" y="2375"/>
                <a:ext cx="24" cy="41"/>
              </a:xfrm>
              <a:custGeom>
                <a:avLst/>
                <a:gdLst>
                  <a:gd name="T0" fmla="*/ 24 w 24"/>
                  <a:gd name="T1" fmla="*/ 35 h 41"/>
                  <a:gd name="T2" fmla="*/ 24 w 24"/>
                  <a:gd name="T3" fmla="*/ 0 h 41"/>
                  <a:gd name="T4" fmla="*/ 0 w 24"/>
                  <a:gd name="T5" fmla="*/ 6 h 41"/>
                  <a:gd name="T6" fmla="*/ 0 w 24"/>
                  <a:gd name="T7" fmla="*/ 41 h 41"/>
                  <a:gd name="T8" fmla="*/ 24 w 24"/>
                  <a:gd name="T9" fmla="*/ 35 h 41"/>
                  <a:gd name="T10" fmla="*/ 6 w 24"/>
                  <a:gd name="T11" fmla="*/ 35 h 41"/>
                  <a:gd name="T12" fmla="*/ 24 w 24"/>
                  <a:gd name="T13" fmla="*/ 35 h 41"/>
                  <a:gd name="T14" fmla="*/ 0 w 24"/>
                  <a:gd name="T15" fmla="*/ 41 h 41"/>
                  <a:gd name="T16" fmla="*/ 24 w 24"/>
                  <a:gd name="T17" fmla="*/ 41 h 41"/>
                  <a:gd name="T18" fmla="*/ 6 w 24"/>
                  <a:gd name="T19" fmla="*/ 3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41">
                    <a:moveTo>
                      <a:pt x="24" y="35"/>
                    </a:moveTo>
                    <a:lnTo>
                      <a:pt x="24" y="0"/>
                    </a:lnTo>
                    <a:lnTo>
                      <a:pt x="0" y="6"/>
                    </a:lnTo>
                    <a:lnTo>
                      <a:pt x="0" y="41"/>
                    </a:lnTo>
                    <a:lnTo>
                      <a:pt x="24" y="35"/>
                    </a:lnTo>
                    <a:close/>
                    <a:moveTo>
                      <a:pt x="6" y="35"/>
                    </a:moveTo>
                    <a:lnTo>
                      <a:pt x="24" y="35"/>
                    </a:lnTo>
                    <a:lnTo>
                      <a:pt x="0" y="41"/>
                    </a:lnTo>
                    <a:lnTo>
                      <a:pt x="24" y="41"/>
                    </a:lnTo>
                    <a:lnTo>
                      <a:pt x="6"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46"/>
              <p:cNvSpPr>
                <a:spLocks/>
              </p:cNvSpPr>
              <p:nvPr/>
            </p:nvSpPr>
            <p:spPr bwMode="auto">
              <a:xfrm>
                <a:off x="4518" y="2345"/>
                <a:ext cx="24" cy="36"/>
              </a:xfrm>
              <a:custGeom>
                <a:avLst/>
                <a:gdLst>
                  <a:gd name="T0" fmla="*/ 24 w 24"/>
                  <a:gd name="T1" fmla="*/ 24 h 36"/>
                  <a:gd name="T2" fmla="*/ 0 w 24"/>
                  <a:gd name="T3" fmla="*/ 0 h 36"/>
                  <a:gd name="T4" fmla="*/ 6 w 24"/>
                  <a:gd name="T5" fmla="*/ 36 h 36"/>
                  <a:gd name="T6" fmla="*/ 18 w 24"/>
                  <a:gd name="T7" fmla="*/ 36 h 36"/>
                  <a:gd name="T8" fmla="*/ 24 w 24"/>
                  <a:gd name="T9" fmla="*/ 24 h 36"/>
                </a:gdLst>
                <a:ahLst/>
                <a:cxnLst>
                  <a:cxn ang="0">
                    <a:pos x="T0" y="T1"/>
                  </a:cxn>
                  <a:cxn ang="0">
                    <a:pos x="T2" y="T3"/>
                  </a:cxn>
                  <a:cxn ang="0">
                    <a:pos x="T4" y="T5"/>
                  </a:cxn>
                  <a:cxn ang="0">
                    <a:pos x="T6" y="T7"/>
                  </a:cxn>
                  <a:cxn ang="0">
                    <a:pos x="T8" y="T9"/>
                  </a:cxn>
                </a:cxnLst>
                <a:rect l="0" t="0" r="r" b="b"/>
                <a:pathLst>
                  <a:path w="24" h="36">
                    <a:moveTo>
                      <a:pt x="24" y="24"/>
                    </a:moveTo>
                    <a:lnTo>
                      <a:pt x="0" y="0"/>
                    </a:lnTo>
                    <a:lnTo>
                      <a:pt x="6" y="36"/>
                    </a:lnTo>
                    <a:lnTo>
                      <a:pt x="18" y="36"/>
                    </a:lnTo>
                    <a:lnTo>
                      <a:pt x="24"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Line 147"/>
              <p:cNvSpPr>
                <a:spLocks noChangeShapeType="1"/>
              </p:cNvSpPr>
              <p:nvPr/>
            </p:nvSpPr>
            <p:spPr bwMode="auto">
              <a:xfrm flipH="1" flipV="1">
                <a:off x="4536" y="2381"/>
                <a:ext cx="6" cy="23"/>
              </a:xfrm>
              <a:prstGeom prst="line">
                <a:avLst/>
              </a:prstGeom>
              <a:noFill/>
              <a:ln w="0">
                <a:solidFill>
                  <a:srgbClr val="354A1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Freeform 148"/>
              <p:cNvSpPr>
                <a:spLocks/>
              </p:cNvSpPr>
              <p:nvPr/>
            </p:nvSpPr>
            <p:spPr bwMode="auto">
              <a:xfrm>
                <a:off x="4524" y="2375"/>
                <a:ext cx="30" cy="29"/>
              </a:xfrm>
              <a:custGeom>
                <a:avLst/>
                <a:gdLst>
                  <a:gd name="T0" fmla="*/ 30 w 30"/>
                  <a:gd name="T1" fmla="*/ 23 h 29"/>
                  <a:gd name="T2" fmla="*/ 24 w 30"/>
                  <a:gd name="T3" fmla="*/ 0 h 29"/>
                  <a:gd name="T4" fmla="*/ 0 w 30"/>
                  <a:gd name="T5" fmla="*/ 6 h 29"/>
                  <a:gd name="T6" fmla="*/ 6 w 30"/>
                  <a:gd name="T7" fmla="*/ 29 h 29"/>
                  <a:gd name="T8" fmla="*/ 30 w 30"/>
                  <a:gd name="T9" fmla="*/ 23 h 29"/>
                </a:gdLst>
                <a:ahLst/>
                <a:cxnLst>
                  <a:cxn ang="0">
                    <a:pos x="T0" y="T1"/>
                  </a:cxn>
                  <a:cxn ang="0">
                    <a:pos x="T2" y="T3"/>
                  </a:cxn>
                  <a:cxn ang="0">
                    <a:pos x="T4" y="T5"/>
                  </a:cxn>
                  <a:cxn ang="0">
                    <a:pos x="T6" y="T7"/>
                  </a:cxn>
                  <a:cxn ang="0">
                    <a:pos x="T8" y="T9"/>
                  </a:cxn>
                </a:cxnLst>
                <a:rect l="0" t="0" r="r" b="b"/>
                <a:pathLst>
                  <a:path w="30" h="29">
                    <a:moveTo>
                      <a:pt x="30" y="23"/>
                    </a:moveTo>
                    <a:lnTo>
                      <a:pt x="24" y="0"/>
                    </a:lnTo>
                    <a:lnTo>
                      <a:pt x="0" y="6"/>
                    </a:lnTo>
                    <a:lnTo>
                      <a:pt x="6" y="29"/>
                    </a:lnTo>
                    <a:lnTo>
                      <a:pt x="3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49"/>
              <p:cNvSpPr>
                <a:spLocks/>
              </p:cNvSpPr>
              <p:nvPr/>
            </p:nvSpPr>
            <p:spPr bwMode="auto">
              <a:xfrm>
                <a:off x="4536" y="2381"/>
                <a:ext cx="24" cy="29"/>
              </a:xfrm>
              <a:custGeom>
                <a:avLst/>
                <a:gdLst>
                  <a:gd name="T0" fmla="*/ 24 w 24"/>
                  <a:gd name="T1" fmla="*/ 29 h 29"/>
                  <a:gd name="T2" fmla="*/ 24 w 24"/>
                  <a:gd name="T3" fmla="*/ 29 h 29"/>
                  <a:gd name="T4" fmla="*/ 24 w 24"/>
                  <a:gd name="T5" fmla="*/ 17 h 29"/>
                  <a:gd name="T6" fmla="*/ 24 w 24"/>
                  <a:gd name="T7" fmla="*/ 11 h 29"/>
                  <a:gd name="T8" fmla="*/ 12 w 24"/>
                  <a:gd name="T9" fmla="*/ 0 h 29"/>
                  <a:gd name="T10" fmla="*/ 0 w 24"/>
                  <a:gd name="T11" fmla="*/ 23 h 29"/>
                  <a:gd name="T12" fmla="*/ 0 w 24"/>
                  <a:gd name="T13" fmla="*/ 23 h 29"/>
                  <a:gd name="T14" fmla="*/ 0 w 24"/>
                  <a:gd name="T15" fmla="*/ 29 h 29"/>
                  <a:gd name="T16" fmla="*/ 0 w 24"/>
                  <a:gd name="T17" fmla="*/ 29 h 29"/>
                  <a:gd name="T18" fmla="*/ 0 w 24"/>
                  <a:gd name="T19" fmla="*/ 29 h 29"/>
                  <a:gd name="T20" fmla="*/ 24 w 24"/>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9">
                    <a:moveTo>
                      <a:pt x="24" y="29"/>
                    </a:moveTo>
                    <a:lnTo>
                      <a:pt x="24" y="29"/>
                    </a:lnTo>
                    <a:lnTo>
                      <a:pt x="24" y="17"/>
                    </a:lnTo>
                    <a:lnTo>
                      <a:pt x="24" y="11"/>
                    </a:lnTo>
                    <a:lnTo>
                      <a:pt x="12" y="0"/>
                    </a:lnTo>
                    <a:lnTo>
                      <a:pt x="0" y="23"/>
                    </a:lnTo>
                    <a:lnTo>
                      <a:pt x="0" y="23"/>
                    </a:lnTo>
                    <a:lnTo>
                      <a:pt x="0" y="29"/>
                    </a:lnTo>
                    <a:lnTo>
                      <a:pt x="0" y="29"/>
                    </a:lnTo>
                    <a:lnTo>
                      <a:pt x="0" y="29"/>
                    </a:lnTo>
                    <a:lnTo>
                      <a:pt x="2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50"/>
              <p:cNvSpPr>
                <a:spLocks/>
              </p:cNvSpPr>
              <p:nvPr/>
            </p:nvSpPr>
            <p:spPr bwMode="auto">
              <a:xfrm>
                <a:off x="4536" y="2381"/>
                <a:ext cx="30" cy="23"/>
              </a:xfrm>
              <a:custGeom>
                <a:avLst/>
                <a:gdLst>
                  <a:gd name="T0" fmla="*/ 30 w 30"/>
                  <a:gd name="T1" fmla="*/ 5 h 23"/>
                  <a:gd name="T2" fmla="*/ 30 w 30"/>
                  <a:gd name="T3" fmla="*/ 5 h 23"/>
                  <a:gd name="T4" fmla="*/ 18 w 30"/>
                  <a:gd name="T5" fmla="*/ 0 h 23"/>
                  <a:gd name="T6" fmla="*/ 12 w 30"/>
                  <a:gd name="T7" fmla="*/ 0 h 23"/>
                  <a:gd name="T8" fmla="*/ 0 w 30"/>
                  <a:gd name="T9" fmla="*/ 5 h 23"/>
                  <a:gd name="T10" fmla="*/ 18 w 30"/>
                  <a:gd name="T11" fmla="*/ 23 h 23"/>
                  <a:gd name="T12" fmla="*/ 12 w 30"/>
                  <a:gd name="T13" fmla="*/ 23 h 23"/>
                  <a:gd name="T14" fmla="*/ 6 w 30"/>
                  <a:gd name="T15" fmla="*/ 23 h 23"/>
                  <a:gd name="T16" fmla="*/ 30 w 30"/>
                  <a:gd name="T17" fmla="*/ 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3">
                    <a:moveTo>
                      <a:pt x="30" y="5"/>
                    </a:moveTo>
                    <a:lnTo>
                      <a:pt x="30" y="5"/>
                    </a:lnTo>
                    <a:lnTo>
                      <a:pt x="18" y="0"/>
                    </a:lnTo>
                    <a:lnTo>
                      <a:pt x="12" y="0"/>
                    </a:lnTo>
                    <a:lnTo>
                      <a:pt x="0" y="5"/>
                    </a:lnTo>
                    <a:lnTo>
                      <a:pt x="18" y="23"/>
                    </a:lnTo>
                    <a:lnTo>
                      <a:pt x="12" y="23"/>
                    </a:lnTo>
                    <a:lnTo>
                      <a:pt x="6" y="23"/>
                    </a:lnTo>
                    <a:lnTo>
                      <a:pt x="3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151"/>
              <p:cNvSpPr>
                <a:spLocks/>
              </p:cNvSpPr>
              <p:nvPr/>
            </p:nvSpPr>
            <p:spPr bwMode="auto">
              <a:xfrm>
                <a:off x="4536" y="2369"/>
                <a:ext cx="30" cy="29"/>
              </a:xfrm>
              <a:custGeom>
                <a:avLst/>
                <a:gdLst>
                  <a:gd name="T0" fmla="*/ 30 w 30"/>
                  <a:gd name="T1" fmla="*/ 6 h 29"/>
                  <a:gd name="T2" fmla="*/ 30 w 30"/>
                  <a:gd name="T3" fmla="*/ 6 h 29"/>
                  <a:gd name="T4" fmla="*/ 18 w 30"/>
                  <a:gd name="T5" fmla="*/ 0 h 29"/>
                  <a:gd name="T6" fmla="*/ 12 w 30"/>
                  <a:gd name="T7" fmla="*/ 0 h 29"/>
                  <a:gd name="T8" fmla="*/ 0 w 30"/>
                  <a:gd name="T9" fmla="*/ 6 h 29"/>
                  <a:gd name="T10" fmla="*/ 12 w 30"/>
                  <a:gd name="T11" fmla="*/ 29 h 29"/>
                  <a:gd name="T12" fmla="*/ 12 w 30"/>
                  <a:gd name="T13" fmla="*/ 29 h 29"/>
                  <a:gd name="T14" fmla="*/ 12 w 30"/>
                  <a:gd name="T15" fmla="*/ 23 h 29"/>
                  <a:gd name="T16" fmla="*/ 30 w 30"/>
                  <a:gd name="T1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9">
                    <a:moveTo>
                      <a:pt x="30" y="6"/>
                    </a:moveTo>
                    <a:lnTo>
                      <a:pt x="30" y="6"/>
                    </a:lnTo>
                    <a:lnTo>
                      <a:pt x="18" y="0"/>
                    </a:lnTo>
                    <a:lnTo>
                      <a:pt x="12" y="0"/>
                    </a:lnTo>
                    <a:lnTo>
                      <a:pt x="0" y="6"/>
                    </a:lnTo>
                    <a:lnTo>
                      <a:pt x="12" y="29"/>
                    </a:lnTo>
                    <a:lnTo>
                      <a:pt x="12" y="29"/>
                    </a:lnTo>
                    <a:lnTo>
                      <a:pt x="12" y="23"/>
                    </a:lnTo>
                    <a:lnTo>
                      <a:pt x="3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152"/>
              <p:cNvSpPr>
                <a:spLocks/>
              </p:cNvSpPr>
              <p:nvPr/>
            </p:nvSpPr>
            <p:spPr bwMode="auto">
              <a:xfrm>
                <a:off x="4536" y="2369"/>
                <a:ext cx="30" cy="23"/>
              </a:xfrm>
              <a:custGeom>
                <a:avLst/>
                <a:gdLst>
                  <a:gd name="T0" fmla="*/ 30 w 30"/>
                  <a:gd name="T1" fmla="*/ 0 h 23"/>
                  <a:gd name="T2" fmla="*/ 30 w 30"/>
                  <a:gd name="T3" fmla="*/ 0 h 23"/>
                  <a:gd name="T4" fmla="*/ 18 w 30"/>
                  <a:gd name="T5" fmla="*/ 0 h 23"/>
                  <a:gd name="T6" fmla="*/ 0 w 30"/>
                  <a:gd name="T7" fmla="*/ 0 h 23"/>
                  <a:gd name="T8" fmla="*/ 6 w 30"/>
                  <a:gd name="T9" fmla="*/ 23 h 23"/>
                  <a:gd name="T10" fmla="*/ 12 w 30"/>
                  <a:gd name="T11" fmla="*/ 23 h 23"/>
                  <a:gd name="T12" fmla="*/ 18 w 30"/>
                  <a:gd name="T13" fmla="*/ 23 h 23"/>
                  <a:gd name="T14" fmla="*/ 30 w 30"/>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3">
                    <a:moveTo>
                      <a:pt x="30" y="0"/>
                    </a:moveTo>
                    <a:lnTo>
                      <a:pt x="30" y="0"/>
                    </a:lnTo>
                    <a:lnTo>
                      <a:pt x="18" y="0"/>
                    </a:lnTo>
                    <a:lnTo>
                      <a:pt x="0" y="0"/>
                    </a:lnTo>
                    <a:lnTo>
                      <a:pt x="6" y="23"/>
                    </a:lnTo>
                    <a:lnTo>
                      <a:pt x="12" y="23"/>
                    </a:lnTo>
                    <a:lnTo>
                      <a:pt x="18" y="23"/>
                    </a:lnTo>
                    <a:lnTo>
                      <a:pt x="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153"/>
              <p:cNvSpPr>
                <a:spLocks/>
              </p:cNvSpPr>
              <p:nvPr/>
            </p:nvSpPr>
            <p:spPr bwMode="auto">
              <a:xfrm>
                <a:off x="4530" y="2363"/>
                <a:ext cx="36" cy="23"/>
              </a:xfrm>
              <a:custGeom>
                <a:avLst/>
                <a:gdLst>
                  <a:gd name="T0" fmla="*/ 36 w 36"/>
                  <a:gd name="T1" fmla="*/ 6 h 23"/>
                  <a:gd name="T2" fmla="*/ 36 w 36"/>
                  <a:gd name="T3" fmla="*/ 6 h 23"/>
                  <a:gd name="T4" fmla="*/ 24 w 36"/>
                  <a:gd name="T5" fmla="*/ 0 h 23"/>
                  <a:gd name="T6" fmla="*/ 12 w 36"/>
                  <a:gd name="T7" fmla="*/ 0 h 23"/>
                  <a:gd name="T8" fmla="*/ 0 w 36"/>
                  <a:gd name="T9" fmla="*/ 6 h 23"/>
                  <a:gd name="T10" fmla="*/ 12 w 36"/>
                  <a:gd name="T11" fmla="*/ 23 h 23"/>
                  <a:gd name="T12" fmla="*/ 18 w 36"/>
                  <a:gd name="T13" fmla="*/ 23 h 23"/>
                  <a:gd name="T14" fmla="*/ 24 w 36"/>
                  <a:gd name="T15" fmla="*/ 23 h 23"/>
                  <a:gd name="T16" fmla="*/ 36 w 36"/>
                  <a:gd name="T17"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3">
                    <a:moveTo>
                      <a:pt x="36" y="6"/>
                    </a:moveTo>
                    <a:lnTo>
                      <a:pt x="36" y="6"/>
                    </a:lnTo>
                    <a:lnTo>
                      <a:pt x="24" y="0"/>
                    </a:lnTo>
                    <a:lnTo>
                      <a:pt x="12" y="0"/>
                    </a:lnTo>
                    <a:lnTo>
                      <a:pt x="0" y="6"/>
                    </a:lnTo>
                    <a:lnTo>
                      <a:pt x="12" y="23"/>
                    </a:lnTo>
                    <a:lnTo>
                      <a:pt x="18" y="23"/>
                    </a:lnTo>
                    <a:lnTo>
                      <a:pt x="24" y="23"/>
                    </a:lnTo>
                    <a:lnTo>
                      <a:pt x="3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154"/>
              <p:cNvSpPr>
                <a:spLocks/>
              </p:cNvSpPr>
              <p:nvPr/>
            </p:nvSpPr>
            <p:spPr bwMode="auto">
              <a:xfrm>
                <a:off x="4530" y="2363"/>
                <a:ext cx="36" cy="23"/>
              </a:xfrm>
              <a:custGeom>
                <a:avLst/>
                <a:gdLst>
                  <a:gd name="T0" fmla="*/ 36 w 36"/>
                  <a:gd name="T1" fmla="*/ 0 h 23"/>
                  <a:gd name="T2" fmla="*/ 30 w 36"/>
                  <a:gd name="T3" fmla="*/ 0 h 23"/>
                  <a:gd name="T4" fmla="*/ 0 w 36"/>
                  <a:gd name="T5" fmla="*/ 0 h 23"/>
                  <a:gd name="T6" fmla="*/ 12 w 36"/>
                  <a:gd name="T7" fmla="*/ 23 h 23"/>
                  <a:gd name="T8" fmla="*/ 24 w 36"/>
                  <a:gd name="T9" fmla="*/ 23 h 23"/>
                  <a:gd name="T10" fmla="*/ 24 w 36"/>
                  <a:gd name="T11" fmla="*/ 23 h 23"/>
                  <a:gd name="T12" fmla="*/ 24 w 36"/>
                  <a:gd name="T13" fmla="*/ 23 h 23"/>
                  <a:gd name="T14" fmla="*/ 36 w 36"/>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3">
                    <a:moveTo>
                      <a:pt x="36" y="0"/>
                    </a:moveTo>
                    <a:lnTo>
                      <a:pt x="30" y="0"/>
                    </a:lnTo>
                    <a:lnTo>
                      <a:pt x="0" y="0"/>
                    </a:lnTo>
                    <a:lnTo>
                      <a:pt x="12" y="23"/>
                    </a:lnTo>
                    <a:lnTo>
                      <a:pt x="24" y="23"/>
                    </a:lnTo>
                    <a:lnTo>
                      <a:pt x="24" y="23"/>
                    </a:lnTo>
                    <a:lnTo>
                      <a:pt x="24" y="23"/>
                    </a:lnTo>
                    <a:lnTo>
                      <a:pt x="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55"/>
              <p:cNvSpPr>
                <a:spLocks/>
              </p:cNvSpPr>
              <p:nvPr/>
            </p:nvSpPr>
            <p:spPr bwMode="auto">
              <a:xfrm>
                <a:off x="4536" y="2357"/>
                <a:ext cx="30" cy="24"/>
              </a:xfrm>
              <a:custGeom>
                <a:avLst/>
                <a:gdLst>
                  <a:gd name="T0" fmla="*/ 30 w 30"/>
                  <a:gd name="T1" fmla="*/ 0 h 24"/>
                  <a:gd name="T2" fmla="*/ 30 w 30"/>
                  <a:gd name="T3" fmla="*/ 0 h 24"/>
                  <a:gd name="T4" fmla="*/ 18 w 30"/>
                  <a:gd name="T5" fmla="*/ 0 h 24"/>
                  <a:gd name="T6" fmla="*/ 0 w 30"/>
                  <a:gd name="T7" fmla="*/ 0 h 24"/>
                  <a:gd name="T8" fmla="*/ 6 w 30"/>
                  <a:gd name="T9" fmla="*/ 24 h 24"/>
                  <a:gd name="T10" fmla="*/ 18 w 30"/>
                  <a:gd name="T11" fmla="*/ 24 h 24"/>
                  <a:gd name="T12" fmla="*/ 18 w 30"/>
                  <a:gd name="T13" fmla="*/ 24 h 24"/>
                  <a:gd name="T14" fmla="*/ 18 w 30"/>
                  <a:gd name="T15" fmla="*/ 24 h 24"/>
                  <a:gd name="T16" fmla="*/ 30 w 30"/>
                  <a:gd name="T1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4">
                    <a:moveTo>
                      <a:pt x="30" y="0"/>
                    </a:moveTo>
                    <a:lnTo>
                      <a:pt x="30" y="0"/>
                    </a:lnTo>
                    <a:lnTo>
                      <a:pt x="18" y="0"/>
                    </a:lnTo>
                    <a:lnTo>
                      <a:pt x="0" y="0"/>
                    </a:lnTo>
                    <a:lnTo>
                      <a:pt x="6" y="24"/>
                    </a:lnTo>
                    <a:lnTo>
                      <a:pt x="18" y="24"/>
                    </a:lnTo>
                    <a:lnTo>
                      <a:pt x="18" y="24"/>
                    </a:lnTo>
                    <a:lnTo>
                      <a:pt x="18" y="24"/>
                    </a:lnTo>
                    <a:lnTo>
                      <a:pt x="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56"/>
              <p:cNvSpPr>
                <a:spLocks/>
              </p:cNvSpPr>
              <p:nvPr/>
            </p:nvSpPr>
            <p:spPr bwMode="auto">
              <a:xfrm>
                <a:off x="4536" y="2351"/>
                <a:ext cx="24" cy="24"/>
              </a:xfrm>
              <a:custGeom>
                <a:avLst/>
                <a:gdLst>
                  <a:gd name="T0" fmla="*/ 24 w 24"/>
                  <a:gd name="T1" fmla="*/ 0 h 24"/>
                  <a:gd name="T2" fmla="*/ 18 w 24"/>
                  <a:gd name="T3" fmla="*/ 0 h 24"/>
                  <a:gd name="T4" fmla="*/ 0 w 24"/>
                  <a:gd name="T5" fmla="*/ 0 h 24"/>
                  <a:gd name="T6" fmla="*/ 6 w 24"/>
                  <a:gd name="T7" fmla="*/ 24 h 24"/>
                  <a:gd name="T8" fmla="*/ 12 w 24"/>
                  <a:gd name="T9" fmla="*/ 24 h 24"/>
                  <a:gd name="T10" fmla="*/ 18 w 24"/>
                  <a:gd name="T11" fmla="*/ 24 h 24"/>
                  <a:gd name="T12" fmla="*/ 24 w 24"/>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4" h="24">
                    <a:moveTo>
                      <a:pt x="24" y="0"/>
                    </a:moveTo>
                    <a:lnTo>
                      <a:pt x="18" y="0"/>
                    </a:lnTo>
                    <a:lnTo>
                      <a:pt x="0" y="0"/>
                    </a:lnTo>
                    <a:lnTo>
                      <a:pt x="6" y="24"/>
                    </a:lnTo>
                    <a:lnTo>
                      <a:pt x="12" y="24"/>
                    </a:lnTo>
                    <a:lnTo>
                      <a:pt x="18" y="24"/>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57"/>
              <p:cNvSpPr>
                <a:spLocks/>
              </p:cNvSpPr>
              <p:nvPr/>
            </p:nvSpPr>
            <p:spPr bwMode="auto">
              <a:xfrm>
                <a:off x="4542" y="2345"/>
                <a:ext cx="18" cy="24"/>
              </a:xfrm>
              <a:custGeom>
                <a:avLst/>
                <a:gdLst>
                  <a:gd name="T0" fmla="*/ 18 w 18"/>
                  <a:gd name="T1" fmla="*/ 0 h 24"/>
                  <a:gd name="T2" fmla="*/ 12 w 18"/>
                  <a:gd name="T3" fmla="*/ 0 h 24"/>
                  <a:gd name="T4" fmla="*/ 0 w 18"/>
                  <a:gd name="T5" fmla="*/ 0 h 24"/>
                  <a:gd name="T6" fmla="*/ 6 w 18"/>
                  <a:gd name="T7" fmla="*/ 24 h 24"/>
                  <a:gd name="T8" fmla="*/ 12 w 18"/>
                  <a:gd name="T9" fmla="*/ 24 h 24"/>
                  <a:gd name="T10" fmla="*/ 12 w 18"/>
                  <a:gd name="T11" fmla="*/ 24 h 24"/>
                  <a:gd name="T12" fmla="*/ 18 w 18"/>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18" h="24">
                    <a:moveTo>
                      <a:pt x="18" y="0"/>
                    </a:moveTo>
                    <a:lnTo>
                      <a:pt x="12" y="0"/>
                    </a:lnTo>
                    <a:lnTo>
                      <a:pt x="0" y="0"/>
                    </a:lnTo>
                    <a:lnTo>
                      <a:pt x="6" y="24"/>
                    </a:lnTo>
                    <a:lnTo>
                      <a:pt x="12" y="24"/>
                    </a:lnTo>
                    <a:lnTo>
                      <a:pt x="12" y="24"/>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58"/>
              <p:cNvSpPr>
                <a:spLocks/>
              </p:cNvSpPr>
              <p:nvPr/>
            </p:nvSpPr>
            <p:spPr bwMode="auto">
              <a:xfrm>
                <a:off x="4542" y="2434"/>
                <a:ext cx="18" cy="6"/>
              </a:xfrm>
              <a:custGeom>
                <a:avLst/>
                <a:gdLst>
                  <a:gd name="T0" fmla="*/ 0 w 18"/>
                  <a:gd name="T1" fmla="*/ 0 h 6"/>
                  <a:gd name="T2" fmla="*/ 0 w 18"/>
                  <a:gd name="T3" fmla="*/ 6 h 6"/>
                  <a:gd name="T4" fmla="*/ 0 w 18"/>
                  <a:gd name="T5" fmla="*/ 6 h 6"/>
                  <a:gd name="T6" fmla="*/ 6 w 18"/>
                  <a:gd name="T7" fmla="*/ 6 h 6"/>
                  <a:gd name="T8" fmla="*/ 6 w 18"/>
                  <a:gd name="T9" fmla="*/ 6 h 6"/>
                  <a:gd name="T10" fmla="*/ 6 w 18"/>
                  <a:gd name="T11" fmla="*/ 6 h 6"/>
                  <a:gd name="T12" fmla="*/ 6 w 18"/>
                  <a:gd name="T13" fmla="*/ 6 h 6"/>
                  <a:gd name="T14" fmla="*/ 12 w 18"/>
                  <a:gd name="T15" fmla="*/ 6 h 6"/>
                  <a:gd name="T16" fmla="*/ 12 w 18"/>
                  <a:gd name="T17" fmla="*/ 6 h 6"/>
                  <a:gd name="T18" fmla="*/ 18 w 18"/>
                  <a:gd name="T19" fmla="*/ 6 h 6"/>
                  <a:gd name="T20" fmla="*/ 18 w 18"/>
                  <a:gd name="T21" fmla="*/ 6 h 6"/>
                  <a:gd name="T22" fmla="*/ 6 w 18"/>
                  <a:gd name="T23" fmla="*/ 6 h 6"/>
                  <a:gd name="T24" fmla="*/ 6 w 18"/>
                  <a:gd name="T25" fmla="*/ 0 h 6"/>
                  <a:gd name="T26" fmla="*/ 0 w 18"/>
                  <a:gd name="T27" fmla="*/ 0 h 6"/>
                  <a:gd name="T28" fmla="*/ 0 w 18"/>
                  <a:gd name="T2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6">
                    <a:moveTo>
                      <a:pt x="0" y="0"/>
                    </a:moveTo>
                    <a:lnTo>
                      <a:pt x="0" y="6"/>
                    </a:lnTo>
                    <a:lnTo>
                      <a:pt x="0" y="6"/>
                    </a:lnTo>
                    <a:lnTo>
                      <a:pt x="6" y="6"/>
                    </a:lnTo>
                    <a:lnTo>
                      <a:pt x="6" y="6"/>
                    </a:lnTo>
                    <a:lnTo>
                      <a:pt x="6" y="6"/>
                    </a:lnTo>
                    <a:lnTo>
                      <a:pt x="6" y="6"/>
                    </a:lnTo>
                    <a:lnTo>
                      <a:pt x="12" y="6"/>
                    </a:lnTo>
                    <a:lnTo>
                      <a:pt x="12" y="6"/>
                    </a:lnTo>
                    <a:lnTo>
                      <a:pt x="18" y="6"/>
                    </a:lnTo>
                    <a:lnTo>
                      <a:pt x="18" y="6"/>
                    </a:lnTo>
                    <a:lnTo>
                      <a:pt x="6" y="6"/>
                    </a:lnTo>
                    <a:lnTo>
                      <a:pt x="6" y="0"/>
                    </a:lnTo>
                    <a:lnTo>
                      <a:pt x="0" y="0"/>
                    </a:lnTo>
                    <a:lnTo>
                      <a:pt x="0"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59"/>
              <p:cNvSpPr>
                <a:spLocks/>
              </p:cNvSpPr>
              <p:nvPr/>
            </p:nvSpPr>
            <p:spPr bwMode="auto">
              <a:xfrm>
                <a:off x="4530" y="2428"/>
                <a:ext cx="24" cy="24"/>
              </a:xfrm>
              <a:custGeom>
                <a:avLst/>
                <a:gdLst>
                  <a:gd name="T0" fmla="*/ 0 w 24"/>
                  <a:gd name="T1" fmla="*/ 12 h 24"/>
                  <a:gd name="T2" fmla="*/ 0 w 24"/>
                  <a:gd name="T3" fmla="*/ 18 h 24"/>
                  <a:gd name="T4" fmla="*/ 6 w 24"/>
                  <a:gd name="T5" fmla="*/ 24 h 24"/>
                  <a:gd name="T6" fmla="*/ 18 w 24"/>
                  <a:gd name="T7" fmla="*/ 24 h 24"/>
                  <a:gd name="T8" fmla="*/ 6 w 24"/>
                  <a:gd name="T9" fmla="*/ 0 h 24"/>
                  <a:gd name="T10" fmla="*/ 18 w 24"/>
                  <a:gd name="T11" fmla="*/ 0 h 24"/>
                  <a:gd name="T12" fmla="*/ 24 w 24"/>
                  <a:gd name="T13" fmla="*/ 6 h 24"/>
                  <a:gd name="T14" fmla="*/ 24 w 24"/>
                  <a:gd name="T15" fmla="*/ 6 h 24"/>
                  <a:gd name="T16" fmla="*/ 24 w 24"/>
                  <a:gd name="T17" fmla="*/ 6 h 24"/>
                  <a:gd name="T18" fmla="*/ 0 w 24"/>
                  <a:gd name="T1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12"/>
                    </a:moveTo>
                    <a:lnTo>
                      <a:pt x="0" y="18"/>
                    </a:lnTo>
                    <a:lnTo>
                      <a:pt x="6" y="24"/>
                    </a:lnTo>
                    <a:lnTo>
                      <a:pt x="18" y="24"/>
                    </a:lnTo>
                    <a:lnTo>
                      <a:pt x="6" y="0"/>
                    </a:lnTo>
                    <a:lnTo>
                      <a:pt x="18" y="0"/>
                    </a:lnTo>
                    <a:lnTo>
                      <a:pt x="24" y="6"/>
                    </a:lnTo>
                    <a:lnTo>
                      <a:pt x="24" y="6"/>
                    </a:lnTo>
                    <a:lnTo>
                      <a:pt x="24" y="6"/>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60"/>
              <p:cNvSpPr>
                <a:spLocks noEditPoints="1"/>
              </p:cNvSpPr>
              <p:nvPr/>
            </p:nvSpPr>
            <p:spPr bwMode="auto">
              <a:xfrm>
                <a:off x="4536" y="2428"/>
                <a:ext cx="18" cy="24"/>
              </a:xfrm>
              <a:custGeom>
                <a:avLst/>
                <a:gdLst>
                  <a:gd name="T0" fmla="*/ 12 w 18"/>
                  <a:gd name="T1" fmla="*/ 24 h 24"/>
                  <a:gd name="T2" fmla="*/ 6 w 18"/>
                  <a:gd name="T3" fmla="*/ 24 h 24"/>
                  <a:gd name="T4" fmla="*/ 6 w 18"/>
                  <a:gd name="T5" fmla="*/ 24 h 24"/>
                  <a:gd name="T6" fmla="*/ 6 w 18"/>
                  <a:gd name="T7" fmla="*/ 24 h 24"/>
                  <a:gd name="T8" fmla="*/ 6 w 18"/>
                  <a:gd name="T9" fmla="*/ 24 h 24"/>
                  <a:gd name="T10" fmla="*/ 18 w 18"/>
                  <a:gd name="T11" fmla="*/ 0 h 24"/>
                  <a:gd name="T12" fmla="*/ 18 w 18"/>
                  <a:gd name="T13" fmla="*/ 0 h 24"/>
                  <a:gd name="T14" fmla="*/ 18 w 18"/>
                  <a:gd name="T15" fmla="*/ 0 h 24"/>
                  <a:gd name="T16" fmla="*/ 12 w 18"/>
                  <a:gd name="T17" fmla="*/ 0 h 24"/>
                  <a:gd name="T18" fmla="*/ 0 w 18"/>
                  <a:gd name="T19" fmla="*/ 0 h 24"/>
                  <a:gd name="T20" fmla="*/ 12 w 18"/>
                  <a:gd name="T21" fmla="*/ 24 h 24"/>
                  <a:gd name="T22" fmla="*/ 0 w 18"/>
                  <a:gd name="T23" fmla="*/ 0 h 24"/>
                  <a:gd name="T24" fmla="*/ 0 w 18"/>
                  <a:gd name="T25" fmla="*/ 0 h 24"/>
                  <a:gd name="T26" fmla="*/ 0 w 18"/>
                  <a:gd name="T27" fmla="*/ 0 h 24"/>
                  <a:gd name="T28" fmla="*/ 6 w 18"/>
                  <a:gd name="T29" fmla="*/ 12 h 24"/>
                  <a:gd name="T30" fmla="*/ 0 w 18"/>
                  <a:gd name="T31"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24">
                    <a:moveTo>
                      <a:pt x="12" y="24"/>
                    </a:moveTo>
                    <a:lnTo>
                      <a:pt x="6" y="24"/>
                    </a:lnTo>
                    <a:lnTo>
                      <a:pt x="6" y="24"/>
                    </a:lnTo>
                    <a:lnTo>
                      <a:pt x="6" y="24"/>
                    </a:lnTo>
                    <a:lnTo>
                      <a:pt x="6" y="24"/>
                    </a:lnTo>
                    <a:lnTo>
                      <a:pt x="18" y="0"/>
                    </a:lnTo>
                    <a:lnTo>
                      <a:pt x="18" y="0"/>
                    </a:lnTo>
                    <a:lnTo>
                      <a:pt x="18" y="0"/>
                    </a:lnTo>
                    <a:lnTo>
                      <a:pt x="12" y="0"/>
                    </a:lnTo>
                    <a:lnTo>
                      <a:pt x="0" y="0"/>
                    </a:lnTo>
                    <a:lnTo>
                      <a:pt x="12" y="24"/>
                    </a:lnTo>
                    <a:close/>
                    <a:moveTo>
                      <a:pt x="0" y="0"/>
                    </a:moveTo>
                    <a:lnTo>
                      <a:pt x="0" y="0"/>
                    </a:lnTo>
                    <a:lnTo>
                      <a:pt x="0" y="0"/>
                    </a:lnTo>
                    <a:lnTo>
                      <a:pt x="6" y="1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61"/>
              <p:cNvSpPr>
                <a:spLocks noEditPoints="1"/>
              </p:cNvSpPr>
              <p:nvPr/>
            </p:nvSpPr>
            <p:spPr bwMode="auto">
              <a:xfrm>
                <a:off x="4536" y="2428"/>
                <a:ext cx="24" cy="24"/>
              </a:xfrm>
              <a:custGeom>
                <a:avLst/>
                <a:gdLst>
                  <a:gd name="T0" fmla="*/ 6 w 24"/>
                  <a:gd name="T1" fmla="*/ 24 h 24"/>
                  <a:gd name="T2" fmla="*/ 0 w 24"/>
                  <a:gd name="T3" fmla="*/ 18 h 24"/>
                  <a:gd name="T4" fmla="*/ 0 w 24"/>
                  <a:gd name="T5" fmla="*/ 18 h 24"/>
                  <a:gd name="T6" fmla="*/ 0 w 24"/>
                  <a:gd name="T7" fmla="*/ 18 h 24"/>
                  <a:gd name="T8" fmla="*/ 24 w 24"/>
                  <a:gd name="T9" fmla="*/ 6 h 24"/>
                  <a:gd name="T10" fmla="*/ 18 w 24"/>
                  <a:gd name="T11" fmla="*/ 0 h 24"/>
                  <a:gd name="T12" fmla="*/ 18 w 24"/>
                  <a:gd name="T13" fmla="*/ 0 h 24"/>
                  <a:gd name="T14" fmla="*/ 18 w 24"/>
                  <a:gd name="T15" fmla="*/ 0 h 24"/>
                  <a:gd name="T16" fmla="*/ 12 w 24"/>
                  <a:gd name="T17" fmla="*/ 0 h 24"/>
                  <a:gd name="T18" fmla="*/ 6 w 24"/>
                  <a:gd name="T19" fmla="*/ 24 h 24"/>
                  <a:gd name="T20" fmla="*/ 6 w 24"/>
                  <a:gd name="T21" fmla="*/ 24 h 24"/>
                  <a:gd name="T22" fmla="*/ 6 w 24"/>
                  <a:gd name="T23" fmla="*/ 24 h 24"/>
                  <a:gd name="T24" fmla="*/ 6 w 24"/>
                  <a:gd name="T25" fmla="*/ 24 h 24"/>
                  <a:gd name="T26" fmla="*/ 12 w 24"/>
                  <a:gd name="T27" fmla="*/ 12 h 24"/>
                  <a:gd name="T28" fmla="*/ 6 w 24"/>
                  <a:gd name="T2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4">
                    <a:moveTo>
                      <a:pt x="6" y="24"/>
                    </a:moveTo>
                    <a:lnTo>
                      <a:pt x="0" y="18"/>
                    </a:lnTo>
                    <a:lnTo>
                      <a:pt x="0" y="18"/>
                    </a:lnTo>
                    <a:lnTo>
                      <a:pt x="0" y="18"/>
                    </a:lnTo>
                    <a:lnTo>
                      <a:pt x="24" y="6"/>
                    </a:lnTo>
                    <a:lnTo>
                      <a:pt x="18" y="0"/>
                    </a:lnTo>
                    <a:lnTo>
                      <a:pt x="18" y="0"/>
                    </a:lnTo>
                    <a:lnTo>
                      <a:pt x="18" y="0"/>
                    </a:lnTo>
                    <a:lnTo>
                      <a:pt x="12" y="0"/>
                    </a:lnTo>
                    <a:lnTo>
                      <a:pt x="6" y="24"/>
                    </a:lnTo>
                    <a:close/>
                    <a:moveTo>
                      <a:pt x="6" y="24"/>
                    </a:moveTo>
                    <a:lnTo>
                      <a:pt x="6" y="24"/>
                    </a:lnTo>
                    <a:lnTo>
                      <a:pt x="6" y="24"/>
                    </a:lnTo>
                    <a:lnTo>
                      <a:pt x="12" y="12"/>
                    </a:lnTo>
                    <a:lnTo>
                      <a:pt x="6"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62"/>
              <p:cNvSpPr>
                <a:spLocks noEditPoints="1"/>
              </p:cNvSpPr>
              <p:nvPr/>
            </p:nvSpPr>
            <p:spPr bwMode="auto">
              <a:xfrm>
                <a:off x="4536" y="2428"/>
                <a:ext cx="24" cy="42"/>
              </a:xfrm>
              <a:custGeom>
                <a:avLst/>
                <a:gdLst>
                  <a:gd name="T0" fmla="*/ 24 w 24"/>
                  <a:gd name="T1" fmla="*/ 18 h 42"/>
                  <a:gd name="T2" fmla="*/ 18 w 24"/>
                  <a:gd name="T3" fmla="*/ 24 h 42"/>
                  <a:gd name="T4" fmla="*/ 18 w 24"/>
                  <a:gd name="T5" fmla="*/ 24 h 42"/>
                  <a:gd name="T6" fmla="*/ 12 w 24"/>
                  <a:gd name="T7" fmla="*/ 24 h 42"/>
                  <a:gd name="T8" fmla="*/ 12 w 24"/>
                  <a:gd name="T9" fmla="*/ 24 h 42"/>
                  <a:gd name="T10" fmla="*/ 12 w 24"/>
                  <a:gd name="T11" fmla="*/ 24 h 42"/>
                  <a:gd name="T12" fmla="*/ 12 w 24"/>
                  <a:gd name="T13" fmla="*/ 0 h 42"/>
                  <a:gd name="T14" fmla="*/ 18 w 24"/>
                  <a:gd name="T15" fmla="*/ 0 h 42"/>
                  <a:gd name="T16" fmla="*/ 18 w 24"/>
                  <a:gd name="T17" fmla="*/ 0 h 42"/>
                  <a:gd name="T18" fmla="*/ 18 w 24"/>
                  <a:gd name="T19" fmla="*/ 0 h 42"/>
                  <a:gd name="T20" fmla="*/ 18 w 24"/>
                  <a:gd name="T21" fmla="*/ 0 h 42"/>
                  <a:gd name="T22" fmla="*/ 12 w 24"/>
                  <a:gd name="T23" fmla="*/ 0 h 42"/>
                  <a:gd name="T24" fmla="*/ 24 w 24"/>
                  <a:gd name="T25" fmla="*/ 18 h 42"/>
                  <a:gd name="T26" fmla="*/ 0 w 24"/>
                  <a:gd name="T27" fmla="*/ 18 h 42"/>
                  <a:gd name="T28" fmla="*/ 12 w 24"/>
                  <a:gd name="T29" fmla="*/ 42 h 42"/>
                  <a:gd name="T30" fmla="*/ 24 w 24"/>
                  <a:gd name="T31" fmla="*/ 18 h 42"/>
                  <a:gd name="T32" fmla="*/ 12 w 24"/>
                  <a:gd name="T33" fmla="*/ 12 h 42"/>
                  <a:gd name="T34" fmla="*/ 0 w 24"/>
                  <a:gd name="T35"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42">
                    <a:moveTo>
                      <a:pt x="24" y="18"/>
                    </a:moveTo>
                    <a:lnTo>
                      <a:pt x="18" y="24"/>
                    </a:lnTo>
                    <a:lnTo>
                      <a:pt x="18" y="24"/>
                    </a:lnTo>
                    <a:lnTo>
                      <a:pt x="12" y="24"/>
                    </a:lnTo>
                    <a:lnTo>
                      <a:pt x="12" y="24"/>
                    </a:lnTo>
                    <a:lnTo>
                      <a:pt x="12" y="24"/>
                    </a:lnTo>
                    <a:lnTo>
                      <a:pt x="12" y="0"/>
                    </a:lnTo>
                    <a:lnTo>
                      <a:pt x="18" y="0"/>
                    </a:lnTo>
                    <a:lnTo>
                      <a:pt x="18" y="0"/>
                    </a:lnTo>
                    <a:lnTo>
                      <a:pt x="18" y="0"/>
                    </a:lnTo>
                    <a:lnTo>
                      <a:pt x="18" y="0"/>
                    </a:lnTo>
                    <a:lnTo>
                      <a:pt x="12" y="0"/>
                    </a:lnTo>
                    <a:lnTo>
                      <a:pt x="24" y="18"/>
                    </a:lnTo>
                    <a:close/>
                    <a:moveTo>
                      <a:pt x="0" y="18"/>
                    </a:moveTo>
                    <a:lnTo>
                      <a:pt x="12" y="42"/>
                    </a:lnTo>
                    <a:lnTo>
                      <a:pt x="24" y="18"/>
                    </a:lnTo>
                    <a:lnTo>
                      <a:pt x="12" y="12"/>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63"/>
              <p:cNvSpPr>
                <a:spLocks noEditPoints="1"/>
              </p:cNvSpPr>
              <p:nvPr/>
            </p:nvSpPr>
            <p:spPr bwMode="auto">
              <a:xfrm>
                <a:off x="4548" y="2428"/>
                <a:ext cx="12" cy="24"/>
              </a:xfrm>
              <a:custGeom>
                <a:avLst/>
                <a:gdLst>
                  <a:gd name="T0" fmla="*/ 12 w 12"/>
                  <a:gd name="T1" fmla="*/ 24 h 24"/>
                  <a:gd name="T2" fmla="*/ 12 w 12"/>
                  <a:gd name="T3" fmla="*/ 24 h 24"/>
                  <a:gd name="T4" fmla="*/ 12 w 12"/>
                  <a:gd name="T5" fmla="*/ 24 h 24"/>
                  <a:gd name="T6" fmla="*/ 12 w 12"/>
                  <a:gd name="T7" fmla="*/ 24 h 24"/>
                  <a:gd name="T8" fmla="*/ 6 w 12"/>
                  <a:gd name="T9" fmla="*/ 24 h 24"/>
                  <a:gd name="T10" fmla="*/ 12 w 12"/>
                  <a:gd name="T11" fmla="*/ 0 h 24"/>
                  <a:gd name="T12" fmla="*/ 6 w 12"/>
                  <a:gd name="T13" fmla="*/ 0 h 24"/>
                  <a:gd name="T14" fmla="*/ 0 w 12"/>
                  <a:gd name="T15" fmla="*/ 0 h 24"/>
                  <a:gd name="T16" fmla="*/ 0 w 12"/>
                  <a:gd name="T17" fmla="*/ 0 h 24"/>
                  <a:gd name="T18" fmla="*/ 0 w 12"/>
                  <a:gd name="T19" fmla="*/ 0 h 24"/>
                  <a:gd name="T20" fmla="*/ 12 w 12"/>
                  <a:gd name="T21" fmla="*/ 24 h 24"/>
                  <a:gd name="T22" fmla="*/ 6 w 12"/>
                  <a:gd name="T23" fmla="*/ 24 h 24"/>
                  <a:gd name="T24" fmla="*/ 6 w 12"/>
                  <a:gd name="T25" fmla="*/ 24 h 24"/>
                  <a:gd name="T26" fmla="*/ 12 w 12"/>
                  <a:gd name="T27" fmla="*/ 24 h 24"/>
                  <a:gd name="T28" fmla="*/ 6 w 12"/>
                  <a:gd name="T29" fmla="*/ 12 h 24"/>
                  <a:gd name="T30" fmla="*/ 6 w 12"/>
                  <a:gd name="T3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 h="24">
                    <a:moveTo>
                      <a:pt x="12" y="24"/>
                    </a:moveTo>
                    <a:lnTo>
                      <a:pt x="12" y="24"/>
                    </a:lnTo>
                    <a:lnTo>
                      <a:pt x="12" y="24"/>
                    </a:lnTo>
                    <a:lnTo>
                      <a:pt x="12" y="24"/>
                    </a:lnTo>
                    <a:lnTo>
                      <a:pt x="6" y="24"/>
                    </a:lnTo>
                    <a:lnTo>
                      <a:pt x="12" y="0"/>
                    </a:lnTo>
                    <a:lnTo>
                      <a:pt x="6" y="0"/>
                    </a:lnTo>
                    <a:lnTo>
                      <a:pt x="0" y="0"/>
                    </a:lnTo>
                    <a:lnTo>
                      <a:pt x="0" y="0"/>
                    </a:lnTo>
                    <a:lnTo>
                      <a:pt x="0" y="0"/>
                    </a:lnTo>
                    <a:lnTo>
                      <a:pt x="12" y="24"/>
                    </a:lnTo>
                    <a:close/>
                    <a:moveTo>
                      <a:pt x="6" y="24"/>
                    </a:moveTo>
                    <a:lnTo>
                      <a:pt x="6" y="24"/>
                    </a:lnTo>
                    <a:lnTo>
                      <a:pt x="12" y="24"/>
                    </a:lnTo>
                    <a:lnTo>
                      <a:pt x="6" y="12"/>
                    </a:lnTo>
                    <a:lnTo>
                      <a:pt x="6"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64"/>
              <p:cNvSpPr>
                <a:spLocks noEditPoints="1"/>
              </p:cNvSpPr>
              <p:nvPr/>
            </p:nvSpPr>
            <p:spPr bwMode="auto">
              <a:xfrm>
                <a:off x="4548" y="2428"/>
                <a:ext cx="24" cy="24"/>
              </a:xfrm>
              <a:custGeom>
                <a:avLst/>
                <a:gdLst>
                  <a:gd name="T0" fmla="*/ 6 w 24"/>
                  <a:gd name="T1" fmla="*/ 24 h 24"/>
                  <a:gd name="T2" fmla="*/ 18 w 24"/>
                  <a:gd name="T3" fmla="*/ 24 h 24"/>
                  <a:gd name="T4" fmla="*/ 18 w 24"/>
                  <a:gd name="T5" fmla="*/ 18 h 24"/>
                  <a:gd name="T6" fmla="*/ 24 w 24"/>
                  <a:gd name="T7" fmla="*/ 12 h 24"/>
                  <a:gd name="T8" fmla="*/ 0 w 24"/>
                  <a:gd name="T9" fmla="*/ 6 h 24"/>
                  <a:gd name="T10" fmla="*/ 0 w 24"/>
                  <a:gd name="T11" fmla="*/ 6 h 24"/>
                  <a:gd name="T12" fmla="*/ 0 w 24"/>
                  <a:gd name="T13" fmla="*/ 0 h 24"/>
                  <a:gd name="T14" fmla="*/ 12 w 24"/>
                  <a:gd name="T15" fmla="*/ 0 h 24"/>
                  <a:gd name="T16" fmla="*/ 6 w 24"/>
                  <a:gd name="T17" fmla="*/ 24 h 24"/>
                  <a:gd name="T18" fmla="*/ 12 w 24"/>
                  <a:gd name="T19" fmla="*/ 0 h 24"/>
                  <a:gd name="T20" fmla="*/ 12 w 24"/>
                  <a:gd name="T21" fmla="*/ 0 h 24"/>
                  <a:gd name="T22" fmla="*/ 12 w 24"/>
                  <a:gd name="T23" fmla="*/ 0 h 24"/>
                  <a:gd name="T24" fmla="*/ 6 w 24"/>
                  <a:gd name="T25" fmla="*/ 12 h 24"/>
                  <a:gd name="T26" fmla="*/ 12 w 24"/>
                  <a:gd name="T2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4">
                    <a:moveTo>
                      <a:pt x="6" y="24"/>
                    </a:moveTo>
                    <a:lnTo>
                      <a:pt x="18" y="24"/>
                    </a:lnTo>
                    <a:lnTo>
                      <a:pt x="18" y="18"/>
                    </a:lnTo>
                    <a:lnTo>
                      <a:pt x="24" y="12"/>
                    </a:lnTo>
                    <a:lnTo>
                      <a:pt x="0" y="6"/>
                    </a:lnTo>
                    <a:lnTo>
                      <a:pt x="0" y="6"/>
                    </a:lnTo>
                    <a:lnTo>
                      <a:pt x="0" y="0"/>
                    </a:lnTo>
                    <a:lnTo>
                      <a:pt x="12" y="0"/>
                    </a:lnTo>
                    <a:lnTo>
                      <a:pt x="6" y="24"/>
                    </a:lnTo>
                    <a:close/>
                    <a:moveTo>
                      <a:pt x="12" y="0"/>
                    </a:moveTo>
                    <a:lnTo>
                      <a:pt x="12" y="0"/>
                    </a:lnTo>
                    <a:lnTo>
                      <a:pt x="12" y="0"/>
                    </a:lnTo>
                    <a:lnTo>
                      <a:pt x="6" y="12"/>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65"/>
              <p:cNvSpPr>
                <a:spLocks noEditPoints="1"/>
              </p:cNvSpPr>
              <p:nvPr/>
            </p:nvSpPr>
            <p:spPr bwMode="auto">
              <a:xfrm>
                <a:off x="4548" y="2428"/>
                <a:ext cx="24" cy="24"/>
              </a:xfrm>
              <a:custGeom>
                <a:avLst/>
                <a:gdLst>
                  <a:gd name="T0" fmla="*/ 12 w 24"/>
                  <a:gd name="T1" fmla="*/ 0 h 24"/>
                  <a:gd name="T2" fmla="*/ 0 w 24"/>
                  <a:gd name="T3" fmla="*/ 0 h 24"/>
                  <a:gd name="T4" fmla="*/ 0 w 24"/>
                  <a:gd name="T5" fmla="*/ 24 h 24"/>
                  <a:gd name="T6" fmla="*/ 12 w 24"/>
                  <a:gd name="T7" fmla="*/ 24 h 24"/>
                  <a:gd name="T8" fmla="*/ 12 w 24"/>
                  <a:gd name="T9" fmla="*/ 0 h 24"/>
                  <a:gd name="T10" fmla="*/ 24 w 24"/>
                  <a:gd name="T11" fmla="*/ 12 h 24"/>
                  <a:gd name="T12" fmla="*/ 24 w 24"/>
                  <a:gd name="T13" fmla="*/ 0 h 24"/>
                  <a:gd name="T14" fmla="*/ 12 w 24"/>
                  <a:gd name="T15" fmla="*/ 0 h 24"/>
                  <a:gd name="T16" fmla="*/ 12 w 24"/>
                  <a:gd name="T17" fmla="*/ 12 h 24"/>
                  <a:gd name="T18" fmla="*/ 24 w 24"/>
                  <a:gd name="T1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lnTo>
                      <a:pt x="0" y="0"/>
                    </a:lnTo>
                    <a:lnTo>
                      <a:pt x="0" y="24"/>
                    </a:lnTo>
                    <a:lnTo>
                      <a:pt x="12" y="24"/>
                    </a:lnTo>
                    <a:lnTo>
                      <a:pt x="12" y="0"/>
                    </a:lnTo>
                    <a:close/>
                    <a:moveTo>
                      <a:pt x="24" y="12"/>
                    </a:moveTo>
                    <a:lnTo>
                      <a:pt x="24" y="0"/>
                    </a:lnTo>
                    <a:lnTo>
                      <a:pt x="12" y="0"/>
                    </a:lnTo>
                    <a:lnTo>
                      <a:pt x="12" y="12"/>
                    </a:lnTo>
                    <a:lnTo>
                      <a:pt x="24"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66"/>
              <p:cNvSpPr>
                <a:spLocks noEditPoints="1"/>
              </p:cNvSpPr>
              <p:nvPr/>
            </p:nvSpPr>
            <p:spPr bwMode="auto">
              <a:xfrm>
                <a:off x="4536" y="2434"/>
                <a:ext cx="24" cy="18"/>
              </a:xfrm>
              <a:custGeom>
                <a:avLst/>
                <a:gdLst>
                  <a:gd name="T0" fmla="*/ 24 w 24"/>
                  <a:gd name="T1" fmla="*/ 6 h 18"/>
                  <a:gd name="T2" fmla="*/ 24 w 24"/>
                  <a:gd name="T3" fmla="*/ 0 h 18"/>
                  <a:gd name="T4" fmla="*/ 0 w 24"/>
                  <a:gd name="T5" fmla="*/ 0 h 18"/>
                  <a:gd name="T6" fmla="*/ 0 w 24"/>
                  <a:gd name="T7" fmla="*/ 6 h 18"/>
                  <a:gd name="T8" fmla="*/ 24 w 24"/>
                  <a:gd name="T9" fmla="*/ 6 h 18"/>
                  <a:gd name="T10" fmla="*/ 0 w 24"/>
                  <a:gd name="T11" fmla="*/ 6 h 18"/>
                  <a:gd name="T12" fmla="*/ 0 w 24"/>
                  <a:gd name="T13" fmla="*/ 18 h 18"/>
                  <a:gd name="T14" fmla="*/ 12 w 24"/>
                  <a:gd name="T15" fmla="*/ 18 h 18"/>
                  <a:gd name="T16" fmla="*/ 12 w 24"/>
                  <a:gd name="T17" fmla="*/ 6 h 18"/>
                  <a:gd name="T18" fmla="*/ 0 w 24"/>
                  <a:gd name="T19" fmla="*/ 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24" y="6"/>
                    </a:moveTo>
                    <a:lnTo>
                      <a:pt x="24" y="0"/>
                    </a:lnTo>
                    <a:lnTo>
                      <a:pt x="0" y="0"/>
                    </a:lnTo>
                    <a:lnTo>
                      <a:pt x="0" y="6"/>
                    </a:lnTo>
                    <a:lnTo>
                      <a:pt x="24" y="6"/>
                    </a:lnTo>
                    <a:close/>
                    <a:moveTo>
                      <a:pt x="0" y="6"/>
                    </a:moveTo>
                    <a:lnTo>
                      <a:pt x="0" y="18"/>
                    </a:lnTo>
                    <a:lnTo>
                      <a:pt x="12" y="18"/>
                    </a:lnTo>
                    <a:lnTo>
                      <a:pt x="12"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67"/>
              <p:cNvSpPr>
                <a:spLocks noEditPoints="1"/>
              </p:cNvSpPr>
              <p:nvPr/>
            </p:nvSpPr>
            <p:spPr bwMode="auto">
              <a:xfrm>
                <a:off x="4542" y="2422"/>
                <a:ext cx="18" cy="24"/>
              </a:xfrm>
              <a:custGeom>
                <a:avLst/>
                <a:gdLst>
                  <a:gd name="T0" fmla="*/ 6 w 18"/>
                  <a:gd name="T1" fmla="*/ 0 h 24"/>
                  <a:gd name="T2" fmla="*/ 0 w 18"/>
                  <a:gd name="T3" fmla="*/ 0 h 24"/>
                  <a:gd name="T4" fmla="*/ 0 w 18"/>
                  <a:gd name="T5" fmla="*/ 24 h 24"/>
                  <a:gd name="T6" fmla="*/ 6 w 18"/>
                  <a:gd name="T7" fmla="*/ 24 h 24"/>
                  <a:gd name="T8" fmla="*/ 6 w 18"/>
                  <a:gd name="T9" fmla="*/ 0 h 24"/>
                  <a:gd name="T10" fmla="*/ 18 w 18"/>
                  <a:gd name="T11" fmla="*/ 12 h 24"/>
                  <a:gd name="T12" fmla="*/ 18 w 18"/>
                  <a:gd name="T13" fmla="*/ 0 h 24"/>
                  <a:gd name="T14" fmla="*/ 6 w 18"/>
                  <a:gd name="T15" fmla="*/ 0 h 24"/>
                  <a:gd name="T16" fmla="*/ 6 w 18"/>
                  <a:gd name="T17" fmla="*/ 12 h 24"/>
                  <a:gd name="T18" fmla="*/ 18 w 18"/>
                  <a:gd name="T1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24">
                    <a:moveTo>
                      <a:pt x="6" y="0"/>
                    </a:moveTo>
                    <a:lnTo>
                      <a:pt x="0" y="0"/>
                    </a:lnTo>
                    <a:lnTo>
                      <a:pt x="0" y="24"/>
                    </a:lnTo>
                    <a:lnTo>
                      <a:pt x="6" y="24"/>
                    </a:lnTo>
                    <a:lnTo>
                      <a:pt x="6" y="0"/>
                    </a:lnTo>
                    <a:close/>
                    <a:moveTo>
                      <a:pt x="18" y="12"/>
                    </a:moveTo>
                    <a:lnTo>
                      <a:pt x="18" y="0"/>
                    </a:lnTo>
                    <a:lnTo>
                      <a:pt x="6" y="0"/>
                    </a:lnTo>
                    <a:lnTo>
                      <a:pt x="6" y="12"/>
                    </a:lnTo>
                    <a:lnTo>
                      <a:pt x="1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68"/>
              <p:cNvSpPr>
                <a:spLocks/>
              </p:cNvSpPr>
              <p:nvPr/>
            </p:nvSpPr>
            <p:spPr bwMode="auto">
              <a:xfrm>
                <a:off x="4524" y="2422"/>
                <a:ext cx="18" cy="18"/>
              </a:xfrm>
              <a:custGeom>
                <a:avLst/>
                <a:gdLst>
                  <a:gd name="T0" fmla="*/ 18 w 18"/>
                  <a:gd name="T1" fmla="*/ 0 h 18"/>
                  <a:gd name="T2" fmla="*/ 0 w 18"/>
                  <a:gd name="T3" fmla="*/ 0 h 18"/>
                  <a:gd name="T4" fmla="*/ 6 w 18"/>
                  <a:gd name="T5" fmla="*/ 18 h 18"/>
                  <a:gd name="T6" fmla="*/ 18 w 18"/>
                  <a:gd name="T7" fmla="*/ 12 h 18"/>
                  <a:gd name="T8" fmla="*/ 18 w 18"/>
                  <a:gd name="T9" fmla="*/ 0 h 18"/>
                </a:gdLst>
                <a:ahLst/>
                <a:cxnLst>
                  <a:cxn ang="0">
                    <a:pos x="T0" y="T1"/>
                  </a:cxn>
                  <a:cxn ang="0">
                    <a:pos x="T2" y="T3"/>
                  </a:cxn>
                  <a:cxn ang="0">
                    <a:pos x="T4" y="T5"/>
                  </a:cxn>
                  <a:cxn ang="0">
                    <a:pos x="T6" y="T7"/>
                  </a:cxn>
                  <a:cxn ang="0">
                    <a:pos x="T8" y="T9"/>
                  </a:cxn>
                </a:cxnLst>
                <a:rect l="0" t="0" r="r" b="b"/>
                <a:pathLst>
                  <a:path w="18" h="18">
                    <a:moveTo>
                      <a:pt x="18" y="0"/>
                    </a:moveTo>
                    <a:lnTo>
                      <a:pt x="0" y="0"/>
                    </a:lnTo>
                    <a:lnTo>
                      <a:pt x="6" y="18"/>
                    </a:lnTo>
                    <a:lnTo>
                      <a:pt x="18" y="12"/>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69"/>
              <p:cNvSpPr>
                <a:spLocks/>
              </p:cNvSpPr>
              <p:nvPr/>
            </p:nvSpPr>
            <p:spPr bwMode="auto">
              <a:xfrm>
                <a:off x="4536" y="2410"/>
                <a:ext cx="24" cy="18"/>
              </a:xfrm>
              <a:custGeom>
                <a:avLst/>
                <a:gdLst>
                  <a:gd name="T0" fmla="*/ 12 w 24"/>
                  <a:gd name="T1" fmla="*/ 0 h 18"/>
                  <a:gd name="T2" fmla="*/ 6 w 24"/>
                  <a:gd name="T3" fmla="*/ 6 h 18"/>
                  <a:gd name="T4" fmla="*/ 0 w 24"/>
                  <a:gd name="T5" fmla="*/ 12 h 18"/>
                  <a:gd name="T6" fmla="*/ 6 w 24"/>
                  <a:gd name="T7" fmla="*/ 18 h 18"/>
                  <a:gd name="T8" fmla="*/ 12 w 24"/>
                  <a:gd name="T9" fmla="*/ 18 h 18"/>
                  <a:gd name="T10" fmla="*/ 18 w 24"/>
                  <a:gd name="T11" fmla="*/ 18 h 18"/>
                  <a:gd name="T12" fmla="*/ 24 w 24"/>
                  <a:gd name="T13" fmla="*/ 18 h 18"/>
                  <a:gd name="T14" fmla="*/ 24 w 24"/>
                  <a:gd name="T15" fmla="*/ 12 h 18"/>
                  <a:gd name="T16" fmla="*/ 24 w 24"/>
                  <a:gd name="T17" fmla="*/ 6 h 18"/>
                  <a:gd name="T18" fmla="*/ 18 w 24"/>
                  <a:gd name="T19" fmla="*/ 0 h 18"/>
                  <a:gd name="T20" fmla="*/ 12 w 24"/>
                  <a:gd name="T21" fmla="*/ 0 h 18"/>
                  <a:gd name="T22" fmla="*/ 12 w 24"/>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12" y="0"/>
                    </a:moveTo>
                    <a:lnTo>
                      <a:pt x="6" y="6"/>
                    </a:lnTo>
                    <a:lnTo>
                      <a:pt x="0" y="12"/>
                    </a:lnTo>
                    <a:lnTo>
                      <a:pt x="6" y="18"/>
                    </a:lnTo>
                    <a:lnTo>
                      <a:pt x="12" y="18"/>
                    </a:lnTo>
                    <a:lnTo>
                      <a:pt x="18" y="18"/>
                    </a:lnTo>
                    <a:lnTo>
                      <a:pt x="24" y="18"/>
                    </a:lnTo>
                    <a:lnTo>
                      <a:pt x="24" y="12"/>
                    </a:lnTo>
                    <a:lnTo>
                      <a:pt x="24" y="6"/>
                    </a:lnTo>
                    <a:lnTo>
                      <a:pt x="18" y="0"/>
                    </a:lnTo>
                    <a:lnTo>
                      <a:pt x="12" y="0"/>
                    </a:lnTo>
                    <a:lnTo>
                      <a:pt x="12"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70"/>
              <p:cNvSpPr>
                <a:spLocks/>
              </p:cNvSpPr>
              <p:nvPr/>
            </p:nvSpPr>
            <p:spPr bwMode="auto">
              <a:xfrm>
                <a:off x="4524" y="2398"/>
                <a:ext cx="24" cy="24"/>
              </a:xfrm>
              <a:custGeom>
                <a:avLst/>
                <a:gdLst>
                  <a:gd name="T0" fmla="*/ 24 w 24"/>
                  <a:gd name="T1" fmla="*/ 0 h 24"/>
                  <a:gd name="T2" fmla="*/ 6 w 24"/>
                  <a:gd name="T3" fmla="*/ 6 h 24"/>
                  <a:gd name="T4" fmla="*/ 0 w 24"/>
                  <a:gd name="T5" fmla="*/ 24 h 24"/>
                  <a:gd name="T6" fmla="*/ 24 w 24"/>
                  <a:gd name="T7" fmla="*/ 24 h 24"/>
                  <a:gd name="T8" fmla="*/ 24 w 24"/>
                  <a:gd name="T9" fmla="*/ 24 h 24"/>
                  <a:gd name="T10" fmla="*/ 24 w 24"/>
                  <a:gd name="T11" fmla="*/ 0 h 24"/>
                </a:gdLst>
                <a:ahLst/>
                <a:cxnLst>
                  <a:cxn ang="0">
                    <a:pos x="T0" y="T1"/>
                  </a:cxn>
                  <a:cxn ang="0">
                    <a:pos x="T2" y="T3"/>
                  </a:cxn>
                  <a:cxn ang="0">
                    <a:pos x="T4" y="T5"/>
                  </a:cxn>
                  <a:cxn ang="0">
                    <a:pos x="T6" y="T7"/>
                  </a:cxn>
                  <a:cxn ang="0">
                    <a:pos x="T8" y="T9"/>
                  </a:cxn>
                  <a:cxn ang="0">
                    <a:pos x="T10" y="T11"/>
                  </a:cxn>
                </a:cxnLst>
                <a:rect l="0" t="0" r="r" b="b"/>
                <a:pathLst>
                  <a:path w="24" h="24">
                    <a:moveTo>
                      <a:pt x="24" y="0"/>
                    </a:moveTo>
                    <a:lnTo>
                      <a:pt x="6" y="6"/>
                    </a:lnTo>
                    <a:lnTo>
                      <a:pt x="0" y="24"/>
                    </a:lnTo>
                    <a:lnTo>
                      <a:pt x="24" y="24"/>
                    </a:lnTo>
                    <a:lnTo>
                      <a:pt x="24" y="24"/>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71"/>
              <p:cNvSpPr>
                <a:spLocks noEditPoints="1"/>
              </p:cNvSpPr>
              <p:nvPr/>
            </p:nvSpPr>
            <p:spPr bwMode="auto">
              <a:xfrm>
                <a:off x="4524" y="2416"/>
                <a:ext cx="24" cy="24"/>
              </a:xfrm>
              <a:custGeom>
                <a:avLst/>
                <a:gdLst>
                  <a:gd name="T0" fmla="*/ 0 w 24"/>
                  <a:gd name="T1" fmla="*/ 6 h 24"/>
                  <a:gd name="T2" fmla="*/ 6 w 24"/>
                  <a:gd name="T3" fmla="*/ 18 h 24"/>
                  <a:gd name="T4" fmla="*/ 24 w 24"/>
                  <a:gd name="T5" fmla="*/ 24 h 24"/>
                  <a:gd name="T6" fmla="*/ 24 w 24"/>
                  <a:gd name="T7" fmla="*/ 0 h 24"/>
                  <a:gd name="T8" fmla="*/ 24 w 24"/>
                  <a:gd name="T9" fmla="*/ 6 h 24"/>
                  <a:gd name="T10" fmla="*/ 24 w 24"/>
                  <a:gd name="T11" fmla="*/ 6 h 24"/>
                  <a:gd name="T12" fmla="*/ 0 w 24"/>
                  <a:gd name="T13" fmla="*/ 6 h 24"/>
                  <a:gd name="T14" fmla="*/ 24 w 24"/>
                  <a:gd name="T15" fmla="*/ 6 h 24"/>
                  <a:gd name="T16" fmla="*/ 24 w 24"/>
                  <a:gd name="T17" fmla="*/ 6 h 24"/>
                  <a:gd name="T18" fmla="*/ 12 w 24"/>
                  <a:gd name="T19" fmla="*/ 6 h 24"/>
                  <a:gd name="T20" fmla="*/ 24 w 24"/>
                  <a:gd name="T21"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0" y="6"/>
                    </a:moveTo>
                    <a:lnTo>
                      <a:pt x="6" y="18"/>
                    </a:lnTo>
                    <a:lnTo>
                      <a:pt x="24" y="24"/>
                    </a:lnTo>
                    <a:lnTo>
                      <a:pt x="24" y="0"/>
                    </a:lnTo>
                    <a:lnTo>
                      <a:pt x="24" y="6"/>
                    </a:lnTo>
                    <a:lnTo>
                      <a:pt x="24" y="6"/>
                    </a:lnTo>
                    <a:lnTo>
                      <a:pt x="0" y="6"/>
                    </a:lnTo>
                    <a:close/>
                    <a:moveTo>
                      <a:pt x="24" y="6"/>
                    </a:moveTo>
                    <a:lnTo>
                      <a:pt x="24" y="6"/>
                    </a:lnTo>
                    <a:lnTo>
                      <a:pt x="12" y="6"/>
                    </a:lnTo>
                    <a:lnTo>
                      <a:pt x="2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72"/>
              <p:cNvSpPr>
                <a:spLocks noEditPoints="1"/>
              </p:cNvSpPr>
              <p:nvPr/>
            </p:nvSpPr>
            <p:spPr bwMode="auto">
              <a:xfrm>
                <a:off x="4548" y="2416"/>
                <a:ext cx="6" cy="24"/>
              </a:xfrm>
              <a:custGeom>
                <a:avLst/>
                <a:gdLst>
                  <a:gd name="T0" fmla="*/ 0 w 6"/>
                  <a:gd name="T1" fmla="*/ 24 h 24"/>
                  <a:gd name="T2" fmla="*/ 6 w 6"/>
                  <a:gd name="T3" fmla="*/ 24 h 24"/>
                  <a:gd name="T4" fmla="*/ 6 w 6"/>
                  <a:gd name="T5" fmla="*/ 0 h 24"/>
                  <a:gd name="T6" fmla="*/ 0 w 6"/>
                  <a:gd name="T7" fmla="*/ 0 h 24"/>
                  <a:gd name="T8" fmla="*/ 0 w 6"/>
                  <a:gd name="T9" fmla="*/ 24 h 24"/>
                  <a:gd name="T10" fmla="*/ 0 w 6"/>
                  <a:gd name="T11" fmla="*/ 0 h 24"/>
                  <a:gd name="T12" fmla="*/ 0 w 6"/>
                  <a:gd name="T13" fmla="*/ 0 h 24"/>
                  <a:gd name="T14" fmla="*/ 0 w 6"/>
                  <a:gd name="T15" fmla="*/ 12 h 24"/>
                  <a:gd name="T16" fmla="*/ 0 w 6"/>
                  <a:gd name="T1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4">
                    <a:moveTo>
                      <a:pt x="0" y="24"/>
                    </a:moveTo>
                    <a:lnTo>
                      <a:pt x="6" y="24"/>
                    </a:lnTo>
                    <a:lnTo>
                      <a:pt x="6" y="0"/>
                    </a:lnTo>
                    <a:lnTo>
                      <a:pt x="0" y="0"/>
                    </a:lnTo>
                    <a:lnTo>
                      <a:pt x="0" y="24"/>
                    </a:lnTo>
                    <a:close/>
                    <a:moveTo>
                      <a:pt x="0" y="0"/>
                    </a:moveTo>
                    <a:lnTo>
                      <a:pt x="0" y="0"/>
                    </a:lnTo>
                    <a:lnTo>
                      <a:pt x="0" y="1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73"/>
              <p:cNvSpPr>
                <a:spLocks noEditPoints="1"/>
              </p:cNvSpPr>
              <p:nvPr/>
            </p:nvSpPr>
            <p:spPr bwMode="auto">
              <a:xfrm>
                <a:off x="4548" y="2416"/>
                <a:ext cx="24" cy="24"/>
              </a:xfrm>
              <a:custGeom>
                <a:avLst/>
                <a:gdLst>
                  <a:gd name="T0" fmla="*/ 6 w 24"/>
                  <a:gd name="T1" fmla="*/ 24 h 24"/>
                  <a:gd name="T2" fmla="*/ 18 w 24"/>
                  <a:gd name="T3" fmla="*/ 18 h 24"/>
                  <a:gd name="T4" fmla="*/ 24 w 24"/>
                  <a:gd name="T5" fmla="*/ 6 h 24"/>
                  <a:gd name="T6" fmla="*/ 0 w 24"/>
                  <a:gd name="T7" fmla="*/ 6 h 24"/>
                  <a:gd name="T8" fmla="*/ 0 w 24"/>
                  <a:gd name="T9" fmla="*/ 6 h 24"/>
                  <a:gd name="T10" fmla="*/ 6 w 24"/>
                  <a:gd name="T11" fmla="*/ 0 h 24"/>
                  <a:gd name="T12" fmla="*/ 6 w 24"/>
                  <a:gd name="T13" fmla="*/ 24 h 24"/>
                  <a:gd name="T14" fmla="*/ 6 w 24"/>
                  <a:gd name="T15" fmla="*/ 0 h 24"/>
                  <a:gd name="T16" fmla="*/ 6 w 24"/>
                  <a:gd name="T17" fmla="*/ 0 h 24"/>
                  <a:gd name="T18" fmla="*/ 6 w 24"/>
                  <a:gd name="T19" fmla="*/ 12 h 24"/>
                  <a:gd name="T20" fmla="*/ 6 w 24"/>
                  <a:gd name="T21"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6" y="24"/>
                    </a:moveTo>
                    <a:lnTo>
                      <a:pt x="18" y="18"/>
                    </a:lnTo>
                    <a:lnTo>
                      <a:pt x="24" y="6"/>
                    </a:lnTo>
                    <a:lnTo>
                      <a:pt x="0" y="6"/>
                    </a:lnTo>
                    <a:lnTo>
                      <a:pt x="0" y="6"/>
                    </a:lnTo>
                    <a:lnTo>
                      <a:pt x="6" y="0"/>
                    </a:lnTo>
                    <a:lnTo>
                      <a:pt x="6" y="24"/>
                    </a:lnTo>
                    <a:close/>
                    <a:moveTo>
                      <a:pt x="6" y="0"/>
                    </a:moveTo>
                    <a:lnTo>
                      <a:pt x="6" y="0"/>
                    </a:lnTo>
                    <a:lnTo>
                      <a:pt x="6" y="1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74"/>
              <p:cNvSpPr>
                <a:spLocks noEditPoints="1"/>
              </p:cNvSpPr>
              <p:nvPr/>
            </p:nvSpPr>
            <p:spPr bwMode="auto">
              <a:xfrm>
                <a:off x="4548" y="2398"/>
                <a:ext cx="24" cy="24"/>
              </a:xfrm>
              <a:custGeom>
                <a:avLst/>
                <a:gdLst>
                  <a:gd name="T0" fmla="*/ 24 w 24"/>
                  <a:gd name="T1" fmla="*/ 24 h 24"/>
                  <a:gd name="T2" fmla="*/ 18 w 24"/>
                  <a:gd name="T3" fmla="*/ 6 h 24"/>
                  <a:gd name="T4" fmla="*/ 6 w 24"/>
                  <a:gd name="T5" fmla="*/ 0 h 24"/>
                  <a:gd name="T6" fmla="*/ 6 w 24"/>
                  <a:gd name="T7" fmla="*/ 24 h 24"/>
                  <a:gd name="T8" fmla="*/ 0 w 24"/>
                  <a:gd name="T9" fmla="*/ 24 h 24"/>
                  <a:gd name="T10" fmla="*/ 0 w 24"/>
                  <a:gd name="T11" fmla="*/ 24 h 24"/>
                  <a:gd name="T12" fmla="*/ 24 w 24"/>
                  <a:gd name="T13" fmla="*/ 24 h 24"/>
                  <a:gd name="T14" fmla="*/ 0 w 24"/>
                  <a:gd name="T15" fmla="*/ 24 h 24"/>
                  <a:gd name="T16" fmla="*/ 0 w 24"/>
                  <a:gd name="T17" fmla="*/ 24 h 24"/>
                  <a:gd name="T18" fmla="*/ 12 w 24"/>
                  <a:gd name="T19" fmla="*/ 24 h 24"/>
                  <a:gd name="T20" fmla="*/ 0 w 24"/>
                  <a:gd name="T2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24" y="24"/>
                    </a:moveTo>
                    <a:lnTo>
                      <a:pt x="18" y="6"/>
                    </a:lnTo>
                    <a:lnTo>
                      <a:pt x="6" y="0"/>
                    </a:lnTo>
                    <a:lnTo>
                      <a:pt x="6" y="24"/>
                    </a:lnTo>
                    <a:lnTo>
                      <a:pt x="0" y="24"/>
                    </a:lnTo>
                    <a:lnTo>
                      <a:pt x="0" y="24"/>
                    </a:lnTo>
                    <a:lnTo>
                      <a:pt x="24" y="24"/>
                    </a:lnTo>
                    <a:close/>
                    <a:moveTo>
                      <a:pt x="0" y="24"/>
                    </a:moveTo>
                    <a:lnTo>
                      <a:pt x="0" y="24"/>
                    </a:lnTo>
                    <a:lnTo>
                      <a:pt x="12"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5"/>
              <p:cNvSpPr>
                <a:spLocks noEditPoints="1"/>
              </p:cNvSpPr>
              <p:nvPr/>
            </p:nvSpPr>
            <p:spPr bwMode="auto">
              <a:xfrm>
                <a:off x="4548" y="2398"/>
                <a:ext cx="6" cy="24"/>
              </a:xfrm>
              <a:custGeom>
                <a:avLst/>
                <a:gdLst>
                  <a:gd name="T0" fmla="*/ 6 w 6"/>
                  <a:gd name="T1" fmla="*/ 0 h 24"/>
                  <a:gd name="T2" fmla="*/ 0 w 6"/>
                  <a:gd name="T3" fmla="*/ 0 h 24"/>
                  <a:gd name="T4" fmla="*/ 0 w 6"/>
                  <a:gd name="T5" fmla="*/ 24 h 24"/>
                  <a:gd name="T6" fmla="*/ 6 w 6"/>
                  <a:gd name="T7" fmla="*/ 24 h 24"/>
                  <a:gd name="T8" fmla="*/ 6 w 6"/>
                  <a:gd name="T9" fmla="*/ 0 h 24"/>
                  <a:gd name="T10" fmla="*/ 6 w 6"/>
                  <a:gd name="T11" fmla="*/ 24 h 24"/>
                  <a:gd name="T12" fmla="*/ 6 w 6"/>
                  <a:gd name="T13" fmla="*/ 24 h 24"/>
                  <a:gd name="T14" fmla="*/ 6 w 6"/>
                  <a:gd name="T15" fmla="*/ 12 h 24"/>
                  <a:gd name="T16" fmla="*/ 6 w 6"/>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4">
                    <a:moveTo>
                      <a:pt x="6" y="0"/>
                    </a:moveTo>
                    <a:lnTo>
                      <a:pt x="0" y="0"/>
                    </a:lnTo>
                    <a:lnTo>
                      <a:pt x="0" y="24"/>
                    </a:lnTo>
                    <a:lnTo>
                      <a:pt x="6" y="24"/>
                    </a:lnTo>
                    <a:lnTo>
                      <a:pt x="6" y="0"/>
                    </a:lnTo>
                    <a:close/>
                    <a:moveTo>
                      <a:pt x="6" y="24"/>
                    </a:moveTo>
                    <a:lnTo>
                      <a:pt x="6" y="24"/>
                    </a:lnTo>
                    <a:lnTo>
                      <a:pt x="6" y="12"/>
                    </a:lnTo>
                    <a:lnTo>
                      <a:pt x="6"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6"/>
              <p:cNvSpPr>
                <a:spLocks/>
              </p:cNvSpPr>
              <p:nvPr/>
            </p:nvSpPr>
            <p:spPr bwMode="auto">
              <a:xfrm>
                <a:off x="4548" y="2410"/>
                <a:ext cx="1" cy="12"/>
              </a:xfrm>
              <a:custGeom>
                <a:avLst/>
                <a:gdLst>
                  <a:gd name="T0" fmla="*/ 12 h 12"/>
                  <a:gd name="T1" fmla="*/ 12 h 12"/>
                  <a:gd name="T2" fmla="*/ 0 h 12"/>
                  <a:gd name="T3" fmla="*/ 12 h 12"/>
                </a:gdLst>
                <a:ahLst/>
                <a:cxnLst>
                  <a:cxn ang="0">
                    <a:pos x="0" y="T0"/>
                  </a:cxn>
                  <a:cxn ang="0">
                    <a:pos x="0" y="T1"/>
                  </a:cxn>
                  <a:cxn ang="0">
                    <a:pos x="0" y="T2"/>
                  </a:cxn>
                  <a:cxn ang="0">
                    <a:pos x="0" y="T3"/>
                  </a:cxn>
                </a:cxnLst>
                <a:rect l="0" t="0" r="r" b="b"/>
                <a:pathLst>
                  <a:path h="12">
                    <a:moveTo>
                      <a:pt x="0" y="12"/>
                    </a:moveTo>
                    <a:lnTo>
                      <a:pt x="0" y="12"/>
                    </a:lnTo>
                    <a:lnTo>
                      <a:pt x="0"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7"/>
              <p:cNvSpPr>
                <a:spLocks/>
              </p:cNvSpPr>
              <p:nvPr/>
            </p:nvSpPr>
            <p:spPr bwMode="auto">
              <a:xfrm>
                <a:off x="4548" y="2386"/>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8"/>
              <p:cNvSpPr>
                <a:spLocks/>
              </p:cNvSpPr>
              <p:nvPr/>
            </p:nvSpPr>
            <p:spPr bwMode="auto">
              <a:xfrm>
                <a:off x="4548" y="2357"/>
                <a:ext cx="6" cy="6"/>
              </a:xfrm>
              <a:custGeom>
                <a:avLst/>
                <a:gdLst>
                  <a:gd name="T0" fmla="*/ 0 w 6"/>
                  <a:gd name="T1" fmla="*/ 0 h 6"/>
                  <a:gd name="T2" fmla="*/ 0 w 6"/>
                  <a:gd name="T3" fmla="*/ 0 h 6"/>
                  <a:gd name="T4" fmla="*/ 0 w 6"/>
                  <a:gd name="T5" fmla="*/ 6 h 6"/>
                  <a:gd name="T6" fmla="*/ 0 w 6"/>
                  <a:gd name="T7" fmla="*/ 6 h 6"/>
                  <a:gd name="T8" fmla="*/ 6 w 6"/>
                  <a:gd name="T9" fmla="*/ 6 h 6"/>
                  <a:gd name="T10" fmla="*/ 6 w 6"/>
                  <a:gd name="T11" fmla="*/ 0 h 6"/>
                  <a:gd name="T12" fmla="*/ 6 w 6"/>
                  <a:gd name="T13" fmla="*/ 0 h 6"/>
                  <a:gd name="T14" fmla="*/ 0 w 6"/>
                  <a:gd name="T15" fmla="*/ 0 h 6"/>
                  <a:gd name="T16" fmla="*/ 0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0" y="0"/>
                    </a:moveTo>
                    <a:lnTo>
                      <a:pt x="0" y="0"/>
                    </a:lnTo>
                    <a:lnTo>
                      <a:pt x="0" y="6"/>
                    </a:lnTo>
                    <a:lnTo>
                      <a:pt x="0" y="6"/>
                    </a:lnTo>
                    <a:lnTo>
                      <a:pt x="6" y="6"/>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9"/>
              <p:cNvSpPr>
                <a:spLocks/>
              </p:cNvSpPr>
              <p:nvPr/>
            </p:nvSpPr>
            <p:spPr bwMode="auto">
              <a:xfrm>
                <a:off x="4548" y="2363"/>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80"/>
              <p:cNvSpPr>
                <a:spLocks/>
              </p:cNvSpPr>
              <p:nvPr/>
            </p:nvSpPr>
            <p:spPr bwMode="auto">
              <a:xfrm>
                <a:off x="4548" y="2369"/>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81"/>
              <p:cNvSpPr>
                <a:spLocks/>
              </p:cNvSpPr>
              <p:nvPr/>
            </p:nvSpPr>
            <p:spPr bwMode="auto">
              <a:xfrm>
                <a:off x="4548" y="2375"/>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82"/>
              <p:cNvSpPr>
                <a:spLocks/>
              </p:cNvSpPr>
              <p:nvPr/>
            </p:nvSpPr>
            <p:spPr bwMode="auto">
              <a:xfrm>
                <a:off x="4548" y="2375"/>
                <a:ext cx="6" cy="6"/>
              </a:xfrm>
              <a:custGeom>
                <a:avLst/>
                <a:gdLst>
                  <a:gd name="T0" fmla="*/ 0 w 6"/>
                  <a:gd name="T1" fmla="*/ 0 h 6"/>
                  <a:gd name="T2" fmla="*/ 0 w 6"/>
                  <a:gd name="T3" fmla="*/ 0 h 6"/>
                  <a:gd name="T4" fmla="*/ 0 w 6"/>
                  <a:gd name="T5" fmla="*/ 6 h 6"/>
                  <a:gd name="T6" fmla="*/ 0 w 6"/>
                  <a:gd name="T7" fmla="*/ 6 h 6"/>
                  <a:gd name="T8" fmla="*/ 6 w 6"/>
                  <a:gd name="T9" fmla="*/ 6 h 6"/>
                  <a:gd name="T10" fmla="*/ 6 w 6"/>
                  <a:gd name="T11" fmla="*/ 0 h 6"/>
                  <a:gd name="T12" fmla="*/ 6 w 6"/>
                  <a:gd name="T13" fmla="*/ 0 h 6"/>
                  <a:gd name="T14" fmla="*/ 0 w 6"/>
                  <a:gd name="T15" fmla="*/ 0 h 6"/>
                  <a:gd name="T16" fmla="*/ 0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0" y="0"/>
                    </a:moveTo>
                    <a:lnTo>
                      <a:pt x="0" y="0"/>
                    </a:lnTo>
                    <a:lnTo>
                      <a:pt x="0" y="6"/>
                    </a:lnTo>
                    <a:lnTo>
                      <a:pt x="0" y="6"/>
                    </a:lnTo>
                    <a:lnTo>
                      <a:pt x="6" y="6"/>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83"/>
              <p:cNvSpPr>
                <a:spLocks/>
              </p:cNvSpPr>
              <p:nvPr/>
            </p:nvSpPr>
            <p:spPr bwMode="auto">
              <a:xfrm>
                <a:off x="4548" y="2381"/>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84"/>
              <p:cNvSpPr>
                <a:spLocks/>
              </p:cNvSpPr>
              <p:nvPr/>
            </p:nvSpPr>
            <p:spPr bwMode="auto">
              <a:xfrm>
                <a:off x="4548" y="2357"/>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85"/>
              <p:cNvSpPr>
                <a:spLocks/>
              </p:cNvSpPr>
              <p:nvPr/>
            </p:nvSpPr>
            <p:spPr bwMode="auto">
              <a:xfrm>
                <a:off x="4548" y="2392"/>
                <a:ext cx="6" cy="6"/>
              </a:xfrm>
              <a:custGeom>
                <a:avLst/>
                <a:gdLst>
                  <a:gd name="T0" fmla="*/ 0 w 6"/>
                  <a:gd name="T1" fmla="*/ 0 h 6"/>
                  <a:gd name="T2" fmla="*/ 0 w 6"/>
                  <a:gd name="T3" fmla="*/ 0 h 6"/>
                  <a:gd name="T4" fmla="*/ 0 w 6"/>
                  <a:gd name="T5" fmla="*/ 6 h 6"/>
                  <a:gd name="T6" fmla="*/ 0 w 6"/>
                  <a:gd name="T7" fmla="*/ 6 h 6"/>
                  <a:gd name="T8" fmla="*/ 6 w 6"/>
                  <a:gd name="T9" fmla="*/ 6 h 6"/>
                  <a:gd name="T10" fmla="*/ 6 w 6"/>
                  <a:gd name="T11" fmla="*/ 6 h 6"/>
                  <a:gd name="T12" fmla="*/ 6 w 6"/>
                  <a:gd name="T13" fmla="*/ 0 h 6"/>
                  <a:gd name="T14" fmla="*/ 0 w 6"/>
                  <a:gd name="T15" fmla="*/ 0 h 6"/>
                  <a:gd name="T16" fmla="*/ 0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0" y="0"/>
                    </a:moveTo>
                    <a:lnTo>
                      <a:pt x="0" y="0"/>
                    </a:lnTo>
                    <a:lnTo>
                      <a:pt x="0" y="6"/>
                    </a:lnTo>
                    <a:lnTo>
                      <a:pt x="0" y="6"/>
                    </a:lnTo>
                    <a:lnTo>
                      <a:pt x="6" y="6"/>
                    </a:lnTo>
                    <a:lnTo>
                      <a:pt x="6" y="6"/>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86"/>
              <p:cNvSpPr>
                <a:spLocks/>
              </p:cNvSpPr>
              <p:nvPr/>
            </p:nvSpPr>
            <p:spPr bwMode="auto">
              <a:xfrm>
                <a:off x="4542" y="2422"/>
                <a:ext cx="12" cy="1"/>
              </a:xfrm>
              <a:custGeom>
                <a:avLst/>
                <a:gdLst>
                  <a:gd name="T0" fmla="*/ 6 w 12"/>
                  <a:gd name="T1" fmla="*/ 6 w 12"/>
                  <a:gd name="T2" fmla="*/ 0 w 12"/>
                  <a:gd name="T3" fmla="*/ 6 w 12"/>
                  <a:gd name="T4" fmla="*/ 6 w 12"/>
                  <a:gd name="T5" fmla="*/ 12 w 12"/>
                  <a:gd name="T6" fmla="*/ 12 w 12"/>
                  <a:gd name="T7" fmla="*/ 12 w 12"/>
                  <a:gd name="T8" fmla="*/ 6 w 12"/>
                  <a:gd name="T9" fmla="*/ 6 w 12"/>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2">
                    <a:moveTo>
                      <a:pt x="6" y="0"/>
                    </a:moveTo>
                    <a:lnTo>
                      <a:pt x="6" y="0"/>
                    </a:lnTo>
                    <a:lnTo>
                      <a:pt x="0" y="0"/>
                    </a:lnTo>
                    <a:lnTo>
                      <a:pt x="6" y="0"/>
                    </a:lnTo>
                    <a:lnTo>
                      <a:pt x="6" y="0"/>
                    </a:lnTo>
                    <a:lnTo>
                      <a:pt x="12" y="0"/>
                    </a:lnTo>
                    <a:lnTo>
                      <a:pt x="12" y="0"/>
                    </a:lnTo>
                    <a:lnTo>
                      <a:pt x="12" y="0"/>
                    </a:lnTo>
                    <a:lnTo>
                      <a:pt x="6" y="0"/>
                    </a:lnTo>
                    <a:lnTo>
                      <a:pt x="6"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87"/>
              <p:cNvSpPr>
                <a:spLocks/>
              </p:cNvSpPr>
              <p:nvPr/>
            </p:nvSpPr>
            <p:spPr bwMode="auto">
              <a:xfrm>
                <a:off x="4548" y="2434"/>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97" name="Rectangle 188"/>
            <p:cNvSpPr>
              <a:spLocks noChangeArrowheads="1"/>
            </p:cNvSpPr>
            <p:nvPr/>
          </p:nvSpPr>
          <p:spPr bwMode="auto">
            <a:xfrm>
              <a:off x="5765007" y="1081379"/>
              <a:ext cx="3141663" cy="69850"/>
            </a:xfrm>
            <a:prstGeom prst="rect">
              <a:avLst/>
            </a:prstGeom>
            <a:solidFill>
              <a:srgbClr val="00FFFF"/>
            </a:solidFill>
            <a:ln w="9525">
              <a:solidFill>
                <a:srgbClr val="00FFFF"/>
              </a:solidFill>
              <a:miter lim="800000"/>
              <a:headEnd/>
              <a:tailEnd/>
            </a:ln>
          </p:spPr>
          <p:txBody>
            <a:bodyPr wrap="none" anchor="ctr"/>
            <a:lstStyle/>
            <a:p>
              <a:endParaRPr lang="zh-CN" altLang="en-US"/>
            </a:p>
          </p:txBody>
        </p:sp>
        <p:sp>
          <p:nvSpPr>
            <p:cNvPr id="198" name="Rectangle 189"/>
            <p:cNvSpPr>
              <a:spLocks noChangeArrowheads="1"/>
            </p:cNvSpPr>
            <p:nvPr/>
          </p:nvSpPr>
          <p:spPr bwMode="auto">
            <a:xfrm rot="1714447">
              <a:off x="5744370" y="1065504"/>
              <a:ext cx="3286125" cy="69850"/>
            </a:xfrm>
            <a:prstGeom prst="rect">
              <a:avLst/>
            </a:prstGeom>
            <a:noFill/>
            <a:ln w="38100">
              <a:solidFill>
                <a:srgbClr val="00FFFF"/>
              </a:solidFill>
              <a:prstDash val="dash"/>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nvGrpSpPr>
            <p:cNvPr id="199" name="Group 190"/>
            <p:cNvGrpSpPr>
              <a:grpSpLocks/>
            </p:cNvGrpSpPr>
            <p:nvPr/>
          </p:nvGrpSpPr>
          <p:grpSpPr bwMode="auto">
            <a:xfrm>
              <a:off x="7411245" y="770229"/>
              <a:ext cx="685800" cy="304800"/>
              <a:chOff x="1872" y="3168"/>
              <a:chExt cx="432" cy="192"/>
            </a:xfrm>
          </p:grpSpPr>
          <p:sp>
            <p:nvSpPr>
              <p:cNvPr id="200" name="Line 191"/>
              <p:cNvSpPr>
                <a:spLocks noChangeShapeType="1"/>
              </p:cNvSpPr>
              <p:nvPr/>
            </p:nvSpPr>
            <p:spPr bwMode="auto">
              <a:xfrm>
                <a:off x="1872" y="3168"/>
                <a:ext cx="0" cy="192"/>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1" name="Line 192"/>
              <p:cNvSpPr>
                <a:spLocks noChangeShapeType="1"/>
              </p:cNvSpPr>
              <p:nvPr/>
            </p:nvSpPr>
            <p:spPr bwMode="auto">
              <a:xfrm>
                <a:off x="2304" y="3168"/>
                <a:ext cx="0" cy="192"/>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2" name="Line 193"/>
              <p:cNvSpPr>
                <a:spLocks noChangeShapeType="1"/>
              </p:cNvSpPr>
              <p:nvPr/>
            </p:nvSpPr>
            <p:spPr bwMode="auto">
              <a:xfrm>
                <a:off x="2160" y="3264"/>
                <a:ext cx="144" cy="0"/>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3" name="Line 194"/>
              <p:cNvSpPr>
                <a:spLocks noChangeShapeType="1"/>
              </p:cNvSpPr>
              <p:nvPr/>
            </p:nvSpPr>
            <p:spPr bwMode="auto">
              <a:xfrm rot="10755122">
                <a:off x="1872" y="3264"/>
                <a:ext cx="144" cy="1"/>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04" name="Group 195"/>
            <p:cNvGrpSpPr>
              <a:grpSpLocks/>
            </p:cNvGrpSpPr>
            <p:nvPr/>
          </p:nvGrpSpPr>
          <p:grpSpPr bwMode="auto">
            <a:xfrm rot="1592579">
              <a:off x="7236620" y="1390941"/>
              <a:ext cx="1079500" cy="304800"/>
              <a:chOff x="1872" y="3168"/>
              <a:chExt cx="432" cy="192"/>
            </a:xfrm>
          </p:grpSpPr>
          <p:sp>
            <p:nvSpPr>
              <p:cNvPr id="205" name="Line 196"/>
              <p:cNvSpPr>
                <a:spLocks noChangeShapeType="1"/>
              </p:cNvSpPr>
              <p:nvPr/>
            </p:nvSpPr>
            <p:spPr bwMode="auto">
              <a:xfrm>
                <a:off x="1872" y="3168"/>
                <a:ext cx="0" cy="192"/>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6" name="Line 197"/>
              <p:cNvSpPr>
                <a:spLocks noChangeShapeType="1"/>
              </p:cNvSpPr>
              <p:nvPr/>
            </p:nvSpPr>
            <p:spPr bwMode="auto">
              <a:xfrm>
                <a:off x="2304" y="3168"/>
                <a:ext cx="0" cy="192"/>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 name="Line 198"/>
              <p:cNvSpPr>
                <a:spLocks noChangeShapeType="1"/>
              </p:cNvSpPr>
              <p:nvPr/>
            </p:nvSpPr>
            <p:spPr bwMode="auto">
              <a:xfrm>
                <a:off x="2160" y="3264"/>
                <a:ext cx="144" cy="0"/>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8" name="Line 199"/>
              <p:cNvSpPr>
                <a:spLocks noChangeShapeType="1"/>
              </p:cNvSpPr>
              <p:nvPr/>
            </p:nvSpPr>
            <p:spPr bwMode="auto">
              <a:xfrm rot="10755122">
                <a:off x="1872" y="3264"/>
                <a:ext cx="144" cy="1"/>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09" name="Group 200"/>
            <p:cNvGrpSpPr>
              <a:grpSpLocks/>
            </p:cNvGrpSpPr>
            <p:nvPr/>
          </p:nvGrpSpPr>
          <p:grpSpPr bwMode="auto">
            <a:xfrm rot="-3394506">
              <a:off x="8320088" y="1461586"/>
              <a:ext cx="180975" cy="322262"/>
              <a:chOff x="4495" y="2334"/>
              <a:chExt cx="114" cy="203"/>
            </a:xfrm>
          </p:grpSpPr>
          <p:grpSp>
            <p:nvGrpSpPr>
              <p:cNvPr id="210" name="Group 201"/>
              <p:cNvGrpSpPr>
                <a:grpSpLocks/>
              </p:cNvGrpSpPr>
              <p:nvPr/>
            </p:nvGrpSpPr>
            <p:grpSpPr bwMode="auto">
              <a:xfrm>
                <a:off x="4495" y="2334"/>
                <a:ext cx="114" cy="203"/>
                <a:chOff x="4495" y="2334"/>
                <a:chExt cx="114" cy="203"/>
              </a:xfrm>
            </p:grpSpPr>
            <p:sp>
              <p:nvSpPr>
                <p:cNvPr id="275" name="Freeform 202"/>
                <p:cNvSpPr>
                  <a:spLocks/>
                </p:cNvSpPr>
                <p:nvPr/>
              </p:nvSpPr>
              <p:spPr bwMode="auto">
                <a:xfrm>
                  <a:off x="4513" y="2346"/>
                  <a:ext cx="36" cy="71"/>
                </a:xfrm>
                <a:custGeom>
                  <a:avLst/>
                  <a:gdLst>
                    <a:gd name="T0" fmla="*/ 36 w 36"/>
                    <a:gd name="T1" fmla="*/ 71 h 71"/>
                    <a:gd name="T2" fmla="*/ 30 w 36"/>
                    <a:gd name="T3" fmla="*/ 71 h 71"/>
                    <a:gd name="T4" fmla="*/ 24 w 36"/>
                    <a:gd name="T5" fmla="*/ 71 h 71"/>
                    <a:gd name="T6" fmla="*/ 12 w 36"/>
                    <a:gd name="T7" fmla="*/ 65 h 71"/>
                    <a:gd name="T8" fmla="*/ 6 w 36"/>
                    <a:gd name="T9" fmla="*/ 59 h 71"/>
                    <a:gd name="T10" fmla="*/ 0 w 36"/>
                    <a:gd name="T11" fmla="*/ 54 h 71"/>
                    <a:gd name="T12" fmla="*/ 0 w 36"/>
                    <a:gd name="T13" fmla="*/ 48 h 71"/>
                    <a:gd name="T14" fmla="*/ 0 w 36"/>
                    <a:gd name="T15" fmla="*/ 42 h 71"/>
                    <a:gd name="T16" fmla="*/ 0 w 36"/>
                    <a:gd name="T17" fmla="*/ 42 h 71"/>
                    <a:gd name="T18" fmla="*/ 6 w 36"/>
                    <a:gd name="T19" fmla="*/ 36 h 71"/>
                    <a:gd name="T20" fmla="*/ 12 w 36"/>
                    <a:gd name="T21" fmla="*/ 30 h 71"/>
                    <a:gd name="T22" fmla="*/ 12 w 36"/>
                    <a:gd name="T23" fmla="*/ 30 h 71"/>
                    <a:gd name="T24" fmla="*/ 12 w 36"/>
                    <a:gd name="T25" fmla="*/ 12 h 71"/>
                    <a:gd name="T26" fmla="*/ 12 w 36"/>
                    <a:gd name="T27" fmla="*/ 0 h 71"/>
                    <a:gd name="T28" fmla="*/ 12 w 36"/>
                    <a:gd name="T29" fmla="*/ 12 h 71"/>
                    <a:gd name="T30" fmla="*/ 12 w 36"/>
                    <a:gd name="T31" fmla="*/ 6 h 71"/>
                    <a:gd name="T32" fmla="*/ 12 w 36"/>
                    <a:gd name="T33" fmla="*/ 12 h 71"/>
                    <a:gd name="T34" fmla="*/ 18 w 36"/>
                    <a:gd name="T35" fmla="*/ 18 h 71"/>
                    <a:gd name="T36" fmla="*/ 18 w 36"/>
                    <a:gd name="T37" fmla="*/ 24 h 71"/>
                    <a:gd name="T38" fmla="*/ 18 w 36"/>
                    <a:gd name="T39" fmla="*/ 24 h 71"/>
                    <a:gd name="T40" fmla="*/ 18 w 36"/>
                    <a:gd name="T41" fmla="*/ 24 h 71"/>
                    <a:gd name="T42" fmla="*/ 18 w 36"/>
                    <a:gd name="T43" fmla="*/ 24 h 71"/>
                    <a:gd name="T44" fmla="*/ 18 w 36"/>
                    <a:gd name="T45" fmla="*/ 30 h 71"/>
                    <a:gd name="T46" fmla="*/ 18 w 36"/>
                    <a:gd name="T47" fmla="*/ 36 h 71"/>
                    <a:gd name="T48" fmla="*/ 12 w 36"/>
                    <a:gd name="T49" fmla="*/ 42 h 71"/>
                    <a:gd name="T50" fmla="*/ 0 w 36"/>
                    <a:gd name="T51" fmla="*/ 48 h 71"/>
                    <a:gd name="T52" fmla="*/ 6 w 36"/>
                    <a:gd name="T53" fmla="*/ 48 h 71"/>
                    <a:gd name="T54" fmla="*/ 6 w 36"/>
                    <a:gd name="T55" fmla="*/ 48 h 71"/>
                    <a:gd name="T56" fmla="*/ 12 w 36"/>
                    <a:gd name="T57" fmla="*/ 48 h 71"/>
                    <a:gd name="T58" fmla="*/ 18 w 36"/>
                    <a:gd name="T59" fmla="*/ 54 h 71"/>
                    <a:gd name="T60" fmla="*/ 30 w 36"/>
                    <a:gd name="T61" fmla="*/ 54 h 71"/>
                    <a:gd name="T62" fmla="*/ 36 w 36"/>
                    <a:gd name="T63" fmla="*/ 59 h 71"/>
                    <a:gd name="T64" fmla="*/ 36 w 36"/>
                    <a:gd name="T65" fmla="*/ 71 h 71"/>
                    <a:gd name="T66" fmla="*/ 36 w 36"/>
                    <a:gd name="T67"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6" h="71">
                      <a:moveTo>
                        <a:pt x="36" y="71"/>
                      </a:moveTo>
                      <a:lnTo>
                        <a:pt x="30" y="71"/>
                      </a:lnTo>
                      <a:lnTo>
                        <a:pt x="24" y="71"/>
                      </a:lnTo>
                      <a:lnTo>
                        <a:pt x="12" y="65"/>
                      </a:lnTo>
                      <a:lnTo>
                        <a:pt x="6" y="59"/>
                      </a:lnTo>
                      <a:lnTo>
                        <a:pt x="0" y="54"/>
                      </a:lnTo>
                      <a:lnTo>
                        <a:pt x="0" y="48"/>
                      </a:lnTo>
                      <a:lnTo>
                        <a:pt x="0" y="42"/>
                      </a:lnTo>
                      <a:lnTo>
                        <a:pt x="0" y="42"/>
                      </a:lnTo>
                      <a:lnTo>
                        <a:pt x="6" y="36"/>
                      </a:lnTo>
                      <a:lnTo>
                        <a:pt x="12" y="30"/>
                      </a:lnTo>
                      <a:lnTo>
                        <a:pt x="12" y="30"/>
                      </a:lnTo>
                      <a:lnTo>
                        <a:pt x="12" y="12"/>
                      </a:lnTo>
                      <a:lnTo>
                        <a:pt x="12" y="0"/>
                      </a:lnTo>
                      <a:lnTo>
                        <a:pt x="12" y="12"/>
                      </a:lnTo>
                      <a:lnTo>
                        <a:pt x="12" y="6"/>
                      </a:lnTo>
                      <a:lnTo>
                        <a:pt x="12" y="12"/>
                      </a:lnTo>
                      <a:lnTo>
                        <a:pt x="18" y="18"/>
                      </a:lnTo>
                      <a:lnTo>
                        <a:pt x="18" y="24"/>
                      </a:lnTo>
                      <a:lnTo>
                        <a:pt x="18" y="24"/>
                      </a:lnTo>
                      <a:lnTo>
                        <a:pt x="18" y="24"/>
                      </a:lnTo>
                      <a:lnTo>
                        <a:pt x="18" y="24"/>
                      </a:lnTo>
                      <a:lnTo>
                        <a:pt x="18" y="30"/>
                      </a:lnTo>
                      <a:lnTo>
                        <a:pt x="18" y="36"/>
                      </a:lnTo>
                      <a:lnTo>
                        <a:pt x="12" y="42"/>
                      </a:lnTo>
                      <a:lnTo>
                        <a:pt x="0" y="48"/>
                      </a:lnTo>
                      <a:lnTo>
                        <a:pt x="6" y="48"/>
                      </a:lnTo>
                      <a:lnTo>
                        <a:pt x="6" y="48"/>
                      </a:lnTo>
                      <a:lnTo>
                        <a:pt x="12" y="48"/>
                      </a:lnTo>
                      <a:lnTo>
                        <a:pt x="18" y="54"/>
                      </a:lnTo>
                      <a:lnTo>
                        <a:pt x="30" y="54"/>
                      </a:lnTo>
                      <a:lnTo>
                        <a:pt x="36" y="59"/>
                      </a:lnTo>
                      <a:lnTo>
                        <a:pt x="36" y="71"/>
                      </a:lnTo>
                      <a:lnTo>
                        <a:pt x="36" y="71"/>
                      </a:lnTo>
                      <a:close/>
                    </a:path>
                  </a:pathLst>
                </a:custGeom>
                <a:solidFill>
                  <a:srgbClr val="00FF00"/>
                </a:solidFill>
                <a:ln w="9525">
                  <a:solidFill>
                    <a:srgbClr val="00FF00"/>
                  </a:solidFill>
                  <a:round/>
                  <a:headEnd/>
                  <a:tailEnd/>
                </a:ln>
              </p:spPr>
              <p:txBody>
                <a:bodyPr/>
                <a:lstStyle/>
                <a:p>
                  <a:endParaRPr lang="zh-CN" altLang="en-US"/>
                </a:p>
              </p:txBody>
            </p:sp>
            <p:sp>
              <p:nvSpPr>
                <p:cNvPr id="276" name="Freeform 203"/>
                <p:cNvSpPr>
                  <a:spLocks/>
                </p:cNvSpPr>
                <p:nvPr/>
              </p:nvSpPr>
              <p:spPr bwMode="auto">
                <a:xfrm>
                  <a:off x="4513" y="2400"/>
                  <a:ext cx="42" cy="35"/>
                </a:xfrm>
                <a:custGeom>
                  <a:avLst/>
                  <a:gdLst>
                    <a:gd name="T0" fmla="*/ 30 w 42"/>
                    <a:gd name="T1" fmla="*/ 11 h 35"/>
                    <a:gd name="T2" fmla="*/ 36 w 42"/>
                    <a:gd name="T3" fmla="*/ 5 h 35"/>
                    <a:gd name="T4" fmla="*/ 30 w 42"/>
                    <a:gd name="T5" fmla="*/ 5 h 35"/>
                    <a:gd name="T6" fmla="*/ 18 w 42"/>
                    <a:gd name="T7" fmla="*/ 0 h 35"/>
                    <a:gd name="T8" fmla="*/ 0 w 42"/>
                    <a:gd name="T9" fmla="*/ 17 h 35"/>
                    <a:gd name="T10" fmla="*/ 18 w 42"/>
                    <a:gd name="T11" fmla="*/ 29 h 35"/>
                    <a:gd name="T12" fmla="*/ 30 w 42"/>
                    <a:gd name="T13" fmla="*/ 35 h 35"/>
                    <a:gd name="T14" fmla="*/ 42 w 42"/>
                    <a:gd name="T15" fmla="*/ 29 h 35"/>
                    <a:gd name="T16" fmla="*/ 30 w 42"/>
                    <a:gd name="T1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5">
                      <a:moveTo>
                        <a:pt x="30" y="11"/>
                      </a:moveTo>
                      <a:lnTo>
                        <a:pt x="36" y="5"/>
                      </a:lnTo>
                      <a:lnTo>
                        <a:pt x="30" y="5"/>
                      </a:lnTo>
                      <a:lnTo>
                        <a:pt x="18" y="0"/>
                      </a:lnTo>
                      <a:lnTo>
                        <a:pt x="0" y="17"/>
                      </a:lnTo>
                      <a:lnTo>
                        <a:pt x="18" y="29"/>
                      </a:lnTo>
                      <a:lnTo>
                        <a:pt x="30" y="35"/>
                      </a:lnTo>
                      <a:lnTo>
                        <a:pt x="42" y="29"/>
                      </a:lnTo>
                      <a:lnTo>
                        <a:pt x="30" y="11"/>
                      </a:lnTo>
                      <a:close/>
                    </a:path>
                  </a:pathLst>
                </a:custGeom>
                <a:solidFill>
                  <a:srgbClr val="00FF00"/>
                </a:solidFill>
                <a:ln w="9525">
                  <a:solidFill>
                    <a:srgbClr val="00FF00"/>
                  </a:solidFill>
                  <a:round/>
                  <a:headEnd/>
                  <a:tailEnd/>
                </a:ln>
              </p:spPr>
              <p:txBody>
                <a:bodyPr/>
                <a:lstStyle/>
                <a:p>
                  <a:endParaRPr lang="zh-CN" altLang="en-US"/>
                </a:p>
              </p:txBody>
            </p:sp>
            <p:sp>
              <p:nvSpPr>
                <p:cNvPr id="277" name="Freeform 204"/>
                <p:cNvSpPr>
                  <a:spLocks noEditPoints="1"/>
                </p:cNvSpPr>
                <p:nvPr/>
              </p:nvSpPr>
              <p:spPr bwMode="auto">
                <a:xfrm>
                  <a:off x="4507" y="2388"/>
                  <a:ext cx="24" cy="29"/>
                </a:xfrm>
                <a:custGeom>
                  <a:avLst/>
                  <a:gdLst>
                    <a:gd name="T0" fmla="*/ 24 w 24"/>
                    <a:gd name="T1" fmla="*/ 12 h 29"/>
                    <a:gd name="T2" fmla="*/ 24 w 24"/>
                    <a:gd name="T3" fmla="*/ 6 h 29"/>
                    <a:gd name="T4" fmla="*/ 18 w 24"/>
                    <a:gd name="T5" fmla="*/ 6 h 29"/>
                    <a:gd name="T6" fmla="*/ 6 w 24"/>
                    <a:gd name="T7" fmla="*/ 0 h 29"/>
                    <a:gd name="T8" fmla="*/ 6 w 24"/>
                    <a:gd name="T9" fmla="*/ 23 h 29"/>
                    <a:gd name="T10" fmla="*/ 0 w 24"/>
                    <a:gd name="T11" fmla="*/ 23 h 29"/>
                    <a:gd name="T12" fmla="*/ 6 w 24"/>
                    <a:gd name="T13" fmla="*/ 29 h 29"/>
                    <a:gd name="T14" fmla="*/ 6 w 24"/>
                    <a:gd name="T15" fmla="*/ 29 h 29"/>
                    <a:gd name="T16" fmla="*/ 6 w 24"/>
                    <a:gd name="T17" fmla="*/ 29 h 29"/>
                    <a:gd name="T18" fmla="*/ 24 w 24"/>
                    <a:gd name="T19" fmla="*/ 12 h 29"/>
                    <a:gd name="T20" fmla="*/ 6 w 24"/>
                    <a:gd name="T21" fmla="*/ 29 h 29"/>
                    <a:gd name="T22" fmla="*/ 6 w 24"/>
                    <a:gd name="T23" fmla="*/ 29 h 29"/>
                    <a:gd name="T24" fmla="*/ 6 w 24"/>
                    <a:gd name="T25" fmla="*/ 29 h 29"/>
                    <a:gd name="T26" fmla="*/ 18 w 24"/>
                    <a:gd name="T27" fmla="*/ 23 h 29"/>
                    <a:gd name="T28" fmla="*/ 6 w 24"/>
                    <a:gd name="T29"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9">
                      <a:moveTo>
                        <a:pt x="24" y="12"/>
                      </a:moveTo>
                      <a:lnTo>
                        <a:pt x="24" y="6"/>
                      </a:lnTo>
                      <a:lnTo>
                        <a:pt x="18" y="6"/>
                      </a:lnTo>
                      <a:lnTo>
                        <a:pt x="6" y="0"/>
                      </a:lnTo>
                      <a:lnTo>
                        <a:pt x="6" y="23"/>
                      </a:lnTo>
                      <a:lnTo>
                        <a:pt x="0" y="23"/>
                      </a:lnTo>
                      <a:lnTo>
                        <a:pt x="6" y="29"/>
                      </a:lnTo>
                      <a:lnTo>
                        <a:pt x="6" y="29"/>
                      </a:lnTo>
                      <a:lnTo>
                        <a:pt x="6" y="29"/>
                      </a:lnTo>
                      <a:lnTo>
                        <a:pt x="24" y="12"/>
                      </a:lnTo>
                      <a:close/>
                      <a:moveTo>
                        <a:pt x="6" y="29"/>
                      </a:moveTo>
                      <a:lnTo>
                        <a:pt x="6" y="29"/>
                      </a:lnTo>
                      <a:lnTo>
                        <a:pt x="6" y="29"/>
                      </a:lnTo>
                      <a:lnTo>
                        <a:pt x="18" y="23"/>
                      </a:lnTo>
                      <a:lnTo>
                        <a:pt x="6" y="29"/>
                      </a:lnTo>
                      <a:close/>
                    </a:path>
                  </a:pathLst>
                </a:custGeom>
                <a:solidFill>
                  <a:srgbClr val="00FF00"/>
                </a:solidFill>
                <a:ln w="9525">
                  <a:solidFill>
                    <a:srgbClr val="00FF00"/>
                  </a:solidFill>
                  <a:round/>
                  <a:headEnd/>
                  <a:tailEnd/>
                </a:ln>
              </p:spPr>
              <p:txBody>
                <a:bodyPr/>
                <a:lstStyle/>
                <a:p>
                  <a:endParaRPr lang="zh-CN" altLang="en-US"/>
                </a:p>
              </p:txBody>
            </p:sp>
            <p:sp>
              <p:nvSpPr>
                <p:cNvPr id="278" name="Freeform 205"/>
                <p:cNvSpPr>
                  <a:spLocks noEditPoints="1"/>
                </p:cNvSpPr>
                <p:nvPr/>
              </p:nvSpPr>
              <p:spPr bwMode="auto">
                <a:xfrm>
                  <a:off x="4495" y="2382"/>
                  <a:ext cx="24" cy="35"/>
                </a:xfrm>
                <a:custGeom>
                  <a:avLst/>
                  <a:gdLst>
                    <a:gd name="T0" fmla="*/ 24 w 24"/>
                    <a:gd name="T1" fmla="*/ 12 h 35"/>
                    <a:gd name="T2" fmla="*/ 24 w 24"/>
                    <a:gd name="T3" fmla="*/ 12 h 35"/>
                    <a:gd name="T4" fmla="*/ 24 w 24"/>
                    <a:gd name="T5" fmla="*/ 18 h 35"/>
                    <a:gd name="T6" fmla="*/ 6 w 24"/>
                    <a:gd name="T7" fmla="*/ 0 h 35"/>
                    <a:gd name="T8" fmla="*/ 0 w 24"/>
                    <a:gd name="T9" fmla="*/ 12 h 35"/>
                    <a:gd name="T10" fmla="*/ 6 w 24"/>
                    <a:gd name="T11" fmla="*/ 23 h 35"/>
                    <a:gd name="T12" fmla="*/ 12 w 24"/>
                    <a:gd name="T13" fmla="*/ 29 h 35"/>
                    <a:gd name="T14" fmla="*/ 12 w 24"/>
                    <a:gd name="T15" fmla="*/ 29 h 35"/>
                    <a:gd name="T16" fmla="*/ 24 w 24"/>
                    <a:gd name="T17" fmla="*/ 12 h 35"/>
                    <a:gd name="T18" fmla="*/ 12 w 24"/>
                    <a:gd name="T19" fmla="*/ 29 h 35"/>
                    <a:gd name="T20" fmla="*/ 18 w 24"/>
                    <a:gd name="T21" fmla="*/ 35 h 35"/>
                    <a:gd name="T22" fmla="*/ 18 w 24"/>
                    <a:gd name="T23" fmla="*/ 29 h 35"/>
                    <a:gd name="T24" fmla="*/ 18 w 24"/>
                    <a:gd name="T25" fmla="*/ 18 h 35"/>
                    <a:gd name="T26" fmla="*/ 12 w 24"/>
                    <a:gd name="T27" fmla="*/ 2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5">
                      <a:moveTo>
                        <a:pt x="24" y="12"/>
                      </a:moveTo>
                      <a:lnTo>
                        <a:pt x="24" y="12"/>
                      </a:lnTo>
                      <a:lnTo>
                        <a:pt x="24" y="18"/>
                      </a:lnTo>
                      <a:lnTo>
                        <a:pt x="6" y="0"/>
                      </a:lnTo>
                      <a:lnTo>
                        <a:pt x="0" y="12"/>
                      </a:lnTo>
                      <a:lnTo>
                        <a:pt x="6" y="23"/>
                      </a:lnTo>
                      <a:lnTo>
                        <a:pt x="12" y="29"/>
                      </a:lnTo>
                      <a:lnTo>
                        <a:pt x="12" y="29"/>
                      </a:lnTo>
                      <a:lnTo>
                        <a:pt x="24" y="12"/>
                      </a:lnTo>
                      <a:close/>
                      <a:moveTo>
                        <a:pt x="12" y="29"/>
                      </a:moveTo>
                      <a:lnTo>
                        <a:pt x="18" y="35"/>
                      </a:lnTo>
                      <a:lnTo>
                        <a:pt x="18" y="29"/>
                      </a:lnTo>
                      <a:lnTo>
                        <a:pt x="18" y="18"/>
                      </a:lnTo>
                      <a:lnTo>
                        <a:pt x="12" y="29"/>
                      </a:lnTo>
                      <a:close/>
                    </a:path>
                  </a:pathLst>
                </a:custGeom>
                <a:solidFill>
                  <a:srgbClr val="00FF00"/>
                </a:solidFill>
                <a:ln w="9525">
                  <a:solidFill>
                    <a:srgbClr val="00FF00"/>
                  </a:solidFill>
                  <a:round/>
                  <a:headEnd/>
                  <a:tailEnd/>
                </a:ln>
              </p:spPr>
              <p:txBody>
                <a:bodyPr/>
                <a:lstStyle/>
                <a:p>
                  <a:endParaRPr lang="zh-CN" altLang="en-US"/>
                </a:p>
              </p:txBody>
            </p:sp>
            <p:sp>
              <p:nvSpPr>
                <p:cNvPr id="279" name="Freeform 206"/>
                <p:cNvSpPr>
                  <a:spLocks noEditPoints="1"/>
                </p:cNvSpPr>
                <p:nvPr/>
              </p:nvSpPr>
              <p:spPr bwMode="auto">
                <a:xfrm>
                  <a:off x="4501" y="2370"/>
                  <a:ext cx="36" cy="30"/>
                </a:xfrm>
                <a:custGeom>
                  <a:avLst/>
                  <a:gdLst>
                    <a:gd name="T0" fmla="*/ 18 w 36"/>
                    <a:gd name="T1" fmla="*/ 30 h 30"/>
                    <a:gd name="T2" fmla="*/ 24 w 36"/>
                    <a:gd name="T3" fmla="*/ 30 h 30"/>
                    <a:gd name="T4" fmla="*/ 30 w 36"/>
                    <a:gd name="T5" fmla="*/ 24 h 30"/>
                    <a:gd name="T6" fmla="*/ 36 w 36"/>
                    <a:gd name="T7" fmla="*/ 12 h 30"/>
                    <a:gd name="T8" fmla="*/ 36 w 36"/>
                    <a:gd name="T9" fmla="*/ 6 h 30"/>
                    <a:gd name="T10" fmla="*/ 18 w 36"/>
                    <a:gd name="T11" fmla="*/ 12 h 30"/>
                    <a:gd name="T12" fmla="*/ 12 w 36"/>
                    <a:gd name="T13" fmla="*/ 0 h 30"/>
                    <a:gd name="T14" fmla="*/ 12 w 36"/>
                    <a:gd name="T15" fmla="*/ 6 h 30"/>
                    <a:gd name="T16" fmla="*/ 6 w 36"/>
                    <a:gd name="T17" fmla="*/ 12 h 30"/>
                    <a:gd name="T18" fmla="*/ 6 w 36"/>
                    <a:gd name="T19" fmla="*/ 12 h 30"/>
                    <a:gd name="T20" fmla="*/ 18 w 36"/>
                    <a:gd name="T21" fmla="*/ 30 h 30"/>
                    <a:gd name="T22" fmla="*/ 6 w 36"/>
                    <a:gd name="T23" fmla="*/ 12 h 30"/>
                    <a:gd name="T24" fmla="*/ 0 w 36"/>
                    <a:gd name="T25" fmla="*/ 12 h 30"/>
                    <a:gd name="T26" fmla="*/ 0 w 36"/>
                    <a:gd name="T27" fmla="*/ 12 h 30"/>
                    <a:gd name="T28" fmla="*/ 12 w 36"/>
                    <a:gd name="T29" fmla="*/ 18 h 30"/>
                    <a:gd name="T30" fmla="*/ 6 w 36"/>
                    <a:gd name="T31"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 h="30">
                      <a:moveTo>
                        <a:pt x="18" y="30"/>
                      </a:moveTo>
                      <a:lnTo>
                        <a:pt x="24" y="30"/>
                      </a:lnTo>
                      <a:lnTo>
                        <a:pt x="30" y="24"/>
                      </a:lnTo>
                      <a:lnTo>
                        <a:pt x="36" y="12"/>
                      </a:lnTo>
                      <a:lnTo>
                        <a:pt x="36" y="6"/>
                      </a:lnTo>
                      <a:lnTo>
                        <a:pt x="18" y="12"/>
                      </a:lnTo>
                      <a:lnTo>
                        <a:pt x="12" y="0"/>
                      </a:lnTo>
                      <a:lnTo>
                        <a:pt x="12" y="6"/>
                      </a:lnTo>
                      <a:lnTo>
                        <a:pt x="6" y="12"/>
                      </a:lnTo>
                      <a:lnTo>
                        <a:pt x="6" y="12"/>
                      </a:lnTo>
                      <a:lnTo>
                        <a:pt x="18" y="30"/>
                      </a:lnTo>
                      <a:close/>
                      <a:moveTo>
                        <a:pt x="6" y="12"/>
                      </a:moveTo>
                      <a:lnTo>
                        <a:pt x="0" y="12"/>
                      </a:lnTo>
                      <a:lnTo>
                        <a:pt x="0" y="12"/>
                      </a:lnTo>
                      <a:lnTo>
                        <a:pt x="12" y="18"/>
                      </a:lnTo>
                      <a:lnTo>
                        <a:pt x="6" y="12"/>
                      </a:lnTo>
                      <a:close/>
                    </a:path>
                  </a:pathLst>
                </a:custGeom>
                <a:solidFill>
                  <a:srgbClr val="00FF00"/>
                </a:solidFill>
                <a:ln w="9525">
                  <a:solidFill>
                    <a:srgbClr val="00FF00"/>
                  </a:solidFill>
                  <a:round/>
                  <a:headEnd/>
                  <a:tailEnd/>
                </a:ln>
              </p:spPr>
              <p:txBody>
                <a:bodyPr/>
                <a:lstStyle/>
                <a:p>
                  <a:endParaRPr lang="zh-CN" altLang="en-US"/>
                </a:p>
              </p:txBody>
            </p:sp>
            <p:sp>
              <p:nvSpPr>
                <p:cNvPr id="280" name="Freeform 207"/>
                <p:cNvSpPr>
                  <a:spLocks noEditPoints="1"/>
                </p:cNvSpPr>
                <p:nvPr/>
              </p:nvSpPr>
              <p:spPr bwMode="auto">
                <a:xfrm>
                  <a:off x="4513" y="2352"/>
                  <a:ext cx="24" cy="30"/>
                </a:xfrm>
                <a:custGeom>
                  <a:avLst/>
                  <a:gdLst>
                    <a:gd name="T0" fmla="*/ 24 w 24"/>
                    <a:gd name="T1" fmla="*/ 18 h 30"/>
                    <a:gd name="T2" fmla="*/ 24 w 24"/>
                    <a:gd name="T3" fmla="*/ 0 h 30"/>
                    <a:gd name="T4" fmla="*/ 0 w 24"/>
                    <a:gd name="T5" fmla="*/ 6 h 30"/>
                    <a:gd name="T6" fmla="*/ 0 w 24"/>
                    <a:gd name="T7" fmla="*/ 24 h 30"/>
                    <a:gd name="T8" fmla="*/ 24 w 24"/>
                    <a:gd name="T9" fmla="*/ 18 h 30"/>
                    <a:gd name="T10" fmla="*/ 0 w 24"/>
                    <a:gd name="T11" fmla="*/ 24 h 30"/>
                    <a:gd name="T12" fmla="*/ 0 w 24"/>
                    <a:gd name="T13" fmla="*/ 30 h 30"/>
                    <a:gd name="T14" fmla="*/ 6 w 24"/>
                    <a:gd name="T15" fmla="*/ 30 h 30"/>
                    <a:gd name="T16" fmla="*/ 12 w 24"/>
                    <a:gd name="T17" fmla="*/ 24 h 30"/>
                    <a:gd name="T18" fmla="*/ 0 w 24"/>
                    <a:gd name="T19"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0">
                      <a:moveTo>
                        <a:pt x="24" y="18"/>
                      </a:moveTo>
                      <a:lnTo>
                        <a:pt x="24" y="0"/>
                      </a:lnTo>
                      <a:lnTo>
                        <a:pt x="0" y="6"/>
                      </a:lnTo>
                      <a:lnTo>
                        <a:pt x="0" y="24"/>
                      </a:lnTo>
                      <a:lnTo>
                        <a:pt x="24" y="18"/>
                      </a:lnTo>
                      <a:close/>
                      <a:moveTo>
                        <a:pt x="0" y="24"/>
                      </a:moveTo>
                      <a:lnTo>
                        <a:pt x="0" y="30"/>
                      </a:lnTo>
                      <a:lnTo>
                        <a:pt x="6" y="30"/>
                      </a:lnTo>
                      <a:lnTo>
                        <a:pt x="12" y="24"/>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281" name="Freeform 208"/>
                <p:cNvSpPr>
                  <a:spLocks noEditPoints="1"/>
                </p:cNvSpPr>
                <p:nvPr/>
              </p:nvSpPr>
              <p:spPr bwMode="auto">
                <a:xfrm>
                  <a:off x="4513" y="2346"/>
                  <a:ext cx="24" cy="12"/>
                </a:xfrm>
                <a:custGeom>
                  <a:avLst/>
                  <a:gdLst>
                    <a:gd name="T0" fmla="*/ 24 w 24"/>
                    <a:gd name="T1" fmla="*/ 6 h 12"/>
                    <a:gd name="T2" fmla="*/ 24 w 24"/>
                    <a:gd name="T3" fmla="*/ 0 h 12"/>
                    <a:gd name="T4" fmla="*/ 0 w 24"/>
                    <a:gd name="T5" fmla="*/ 6 h 12"/>
                    <a:gd name="T6" fmla="*/ 0 w 24"/>
                    <a:gd name="T7" fmla="*/ 12 h 12"/>
                    <a:gd name="T8" fmla="*/ 24 w 24"/>
                    <a:gd name="T9" fmla="*/ 6 h 12"/>
                    <a:gd name="T10" fmla="*/ 24 w 24"/>
                    <a:gd name="T11" fmla="*/ 6 h 12"/>
                    <a:gd name="T12" fmla="*/ 24 w 24"/>
                    <a:gd name="T13" fmla="*/ 6 h 12"/>
                    <a:gd name="T14" fmla="*/ 24 w 24"/>
                    <a:gd name="T15" fmla="*/ 6 h 12"/>
                    <a:gd name="T16" fmla="*/ 12 w 24"/>
                    <a:gd name="T17" fmla="*/ 12 h 12"/>
                    <a:gd name="T18" fmla="*/ 24 w 24"/>
                    <a:gd name="T19"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2">
                      <a:moveTo>
                        <a:pt x="24" y="6"/>
                      </a:moveTo>
                      <a:lnTo>
                        <a:pt x="24" y="0"/>
                      </a:lnTo>
                      <a:lnTo>
                        <a:pt x="0" y="6"/>
                      </a:lnTo>
                      <a:lnTo>
                        <a:pt x="0" y="12"/>
                      </a:lnTo>
                      <a:lnTo>
                        <a:pt x="24" y="6"/>
                      </a:lnTo>
                      <a:close/>
                      <a:moveTo>
                        <a:pt x="24" y="6"/>
                      </a:moveTo>
                      <a:lnTo>
                        <a:pt x="24" y="6"/>
                      </a:lnTo>
                      <a:lnTo>
                        <a:pt x="24" y="6"/>
                      </a:lnTo>
                      <a:lnTo>
                        <a:pt x="12" y="12"/>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282" name="Freeform 209"/>
                <p:cNvSpPr>
                  <a:spLocks noEditPoints="1"/>
                </p:cNvSpPr>
                <p:nvPr/>
              </p:nvSpPr>
              <p:spPr bwMode="auto">
                <a:xfrm>
                  <a:off x="4513" y="2346"/>
                  <a:ext cx="24" cy="12"/>
                </a:xfrm>
                <a:custGeom>
                  <a:avLst/>
                  <a:gdLst>
                    <a:gd name="T0" fmla="*/ 0 w 24"/>
                    <a:gd name="T1" fmla="*/ 6 h 12"/>
                    <a:gd name="T2" fmla="*/ 0 w 24"/>
                    <a:gd name="T3" fmla="*/ 12 h 12"/>
                    <a:gd name="T4" fmla="*/ 24 w 24"/>
                    <a:gd name="T5" fmla="*/ 6 h 12"/>
                    <a:gd name="T6" fmla="*/ 24 w 24"/>
                    <a:gd name="T7" fmla="*/ 0 h 12"/>
                    <a:gd name="T8" fmla="*/ 0 w 24"/>
                    <a:gd name="T9" fmla="*/ 6 h 12"/>
                    <a:gd name="T10" fmla="*/ 24 w 24"/>
                    <a:gd name="T11" fmla="*/ 0 h 12"/>
                    <a:gd name="T12" fmla="*/ 0 w 24"/>
                    <a:gd name="T13" fmla="*/ 6 h 12"/>
                    <a:gd name="T14" fmla="*/ 24 w 24"/>
                    <a:gd name="T15" fmla="*/ 0 h 12"/>
                    <a:gd name="T16" fmla="*/ 0 w 24"/>
                    <a:gd name="T17" fmla="*/ 6 h 12"/>
                    <a:gd name="T18" fmla="*/ 24 w 24"/>
                    <a:gd name="T19"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2">
                      <a:moveTo>
                        <a:pt x="0" y="6"/>
                      </a:moveTo>
                      <a:lnTo>
                        <a:pt x="0" y="12"/>
                      </a:lnTo>
                      <a:lnTo>
                        <a:pt x="24" y="6"/>
                      </a:lnTo>
                      <a:lnTo>
                        <a:pt x="24" y="0"/>
                      </a:lnTo>
                      <a:lnTo>
                        <a:pt x="0" y="6"/>
                      </a:lnTo>
                      <a:close/>
                      <a:moveTo>
                        <a:pt x="24" y="0"/>
                      </a:moveTo>
                      <a:lnTo>
                        <a:pt x="0" y="6"/>
                      </a:lnTo>
                      <a:lnTo>
                        <a:pt x="24" y="0"/>
                      </a:lnTo>
                      <a:lnTo>
                        <a:pt x="0" y="6"/>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283" name="Freeform 210"/>
                <p:cNvSpPr>
                  <a:spLocks noEditPoints="1"/>
                </p:cNvSpPr>
                <p:nvPr/>
              </p:nvSpPr>
              <p:spPr bwMode="auto">
                <a:xfrm>
                  <a:off x="4513" y="2352"/>
                  <a:ext cx="24" cy="6"/>
                </a:xfrm>
                <a:custGeom>
                  <a:avLst/>
                  <a:gdLst>
                    <a:gd name="T0" fmla="*/ 24 w 24"/>
                    <a:gd name="T1" fmla="*/ 6 h 6"/>
                    <a:gd name="T2" fmla="*/ 24 w 24"/>
                    <a:gd name="T3" fmla="*/ 0 h 6"/>
                    <a:gd name="T4" fmla="*/ 0 w 24"/>
                    <a:gd name="T5" fmla="*/ 0 h 6"/>
                    <a:gd name="T6" fmla="*/ 0 w 24"/>
                    <a:gd name="T7" fmla="*/ 6 h 6"/>
                    <a:gd name="T8" fmla="*/ 24 w 24"/>
                    <a:gd name="T9" fmla="*/ 6 h 6"/>
                    <a:gd name="T10" fmla="*/ 0 w 24"/>
                    <a:gd name="T11" fmla="*/ 6 h 6"/>
                    <a:gd name="T12" fmla="*/ 24 w 24"/>
                    <a:gd name="T13" fmla="*/ 6 h 6"/>
                    <a:gd name="T14" fmla="*/ 0 w 24"/>
                    <a:gd name="T15" fmla="*/ 6 h 6"/>
                    <a:gd name="T16" fmla="*/ 24 w 24"/>
                    <a:gd name="T17" fmla="*/ 0 h 6"/>
                    <a:gd name="T18" fmla="*/ 0 w 24"/>
                    <a:gd name="T19"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6">
                      <a:moveTo>
                        <a:pt x="24" y="6"/>
                      </a:moveTo>
                      <a:lnTo>
                        <a:pt x="24" y="0"/>
                      </a:lnTo>
                      <a:lnTo>
                        <a:pt x="0" y="0"/>
                      </a:lnTo>
                      <a:lnTo>
                        <a:pt x="0" y="6"/>
                      </a:lnTo>
                      <a:lnTo>
                        <a:pt x="24" y="6"/>
                      </a:lnTo>
                      <a:close/>
                      <a:moveTo>
                        <a:pt x="0" y="6"/>
                      </a:moveTo>
                      <a:lnTo>
                        <a:pt x="24" y="6"/>
                      </a:lnTo>
                      <a:lnTo>
                        <a:pt x="0" y="6"/>
                      </a:lnTo>
                      <a:lnTo>
                        <a:pt x="24" y="0"/>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284" name="Freeform 211"/>
                <p:cNvSpPr>
                  <a:spLocks noEditPoints="1"/>
                </p:cNvSpPr>
                <p:nvPr/>
              </p:nvSpPr>
              <p:spPr bwMode="auto">
                <a:xfrm>
                  <a:off x="4513" y="2352"/>
                  <a:ext cx="24" cy="24"/>
                </a:xfrm>
                <a:custGeom>
                  <a:avLst/>
                  <a:gdLst>
                    <a:gd name="T0" fmla="*/ 0 w 24"/>
                    <a:gd name="T1" fmla="*/ 6 h 24"/>
                    <a:gd name="T2" fmla="*/ 0 w 24"/>
                    <a:gd name="T3" fmla="*/ 6 h 24"/>
                    <a:gd name="T4" fmla="*/ 0 w 24"/>
                    <a:gd name="T5" fmla="*/ 12 h 24"/>
                    <a:gd name="T6" fmla="*/ 6 w 24"/>
                    <a:gd name="T7" fmla="*/ 24 h 24"/>
                    <a:gd name="T8" fmla="*/ 6 w 24"/>
                    <a:gd name="T9" fmla="*/ 24 h 24"/>
                    <a:gd name="T10" fmla="*/ 6 w 24"/>
                    <a:gd name="T11" fmla="*/ 24 h 24"/>
                    <a:gd name="T12" fmla="*/ 6 w 24"/>
                    <a:gd name="T13" fmla="*/ 12 h 24"/>
                    <a:gd name="T14" fmla="*/ 24 w 24"/>
                    <a:gd name="T15" fmla="*/ 12 h 24"/>
                    <a:gd name="T16" fmla="*/ 24 w 24"/>
                    <a:gd name="T17" fmla="*/ 6 h 24"/>
                    <a:gd name="T18" fmla="*/ 24 w 24"/>
                    <a:gd name="T19" fmla="*/ 6 h 24"/>
                    <a:gd name="T20" fmla="*/ 24 w 24"/>
                    <a:gd name="T21" fmla="*/ 0 h 24"/>
                    <a:gd name="T22" fmla="*/ 0 w 24"/>
                    <a:gd name="T23" fmla="*/ 6 h 24"/>
                    <a:gd name="T24" fmla="*/ 24 w 24"/>
                    <a:gd name="T25" fmla="*/ 0 h 24"/>
                    <a:gd name="T26" fmla="*/ 0 w 24"/>
                    <a:gd name="T27" fmla="*/ 6 h 24"/>
                    <a:gd name="T28" fmla="*/ 24 w 24"/>
                    <a:gd name="T29" fmla="*/ 0 h 24"/>
                    <a:gd name="T30" fmla="*/ 0 w 24"/>
                    <a:gd name="T31" fmla="*/ 0 h 24"/>
                    <a:gd name="T32" fmla="*/ 24 w 24"/>
                    <a:gd name="T3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24">
                      <a:moveTo>
                        <a:pt x="0" y="6"/>
                      </a:moveTo>
                      <a:lnTo>
                        <a:pt x="0" y="6"/>
                      </a:lnTo>
                      <a:lnTo>
                        <a:pt x="0" y="12"/>
                      </a:lnTo>
                      <a:lnTo>
                        <a:pt x="6" y="24"/>
                      </a:lnTo>
                      <a:lnTo>
                        <a:pt x="6" y="24"/>
                      </a:lnTo>
                      <a:lnTo>
                        <a:pt x="6" y="24"/>
                      </a:lnTo>
                      <a:lnTo>
                        <a:pt x="6" y="12"/>
                      </a:lnTo>
                      <a:lnTo>
                        <a:pt x="24" y="12"/>
                      </a:lnTo>
                      <a:lnTo>
                        <a:pt x="24" y="6"/>
                      </a:lnTo>
                      <a:lnTo>
                        <a:pt x="24" y="6"/>
                      </a:lnTo>
                      <a:lnTo>
                        <a:pt x="24" y="0"/>
                      </a:lnTo>
                      <a:lnTo>
                        <a:pt x="0" y="6"/>
                      </a:lnTo>
                      <a:close/>
                      <a:moveTo>
                        <a:pt x="24" y="0"/>
                      </a:moveTo>
                      <a:lnTo>
                        <a:pt x="0" y="6"/>
                      </a:lnTo>
                      <a:lnTo>
                        <a:pt x="24" y="0"/>
                      </a:lnTo>
                      <a:lnTo>
                        <a:pt x="0" y="0"/>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285" name="Freeform 212"/>
                <p:cNvSpPr>
                  <a:spLocks noEditPoints="1"/>
                </p:cNvSpPr>
                <p:nvPr/>
              </p:nvSpPr>
              <p:spPr bwMode="auto">
                <a:xfrm>
                  <a:off x="4519" y="2358"/>
                  <a:ext cx="24" cy="18"/>
                </a:xfrm>
                <a:custGeom>
                  <a:avLst/>
                  <a:gdLst>
                    <a:gd name="T0" fmla="*/ 18 w 24"/>
                    <a:gd name="T1" fmla="*/ 18 h 18"/>
                    <a:gd name="T2" fmla="*/ 24 w 24"/>
                    <a:gd name="T3" fmla="*/ 18 h 18"/>
                    <a:gd name="T4" fmla="*/ 6 w 24"/>
                    <a:gd name="T5" fmla="*/ 0 h 18"/>
                    <a:gd name="T6" fmla="*/ 0 w 24"/>
                    <a:gd name="T7" fmla="*/ 0 h 18"/>
                    <a:gd name="T8" fmla="*/ 18 w 24"/>
                    <a:gd name="T9" fmla="*/ 18 h 18"/>
                    <a:gd name="T10" fmla="*/ 0 w 24"/>
                    <a:gd name="T11" fmla="*/ 0 h 18"/>
                    <a:gd name="T12" fmla="*/ 0 w 24"/>
                    <a:gd name="T13" fmla="*/ 6 h 18"/>
                    <a:gd name="T14" fmla="*/ 0 w 24"/>
                    <a:gd name="T15" fmla="*/ 6 h 18"/>
                    <a:gd name="T16" fmla="*/ 12 w 24"/>
                    <a:gd name="T17" fmla="*/ 12 h 18"/>
                    <a:gd name="T18" fmla="*/ 0 w 24"/>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18" y="18"/>
                      </a:moveTo>
                      <a:lnTo>
                        <a:pt x="24" y="18"/>
                      </a:lnTo>
                      <a:lnTo>
                        <a:pt x="6" y="0"/>
                      </a:lnTo>
                      <a:lnTo>
                        <a:pt x="0" y="0"/>
                      </a:lnTo>
                      <a:lnTo>
                        <a:pt x="18" y="18"/>
                      </a:lnTo>
                      <a:close/>
                      <a:moveTo>
                        <a:pt x="0" y="0"/>
                      </a:moveTo>
                      <a:lnTo>
                        <a:pt x="0" y="6"/>
                      </a:lnTo>
                      <a:lnTo>
                        <a:pt x="0" y="6"/>
                      </a:lnTo>
                      <a:lnTo>
                        <a:pt x="12" y="12"/>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286" name="Freeform 213"/>
                <p:cNvSpPr>
                  <a:spLocks noEditPoints="1"/>
                </p:cNvSpPr>
                <p:nvPr/>
              </p:nvSpPr>
              <p:spPr bwMode="auto">
                <a:xfrm>
                  <a:off x="4519" y="2346"/>
                  <a:ext cx="24" cy="36"/>
                </a:xfrm>
                <a:custGeom>
                  <a:avLst/>
                  <a:gdLst>
                    <a:gd name="T0" fmla="*/ 0 w 24"/>
                    <a:gd name="T1" fmla="*/ 24 h 36"/>
                    <a:gd name="T2" fmla="*/ 0 w 24"/>
                    <a:gd name="T3" fmla="*/ 24 h 36"/>
                    <a:gd name="T4" fmla="*/ 24 w 24"/>
                    <a:gd name="T5" fmla="*/ 36 h 36"/>
                    <a:gd name="T6" fmla="*/ 24 w 24"/>
                    <a:gd name="T7" fmla="*/ 24 h 36"/>
                    <a:gd name="T8" fmla="*/ 24 w 24"/>
                    <a:gd name="T9" fmla="*/ 18 h 36"/>
                    <a:gd name="T10" fmla="*/ 0 w 24"/>
                    <a:gd name="T11" fmla="*/ 24 h 36"/>
                    <a:gd name="T12" fmla="*/ 24 w 24"/>
                    <a:gd name="T13" fmla="*/ 18 h 36"/>
                    <a:gd name="T14" fmla="*/ 18 w 24"/>
                    <a:gd name="T15" fmla="*/ 0 h 36"/>
                    <a:gd name="T16" fmla="*/ 6 w 24"/>
                    <a:gd name="T17" fmla="*/ 12 h 36"/>
                    <a:gd name="T18" fmla="*/ 12 w 24"/>
                    <a:gd name="T19" fmla="*/ 24 h 36"/>
                    <a:gd name="T20" fmla="*/ 24 w 24"/>
                    <a:gd name="T21"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36">
                      <a:moveTo>
                        <a:pt x="0" y="24"/>
                      </a:moveTo>
                      <a:lnTo>
                        <a:pt x="0" y="24"/>
                      </a:lnTo>
                      <a:lnTo>
                        <a:pt x="24" y="36"/>
                      </a:lnTo>
                      <a:lnTo>
                        <a:pt x="24" y="24"/>
                      </a:lnTo>
                      <a:lnTo>
                        <a:pt x="24" y="18"/>
                      </a:lnTo>
                      <a:lnTo>
                        <a:pt x="0" y="24"/>
                      </a:lnTo>
                      <a:close/>
                      <a:moveTo>
                        <a:pt x="24" y="18"/>
                      </a:moveTo>
                      <a:lnTo>
                        <a:pt x="18" y="0"/>
                      </a:lnTo>
                      <a:lnTo>
                        <a:pt x="6" y="12"/>
                      </a:lnTo>
                      <a:lnTo>
                        <a:pt x="12" y="24"/>
                      </a:lnTo>
                      <a:lnTo>
                        <a:pt x="24" y="18"/>
                      </a:lnTo>
                      <a:close/>
                    </a:path>
                  </a:pathLst>
                </a:custGeom>
                <a:solidFill>
                  <a:srgbClr val="00FF00"/>
                </a:solidFill>
                <a:ln w="9525">
                  <a:solidFill>
                    <a:srgbClr val="00FF00"/>
                  </a:solidFill>
                  <a:round/>
                  <a:headEnd/>
                  <a:tailEnd/>
                </a:ln>
              </p:spPr>
              <p:txBody>
                <a:bodyPr/>
                <a:lstStyle/>
                <a:p>
                  <a:endParaRPr lang="zh-CN" altLang="en-US"/>
                </a:p>
              </p:txBody>
            </p:sp>
            <p:sp>
              <p:nvSpPr>
                <p:cNvPr id="287" name="Freeform 214"/>
                <p:cNvSpPr>
                  <a:spLocks noEditPoints="1"/>
                </p:cNvSpPr>
                <p:nvPr/>
              </p:nvSpPr>
              <p:spPr bwMode="auto">
                <a:xfrm>
                  <a:off x="4507" y="2370"/>
                  <a:ext cx="36" cy="35"/>
                </a:xfrm>
                <a:custGeom>
                  <a:avLst/>
                  <a:gdLst>
                    <a:gd name="T0" fmla="*/ 12 w 36"/>
                    <a:gd name="T1" fmla="*/ 6 h 35"/>
                    <a:gd name="T2" fmla="*/ 12 w 36"/>
                    <a:gd name="T3" fmla="*/ 6 h 35"/>
                    <a:gd name="T4" fmla="*/ 0 w 36"/>
                    <a:gd name="T5" fmla="*/ 12 h 35"/>
                    <a:gd name="T6" fmla="*/ 12 w 36"/>
                    <a:gd name="T7" fmla="*/ 35 h 35"/>
                    <a:gd name="T8" fmla="*/ 30 w 36"/>
                    <a:gd name="T9" fmla="*/ 18 h 35"/>
                    <a:gd name="T10" fmla="*/ 36 w 36"/>
                    <a:gd name="T11" fmla="*/ 6 h 35"/>
                    <a:gd name="T12" fmla="*/ 12 w 36"/>
                    <a:gd name="T13" fmla="*/ 6 h 35"/>
                    <a:gd name="T14" fmla="*/ 12 w 36"/>
                    <a:gd name="T15" fmla="*/ 0 h 35"/>
                    <a:gd name="T16" fmla="*/ 12 w 36"/>
                    <a:gd name="T17" fmla="*/ 0 h 35"/>
                    <a:gd name="T18" fmla="*/ 12 w 36"/>
                    <a:gd name="T19" fmla="*/ 6 h 35"/>
                    <a:gd name="T20" fmla="*/ 24 w 36"/>
                    <a:gd name="T21" fmla="*/ 6 h 35"/>
                    <a:gd name="T22" fmla="*/ 12 w 36"/>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35">
                      <a:moveTo>
                        <a:pt x="12" y="6"/>
                      </a:moveTo>
                      <a:lnTo>
                        <a:pt x="12" y="6"/>
                      </a:lnTo>
                      <a:lnTo>
                        <a:pt x="0" y="12"/>
                      </a:lnTo>
                      <a:lnTo>
                        <a:pt x="12" y="35"/>
                      </a:lnTo>
                      <a:lnTo>
                        <a:pt x="30" y="18"/>
                      </a:lnTo>
                      <a:lnTo>
                        <a:pt x="36" y="6"/>
                      </a:lnTo>
                      <a:lnTo>
                        <a:pt x="12" y="6"/>
                      </a:lnTo>
                      <a:close/>
                      <a:moveTo>
                        <a:pt x="12" y="0"/>
                      </a:moveTo>
                      <a:lnTo>
                        <a:pt x="12" y="0"/>
                      </a:lnTo>
                      <a:lnTo>
                        <a:pt x="12" y="6"/>
                      </a:lnTo>
                      <a:lnTo>
                        <a:pt x="24" y="6"/>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288" name="Freeform 215"/>
                <p:cNvSpPr>
                  <a:spLocks noEditPoints="1"/>
                </p:cNvSpPr>
                <p:nvPr/>
              </p:nvSpPr>
              <p:spPr bwMode="auto">
                <a:xfrm>
                  <a:off x="4495" y="2382"/>
                  <a:ext cx="30" cy="18"/>
                </a:xfrm>
                <a:custGeom>
                  <a:avLst/>
                  <a:gdLst>
                    <a:gd name="T0" fmla="*/ 12 w 30"/>
                    <a:gd name="T1" fmla="*/ 18 h 18"/>
                    <a:gd name="T2" fmla="*/ 12 w 30"/>
                    <a:gd name="T3" fmla="*/ 18 h 18"/>
                    <a:gd name="T4" fmla="*/ 12 w 30"/>
                    <a:gd name="T5" fmla="*/ 18 h 18"/>
                    <a:gd name="T6" fmla="*/ 30 w 30"/>
                    <a:gd name="T7" fmla="*/ 6 h 18"/>
                    <a:gd name="T8" fmla="*/ 30 w 30"/>
                    <a:gd name="T9" fmla="*/ 6 h 18"/>
                    <a:gd name="T10" fmla="*/ 24 w 30"/>
                    <a:gd name="T11" fmla="*/ 0 h 18"/>
                    <a:gd name="T12" fmla="*/ 12 w 30"/>
                    <a:gd name="T13" fmla="*/ 18 h 18"/>
                    <a:gd name="T14" fmla="*/ 12 w 30"/>
                    <a:gd name="T15" fmla="*/ 0 h 18"/>
                    <a:gd name="T16" fmla="*/ 0 w 30"/>
                    <a:gd name="T17" fmla="*/ 12 h 18"/>
                    <a:gd name="T18" fmla="*/ 12 w 30"/>
                    <a:gd name="T19" fmla="*/ 18 h 18"/>
                    <a:gd name="T20" fmla="*/ 18 w 30"/>
                    <a:gd name="T21" fmla="*/ 12 h 18"/>
                    <a:gd name="T22" fmla="*/ 12 w 30"/>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 h="18">
                      <a:moveTo>
                        <a:pt x="12" y="18"/>
                      </a:moveTo>
                      <a:lnTo>
                        <a:pt x="12" y="18"/>
                      </a:lnTo>
                      <a:lnTo>
                        <a:pt x="12" y="18"/>
                      </a:lnTo>
                      <a:lnTo>
                        <a:pt x="30" y="6"/>
                      </a:lnTo>
                      <a:lnTo>
                        <a:pt x="30" y="6"/>
                      </a:lnTo>
                      <a:lnTo>
                        <a:pt x="24" y="0"/>
                      </a:lnTo>
                      <a:lnTo>
                        <a:pt x="12" y="18"/>
                      </a:lnTo>
                      <a:close/>
                      <a:moveTo>
                        <a:pt x="12" y="0"/>
                      </a:moveTo>
                      <a:lnTo>
                        <a:pt x="0" y="12"/>
                      </a:lnTo>
                      <a:lnTo>
                        <a:pt x="12" y="18"/>
                      </a:lnTo>
                      <a:lnTo>
                        <a:pt x="18"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289" name="Freeform 216"/>
                <p:cNvSpPr>
                  <a:spLocks noEditPoints="1"/>
                </p:cNvSpPr>
                <p:nvPr/>
              </p:nvSpPr>
              <p:spPr bwMode="auto">
                <a:xfrm>
                  <a:off x="4507" y="2382"/>
                  <a:ext cx="48" cy="29"/>
                </a:xfrm>
                <a:custGeom>
                  <a:avLst/>
                  <a:gdLst>
                    <a:gd name="T0" fmla="*/ 6 w 48"/>
                    <a:gd name="T1" fmla="*/ 23 h 29"/>
                    <a:gd name="T2" fmla="*/ 12 w 48"/>
                    <a:gd name="T3" fmla="*/ 23 h 29"/>
                    <a:gd name="T4" fmla="*/ 18 w 48"/>
                    <a:gd name="T5" fmla="*/ 29 h 29"/>
                    <a:gd name="T6" fmla="*/ 30 w 48"/>
                    <a:gd name="T7" fmla="*/ 29 h 29"/>
                    <a:gd name="T8" fmla="*/ 30 w 48"/>
                    <a:gd name="T9" fmla="*/ 29 h 29"/>
                    <a:gd name="T10" fmla="*/ 48 w 48"/>
                    <a:gd name="T11" fmla="*/ 12 h 29"/>
                    <a:gd name="T12" fmla="*/ 24 w 48"/>
                    <a:gd name="T13" fmla="*/ 6 h 29"/>
                    <a:gd name="T14" fmla="*/ 18 w 48"/>
                    <a:gd name="T15" fmla="*/ 6 h 29"/>
                    <a:gd name="T16" fmla="*/ 12 w 48"/>
                    <a:gd name="T17" fmla="*/ 0 h 29"/>
                    <a:gd name="T18" fmla="*/ 6 w 48"/>
                    <a:gd name="T19" fmla="*/ 23 h 29"/>
                    <a:gd name="T20" fmla="*/ 0 w 48"/>
                    <a:gd name="T21" fmla="*/ 18 h 29"/>
                    <a:gd name="T22" fmla="*/ 0 w 48"/>
                    <a:gd name="T23" fmla="*/ 23 h 29"/>
                    <a:gd name="T24" fmla="*/ 6 w 48"/>
                    <a:gd name="T25" fmla="*/ 23 h 29"/>
                    <a:gd name="T26" fmla="*/ 12 w 48"/>
                    <a:gd name="T27" fmla="*/ 12 h 29"/>
                    <a:gd name="T28" fmla="*/ 0 w 48"/>
                    <a:gd name="T29" fmla="*/ 18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29">
                      <a:moveTo>
                        <a:pt x="6" y="23"/>
                      </a:moveTo>
                      <a:lnTo>
                        <a:pt x="12" y="23"/>
                      </a:lnTo>
                      <a:lnTo>
                        <a:pt x="18" y="29"/>
                      </a:lnTo>
                      <a:lnTo>
                        <a:pt x="30" y="29"/>
                      </a:lnTo>
                      <a:lnTo>
                        <a:pt x="30" y="29"/>
                      </a:lnTo>
                      <a:lnTo>
                        <a:pt x="48" y="12"/>
                      </a:lnTo>
                      <a:lnTo>
                        <a:pt x="24" y="6"/>
                      </a:lnTo>
                      <a:lnTo>
                        <a:pt x="18" y="6"/>
                      </a:lnTo>
                      <a:lnTo>
                        <a:pt x="12" y="0"/>
                      </a:lnTo>
                      <a:lnTo>
                        <a:pt x="6" y="23"/>
                      </a:lnTo>
                      <a:close/>
                      <a:moveTo>
                        <a:pt x="0" y="18"/>
                      </a:moveTo>
                      <a:lnTo>
                        <a:pt x="0" y="23"/>
                      </a:lnTo>
                      <a:lnTo>
                        <a:pt x="6" y="23"/>
                      </a:lnTo>
                      <a:lnTo>
                        <a:pt x="12" y="12"/>
                      </a:lnTo>
                      <a:lnTo>
                        <a:pt x="0" y="18"/>
                      </a:lnTo>
                      <a:close/>
                    </a:path>
                  </a:pathLst>
                </a:custGeom>
                <a:solidFill>
                  <a:srgbClr val="00FF00"/>
                </a:solidFill>
                <a:ln w="9525">
                  <a:solidFill>
                    <a:srgbClr val="00FF00"/>
                  </a:solidFill>
                  <a:round/>
                  <a:headEnd/>
                  <a:tailEnd/>
                </a:ln>
              </p:spPr>
              <p:txBody>
                <a:bodyPr/>
                <a:lstStyle/>
                <a:p>
                  <a:endParaRPr lang="zh-CN" altLang="en-US"/>
                </a:p>
              </p:txBody>
            </p:sp>
            <p:sp>
              <p:nvSpPr>
                <p:cNvPr id="290" name="Freeform 217"/>
                <p:cNvSpPr>
                  <a:spLocks noEditPoints="1"/>
                </p:cNvSpPr>
                <p:nvPr/>
              </p:nvSpPr>
              <p:spPr bwMode="auto">
                <a:xfrm>
                  <a:off x="4537" y="2394"/>
                  <a:ext cx="24" cy="29"/>
                </a:xfrm>
                <a:custGeom>
                  <a:avLst/>
                  <a:gdLst>
                    <a:gd name="T0" fmla="*/ 0 w 24"/>
                    <a:gd name="T1" fmla="*/ 11 h 29"/>
                    <a:gd name="T2" fmla="*/ 0 w 24"/>
                    <a:gd name="T3" fmla="*/ 29 h 29"/>
                    <a:gd name="T4" fmla="*/ 24 w 24"/>
                    <a:gd name="T5" fmla="*/ 23 h 29"/>
                    <a:gd name="T6" fmla="*/ 24 w 24"/>
                    <a:gd name="T7" fmla="*/ 6 h 29"/>
                    <a:gd name="T8" fmla="*/ 0 w 24"/>
                    <a:gd name="T9" fmla="*/ 11 h 29"/>
                    <a:gd name="T10" fmla="*/ 24 w 24"/>
                    <a:gd name="T11" fmla="*/ 6 h 29"/>
                    <a:gd name="T12" fmla="*/ 18 w 24"/>
                    <a:gd name="T13" fmla="*/ 6 h 29"/>
                    <a:gd name="T14" fmla="*/ 18 w 24"/>
                    <a:gd name="T15" fmla="*/ 0 h 29"/>
                    <a:gd name="T16" fmla="*/ 12 w 24"/>
                    <a:gd name="T17" fmla="*/ 11 h 29"/>
                    <a:gd name="T18" fmla="*/ 24 w 24"/>
                    <a:gd name="T19"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9">
                      <a:moveTo>
                        <a:pt x="0" y="11"/>
                      </a:moveTo>
                      <a:lnTo>
                        <a:pt x="0" y="29"/>
                      </a:lnTo>
                      <a:lnTo>
                        <a:pt x="24" y="23"/>
                      </a:lnTo>
                      <a:lnTo>
                        <a:pt x="24" y="6"/>
                      </a:lnTo>
                      <a:lnTo>
                        <a:pt x="0" y="11"/>
                      </a:lnTo>
                      <a:close/>
                      <a:moveTo>
                        <a:pt x="24" y="6"/>
                      </a:moveTo>
                      <a:lnTo>
                        <a:pt x="18" y="6"/>
                      </a:lnTo>
                      <a:lnTo>
                        <a:pt x="18" y="0"/>
                      </a:lnTo>
                      <a:lnTo>
                        <a:pt x="12" y="11"/>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291" name="Freeform 218"/>
                <p:cNvSpPr>
                  <a:spLocks/>
                </p:cNvSpPr>
                <p:nvPr/>
              </p:nvSpPr>
              <p:spPr bwMode="auto">
                <a:xfrm>
                  <a:off x="4549" y="2417"/>
                  <a:ext cx="12" cy="12"/>
                </a:xfrm>
                <a:custGeom>
                  <a:avLst/>
                  <a:gdLst>
                    <a:gd name="T0" fmla="*/ 6 w 12"/>
                    <a:gd name="T1" fmla="*/ 12 h 12"/>
                    <a:gd name="T2" fmla="*/ 12 w 12"/>
                    <a:gd name="T3" fmla="*/ 6 h 12"/>
                    <a:gd name="T4" fmla="*/ 12 w 12"/>
                    <a:gd name="T5" fmla="*/ 0 h 12"/>
                    <a:gd name="T6" fmla="*/ 0 w 12"/>
                    <a:gd name="T7" fmla="*/ 0 h 12"/>
                    <a:gd name="T8" fmla="*/ 6 w 12"/>
                    <a:gd name="T9" fmla="*/ 12 h 12"/>
                  </a:gdLst>
                  <a:ahLst/>
                  <a:cxnLst>
                    <a:cxn ang="0">
                      <a:pos x="T0" y="T1"/>
                    </a:cxn>
                    <a:cxn ang="0">
                      <a:pos x="T2" y="T3"/>
                    </a:cxn>
                    <a:cxn ang="0">
                      <a:pos x="T4" y="T5"/>
                    </a:cxn>
                    <a:cxn ang="0">
                      <a:pos x="T6" y="T7"/>
                    </a:cxn>
                    <a:cxn ang="0">
                      <a:pos x="T8" y="T9"/>
                    </a:cxn>
                  </a:cxnLst>
                  <a:rect l="0" t="0" r="r" b="b"/>
                  <a:pathLst>
                    <a:path w="12" h="12">
                      <a:moveTo>
                        <a:pt x="6" y="12"/>
                      </a:moveTo>
                      <a:lnTo>
                        <a:pt x="12" y="6"/>
                      </a:lnTo>
                      <a:lnTo>
                        <a:pt x="12" y="0"/>
                      </a:lnTo>
                      <a:lnTo>
                        <a:pt x="0" y="0"/>
                      </a:lnTo>
                      <a:lnTo>
                        <a:pt x="6" y="12"/>
                      </a:lnTo>
                      <a:close/>
                    </a:path>
                  </a:pathLst>
                </a:custGeom>
                <a:solidFill>
                  <a:srgbClr val="00FF00"/>
                </a:solidFill>
                <a:ln w="9525">
                  <a:solidFill>
                    <a:srgbClr val="00FF00"/>
                  </a:solidFill>
                  <a:round/>
                  <a:headEnd/>
                  <a:tailEnd/>
                </a:ln>
              </p:spPr>
              <p:txBody>
                <a:bodyPr/>
                <a:lstStyle/>
                <a:p>
                  <a:endParaRPr lang="zh-CN" altLang="en-US"/>
                </a:p>
              </p:txBody>
            </p:sp>
            <p:sp>
              <p:nvSpPr>
                <p:cNvPr id="292" name="Freeform 219"/>
                <p:cNvSpPr>
                  <a:spLocks/>
                </p:cNvSpPr>
                <p:nvPr/>
              </p:nvSpPr>
              <p:spPr bwMode="auto">
                <a:xfrm>
                  <a:off x="4555" y="2459"/>
                  <a:ext cx="6" cy="6"/>
                </a:xfrm>
                <a:custGeom>
                  <a:avLst/>
                  <a:gdLst>
                    <a:gd name="T0" fmla="*/ 6 w 6"/>
                    <a:gd name="T1" fmla="*/ 0 h 6"/>
                    <a:gd name="T2" fmla="*/ 0 w 6"/>
                    <a:gd name="T3" fmla="*/ 0 h 6"/>
                    <a:gd name="T4" fmla="*/ 0 w 6"/>
                    <a:gd name="T5" fmla="*/ 0 h 6"/>
                    <a:gd name="T6" fmla="*/ 0 w 6"/>
                    <a:gd name="T7" fmla="*/ 6 h 6"/>
                    <a:gd name="T8" fmla="*/ 6 w 6"/>
                    <a:gd name="T9" fmla="*/ 6 h 6"/>
                    <a:gd name="T10" fmla="*/ 6 w 6"/>
                    <a:gd name="T11" fmla="*/ 6 h 6"/>
                    <a:gd name="T12" fmla="*/ 6 w 6"/>
                    <a:gd name="T13" fmla="*/ 0 h 6"/>
                    <a:gd name="T14" fmla="*/ 6 w 6"/>
                    <a:gd name="T15" fmla="*/ 0 h 6"/>
                    <a:gd name="T16" fmla="*/ 6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6" y="0"/>
                      </a:moveTo>
                      <a:lnTo>
                        <a:pt x="0" y="0"/>
                      </a:lnTo>
                      <a:lnTo>
                        <a:pt x="0" y="0"/>
                      </a:lnTo>
                      <a:lnTo>
                        <a:pt x="0" y="6"/>
                      </a:lnTo>
                      <a:lnTo>
                        <a:pt x="6" y="6"/>
                      </a:lnTo>
                      <a:lnTo>
                        <a:pt x="6" y="6"/>
                      </a:lnTo>
                      <a:lnTo>
                        <a:pt x="6" y="0"/>
                      </a:lnTo>
                      <a:lnTo>
                        <a:pt x="6" y="0"/>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293" name="Freeform 220"/>
                <p:cNvSpPr>
                  <a:spLocks/>
                </p:cNvSpPr>
                <p:nvPr/>
              </p:nvSpPr>
              <p:spPr bwMode="auto">
                <a:xfrm>
                  <a:off x="4537" y="2459"/>
                  <a:ext cx="12" cy="6"/>
                </a:xfrm>
                <a:custGeom>
                  <a:avLst/>
                  <a:gdLst>
                    <a:gd name="T0" fmla="*/ 6 w 12"/>
                    <a:gd name="T1" fmla="*/ 0 h 6"/>
                    <a:gd name="T2" fmla="*/ 6 w 12"/>
                    <a:gd name="T3" fmla="*/ 0 h 6"/>
                    <a:gd name="T4" fmla="*/ 0 w 12"/>
                    <a:gd name="T5" fmla="*/ 0 h 6"/>
                    <a:gd name="T6" fmla="*/ 6 w 12"/>
                    <a:gd name="T7" fmla="*/ 6 h 6"/>
                    <a:gd name="T8" fmla="*/ 6 w 12"/>
                    <a:gd name="T9" fmla="*/ 6 h 6"/>
                    <a:gd name="T10" fmla="*/ 12 w 12"/>
                    <a:gd name="T11" fmla="*/ 6 h 6"/>
                    <a:gd name="T12" fmla="*/ 12 w 12"/>
                    <a:gd name="T13" fmla="*/ 0 h 6"/>
                    <a:gd name="T14" fmla="*/ 12 w 12"/>
                    <a:gd name="T15" fmla="*/ 0 h 6"/>
                    <a:gd name="T16" fmla="*/ 6 w 12"/>
                    <a:gd name="T17" fmla="*/ 0 h 6"/>
                    <a:gd name="T18" fmla="*/ 6 w 12"/>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6">
                      <a:moveTo>
                        <a:pt x="6" y="0"/>
                      </a:moveTo>
                      <a:lnTo>
                        <a:pt x="6" y="0"/>
                      </a:lnTo>
                      <a:lnTo>
                        <a:pt x="0" y="0"/>
                      </a:lnTo>
                      <a:lnTo>
                        <a:pt x="6" y="6"/>
                      </a:lnTo>
                      <a:lnTo>
                        <a:pt x="6" y="6"/>
                      </a:lnTo>
                      <a:lnTo>
                        <a:pt x="12" y="6"/>
                      </a:lnTo>
                      <a:lnTo>
                        <a:pt x="12" y="0"/>
                      </a:lnTo>
                      <a:lnTo>
                        <a:pt x="12" y="0"/>
                      </a:lnTo>
                      <a:lnTo>
                        <a:pt x="6" y="0"/>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294" name="Freeform 221"/>
                <p:cNvSpPr>
                  <a:spLocks/>
                </p:cNvSpPr>
                <p:nvPr/>
              </p:nvSpPr>
              <p:spPr bwMode="auto">
                <a:xfrm>
                  <a:off x="4549" y="2358"/>
                  <a:ext cx="1" cy="12"/>
                </a:xfrm>
                <a:custGeom>
                  <a:avLst/>
                  <a:gdLst>
                    <a:gd name="T0" fmla="*/ 12 h 12"/>
                    <a:gd name="T1" fmla="*/ 6 h 12"/>
                    <a:gd name="T2" fmla="*/ 0 h 12"/>
                    <a:gd name="T3" fmla="*/ 6 h 12"/>
                    <a:gd name="T4" fmla="*/ 12 h 12"/>
                    <a:gd name="T5" fmla="*/ 12 h 12"/>
                    <a:gd name="T6" fmla="*/ 12 h 12"/>
                  </a:gdLst>
                  <a:ahLst/>
                  <a:cxnLst>
                    <a:cxn ang="0">
                      <a:pos x="0" y="T0"/>
                    </a:cxn>
                    <a:cxn ang="0">
                      <a:pos x="0" y="T1"/>
                    </a:cxn>
                    <a:cxn ang="0">
                      <a:pos x="0" y="T2"/>
                    </a:cxn>
                    <a:cxn ang="0">
                      <a:pos x="0" y="T3"/>
                    </a:cxn>
                    <a:cxn ang="0">
                      <a:pos x="0" y="T4"/>
                    </a:cxn>
                    <a:cxn ang="0">
                      <a:pos x="0" y="T5"/>
                    </a:cxn>
                    <a:cxn ang="0">
                      <a:pos x="0" y="T6"/>
                    </a:cxn>
                  </a:cxnLst>
                  <a:rect l="0" t="0" r="r" b="b"/>
                  <a:pathLst>
                    <a:path h="12">
                      <a:moveTo>
                        <a:pt x="0" y="12"/>
                      </a:moveTo>
                      <a:lnTo>
                        <a:pt x="0" y="6"/>
                      </a:lnTo>
                      <a:lnTo>
                        <a:pt x="0" y="0"/>
                      </a:lnTo>
                      <a:lnTo>
                        <a:pt x="0" y="6"/>
                      </a:lnTo>
                      <a:lnTo>
                        <a:pt x="0" y="12"/>
                      </a:lnTo>
                      <a:lnTo>
                        <a:pt x="0" y="12"/>
                      </a:lnTo>
                      <a:lnTo>
                        <a:pt x="0" y="12"/>
                      </a:lnTo>
                      <a:close/>
                    </a:path>
                  </a:pathLst>
                </a:custGeom>
                <a:solidFill>
                  <a:srgbClr val="00FF00"/>
                </a:solidFill>
                <a:ln w="9525">
                  <a:solidFill>
                    <a:srgbClr val="00FF00"/>
                  </a:solidFill>
                  <a:round/>
                  <a:headEnd/>
                  <a:tailEnd/>
                </a:ln>
              </p:spPr>
              <p:txBody>
                <a:bodyPr/>
                <a:lstStyle/>
                <a:p>
                  <a:endParaRPr lang="zh-CN" altLang="en-US"/>
                </a:p>
              </p:txBody>
            </p:sp>
            <p:sp>
              <p:nvSpPr>
                <p:cNvPr id="295" name="Freeform 222"/>
                <p:cNvSpPr>
                  <a:spLocks/>
                </p:cNvSpPr>
                <p:nvPr/>
              </p:nvSpPr>
              <p:spPr bwMode="auto">
                <a:xfrm>
                  <a:off x="4555" y="2346"/>
                  <a:ext cx="12" cy="30"/>
                </a:xfrm>
                <a:custGeom>
                  <a:avLst/>
                  <a:gdLst>
                    <a:gd name="T0" fmla="*/ 0 w 12"/>
                    <a:gd name="T1" fmla="*/ 30 h 30"/>
                    <a:gd name="T2" fmla="*/ 6 w 12"/>
                    <a:gd name="T3" fmla="*/ 6 h 30"/>
                    <a:gd name="T4" fmla="*/ 6 w 12"/>
                    <a:gd name="T5" fmla="*/ 6 h 30"/>
                    <a:gd name="T6" fmla="*/ 12 w 12"/>
                    <a:gd name="T7" fmla="*/ 0 h 30"/>
                    <a:gd name="T8" fmla="*/ 12 w 12"/>
                    <a:gd name="T9" fmla="*/ 0 h 30"/>
                    <a:gd name="T10" fmla="*/ 6 w 12"/>
                    <a:gd name="T11" fmla="*/ 6 h 30"/>
                    <a:gd name="T12" fmla="*/ 6 w 12"/>
                    <a:gd name="T13" fmla="*/ 12 h 30"/>
                    <a:gd name="T14" fmla="*/ 6 w 12"/>
                    <a:gd name="T15" fmla="*/ 18 h 30"/>
                    <a:gd name="T16" fmla="*/ 0 w 12"/>
                    <a:gd name="T17" fmla="*/ 24 h 30"/>
                    <a:gd name="T18" fmla="*/ 0 w 12"/>
                    <a:gd name="T19" fmla="*/ 24 h 30"/>
                    <a:gd name="T20" fmla="*/ 0 w 12"/>
                    <a:gd name="T21" fmla="*/ 30 h 30"/>
                    <a:gd name="T22" fmla="*/ 0 w 12"/>
                    <a:gd name="T23" fmla="*/ 30 h 30"/>
                    <a:gd name="T24" fmla="*/ 0 w 12"/>
                    <a:gd name="T25" fmla="*/ 30 h 30"/>
                    <a:gd name="T26" fmla="*/ 0 w 12"/>
                    <a:gd name="T2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 h="30">
                      <a:moveTo>
                        <a:pt x="0" y="30"/>
                      </a:moveTo>
                      <a:lnTo>
                        <a:pt x="6" y="6"/>
                      </a:lnTo>
                      <a:lnTo>
                        <a:pt x="6" y="6"/>
                      </a:lnTo>
                      <a:lnTo>
                        <a:pt x="12" y="0"/>
                      </a:lnTo>
                      <a:lnTo>
                        <a:pt x="12" y="0"/>
                      </a:lnTo>
                      <a:lnTo>
                        <a:pt x="6" y="6"/>
                      </a:lnTo>
                      <a:lnTo>
                        <a:pt x="6" y="12"/>
                      </a:lnTo>
                      <a:lnTo>
                        <a:pt x="6" y="18"/>
                      </a:lnTo>
                      <a:lnTo>
                        <a:pt x="0" y="24"/>
                      </a:lnTo>
                      <a:lnTo>
                        <a:pt x="0" y="24"/>
                      </a:lnTo>
                      <a:lnTo>
                        <a:pt x="0" y="30"/>
                      </a:lnTo>
                      <a:lnTo>
                        <a:pt x="0" y="30"/>
                      </a:lnTo>
                      <a:lnTo>
                        <a:pt x="0" y="30"/>
                      </a:lnTo>
                      <a:lnTo>
                        <a:pt x="0" y="30"/>
                      </a:lnTo>
                      <a:close/>
                    </a:path>
                  </a:pathLst>
                </a:custGeom>
                <a:solidFill>
                  <a:srgbClr val="00FF00"/>
                </a:solidFill>
                <a:ln w="9525">
                  <a:solidFill>
                    <a:srgbClr val="00FF00"/>
                  </a:solidFill>
                  <a:round/>
                  <a:headEnd/>
                  <a:tailEnd/>
                </a:ln>
              </p:spPr>
              <p:txBody>
                <a:bodyPr/>
                <a:lstStyle/>
                <a:p>
                  <a:endParaRPr lang="zh-CN" altLang="en-US"/>
                </a:p>
              </p:txBody>
            </p:sp>
            <p:sp>
              <p:nvSpPr>
                <p:cNvPr id="296" name="Freeform 223"/>
                <p:cNvSpPr>
                  <a:spLocks/>
                </p:cNvSpPr>
                <p:nvPr/>
              </p:nvSpPr>
              <p:spPr bwMode="auto">
                <a:xfrm>
                  <a:off x="4543" y="2352"/>
                  <a:ext cx="30" cy="30"/>
                </a:xfrm>
                <a:custGeom>
                  <a:avLst/>
                  <a:gdLst>
                    <a:gd name="T0" fmla="*/ 24 w 30"/>
                    <a:gd name="T1" fmla="*/ 30 h 30"/>
                    <a:gd name="T2" fmla="*/ 30 w 30"/>
                    <a:gd name="T3" fmla="*/ 6 h 30"/>
                    <a:gd name="T4" fmla="*/ 6 w 30"/>
                    <a:gd name="T5" fmla="*/ 0 h 30"/>
                    <a:gd name="T6" fmla="*/ 0 w 30"/>
                    <a:gd name="T7" fmla="*/ 24 h 30"/>
                    <a:gd name="T8" fmla="*/ 24 w 30"/>
                    <a:gd name="T9" fmla="*/ 30 h 30"/>
                  </a:gdLst>
                  <a:ahLst/>
                  <a:cxnLst>
                    <a:cxn ang="0">
                      <a:pos x="T0" y="T1"/>
                    </a:cxn>
                    <a:cxn ang="0">
                      <a:pos x="T2" y="T3"/>
                    </a:cxn>
                    <a:cxn ang="0">
                      <a:pos x="T4" y="T5"/>
                    </a:cxn>
                    <a:cxn ang="0">
                      <a:pos x="T6" y="T7"/>
                    </a:cxn>
                    <a:cxn ang="0">
                      <a:pos x="T8" y="T9"/>
                    </a:cxn>
                  </a:cxnLst>
                  <a:rect l="0" t="0" r="r" b="b"/>
                  <a:pathLst>
                    <a:path w="30" h="30">
                      <a:moveTo>
                        <a:pt x="24" y="30"/>
                      </a:moveTo>
                      <a:lnTo>
                        <a:pt x="30" y="6"/>
                      </a:lnTo>
                      <a:lnTo>
                        <a:pt x="6" y="0"/>
                      </a:lnTo>
                      <a:lnTo>
                        <a:pt x="0" y="24"/>
                      </a:lnTo>
                      <a:lnTo>
                        <a:pt x="24" y="30"/>
                      </a:lnTo>
                      <a:close/>
                    </a:path>
                  </a:pathLst>
                </a:custGeom>
                <a:solidFill>
                  <a:srgbClr val="00FF00"/>
                </a:solidFill>
                <a:ln w="9525">
                  <a:solidFill>
                    <a:srgbClr val="00FF00"/>
                  </a:solidFill>
                  <a:round/>
                  <a:headEnd/>
                  <a:tailEnd/>
                </a:ln>
              </p:spPr>
              <p:txBody>
                <a:bodyPr/>
                <a:lstStyle/>
                <a:p>
                  <a:endParaRPr lang="zh-CN" altLang="en-US"/>
                </a:p>
              </p:txBody>
            </p:sp>
            <p:sp>
              <p:nvSpPr>
                <p:cNvPr id="297" name="Freeform 224"/>
                <p:cNvSpPr>
                  <a:spLocks noEditPoints="1"/>
                </p:cNvSpPr>
                <p:nvPr/>
              </p:nvSpPr>
              <p:spPr bwMode="auto">
                <a:xfrm>
                  <a:off x="4549" y="2334"/>
                  <a:ext cx="24" cy="24"/>
                </a:xfrm>
                <a:custGeom>
                  <a:avLst/>
                  <a:gdLst>
                    <a:gd name="T0" fmla="*/ 24 w 24"/>
                    <a:gd name="T1" fmla="*/ 24 h 24"/>
                    <a:gd name="T2" fmla="*/ 24 w 24"/>
                    <a:gd name="T3" fmla="*/ 18 h 24"/>
                    <a:gd name="T4" fmla="*/ 24 w 24"/>
                    <a:gd name="T5" fmla="*/ 18 h 24"/>
                    <a:gd name="T6" fmla="*/ 24 w 24"/>
                    <a:gd name="T7" fmla="*/ 24 h 24"/>
                    <a:gd name="T8" fmla="*/ 12 w 24"/>
                    <a:gd name="T9" fmla="*/ 0 h 24"/>
                    <a:gd name="T10" fmla="*/ 0 w 24"/>
                    <a:gd name="T11" fmla="*/ 12 h 24"/>
                    <a:gd name="T12" fmla="*/ 0 w 24"/>
                    <a:gd name="T13" fmla="*/ 18 h 24"/>
                    <a:gd name="T14" fmla="*/ 24 w 24"/>
                    <a:gd name="T15" fmla="*/ 24 h 24"/>
                    <a:gd name="T16" fmla="*/ 24 w 24"/>
                    <a:gd name="T17" fmla="*/ 24 h 24"/>
                    <a:gd name="T18" fmla="*/ 24 w 24"/>
                    <a:gd name="T19" fmla="*/ 24 h 24"/>
                    <a:gd name="T20" fmla="*/ 24 w 24"/>
                    <a:gd name="T21" fmla="*/ 24 h 24"/>
                    <a:gd name="T22" fmla="*/ 12 w 24"/>
                    <a:gd name="T23" fmla="*/ 18 h 24"/>
                    <a:gd name="T24" fmla="*/ 24 w 24"/>
                    <a:gd name="T25"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24" y="24"/>
                      </a:moveTo>
                      <a:lnTo>
                        <a:pt x="24" y="18"/>
                      </a:lnTo>
                      <a:lnTo>
                        <a:pt x="24" y="18"/>
                      </a:lnTo>
                      <a:lnTo>
                        <a:pt x="24" y="24"/>
                      </a:lnTo>
                      <a:lnTo>
                        <a:pt x="12" y="0"/>
                      </a:lnTo>
                      <a:lnTo>
                        <a:pt x="0" y="12"/>
                      </a:lnTo>
                      <a:lnTo>
                        <a:pt x="0" y="18"/>
                      </a:lnTo>
                      <a:lnTo>
                        <a:pt x="24" y="24"/>
                      </a:lnTo>
                      <a:close/>
                      <a:moveTo>
                        <a:pt x="24" y="24"/>
                      </a:moveTo>
                      <a:lnTo>
                        <a:pt x="24" y="24"/>
                      </a:lnTo>
                      <a:lnTo>
                        <a:pt x="24" y="24"/>
                      </a:lnTo>
                      <a:lnTo>
                        <a:pt x="12" y="18"/>
                      </a:lnTo>
                      <a:lnTo>
                        <a:pt x="24" y="24"/>
                      </a:lnTo>
                      <a:close/>
                    </a:path>
                  </a:pathLst>
                </a:custGeom>
                <a:solidFill>
                  <a:srgbClr val="00FF00"/>
                </a:solidFill>
                <a:ln w="9525">
                  <a:solidFill>
                    <a:srgbClr val="00FF00"/>
                  </a:solidFill>
                  <a:round/>
                  <a:headEnd/>
                  <a:tailEnd/>
                </a:ln>
              </p:spPr>
              <p:txBody>
                <a:bodyPr/>
                <a:lstStyle/>
                <a:p>
                  <a:endParaRPr lang="zh-CN" altLang="en-US"/>
                </a:p>
              </p:txBody>
            </p:sp>
            <p:sp>
              <p:nvSpPr>
                <p:cNvPr id="298" name="Freeform 225"/>
                <p:cNvSpPr>
                  <a:spLocks noEditPoints="1"/>
                </p:cNvSpPr>
                <p:nvPr/>
              </p:nvSpPr>
              <p:spPr bwMode="auto">
                <a:xfrm>
                  <a:off x="4549" y="2334"/>
                  <a:ext cx="24" cy="24"/>
                </a:xfrm>
                <a:custGeom>
                  <a:avLst/>
                  <a:gdLst>
                    <a:gd name="T0" fmla="*/ 12 w 24"/>
                    <a:gd name="T1" fmla="*/ 0 h 24"/>
                    <a:gd name="T2" fmla="*/ 6 w 24"/>
                    <a:gd name="T3" fmla="*/ 6 h 24"/>
                    <a:gd name="T4" fmla="*/ 0 w 24"/>
                    <a:gd name="T5" fmla="*/ 18 h 24"/>
                    <a:gd name="T6" fmla="*/ 24 w 24"/>
                    <a:gd name="T7" fmla="*/ 24 h 24"/>
                    <a:gd name="T8" fmla="*/ 24 w 24"/>
                    <a:gd name="T9" fmla="*/ 24 h 24"/>
                    <a:gd name="T10" fmla="*/ 24 w 24"/>
                    <a:gd name="T11" fmla="*/ 18 h 24"/>
                    <a:gd name="T12" fmla="*/ 12 w 24"/>
                    <a:gd name="T13" fmla="*/ 0 h 24"/>
                    <a:gd name="T14" fmla="*/ 24 w 24"/>
                    <a:gd name="T15" fmla="*/ 24 h 24"/>
                    <a:gd name="T16" fmla="*/ 12 w 24"/>
                    <a:gd name="T17" fmla="*/ 0 h 24"/>
                    <a:gd name="T18" fmla="*/ 24 w 24"/>
                    <a:gd name="T19" fmla="*/ 18 h 24"/>
                    <a:gd name="T20" fmla="*/ 12 w 24"/>
                    <a:gd name="T21" fmla="*/ 0 h 24"/>
                    <a:gd name="T22" fmla="*/ 24 w 24"/>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2" y="0"/>
                      </a:moveTo>
                      <a:lnTo>
                        <a:pt x="6" y="6"/>
                      </a:lnTo>
                      <a:lnTo>
                        <a:pt x="0" y="18"/>
                      </a:lnTo>
                      <a:lnTo>
                        <a:pt x="24" y="24"/>
                      </a:lnTo>
                      <a:lnTo>
                        <a:pt x="24" y="24"/>
                      </a:lnTo>
                      <a:lnTo>
                        <a:pt x="24" y="18"/>
                      </a:lnTo>
                      <a:lnTo>
                        <a:pt x="12" y="0"/>
                      </a:lnTo>
                      <a:close/>
                      <a:moveTo>
                        <a:pt x="24" y="24"/>
                      </a:moveTo>
                      <a:lnTo>
                        <a:pt x="12" y="0"/>
                      </a:lnTo>
                      <a:lnTo>
                        <a:pt x="24" y="18"/>
                      </a:lnTo>
                      <a:lnTo>
                        <a:pt x="12" y="0"/>
                      </a:lnTo>
                      <a:lnTo>
                        <a:pt x="24" y="24"/>
                      </a:lnTo>
                      <a:close/>
                    </a:path>
                  </a:pathLst>
                </a:custGeom>
                <a:solidFill>
                  <a:srgbClr val="00FF00"/>
                </a:solidFill>
                <a:ln w="9525">
                  <a:solidFill>
                    <a:srgbClr val="00FF00"/>
                  </a:solidFill>
                  <a:round/>
                  <a:headEnd/>
                  <a:tailEnd/>
                </a:ln>
              </p:spPr>
              <p:txBody>
                <a:bodyPr/>
                <a:lstStyle/>
                <a:p>
                  <a:endParaRPr lang="zh-CN" altLang="en-US"/>
                </a:p>
              </p:txBody>
            </p:sp>
            <p:sp>
              <p:nvSpPr>
                <p:cNvPr id="299" name="Freeform 226"/>
                <p:cNvSpPr>
                  <a:spLocks noEditPoints="1"/>
                </p:cNvSpPr>
                <p:nvPr/>
              </p:nvSpPr>
              <p:spPr bwMode="auto">
                <a:xfrm>
                  <a:off x="4543" y="2346"/>
                  <a:ext cx="30" cy="30"/>
                </a:xfrm>
                <a:custGeom>
                  <a:avLst/>
                  <a:gdLst>
                    <a:gd name="T0" fmla="*/ 6 w 30"/>
                    <a:gd name="T1" fmla="*/ 0 h 30"/>
                    <a:gd name="T2" fmla="*/ 6 w 30"/>
                    <a:gd name="T3" fmla="*/ 12 h 30"/>
                    <a:gd name="T4" fmla="*/ 0 w 30"/>
                    <a:gd name="T5" fmla="*/ 30 h 30"/>
                    <a:gd name="T6" fmla="*/ 24 w 30"/>
                    <a:gd name="T7" fmla="*/ 24 h 30"/>
                    <a:gd name="T8" fmla="*/ 24 w 30"/>
                    <a:gd name="T9" fmla="*/ 24 h 30"/>
                    <a:gd name="T10" fmla="*/ 30 w 30"/>
                    <a:gd name="T11" fmla="*/ 18 h 30"/>
                    <a:gd name="T12" fmla="*/ 30 w 30"/>
                    <a:gd name="T13" fmla="*/ 12 h 30"/>
                    <a:gd name="T14" fmla="*/ 30 w 30"/>
                    <a:gd name="T15" fmla="*/ 12 h 30"/>
                    <a:gd name="T16" fmla="*/ 6 w 30"/>
                    <a:gd name="T17" fmla="*/ 0 h 30"/>
                    <a:gd name="T18" fmla="*/ 30 w 30"/>
                    <a:gd name="T19" fmla="*/ 12 h 30"/>
                    <a:gd name="T20" fmla="*/ 30 w 30"/>
                    <a:gd name="T21" fmla="*/ 12 h 30"/>
                    <a:gd name="T22" fmla="*/ 30 w 30"/>
                    <a:gd name="T23" fmla="*/ 12 h 30"/>
                    <a:gd name="T24" fmla="*/ 18 w 30"/>
                    <a:gd name="T25" fmla="*/ 6 h 30"/>
                    <a:gd name="T26" fmla="*/ 30 w 30"/>
                    <a:gd name="T27"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0">
                      <a:moveTo>
                        <a:pt x="6" y="0"/>
                      </a:moveTo>
                      <a:lnTo>
                        <a:pt x="6" y="12"/>
                      </a:lnTo>
                      <a:lnTo>
                        <a:pt x="0" y="30"/>
                      </a:lnTo>
                      <a:lnTo>
                        <a:pt x="24" y="24"/>
                      </a:lnTo>
                      <a:lnTo>
                        <a:pt x="24" y="24"/>
                      </a:lnTo>
                      <a:lnTo>
                        <a:pt x="30" y="18"/>
                      </a:lnTo>
                      <a:lnTo>
                        <a:pt x="30" y="12"/>
                      </a:lnTo>
                      <a:lnTo>
                        <a:pt x="30" y="12"/>
                      </a:lnTo>
                      <a:lnTo>
                        <a:pt x="6" y="0"/>
                      </a:lnTo>
                      <a:close/>
                      <a:moveTo>
                        <a:pt x="30" y="12"/>
                      </a:moveTo>
                      <a:lnTo>
                        <a:pt x="30" y="12"/>
                      </a:lnTo>
                      <a:lnTo>
                        <a:pt x="30" y="12"/>
                      </a:lnTo>
                      <a:lnTo>
                        <a:pt x="18" y="6"/>
                      </a:lnTo>
                      <a:lnTo>
                        <a:pt x="30" y="12"/>
                      </a:lnTo>
                      <a:close/>
                    </a:path>
                  </a:pathLst>
                </a:custGeom>
                <a:solidFill>
                  <a:srgbClr val="00FF00"/>
                </a:solidFill>
                <a:ln w="9525">
                  <a:solidFill>
                    <a:srgbClr val="00FF00"/>
                  </a:solidFill>
                  <a:round/>
                  <a:headEnd/>
                  <a:tailEnd/>
                </a:ln>
              </p:spPr>
              <p:txBody>
                <a:bodyPr/>
                <a:lstStyle/>
                <a:p>
                  <a:endParaRPr lang="zh-CN" altLang="en-US"/>
                </a:p>
              </p:txBody>
            </p:sp>
            <p:sp>
              <p:nvSpPr>
                <p:cNvPr id="300" name="Freeform 227"/>
                <p:cNvSpPr>
                  <a:spLocks noEditPoints="1"/>
                </p:cNvSpPr>
                <p:nvPr/>
              </p:nvSpPr>
              <p:spPr bwMode="auto">
                <a:xfrm>
                  <a:off x="4543" y="2364"/>
                  <a:ext cx="24" cy="24"/>
                </a:xfrm>
                <a:custGeom>
                  <a:avLst/>
                  <a:gdLst>
                    <a:gd name="T0" fmla="*/ 0 w 24"/>
                    <a:gd name="T1" fmla="*/ 6 h 24"/>
                    <a:gd name="T2" fmla="*/ 0 w 24"/>
                    <a:gd name="T3" fmla="*/ 6 h 24"/>
                    <a:gd name="T4" fmla="*/ 0 w 24"/>
                    <a:gd name="T5" fmla="*/ 6 h 24"/>
                    <a:gd name="T6" fmla="*/ 12 w 24"/>
                    <a:gd name="T7" fmla="*/ 0 h 24"/>
                    <a:gd name="T8" fmla="*/ 6 w 24"/>
                    <a:gd name="T9" fmla="*/ 24 h 24"/>
                    <a:gd name="T10" fmla="*/ 18 w 24"/>
                    <a:gd name="T11" fmla="*/ 18 h 24"/>
                    <a:gd name="T12" fmla="*/ 24 w 24"/>
                    <a:gd name="T13" fmla="*/ 12 h 24"/>
                    <a:gd name="T14" fmla="*/ 24 w 24"/>
                    <a:gd name="T15" fmla="*/ 12 h 24"/>
                    <a:gd name="T16" fmla="*/ 24 w 24"/>
                    <a:gd name="T17" fmla="*/ 12 h 24"/>
                    <a:gd name="T18" fmla="*/ 0 w 24"/>
                    <a:gd name="T19" fmla="*/ 6 h 24"/>
                    <a:gd name="T20" fmla="*/ 24 w 24"/>
                    <a:gd name="T21" fmla="*/ 12 h 24"/>
                    <a:gd name="T22" fmla="*/ 24 w 24"/>
                    <a:gd name="T23" fmla="*/ 6 h 24"/>
                    <a:gd name="T24" fmla="*/ 24 w 24"/>
                    <a:gd name="T25" fmla="*/ 6 h 24"/>
                    <a:gd name="T26" fmla="*/ 12 w 24"/>
                    <a:gd name="T27" fmla="*/ 6 h 24"/>
                    <a:gd name="T28" fmla="*/ 24 w 24"/>
                    <a:gd name="T2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4">
                      <a:moveTo>
                        <a:pt x="0" y="6"/>
                      </a:moveTo>
                      <a:lnTo>
                        <a:pt x="0" y="6"/>
                      </a:lnTo>
                      <a:lnTo>
                        <a:pt x="0" y="6"/>
                      </a:lnTo>
                      <a:lnTo>
                        <a:pt x="12" y="0"/>
                      </a:lnTo>
                      <a:lnTo>
                        <a:pt x="6" y="24"/>
                      </a:lnTo>
                      <a:lnTo>
                        <a:pt x="18" y="18"/>
                      </a:lnTo>
                      <a:lnTo>
                        <a:pt x="24" y="12"/>
                      </a:lnTo>
                      <a:lnTo>
                        <a:pt x="24" y="12"/>
                      </a:lnTo>
                      <a:lnTo>
                        <a:pt x="24" y="12"/>
                      </a:lnTo>
                      <a:lnTo>
                        <a:pt x="0" y="6"/>
                      </a:lnTo>
                      <a:close/>
                      <a:moveTo>
                        <a:pt x="24" y="12"/>
                      </a:moveTo>
                      <a:lnTo>
                        <a:pt x="24" y="6"/>
                      </a:lnTo>
                      <a:lnTo>
                        <a:pt x="24" y="6"/>
                      </a:lnTo>
                      <a:lnTo>
                        <a:pt x="12" y="6"/>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301" name="Freeform 228"/>
                <p:cNvSpPr>
                  <a:spLocks noEditPoints="1"/>
                </p:cNvSpPr>
                <p:nvPr/>
              </p:nvSpPr>
              <p:spPr bwMode="auto">
                <a:xfrm>
                  <a:off x="4549" y="2364"/>
                  <a:ext cx="12" cy="24"/>
                </a:xfrm>
                <a:custGeom>
                  <a:avLst/>
                  <a:gdLst>
                    <a:gd name="T0" fmla="*/ 0 w 12"/>
                    <a:gd name="T1" fmla="*/ 24 h 24"/>
                    <a:gd name="T2" fmla="*/ 0 w 12"/>
                    <a:gd name="T3" fmla="*/ 24 h 24"/>
                    <a:gd name="T4" fmla="*/ 12 w 12"/>
                    <a:gd name="T5" fmla="*/ 0 h 24"/>
                    <a:gd name="T6" fmla="*/ 6 w 12"/>
                    <a:gd name="T7" fmla="*/ 0 h 24"/>
                    <a:gd name="T8" fmla="*/ 0 w 12"/>
                    <a:gd name="T9" fmla="*/ 24 h 24"/>
                    <a:gd name="T10" fmla="*/ 6 w 12"/>
                    <a:gd name="T11" fmla="*/ 0 h 24"/>
                    <a:gd name="T12" fmla="*/ 0 w 12"/>
                    <a:gd name="T13" fmla="*/ 24 h 24"/>
                    <a:gd name="T14" fmla="*/ 6 w 12"/>
                    <a:gd name="T15" fmla="*/ 0 h 24"/>
                    <a:gd name="T16" fmla="*/ 0 w 12"/>
                    <a:gd name="T17" fmla="*/ 24 h 24"/>
                    <a:gd name="T18" fmla="*/ 6 w 12"/>
                    <a:gd name="T19"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4">
                      <a:moveTo>
                        <a:pt x="0" y="24"/>
                      </a:moveTo>
                      <a:lnTo>
                        <a:pt x="0" y="24"/>
                      </a:lnTo>
                      <a:lnTo>
                        <a:pt x="12" y="0"/>
                      </a:lnTo>
                      <a:lnTo>
                        <a:pt x="6" y="0"/>
                      </a:lnTo>
                      <a:lnTo>
                        <a:pt x="0" y="24"/>
                      </a:lnTo>
                      <a:close/>
                      <a:moveTo>
                        <a:pt x="6" y="0"/>
                      </a:moveTo>
                      <a:lnTo>
                        <a:pt x="0" y="24"/>
                      </a:lnTo>
                      <a:lnTo>
                        <a:pt x="6" y="0"/>
                      </a:lnTo>
                      <a:lnTo>
                        <a:pt x="0" y="24"/>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302" name="Freeform 229"/>
                <p:cNvSpPr>
                  <a:spLocks/>
                </p:cNvSpPr>
                <p:nvPr/>
              </p:nvSpPr>
              <p:spPr bwMode="auto">
                <a:xfrm>
                  <a:off x="4549" y="2376"/>
                  <a:ext cx="18" cy="18"/>
                </a:xfrm>
                <a:custGeom>
                  <a:avLst/>
                  <a:gdLst>
                    <a:gd name="T0" fmla="*/ 0 w 18"/>
                    <a:gd name="T1" fmla="*/ 12 h 18"/>
                    <a:gd name="T2" fmla="*/ 18 w 18"/>
                    <a:gd name="T3" fmla="*/ 18 h 18"/>
                    <a:gd name="T4" fmla="*/ 18 w 18"/>
                    <a:gd name="T5" fmla="*/ 6 h 18"/>
                    <a:gd name="T6" fmla="*/ 6 w 18"/>
                    <a:gd name="T7" fmla="*/ 0 h 18"/>
                    <a:gd name="T8" fmla="*/ 0 w 18"/>
                    <a:gd name="T9" fmla="*/ 12 h 18"/>
                  </a:gdLst>
                  <a:ahLst/>
                  <a:cxnLst>
                    <a:cxn ang="0">
                      <a:pos x="T0" y="T1"/>
                    </a:cxn>
                    <a:cxn ang="0">
                      <a:pos x="T2" y="T3"/>
                    </a:cxn>
                    <a:cxn ang="0">
                      <a:pos x="T4" y="T5"/>
                    </a:cxn>
                    <a:cxn ang="0">
                      <a:pos x="T6" y="T7"/>
                    </a:cxn>
                    <a:cxn ang="0">
                      <a:pos x="T8" y="T9"/>
                    </a:cxn>
                  </a:cxnLst>
                  <a:rect l="0" t="0" r="r" b="b"/>
                  <a:pathLst>
                    <a:path w="18" h="18">
                      <a:moveTo>
                        <a:pt x="0" y="12"/>
                      </a:moveTo>
                      <a:lnTo>
                        <a:pt x="18" y="18"/>
                      </a:lnTo>
                      <a:lnTo>
                        <a:pt x="18" y="6"/>
                      </a:lnTo>
                      <a:lnTo>
                        <a:pt x="6" y="0"/>
                      </a:lnTo>
                      <a:lnTo>
                        <a:pt x="0" y="12"/>
                      </a:lnTo>
                      <a:close/>
                    </a:path>
                  </a:pathLst>
                </a:custGeom>
                <a:solidFill>
                  <a:srgbClr val="00FF00"/>
                </a:solidFill>
                <a:ln w="9525">
                  <a:solidFill>
                    <a:srgbClr val="00FF00"/>
                  </a:solidFill>
                  <a:round/>
                  <a:headEnd/>
                  <a:tailEnd/>
                </a:ln>
              </p:spPr>
              <p:txBody>
                <a:bodyPr/>
                <a:lstStyle/>
                <a:p>
                  <a:endParaRPr lang="zh-CN" altLang="en-US"/>
                </a:p>
              </p:txBody>
            </p:sp>
            <p:sp>
              <p:nvSpPr>
                <p:cNvPr id="303" name="Freeform 230"/>
                <p:cNvSpPr>
                  <a:spLocks/>
                </p:cNvSpPr>
                <p:nvPr/>
              </p:nvSpPr>
              <p:spPr bwMode="auto">
                <a:xfrm>
                  <a:off x="4531" y="2346"/>
                  <a:ext cx="18" cy="30"/>
                </a:xfrm>
                <a:custGeom>
                  <a:avLst/>
                  <a:gdLst>
                    <a:gd name="T0" fmla="*/ 12 w 18"/>
                    <a:gd name="T1" fmla="*/ 30 h 30"/>
                    <a:gd name="T2" fmla="*/ 6 w 18"/>
                    <a:gd name="T3" fmla="*/ 6 h 30"/>
                    <a:gd name="T4" fmla="*/ 6 w 18"/>
                    <a:gd name="T5" fmla="*/ 6 h 30"/>
                    <a:gd name="T6" fmla="*/ 0 w 18"/>
                    <a:gd name="T7" fmla="*/ 0 h 30"/>
                    <a:gd name="T8" fmla="*/ 6 w 18"/>
                    <a:gd name="T9" fmla="*/ 0 h 30"/>
                    <a:gd name="T10" fmla="*/ 6 w 18"/>
                    <a:gd name="T11" fmla="*/ 6 h 30"/>
                    <a:gd name="T12" fmla="*/ 6 w 18"/>
                    <a:gd name="T13" fmla="*/ 12 h 30"/>
                    <a:gd name="T14" fmla="*/ 12 w 18"/>
                    <a:gd name="T15" fmla="*/ 18 h 30"/>
                    <a:gd name="T16" fmla="*/ 12 w 18"/>
                    <a:gd name="T17" fmla="*/ 24 h 30"/>
                    <a:gd name="T18" fmla="*/ 12 w 18"/>
                    <a:gd name="T19" fmla="*/ 24 h 30"/>
                    <a:gd name="T20" fmla="*/ 12 w 18"/>
                    <a:gd name="T21" fmla="*/ 30 h 30"/>
                    <a:gd name="T22" fmla="*/ 18 w 18"/>
                    <a:gd name="T23" fmla="*/ 30 h 30"/>
                    <a:gd name="T24" fmla="*/ 12 w 18"/>
                    <a:gd name="T25" fmla="*/ 30 h 30"/>
                    <a:gd name="T26" fmla="*/ 12 w 18"/>
                    <a:gd name="T2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30">
                      <a:moveTo>
                        <a:pt x="12" y="30"/>
                      </a:moveTo>
                      <a:lnTo>
                        <a:pt x="6" y="6"/>
                      </a:lnTo>
                      <a:lnTo>
                        <a:pt x="6" y="6"/>
                      </a:lnTo>
                      <a:lnTo>
                        <a:pt x="0" y="0"/>
                      </a:lnTo>
                      <a:lnTo>
                        <a:pt x="6" y="0"/>
                      </a:lnTo>
                      <a:lnTo>
                        <a:pt x="6" y="6"/>
                      </a:lnTo>
                      <a:lnTo>
                        <a:pt x="6" y="12"/>
                      </a:lnTo>
                      <a:lnTo>
                        <a:pt x="12" y="18"/>
                      </a:lnTo>
                      <a:lnTo>
                        <a:pt x="12" y="24"/>
                      </a:lnTo>
                      <a:lnTo>
                        <a:pt x="12" y="24"/>
                      </a:lnTo>
                      <a:lnTo>
                        <a:pt x="12" y="30"/>
                      </a:lnTo>
                      <a:lnTo>
                        <a:pt x="18" y="30"/>
                      </a:lnTo>
                      <a:lnTo>
                        <a:pt x="12" y="30"/>
                      </a:lnTo>
                      <a:lnTo>
                        <a:pt x="12" y="30"/>
                      </a:lnTo>
                      <a:close/>
                    </a:path>
                  </a:pathLst>
                </a:custGeom>
                <a:solidFill>
                  <a:srgbClr val="00FF00"/>
                </a:solidFill>
                <a:ln w="9525">
                  <a:solidFill>
                    <a:srgbClr val="00FF00"/>
                  </a:solidFill>
                  <a:round/>
                  <a:headEnd/>
                  <a:tailEnd/>
                </a:ln>
              </p:spPr>
              <p:txBody>
                <a:bodyPr/>
                <a:lstStyle/>
                <a:p>
                  <a:endParaRPr lang="zh-CN" altLang="en-US"/>
                </a:p>
              </p:txBody>
            </p:sp>
            <p:sp>
              <p:nvSpPr>
                <p:cNvPr id="304" name="Freeform 231"/>
                <p:cNvSpPr>
                  <a:spLocks/>
                </p:cNvSpPr>
                <p:nvPr/>
              </p:nvSpPr>
              <p:spPr bwMode="auto">
                <a:xfrm>
                  <a:off x="4525" y="2352"/>
                  <a:ext cx="30" cy="30"/>
                </a:xfrm>
                <a:custGeom>
                  <a:avLst/>
                  <a:gdLst>
                    <a:gd name="T0" fmla="*/ 30 w 30"/>
                    <a:gd name="T1" fmla="*/ 24 h 30"/>
                    <a:gd name="T2" fmla="*/ 24 w 30"/>
                    <a:gd name="T3" fmla="*/ 0 h 30"/>
                    <a:gd name="T4" fmla="*/ 0 w 30"/>
                    <a:gd name="T5" fmla="*/ 6 h 30"/>
                    <a:gd name="T6" fmla="*/ 6 w 30"/>
                    <a:gd name="T7" fmla="*/ 30 h 30"/>
                    <a:gd name="T8" fmla="*/ 30 w 30"/>
                    <a:gd name="T9" fmla="*/ 24 h 30"/>
                  </a:gdLst>
                  <a:ahLst/>
                  <a:cxnLst>
                    <a:cxn ang="0">
                      <a:pos x="T0" y="T1"/>
                    </a:cxn>
                    <a:cxn ang="0">
                      <a:pos x="T2" y="T3"/>
                    </a:cxn>
                    <a:cxn ang="0">
                      <a:pos x="T4" y="T5"/>
                    </a:cxn>
                    <a:cxn ang="0">
                      <a:pos x="T6" y="T7"/>
                    </a:cxn>
                    <a:cxn ang="0">
                      <a:pos x="T8" y="T9"/>
                    </a:cxn>
                  </a:cxnLst>
                  <a:rect l="0" t="0" r="r" b="b"/>
                  <a:pathLst>
                    <a:path w="30" h="30">
                      <a:moveTo>
                        <a:pt x="30" y="24"/>
                      </a:moveTo>
                      <a:lnTo>
                        <a:pt x="24" y="0"/>
                      </a:lnTo>
                      <a:lnTo>
                        <a:pt x="0" y="6"/>
                      </a:lnTo>
                      <a:lnTo>
                        <a:pt x="6" y="30"/>
                      </a:lnTo>
                      <a:lnTo>
                        <a:pt x="30" y="24"/>
                      </a:lnTo>
                      <a:close/>
                    </a:path>
                  </a:pathLst>
                </a:custGeom>
                <a:solidFill>
                  <a:srgbClr val="00FF00"/>
                </a:solidFill>
                <a:ln w="9525">
                  <a:solidFill>
                    <a:srgbClr val="00FF00"/>
                  </a:solidFill>
                  <a:round/>
                  <a:headEnd/>
                  <a:tailEnd/>
                </a:ln>
              </p:spPr>
              <p:txBody>
                <a:bodyPr/>
                <a:lstStyle/>
                <a:p>
                  <a:endParaRPr lang="zh-CN" altLang="en-US"/>
                </a:p>
              </p:txBody>
            </p:sp>
            <p:sp>
              <p:nvSpPr>
                <p:cNvPr id="305" name="Freeform 232"/>
                <p:cNvSpPr>
                  <a:spLocks noEditPoints="1"/>
                </p:cNvSpPr>
                <p:nvPr/>
              </p:nvSpPr>
              <p:spPr bwMode="auto">
                <a:xfrm>
                  <a:off x="4525" y="2334"/>
                  <a:ext cx="24" cy="24"/>
                </a:xfrm>
                <a:custGeom>
                  <a:avLst/>
                  <a:gdLst>
                    <a:gd name="T0" fmla="*/ 24 w 24"/>
                    <a:gd name="T1" fmla="*/ 18 h 24"/>
                    <a:gd name="T2" fmla="*/ 24 w 24"/>
                    <a:gd name="T3" fmla="*/ 12 h 24"/>
                    <a:gd name="T4" fmla="*/ 24 w 24"/>
                    <a:gd name="T5" fmla="*/ 6 h 24"/>
                    <a:gd name="T6" fmla="*/ 12 w 24"/>
                    <a:gd name="T7" fmla="*/ 0 h 24"/>
                    <a:gd name="T8" fmla="*/ 6 w 24"/>
                    <a:gd name="T9" fmla="*/ 24 h 24"/>
                    <a:gd name="T10" fmla="*/ 0 w 24"/>
                    <a:gd name="T11" fmla="*/ 18 h 24"/>
                    <a:gd name="T12" fmla="*/ 0 w 24"/>
                    <a:gd name="T13" fmla="*/ 18 h 24"/>
                    <a:gd name="T14" fmla="*/ 0 w 24"/>
                    <a:gd name="T15" fmla="*/ 24 h 24"/>
                    <a:gd name="T16" fmla="*/ 24 w 24"/>
                    <a:gd name="T17" fmla="*/ 18 h 24"/>
                    <a:gd name="T18" fmla="*/ 0 w 24"/>
                    <a:gd name="T19" fmla="*/ 24 h 24"/>
                    <a:gd name="T20" fmla="*/ 0 w 24"/>
                    <a:gd name="T21" fmla="*/ 24 h 24"/>
                    <a:gd name="T22" fmla="*/ 0 w 24"/>
                    <a:gd name="T23" fmla="*/ 24 h 24"/>
                    <a:gd name="T24" fmla="*/ 12 w 24"/>
                    <a:gd name="T25" fmla="*/ 18 h 24"/>
                    <a:gd name="T26" fmla="*/ 0 w 24"/>
                    <a:gd name="T2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4">
                      <a:moveTo>
                        <a:pt x="24" y="18"/>
                      </a:moveTo>
                      <a:lnTo>
                        <a:pt x="24" y="12"/>
                      </a:lnTo>
                      <a:lnTo>
                        <a:pt x="24" y="6"/>
                      </a:lnTo>
                      <a:lnTo>
                        <a:pt x="12" y="0"/>
                      </a:lnTo>
                      <a:lnTo>
                        <a:pt x="6" y="24"/>
                      </a:lnTo>
                      <a:lnTo>
                        <a:pt x="0" y="18"/>
                      </a:lnTo>
                      <a:lnTo>
                        <a:pt x="0" y="18"/>
                      </a:lnTo>
                      <a:lnTo>
                        <a:pt x="0" y="24"/>
                      </a:lnTo>
                      <a:lnTo>
                        <a:pt x="24" y="18"/>
                      </a:lnTo>
                      <a:close/>
                      <a:moveTo>
                        <a:pt x="0" y="24"/>
                      </a:moveTo>
                      <a:lnTo>
                        <a:pt x="0" y="24"/>
                      </a:lnTo>
                      <a:lnTo>
                        <a:pt x="0" y="24"/>
                      </a:lnTo>
                      <a:lnTo>
                        <a:pt x="12" y="18"/>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306" name="Freeform 233"/>
                <p:cNvSpPr>
                  <a:spLocks noEditPoints="1"/>
                </p:cNvSpPr>
                <p:nvPr/>
              </p:nvSpPr>
              <p:spPr bwMode="auto">
                <a:xfrm>
                  <a:off x="4525" y="2334"/>
                  <a:ext cx="24" cy="24"/>
                </a:xfrm>
                <a:custGeom>
                  <a:avLst/>
                  <a:gdLst>
                    <a:gd name="T0" fmla="*/ 0 w 24"/>
                    <a:gd name="T1" fmla="*/ 18 h 24"/>
                    <a:gd name="T2" fmla="*/ 0 w 24"/>
                    <a:gd name="T3" fmla="*/ 24 h 24"/>
                    <a:gd name="T4" fmla="*/ 0 w 24"/>
                    <a:gd name="T5" fmla="*/ 24 h 24"/>
                    <a:gd name="T6" fmla="*/ 24 w 24"/>
                    <a:gd name="T7" fmla="*/ 18 h 24"/>
                    <a:gd name="T8" fmla="*/ 24 w 24"/>
                    <a:gd name="T9" fmla="*/ 6 h 24"/>
                    <a:gd name="T10" fmla="*/ 18 w 24"/>
                    <a:gd name="T11" fmla="*/ 0 h 24"/>
                    <a:gd name="T12" fmla="*/ 0 w 24"/>
                    <a:gd name="T13" fmla="*/ 18 h 24"/>
                    <a:gd name="T14" fmla="*/ 12 w 24"/>
                    <a:gd name="T15" fmla="*/ 0 h 24"/>
                    <a:gd name="T16" fmla="*/ 0 w 24"/>
                    <a:gd name="T17" fmla="*/ 18 h 24"/>
                    <a:gd name="T18" fmla="*/ 18 w 24"/>
                    <a:gd name="T19" fmla="*/ 0 h 24"/>
                    <a:gd name="T20" fmla="*/ 6 w 24"/>
                    <a:gd name="T21" fmla="*/ 24 h 24"/>
                    <a:gd name="T22" fmla="*/ 12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0" y="18"/>
                      </a:moveTo>
                      <a:lnTo>
                        <a:pt x="0" y="24"/>
                      </a:lnTo>
                      <a:lnTo>
                        <a:pt x="0" y="24"/>
                      </a:lnTo>
                      <a:lnTo>
                        <a:pt x="24" y="18"/>
                      </a:lnTo>
                      <a:lnTo>
                        <a:pt x="24" y="6"/>
                      </a:lnTo>
                      <a:lnTo>
                        <a:pt x="18" y="0"/>
                      </a:lnTo>
                      <a:lnTo>
                        <a:pt x="0" y="18"/>
                      </a:lnTo>
                      <a:close/>
                      <a:moveTo>
                        <a:pt x="12" y="0"/>
                      </a:moveTo>
                      <a:lnTo>
                        <a:pt x="0" y="18"/>
                      </a:lnTo>
                      <a:lnTo>
                        <a:pt x="18" y="0"/>
                      </a:lnTo>
                      <a:lnTo>
                        <a:pt x="6" y="24"/>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307" name="Freeform 234"/>
                <p:cNvSpPr>
                  <a:spLocks noEditPoints="1"/>
                </p:cNvSpPr>
                <p:nvPr/>
              </p:nvSpPr>
              <p:spPr bwMode="auto">
                <a:xfrm>
                  <a:off x="4525" y="2352"/>
                  <a:ext cx="30" cy="24"/>
                </a:xfrm>
                <a:custGeom>
                  <a:avLst/>
                  <a:gdLst>
                    <a:gd name="T0" fmla="*/ 6 w 30"/>
                    <a:gd name="T1" fmla="*/ 6 h 24"/>
                    <a:gd name="T2" fmla="*/ 6 w 30"/>
                    <a:gd name="T3" fmla="*/ 6 h 24"/>
                    <a:gd name="T4" fmla="*/ 6 w 30"/>
                    <a:gd name="T5" fmla="*/ 12 h 24"/>
                    <a:gd name="T6" fmla="*/ 6 w 30"/>
                    <a:gd name="T7" fmla="*/ 18 h 24"/>
                    <a:gd name="T8" fmla="*/ 6 w 30"/>
                    <a:gd name="T9" fmla="*/ 18 h 24"/>
                    <a:gd name="T10" fmla="*/ 30 w 30"/>
                    <a:gd name="T11" fmla="*/ 24 h 24"/>
                    <a:gd name="T12" fmla="*/ 30 w 30"/>
                    <a:gd name="T13" fmla="*/ 6 h 24"/>
                    <a:gd name="T14" fmla="*/ 24 w 30"/>
                    <a:gd name="T15" fmla="*/ 0 h 24"/>
                    <a:gd name="T16" fmla="*/ 6 w 30"/>
                    <a:gd name="T17" fmla="*/ 6 h 24"/>
                    <a:gd name="T18" fmla="*/ 0 w 30"/>
                    <a:gd name="T19" fmla="*/ 6 h 24"/>
                    <a:gd name="T20" fmla="*/ 0 w 30"/>
                    <a:gd name="T21" fmla="*/ 6 h 24"/>
                    <a:gd name="T22" fmla="*/ 6 w 30"/>
                    <a:gd name="T23" fmla="*/ 6 h 24"/>
                    <a:gd name="T24" fmla="*/ 12 w 30"/>
                    <a:gd name="T25" fmla="*/ 0 h 24"/>
                    <a:gd name="T26" fmla="*/ 0 w 30"/>
                    <a:gd name="T27"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24">
                      <a:moveTo>
                        <a:pt x="6" y="6"/>
                      </a:moveTo>
                      <a:lnTo>
                        <a:pt x="6" y="6"/>
                      </a:lnTo>
                      <a:lnTo>
                        <a:pt x="6" y="12"/>
                      </a:lnTo>
                      <a:lnTo>
                        <a:pt x="6" y="18"/>
                      </a:lnTo>
                      <a:lnTo>
                        <a:pt x="6" y="18"/>
                      </a:lnTo>
                      <a:lnTo>
                        <a:pt x="30" y="24"/>
                      </a:lnTo>
                      <a:lnTo>
                        <a:pt x="30" y="6"/>
                      </a:lnTo>
                      <a:lnTo>
                        <a:pt x="24" y="0"/>
                      </a:lnTo>
                      <a:lnTo>
                        <a:pt x="6" y="6"/>
                      </a:lnTo>
                      <a:close/>
                      <a:moveTo>
                        <a:pt x="0" y="6"/>
                      </a:moveTo>
                      <a:lnTo>
                        <a:pt x="0" y="6"/>
                      </a:lnTo>
                      <a:lnTo>
                        <a:pt x="6" y="6"/>
                      </a:lnTo>
                      <a:lnTo>
                        <a:pt x="12" y="0"/>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308" name="Freeform 235"/>
                <p:cNvSpPr>
                  <a:spLocks noEditPoints="1"/>
                </p:cNvSpPr>
                <p:nvPr/>
              </p:nvSpPr>
              <p:spPr bwMode="auto">
                <a:xfrm>
                  <a:off x="4531" y="2364"/>
                  <a:ext cx="30" cy="24"/>
                </a:xfrm>
                <a:custGeom>
                  <a:avLst/>
                  <a:gdLst>
                    <a:gd name="T0" fmla="*/ 0 w 30"/>
                    <a:gd name="T1" fmla="*/ 12 h 24"/>
                    <a:gd name="T2" fmla="*/ 0 w 30"/>
                    <a:gd name="T3" fmla="*/ 12 h 24"/>
                    <a:gd name="T4" fmla="*/ 0 w 30"/>
                    <a:gd name="T5" fmla="*/ 12 h 24"/>
                    <a:gd name="T6" fmla="*/ 6 w 30"/>
                    <a:gd name="T7" fmla="*/ 18 h 24"/>
                    <a:gd name="T8" fmla="*/ 18 w 30"/>
                    <a:gd name="T9" fmla="*/ 24 h 24"/>
                    <a:gd name="T10" fmla="*/ 12 w 30"/>
                    <a:gd name="T11" fmla="*/ 0 h 24"/>
                    <a:gd name="T12" fmla="*/ 24 w 30"/>
                    <a:gd name="T13" fmla="*/ 6 h 24"/>
                    <a:gd name="T14" fmla="*/ 30 w 30"/>
                    <a:gd name="T15" fmla="*/ 6 h 24"/>
                    <a:gd name="T16" fmla="*/ 24 w 30"/>
                    <a:gd name="T17" fmla="*/ 6 h 24"/>
                    <a:gd name="T18" fmla="*/ 0 w 30"/>
                    <a:gd name="T19" fmla="*/ 12 h 24"/>
                    <a:gd name="T20" fmla="*/ 0 w 30"/>
                    <a:gd name="T21" fmla="*/ 6 h 24"/>
                    <a:gd name="T22" fmla="*/ 0 w 30"/>
                    <a:gd name="T23" fmla="*/ 6 h 24"/>
                    <a:gd name="T24" fmla="*/ 0 w 30"/>
                    <a:gd name="T25" fmla="*/ 12 h 24"/>
                    <a:gd name="T26" fmla="*/ 12 w 30"/>
                    <a:gd name="T27" fmla="*/ 6 h 24"/>
                    <a:gd name="T28" fmla="*/ 0 w 30"/>
                    <a:gd name="T29"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24">
                      <a:moveTo>
                        <a:pt x="0" y="12"/>
                      </a:moveTo>
                      <a:lnTo>
                        <a:pt x="0" y="12"/>
                      </a:lnTo>
                      <a:lnTo>
                        <a:pt x="0" y="12"/>
                      </a:lnTo>
                      <a:lnTo>
                        <a:pt x="6" y="18"/>
                      </a:lnTo>
                      <a:lnTo>
                        <a:pt x="18" y="24"/>
                      </a:lnTo>
                      <a:lnTo>
                        <a:pt x="12" y="0"/>
                      </a:lnTo>
                      <a:lnTo>
                        <a:pt x="24" y="6"/>
                      </a:lnTo>
                      <a:lnTo>
                        <a:pt x="30" y="6"/>
                      </a:lnTo>
                      <a:lnTo>
                        <a:pt x="24" y="6"/>
                      </a:lnTo>
                      <a:lnTo>
                        <a:pt x="0" y="12"/>
                      </a:lnTo>
                      <a:close/>
                      <a:moveTo>
                        <a:pt x="0" y="6"/>
                      </a:moveTo>
                      <a:lnTo>
                        <a:pt x="0" y="6"/>
                      </a:lnTo>
                      <a:lnTo>
                        <a:pt x="0" y="12"/>
                      </a:lnTo>
                      <a:lnTo>
                        <a:pt x="12" y="6"/>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309" name="Freeform 236"/>
                <p:cNvSpPr>
                  <a:spLocks noEditPoints="1"/>
                </p:cNvSpPr>
                <p:nvPr/>
              </p:nvSpPr>
              <p:spPr bwMode="auto">
                <a:xfrm>
                  <a:off x="4537" y="2364"/>
                  <a:ext cx="18" cy="24"/>
                </a:xfrm>
                <a:custGeom>
                  <a:avLst/>
                  <a:gdLst>
                    <a:gd name="T0" fmla="*/ 6 w 18"/>
                    <a:gd name="T1" fmla="*/ 0 h 24"/>
                    <a:gd name="T2" fmla="*/ 0 w 18"/>
                    <a:gd name="T3" fmla="*/ 0 h 24"/>
                    <a:gd name="T4" fmla="*/ 12 w 18"/>
                    <a:gd name="T5" fmla="*/ 24 h 24"/>
                    <a:gd name="T6" fmla="*/ 18 w 18"/>
                    <a:gd name="T7" fmla="*/ 24 h 24"/>
                    <a:gd name="T8" fmla="*/ 6 w 18"/>
                    <a:gd name="T9" fmla="*/ 0 h 24"/>
                    <a:gd name="T10" fmla="*/ 12 w 18"/>
                    <a:gd name="T11" fmla="*/ 24 h 24"/>
                    <a:gd name="T12" fmla="*/ 6 w 18"/>
                    <a:gd name="T13" fmla="*/ 0 h 24"/>
                    <a:gd name="T14" fmla="*/ 18 w 18"/>
                    <a:gd name="T15" fmla="*/ 24 h 24"/>
                    <a:gd name="T16" fmla="*/ 6 w 18"/>
                    <a:gd name="T17" fmla="*/ 0 h 24"/>
                    <a:gd name="T18" fmla="*/ 12 w 18"/>
                    <a:gd name="T1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24">
                      <a:moveTo>
                        <a:pt x="6" y="0"/>
                      </a:moveTo>
                      <a:lnTo>
                        <a:pt x="0" y="0"/>
                      </a:lnTo>
                      <a:lnTo>
                        <a:pt x="12" y="24"/>
                      </a:lnTo>
                      <a:lnTo>
                        <a:pt x="18" y="24"/>
                      </a:lnTo>
                      <a:lnTo>
                        <a:pt x="6" y="0"/>
                      </a:lnTo>
                      <a:close/>
                      <a:moveTo>
                        <a:pt x="12" y="24"/>
                      </a:moveTo>
                      <a:lnTo>
                        <a:pt x="6" y="0"/>
                      </a:lnTo>
                      <a:lnTo>
                        <a:pt x="18" y="24"/>
                      </a:lnTo>
                      <a:lnTo>
                        <a:pt x="6" y="0"/>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310" name="Freeform 237"/>
                <p:cNvSpPr>
                  <a:spLocks/>
                </p:cNvSpPr>
                <p:nvPr/>
              </p:nvSpPr>
              <p:spPr bwMode="auto">
                <a:xfrm>
                  <a:off x="4531" y="2376"/>
                  <a:ext cx="18" cy="18"/>
                </a:xfrm>
                <a:custGeom>
                  <a:avLst/>
                  <a:gdLst>
                    <a:gd name="T0" fmla="*/ 0 w 18"/>
                    <a:gd name="T1" fmla="*/ 6 h 18"/>
                    <a:gd name="T2" fmla="*/ 6 w 18"/>
                    <a:gd name="T3" fmla="*/ 18 h 18"/>
                    <a:gd name="T4" fmla="*/ 18 w 18"/>
                    <a:gd name="T5" fmla="*/ 12 h 18"/>
                    <a:gd name="T6" fmla="*/ 12 w 18"/>
                    <a:gd name="T7" fmla="*/ 0 h 18"/>
                    <a:gd name="T8" fmla="*/ 0 w 18"/>
                    <a:gd name="T9" fmla="*/ 6 h 18"/>
                  </a:gdLst>
                  <a:ahLst/>
                  <a:cxnLst>
                    <a:cxn ang="0">
                      <a:pos x="T0" y="T1"/>
                    </a:cxn>
                    <a:cxn ang="0">
                      <a:pos x="T2" y="T3"/>
                    </a:cxn>
                    <a:cxn ang="0">
                      <a:pos x="T4" y="T5"/>
                    </a:cxn>
                    <a:cxn ang="0">
                      <a:pos x="T6" y="T7"/>
                    </a:cxn>
                    <a:cxn ang="0">
                      <a:pos x="T8" y="T9"/>
                    </a:cxn>
                  </a:cxnLst>
                  <a:rect l="0" t="0" r="r" b="b"/>
                  <a:pathLst>
                    <a:path w="18" h="18">
                      <a:moveTo>
                        <a:pt x="0" y="6"/>
                      </a:moveTo>
                      <a:lnTo>
                        <a:pt x="6" y="18"/>
                      </a:lnTo>
                      <a:lnTo>
                        <a:pt x="18" y="12"/>
                      </a:lnTo>
                      <a:lnTo>
                        <a:pt x="12" y="0"/>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311" name="Freeform 238"/>
                <p:cNvSpPr>
                  <a:spLocks/>
                </p:cNvSpPr>
                <p:nvPr/>
              </p:nvSpPr>
              <p:spPr bwMode="auto">
                <a:xfrm>
                  <a:off x="4501" y="2459"/>
                  <a:ext cx="48" cy="78"/>
                </a:xfrm>
                <a:custGeom>
                  <a:avLst/>
                  <a:gdLst>
                    <a:gd name="T0" fmla="*/ 48 w 48"/>
                    <a:gd name="T1" fmla="*/ 0 h 78"/>
                    <a:gd name="T2" fmla="*/ 48 w 48"/>
                    <a:gd name="T3" fmla="*/ 0 h 78"/>
                    <a:gd name="T4" fmla="*/ 42 w 48"/>
                    <a:gd name="T5" fmla="*/ 12 h 78"/>
                    <a:gd name="T6" fmla="*/ 36 w 48"/>
                    <a:gd name="T7" fmla="*/ 24 h 78"/>
                    <a:gd name="T8" fmla="*/ 30 w 48"/>
                    <a:gd name="T9" fmla="*/ 36 h 78"/>
                    <a:gd name="T10" fmla="*/ 24 w 48"/>
                    <a:gd name="T11" fmla="*/ 42 h 78"/>
                    <a:gd name="T12" fmla="*/ 18 w 48"/>
                    <a:gd name="T13" fmla="*/ 54 h 78"/>
                    <a:gd name="T14" fmla="*/ 12 w 48"/>
                    <a:gd name="T15" fmla="*/ 60 h 78"/>
                    <a:gd name="T16" fmla="*/ 6 w 48"/>
                    <a:gd name="T17" fmla="*/ 72 h 78"/>
                    <a:gd name="T18" fmla="*/ 0 w 48"/>
                    <a:gd name="T19" fmla="*/ 78 h 78"/>
                    <a:gd name="T20" fmla="*/ 0 w 48"/>
                    <a:gd name="T21" fmla="*/ 78 h 78"/>
                    <a:gd name="T22" fmla="*/ 0 w 48"/>
                    <a:gd name="T23" fmla="*/ 78 h 78"/>
                    <a:gd name="T24" fmla="*/ 6 w 48"/>
                    <a:gd name="T25" fmla="*/ 72 h 78"/>
                    <a:gd name="T26" fmla="*/ 12 w 48"/>
                    <a:gd name="T27" fmla="*/ 60 h 78"/>
                    <a:gd name="T28" fmla="*/ 18 w 48"/>
                    <a:gd name="T29" fmla="*/ 54 h 78"/>
                    <a:gd name="T30" fmla="*/ 24 w 48"/>
                    <a:gd name="T31" fmla="*/ 42 h 78"/>
                    <a:gd name="T32" fmla="*/ 36 w 48"/>
                    <a:gd name="T33" fmla="*/ 30 h 78"/>
                    <a:gd name="T34" fmla="*/ 42 w 48"/>
                    <a:gd name="T35" fmla="*/ 18 h 78"/>
                    <a:gd name="T36" fmla="*/ 48 w 48"/>
                    <a:gd name="T37" fmla="*/ 12 h 78"/>
                    <a:gd name="T38" fmla="*/ 48 w 48"/>
                    <a:gd name="T39" fmla="*/ 0 h 78"/>
                    <a:gd name="T40" fmla="*/ 48 w 48"/>
                    <a:gd name="T41" fmla="*/ 0 h 78"/>
                    <a:gd name="T42" fmla="*/ 48 w 48"/>
                    <a:gd name="T43" fmla="*/ 0 h 78"/>
                    <a:gd name="T44" fmla="*/ 48 w 48"/>
                    <a:gd name="T45" fmla="*/ 0 h 78"/>
                    <a:gd name="T46" fmla="*/ 48 w 48"/>
                    <a:gd name="T4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78">
                      <a:moveTo>
                        <a:pt x="48" y="0"/>
                      </a:moveTo>
                      <a:lnTo>
                        <a:pt x="48" y="0"/>
                      </a:lnTo>
                      <a:lnTo>
                        <a:pt x="42" y="12"/>
                      </a:lnTo>
                      <a:lnTo>
                        <a:pt x="36" y="24"/>
                      </a:lnTo>
                      <a:lnTo>
                        <a:pt x="30" y="36"/>
                      </a:lnTo>
                      <a:lnTo>
                        <a:pt x="24" y="42"/>
                      </a:lnTo>
                      <a:lnTo>
                        <a:pt x="18" y="54"/>
                      </a:lnTo>
                      <a:lnTo>
                        <a:pt x="12" y="60"/>
                      </a:lnTo>
                      <a:lnTo>
                        <a:pt x="6" y="72"/>
                      </a:lnTo>
                      <a:lnTo>
                        <a:pt x="0" y="78"/>
                      </a:lnTo>
                      <a:lnTo>
                        <a:pt x="0" y="78"/>
                      </a:lnTo>
                      <a:lnTo>
                        <a:pt x="0" y="78"/>
                      </a:lnTo>
                      <a:lnTo>
                        <a:pt x="6" y="72"/>
                      </a:lnTo>
                      <a:lnTo>
                        <a:pt x="12" y="60"/>
                      </a:lnTo>
                      <a:lnTo>
                        <a:pt x="18" y="54"/>
                      </a:lnTo>
                      <a:lnTo>
                        <a:pt x="24" y="42"/>
                      </a:lnTo>
                      <a:lnTo>
                        <a:pt x="36" y="30"/>
                      </a:lnTo>
                      <a:lnTo>
                        <a:pt x="42" y="18"/>
                      </a:lnTo>
                      <a:lnTo>
                        <a:pt x="48" y="12"/>
                      </a:lnTo>
                      <a:lnTo>
                        <a:pt x="48" y="0"/>
                      </a:lnTo>
                      <a:lnTo>
                        <a:pt x="48" y="0"/>
                      </a:lnTo>
                      <a:lnTo>
                        <a:pt x="48" y="0"/>
                      </a:lnTo>
                      <a:lnTo>
                        <a:pt x="48" y="0"/>
                      </a:lnTo>
                      <a:lnTo>
                        <a:pt x="48" y="0"/>
                      </a:lnTo>
                      <a:close/>
                    </a:path>
                  </a:pathLst>
                </a:custGeom>
                <a:solidFill>
                  <a:srgbClr val="00FF00"/>
                </a:solidFill>
                <a:ln w="9525">
                  <a:solidFill>
                    <a:srgbClr val="00FF00"/>
                  </a:solidFill>
                  <a:round/>
                  <a:headEnd/>
                  <a:tailEnd/>
                </a:ln>
              </p:spPr>
              <p:txBody>
                <a:bodyPr/>
                <a:lstStyle/>
                <a:p>
                  <a:endParaRPr lang="zh-CN" altLang="en-US"/>
                </a:p>
              </p:txBody>
            </p:sp>
            <p:sp>
              <p:nvSpPr>
                <p:cNvPr id="312" name="Freeform 239"/>
                <p:cNvSpPr>
                  <a:spLocks/>
                </p:cNvSpPr>
                <p:nvPr/>
              </p:nvSpPr>
              <p:spPr bwMode="auto">
                <a:xfrm>
                  <a:off x="4555" y="2459"/>
                  <a:ext cx="48" cy="78"/>
                </a:xfrm>
                <a:custGeom>
                  <a:avLst/>
                  <a:gdLst>
                    <a:gd name="T0" fmla="*/ 0 w 48"/>
                    <a:gd name="T1" fmla="*/ 0 h 78"/>
                    <a:gd name="T2" fmla="*/ 0 w 48"/>
                    <a:gd name="T3" fmla="*/ 0 h 78"/>
                    <a:gd name="T4" fmla="*/ 6 w 48"/>
                    <a:gd name="T5" fmla="*/ 12 h 78"/>
                    <a:gd name="T6" fmla="*/ 12 w 48"/>
                    <a:gd name="T7" fmla="*/ 24 h 78"/>
                    <a:gd name="T8" fmla="*/ 18 w 48"/>
                    <a:gd name="T9" fmla="*/ 36 h 78"/>
                    <a:gd name="T10" fmla="*/ 24 w 48"/>
                    <a:gd name="T11" fmla="*/ 42 h 78"/>
                    <a:gd name="T12" fmla="*/ 30 w 48"/>
                    <a:gd name="T13" fmla="*/ 54 h 78"/>
                    <a:gd name="T14" fmla="*/ 36 w 48"/>
                    <a:gd name="T15" fmla="*/ 60 h 78"/>
                    <a:gd name="T16" fmla="*/ 42 w 48"/>
                    <a:gd name="T17" fmla="*/ 72 h 78"/>
                    <a:gd name="T18" fmla="*/ 48 w 48"/>
                    <a:gd name="T19" fmla="*/ 78 h 78"/>
                    <a:gd name="T20" fmla="*/ 48 w 48"/>
                    <a:gd name="T21" fmla="*/ 78 h 78"/>
                    <a:gd name="T22" fmla="*/ 48 w 48"/>
                    <a:gd name="T23" fmla="*/ 78 h 78"/>
                    <a:gd name="T24" fmla="*/ 42 w 48"/>
                    <a:gd name="T25" fmla="*/ 72 h 78"/>
                    <a:gd name="T26" fmla="*/ 36 w 48"/>
                    <a:gd name="T27" fmla="*/ 60 h 78"/>
                    <a:gd name="T28" fmla="*/ 30 w 48"/>
                    <a:gd name="T29" fmla="*/ 54 h 78"/>
                    <a:gd name="T30" fmla="*/ 24 w 48"/>
                    <a:gd name="T31" fmla="*/ 42 h 78"/>
                    <a:gd name="T32" fmla="*/ 12 w 48"/>
                    <a:gd name="T33" fmla="*/ 30 h 78"/>
                    <a:gd name="T34" fmla="*/ 6 w 48"/>
                    <a:gd name="T35" fmla="*/ 18 h 78"/>
                    <a:gd name="T36" fmla="*/ 0 w 48"/>
                    <a:gd name="T37" fmla="*/ 12 h 78"/>
                    <a:gd name="T38" fmla="*/ 0 w 48"/>
                    <a:gd name="T39" fmla="*/ 0 h 78"/>
                    <a:gd name="T40" fmla="*/ 0 w 48"/>
                    <a:gd name="T41" fmla="*/ 0 h 78"/>
                    <a:gd name="T42" fmla="*/ 0 w 48"/>
                    <a:gd name="T43" fmla="*/ 0 h 78"/>
                    <a:gd name="T44" fmla="*/ 0 w 48"/>
                    <a:gd name="T45" fmla="*/ 0 h 78"/>
                    <a:gd name="T46" fmla="*/ 0 w 48"/>
                    <a:gd name="T4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78">
                      <a:moveTo>
                        <a:pt x="0" y="0"/>
                      </a:moveTo>
                      <a:lnTo>
                        <a:pt x="0" y="0"/>
                      </a:lnTo>
                      <a:lnTo>
                        <a:pt x="6" y="12"/>
                      </a:lnTo>
                      <a:lnTo>
                        <a:pt x="12" y="24"/>
                      </a:lnTo>
                      <a:lnTo>
                        <a:pt x="18" y="36"/>
                      </a:lnTo>
                      <a:lnTo>
                        <a:pt x="24" y="42"/>
                      </a:lnTo>
                      <a:lnTo>
                        <a:pt x="30" y="54"/>
                      </a:lnTo>
                      <a:lnTo>
                        <a:pt x="36" y="60"/>
                      </a:lnTo>
                      <a:lnTo>
                        <a:pt x="42" y="72"/>
                      </a:lnTo>
                      <a:lnTo>
                        <a:pt x="48" y="78"/>
                      </a:lnTo>
                      <a:lnTo>
                        <a:pt x="48" y="78"/>
                      </a:lnTo>
                      <a:lnTo>
                        <a:pt x="48" y="78"/>
                      </a:lnTo>
                      <a:lnTo>
                        <a:pt x="42" y="72"/>
                      </a:lnTo>
                      <a:lnTo>
                        <a:pt x="36" y="60"/>
                      </a:lnTo>
                      <a:lnTo>
                        <a:pt x="30" y="54"/>
                      </a:lnTo>
                      <a:lnTo>
                        <a:pt x="24" y="42"/>
                      </a:lnTo>
                      <a:lnTo>
                        <a:pt x="12" y="30"/>
                      </a:lnTo>
                      <a:lnTo>
                        <a:pt x="6" y="18"/>
                      </a:lnTo>
                      <a:lnTo>
                        <a:pt x="0" y="12"/>
                      </a:lnTo>
                      <a:lnTo>
                        <a:pt x="0" y="0"/>
                      </a:lnTo>
                      <a:lnTo>
                        <a:pt x="0" y="0"/>
                      </a:lnTo>
                      <a:lnTo>
                        <a:pt x="0" y="0"/>
                      </a:lnTo>
                      <a:lnTo>
                        <a:pt x="0" y="0"/>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313" name="Freeform 240"/>
                <p:cNvSpPr>
                  <a:spLocks/>
                </p:cNvSpPr>
                <p:nvPr/>
              </p:nvSpPr>
              <p:spPr bwMode="auto">
                <a:xfrm>
                  <a:off x="4549" y="2346"/>
                  <a:ext cx="42" cy="71"/>
                </a:xfrm>
                <a:custGeom>
                  <a:avLst/>
                  <a:gdLst>
                    <a:gd name="T0" fmla="*/ 0 w 42"/>
                    <a:gd name="T1" fmla="*/ 71 h 71"/>
                    <a:gd name="T2" fmla="*/ 6 w 42"/>
                    <a:gd name="T3" fmla="*/ 71 h 71"/>
                    <a:gd name="T4" fmla="*/ 18 w 42"/>
                    <a:gd name="T5" fmla="*/ 71 h 71"/>
                    <a:gd name="T6" fmla="*/ 30 w 42"/>
                    <a:gd name="T7" fmla="*/ 65 h 71"/>
                    <a:gd name="T8" fmla="*/ 36 w 42"/>
                    <a:gd name="T9" fmla="*/ 59 h 71"/>
                    <a:gd name="T10" fmla="*/ 36 w 42"/>
                    <a:gd name="T11" fmla="*/ 54 h 71"/>
                    <a:gd name="T12" fmla="*/ 42 w 42"/>
                    <a:gd name="T13" fmla="*/ 48 h 71"/>
                    <a:gd name="T14" fmla="*/ 42 w 42"/>
                    <a:gd name="T15" fmla="*/ 42 h 71"/>
                    <a:gd name="T16" fmla="*/ 42 w 42"/>
                    <a:gd name="T17" fmla="*/ 42 h 71"/>
                    <a:gd name="T18" fmla="*/ 36 w 42"/>
                    <a:gd name="T19" fmla="*/ 36 h 71"/>
                    <a:gd name="T20" fmla="*/ 30 w 42"/>
                    <a:gd name="T21" fmla="*/ 30 h 71"/>
                    <a:gd name="T22" fmla="*/ 24 w 42"/>
                    <a:gd name="T23" fmla="*/ 30 h 71"/>
                    <a:gd name="T24" fmla="*/ 30 w 42"/>
                    <a:gd name="T25" fmla="*/ 12 h 71"/>
                    <a:gd name="T26" fmla="*/ 30 w 42"/>
                    <a:gd name="T27" fmla="*/ 0 h 71"/>
                    <a:gd name="T28" fmla="*/ 24 w 42"/>
                    <a:gd name="T29" fmla="*/ 12 h 71"/>
                    <a:gd name="T30" fmla="*/ 24 w 42"/>
                    <a:gd name="T31" fmla="*/ 6 h 71"/>
                    <a:gd name="T32" fmla="*/ 24 w 42"/>
                    <a:gd name="T33" fmla="*/ 12 h 71"/>
                    <a:gd name="T34" fmla="*/ 24 w 42"/>
                    <a:gd name="T35" fmla="*/ 18 h 71"/>
                    <a:gd name="T36" fmla="*/ 24 w 42"/>
                    <a:gd name="T37" fmla="*/ 24 h 71"/>
                    <a:gd name="T38" fmla="*/ 18 w 42"/>
                    <a:gd name="T39" fmla="*/ 24 h 71"/>
                    <a:gd name="T40" fmla="*/ 18 w 42"/>
                    <a:gd name="T41" fmla="*/ 18 h 71"/>
                    <a:gd name="T42" fmla="*/ 18 w 42"/>
                    <a:gd name="T43" fmla="*/ 24 h 71"/>
                    <a:gd name="T44" fmla="*/ 18 w 42"/>
                    <a:gd name="T45" fmla="*/ 30 h 71"/>
                    <a:gd name="T46" fmla="*/ 24 w 42"/>
                    <a:gd name="T47" fmla="*/ 36 h 71"/>
                    <a:gd name="T48" fmla="*/ 36 w 42"/>
                    <a:gd name="T49" fmla="*/ 48 h 71"/>
                    <a:gd name="T50" fmla="*/ 36 w 42"/>
                    <a:gd name="T51" fmla="*/ 48 h 71"/>
                    <a:gd name="T52" fmla="*/ 30 w 42"/>
                    <a:gd name="T53" fmla="*/ 48 h 71"/>
                    <a:gd name="T54" fmla="*/ 24 w 42"/>
                    <a:gd name="T55" fmla="*/ 54 h 71"/>
                    <a:gd name="T56" fmla="*/ 12 w 42"/>
                    <a:gd name="T57" fmla="*/ 54 h 71"/>
                    <a:gd name="T58" fmla="*/ 6 w 42"/>
                    <a:gd name="T59" fmla="*/ 59 h 71"/>
                    <a:gd name="T60" fmla="*/ 0 w 42"/>
                    <a:gd name="T61" fmla="*/ 71 h 71"/>
                    <a:gd name="T62" fmla="*/ 0 w 42"/>
                    <a:gd name="T63"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 h="71">
                      <a:moveTo>
                        <a:pt x="0" y="71"/>
                      </a:moveTo>
                      <a:lnTo>
                        <a:pt x="6" y="71"/>
                      </a:lnTo>
                      <a:lnTo>
                        <a:pt x="18" y="71"/>
                      </a:lnTo>
                      <a:lnTo>
                        <a:pt x="30" y="65"/>
                      </a:lnTo>
                      <a:lnTo>
                        <a:pt x="36" y="59"/>
                      </a:lnTo>
                      <a:lnTo>
                        <a:pt x="36" y="54"/>
                      </a:lnTo>
                      <a:lnTo>
                        <a:pt x="42" y="48"/>
                      </a:lnTo>
                      <a:lnTo>
                        <a:pt x="42" y="42"/>
                      </a:lnTo>
                      <a:lnTo>
                        <a:pt x="42" y="42"/>
                      </a:lnTo>
                      <a:lnTo>
                        <a:pt x="36" y="36"/>
                      </a:lnTo>
                      <a:lnTo>
                        <a:pt x="30" y="30"/>
                      </a:lnTo>
                      <a:lnTo>
                        <a:pt x="24" y="30"/>
                      </a:lnTo>
                      <a:lnTo>
                        <a:pt x="30" y="12"/>
                      </a:lnTo>
                      <a:lnTo>
                        <a:pt x="30" y="0"/>
                      </a:lnTo>
                      <a:lnTo>
                        <a:pt x="24" y="12"/>
                      </a:lnTo>
                      <a:lnTo>
                        <a:pt x="24" y="6"/>
                      </a:lnTo>
                      <a:lnTo>
                        <a:pt x="24" y="12"/>
                      </a:lnTo>
                      <a:lnTo>
                        <a:pt x="24" y="18"/>
                      </a:lnTo>
                      <a:lnTo>
                        <a:pt x="24" y="24"/>
                      </a:lnTo>
                      <a:lnTo>
                        <a:pt x="18" y="24"/>
                      </a:lnTo>
                      <a:lnTo>
                        <a:pt x="18" y="18"/>
                      </a:lnTo>
                      <a:lnTo>
                        <a:pt x="18" y="24"/>
                      </a:lnTo>
                      <a:lnTo>
                        <a:pt x="18" y="30"/>
                      </a:lnTo>
                      <a:lnTo>
                        <a:pt x="24" y="36"/>
                      </a:lnTo>
                      <a:lnTo>
                        <a:pt x="36" y="48"/>
                      </a:lnTo>
                      <a:lnTo>
                        <a:pt x="36" y="48"/>
                      </a:lnTo>
                      <a:lnTo>
                        <a:pt x="30" y="48"/>
                      </a:lnTo>
                      <a:lnTo>
                        <a:pt x="24" y="54"/>
                      </a:lnTo>
                      <a:lnTo>
                        <a:pt x="12" y="54"/>
                      </a:lnTo>
                      <a:lnTo>
                        <a:pt x="6" y="59"/>
                      </a:lnTo>
                      <a:lnTo>
                        <a:pt x="0" y="71"/>
                      </a:lnTo>
                      <a:lnTo>
                        <a:pt x="0" y="71"/>
                      </a:lnTo>
                      <a:close/>
                    </a:path>
                  </a:pathLst>
                </a:custGeom>
                <a:solidFill>
                  <a:srgbClr val="00FF00"/>
                </a:solidFill>
                <a:ln w="9525">
                  <a:solidFill>
                    <a:srgbClr val="00FF00"/>
                  </a:solidFill>
                  <a:round/>
                  <a:headEnd/>
                  <a:tailEnd/>
                </a:ln>
              </p:spPr>
              <p:txBody>
                <a:bodyPr/>
                <a:lstStyle/>
                <a:p>
                  <a:endParaRPr lang="zh-CN" altLang="en-US"/>
                </a:p>
              </p:txBody>
            </p:sp>
            <p:sp>
              <p:nvSpPr>
                <p:cNvPr id="314" name="Freeform 241"/>
                <p:cNvSpPr>
                  <a:spLocks/>
                </p:cNvSpPr>
                <p:nvPr/>
              </p:nvSpPr>
              <p:spPr bwMode="auto">
                <a:xfrm>
                  <a:off x="4543" y="2400"/>
                  <a:ext cx="42" cy="35"/>
                </a:xfrm>
                <a:custGeom>
                  <a:avLst/>
                  <a:gdLst>
                    <a:gd name="T0" fmla="*/ 0 w 42"/>
                    <a:gd name="T1" fmla="*/ 29 h 35"/>
                    <a:gd name="T2" fmla="*/ 12 w 42"/>
                    <a:gd name="T3" fmla="*/ 35 h 35"/>
                    <a:gd name="T4" fmla="*/ 24 w 42"/>
                    <a:gd name="T5" fmla="*/ 29 h 35"/>
                    <a:gd name="T6" fmla="*/ 42 w 42"/>
                    <a:gd name="T7" fmla="*/ 17 h 35"/>
                    <a:gd name="T8" fmla="*/ 24 w 42"/>
                    <a:gd name="T9" fmla="*/ 0 h 35"/>
                    <a:gd name="T10" fmla="*/ 12 w 42"/>
                    <a:gd name="T11" fmla="*/ 5 h 35"/>
                    <a:gd name="T12" fmla="*/ 12 w 42"/>
                    <a:gd name="T13" fmla="*/ 5 h 35"/>
                    <a:gd name="T14" fmla="*/ 18 w 42"/>
                    <a:gd name="T15" fmla="*/ 11 h 35"/>
                    <a:gd name="T16" fmla="*/ 0 w 42"/>
                    <a:gd name="T17" fmla="*/ 2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5">
                      <a:moveTo>
                        <a:pt x="0" y="29"/>
                      </a:moveTo>
                      <a:lnTo>
                        <a:pt x="12" y="35"/>
                      </a:lnTo>
                      <a:lnTo>
                        <a:pt x="24" y="29"/>
                      </a:lnTo>
                      <a:lnTo>
                        <a:pt x="42" y="17"/>
                      </a:lnTo>
                      <a:lnTo>
                        <a:pt x="24" y="0"/>
                      </a:lnTo>
                      <a:lnTo>
                        <a:pt x="12" y="5"/>
                      </a:lnTo>
                      <a:lnTo>
                        <a:pt x="12" y="5"/>
                      </a:lnTo>
                      <a:lnTo>
                        <a:pt x="18" y="11"/>
                      </a:lnTo>
                      <a:lnTo>
                        <a:pt x="0" y="29"/>
                      </a:lnTo>
                      <a:close/>
                    </a:path>
                  </a:pathLst>
                </a:custGeom>
                <a:solidFill>
                  <a:srgbClr val="00FF00"/>
                </a:solidFill>
                <a:ln w="9525">
                  <a:solidFill>
                    <a:srgbClr val="00FF00"/>
                  </a:solidFill>
                  <a:round/>
                  <a:headEnd/>
                  <a:tailEnd/>
                </a:ln>
              </p:spPr>
              <p:txBody>
                <a:bodyPr/>
                <a:lstStyle/>
                <a:p>
                  <a:endParaRPr lang="zh-CN" altLang="en-US"/>
                </a:p>
              </p:txBody>
            </p:sp>
            <p:sp>
              <p:nvSpPr>
                <p:cNvPr id="315" name="Freeform 242"/>
                <p:cNvSpPr>
                  <a:spLocks noEditPoints="1"/>
                </p:cNvSpPr>
                <p:nvPr/>
              </p:nvSpPr>
              <p:spPr bwMode="auto">
                <a:xfrm>
                  <a:off x="4567" y="2388"/>
                  <a:ext cx="24" cy="29"/>
                </a:xfrm>
                <a:custGeom>
                  <a:avLst/>
                  <a:gdLst>
                    <a:gd name="T0" fmla="*/ 18 w 24"/>
                    <a:gd name="T1" fmla="*/ 29 h 29"/>
                    <a:gd name="T2" fmla="*/ 24 w 24"/>
                    <a:gd name="T3" fmla="*/ 29 h 29"/>
                    <a:gd name="T4" fmla="*/ 24 w 24"/>
                    <a:gd name="T5" fmla="*/ 23 h 29"/>
                    <a:gd name="T6" fmla="*/ 18 w 24"/>
                    <a:gd name="T7" fmla="*/ 23 h 29"/>
                    <a:gd name="T8" fmla="*/ 24 w 24"/>
                    <a:gd name="T9" fmla="*/ 0 h 29"/>
                    <a:gd name="T10" fmla="*/ 12 w 24"/>
                    <a:gd name="T11" fmla="*/ 6 h 29"/>
                    <a:gd name="T12" fmla="*/ 6 w 24"/>
                    <a:gd name="T13" fmla="*/ 6 h 29"/>
                    <a:gd name="T14" fmla="*/ 0 w 24"/>
                    <a:gd name="T15" fmla="*/ 12 h 29"/>
                    <a:gd name="T16" fmla="*/ 18 w 24"/>
                    <a:gd name="T17" fmla="*/ 29 h 29"/>
                    <a:gd name="T18" fmla="*/ 18 w 24"/>
                    <a:gd name="T19" fmla="*/ 29 h 29"/>
                    <a:gd name="T20" fmla="*/ 18 w 24"/>
                    <a:gd name="T21" fmla="*/ 29 h 29"/>
                    <a:gd name="T22" fmla="*/ 18 w 24"/>
                    <a:gd name="T23" fmla="*/ 29 h 29"/>
                    <a:gd name="T24" fmla="*/ 12 w 24"/>
                    <a:gd name="T25" fmla="*/ 23 h 29"/>
                    <a:gd name="T26" fmla="*/ 18 w 24"/>
                    <a:gd name="T2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9">
                      <a:moveTo>
                        <a:pt x="18" y="29"/>
                      </a:moveTo>
                      <a:lnTo>
                        <a:pt x="24" y="29"/>
                      </a:lnTo>
                      <a:lnTo>
                        <a:pt x="24" y="23"/>
                      </a:lnTo>
                      <a:lnTo>
                        <a:pt x="18" y="23"/>
                      </a:lnTo>
                      <a:lnTo>
                        <a:pt x="24" y="0"/>
                      </a:lnTo>
                      <a:lnTo>
                        <a:pt x="12" y="6"/>
                      </a:lnTo>
                      <a:lnTo>
                        <a:pt x="6" y="6"/>
                      </a:lnTo>
                      <a:lnTo>
                        <a:pt x="0" y="12"/>
                      </a:lnTo>
                      <a:lnTo>
                        <a:pt x="18" y="29"/>
                      </a:lnTo>
                      <a:close/>
                      <a:moveTo>
                        <a:pt x="18" y="29"/>
                      </a:moveTo>
                      <a:lnTo>
                        <a:pt x="18" y="29"/>
                      </a:lnTo>
                      <a:lnTo>
                        <a:pt x="18" y="29"/>
                      </a:lnTo>
                      <a:lnTo>
                        <a:pt x="12" y="23"/>
                      </a:lnTo>
                      <a:lnTo>
                        <a:pt x="18" y="29"/>
                      </a:lnTo>
                      <a:close/>
                    </a:path>
                  </a:pathLst>
                </a:custGeom>
                <a:solidFill>
                  <a:srgbClr val="00FF00"/>
                </a:solidFill>
                <a:ln w="9525">
                  <a:solidFill>
                    <a:srgbClr val="00FF00"/>
                  </a:solidFill>
                  <a:round/>
                  <a:headEnd/>
                  <a:tailEnd/>
                </a:ln>
              </p:spPr>
              <p:txBody>
                <a:bodyPr/>
                <a:lstStyle/>
                <a:p>
                  <a:endParaRPr lang="zh-CN" altLang="en-US"/>
                </a:p>
              </p:txBody>
            </p:sp>
            <p:sp>
              <p:nvSpPr>
                <p:cNvPr id="316" name="Freeform 243"/>
                <p:cNvSpPr>
                  <a:spLocks noEditPoints="1"/>
                </p:cNvSpPr>
                <p:nvPr/>
              </p:nvSpPr>
              <p:spPr bwMode="auto">
                <a:xfrm>
                  <a:off x="4579" y="2382"/>
                  <a:ext cx="24" cy="29"/>
                </a:xfrm>
                <a:custGeom>
                  <a:avLst/>
                  <a:gdLst>
                    <a:gd name="T0" fmla="*/ 12 w 24"/>
                    <a:gd name="T1" fmla="*/ 29 h 29"/>
                    <a:gd name="T2" fmla="*/ 12 w 24"/>
                    <a:gd name="T3" fmla="*/ 29 h 29"/>
                    <a:gd name="T4" fmla="*/ 18 w 24"/>
                    <a:gd name="T5" fmla="*/ 23 h 29"/>
                    <a:gd name="T6" fmla="*/ 24 w 24"/>
                    <a:gd name="T7" fmla="*/ 12 h 29"/>
                    <a:gd name="T8" fmla="*/ 18 w 24"/>
                    <a:gd name="T9" fmla="*/ 0 h 29"/>
                    <a:gd name="T10" fmla="*/ 0 w 24"/>
                    <a:gd name="T11" fmla="*/ 18 h 29"/>
                    <a:gd name="T12" fmla="*/ 0 w 24"/>
                    <a:gd name="T13" fmla="*/ 12 h 29"/>
                    <a:gd name="T14" fmla="*/ 0 w 24"/>
                    <a:gd name="T15" fmla="*/ 12 h 29"/>
                    <a:gd name="T16" fmla="*/ 12 w 24"/>
                    <a:gd name="T17" fmla="*/ 29 h 29"/>
                    <a:gd name="T18" fmla="*/ 6 w 24"/>
                    <a:gd name="T19" fmla="*/ 29 h 29"/>
                    <a:gd name="T20" fmla="*/ 12 w 24"/>
                    <a:gd name="T21" fmla="*/ 29 h 29"/>
                    <a:gd name="T22" fmla="*/ 12 w 24"/>
                    <a:gd name="T23" fmla="*/ 29 h 29"/>
                    <a:gd name="T24" fmla="*/ 6 w 24"/>
                    <a:gd name="T25" fmla="*/ 18 h 29"/>
                    <a:gd name="T26" fmla="*/ 6 w 24"/>
                    <a:gd name="T2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9">
                      <a:moveTo>
                        <a:pt x="12" y="29"/>
                      </a:moveTo>
                      <a:lnTo>
                        <a:pt x="12" y="29"/>
                      </a:lnTo>
                      <a:lnTo>
                        <a:pt x="18" y="23"/>
                      </a:lnTo>
                      <a:lnTo>
                        <a:pt x="24" y="12"/>
                      </a:lnTo>
                      <a:lnTo>
                        <a:pt x="18" y="0"/>
                      </a:lnTo>
                      <a:lnTo>
                        <a:pt x="0" y="18"/>
                      </a:lnTo>
                      <a:lnTo>
                        <a:pt x="0" y="12"/>
                      </a:lnTo>
                      <a:lnTo>
                        <a:pt x="0" y="12"/>
                      </a:lnTo>
                      <a:lnTo>
                        <a:pt x="12" y="29"/>
                      </a:lnTo>
                      <a:close/>
                      <a:moveTo>
                        <a:pt x="6" y="29"/>
                      </a:moveTo>
                      <a:lnTo>
                        <a:pt x="12" y="29"/>
                      </a:lnTo>
                      <a:lnTo>
                        <a:pt x="12" y="29"/>
                      </a:lnTo>
                      <a:lnTo>
                        <a:pt x="6" y="18"/>
                      </a:lnTo>
                      <a:lnTo>
                        <a:pt x="6" y="29"/>
                      </a:lnTo>
                      <a:close/>
                    </a:path>
                  </a:pathLst>
                </a:custGeom>
                <a:solidFill>
                  <a:srgbClr val="00FF00"/>
                </a:solidFill>
                <a:ln w="9525">
                  <a:solidFill>
                    <a:srgbClr val="00FF00"/>
                  </a:solidFill>
                  <a:round/>
                  <a:headEnd/>
                  <a:tailEnd/>
                </a:ln>
              </p:spPr>
              <p:txBody>
                <a:bodyPr/>
                <a:lstStyle/>
                <a:p>
                  <a:endParaRPr lang="zh-CN" altLang="en-US"/>
                </a:p>
              </p:txBody>
            </p:sp>
            <p:sp>
              <p:nvSpPr>
                <p:cNvPr id="317" name="Freeform 244"/>
                <p:cNvSpPr>
                  <a:spLocks noEditPoints="1"/>
                </p:cNvSpPr>
                <p:nvPr/>
              </p:nvSpPr>
              <p:spPr bwMode="auto">
                <a:xfrm>
                  <a:off x="4567" y="2364"/>
                  <a:ext cx="30" cy="36"/>
                </a:xfrm>
                <a:custGeom>
                  <a:avLst/>
                  <a:gdLst>
                    <a:gd name="T0" fmla="*/ 30 w 30"/>
                    <a:gd name="T1" fmla="*/ 18 h 36"/>
                    <a:gd name="T2" fmla="*/ 30 w 30"/>
                    <a:gd name="T3" fmla="*/ 18 h 36"/>
                    <a:gd name="T4" fmla="*/ 24 w 30"/>
                    <a:gd name="T5" fmla="*/ 12 h 36"/>
                    <a:gd name="T6" fmla="*/ 18 w 30"/>
                    <a:gd name="T7" fmla="*/ 6 h 36"/>
                    <a:gd name="T8" fmla="*/ 18 w 30"/>
                    <a:gd name="T9" fmla="*/ 6 h 36"/>
                    <a:gd name="T10" fmla="*/ 0 w 30"/>
                    <a:gd name="T11" fmla="*/ 0 h 36"/>
                    <a:gd name="T12" fmla="*/ 0 w 30"/>
                    <a:gd name="T13" fmla="*/ 18 h 36"/>
                    <a:gd name="T14" fmla="*/ 6 w 30"/>
                    <a:gd name="T15" fmla="*/ 30 h 36"/>
                    <a:gd name="T16" fmla="*/ 12 w 30"/>
                    <a:gd name="T17" fmla="*/ 36 h 36"/>
                    <a:gd name="T18" fmla="*/ 12 w 30"/>
                    <a:gd name="T19" fmla="*/ 36 h 36"/>
                    <a:gd name="T20" fmla="*/ 30 w 30"/>
                    <a:gd name="T21" fmla="*/ 18 h 36"/>
                    <a:gd name="T22" fmla="*/ 30 w 30"/>
                    <a:gd name="T23" fmla="*/ 18 h 36"/>
                    <a:gd name="T24" fmla="*/ 30 w 30"/>
                    <a:gd name="T25" fmla="*/ 18 h 36"/>
                    <a:gd name="T26" fmla="*/ 30 w 30"/>
                    <a:gd name="T27" fmla="*/ 18 h 36"/>
                    <a:gd name="T28" fmla="*/ 24 w 30"/>
                    <a:gd name="T29" fmla="*/ 24 h 36"/>
                    <a:gd name="T30" fmla="*/ 30 w 30"/>
                    <a:gd name="T31"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30" y="18"/>
                      </a:moveTo>
                      <a:lnTo>
                        <a:pt x="30" y="18"/>
                      </a:lnTo>
                      <a:lnTo>
                        <a:pt x="24" y="12"/>
                      </a:lnTo>
                      <a:lnTo>
                        <a:pt x="18" y="6"/>
                      </a:lnTo>
                      <a:lnTo>
                        <a:pt x="18" y="6"/>
                      </a:lnTo>
                      <a:lnTo>
                        <a:pt x="0" y="0"/>
                      </a:lnTo>
                      <a:lnTo>
                        <a:pt x="0" y="18"/>
                      </a:lnTo>
                      <a:lnTo>
                        <a:pt x="6" y="30"/>
                      </a:lnTo>
                      <a:lnTo>
                        <a:pt x="12" y="36"/>
                      </a:lnTo>
                      <a:lnTo>
                        <a:pt x="12" y="36"/>
                      </a:lnTo>
                      <a:lnTo>
                        <a:pt x="30" y="18"/>
                      </a:lnTo>
                      <a:close/>
                      <a:moveTo>
                        <a:pt x="30" y="18"/>
                      </a:moveTo>
                      <a:lnTo>
                        <a:pt x="30" y="18"/>
                      </a:lnTo>
                      <a:lnTo>
                        <a:pt x="30" y="18"/>
                      </a:lnTo>
                      <a:lnTo>
                        <a:pt x="24" y="24"/>
                      </a:lnTo>
                      <a:lnTo>
                        <a:pt x="30" y="18"/>
                      </a:lnTo>
                      <a:close/>
                    </a:path>
                  </a:pathLst>
                </a:custGeom>
                <a:solidFill>
                  <a:srgbClr val="00FF00"/>
                </a:solidFill>
                <a:ln w="9525">
                  <a:solidFill>
                    <a:srgbClr val="00FF00"/>
                  </a:solidFill>
                  <a:round/>
                  <a:headEnd/>
                  <a:tailEnd/>
                </a:ln>
              </p:spPr>
              <p:txBody>
                <a:bodyPr/>
                <a:lstStyle/>
                <a:p>
                  <a:endParaRPr lang="zh-CN" altLang="en-US"/>
                </a:p>
              </p:txBody>
            </p:sp>
            <p:sp>
              <p:nvSpPr>
                <p:cNvPr id="318" name="Freeform 245"/>
                <p:cNvSpPr>
                  <a:spLocks noEditPoints="1"/>
                </p:cNvSpPr>
                <p:nvPr/>
              </p:nvSpPr>
              <p:spPr bwMode="auto">
                <a:xfrm>
                  <a:off x="4561" y="2352"/>
                  <a:ext cx="24" cy="30"/>
                </a:xfrm>
                <a:custGeom>
                  <a:avLst/>
                  <a:gdLst>
                    <a:gd name="T0" fmla="*/ 24 w 24"/>
                    <a:gd name="T1" fmla="*/ 24 h 30"/>
                    <a:gd name="T2" fmla="*/ 24 w 24"/>
                    <a:gd name="T3" fmla="*/ 6 h 30"/>
                    <a:gd name="T4" fmla="*/ 6 w 24"/>
                    <a:gd name="T5" fmla="*/ 0 h 30"/>
                    <a:gd name="T6" fmla="*/ 0 w 24"/>
                    <a:gd name="T7" fmla="*/ 18 h 30"/>
                    <a:gd name="T8" fmla="*/ 24 w 24"/>
                    <a:gd name="T9" fmla="*/ 24 h 30"/>
                    <a:gd name="T10" fmla="*/ 24 w 24"/>
                    <a:gd name="T11" fmla="*/ 30 h 30"/>
                    <a:gd name="T12" fmla="*/ 24 w 24"/>
                    <a:gd name="T13" fmla="*/ 24 h 30"/>
                    <a:gd name="T14" fmla="*/ 24 w 24"/>
                    <a:gd name="T15" fmla="*/ 24 h 30"/>
                    <a:gd name="T16" fmla="*/ 12 w 24"/>
                    <a:gd name="T17" fmla="*/ 24 h 30"/>
                    <a:gd name="T18" fmla="*/ 24 w 24"/>
                    <a:gd name="T19"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0">
                      <a:moveTo>
                        <a:pt x="24" y="24"/>
                      </a:moveTo>
                      <a:lnTo>
                        <a:pt x="24" y="6"/>
                      </a:lnTo>
                      <a:lnTo>
                        <a:pt x="6" y="0"/>
                      </a:lnTo>
                      <a:lnTo>
                        <a:pt x="0" y="18"/>
                      </a:lnTo>
                      <a:lnTo>
                        <a:pt x="24" y="24"/>
                      </a:lnTo>
                      <a:close/>
                      <a:moveTo>
                        <a:pt x="24" y="30"/>
                      </a:moveTo>
                      <a:lnTo>
                        <a:pt x="24" y="24"/>
                      </a:lnTo>
                      <a:lnTo>
                        <a:pt x="24" y="24"/>
                      </a:lnTo>
                      <a:lnTo>
                        <a:pt x="12" y="24"/>
                      </a:lnTo>
                      <a:lnTo>
                        <a:pt x="24" y="30"/>
                      </a:lnTo>
                      <a:close/>
                    </a:path>
                  </a:pathLst>
                </a:custGeom>
                <a:solidFill>
                  <a:srgbClr val="00FF00"/>
                </a:solidFill>
                <a:ln w="9525">
                  <a:solidFill>
                    <a:srgbClr val="00FF00"/>
                  </a:solidFill>
                  <a:round/>
                  <a:headEnd/>
                  <a:tailEnd/>
                </a:ln>
              </p:spPr>
              <p:txBody>
                <a:bodyPr/>
                <a:lstStyle/>
                <a:p>
                  <a:endParaRPr lang="zh-CN" altLang="en-US"/>
                </a:p>
              </p:txBody>
            </p:sp>
            <p:sp>
              <p:nvSpPr>
                <p:cNvPr id="319" name="Freeform 246"/>
                <p:cNvSpPr>
                  <a:spLocks noEditPoints="1"/>
                </p:cNvSpPr>
                <p:nvPr/>
              </p:nvSpPr>
              <p:spPr bwMode="auto">
                <a:xfrm>
                  <a:off x="4567" y="2346"/>
                  <a:ext cx="24" cy="12"/>
                </a:xfrm>
                <a:custGeom>
                  <a:avLst/>
                  <a:gdLst>
                    <a:gd name="T0" fmla="*/ 18 w 24"/>
                    <a:gd name="T1" fmla="*/ 12 h 12"/>
                    <a:gd name="T2" fmla="*/ 24 w 24"/>
                    <a:gd name="T3" fmla="*/ 6 h 12"/>
                    <a:gd name="T4" fmla="*/ 0 w 24"/>
                    <a:gd name="T5" fmla="*/ 0 h 12"/>
                    <a:gd name="T6" fmla="*/ 0 w 24"/>
                    <a:gd name="T7" fmla="*/ 6 h 12"/>
                    <a:gd name="T8" fmla="*/ 18 w 24"/>
                    <a:gd name="T9" fmla="*/ 12 h 12"/>
                    <a:gd name="T10" fmla="*/ 0 w 24"/>
                    <a:gd name="T11" fmla="*/ 6 h 12"/>
                    <a:gd name="T12" fmla="*/ 0 w 24"/>
                    <a:gd name="T13" fmla="*/ 6 h 12"/>
                    <a:gd name="T14" fmla="*/ 0 w 24"/>
                    <a:gd name="T15" fmla="*/ 6 h 12"/>
                    <a:gd name="T16" fmla="*/ 12 w 24"/>
                    <a:gd name="T17" fmla="*/ 12 h 12"/>
                    <a:gd name="T18" fmla="*/ 0 w 24"/>
                    <a:gd name="T19"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2">
                      <a:moveTo>
                        <a:pt x="18" y="12"/>
                      </a:moveTo>
                      <a:lnTo>
                        <a:pt x="24" y="6"/>
                      </a:lnTo>
                      <a:lnTo>
                        <a:pt x="0" y="0"/>
                      </a:lnTo>
                      <a:lnTo>
                        <a:pt x="0" y="6"/>
                      </a:lnTo>
                      <a:lnTo>
                        <a:pt x="18" y="12"/>
                      </a:lnTo>
                      <a:close/>
                      <a:moveTo>
                        <a:pt x="0" y="6"/>
                      </a:moveTo>
                      <a:lnTo>
                        <a:pt x="0" y="6"/>
                      </a:lnTo>
                      <a:lnTo>
                        <a:pt x="0" y="6"/>
                      </a:lnTo>
                      <a:lnTo>
                        <a:pt x="12" y="12"/>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320" name="Freeform 247"/>
                <p:cNvSpPr>
                  <a:spLocks noEditPoints="1"/>
                </p:cNvSpPr>
                <p:nvPr/>
              </p:nvSpPr>
              <p:spPr bwMode="auto">
                <a:xfrm>
                  <a:off x="4561" y="2346"/>
                  <a:ext cx="30" cy="12"/>
                </a:xfrm>
                <a:custGeom>
                  <a:avLst/>
                  <a:gdLst>
                    <a:gd name="T0" fmla="*/ 6 w 30"/>
                    <a:gd name="T1" fmla="*/ 0 h 12"/>
                    <a:gd name="T2" fmla="*/ 0 w 30"/>
                    <a:gd name="T3" fmla="*/ 6 h 12"/>
                    <a:gd name="T4" fmla="*/ 24 w 30"/>
                    <a:gd name="T5" fmla="*/ 12 h 12"/>
                    <a:gd name="T6" fmla="*/ 30 w 30"/>
                    <a:gd name="T7" fmla="*/ 6 h 12"/>
                    <a:gd name="T8" fmla="*/ 6 w 30"/>
                    <a:gd name="T9" fmla="*/ 0 h 12"/>
                    <a:gd name="T10" fmla="*/ 30 w 30"/>
                    <a:gd name="T11" fmla="*/ 6 h 12"/>
                    <a:gd name="T12" fmla="*/ 6 w 30"/>
                    <a:gd name="T13" fmla="*/ 0 h 12"/>
                    <a:gd name="T14" fmla="*/ 30 w 30"/>
                    <a:gd name="T15" fmla="*/ 6 h 12"/>
                    <a:gd name="T16" fmla="*/ 6 w 30"/>
                    <a:gd name="T17" fmla="*/ 0 h 12"/>
                    <a:gd name="T18" fmla="*/ 30 w 30"/>
                    <a:gd name="T19"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2">
                      <a:moveTo>
                        <a:pt x="6" y="0"/>
                      </a:moveTo>
                      <a:lnTo>
                        <a:pt x="0" y="6"/>
                      </a:lnTo>
                      <a:lnTo>
                        <a:pt x="24" y="12"/>
                      </a:lnTo>
                      <a:lnTo>
                        <a:pt x="30" y="6"/>
                      </a:lnTo>
                      <a:lnTo>
                        <a:pt x="6" y="0"/>
                      </a:lnTo>
                      <a:close/>
                      <a:moveTo>
                        <a:pt x="30" y="6"/>
                      </a:moveTo>
                      <a:lnTo>
                        <a:pt x="6" y="0"/>
                      </a:lnTo>
                      <a:lnTo>
                        <a:pt x="30" y="6"/>
                      </a:lnTo>
                      <a:lnTo>
                        <a:pt x="6" y="0"/>
                      </a:lnTo>
                      <a:lnTo>
                        <a:pt x="30" y="6"/>
                      </a:lnTo>
                      <a:close/>
                    </a:path>
                  </a:pathLst>
                </a:custGeom>
                <a:solidFill>
                  <a:srgbClr val="00FF00"/>
                </a:solidFill>
                <a:ln w="9525">
                  <a:solidFill>
                    <a:srgbClr val="00FF00"/>
                  </a:solidFill>
                  <a:round/>
                  <a:headEnd/>
                  <a:tailEnd/>
                </a:ln>
              </p:spPr>
              <p:txBody>
                <a:bodyPr/>
                <a:lstStyle/>
                <a:p>
                  <a:endParaRPr lang="zh-CN" altLang="en-US"/>
                </a:p>
              </p:txBody>
            </p:sp>
            <p:sp>
              <p:nvSpPr>
                <p:cNvPr id="321" name="Freeform 248"/>
                <p:cNvSpPr>
                  <a:spLocks noEditPoints="1"/>
                </p:cNvSpPr>
                <p:nvPr/>
              </p:nvSpPr>
              <p:spPr bwMode="auto">
                <a:xfrm>
                  <a:off x="4561" y="2352"/>
                  <a:ext cx="24" cy="6"/>
                </a:xfrm>
                <a:custGeom>
                  <a:avLst/>
                  <a:gdLst>
                    <a:gd name="T0" fmla="*/ 24 w 24"/>
                    <a:gd name="T1" fmla="*/ 0 h 6"/>
                    <a:gd name="T2" fmla="*/ 24 w 24"/>
                    <a:gd name="T3" fmla="*/ 0 h 6"/>
                    <a:gd name="T4" fmla="*/ 0 w 24"/>
                    <a:gd name="T5" fmla="*/ 0 h 6"/>
                    <a:gd name="T6" fmla="*/ 0 w 24"/>
                    <a:gd name="T7" fmla="*/ 6 h 6"/>
                    <a:gd name="T8" fmla="*/ 24 w 24"/>
                    <a:gd name="T9" fmla="*/ 0 h 6"/>
                    <a:gd name="T10" fmla="*/ 0 w 24"/>
                    <a:gd name="T11" fmla="*/ 0 h 6"/>
                    <a:gd name="T12" fmla="*/ 24 w 24"/>
                    <a:gd name="T13" fmla="*/ 0 h 6"/>
                    <a:gd name="T14" fmla="*/ 0 w 24"/>
                    <a:gd name="T15" fmla="*/ 6 h 6"/>
                    <a:gd name="T16" fmla="*/ 24 w 24"/>
                    <a:gd name="T17" fmla="*/ 6 h 6"/>
                    <a:gd name="T18" fmla="*/ 0 w 24"/>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6">
                      <a:moveTo>
                        <a:pt x="24" y="0"/>
                      </a:moveTo>
                      <a:lnTo>
                        <a:pt x="24" y="0"/>
                      </a:lnTo>
                      <a:lnTo>
                        <a:pt x="0" y="0"/>
                      </a:lnTo>
                      <a:lnTo>
                        <a:pt x="0" y="6"/>
                      </a:lnTo>
                      <a:lnTo>
                        <a:pt x="24" y="0"/>
                      </a:lnTo>
                      <a:close/>
                      <a:moveTo>
                        <a:pt x="0" y="0"/>
                      </a:moveTo>
                      <a:lnTo>
                        <a:pt x="24" y="0"/>
                      </a:lnTo>
                      <a:lnTo>
                        <a:pt x="0" y="6"/>
                      </a:lnTo>
                      <a:lnTo>
                        <a:pt x="24" y="6"/>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322" name="Freeform 249"/>
                <p:cNvSpPr>
                  <a:spLocks noEditPoints="1"/>
                </p:cNvSpPr>
                <p:nvPr/>
              </p:nvSpPr>
              <p:spPr bwMode="auto">
                <a:xfrm>
                  <a:off x="4561" y="2352"/>
                  <a:ext cx="24" cy="24"/>
                </a:xfrm>
                <a:custGeom>
                  <a:avLst/>
                  <a:gdLst>
                    <a:gd name="T0" fmla="*/ 0 w 24"/>
                    <a:gd name="T1" fmla="*/ 0 h 24"/>
                    <a:gd name="T2" fmla="*/ 0 w 24"/>
                    <a:gd name="T3" fmla="*/ 6 h 24"/>
                    <a:gd name="T4" fmla="*/ 0 w 24"/>
                    <a:gd name="T5" fmla="*/ 6 h 24"/>
                    <a:gd name="T6" fmla="*/ 0 w 24"/>
                    <a:gd name="T7" fmla="*/ 6 h 24"/>
                    <a:gd name="T8" fmla="*/ 0 w 24"/>
                    <a:gd name="T9" fmla="*/ 6 h 24"/>
                    <a:gd name="T10" fmla="*/ 0 w 24"/>
                    <a:gd name="T11" fmla="*/ 24 h 24"/>
                    <a:gd name="T12" fmla="*/ 18 w 24"/>
                    <a:gd name="T13" fmla="*/ 18 h 24"/>
                    <a:gd name="T14" fmla="*/ 24 w 24"/>
                    <a:gd name="T15" fmla="*/ 12 h 24"/>
                    <a:gd name="T16" fmla="*/ 24 w 24"/>
                    <a:gd name="T17" fmla="*/ 6 h 24"/>
                    <a:gd name="T18" fmla="*/ 24 w 24"/>
                    <a:gd name="T19" fmla="*/ 0 h 24"/>
                    <a:gd name="T20" fmla="*/ 0 w 24"/>
                    <a:gd name="T21" fmla="*/ 0 h 24"/>
                    <a:gd name="T22" fmla="*/ 24 w 24"/>
                    <a:gd name="T23" fmla="*/ 0 h 24"/>
                    <a:gd name="T24" fmla="*/ 0 w 24"/>
                    <a:gd name="T25" fmla="*/ 0 h 24"/>
                    <a:gd name="T26" fmla="*/ 24 w 24"/>
                    <a:gd name="T27" fmla="*/ 0 h 24"/>
                    <a:gd name="T28" fmla="*/ 0 w 24"/>
                    <a:gd name="T29" fmla="*/ 0 h 24"/>
                    <a:gd name="T30" fmla="*/ 24 w 24"/>
                    <a:gd name="T31"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 h="24">
                      <a:moveTo>
                        <a:pt x="0" y="0"/>
                      </a:moveTo>
                      <a:lnTo>
                        <a:pt x="0" y="6"/>
                      </a:lnTo>
                      <a:lnTo>
                        <a:pt x="0" y="6"/>
                      </a:lnTo>
                      <a:lnTo>
                        <a:pt x="0" y="6"/>
                      </a:lnTo>
                      <a:lnTo>
                        <a:pt x="0" y="6"/>
                      </a:lnTo>
                      <a:lnTo>
                        <a:pt x="0" y="24"/>
                      </a:lnTo>
                      <a:lnTo>
                        <a:pt x="18" y="18"/>
                      </a:lnTo>
                      <a:lnTo>
                        <a:pt x="24" y="12"/>
                      </a:lnTo>
                      <a:lnTo>
                        <a:pt x="24" y="6"/>
                      </a:lnTo>
                      <a:lnTo>
                        <a:pt x="24" y="0"/>
                      </a:lnTo>
                      <a:lnTo>
                        <a:pt x="0" y="0"/>
                      </a:lnTo>
                      <a:close/>
                      <a:moveTo>
                        <a:pt x="24" y="0"/>
                      </a:moveTo>
                      <a:lnTo>
                        <a:pt x="0" y="0"/>
                      </a:lnTo>
                      <a:lnTo>
                        <a:pt x="24" y="0"/>
                      </a:lnTo>
                      <a:lnTo>
                        <a:pt x="0" y="0"/>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323" name="Freeform 250"/>
                <p:cNvSpPr>
                  <a:spLocks noEditPoints="1"/>
                </p:cNvSpPr>
                <p:nvPr/>
              </p:nvSpPr>
              <p:spPr bwMode="auto">
                <a:xfrm>
                  <a:off x="4561" y="2358"/>
                  <a:ext cx="18" cy="18"/>
                </a:xfrm>
                <a:custGeom>
                  <a:avLst/>
                  <a:gdLst>
                    <a:gd name="T0" fmla="*/ 18 w 18"/>
                    <a:gd name="T1" fmla="*/ 0 h 18"/>
                    <a:gd name="T2" fmla="*/ 18 w 18"/>
                    <a:gd name="T3" fmla="*/ 0 h 18"/>
                    <a:gd name="T4" fmla="*/ 0 w 18"/>
                    <a:gd name="T5" fmla="*/ 18 h 18"/>
                    <a:gd name="T6" fmla="*/ 0 w 18"/>
                    <a:gd name="T7" fmla="*/ 18 h 18"/>
                    <a:gd name="T8" fmla="*/ 18 w 18"/>
                    <a:gd name="T9" fmla="*/ 0 h 18"/>
                    <a:gd name="T10" fmla="*/ 18 w 18"/>
                    <a:gd name="T11" fmla="*/ 6 h 18"/>
                    <a:gd name="T12" fmla="*/ 18 w 18"/>
                    <a:gd name="T13" fmla="*/ 0 h 18"/>
                    <a:gd name="T14" fmla="*/ 18 w 18"/>
                    <a:gd name="T15" fmla="*/ 0 h 18"/>
                    <a:gd name="T16" fmla="*/ 6 w 18"/>
                    <a:gd name="T17" fmla="*/ 12 h 18"/>
                    <a:gd name="T18" fmla="*/ 18 w 18"/>
                    <a:gd name="T19" fmla="*/ 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18" y="0"/>
                      </a:moveTo>
                      <a:lnTo>
                        <a:pt x="18" y="0"/>
                      </a:lnTo>
                      <a:lnTo>
                        <a:pt x="0" y="18"/>
                      </a:lnTo>
                      <a:lnTo>
                        <a:pt x="0" y="18"/>
                      </a:lnTo>
                      <a:lnTo>
                        <a:pt x="18" y="0"/>
                      </a:lnTo>
                      <a:close/>
                      <a:moveTo>
                        <a:pt x="18" y="6"/>
                      </a:moveTo>
                      <a:lnTo>
                        <a:pt x="18" y="0"/>
                      </a:lnTo>
                      <a:lnTo>
                        <a:pt x="18" y="0"/>
                      </a:lnTo>
                      <a:lnTo>
                        <a:pt x="6"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324" name="Freeform 251"/>
                <p:cNvSpPr>
                  <a:spLocks noEditPoints="1"/>
                </p:cNvSpPr>
                <p:nvPr/>
              </p:nvSpPr>
              <p:spPr bwMode="auto">
                <a:xfrm>
                  <a:off x="4555" y="2346"/>
                  <a:ext cx="24" cy="36"/>
                </a:xfrm>
                <a:custGeom>
                  <a:avLst/>
                  <a:gdLst>
                    <a:gd name="T0" fmla="*/ 0 w 24"/>
                    <a:gd name="T1" fmla="*/ 18 h 36"/>
                    <a:gd name="T2" fmla="*/ 0 w 24"/>
                    <a:gd name="T3" fmla="*/ 24 h 36"/>
                    <a:gd name="T4" fmla="*/ 6 w 24"/>
                    <a:gd name="T5" fmla="*/ 36 h 36"/>
                    <a:gd name="T6" fmla="*/ 24 w 24"/>
                    <a:gd name="T7" fmla="*/ 24 h 36"/>
                    <a:gd name="T8" fmla="*/ 24 w 24"/>
                    <a:gd name="T9" fmla="*/ 24 h 36"/>
                    <a:gd name="T10" fmla="*/ 0 w 24"/>
                    <a:gd name="T11" fmla="*/ 18 h 36"/>
                    <a:gd name="T12" fmla="*/ 24 w 24"/>
                    <a:gd name="T13" fmla="*/ 12 h 36"/>
                    <a:gd name="T14" fmla="*/ 12 w 24"/>
                    <a:gd name="T15" fmla="*/ 0 h 36"/>
                    <a:gd name="T16" fmla="*/ 0 w 24"/>
                    <a:gd name="T17" fmla="*/ 18 h 36"/>
                    <a:gd name="T18" fmla="*/ 12 w 24"/>
                    <a:gd name="T19" fmla="*/ 18 h 36"/>
                    <a:gd name="T20" fmla="*/ 24 w 24"/>
                    <a:gd name="T21"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36">
                      <a:moveTo>
                        <a:pt x="0" y="18"/>
                      </a:moveTo>
                      <a:lnTo>
                        <a:pt x="0" y="24"/>
                      </a:lnTo>
                      <a:lnTo>
                        <a:pt x="6" y="36"/>
                      </a:lnTo>
                      <a:lnTo>
                        <a:pt x="24" y="24"/>
                      </a:lnTo>
                      <a:lnTo>
                        <a:pt x="24" y="24"/>
                      </a:lnTo>
                      <a:lnTo>
                        <a:pt x="0" y="18"/>
                      </a:lnTo>
                      <a:close/>
                      <a:moveTo>
                        <a:pt x="24" y="12"/>
                      </a:moveTo>
                      <a:lnTo>
                        <a:pt x="12" y="0"/>
                      </a:lnTo>
                      <a:lnTo>
                        <a:pt x="0" y="18"/>
                      </a:lnTo>
                      <a:lnTo>
                        <a:pt x="12" y="18"/>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325" name="Freeform 252"/>
                <p:cNvSpPr>
                  <a:spLocks noEditPoints="1"/>
                </p:cNvSpPr>
                <p:nvPr/>
              </p:nvSpPr>
              <p:spPr bwMode="auto">
                <a:xfrm>
                  <a:off x="4555" y="2370"/>
                  <a:ext cx="36" cy="30"/>
                </a:xfrm>
                <a:custGeom>
                  <a:avLst/>
                  <a:gdLst>
                    <a:gd name="T0" fmla="*/ 0 w 36"/>
                    <a:gd name="T1" fmla="*/ 6 h 30"/>
                    <a:gd name="T2" fmla="*/ 6 w 36"/>
                    <a:gd name="T3" fmla="*/ 18 h 30"/>
                    <a:gd name="T4" fmla="*/ 24 w 36"/>
                    <a:gd name="T5" fmla="*/ 30 h 30"/>
                    <a:gd name="T6" fmla="*/ 36 w 36"/>
                    <a:gd name="T7" fmla="*/ 12 h 30"/>
                    <a:gd name="T8" fmla="*/ 24 w 36"/>
                    <a:gd name="T9" fmla="*/ 6 h 30"/>
                    <a:gd name="T10" fmla="*/ 24 w 36"/>
                    <a:gd name="T11" fmla="*/ 6 h 30"/>
                    <a:gd name="T12" fmla="*/ 0 w 36"/>
                    <a:gd name="T13" fmla="*/ 6 h 30"/>
                    <a:gd name="T14" fmla="*/ 24 w 36"/>
                    <a:gd name="T15" fmla="*/ 6 h 30"/>
                    <a:gd name="T16" fmla="*/ 24 w 36"/>
                    <a:gd name="T17" fmla="*/ 0 h 30"/>
                    <a:gd name="T18" fmla="*/ 24 w 36"/>
                    <a:gd name="T19" fmla="*/ 0 h 30"/>
                    <a:gd name="T20" fmla="*/ 12 w 36"/>
                    <a:gd name="T21" fmla="*/ 6 h 30"/>
                    <a:gd name="T22" fmla="*/ 24 w 36"/>
                    <a:gd name="T23"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30">
                      <a:moveTo>
                        <a:pt x="0" y="6"/>
                      </a:moveTo>
                      <a:lnTo>
                        <a:pt x="6" y="18"/>
                      </a:lnTo>
                      <a:lnTo>
                        <a:pt x="24" y="30"/>
                      </a:lnTo>
                      <a:lnTo>
                        <a:pt x="36" y="12"/>
                      </a:lnTo>
                      <a:lnTo>
                        <a:pt x="24" y="6"/>
                      </a:lnTo>
                      <a:lnTo>
                        <a:pt x="24" y="6"/>
                      </a:lnTo>
                      <a:lnTo>
                        <a:pt x="0" y="6"/>
                      </a:lnTo>
                      <a:close/>
                      <a:moveTo>
                        <a:pt x="24" y="6"/>
                      </a:moveTo>
                      <a:lnTo>
                        <a:pt x="24" y="0"/>
                      </a:lnTo>
                      <a:lnTo>
                        <a:pt x="24" y="0"/>
                      </a:lnTo>
                      <a:lnTo>
                        <a:pt x="12" y="6"/>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326" name="Freeform 253"/>
                <p:cNvSpPr>
                  <a:spLocks noEditPoints="1"/>
                </p:cNvSpPr>
                <p:nvPr/>
              </p:nvSpPr>
              <p:spPr bwMode="auto">
                <a:xfrm>
                  <a:off x="4573" y="2382"/>
                  <a:ext cx="36" cy="18"/>
                </a:xfrm>
                <a:custGeom>
                  <a:avLst/>
                  <a:gdLst>
                    <a:gd name="T0" fmla="*/ 6 w 36"/>
                    <a:gd name="T1" fmla="*/ 0 h 18"/>
                    <a:gd name="T2" fmla="*/ 6 w 36"/>
                    <a:gd name="T3" fmla="*/ 0 h 18"/>
                    <a:gd name="T4" fmla="*/ 0 w 36"/>
                    <a:gd name="T5" fmla="*/ 6 h 18"/>
                    <a:gd name="T6" fmla="*/ 18 w 36"/>
                    <a:gd name="T7" fmla="*/ 18 h 18"/>
                    <a:gd name="T8" fmla="*/ 18 w 36"/>
                    <a:gd name="T9" fmla="*/ 18 h 18"/>
                    <a:gd name="T10" fmla="*/ 6 w 36"/>
                    <a:gd name="T11" fmla="*/ 0 h 18"/>
                    <a:gd name="T12" fmla="*/ 18 w 36"/>
                    <a:gd name="T13" fmla="*/ 18 h 18"/>
                    <a:gd name="T14" fmla="*/ 36 w 36"/>
                    <a:gd name="T15" fmla="*/ 6 h 18"/>
                    <a:gd name="T16" fmla="*/ 18 w 36"/>
                    <a:gd name="T17" fmla="*/ 0 h 18"/>
                    <a:gd name="T18" fmla="*/ 12 w 36"/>
                    <a:gd name="T19" fmla="*/ 12 h 18"/>
                    <a:gd name="T20" fmla="*/ 18 w 36"/>
                    <a:gd name="T21"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8">
                      <a:moveTo>
                        <a:pt x="6" y="0"/>
                      </a:moveTo>
                      <a:lnTo>
                        <a:pt x="6" y="0"/>
                      </a:lnTo>
                      <a:lnTo>
                        <a:pt x="0" y="6"/>
                      </a:lnTo>
                      <a:lnTo>
                        <a:pt x="18" y="18"/>
                      </a:lnTo>
                      <a:lnTo>
                        <a:pt x="18" y="18"/>
                      </a:lnTo>
                      <a:lnTo>
                        <a:pt x="6" y="0"/>
                      </a:lnTo>
                      <a:close/>
                      <a:moveTo>
                        <a:pt x="18" y="18"/>
                      </a:moveTo>
                      <a:lnTo>
                        <a:pt x="36" y="6"/>
                      </a:lnTo>
                      <a:lnTo>
                        <a:pt x="18" y="0"/>
                      </a:lnTo>
                      <a:lnTo>
                        <a:pt x="12" y="12"/>
                      </a:lnTo>
                      <a:lnTo>
                        <a:pt x="18" y="18"/>
                      </a:lnTo>
                      <a:close/>
                    </a:path>
                  </a:pathLst>
                </a:custGeom>
                <a:solidFill>
                  <a:srgbClr val="00FF00"/>
                </a:solidFill>
                <a:ln w="9525">
                  <a:solidFill>
                    <a:srgbClr val="00FF00"/>
                  </a:solidFill>
                  <a:round/>
                  <a:headEnd/>
                  <a:tailEnd/>
                </a:ln>
              </p:spPr>
              <p:txBody>
                <a:bodyPr/>
                <a:lstStyle/>
                <a:p>
                  <a:endParaRPr lang="zh-CN" altLang="en-US"/>
                </a:p>
              </p:txBody>
            </p:sp>
            <p:sp>
              <p:nvSpPr>
                <p:cNvPr id="327" name="Freeform 254"/>
                <p:cNvSpPr>
                  <a:spLocks noEditPoints="1"/>
                </p:cNvSpPr>
                <p:nvPr/>
              </p:nvSpPr>
              <p:spPr bwMode="auto">
                <a:xfrm>
                  <a:off x="4543" y="2382"/>
                  <a:ext cx="48" cy="29"/>
                </a:xfrm>
                <a:custGeom>
                  <a:avLst/>
                  <a:gdLst>
                    <a:gd name="T0" fmla="*/ 36 w 48"/>
                    <a:gd name="T1" fmla="*/ 0 h 29"/>
                    <a:gd name="T2" fmla="*/ 30 w 48"/>
                    <a:gd name="T3" fmla="*/ 0 h 29"/>
                    <a:gd name="T4" fmla="*/ 24 w 48"/>
                    <a:gd name="T5" fmla="*/ 6 h 29"/>
                    <a:gd name="T6" fmla="*/ 0 w 48"/>
                    <a:gd name="T7" fmla="*/ 12 h 29"/>
                    <a:gd name="T8" fmla="*/ 18 w 48"/>
                    <a:gd name="T9" fmla="*/ 29 h 29"/>
                    <a:gd name="T10" fmla="*/ 18 w 48"/>
                    <a:gd name="T11" fmla="*/ 29 h 29"/>
                    <a:gd name="T12" fmla="*/ 30 w 48"/>
                    <a:gd name="T13" fmla="*/ 29 h 29"/>
                    <a:gd name="T14" fmla="*/ 36 w 48"/>
                    <a:gd name="T15" fmla="*/ 23 h 29"/>
                    <a:gd name="T16" fmla="*/ 42 w 48"/>
                    <a:gd name="T17" fmla="*/ 23 h 29"/>
                    <a:gd name="T18" fmla="*/ 36 w 48"/>
                    <a:gd name="T19" fmla="*/ 0 h 29"/>
                    <a:gd name="T20" fmla="*/ 42 w 48"/>
                    <a:gd name="T21" fmla="*/ 23 h 29"/>
                    <a:gd name="T22" fmla="*/ 48 w 48"/>
                    <a:gd name="T23" fmla="*/ 23 h 29"/>
                    <a:gd name="T24" fmla="*/ 48 w 48"/>
                    <a:gd name="T25" fmla="*/ 18 h 29"/>
                    <a:gd name="T26" fmla="*/ 42 w 48"/>
                    <a:gd name="T27" fmla="*/ 12 h 29"/>
                    <a:gd name="T28" fmla="*/ 42 w 48"/>
                    <a:gd name="T29"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29">
                      <a:moveTo>
                        <a:pt x="36" y="0"/>
                      </a:moveTo>
                      <a:lnTo>
                        <a:pt x="30" y="0"/>
                      </a:lnTo>
                      <a:lnTo>
                        <a:pt x="24" y="6"/>
                      </a:lnTo>
                      <a:lnTo>
                        <a:pt x="0" y="12"/>
                      </a:lnTo>
                      <a:lnTo>
                        <a:pt x="18" y="29"/>
                      </a:lnTo>
                      <a:lnTo>
                        <a:pt x="18" y="29"/>
                      </a:lnTo>
                      <a:lnTo>
                        <a:pt x="30" y="29"/>
                      </a:lnTo>
                      <a:lnTo>
                        <a:pt x="36" y="23"/>
                      </a:lnTo>
                      <a:lnTo>
                        <a:pt x="42" y="23"/>
                      </a:lnTo>
                      <a:lnTo>
                        <a:pt x="36" y="0"/>
                      </a:lnTo>
                      <a:close/>
                      <a:moveTo>
                        <a:pt x="42" y="23"/>
                      </a:moveTo>
                      <a:lnTo>
                        <a:pt x="48" y="23"/>
                      </a:lnTo>
                      <a:lnTo>
                        <a:pt x="48" y="18"/>
                      </a:lnTo>
                      <a:lnTo>
                        <a:pt x="42" y="12"/>
                      </a:lnTo>
                      <a:lnTo>
                        <a:pt x="42" y="23"/>
                      </a:lnTo>
                      <a:close/>
                    </a:path>
                  </a:pathLst>
                </a:custGeom>
                <a:solidFill>
                  <a:srgbClr val="00FF00"/>
                </a:solidFill>
                <a:ln w="9525">
                  <a:solidFill>
                    <a:srgbClr val="00FF00"/>
                  </a:solidFill>
                  <a:round/>
                  <a:headEnd/>
                  <a:tailEnd/>
                </a:ln>
              </p:spPr>
              <p:txBody>
                <a:bodyPr/>
                <a:lstStyle/>
                <a:p>
                  <a:endParaRPr lang="zh-CN" altLang="en-US"/>
                </a:p>
              </p:txBody>
            </p:sp>
            <p:sp>
              <p:nvSpPr>
                <p:cNvPr id="328" name="Freeform 255"/>
                <p:cNvSpPr>
                  <a:spLocks noEditPoints="1"/>
                </p:cNvSpPr>
                <p:nvPr/>
              </p:nvSpPr>
              <p:spPr bwMode="auto">
                <a:xfrm>
                  <a:off x="4537" y="2394"/>
                  <a:ext cx="30" cy="29"/>
                </a:xfrm>
                <a:custGeom>
                  <a:avLst/>
                  <a:gdLst>
                    <a:gd name="T0" fmla="*/ 6 w 30"/>
                    <a:gd name="T1" fmla="*/ 6 h 29"/>
                    <a:gd name="T2" fmla="*/ 0 w 30"/>
                    <a:gd name="T3" fmla="*/ 23 h 29"/>
                    <a:gd name="T4" fmla="*/ 24 w 30"/>
                    <a:gd name="T5" fmla="*/ 29 h 29"/>
                    <a:gd name="T6" fmla="*/ 30 w 30"/>
                    <a:gd name="T7" fmla="*/ 11 h 29"/>
                    <a:gd name="T8" fmla="*/ 6 w 30"/>
                    <a:gd name="T9" fmla="*/ 6 h 29"/>
                    <a:gd name="T10" fmla="*/ 6 w 30"/>
                    <a:gd name="T11" fmla="*/ 0 h 29"/>
                    <a:gd name="T12" fmla="*/ 6 w 30"/>
                    <a:gd name="T13" fmla="*/ 6 h 29"/>
                    <a:gd name="T14" fmla="*/ 6 w 30"/>
                    <a:gd name="T15" fmla="*/ 6 h 29"/>
                    <a:gd name="T16" fmla="*/ 18 w 30"/>
                    <a:gd name="T17" fmla="*/ 11 h 29"/>
                    <a:gd name="T18" fmla="*/ 6 w 30"/>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29">
                      <a:moveTo>
                        <a:pt x="6" y="6"/>
                      </a:moveTo>
                      <a:lnTo>
                        <a:pt x="0" y="23"/>
                      </a:lnTo>
                      <a:lnTo>
                        <a:pt x="24" y="29"/>
                      </a:lnTo>
                      <a:lnTo>
                        <a:pt x="30" y="11"/>
                      </a:lnTo>
                      <a:lnTo>
                        <a:pt x="6" y="6"/>
                      </a:lnTo>
                      <a:close/>
                      <a:moveTo>
                        <a:pt x="6" y="0"/>
                      </a:moveTo>
                      <a:lnTo>
                        <a:pt x="6" y="6"/>
                      </a:lnTo>
                      <a:lnTo>
                        <a:pt x="6" y="6"/>
                      </a:lnTo>
                      <a:lnTo>
                        <a:pt x="18" y="11"/>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329" name="Freeform 256"/>
                <p:cNvSpPr>
                  <a:spLocks/>
                </p:cNvSpPr>
                <p:nvPr/>
              </p:nvSpPr>
              <p:spPr bwMode="auto">
                <a:xfrm>
                  <a:off x="4537" y="2417"/>
                  <a:ext cx="12" cy="12"/>
                </a:xfrm>
                <a:custGeom>
                  <a:avLst/>
                  <a:gdLst>
                    <a:gd name="T0" fmla="*/ 0 w 12"/>
                    <a:gd name="T1" fmla="*/ 0 h 12"/>
                    <a:gd name="T2" fmla="*/ 0 w 12"/>
                    <a:gd name="T3" fmla="*/ 6 h 12"/>
                    <a:gd name="T4" fmla="*/ 6 w 12"/>
                    <a:gd name="T5" fmla="*/ 12 h 12"/>
                    <a:gd name="T6" fmla="*/ 12 w 12"/>
                    <a:gd name="T7" fmla="*/ 0 h 12"/>
                    <a:gd name="T8" fmla="*/ 0 w 12"/>
                    <a:gd name="T9" fmla="*/ 0 h 12"/>
                  </a:gdLst>
                  <a:ahLst/>
                  <a:cxnLst>
                    <a:cxn ang="0">
                      <a:pos x="T0" y="T1"/>
                    </a:cxn>
                    <a:cxn ang="0">
                      <a:pos x="T2" y="T3"/>
                    </a:cxn>
                    <a:cxn ang="0">
                      <a:pos x="T4" y="T5"/>
                    </a:cxn>
                    <a:cxn ang="0">
                      <a:pos x="T6" y="T7"/>
                    </a:cxn>
                    <a:cxn ang="0">
                      <a:pos x="T8" y="T9"/>
                    </a:cxn>
                  </a:cxnLst>
                  <a:rect l="0" t="0" r="r" b="b"/>
                  <a:pathLst>
                    <a:path w="12" h="12">
                      <a:moveTo>
                        <a:pt x="0" y="0"/>
                      </a:moveTo>
                      <a:lnTo>
                        <a:pt x="0" y="6"/>
                      </a:lnTo>
                      <a:lnTo>
                        <a:pt x="6" y="12"/>
                      </a:lnTo>
                      <a:lnTo>
                        <a:pt x="12" y="0"/>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330" name="Freeform 257"/>
                <p:cNvSpPr>
                  <a:spLocks/>
                </p:cNvSpPr>
                <p:nvPr/>
              </p:nvSpPr>
              <p:spPr bwMode="auto">
                <a:xfrm>
                  <a:off x="4495" y="2411"/>
                  <a:ext cx="48" cy="18"/>
                </a:xfrm>
                <a:custGeom>
                  <a:avLst/>
                  <a:gdLst>
                    <a:gd name="T0" fmla="*/ 48 w 48"/>
                    <a:gd name="T1" fmla="*/ 18 h 18"/>
                    <a:gd name="T2" fmla="*/ 42 w 48"/>
                    <a:gd name="T3" fmla="*/ 18 h 18"/>
                    <a:gd name="T4" fmla="*/ 30 w 48"/>
                    <a:gd name="T5" fmla="*/ 18 h 18"/>
                    <a:gd name="T6" fmla="*/ 30 w 48"/>
                    <a:gd name="T7" fmla="*/ 18 h 18"/>
                    <a:gd name="T8" fmla="*/ 24 w 48"/>
                    <a:gd name="T9" fmla="*/ 12 h 18"/>
                    <a:gd name="T10" fmla="*/ 18 w 48"/>
                    <a:gd name="T11" fmla="*/ 6 h 18"/>
                    <a:gd name="T12" fmla="*/ 18 w 48"/>
                    <a:gd name="T13" fmla="*/ 6 h 18"/>
                    <a:gd name="T14" fmla="*/ 18 w 48"/>
                    <a:gd name="T15" fmla="*/ 6 h 18"/>
                    <a:gd name="T16" fmla="*/ 12 w 48"/>
                    <a:gd name="T17" fmla="*/ 6 h 18"/>
                    <a:gd name="T18" fmla="*/ 12 w 48"/>
                    <a:gd name="T19" fmla="*/ 6 h 18"/>
                    <a:gd name="T20" fmla="*/ 12 w 48"/>
                    <a:gd name="T21" fmla="*/ 6 h 18"/>
                    <a:gd name="T22" fmla="*/ 6 w 48"/>
                    <a:gd name="T23" fmla="*/ 0 h 18"/>
                    <a:gd name="T24" fmla="*/ 6 w 48"/>
                    <a:gd name="T25" fmla="*/ 0 h 18"/>
                    <a:gd name="T26" fmla="*/ 6 w 48"/>
                    <a:gd name="T27" fmla="*/ 0 h 18"/>
                    <a:gd name="T28" fmla="*/ 0 w 48"/>
                    <a:gd name="T29" fmla="*/ 0 h 18"/>
                    <a:gd name="T30" fmla="*/ 6 w 48"/>
                    <a:gd name="T31" fmla="*/ 0 h 18"/>
                    <a:gd name="T32" fmla="*/ 6 w 48"/>
                    <a:gd name="T33" fmla="*/ 0 h 18"/>
                    <a:gd name="T34" fmla="*/ 12 w 48"/>
                    <a:gd name="T35" fmla="*/ 0 h 18"/>
                    <a:gd name="T36" fmla="*/ 12 w 48"/>
                    <a:gd name="T37" fmla="*/ 0 h 18"/>
                    <a:gd name="T38" fmla="*/ 18 w 48"/>
                    <a:gd name="T39" fmla="*/ 6 h 18"/>
                    <a:gd name="T40" fmla="*/ 18 w 48"/>
                    <a:gd name="T41" fmla="*/ 6 h 18"/>
                    <a:gd name="T42" fmla="*/ 24 w 48"/>
                    <a:gd name="T43" fmla="*/ 12 h 18"/>
                    <a:gd name="T44" fmla="*/ 30 w 48"/>
                    <a:gd name="T45" fmla="*/ 12 h 18"/>
                    <a:gd name="T46" fmla="*/ 30 w 48"/>
                    <a:gd name="T47" fmla="*/ 12 h 18"/>
                    <a:gd name="T48" fmla="*/ 36 w 48"/>
                    <a:gd name="T49" fmla="*/ 12 h 18"/>
                    <a:gd name="T50" fmla="*/ 42 w 48"/>
                    <a:gd name="T51" fmla="*/ 12 h 18"/>
                    <a:gd name="T52" fmla="*/ 42 w 48"/>
                    <a:gd name="T53" fmla="*/ 12 h 18"/>
                    <a:gd name="T54" fmla="*/ 48 w 48"/>
                    <a:gd name="T55" fmla="*/ 18 h 18"/>
                    <a:gd name="T56" fmla="*/ 48 w 48"/>
                    <a:gd name="T5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 h="18">
                      <a:moveTo>
                        <a:pt x="48" y="18"/>
                      </a:moveTo>
                      <a:lnTo>
                        <a:pt x="42" y="18"/>
                      </a:lnTo>
                      <a:lnTo>
                        <a:pt x="30" y="18"/>
                      </a:lnTo>
                      <a:lnTo>
                        <a:pt x="30" y="18"/>
                      </a:lnTo>
                      <a:lnTo>
                        <a:pt x="24" y="12"/>
                      </a:lnTo>
                      <a:lnTo>
                        <a:pt x="18" y="6"/>
                      </a:lnTo>
                      <a:lnTo>
                        <a:pt x="18" y="6"/>
                      </a:lnTo>
                      <a:lnTo>
                        <a:pt x="18" y="6"/>
                      </a:lnTo>
                      <a:lnTo>
                        <a:pt x="12" y="6"/>
                      </a:lnTo>
                      <a:lnTo>
                        <a:pt x="12" y="6"/>
                      </a:lnTo>
                      <a:lnTo>
                        <a:pt x="12" y="6"/>
                      </a:lnTo>
                      <a:lnTo>
                        <a:pt x="6" y="0"/>
                      </a:lnTo>
                      <a:lnTo>
                        <a:pt x="6" y="0"/>
                      </a:lnTo>
                      <a:lnTo>
                        <a:pt x="6" y="0"/>
                      </a:lnTo>
                      <a:lnTo>
                        <a:pt x="0" y="0"/>
                      </a:lnTo>
                      <a:lnTo>
                        <a:pt x="6" y="0"/>
                      </a:lnTo>
                      <a:lnTo>
                        <a:pt x="6" y="0"/>
                      </a:lnTo>
                      <a:lnTo>
                        <a:pt x="12" y="0"/>
                      </a:lnTo>
                      <a:lnTo>
                        <a:pt x="12" y="0"/>
                      </a:lnTo>
                      <a:lnTo>
                        <a:pt x="18" y="6"/>
                      </a:lnTo>
                      <a:lnTo>
                        <a:pt x="18" y="6"/>
                      </a:lnTo>
                      <a:lnTo>
                        <a:pt x="24" y="12"/>
                      </a:lnTo>
                      <a:lnTo>
                        <a:pt x="30" y="12"/>
                      </a:lnTo>
                      <a:lnTo>
                        <a:pt x="30" y="12"/>
                      </a:lnTo>
                      <a:lnTo>
                        <a:pt x="36" y="12"/>
                      </a:lnTo>
                      <a:lnTo>
                        <a:pt x="42" y="12"/>
                      </a:lnTo>
                      <a:lnTo>
                        <a:pt x="42" y="12"/>
                      </a:lnTo>
                      <a:lnTo>
                        <a:pt x="48" y="18"/>
                      </a:lnTo>
                      <a:lnTo>
                        <a:pt x="48" y="18"/>
                      </a:lnTo>
                      <a:close/>
                    </a:path>
                  </a:pathLst>
                </a:custGeom>
                <a:solidFill>
                  <a:srgbClr val="00FF00"/>
                </a:solidFill>
                <a:ln w="9525">
                  <a:solidFill>
                    <a:srgbClr val="00FF00"/>
                  </a:solidFill>
                  <a:round/>
                  <a:headEnd/>
                  <a:tailEnd/>
                </a:ln>
              </p:spPr>
              <p:txBody>
                <a:bodyPr/>
                <a:lstStyle/>
                <a:p>
                  <a:endParaRPr lang="zh-CN" altLang="en-US"/>
                </a:p>
              </p:txBody>
            </p:sp>
            <p:sp>
              <p:nvSpPr>
                <p:cNvPr id="331" name="Freeform 258"/>
                <p:cNvSpPr>
                  <a:spLocks/>
                </p:cNvSpPr>
                <p:nvPr/>
              </p:nvSpPr>
              <p:spPr bwMode="auto">
                <a:xfrm>
                  <a:off x="4519" y="2417"/>
                  <a:ext cx="24" cy="24"/>
                </a:xfrm>
                <a:custGeom>
                  <a:avLst/>
                  <a:gdLst>
                    <a:gd name="T0" fmla="*/ 18 w 24"/>
                    <a:gd name="T1" fmla="*/ 0 h 24"/>
                    <a:gd name="T2" fmla="*/ 18 w 24"/>
                    <a:gd name="T3" fmla="*/ 0 h 24"/>
                    <a:gd name="T4" fmla="*/ 18 w 24"/>
                    <a:gd name="T5" fmla="*/ 0 h 24"/>
                    <a:gd name="T6" fmla="*/ 12 w 24"/>
                    <a:gd name="T7" fmla="*/ 0 h 24"/>
                    <a:gd name="T8" fmla="*/ 18 w 24"/>
                    <a:gd name="T9" fmla="*/ 6 h 24"/>
                    <a:gd name="T10" fmla="*/ 0 w 24"/>
                    <a:gd name="T11" fmla="*/ 18 h 24"/>
                    <a:gd name="T12" fmla="*/ 12 w 24"/>
                    <a:gd name="T13" fmla="*/ 24 h 24"/>
                    <a:gd name="T14" fmla="*/ 18 w 24"/>
                    <a:gd name="T15" fmla="*/ 24 h 24"/>
                    <a:gd name="T16" fmla="*/ 24 w 24"/>
                    <a:gd name="T17" fmla="*/ 24 h 24"/>
                    <a:gd name="T18" fmla="*/ 18 w 24"/>
                    <a:gd name="T19"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8" y="0"/>
                      </a:moveTo>
                      <a:lnTo>
                        <a:pt x="18" y="0"/>
                      </a:lnTo>
                      <a:lnTo>
                        <a:pt x="18" y="0"/>
                      </a:lnTo>
                      <a:lnTo>
                        <a:pt x="12" y="0"/>
                      </a:lnTo>
                      <a:lnTo>
                        <a:pt x="18" y="6"/>
                      </a:lnTo>
                      <a:lnTo>
                        <a:pt x="0" y="18"/>
                      </a:lnTo>
                      <a:lnTo>
                        <a:pt x="12" y="24"/>
                      </a:lnTo>
                      <a:lnTo>
                        <a:pt x="18" y="24"/>
                      </a:lnTo>
                      <a:lnTo>
                        <a:pt x="24" y="24"/>
                      </a:lnTo>
                      <a:lnTo>
                        <a:pt x="18" y="0"/>
                      </a:lnTo>
                      <a:close/>
                    </a:path>
                  </a:pathLst>
                </a:custGeom>
                <a:solidFill>
                  <a:srgbClr val="00FF00"/>
                </a:solidFill>
                <a:ln w="9525">
                  <a:solidFill>
                    <a:srgbClr val="00FF00"/>
                  </a:solidFill>
                  <a:round/>
                  <a:headEnd/>
                  <a:tailEnd/>
                </a:ln>
              </p:spPr>
              <p:txBody>
                <a:bodyPr/>
                <a:lstStyle/>
                <a:p>
                  <a:endParaRPr lang="zh-CN" altLang="en-US"/>
                </a:p>
              </p:txBody>
            </p:sp>
            <p:sp>
              <p:nvSpPr>
                <p:cNvPr id="332" name="Freeform 259"/>
                <p:cNvSpPr>
                  <a:spLocks noEditPoints="1"/>
                </p:cNvSpPr>
                <p:nvPr/>
              </p:nvSpPr>
              <p:spPr bwMode="auto">
                <a:xfrm>
                  <a:off x="4513" y="2417"/>
                  <a:ext cx="24" cy="24"/>
                </a:xfrm>
                <a:custGeom>
                  <a:avLst/>
                  <a:gdLst>
                    <a:gd name="T0" fmla="*/ 12 w 24"/>
                    <a:gd name="T1" fmla="*/ 0 h 24"/>
                    <a:gd name="T2" fmla="*/ 12 w 24"/>
                    <a:gd name="T3" fmla="*/ 0 h 24"/>
                    <a:gd name="T4" fmla="*/ 18 w 24"/>
                    <a:gd name="T5" fmla="*/ 6 h 24"/>
                    <a:gd name="T6" fmla="*/ 0 w 24"/>
                    <a:gd name="T7" fmla="*/ 18 h 24"/>
                    <a:gd name="T8" fmla="*/ 6 w 24"/>
                    <a:gd name="T9" fmla="*/ 24 h 24"/>
                    <a:gd name="T10" fmla="*/ 12 w 24"/>
                    <a:gd name="T11" fmla="*/ 24 h 24"/>
                    <a:gd name="T12" fmla="*/ 18 w 24"/>
                    <a:gd name="T13" fmla="*/ 24 h 24"/>
                    <a:gd name="T14" fmla="*/ 12 w 24"/>
                    <a:gd name="T15" fmla="*/ 0 h 24"/>
                    <a:gd name="T16" fmla="*/ 24 w 24"/>
                    <a:gd name="T17" fmla="*/ 6 h 24"/>
                    <a:gd name="T18" fmla="*/ 18 w 24"/>
                    <a:gd name="T19" fmla="*/ 0 h 24"/>
                    <a:gd name="T20" fmla="*/ 12 w 24"/>
                    <a:gd name="T21" fmla="*/ 0 h 24"/>
                    <a:gd name="T22" fmla="*/ 12 w 24"/>
                    <a:gd name="T23" fmla="*/ 12 h 24"/>
                    <a:gd name="T24" fmla="*/ 24 w 24"/>
                    <a:gd name="T25"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12" y="0"/>
                      </a:moveTo>
                      <a:lnTo>
                        <a:pt x="12" y="0"/>
                      </a:lnTo>
                      <a:lnTo>
                        <a:pt x="18" y="6"/>
                      </a:lnTo>
                      <a:lnTo>
                        <a:pt x="0" y="18"/>
                      </a:lnTo>
                      <a:lnTo>
                        <a:pt x="6" y="24"/>
                      </a:lnTo>
                      <a:lnTo>
                        <a:pt x="12" y="24"/>
                      </a:lnTo>
                      <a:lnTo>
                        <a:pt x="18" y="24"/>
                      </a:lnTo>
                      <a:lnTo>
                        <a:pt x="12" y="0"/>
                      </a:lnTo>
                      <a:close/>
                      <a:moveTo>
                        <a:pt x="24" y="6"/>
                      </a:moveTo>
                      <a:lnTo>
                        <a:pt x="18" y="0"/>
                      </a:lnTo>
                      <a:lnTo>
                        <a:pt x="12" y="0"/>
                      </a:lnTo>
                      <a:lnTo>
                        <a:pt x="12" y="12"/>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333" name="Freeform 260"/>
                <p:cNvSpPr>
                  <a:spLocks noEditPoints="1"/>
                </p:cNvSpPr>
                <p:nvPr/>
              </p:nvSpPr>
              <p:spPr bwMode="auto">
                <a:xfrm>
                  <a:off x="4501" y="2411"/>
                  <a:ext cx="30" cy="24"/>
                </a:xfrm>
                <a:custGeom>
                  <a:avLst/>
                  <a:gdLst>
                    <a:gd name="T0" fmla="*/ 30 w 30"/>
                    <a:gd name="T1" fmla="*/ 6 h 24"/>
                    <a:gd name="T2" fmla="*/ 24 w 30"/>
                    <a:gd name="T3" fmla="*/ 0 h 24"/>
                    <a:gd name="T4" fmla="*/ 24 w 30"/>
                    <a:gd name="T5" fmla="*/ 6 h 24"/>
                    <a:gd name="T6" fmla="*/ 24 w 30"/>
                    <a:gd name="T7" fmla="*/ 12 h 24"/>
                    <a:gd name="T8" fmla="*/ 0 w 30"/>
                    <a:gd name="T9" fmla="*/ 6 h 24"/>
                    <a:gd name="T10" fmla="*/ 6 w 30"/>
                    <a:gd name="T11" fmla="*/ 18 h 24"/>
                    <a:gd name="T12" fmla="*/ 12 w 30"/>
                    <a:gd name="T13" fmla="*/ 24 h 24"/>
                    <a:gd name="T14" fmla="*/ 18 w 30"/>
                    <a:gd name="T15" fmla="*/ 24 h 24"/>
                    <a:gd name="T16" fmla="*/ 30 w 30"/>
                    <a:gd name="T17" fmla="*/ 6 h 24"/>
                    <a:gd name="T18" fmla="*/ 30 w 30"/>
                    <a:gd name="T19" fmla="*/ 12 h 24"/>
                    <a:gd name="T20" fmla="*/ 30 w 30"/>
                    <a:gd name="T21" fmla="*/ 6 h 24"/>
                    <a:gd name="T22" fmla="*/ 30 w 30"/>
                    <a:gd name="T23" fmla="*/ 6 h 24"/>
                    <a:gd name="T24" fmla="*/ 24 w 30"/>
                    <a:gd name="T25" fmla="*/ 18 h 24"/>
                    <a:gd name="T26" fmla="*/ 30 w 30"/>
                    <a:gd name="T27"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24">
                      <a:moveTo>
                        <a:pt x="30" y="6"/>
                      </a:moveTo>
                      <a:lnTo>
                        <a:pt x="24" y="0"/>
                      </a:lnTo>
                      <a:lnTo>
                        <a:pt x="24" y="6"/>
                      </a:lnTo>
                      <a:lnTo>
                        <a:pt x="24" y="12"/>
                      </a:lnTo>
                      <a:lnTo>
                        <a:pt x="0" y="6"/>
                      </a:lnTo>
                      <a:lnTo>
                        <a:pt x="6" y="18"/>
                      </a:lnTo>
                      <a:lnTo>
                        <a:pt x="12" y="24"/>
                      </a:lnTo>
                      <a:lnTo>
                        <a:pt x="18" y="24"/>
                      </a:lnTo>
                      <a:lnTo>
                        <a:pt x="30" y="6"/>
                      </a:lnTo>
                      <a:close/>
                      <a:moveTo>
                        <a:pt x="30" y="12"/>
                      </a:moveTo>
                      <a:lnTo>
                        <a:pt x="30" y="6"/>
                      </a:lnTo>
                      <a:lnTo>
                        <a:pt x="30" y="6"/>
                      </a:lnTo>
                      <a:lnTo>
                        <a:pt x="24" y="18"/>
                      </a:lnTo>
                      <a:lnTo>
                        <a:pt x="30" y="12"/>
                      </a:lnTo>
                      <a:close/>
                    </a:path>
                  </a:pathLst>
                </a:custGeom>
                <a:solidFill>
                  <a:srgbClr val="00FF00"/>
                </a:solidFill>
                <a:ln w="9525">
                  <a:solidFill>
                    <a:srgbClr val="00FF00"/>
                  </a:solidFill>
                  <a:round/>
                  <a:headEnd/>
                  <a:tailEnd/>
                </a:ln>
              </p:spPr>
              <p:txBody>
                <a:bodyPr/>
                <a:lstStyle/>
                <a:p>
                  <a:endParaRPr lang="zh-CN" altLang="en-US"/>
                </a:p>
              </p:txBody>
            </p:sp>
            <p:sp>
              <p:nvSpPr>
                <p:cNvPr id="334" name="Freeform 261"/>
                <p:cNvSpPr>
                  <a:spLocks noEditPoints="1"/>
                </p:cNvSpPr>
                <p:nvPr/>
              </p:nvSpPr>
              <p:spPr bwMode="auto">
                <a:xfrm>
                  <a:off x="4507" y="2405"/>
                  <a:ext cx="18" cy="24"/>
                </a:xfrm>
                <a:custGeom>
                  <a:avLst/>
                  <a:gdLst>
                    <a:gd name="T0" fmla="*/ 6 w 18"/>
                    <a:gd name="T1" fmla="*/ 0 h 24"/>
                    <a:gd name="T2" fmla="*/ 6 w 18"/>
                    <a:gd name="T3" fmla="*/ 0 h 24"/>
                    <a:gd name="T4" fmla="*/ 6 w 18"/>
                    <a:gd name="T5" fmla="*/ 0 h 24"/>
                    <a:gd name="T6" fmla="*/ 0 w 18"/>
                    <a:gd name="T7" fmla="*/ 24 h 24"/>
                    <a:gd name="T8" fmla="*/ 6 w 18"/>
                    <a:gd name="T9" fmla="*/ 24 h 24"/>
                    <a:gd name="T10" fmla="*/ 6 w 18"/>
                    <a:gd name="T11" fmla="*/ 24 h 24"/>
                    <a:gd name="T12" fmla="*/ 6 w 18"/>
                    <a:gd name="T13" fmla="*/ 0 h 24"/>
                    <a:gd name="T14" fmla="*/ 18 w 18"/>
                    <a:gd name="T15" fmla="*/ 18 h 24"/>
                    <a:gd name="T16" fmla="*/ 18 w 18"/>
                    <a:gd name="T17" fmla="*/ 6 h 24"/>
                    <a:gd name="T18" fmla="*/ 6 w 18"/>
                    <a:gd name="T19" fmla="*/ 0 h 24"/>
                    <a:gd name="T20" fmla="*/ 6 w 18"/>
                    <a:gd name="T21" fmla="*/ 12 h 24"/>
                    <a:gd name="T22" fmla="*/ 18 w 18"/>
                    <a:gd name="T23" fmla="*/ 1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6" y="0"/>
                      </a:moveTo>
                      <a:lnTo>
                        <a:pt x="6" y="0"/>
                      </a:lnTo>
                      <a:lnTo>
                        <a:pt x="6" y="0"/>
                      </a:lnTo>
                      <a:lnTo>
                        <a:pt x="0" y="24"/>
                      </a:lnTo>
                      <a:lnTo>
                        <a:pt x="6" y="24"/>
                      </a:lnTo>
                      <a:lnTo>
                        <a:pt x="6" y="24"/>
                      </a:lnTo>
                      <a:lnTo>
                        <a:pt x="6" y="0"/>
                      </a:lnTo>
                      <a:close/>
                      <a:moveTo>
                        <a:pt x="18" y="18"/>
                      </a:moveTo>
                      <a:lnTo>
                        <a:pt x="18" y="6"/>
                      </a:lnTo>
                      <a:lnTo>
                        <a:pt x="6" y="0"/>
                      </a:lnTo>
                      <a:lnTo>
                        <a:pt x="6" y="12"/>
                      </a:lnTo>
                      <a:lnTo>
                        <a:pt x="18" y="18"/>
                      </a:lnTo>
                      <a:close/>
                    </a:path>
                  </a:pathLst>
                </a:custGeom>
                <a:solidFill>
                  <a:srgbClr val="00FF00"/>
                </a:solidFill>
                <a:ln w="9525">
                  <a:solidFill>
                    <a:srgbClr val="00FF00"/>
                  </a:solidFill>
                  <a:round/>
                  <a:headEnd/>
                  <a:tailEnd/>
                </a:ln>
              </p:spPr>
              <p:txBody>
                <a:bodyPr/>
                <a:lstStyle/>
                <a:p>
                  <a:endParaRPr lang="zh-CN" altLang="en-US"/>
                </a:p>
              </p:txBody>
            </p:sp>
            <p:sp>
              <p:nvSpPr>
                <p:cNvPr id="335" name="Freeform 262"/>
                <p:cNvSpPr>
                  <a:spLocks noEditPoints="1"/>
                </p:cNvSpPr>
                <p:nvPr/>
              </p:nvSpPr>
              <p:spPr bwMode="auto">
                <a:xfrm>
                  <a:off x="4501" y="2405"/>
                  <a:ext cx="18" cy="24"/>
                </a:xfrm>
                <a:custGeom>
                  <a:avLst/>
                  <a:gdLst>
                    <a:gd name="T0" fmla="*/ 18 w 18"/>
                    <a:gd name="T1" fmla="*/ 6 h 24"/>
                    <a:gd name="T2" fmla="*/ 18 w 18"/>
                    <a:gd name="T3" fmla="*/ 6 h 24"/>
                    <a:gd name="T4" fmla="*/ 12 w 18"/>
                    <a:gd name="T5" fmla="*/ 0 h 24"/>
                    <a:gd name="T6" fmla="*/ 6 w 18"/>
                    <a:gd name="T7" fmla="*/ 24 h 24"/>
                    <a:gd name="T8" fmla="*/ 6 w 18"/>
                    <a:gd name="T9" fmla="*/ 24 h 24"/>
                    <a:gd name="T10" fmla="*/ 0 w 18"/>
                    <a:gd name="T11" fmla="*/ 24 h 24"/>
                    <a:gd name="T12" fmla="*/ 18 w 18"/>
                    <a:gd name="T13" fmla="*/ 6 h 24"/>
                    <a:gd name="T14" fmla="*/ 0 w 18"/>
                    <a:gd name="T15" fmla="*/ 24 h 24"/>
                    <a:gd name="T16" fmla="*/ 6 w 18"/>
                    <a:gd name="T17" fmla="*/ 24 h 24"/>
                    <a:gd name="T18" fmla="*/ 6 w 18"/>
                    <a:gd name="T19" fmla="*/ 24 h 24"/>
                    <a:gd name="T20" fmla="*/ 12 w 18"/>
                    <a:gd name="T21" fmla="*/ 12 h 24"/>
                    <a:gd name="T22" fmla="*/ 0 w 18"/>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18" y="6"/>
                      </a:moveTo>
                      <a:lnTo>
                        <a:pt x="18" y="6"/>
                      </a:lnTo>
                      <a:lnTo>
                        <a:pt x="12" y="0"/>
                      </a:lnTo>
                      <a:lnTo>
                        <a:pt x="6" y="24"/>
                      </a:lnTo>
                      <a:lnTo>
                        <a:pt x="6" y="24"/>
                      </a:lnTo>
                      <a:lnTo>
                        <a:pt x="0" y="24"/>
                      </a:lnTo>
                      <a:lnTo>
                        <a:pt x="18" y="6"/>
                      </a:lnTo>
                      <a:close/>
                      <a:moveTo>
                        <a:pt x="0" y="24"/>
                      </a:moveTo>
                      <a:lnTo>
                        <a:pt x="6" y="24"/>
                      </a:lnTo>
                      <a:lnTo>
                        <a:pt x="6" y="24"/>
                      </a:lnTo>
                      <a:lnTo>
                        <a:pt x="12" y="12"/>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336" name="Freeform 263"/>
                <p:cNvSpPr>
                  <a:spLocks noEditPoints="1"/>
                </p:cNvSpPr>
                <p:nvPr/>
              </p:nvSpPr>
              <p:spPr bwMode="auto">
                <a:xfrm>
                  <a:off x="4501" y="2405"/>
                  <a:ext cx="12" cy="24"/>
                </a:xfrm>
                <a:custGeom>
                  <a:avLst/>
                  <a:gdLst>
                    <a:gd name="T0" fmla="*/ 6 w 12"/>
                    <a:gd name="T1" fmla="*/ 0 h 24"/>
                    <a:gd name="T2" fmla="*/ 6 w 12"/>
                    <a:gd name="T3" fmla="*/ 0 h 24"/>
                    <a:gd name="T4" fmla="*/ 6 w 12"/>
                    <a:gd name="T5" fmla="*/ 0 h 24"/>
                    <a:gd name="T6" fmla="*/ 0 w 12"/>
                    <a:gd name="T7" fmla="*/ 24 h 24"/>
                    <a:gd name="T8" fmla="*/ 6 w 12"/>
                    <a:gd name="T9" fmla="*/ 24 h 24"/>
                    <a:gd name="T10" fmla="*/ 6 w 12"/>
                    <a:gd name="T11" fmla="*/ 24 h 24"/>
                    <a:gd name="T12" fmla="*/ 6 w 12"/>
                    <a:gd name="T13" fmla="*/ 0 h 24"/>
                    <a:gd name="T14" fmla="*/ 12 w 12"/>
                    <a:gd name="T15" fmla="*/ 0 h 24"/>
                    <a:gd name="T16" fmla="*/ 12 w 12"/>
                    <a:gd name="T17" fmla="*/ 0 h 24"/>
                    <a:gd name="T18" fmla="*/ 6 w 12"/>
                    <a:gd name="T19" fmla="*/ 0 h 24"/>
                    <a:gd name="T20" fmla="*/ 6 w 12"/>
                    <a:gd name="T21" fmla="*/ 12 h 24"/>
                    <a:gd name="T22" fmla="*/ 12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6" y="0"/>
                      </a:moveTo>
                      <a:lnTo>
                        <a:pt x="6" y="0"/>
                      </a:lnTo>
                      <a:lnTo>
                        <a:pt x="6" y="0"/>
                      </a:lnTo>
                      <a:lnTo>
                        <a:pt x="0" y="24"/>
                      </a:lnTo>
                      <a:lnTo>
                        <a:pt x="6" y="24"/>
                      </a:lnTo>
                      <a:lnTo>
                        <a:pt x="6" y="24"/>
                      </a:lnTo>
                      <a:lnTo>
                        <a:pt x="6" y="0"/>
                      </a:lnTo>
                      <a:close/>
                      <a:moveTo>
                        <a:pt x="12" y="0"/>
                      </a:moveTo>
                      <a:lnTo>
                        <a:pt x="12" y="0"/>
                      </a:lnTo>
                      <a:lnTo>
                        <a:pt x="6" y="0"/>
                      </a:lnTo>
                      <a:lnTo>
                        <a:pt x="6"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337" name="Freeform 264"/>
                <p:cNvSpPr>
                  <a:spLocks noEditPoints="1"/>
                </p:cNvSpPr>
                <p:nvPr/>
              </p:nvSpPr>
              <p:spPr bwMode="auto">
                <a:xfrm>
                  <a:off x="4495" y="2405"/>
                  <a:ext cx="12" cy="18"/>
                </a:xfrm>
                <a:custGeom>
                  <a:avLst/>
                  <a:gdLst>
                    <a:gd name="T0" fmla="*/ 12 w 12"/>
                    <a:gd name="T1" fmla="*/ 0 h 18"/>
                    <a:gd name="T2" fmla="*/ 12 w 12"/>
                    <a:gd name="T3" fmla="*/ 0 h 18"/>
                    <a:gd name="T4" fmla="*/ 12 w 12"/>
                    <a:gd name="T5" fmla="*/ 0 h 18"/>
                    <a:gd name="T6" fmla="*/ 12 w 12"/>
                    <a:gd name="T7" fmla="*/ 0 h 18"/>
                    <a:gd name="T8" fmla="*/ 12 w 12"/>
                    <a:gd name="T9" fmla="*/ 0 h 18"/>
                    <a:gd name="T10" fmla="*/ 12 w 12"/>
                    <a:gd name="T11" fmla="*/ 0 h 18"/>
                    <a:gd name="T12" fmla="*/ 12 w 12"/>
                    <a:gd name="T13" fmla="*/ 0 h 18"/>
                    <a:gd name="T14" fmla="*/ 12 w 12"/>
                    <a:gd name="T15" fmla="*/ 0 h 18"/>
                    <a:gd name="T16" fmla="*/ 12 w 12"/>
                    <a:gd name="T17" fmla="*/ 0 h 18"/>
                    <a:gd name="T18" fmla="*/ 6 w 12"/>
                    <a:gd name="T19" fmla="*/ 18 h 18"/>
                    <a:gd name="T20" fmla="*/ 0 w 12"/>
                    <a:gd name="T21" fmla="*/ 18 h 18"/>
                    <a:gd name="T22" fmla="*/ 0 w 12"/>
                    <a:gd name="T23" fmla="*/ 18 h 18"/>
                    <a:gd name="T24" fmla="*/ 0 w 12"/>
                    <a:gd name="T25" fmla="*/ 18 h 18"/>
                    <a:gd name="T26" fmla="*/ 0 w 12"/>
                    <a:gd name="T27" fmla="*/ 18 h 18"/>
                    <a:gd name="T28" fmla="*/ 6 w 12"/>
                    <a:gd name="T29" fmla="*/ 18 h 18"/>
                    <a:gd name="T30" fmla="*/ 6 w 12"/>
                    <a:gd name="T31" fmla="*/ 18 h 18"/>
                    <a:gd name="T32" fmla="*/ 6 w 12"/>
                    <a:gd name="T33" fmla="*/ 18 h 18"/>
                    <a:gd name="T34" fmla="*/ 6 w 12"/>
                    <a:gd name="T35" fmla="*/ 18 h 18"/>
                    <a:gd name="T36" fmla="*/ 12 w 12"/>
                    <a:gd name="T37" fmla="*/ 0 h 18"/>
                    <a:gd name="T38" fmla="*/ 12 w 12"/>
                    <a:gd name="T39" fmla="*/ 0 h 18"/>
                    <a:gd name="T40" fmla="*/ 12 w 12"/>
                    <a:gd name="T41" fmla="*/ 0 h 18"/>
                    <a:gd name="T42" fmla="*/ 12 w 12"/>
                    <a:gd name="T43" fmla="*/ 0 h 18"/>
                    <a:gd name="T44" fmla="*/ 12 w 12"/>
                    <a:gd name="T45" fmla="*/ 12 h 18"/>
                    <a:gd name="T46" fmla="*/ 12 w 12"/>
                    <a:gd name="T4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 h="18">
                      <a:moveTo>
                        <a:pt x="12" y="0"/>
                      </a:moveTo>
                      <a:lnTo>
                        <a:pt x="12" y="0"/>
                      </a:lnTo>
                      <a:lnTo>
                        <a:pt x="12" y="0"/>
                      </a:lnTo>
                      <a:lnTo>
                        <a:pt x="12" y="0"/>
                      </a:lnTo>
                      <a:lnTo>
                        <a:pt x="12" y="0"/>
                      </a:lnTo>
                      <a:lnTo>
                        <a:pt x="12" y="0"/>
                      </a:lnTo>
                      <a:lnTo>
                        <a:pt x="12" y="0"/>
                      </a:lnTo>
                      <a:lnTo>
                        <a:pt x="12" y="0"/>
                      </a:lnTo>
                      <a:lnTo>
                        <a:pt x="12" y="0"/>
                      </a:lnTo>
                      <a:lnTo>
                        <a:pt x="6" y="18"/>
                      </a:lnTo>
                      <a:lnTo>
                        <a:pt x="0" y="18"/>
                      </a:lnTo>
                      <a:lnTo>
                        <a:pt x="0" y="18"/>
                      </a:lnTo>
                      <a:lnTo>
                        <a:pt x="0" y="18"/>
                      </a:lnTo>
                      <a:lnTo>
                        <a:pt x="0" y="18"/>
                      </a:lnTo>
                      <a:lnTo>
                        <a:pt x="6" y="18"/>
                      </a:lnTo>
                      <a:lnTo>
                        <a:pt x="6" y="18"/>
                      </a:lnTo>
                      <a:lnTo>
                        <a:pt x="6" y="18"/>
                      </a:lnTo>
                      <a:lnTo>
                        <a:pt x="6" y="18"/>
                      </a:lnTo>
                      <a:lnTo>
                        <a:pt x="12" y="0"/>
                      </a:lnTo>
                      <a:close/>
                      <a:moveTo>
                        <a:pt x="12" y="0"/>
                      </a:moveTo>
                      <a:lnTo>
                        <a:pt x="12" y="0"/>
                      </a:lnTo>
                      <a:lnTo>
                        <a:pt x="12" y="0"/>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338" name="Freeform 265"/>
                <p:cNvSpPr>
                  <a:spLocks noEditPoints="1"/>
                </p:cNvSpPr>
                <p:nvPr/>
              </p:nvSpPr>
              <p:spPr bwMode="auto">
                <a:xfrm>
                  <a:off x="4495" y="2400"/>
                  <a:ext cx="12" cy="23"/>
                </a:xfrm>
                <a:custGeom>
                  <a:avLst/>
                  <a:gdLst>
                    <a:gd name="T0" fmla="*/ 12 w 12"/>
                    <a:gd name="T1" fmla="*/ 5 h 23"/>
                    <a:gd name="T2" fmla="*/ 12 w 12"/>
                    <a:gd name="T3" fmla="*/ 5 h 23"/>
                    <a:gd name="T4" fmla="*/ 12 w 12"/>
                    <a:gd name="T5" fmla="*/ 0 h 23"/>
                    <a:gd name="T6" fmla="*/ 0 w 12"/>
                    <a:gd name="T7" fmla="*/ 23 h 23"/>
                    <a:gd name="T8" fmla="*/ 0 w 12"/>
                    <a:gd name="T9" fmla="*/ 23 h 23"/>
                    <a:gd name="T10" fmla="*/ 12 w 12"/>
                    <a:gd name="T11" fmla="*/ 5 h 23"/>
                    <a:gd name="T12" fmla="*/ 0 w 12"/>
                    <a:gd name="T13" fmla="*/ 23 h 23"/>
                    <a:gd name="T14" fmla="*/ 0 w 12"/>
                    <a:gd name="T15" fmla="*/ 23 h 23"/>
                    <a:gd name="T16" fmla="*/ 6 w 12"/>
                    <a:gd name="T17" fmla="*/ 23 h 23"/>
                    <a:gd name="T18" fmla="*/ 6 w 12"/>
                    <a:gd name="T19" fmla="*/ 11 h 23"/>
                    <a:gd name="T20" fmla="*/ 0 w 12"/>
                    <a:gd name="T21"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23">
                      <a:moveTo>
                        <a:pt x="12" y="5"/>
                      </a:moveTo>
                      <a:lnTo>
                        <a:pt x="12" y="5"/>
                      </a:lnTo>
                      <a:lnTo>
                        <a:pt x="12" y="0"/>
                      </a:lnTo>
                      <a:lnTo>
                        <a:pt x="0" y="23"/>
                      </a:lnTo>
                      <a:lnTo>
                        <a:pt x="0" y="23"/>
                      </a:lnTo>
                      <a:lnTo>
                        <a:pt x="12" y="5"/>
                      </a:lnTo>
                      <a:close/>
                      <a:moveTo>
                        <a:pt x="0" y="23"/>
                      </a:moveTo>
                      <a:lnTo>
                        <a:pt x="0" y="23"/>
                      </a:lnTo>
                      <a:lnTo>
                        <a:pt x="6" y="23"/>
                      </a:lnTo>
                      <a:lnTo>
                        <a:pt x="6" y="11"/>
                      </a:lnTo>
                      <a:lnTo>
                        <a:pt x="0" y="23"/>
                      </a:lnTo>
                      <a:close/>
                    </a:path>
                  </a:pathLst>
                </a:custGeom>
                <a:solidFill>
                  <a:srgbClr val="00FF00"/>
                </a:solidFill>
                <a:ln w="9525">
                  <a:solidFill>
                    <a:srgbClr val="00FF00"/>
                  </a:solidFill>
                  <a:round/>
                  <a:headEnd/>
                  <a:tailEnd/>
                </a:ln>
              </p:spPr>
              <p:txBody>
                <a:bodyPr/>
                <a:lstStyle/>
                <a:p>
                  <a:endParaRPr lang="zh-CN" altLang="en-US"/>
                </a:p>
              </p:txBody>
            </p:sp>
            <p:sp>
              <p:nvSpPr>
                <p:cNvPr id="339" name="Freeform 266"/>
                <p:cNvSpPr>
                  <a:spLocks noEditPoints="1"/>
                </p:cNvSpPr>
                <p:nvPr/>
              </p:nvSpPr>
              <p:spPr bwMode="auto">
                <a:xfrm>
                  <a:off x="4495" y="2400"/>
                  <a:ext cx="12" cy="23"/>
                </a:xfrm>
                <a:custGeom>
                  <a:avLst/>
                  <a:gdLst>
                    <a:gd name="T0" fmla="*/ 6 w 12"/>
                    <a:gd name="T1" fmla="*/ 0 h 23"/>
                    <a:gd name="T2" fmla="*/ 6 w 12"/>
                    <a:gd name="T3" fmla="*/ 0 h 23"/>
                    <a:gd name="T4" fmla="*/ 6 w 12"/>
                    <a:gd name="T5" fmla="*/ 0 h 23"/>
                    <a:gd name="T6" fmla="*/ 0 w 12"/>
                    <a:gd name="T7" fmla="*/ 23 h 23"/>
                    <a:gd name="T8" fmla="*/ 0 w 12"/>
                    <a:gd name="T9" fmla="*/ 23 h 23"/>
                    <a:gd name="T10" fmla="*/ 0 w 12"/>
                    <a:gd name="T11" fmla="*/ 23 h 23"/>
                    <a:gd name="T12" fmla="*/ 6 w 12"/>
                    <a:gd name="T13" fmla="*/ 0 h 23"/>
                    <a:gd name="T14" fmla="*/ 12 w 12"/>
                    <a:gd name="T15" fmla="*/ 0 h 23"/>
                    <a:gd name="T16" fmla="*/ 6 w 12"/>
                    <a:gd name="T17" fmla="*/ 0 h 23"/>
                    <a:gd name="T18" fmla="*/ 6 w 12"/>
                    <a:gd name="T19" fmla="*/ 0 h 23"/>
                    <a:gd name="T20" fmla="*/ 6 w 12"/>
                    <a:gd name="T21" fmla="*/ 11 h 23"/>
                    <a:gd name="T22" fmla="*/ 12 w 12"/>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3">
                      <a:moveTo>
                        <a:pt x="6" y="0"/>
                      </a:moveTo>
                      <a:lnTo>
                        <a:pt x="6" y="0"/>
                      </a:lnTo>
                      <a:lnTo>
                        <a:pt x="6" y="0"/>
                      </a:lnTo>
                      <a:lnTo>
                        <a:pt x="0" y="23"/>
                      </a:lnTo>
                      <a:lnTo>
                        <a:pt x="0" y="23"/>
                      </a:lnTo>
                      <a:lnTo>
                        <a:pt x="0" y="23"/>
                      </a:lnTo>
                      <a:lnTo>
                        <a:pt x="6" y="0"/>
                      </a:lnTo>
                      <a:close/>
                      <a:moveTo>
                        <a:pt x="12" y="0"/>
                      </a:moveTo>
                      <a:lnTo>
                        <a:pt x="6" y="0"/>
                      </a:lnTo>
                      <a:lnTo>
                        <a:pt x="6" y="0"/>
                      </a:lnTo>
                      <a:lnTo>
                        <a:pt x="6" y="11"/>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340" name="Freeform 267"/>
                <p:cNvSpPr>
                  <a:spLocks noEditPoints="1"/>
                </p:cNvSpPr>
                <p:nvPr/>
              </p:nvSpPr>
              <p:spPr bwMode="auto">
                <a:xfrm>
                  <a:off x="4495" y="2400"/>
                  <a:ext cx="6" cy="23"/>
                </a:xfrm>
                <a:custGeom>
                  <a:avLst/>
                  <a:gdLst>
                    <a:gd name="T0" fmla="*/ 6 w 6"/>
                    <a:gd name="T1" fmla="*/ 23 h 23"/>
                    <a:gd name="T2" fmla="*/ 6 w 6"/>
                    <a:gd name="T3" fmla="*/ 23 h 23"/>
                    <a:gd name="T4" fmla="*/ 6 w 6"/>
                    <a:gd name="T5" fmla="*/ 0 h 23"/>
                    <a:gd name="T6" fmla="*/ 6 w 6"/>
                    <a:gd name="T7" fmla="*/ 0 h 23"/>
                    <a:gd name="T8" fmla="*/ 0 w 6"/>
                    <a:gd name="T9" fmla="*/ 0 h 23"/>
                    <a:gd name="T10" fmla="*/ 6 w 6"/>
                    <a:gd name="T11" fmla="*/ 23 h 23"/>
                    <a:gd name="T12" fmla="*/ 6 w 6"/>
                    <a:gd name="T13" fmla="*/ 0 h 23"/>
                    <a:gd name="T14" fmla="*/ 6 w 6"/>
                    <a:gd name="T15" fmla="*/ 23 h 23"/>
                    <a:gd name="T16" fmla="*/ 0 w 6"/>
                    <a:gd name="T17" fmla="*/ 0 h 23"/>
                    <a:gd name="T18" fmla="*/ 0 w 6"/>
                    <a:gd name="T19" fmla="*/ 23 h 23"/>
                    <a:gd name="T20" fmla="*/ 6 w 6"/>
                    <a:gd name="T2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 h="23">
                      <a:moveTo>
                        <a:pt x="6" y="23"/>
                      </a:moveTo>
                      <a:lnTo>
                        <a:pt x="6" y="23"/>
                      </a:lnTo>
                      <a:lnTo>
                        <a:pt x="6" y="0"/>
                      </a:lnTo>
                      <a:lnTo>
                        <a:pt x="6" y="0"/>
                      </a:lnTo>
                      <a:lnTo>
                        <a:pt x="0" y="0"/>
                      </a:lnTo>
                      <a:lnTo>
                        <a:pt x="6" y="23"/>
                      </a:lnTo>
                      <a:close/>
                      <a:moveTo>
                        <a:pt x="6" y="0"/>
                      </a:moveTo>
                      <a:lnTo>
                        <a:pt x="6" y="23"/>
                      </a:lnTo>
                      <a:lnTo>
                        <a:pt x="0" y="0"/>
                      </a:lnTo>
                      <a:lnTo>
                        <a:pt x="0" y="23"/>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341" name="Freeform 268"/>
                <p:cNvSpPr>
                  <a:spLocks noEditPoints="1"/>
                </p:cNvSpPr>
                <p:nvPr/>
              </p:nvSpPr>
              <p:spPr bwMode="auto">
                <a:xfrm>
                  <a:off x="4495" y="2400"/>
                  <a:ext cx="18" cy="23"/>
                </a:xfrm>
                <a:custGeom>
                  <a:avLst/>
                  <a:gdLst>
                    <a:gd name="T0" fmla="*/ 0 w 18"/>
                    <a:gd name="T1" fmla="*/ 23 h 23"/>
                    <a:gd name="T2" fmla="*/ 6 w 18"/>
                    <a:gd name="T3" fmla="*/ 23 h 23"/>
                    <a:gd name="T4" fmla="*/ 6 w 18"/>
                    <a:gd name="T5" fmla="*/ 23 h 23"/>
                    <a:gd name="T6" fmla="*/ 18 w 18"/>
                    <a:gd name="T7" fmla="*/ 5 h 23"/>
                    <a:gd name="T8" fmla="*/ 18 w 18"/>
                    <a:gd name="T9" fmla="*/ 5 h 23"/>
                    <a:gd name="T10" fmla="*/ 12 w 18"/>
                    <a:gd name="T11" fmla="*/ 0 h 23"/>
                    <a:gd name="T12" fmla="*/ 0 w 18"/>
                    <a:gd name="T13" fmla="*/ 23 h 23"/>
                    <a:gd name="T14" fmla="*/ 12 w 18"/>
                    <a:gd name="T15" fmla="*/ 0 h 23"/>
                    <a:gd name="T16" fmla="*/ 12 w 18"/>
                    <a:gd name="T17" fmla="*/ 0 h 23"/>
                    <a:gd name="T18" fmla="*/ 6 w 18"/>
                    <a:gd name="T19" fmla="*/ 0 h 23"/>
                    <a:gd name="T20" fmla="*/ 6 w 18"/>
                    <a:gd name="T21" fmla="*/ 11 h 23"/>
                    <a:gd name="T22" fmla="*/ 12 w 18"/>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3">
                      <a:moveTo>
                        <a:pt x="0" y="23"/>
                      </a:moveTo>
                      <a:lnTo>
                        <a:pt x="6" y="23"/>
                      </a:lnTo>
                      <a:lnTo>
                        <a:pt x="6" y="23"/>
                      </a:lnTo>
                      <a:lnTo>
                        <a:pt x="18" y="5"/>
                      </a:lnTo>
                      <a:lnTo>
                        <a:pt x="18" y="5"/>
                      </a:lnTo>
                      <a:lnTo>
                        <a:pt x="12" y="0"/>
                      </a:lnTo>
                      <a:lnTo>
                        <a:pt x="0" y="23"/>
                      </a:lnTo>
                      <a:close/>
                      <a:moveTo>
                        <a:pt x="12" y="0"/>
                      </a:moveTo>
                      <a:lnTo>
                        <a:pt x="12" y="0"/>
                      </a:lnTo>
                      <a:lnTo>
                        <a:pt x="6" y="0"/>
                      </a:lnTo>
                      <a:lnTo>
                        <a:pt x="6" y="11"/>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342" name="Freeform 269"/>
                <p:cNvSpPr>
                  <a:spLocks noEditPoints="1"/>
                </p:cNvSpPr>
                <p:nvPr/>
              </p:nvSpPr>
              <p:spPr bwMode="auto">
                <a:xfrm>
                  <a:off x="4501" y="2405"/>
                  <a:ext cx="18" cy="24"/>
                </a:xfrm>
                <a:custGeom>
                  <a:avLst/>
                  <a:gdLst>
                    <a:gd name="T0" fmla="*/ 0 w 18"/>
                    <a:gd name="T1" fmla="*/ 18 h 24"/>
                    <a:gd name="T2" fmla="*/ 0 w 18"/>
                    <a:gd name="T3" fmla="*/ 24 h 24"/>
                    <a:gd name="T4" fmla="*/ 6 w 18"/>
                    <a:gd name="T5" fmla="*/ 24 h 24"/>
                    <a:gd name="T6" fmla="*/ 18 w 18"/>
                    <a:gd name="T7" fmla="*/ 24 h 24"/>
                    <a:gd name="T8" fmla="*/ 12 w 18"/>
                    <a:gd name="T9" fmla="*/ 0 h 24"/>
                    <a:gd name="T10" fmla="*/ 18 w 18"/>
                    <a:gd name="T11" fmla="*/ 0 h 24"/>
                    <a:gd name="T12" fmla="*/ 18 w 18"/>
                    <a:gd name="T13" fmla="*/ 0 h 24"/>
                    <a:gd name="T14" fmla="*/ 12 w 18"/>
                    <a:gd name="T15" fmla="*/ 0 h 24"/>
                    <a:gd name="T16" fmla="*/ 0 w 18"/>
                    <a:gd name="T17" fmla="*/ 18 h 24"/>
                    <a:gd name="T18" fmla="*/ 12 w 18"/>
                    <a:gd name="T19" fmla="*/ 0 h 24"/>
                    <a:gd name="T20" fmla="*/ 12 w 18"/>
                    <a:gd name="T21" fmla="*/ 0 h 24"/>
                    <a:gd name="T22" fmla="*/ 12 w 18"/>
                    <a:gd name="T23" fmla="*/ 0 h 24"/>
                    <a:gd name="T24" fmla="*/ 6 w 18"/>
                    <a:gd name="T25" fmla="*/ 6 h 24"/>
                    <a:gd name="T26" fmla="*/ 12 w 18"/>
                    <a:gd name="T2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24">
                      <a:moveTo>
                        <a:pt x="0" y="18"/>
                      </a:moveTo>
                      <a:lnTo>
                        <a:pt x="0" y="24"/>
                      </a:lnTo>
                      <a:lnTo>
                        <a:pt x="6" y="24"/>
                      </a:lnTo>
                      <a:lnTo>
                        <a:pt x="18" y="24"/>
                      </a:lnTo>
                      <a:lnTo>
                        <a:pt x="12" y="0"/>
                      </a:lnTo>
                      <a:lnTo>
                        <a:pt x="18" y="0"/>
                      </a:lnTo>
                      <a:lnTo>
                        <a:pt x="18" y="0"/>
                      </a:lnTo>
                      <a:lnTo>
                        <a:pt x="12" y="0"/>
                      </a:lnTo>
                      <a:lnTo>
                        <a:pt x="0" y="18"/>
                      </a:lnTo>
                      <a:close/>
                      <a:moveTo>
                        <a:pt x="12" y="0"/>
                      </a:moveTo>
                      <a:lnTo>
                        <a:pt x="12" y="0"/>
                      </a:lnTo>
                      <a:lnTo>
                        <a:pt x="12" y="0"/>
                      </a:lnTo>
                      <a:lnTo>
                        <a:pt x="6" y="6"/>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343" name="Freeform 270"/>
                <p:cNvSpPr>
                  <a:spLocks noEditPoints="1"/>
                </p:cNvSpPr>
                <p:nvPr/>
              </p:nvSpPr>
              <p:spPr bwMode="auto">
                <a:xfrm>
                  <a:off x="4507" y="2405"/>
                  <a:ext cx="18" cy="30"/>
                </a:xfrm>
                <a:custGeom>
                  <a:avLst/>
                  <a:gdLst>
                    <a:gd name="T0" fmla="*/ 0 w 18"/>
                    <a:gd name="T1" fmla="*/ 18 h 30"/>
                    <a:gd name="T2" fmla="*/ 0 w 18"/>
                    <a:gd name="T3" fmla="*/ 24 h 30"/>
                    <a:gd name="T4" fmla="*/ 6 w 18"/>
                    <a:gd name="T5" fmla="*/ 24 h 30"/>
                    <a:gd name="T6" fmla="*/ 18 w 18"/>
                    <a:gd name="T7" fmla="*/ 30 h 30"/>
                    <a:gd name="T8" fmla="*/ 12 w 18"/>
                    <a:gd name="T9" fmla="*/ 6 h 30"/>
                    <a:gd name="T10" fmla="*/ 18 w 18"/>
                    <a:gd name="T11" fmla="*/ 6 h 30"/>
                    <a:gd name="T12" fmla="*/ 18 w 18"/>
                    <a:gd name="T13" fmla="*/ 6 h 30"/>
                    <a:gd name="T14" fmla="*/ 18 w 18"/>
                    <a:gd name="T15" fmla="*/ 6 h 30"/>
                    <a:gd name="T16" fmla="*/ 18 w 18"/>
                    <a:gd name="T17" fmla="*/ 6 h 30"/>
                    <a:gd name="T18" fmla="*/ 0 w 18"/>
                    <a:gd name="T19" fmla="*/ 18 h 30"/>
                    <a:gd name="T20" fmla="*/ 18 w 18"/>
                    <a:gd name="T21" fmla="*/ 6 h 30"/>
                    <a:gd name="T22" fmla="*/ 12 w 18"/>
                    <a:gd name="T23" fmla="*/ 0 h 30"/>
                    <a:gd name="T24" fmla="*/ 6 w 18"/>
                    <a:gd name="T25" fmla="*/ 0 h 30"/>
                    <a:gd name="T26" fmla="*/ 6 w 18"/>
                    <a:gd name="T27" fmla="*/ 12 h 30"/>
                    <a:gd name="T28" fmla="*/ 18 w 18"/>
                    <a:gd name="T29"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30">
                      <a:moveTo>
                        <a:pt x="0" y="18"/>
                      </a:moveTo>
                      <a:lnTo>
                        <a:pt x="0" y="24"/>
                      </a:lnTo>
                      <a:lnTo>
                        <a:pt x="6" y="24"/>
                      </a:lnTo>
                      <a:lnTo>
                        <a:pt x="18" y="30"/>
                      </a:lnTo>
                      <a:lnTo>
                        <a:pt x="12" y="6"/>
                      </a:lnTo>
                      <a:lnTo>
                        <a:pt x="18" y="6"/>
                      </a:lnTo>
                      <a:lnTo>
                        <a:pt x="18" y="6"/>
                      </a:lnTo>
                      <a:lnTo>
                        <a:pt x="18" y="6"/>
                      </a:lnTo>
                      <a:lnTo>
                        <a:pt x="18" y="6"/>
                      </a:lnTo>
                      <a:lnTo>
                        <a:pt x="0" y="18"/>
                      </a:lnTo>
                      <a:close/>
                      <a:moveTo>
                        <a:pt x="18" y="6"/>
                      </a:moveTo>
                      <a:lnTo>
                        <a:pt x="12" y="0"/>
                      </a:lnTo>
                      <a:lnTo>
                        <a:pt x="6" y="0"/>
                      </a:lnTo>
                      <a:lnTo>
                        <a:pt x="6"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344" name="Freeform 271"/>
                <p:cNvSpPr>
                  <a:spLocks noEditPoints="1"/>
                </p:cNvSpPr>
                <p:nvPr/>
              </p:nvSpPr>
              <p:spPr bwMode="auto">
                <a:xfrm>
                  <a:off x="4519" y="2411"/>
                  <a:ext cx="12" cy="24"/>
                </a:xfrm>
                <a:custGeom>
                  <a:avLst/>
                  <a:gdLst>
                    <a:gd name="T0" fmla="*/ 0 w 12"/>
                    <a:gd name="T1" fmla="*/ 24 h 24"/>
                    <a:gd name="T2" fmla="*/ 6 w 12"/>
                    <a:gd name="T3" fmla="*/ 24 h 24"/>
                    <a:gd name="T4" fmla="*/ 6 w 12"/>
                    <a:gd name="T5" fmla="*/ 24 h 24"/>
                    <a:gd name="T6" fmla="*/ 12 w 12"/>
                    <a:gd name="T7" fmla="*/ 0 h 24"/>
                    <a:gd name="T8" fmla="*/ 6 w 12"/>
                    <a:gd name="T9" fmla="*/ 0 h 24"/>
                    <a:gd name="T10" fmla="*/ 6 w 12"/>
                    <a:gd name="T11" fmla="*/ 0 h 24"/>
                    <a:gd name="T12" fmla="*/ 0 w 12"/>
                    <a:gd name="T13" fmla="*/ 24 h 24"/>
                    <a:gd name="T14" fmla="*/ 6 w 12"/>
                    <a:gd name="T15" fmla="*/ 0 h 24"/>
                    <a:gd name="T16" fmla="*/ 6 w 12"/>
                    <a:gd name="T17" fmla="*/ 0 h 24"/>
                    <a:gd name="T18" fmla="*/ 0 w 12"/>
                    <a:gd name="T19" fmla="*/ 0 h 24"/>
                    <a:gd name="T20" fmla="*/ 6 w 12"/>
                    <a:gd name="T21" fmla="*/ 12 h 24"/>
                    <a:gd name="T22" fmla="*/ 6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0" y="24"/>
                      </a:moveTo>
                      <a:lnTo>
                        <a:pt x="6" y="24"/>
                      </a:lnTo>
                      <a:lnTo>
                        <a:pt x="6" y="24"/>
                      </a:lnTo>
                      <a:lnTo>
                        <a:pt x="12" y="0"/>
                      </a:lnTo>
                      <a:lnTo>
                        <a:pt x="6" y="0"/>
                      </a:lnTo>
                      <a:lnTo>
                        <a:pt x="6" y="0"/>
                      </a:lnTo>
                      <a:lnTo>
                        <a:pt x="0" y="24"/>
                      </a:lnTo>
                      <a:close/>
                      <a:moveTo>
                        <a:pt x="6" y="0"/>
                      </a:moveTo>
                      <a:lnTo>
                        <a:pt x="6" y="0"/>
                      </a:lnTo>
                      <a:lnTo>
                        <a:pt x="0" y="0"/>
                      </a:lnTo>
                      <a:lnTo>
                        <a:pt x="6"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345" name="Freeform 272"/>
                <p:cNvSpPr>
                  <a:spLocks noEditPoints="1"/>
                </p:cNvSpPr>
                <p:nvPr/>
              </p:nvSpPr>
              <p:spPr bwMode="auto">
                <a:xfrm>
                  <a:off x="4525" y="2411"/>
                  <a:ext cx="18" cy="24"/>
                </a:xfrm>
                <a:custGeom>
                  <a:avLst/>
                  <a:gdLst>
                    <a:gd name="T0" fmla="*/ 6 w 18"/>
                    <a:gd name="T1" fmla="*/ 24 h 24"/>
                    <a:gd name="T2" fmla="*/ 6 w 18"/>
                    <a:gd name="T3" fmla="*/ 24 h 24"/>
                    <a:gd name="T4" fmla="*/ 12 w 18"/>
                    <a:gd name="T5" fmla="*/ 24 h 24"/>
                    <a:gd name="T6" fmla="*/ 18 w 18"/>
                    <a:gd name="T7" fmla="*/ 24 h 24"/>
                    <a:gd name="T8" fmla="*/ 18 w 18"/>
                    <a:gd name="T9" fmla="*/ 24 h 24"/>
                    <a:gd name="T10" fmla="*/ 12 w 18"/>
                    <a:gd name="T11" fmla="*/ 0 h 24"/>
                    <a:gd name="T12" fmla="*/ 6 w 18"/>
                    <a:gd name="T13" fmla="*/ 0 h 24"/>
                    <a:gd name="T14" fmla="*/ 0 w 18"/>
                    <a:gd name="T15" fmla="*/ 0 h 24"/>
                    <a:gd name="T16" fmla="*/ 6 w 18"/>
                    <a:gd name="T17" fmla="*/ 24 h 24"/>
                    <a:gd name="T18" fmla="*/ 0 w 18"/>
                    <a:gd name="T19" fmla="*/ 24 h 24"/>
                    <a:gd name="T20" fmla="*/ 0 w 18"/>
                    <a:gd name="T21" fmla="*/ 24 h 24"/>
                    <a:gd name="T22" fmla="*/ 6 w 18"/>
                    <a:gd name="T23" fmla="*/ 24 h 24"/>
                    <a:gd name="T24" fmla="*/ 6 w 18"/>
                    <a:gd name="T25" fmla="*/ 12 h 24"/>
                    <a:gd name="T26" fmla="*/ 0 w 18"/>
                    <a:gd name="T2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24">
                      <a:moveTo>
                        <a:pt x="6" y="24"/>
                      </a:moveTo>
                      <a:lnTo>
                        <a:pt x="6" y="24"/>
                      </a:lnTo>
                      <a:lnTo>
                        <a:pt x="12" y="24"/>
                      </a:lnTo>
                      <a:lnTo>
                        <a:pt x="18" y="24"/>
                      </a:lnTo>
                      <a:lnTo>
                        <a:pt x="18" y="24"/>
                      </a:lnTo>
                      <a:lnTo>
                        <a:pt x="12" y="0"/>
                      </a:lnTo>
                      <a:lnTo>
                        <a:pt x="6" y="0"/>
                      </a:lnTo>
                      <a:lnTo>
                        <a:pt x="0" y="0"/>
                      </a:lnTo>
                      <a:lnTo>
                        <a:pt x="6" y="24"/>
                      </a:lnTo>
                      <a:close/>
                      <a:moveTo>
                        <a:pt x="0" y="24"/>
                      </a:moveTo>
                      <a:lnTo>
                        <a:pt x="0" y="24"/>
                      </a:lnTo>
                      <a:lnTo>
                        <a:pt x="6" y="24"/>
                      </a:lnTo>
                      <a:lnTo>
                        <a:pt x="6" y="12"/>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346" name="Freeform 273"/>
                <p:cNvSpPr>
                  <a:spLocks noEditPoints="1"/>
                </p:cNvSpPr>
                <p:nvPr/>
              </p:nvSpPr>
              <p:spPr bwMode="auto">
                <a:xfrm>
                  <a:off x="4531" y="2411"/>
                  <a:ext cx="24" cy="24"/>
                </a:xfrm>
                <a:custGeom>
                  <a:avLst/>
                  <a:gdLst>
                    <a:gd name="T0" fmla="*/ 0 w 24"/>
                    <a:gd name="T1" fmla="*/ 18 h 24"/>
                    <a:gd name="T2" fmla="*/ 0 w 24"/>
                    <a:gd name="T3" fmla="*/ 24 h 24"/>
                    <a:gd name="T4" fmla="*/ 24 w 24"/>
                    <a:gd name="T5" fmla="*/ 12 h 24"/>
                    <a:gd name="T6" fmla="*/ 18 w 24"/>
                    <a:gd name="T7" fmla="*/ 6 h 24"/>
                    <a:gd name="T8" fmla="*/ 0 w 24"/>
                    <a:gd name="T9" fmla="*/ 18 h 24"/>
                    <a:gd name="T10" fmla="*/ 18 w 24"/>
                    <a:gd name="T11" fmla="*/ 6 h 24"/>
                    <a:gd name="T12" fmla="*/ 12 w 24"/>
                    <a:gd name="T13" fmla="*/ 0 h 24"/>
                    <a:gd name="T14" fmla="*/ 6 w 24"/>
                    <a:gd name="T15" fmla="*/ 0 h 24"/>
                    <a:gd name="T16" fmla="*/ 6 w 24"/>
                    <a:gd name="T17" fmla="*/ 12 h 24"/>
                    <a:gd name="T18" fmla="*/ 18 w 24"/>
                    <a:gd name="T19"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18"/>
                      </a:moveTo>
                      <a:lnTo>
                        <a:pt x="0" y="24"/>
                      </a:lnTo>
                      <a:lnTo>
                        <a:pt x="24" y="12"/>
                      </a:lnTo>
                      <a:lnTo>
                        <a:pt x="18" y="6"/>
                      </a:lnTo>
                      <a:lnTo>
                        <a:pt x="0" y="18"/>
                      </a:lnTo>
                      <a:close/>
                      <a:moveTo>
                        <a:pt x="18" y="6"/>
                      </a:moveTo>
                      <a:lnTo>
                        <a:pt x="12" y="0"/>
                      </a:lnTo>
                      <a:lnTo>
                        <a:pt x="6" y="0"/>
                      </a:lnTo>
                      <a:lnTo>
                        <a:pt x="6"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347" name="Freeform 274"/>
                <p:cNvSpPr>
                  <a:spLocks/>
                </p:cNvSpPr>
                <p:nvPr/>
              </p:nvSpPr>
              <p:spPr bwMode="auto">
                <a:xfrm>
                  <a:off x="4543" y="2423"/>
                  <a:ext cx="18" cy="18"/>
                </a:xfrm>
                <a:custGeom>
                  <a:avLst/>
                  <a:gdLst>
                    <a:gd name="T0" fmla="*/ 0 w 18"/>
                    <a:gd name="T1" fmla="*/ 18 h 18"/>
                    <a:gd name="T2" fmla="*/ 18 w 18"/>
                    <a:gd name="T3" fmla="*/ 12 h 18"/>
                    <a:gd name="T4" fmla="*/ 12 w 18"/>
                    <a:gd name="T5" fmla="*/ 0 h 18"/>
                    <a:gd name="T6" fmla="*/ 0 w 18"/>
                    <a:gd name="T7" fmla="*/ 6 h 18"/>
                    <a:gd name="T8" fmla="*/ 0 w 18"/>
                    <a:gd name="T9" fmla="*/ 18 h 18"/>
                  </a:gdLst>
                  <a:ahLst/>
                  <a:cxnLst>
                    <a:cxn ang="0">
                      <a:pos x="T0" y="T1"/>
                    </a:cxn>
                    <a:cxn ang="0">
                      <a:pos x="T2" y="T3"/>
                    </a:cxn>
                    <a:cxn ang="0">
                      <a:pos x="T4" y="T5"/>
                    </a:cxn>
                    <a:cxn ang="0">
                      <a:pos x="T6" y="T7"/>
                    </a:cxn>
                    <a:cxn ang="0">
                      <a:pos x="T8" y="T9"/>
                    </a:cxn>
                  </a:cxnLst>
                  <a:rect l="0" t="0" r="r" b="b"/>
                  <a:pathLst>
                    <a:path w="18" h="18">
                      <a:moveTo>
                        <a:pt x="0" y="18"/>
                      </a:moveTo>
                      <a:lnTo>
                        <a:pt x="18" y="12"/>
                      </a:lnTo>
                      <a:lnTo>
                        <a:pt x="12" y="0"/>
                      </a:lnTo>
                      <a:lnTo>
                        <a:pt x="0" y="6"/>
                      </a:lnTo>
                      <a:lnTo>
                        <a:pt x="0" y="18"/>
                      </a:lnTo>
                      <a:close/>
                    </a:path>
                  </a:pathLst>
                </a:custGeom>
                <a:solidFill>
                  <a:srgbClr val="00FF00"/>
                </a:solidFill>
                <a:ln w="9525">
                  <a:solidFill>
                    <a:srgbClr val="00FF00"/>
                  </a:solidFill>
                  <a:round/>
                  <a:headEnd/>
                  <a:tailEnd/>
                </a:ln>
              </p:spPr>
              <p:txBody>
                <a:bodyPr/>
                <a:lstStyle/>
                <a:p>
                  <a:endParaRPr lang="zh-CN" altLang="en-US"/>
                </a:p>
              </p:txBody>
            </p:sp>
            <p:sp>
              <p:nvSpPr>
                <p:cNvPr id="348" name="Freeform 275"/>
                <p:cNvSpPr>
                  <a:spLocks/>
                </p:cNvSpPr>
                <p:nvPr/>
              </p:nvSpPr>
              <p:spPr bwMode="auto">
                <a:xfrm>
                  <a:off x="4561" y="2429"/>
                  <a:ext cx="12" cy="30"/>
                </a:xfrm>
                <a:custGeom>
                  <a:avLst/>
                  <a:gdLst>
                    <a:gd name="T0" fmla="*/ 0 w 12"/>
                    <a:gd name="T1" fmla="*/ 6 h 30"/>
                    <a:gd name="T2" fmla="*/ 6 w 12"/>
                    <a:gd name="T3" fmla="*/ 12 h 30"/>
                    <a:gd name="T4" fmla="*/ 6 w 12"/>
                    <a:gd name="T5" fmla="*/ 18 h 30"/>
                    <a:gd name="T6" fmla="*/ 6 w 12"/>
                    <a:gd name="T7" fmla="*/ 18 h 30"/>
                    <a:gd name="T8" fmla="*/ 12 w 12"/>
                    <a:gd name="T9" fmla="*/ 24 h 30"/>
                    <a:gd name="T10" fmla="*/ 12 w 12"/>
                    <a:gd name="T11" fmla="*/ 24 h 30"/>
                    <a:gd name="T12" fmla="*/ 12 w 12"/>
                    <a:gd name="T13" fmla="*/ 30 h 30"/>
                    <a:gd name="T14" fmla="*/ 12 w 12"/>
                    <a:gd name="T15" fmla="*/ 30 h 30"/>
                    <a:gd name="T16" fmla="*/ 12 w 12"/>
                    <a:gd name="T17" fmla="*/ 30 h 30"/>
                    <a:gd name="T18" fmla="*/ 12 w 12"/>
                    <a:gd name="T19" fmla="*/ 24 h 30"/>
                    <a:gd name="T20" fmla="*/ 12 w 12"/>
                    <a:gd name="T21" fmla="*/ 24 h 30"/>
                    <a:gd name="T22" fmla="*/ 12 w 12"/>
                    <a:gd name="T23" fmla="*/ 18 h 30"/>
                    <a:gd name="T24" fmla="*/ 12 w 12"/>
                    <a:gd name="T25" fmla="*/ 18 h 30"/>
                    <a:gd name="T26" fmla="*/ 12 w 12"/>
                    <a:gd name="T27" fmla="*/ 12 h 30"/>
                    <a:gd name="T28" fmla="*/ 12 w 12"/>
                    <a:gd name="T29" fmla="*/ 12 h 30"/>
                    <a:gd name="T30" fmla="*/ 6 w 12"/>
                    <a:gd name="T31" fmla="*/ 6 h 30"/>
                    <a:gd name="T32" fmla="*/ 6 w 12"/>
                    <a:gd name="T33" fmla="*/ 6 h 30"/>
                    <a:gd name="T34" fmla="*/ 0 w 12"/>
                    <a:gd name="T35" fmla="*/ 0 h 30"/>
                    <a:gd name="T36" fmla="*/ 0 w 12"/>
                    <a:gd name="T37" fmla="*/ 6 h 30"/>
                    <a:gd name="T38" fmla="*/ 0 w 12"/>
                    <a:gd name="T39"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 h="30">
                      <a:moveTo>
                        <a:pt x="0" y="6"/>
                      </a:moveTo>
                      <a:lnTo>
                        <a:pt x="6" y="12"/>
                      </a:lnTo>
                      <a:lnTo>
                        <a:pt x="6" y="18"/>
                      </a:lnTo>
                      <a:lnTo>
                        <a:pt x="6" y="18"/>
                      </a:lnTo>
                      <a:lnTo>
                        <a:pt x="12" y="24"/>
                      </a:lnTo>
                      <a:lnTo>
                        <a:pt x="12" y="24"/>
                      </a:lnTo>
                      <a:lnTo>
                        <a:pt x="12" y="30"/>
                      </a:lnTo>
                      <a:lnTo>
                        <a:pt x="12" y="30"/>
                      </a:lnTo>
                      <a:lnTo>
                        <a:pt x="12" y="30"/>
                      </a:lnTo>
                      <a:lnTo>
                        <a:pt x="12" y="24"/>
                      </a:lnTo>
                      <a:lnTo>
                        <a:pt x="12" y="24"/>
                      </a:lnTo>
                      <a:lnTo>
                        <a:pt x="12" y="18"/>
                      </a:lnTo>
                      <a:lnTo>
                        <a:pt x="12" y="18"/>
                      </a:lnTo>
                      <a:lnTo>
                        <a:pt x="12" y="12"/>
                      </a:lnTo>
                      <a:lnTo>
                        <a:pt x="12" y="12"/>
                      </a:lnTo>
                      <a:lnTo>
                        <a:pt x="6" y="6"/>
                      </a:lnTo>
                      <a:lnTo>
                        <a:pt x="6" y="6"/>
                      </a:lnTo>
                      <a:lnTo>
                        <a:pt x="0" y="0"/>
                      </a:lnTo>
                      <a:lnTo>
                        <a:pt x="0" y="6"/>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349" name="Freeform 276"/>
                <p:cNvSpPr>
                  <a:spLocks/>
                </p:cNvSpPr>
                <p:nvPr/>
              </p:nvSpPr>
              <p:spPr bwMode="auto">
                <a:xfrm>
                  <a:off x="4555" y="2423"/>
                  <a:ext cx="18" cy="30"/>
                </a:xfrm>
                <a:custGeom>
                  <a:avLst/>
                  <a:gdLst>
                    <a:gd name="T0" fmla="*/ 0 w 18"/>
                    <a:gd name="T1" fmla="*/ 24 h 30"/>
                    <a:gd name="T2" fmla="*/ 6 w 18"/>
                    <a:gd name="T3" fmla="*/ 30 h 30"/>
                    <a:gd name="T4" fmla="*/ 18 w 18"/>
                    <a:gd name="T5" fmla="*/ 6 h 30"/>
                    <a:gd name="T6" fmla="*/ 12 w 18"/>
                    <a:gd name="T7" fmla="*/ 0 h 30"/>
                    <a:gd name="T8" fmla="*/ 0 w 18"/>
                    <a:gd name="T9" fmla="*/ 24 h 30"/>
                  </a:gdLst>
                  <a:ahLst/>
                  <a:cxnLst>
                    <a:cxn ang="0">
                      <a:pos x="T0" y="T1"/>
                    </a:cxn>
                    <a:cxn ang="0">
                      <a:pos x="T2" y="T3"/>
                    </a:cxn>
                    <a:cxn ang="0">
                      <a:pos x="T4" y="T5"/>
                    </a:cxn>
                    <a:cxn ang="0">
                      <a:pos x="T6" y="T7"/>
                    </a:cxn>
                    <a:cxn ang="0">
                      <a:pos x="T8" y="T9"/>
                    </a:cxn>
                  </a:cxnLst>
                  <a:rect l="0" t="0" r="r" b="b"/>
                  <a:pathLst>
                    <a:path w="18" h="30">
                      <a:moveTo>
                        <a:pt x="0" y="24"/>
                      </a:moveTo>
                      <a:lnTo>
                        <a:pt x="6" y="30"/>
                      </a:lnTo>
                      <a:lnTo>
                        <a:pt x="18" y="6"/>
                      </a:lnTo>
                      <a:lnTo>
                        <a:pt x="12" y="0"/>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350" name="Freeform 277"/>
                <p:cNvSpPr>
                  <a:spLocks noEditPoints="1"/>
                </p:cNvSpPr>
                <p:nvPr/>
              </p:nvSpPr>
              <p:spPr bwMode="auto">
                <a:xfrm>
                  <a:off x="4555" y="2429"/>
                  <a:ext cx="24" cy="30"/>
                </a:xfrm>
                <a:custGeom>
                  <a:avLst/>
                  <a:gdLst>
                    <a:gd name="T0" fmla="*/ 0 w 24"/>
                    <a:gd name="T1" fmla="*/ 6 h 30"/>
                    <a:gd name="T2" fmla="*/ 0 w 24"/>
                    <a:gd name="T3" fmla="*/ 12 h 30"/>
                    <a:gd name="T4" fmla="*/ 0 w 24"/>
                    <a:gd name="T5" fmla="*/ 12 h 30"/>
                    <a:gd name="T6" fmla="*/ 6 w 24"/>
                    <a:gd name="T7" fmla="*/ 18 h 30"/>
                    <a:gd name="T8" fmla="*/ 12 w 24"/>
                    <a:gd name="T9" fmla="*/ 30 h 30"/>
                    <a:gd name="T10" fmla="*/ 18 w 24"/>
                    <a:gd name="T11" fmla="*/ 6 h 30"/>
                    <a:gd name="T12" fmla="*/ 24 w 24"/>
                    <a:gd name="T13" fmla="*/ 12 h 30"/>
                    <a:gd name="T14" fmla="*/ 24 w 24"/>
                    <a:gd name="T15" fmla="*/ 12 h 30"/>
                    <a:gd name="T16" fmla="*/ 24 w 24"/>
                    <a:gd name="T17" fmla="*/ 12 h 30"/>
                    <a:gd name="T18" fmla="*/ 0 w 24"/>
                    <a:gd name="T19" fmla="*/ 6 h 30"/>
                    <a:gd name="T20" fmla="*/ 24 w 24"/>
                    <a:gd name="T21" fmla="*/ 12 h 30"/>
                    <a:gd name="T22" fmla="*/ 24 w 24"/>
                    <a:gd name="T23" fmla="*/ 6 h 30"/>
                    <a:gd name="T24" fmla="*/ 18 w 24"/>
                    <a:gd name="T25" fmla="*/ 0 h 30"/>
                    <a:gd name="T26" fmla="*/ 12 w 24"/>
                    <a:gd name="T27" fmla="*/ 12 h 30"/>
                    <a:gd name="T28" fmla="*/ 24 w 24"/>
                    <a:gd name="T29"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30">
                      <a:moveTo>
                        <a:pt x="0" y="6"/>
                      </a:moveTo>
                      <a:lnTo>
                        <a:pt x="0" y="12"/>
                      </a:lnTo>
                      <a:lnTo>
                        <a:pt x="0" y="12"/>
                      </a:lnTo>
                      <a:lnTo>
                        <a:pt x="6" y="18"/>
                      </a:lnTo>
                      <a:lnTo>
                        <a:pt x="12" y="30"/>
                      </a:lnTo>
                      <a:lnTo>
                        <a:pt x="18" y="6"/>
                      </a:lnTo>
                      <a:lnTo>
                        <a:pt x="24" y="12"/>
                      </a:lnTo>
                      <a:lnTo>
                        <a:pt x="24" y="12"/>
                      </a:lnTo>
                      <a:lnTo>
                        <a:pt x="24" y="12"/>
                      </a:lnTo>
                      <a:lnTo>
                        <a:pt x="0" y="6"/>
                      </a:lnTo>
                      <a:close/>
                      <a:moveTo>
                        <a:pt x="24" y="12"/>
                      </a:moveTo>
                      <a:lnTo>
                        <a:pt x="24" y="6"/>
                      </a:lnTo>
                      <a:lnTo>
                        <a:pt x="18" y="0"/>
                      </a:lnTo>
                      <a:lnTo>
                        <a:pt x="12" y="12"/>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351" name="Freeform 278"/>
                <p:cNvSpPr>
                  <a:spLocks noEditPoints="1"/>
                </p:cNvSpPr>
                <p:nvPr/>
              </p:nvSpPr>
              <p:spPr bwMode="auto">
                <a:xfrm>
                  <a:off x="4555" y="2435"/>
                  <a:ext cx="24" cy="30"/>
                </a:xfrm>
                <a:custGeom>
                  <a:avLst/>
                  <a:gdLst>
                    <a:gd name="T0" fmla="*/ 0 w 24"/>
                    <a:gd name="T1" fmla="*/ 12 h 30"/>
                    <a:gd name="T2" fmla="*/ 0 w 24"/>
                    <a:gd name="T3" fmla="*/ 18 h 30"/>
                    <a:gd name="T4" fmla="*/ 6 w 24"/>
                    <a:gd name="T5" fmla="*/ 18 h 30"/>
                    <a:gd name="T6" fmla="*/ 6 w 24"/>
                    <a:gd name="T7" fmla="*/ 18 h 30"/>
                    <a:gd name="T8" fmla="*/ 6 w 24"/>
                    <a:gd name="T9" fmla="*/ 24 h 30"/>
                    <a:gd name="T10" fmla="*/ 12 w 24"/>
                    <a:gd name="T11" fmla="*/ 30 h 30"/>
                    <a:gd name="T12" fmla="*/ 12 w 24"/>
                    <a:gd name="T13" fmla="*/ 6 h 30"/>
                    <a:gd name="T14" fmla="*/ 24 w 24"/>
                    <a:gd name="T15" fmla="*/ 12 h 30"/>
                    <a:gd name="T16" fmla="*/ 24 w 24"/>
                    <a:gd name="T17" fmla="*/ 12 h 30"/>
                    <a:gd name="T18" fmla="*/ 24 w 24"/>
                    <a:gd name="T19" fmla="*/ 12 h 30"/>
                    <a:gd name="T20" fmla="*/ 24 w 24"/>
                    <a:gd name="T21" fmla="*/ 12 h 30"/>
                    <a:gd name="T22" fmla="*/ 0 w 24"/>
                    <a:gd name="T23" fmla="*/ 12 h 30"/>
                    <a:gd name="T24" fmla="*/ 24 w 24"/>
                    <a:gd name="T25" fmla="*/ 12 h 30"/>
                    <a:gd name="T26" fmla="*/ 24 w 24"/>
                    <a:gd name="T27" fmla="*/ 0 h 30"/>
                    <a:gd name="T28" fmla="*/ 18 w 24"/>
                    <a:gd name="T29" fmla="*/ 0 h 30"/>
                    <a:gd name="T30" fmla="*/ 12 w 24"/>
                    <a:gd name="T31" fmla="*/ 12 h 30"/>
                    <a:gd name="T32" fmla="*/ 24 w 24"/>
                    <a:gd name="T33"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30">
                      <a:moveTo>
                        <a:pt x="0" y="12"/>
                      </a:moveTo>
                      <a:lnTo>
                        <a:pt x="0" y="18"/>
                      </a:lnTo>
                      <a:lnTo>
                        <a:pt x="6" y="18"/>
                      </a:lnTo>
                      <a:lnTo>
                        <a:pt x="6" y="18"/>
                      </a:lnTo>
                      <a:lnTo>
                        <a:pt x="6" y="24"/>
                      </a:lnTo>
                      <a:lnTo>
                        <a:pt x="12" y="30"/>
                      </a:lnTo>
                      <a:lnTo>
                        <a:pt x="12" y="6"/>
                      </a:lnTo>
                      <a:lnTo>
                        <a:pt x="24" y="12"/>
                      </a:lnTo>
                      <a:lnTo>
                        <a:pt x="24" y="12"/>
                      </a:lnTo>
                      <a:lnTo>
                        <a:pt x="24" y="12"/>
                      </a:lnTo>
                      <a:lnTo>
                        <a:pt x="24" y="12"/>
                      </a:lnTo>
                      <a:lnTo>
                        <a:pt x="0" y="12"/>
                      </a:lnTo>
                      <a:close/>
                      <a:moveTo>
                        <a:pt x="24" y="12"/>
                      </a:moveTo>
                      <a:lnTo>
                        <a:pt x="24" y="0"/>
                      </a:lnTo>
                      <a:lnTo>
                        <a:pt x="18" y="0"/>
                      </a:lnTo>
                      <a:lnTo>
                        <a:pt x="12" y="12"/>
                      </a:lnTo>
                      <a:lnTo>
                        <a:pt x="24" y="12"/>
                      </a:lnTo>
                      <a:close/>
                    </a:path>
                  </a:pathLst>
                </a:custGeom>
                <a:solidFill>
                  <a:srgbClr val="00FF00"/>
                </a:solidFill>
                <a:ln w="9525">
                  <a:solidFill>
                    <a:srgbClr val="00FF00"/>
                  </a:solidFill>
                  <a:round/>
                  <a:headEnd/>
                  <a:tailEnd/>
                </a:ln>
              </p:spPr>
              <p:txBody>
                <a:bodyPr/>
                <a:lstStyle/>
                <a:p>
                  <a:endParaRPr lang="zh-CN" altLang="en-US"/>
                </a:p>
              </p:txBody>
            </p:sp>
            <p:sp>
              <p:nvSpPr>
                <p:cNvPr id="352" name="Freeform 279"/>
                <p:cNvSpPr>
                  <a:spLocks noEditPoints="1"/>
                </p:cNvSpPr>
                <p:nvPr/>
              </p:nvSpPr>
              <p:spPr bwMode="auto">
                <a:xfrm>
                  <a:off x="4561" y="2441"/>
                  <a:ext cx="24" cy="24"/>
                </a:xfrm>
                <a:custGeom>
                  <a:avLst/>
                  <a:gdLst>
                    <a:gd name="T0" fmla="*/ 0 w 24"/>
                    <a:gd name="T1" fmla="*/ 24 h 24"/>
                    <a:gd name="T2" fmla="*/ 6 w 24"/>
                    <a:gd name="T3" fmla="*/ 24 h 24"/>
                    <a:gd name="T4" fmla="*/ 6 w 24"/>
                    <a:gd name="T5" fmla="*/ 24 h 24"/>
                    <a:gd name="T6" fmla="*/ 24 w 24"/>
                    <a:gd name="T7" fmla="*/ 12 h 24"/>
                    <a:gd name="T8" fmla="*/ 24 w 24"/>
                    <a:gd name="T9" fmla="*/ 12 h 24"/>
                    <a:gd name="T10" fmla="*/ 24 w 24"/>
                    <a:gd name="T11" fmla="*/ 12 h 24"/>
                    <a:gd name="T12" fmla="*/ 18 w 24"/>
                    <a:gd name="T13" fmla="*/ 6 h 24"/>
                    <a:gd name="T14" fmla="*/ 0 w 24"/>
                    <a:gd name="T15" fmla="*/ 24 h 24"/>
                    <a:gd name="T16" fmla="*/ 18 w 24"/>
                    <a:gd name="T17" fmla="*/ 6 h 24"/>
                    <a:gd name="T18" fmla="*/ 12 w 24"/>
                    <a:gd name="T19" fmla="*/ 0 h 24"/>
                    <a:gd name="T20" fmla="*/ 6 w 24"/>
                    <a:gd name="T21" fmla="*/ 0 h 24"/>
                    <a:gd name="T22" fmla="*/ 12 w 24"/>
                    <a:gd name="T23" fmla="*/ 12 h 24"/>
                    <a:gd name="T24" fmla="*/ 18 w 24"/>
                    <a:gd name="T25"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0" y="24"/>
                      </a:moveTo>
                      <a:lnTo>
                        <a:pt x="6" y="24"/>
                      </a:lnTo>
                      <a:lnTo>
                        <a:pt x="6" y="24"/>
                      </a:lnTo>
                      <a:lnTo>
                        <a:pt x="24" y="12"/>
                      </a:lnTo>
                      <a:lnTo>
                        <a:pt x="24" y="12"/>
                      </a:lnTo>
                      <a:lnTo>
                        <a:pt x="24" y="12"/>
                      </a:lnTo>
                      <a:lnTo>
                        <a:pt x="18" y="6"/>
                      </a:lnTo>
                      <a:lnTo>
                        <a:pt x="0" y="24"/>
                      </a:lnTo>
                      <a:close/>
                      <a:moveTo>
                        <a:pt x="18" y="6"/>
                      </a:moveTo>
                      <a:lnTo>
                        <a:pt x="12" y="0"/>
                      </a:lnTo>
                      <a:lnTo>
                        <a:pt x="6" y="0"/>
                      </a:lnTo>
                      <a:lnTo>
                        <a:pt x="12" y="12"/>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353" name="Freeform 280"/>
                <p:cNvSpPr>
                  <a:spLocks noEditPoints="1"/>
                </p:cNvSpPr>
                <p:nvPr/>
              </p:nvSpPr>
              <p:spPr bwMode="auto">
                <a:xfrm>
                  <a:off x="4561" y="2447"/>
                  <a:ext cx="24" cy="18"/>
                </a:xfrm>
                <a:custGeom>
                  <a:avLst/>
                  <a:gdLst>
                    <a:gd name="T0" fmla="*/ 24 w 24"/>
                    <a:gd name="T1" fmla="*/ 12 h 18"/>
                    <a:gd name="T2" fmla="*/ 24 w 24"/>
                    <a:gd name="T3" fmla="*/ 6 h 18"/>
                    <a:gd name="T4" fmla="*/ 24 w 24"/>
                    <a:gd name="T5" fmla="*/ 0 h 18"/>
                    <a:gd name="T6" fmla="*/ 0 w 24"/>
                    <a:gd name="T7" fmla="*/ 12 h 18"/>
                    <a:gd name="T8" fmla="*/ 0 w 24"/>
                    <a:gd name="T9" fmla="*/ 12 h 18"/>
                    <a:gd name="T10" fmla="*/ 0 w 24"/>
                    <a:gd name="T11" fmla="*/ 12 h 18"/>
                    <a:gd name="T12" fmla="*/ 24 w 24"/>
                    <a:gd name="T13" fmla="*/ 12 h 18"/>
                    <a:gd name="T14" fmla="*/ 6 w 24"/>
                    <a:gd name="T15" fmla="*/ 18 h 18"/>
                    <a:gd name="T16" fmla="*/ 24 w 24"/>
                    <a:gd name="T17" fmla="*/ 12 h 18"/>
                    <a:gd name="T18" fmla="*/ 0 w 24"/>
                    <a:gd name="T19" fmla="*/ 12 h 18"/>
                    <a:gd name="T20" fmla="*/ 24 w 24"/>
                    <a:gd name="T21" fmla="*/ 6 h 18"/>
                    <a:gd name="T22" fmla="*/ 6 w 24"/>
                    <a:gd name="T23"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24" y="12"/>
                      </a:moveTo>
                      <a:lnTo>
                        <a:pt x="24" y="6"/>
                      </a:lnTo>
                      <a:lnTo>
                        <a:pt x="24" y="0"/>
                      </a:lnTo>
                      <a:lnTo>
                        <a:pt x="0" y="12"/>
                      </a:lnTo>
                      <a:lnTo>
                        <a:pt x="0" y="12"/>
                      </a:lnTo>
                      <a:lnTo>
                        <a:pt x="0" y="12"/>
                      </a:lnTo>
                      <a:lnTo>
                        <a:pt x="24" y="12"/>
                      </a:lnTo>
                      <a:close/>
                      <a:moveTo>
                        <a:pt x="6" y="18"/>
                      </a:moveTo>
                      <a:lnTo>
                        <a:pt x="24" y="12"/>
                      </a:lnTo>
                      <a:lnTo>
                        <a:pt x="0" y="12"/>
                      </a:lnTo>
                      <a:lnTo>
                        <a:pt x="24" y="6"/>
                      </a:lnTo>
                      <a:lnTo>
                        <a:pt x="6" y="18"/>
                      </a:lnTo>
                      <a:close/>
                    </a:path>
                  </a:pathLst>
                </a:custGeom>
                <a:solidFill>
                  <a:srgbClr val="00FF00"/>
                </a:solidFill>
                <a:ln w="9525">
                  <a:solidFill>
                    <a:srgbClr val="00FF00"/>
                  </a:solidFill>
                  <a:round/>
                  <a:headEnd/>
                  <a:tailEnd/>
                </a:ln>
              </p:spPr>
              <p:txBody>
                <a:bodyPr/>
                <a:lstStyle/>
                <a:p>
                  <a:endParaRPr lang="zh-CN" altLang="en-US"/>
                </a:p>
              </p:txBody>
            </p:sp>
            <p:sp>
              <p:nvSpPr>
                <p:cNvPr id="354" name="Freeform 281"/>
                <p:cNvSpPr>
                  <a:spLocks noEditPoints="1"/>
                </p:cNvSpPr>
                <p:nvPr/>
              </p:nvSpPr>
              <p:spPr bwMode="auto">
                <a:xfrm>
                  <a:off x="4561" y="2441"/>
                  <a:ext cx="24" cy="24"/>
                </a:xfrm>
                <a:custGeom>
                  <a:avLst/>
                  <a:gdLst>
                    <a:gd name="T0" fmla="*/ 18 w 24"/>
                    <a:gd name="T1" fmla="*/ 0 h 24"/>
                    <a:gd name="T2" fmla="*/ 18 w 24"/>
                    <a:gd name="T3" fmla="*/ 6 h 24"/>
                    <a:gd name="T4" fmla="*/ 24 w 24"/>
                    <a:gd name="T5" fmla="*/ 6 h 24"/>
                    <a:gd name="T6" fmla="*/ 0 w 24"/>
                    <a:gd name="T7" fmla="*/ 6 h 24"/>
                    <a:gd name="T8" fmla="*/ 6 w 24"/>
                    <a:gd name="T9" fmla="*/ 18 h 24"/>
                    <a:gd name="T10" fmla="*/ 6 w 24"/>
                    <a:gd name="T11" fmla="*/ 24 h 24"/>
                    <a:gd name="T12" fmla="*/ 18 w 24"/>
                    <a:gd name="T13" fmla="*/ 0 h 24"/>
                    <a:gd name="T14" fmla="*/ 24 w 24"/>
                    <a:gd name="T15" fmla="*/ 6 h 24"/>
                    <a:gd name="T16" fmla="*/ 24 w 24"/>
                    <a:gd name="T17" fmla="*/ 6 h 24"/>
                    <a:gd name="T18" fmla="*/ 18 w 24"/>
                    <a:gd name="T19" fmla="*/ 0 h 24"/>
                    <a:gd name="T20" fmla="*/ 12 w 24"/>
                    <a:gd name="T21" fmla="*/ 12 h 24"/>
                    <a:gd name="T22" fmla="*/ 24 w 24"/>
                    <a:gd name="T23"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8" y="0"/>
                      </a:moveTo>
                      <a:lnTo>
                        <a:pt x="18" y="6"/>
                      </a:lnTo>
                      <a:lnTo>
                        <a:pt x="24" y="6"/>
                      </a:lnTo>
                      <a:lnTo>
                        <a:pt x="0" y="6"/>
                      </a:lnTo>
                      <a:lnTo>
                        <a:pt x="6" y="18"/>
                      </a:lnTo>
                      <a:lnTo>
                        <a:pt x="6" y="24"/>
                      </a:lnTo>
                      <a:lnTo>
                        <a:pt x="18" y="0"/>
                      </a:lnTo>
                      <a:close/>
                      <a:moveTo>
                        <a:pt x="24" y="6"/>
                      </a:moveTo>
                      <a:lnTo>
                        <a:pt x="24" y="6"/>
                      </a:lnTo>
                      <a:lnTo>
                        <a:pt x="18" y="0"/>
                      </a:lnTo>
                      <a:lnTo>
                        <a:pt x="12" y="12"/>
                      </a:lnTo>
                      <a:lnTo>
                        <a:pt x="24" y="6"/>
                      </a:lnTo>
                      <a:close/>
                    </a:path>
                  </a:pathLst>
                </a:custGeom>
                <a:solidFill>
                  <a:srgbClr val="00FF00"/>
                </a:solidFill>
                <a:ln w="9525">
                  <a:solidFill>
                    <a:srgbClr val="00FF00"/>
                  </a:solidFill>
                  <a:round/>
                  <a:headEnd/>
                  <a:tailEnd/>
                </a:ln>
              </p:spPr>
              <p:txBody>
                <a:bodyPr/>
                <a:lstStyle/>
                <a:p>
                  <a:endParaRPr lang="zh-CN" altLang="en-US"/>
                </a:p>
              </p:txBody>
            </p:sp>
            <p:sp>
              <p:nvSpPr>
                <p:cNvPr id="355" name="Freeform 282"/>
                <p:cNvSpPr>
                  <a:spLocks noEditPoints="1"/>
                </p:cNvSpPr>
                <p:nvPr/>
              </p:nvSpPr>
              <p:spPr bwMode="auto">
                <a:xfrm>
                  <a:off x="4561" y="2429"/>
                  <a:ext cx="24" cy="24"/>
                </a:xfrm>
                <a:custGeom>
                  <a:avLst/>
                  <a:gdLst>
                    <a:gd name="T0" fmla="*/ 18 w 24"/>
                    <a:gd name="T1" fmla="*/ 12 h 24"/>
                    <a:gd name="T2" fmla="*/ 18 w 24"/>
                    <a:gd name="T3" fmla="*/ 18 h 24"/>
                    <a:gd name="T4" fmla="*/ 18 w 24"/>
                    <a:gd name="T5" fmla="*/ 18 h 24"/>
                    <a:gd name="T6" fmla="*/ 0 w 24"/>
                    <a:gd name="T7" fmla="*/ 0 h 24"/>
                    <a:gd name="T8" fmla="*/ 0 w 24"/>
                    <a:gd name="T9" fmla="*/ 12 h 24"/>
                    <a:gd name="T10" fmla="*/ 0 w 24"/>
                    <a:gd name="T11" fmla="*/ 24 h 24"/>
                    <a:gd name="T12" fmla="*/ 18 w 24"/>
                    <a:gd name="T13" fmla="*/ 12 h 24"/>
                    <a:gd name="T14" fmla="*/ 24 w 24"/>
                    <a:gd name="T15" fmla="*/ 18 h 24"/>
                    <a:gd name="T16" fmla="*/ 24 w 24"/>
                    <a:gd name="T17" fmla="*/ 18 h 24"/>
                    <a:gd name="T18" fmla="*/ 18 w 24"/>
                    <a:gd name="T19" fmla="*/ 12 h 24"/>
                    <a:gd name="T20" fmla="*/ 12 w 24"/>
                    <a:gd name="T21" fmla="*/ 18 h 24"/>
                    <a:gd name="T22" fmla="*/ 24 w 24"/>
                    <a:gd name="T23" fmla="*/ 1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8" y="12"/>
                      </a:moveTo>
                      <a:lnTo>
                        <a:pt x="18" y="18"/>
                      </a:lnTo>
                      <a:lnTo>
                        <a:pt x="18" y="18"/>
                      </a:lnTo>
                      <a:lnTo>
                        <a:pt x="0" y="0"/>
                      </a:lnTo>
                      <a:lnTo>
                        <a:pt x="0" y="12"/>
                      </a:lnTo>
                      <a:lnTo>
                        <a:pt x="0" y="24"/>
                      </a:lnTo>
                      <a:lnTo>
                        <a:pt x="18" y="12"/>
                      </a:lnTo>
                      <a:close/>
                      <a:moveTo>
                        <a:pt x="24" y="18"/>
                      </a:moveTo>
                      <a:lnTo>
                        <a:pt x="24" y="18"/>
                      </a:lnTo>
                      <a:lnTo>
                        <a:pt x="18" y="12"/>
                      </a:lnTo>
                      <a:lnTo>
                        <a:pt x="12" y="18"/>
                      </a:lnTo>
                      <a:lnTo>
                        <a:pt x="24" y="18"/>
                      </a:lnTo>
                      <a:close/>
                    </a:path>
                  </a:pathLst>
                </a:custGeom>
                <a:solidFill>
                  <a:srgbClr val="00FF00"/>
                </a:solidFill>
                <a:ln w="9525">
                  <a:solidFill>
                    <a:srgbClr val="00FF00"/>
                  </a:solidFill>
                  <a:round/>
                  <a:headEnd/>
                  <a:tailEnd/>
                </a:ln>
              </p:spPr>
              <p:txBody>
                <a:bodyPr/>
                <a:lstStyle/>
                <a:p>
                  <a:endParaRPr lang="zh-CN" altLang="en-US"/>
                </a:p>
              </p:txBody>
            </p:sp>
            <p:sp>
              <p:nvSpPr>
                <p:cNvPr id="356" name="Freeform 283"/>
                <p:cNvSpPr>
                  <a:spLocks noEditPoints="1"/>
                </p:cNvSpPr>
                <p:nvPr/>
              </p:nvSpPr>
              <p:spPr bwMode="auto">
                <a:xfrm>
                  <a:off x="4561" y="2423"/>
                  <a:ext cx="24" cy="24"/>
                </a:xfrm>
                <a:custGeom>
                  <a:avLst/>
                  <a:gdLst>
                    <a:gd name="T0" fmla="*/ 18 w 24"/>
                    <a:gd name="T1" fmla="*/ 24 h 24"/>
                    <a:gd name="T2" fmla="*/ 24 w 24"/>
                    <a:gd name="T3" fmla="*/ 18 h 24"/>
                    <a:gd name="T4" fmla="*/ 24 w 24"/>
                    <a:gd name="T5" fmla="*/ 12 h 24"/>
                    <a:gd name="T6" fmla="*/ 18 w 24"/>
                    <a:gd name="T7" fmla="*/ 6 h 24"/>
                    <a:gd name="T8" fmla="*/ 12 w 24"/>
                    <a:gd name="T9" fmla="*/ 0 h 24"/>
                    <a:gd name="T10" fmla="*/ 0 w 24"/>
                    <a:gd name="T11" fmla="*/ 18 h 24"/>
                    <a:gd name="T12" fmla="*/ 0 w 24"/>
                    <a:gd name="T13" fmla="*/ 18 h 24"/>
                    <a:gd name="T14" fmla="*/ 0 w 24"/>
                    <a:gd name="T15" fmla="*/ 18 h 24"/>
                    <a:gd name="T16" fmla="*/ 0 w 24"/>
                    <a:gd name="T17" fmla="*/ 6 h 24"/>
                    <a:gd name="T18" fmla="*/ 18 w 24"/>
                    <a:gd name="T19" fmla="*/ 24 h 24"/>
                    <a:gd name="T20" fmla="*/ 0 w 24"/>
                    <a:gd name="T21" fmla="*/ 6 h 24"/>
                    <a:gd name="T22" fmla="*/ 0 w 24"/>
                    <a:gd name="T23" fmla="*/ 6 h 24"/>
                    <a:gd name="T24" fmla="*/ 0 w 24"/>
                    <a:gd name="T25" fmla="*/ 6 h 24"/>
                    <a:gd name="T26" fmla="*/ 12 w 24"/>
                    <a:gd name="T27" fmla="*/ 18 h 24"/>
                    <a:gd name="T28" fmla="*/ 0 w 24"/>
                    <a:gd name="T29"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4">
                      <a:moveTo>
                        <a:pt x="18" y="24"/>
                      </a:moveTo>
                      <a:lnTo>
                        <a:pt x="24" y="18"/>
                      </a:lnTo>
                      <a:lnTo>
                        <a:pt x="24" y="12"/>
                      </a:lnTo>
                      <a:lnTo>
                        <a:pt x="18" y="6"/>
                      </a:lnTo>
                      <a:lnTo>
                        <a:pt x="12" y="0"/>
                      </a:lnTo>
                      <a:lnTo>
                        <a:pt x="0" y="18"/>
                      </a:lnTo>
                      <a:lnTo>
                        <a:pt x="0" y="18"/>
                      </a:lnTo>
                      <a:lnTo>
                        <a:pt x="0" y="18"/>
                      </a:lnTo>
                      <a:lnTo>
                        <a:pt x="0" y="6"/>
                      </a:lnTo>
                      <a:lnTo>
                        <a:pt x="18" y="24"/>
                      </a:lnTo>
                      <a:close/>
                      <a:moveTo>
                        <a:pt x="0" y="6"/>
                      </a:moveTo>
                      <a:lnTo>
                        <a:pt x="0" y="6"/>
                      </a:lnTo>
                      <a:lnTo>
                        <a:pt x="0" y="6"/>
                      </a:lnTo>
                      <a:lnTo>
                        <a:pt x="12" y="18"/>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357" name="Freeform 284"/>
                <p:cNvSpPr>
                  <a:spLocks noEditPoints="1"/>
                </p:cNvSpPr>
                <p:nvPr/>
              </p:nvSpPr>
              <p:spPr bwMode="auto">
                <a:xfrm>
                  <a:off x="4555" y="2417"/>
                  <a:ext cx="18" cy="24"/>
                </a:xfrm>
                <a:custGeom>
                  <a:avLst/>
                  <a:gdLst>
                    <a:gd name="T0" fmla="*/ 18 w 18"/>
                    <a:gd name="T1" fmla="*/ 6 h 24"/>
                    <a:gd name="T2" fmla="*/ 12 w 18"/>
                    <a:gd name="T3" fmla="*/ 6 h 24"/>
                    <a:gd name="T4" fmla="*/ 0 w 18"/>
                    <a:gd name="T5" fmla="*/ 0 h 24"/>
                    <a:gd name="T6" fmla="*/ 6 w 18"/>
                    <a:gd name="T7" fmla="*/ 24 h 24"/>
                    <a:gd name="T8" fmla="*/ 6 w 18"/>
                    <a:gd name="T9" fmla="*/ 24 h 24"/>
                    <a:gd name="T10" fmla="*/ 18 w 18"/>
                    <a:gd name="T11" fmla="*/ 6 h 24"/>
                    <a:gd name="T12" fmla="*/ 6 w 18"/>
                    <a:gd name="T13" fmla="*/ 24 h 24"/>
                    <a:gd name="T14" fmla="*/ 6 w 18"/>
                    <a:gd name="T15" fmla="*/ 24 h 24"/>
                    <a:gd name="T16" fmla="*/ 6 w 18"/>
                    <a:gd name="T17" fmla="*/ 24 h 24"/>
                    <a:gd name="T18" fmla="*/ 12 w 18"/>
                    <a:gd name="T19" fmla="*/ 18 h 24"/>
                    <a:gd name="T20" fmla="*/ 6 w 18"/>
                    <a:gd name="T2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24">
                      <a:moveTo>
                        <a:pt x="18" y="6"/>
                      </a:moveTo>
                      <a:lnTo>
                        <a:pt x="12" y="6"/>
                      </a:lnTo>
                      <a:lnTo>
                        <a:pt x="0" y="0"/>
                      </a:lnTo>
                      <a:lnTo>
                        <a:pt x="6" y="24"/>
                      </a:lnTo>
                      <a:lnTo>
                        <a:pt x="6" y="24"/>
                      </a:lnTo>
                      <a:lnTo>
                        <a:pt x="18" y="6"/>
                      </a:lnTo>
                      <a:close/>
                      <a:moveTo>
                        <a:pt x="6" y="24"/>
                      </a:moveTo>
                      <a:lnTo>
                        <a:pt x="6" y="24"/>
                      </a:lnTo>
                      <a:lnTo>
                        <a:pt x="6" y="24"/>
                      </a:lnTo>
                      <a:lnTo>
                        <a:pt x="12" y="18"/>
                      </a:lnTo>
                      <a:lnTo>
                        <a:pt x="6" y="24"/>
                      </a:lnTo>
                      <a:close/>
                    </a:path>
                  </a:pathLst>
                </a:custGeom>
                <a:solidFill>
                  <a:srgbClr val="00FF00"/>
                </a:solidFill>
                <a:ln w="9525">
                  <a:solidFill>
                    <a:srgbClr val="00FF00"/>
                  </a:solidFill>
                  <a:round/>
                  <a:headEnd/>
                  <a:tailEnd/>
                </a:ln>
              </p:spPr>
              <p:txBody>
                <a:bodyPr/>
                <a:lstStyle/>
                <a:p>
                  <a:endParaRPr lang="zh-CN" altLang="en-US"/>
                </a:p>
              </p:txBody>
            </p:sp>
            <p:sp>
              <p:nvSpPr>
                <p:cNvPr id="358" name="Freeform 285"/>
                <p:cNvSpPr>
                  <a:spLocks noEditPoints="1"/>
                </p:cNvSpPr>
                <p:nvPr/>
              </p:nvSpPr>
              <p:spPr bwMode="auto">
                <a:xfrm>
                  <a:off x="4549" y="2417"/>
                  <a:ext cx="24" cy="18"/>
                </a:xfrm>
                <a:custGeom>
                  <a:avLst/>
                  <a:gdLst>
                    <a:gd name="T0" fmla="*/ 0 w 24"/>
                    <a:gd name="T1" fmla="*/ 18 h 18"/>
                    <a:gd name="T2" fmla="*/ 0 w 24"/>
                    <a:gd name="T3" fmla="*/ 18 h 18"/>
                    <a:gd name="T4" fmla="*/ 24 w 24"/>
                    <a:gd name="T5" fmla="*/ 18 h 18"/>
                    <a:gd name="T6" fmla="*/ 24 w 24"/>
                    <a:gd name="T7" fmla="*/ 12 h 18"/>
                    <a:gd name="T8" fmla="*/ 0 w 24"/>
                    <a:gd name="T9" fmla="*/ 18 h 18"/>
                    <a:gd name="T10" fmla="*/ 6 w 24"/>
                    <a:gd name="T11" fmla="*/ 0 h 18"/>
                    <a:gd name="T12" fmla="*/ 0 w 24"/>
                    <a:gd name="T13" fmla="*/ 6 h 18"/>
                    <a:gd name="T14" fmla="*/ 0 w 24"/>
                    <a:gd name="T15" fmla="*/ 18 h 18"/>
                    <a:gd name="T16" fmla="*/ 12 w 24"/>
                    <a:gd name="T17" fmla="*/ 12 h 18"/>
                    <a:gd name="T18" fmla="*/ 6 w 24"/>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0" y="18"/>
                      </a:moveTo>
                      <a:lnTo>
                        <a:pt x="0" y="18"/>
                      </a:lnTo>
                      <a:lnTo>
                        <a:pt x="24" y="18"/>
                      </a:lnTo>
                      <a:lnTo>
                        <a:pt x="24" y="12"/>
                      </a:lnTo>
                      <a:lnTo>
                        <a:pt x="0" y="18"/>
                      </a:lnTo>
                      <a:close/>
                      <a:moveTo>
                        <a:pt x="6" y="0"/>
                      </a:moveTo>
                      <a:lnTo>
                        <a:pt x="0" y="6"/>
                      </a:lnTo>
                      <a:lnTo>
                        <a:pt x="0" y="18"/>
                      </a:lnTo>
                      <a:lnTo>
                        <a:pt x="12"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359" name="Freeform 286"/>
                <p:cNvSpPr>
                  <a:spLocks/>
                </p:cNvSpPr>
                <p:nvPr/>
              </p:nvSpPr>
              <p:spPr bwMode="auto">
                <a:xfrm>
                  <a:off x="4549" y="2435"/>
                  <a:ext cx="12" cy="12"/>
                </a:xfrm>
                <a:custGeom>
                  <a:avLst/>
                  <a:gdLst>
                    <a:gd name="T0" fmla="*/ 0 w 12"/>
                    <a:gd name="T1" fmla="*/ 0 h 12"/>
                    <a:gd name="T2" fmla="*/ 0 w 12"/>
                    <a:gd name="T3" fmla="*/ 6 h 12"/>
                    <a:gd name="T4" fmla="*/ 6 w 12"/>
                    <a:gd name="T5" fmla="*/ 12 h 12"/>
                    <a:gd name="T6" fmla="*/ 12 w 12"/>
                    <a:gd name="T7" fmla="*/ 0 h 12"/>
                    <a:gd name="T8" fmla="*/ 0 w 12"/>
                    <a:gd name="T9" fmla="*/ 0 h 12"/>
                  </a:gdLst>
                  <a:ahLst/>
                  <a:cxnLst>
                    <a:cxn ang="0">
                      <a:pos x="T0" y="T1"/>
                    </a:cxn>
                    <a:cxn ang="0">
                      <a:pos x="T2" y="T3"/>
                    </a:cxn>
                    <a:cxn ang="0">
                      <a:pos x="T4" y="T5"/>
                    </a:cxn>
                    <a:cxn ang="0">
                      <a:pos x="T6" y="T7"/>
                    </a:cxn>
                    <a:cxn ang="0">
                      <a:pos x="T8" y="T9"/>
                    </a:cxn>
                  </a:cxnLst>
                  <a:rect l="0" t="0" r="r" b="b"/>
                  <a:pathLst>
                    <a:path w="12" h="12">
                      <a:moveTo>
                        <a:pt x="0" y="0"/>
                      </a:moveTo>
                      <a:lnTo>
                        <a:pt x="0" y="6"/>
                      </a:lnTo>
                      <a:lnTo>
                        <a:pt x="6" y="12"/>
                      </a:lnTo>
                      <a:lnTo>
                        <a:pt x="12" y="0"/>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360" name="Freeform 287"/>
                <p:cNvSpPr>
                  <a:spLocks/>
                </p:cNvSpPr>
                <p:nvPr/>
              </p:nvSpPr>
              <p:spPr bwMode="auto">
                <a:xfrm>
                  <a:off x="4555" y="2411"/>
                  <a:ext cx="48" cy="18"/>
                </a:xfrm>
                <a:custGeom>
                  <a:avLst/>
                  <a:gdLst>
                    <a:gd name="T0" fmla="*/ 0 w 48"/>
                    <a:gd name="T1" fmla="*/ 18 h 18"/>
                    <a:gd name="T2" fmla="*/ 6 w 48"/>
                    <a:gd name="T3" fmla="*/ 18 h 18"/>
                    <a:gd name="T4" fmla="*/ 18 w 48"/>
                    <a:gd name="T5" fmla="*/ 18 h 18"/>
                    <a:gd name="T6" fmla="*/ 18 w 48"/>
                    <a:gd name="T7" fmla="*/ 18 h 18"/>
                    <a:gd name="T8" fmla="*/ 24 w 48"/>
                    <a:gd name="T9" fmla="*/ 18 h 18"/>
                    <a:gd name="T10" fmla="*/ 30 w 48"/>
                    <a:gd name="T11" fmla="*/ 12 h 18"/>
                    <a:gd name="T12" fmla="*/ 30 w 48"/>
                    <a:gd name="T13" fmla="*/ 6 h 18"/>
                    <a:gd name="T14" fmla="*/ 30 w 48"/>
                    <a:gd name="T15" fmla="*/ 6 h 18"/>
                    <a:gd name="T16" fmla="*/ 36 w 48"/>
                    <a:gd name="T17" fmla="*/ 6 h 18"/>
                    <a:gd name="T18" fmla="*/ 36 w 48"/>
                    <a:gd name="T19" fmla="*/ 6 h 18"/>
                    <a:gd name="T20" fmla="*/ 36 w 48"/>
                    <a:gd name="T21" fmla="*/ 6 h 18"/>
                    <a:gd name="T22" fmla="*/ 42 w 48"/>
                    <a:gd name="T23" fmla="*/ 0 h 18"/>
                    <a:gd name="T24" fmla="*/ 42 w 48"/>
                    <a:gd name="T25" fmla="*/ 0 h 18"/>
                    <a:gd name="T26" fmla="*/ 42 w 48"/>
                    <a:gd name="T27" fmla="*/ 0 h 18"/>
                    <a:gd name="T28" fmla="*/ 48 w 48"/>
                    <a:gd name="T29" fmla="*/ 0 h 18"/>
                    <a:gd name="T30" fmla="*/ 48 w 48"/>
                    <a:gd name="T31" fmla="*/ 0 h 18"/>
                    <a:gd name="T32" fmla="*/ 48 w 48"/>
                    <a:gd name="T33" fmla="*/ 0 h 18"/>
                    <a:gd name="T34" fmla="*/ 42 w 48"/>
                    <a:gd name="T35" fmla="*/ 0 h 18"/>
                    <a:gd name="T36" fmla="*/ 42 w 48"/>
                    <a:gd name="T37" fmla="*/ 0 h 18"/>
                    <a:gd name="T38" fmla="*/ 36 w 48"/>
                    <a:gd name="T39" fmla="*/ 0 h 18"/>
                    <a:gd name="T40" fmla="*/ 36 w 48"/>
                    <a:gd name="T41" fmla="*/ 6 h 18"/>
                    <a:gd name="T42" fmla="*/ 30 w 48"/>
                    <a:gd name="T43" fmla="*/ 6 h 18"/>
                    <a:gd name="T44" fmla="*/ 30 w 48"/>
                    <a:gd name="T45" fmla="*/ 12 h 18"/>
                    <a:gd name="T46" fmla="*/ 24 w 48"/>
                    <a:gd name="T47" fmla="*/ 12 h 18"/>
                    <a:gd name="T48" fmla="*/ 24 w 48"/>
                    <a:gd name="T49" fmla="*/ 12 h 18"/>
                    <a:gd name="T50" fmla="*/ 18 w 48"/>
                    <a:gd name="T51" fmla="*/ 12 h 18"/>
                    <a:gd name="T52" fmla="*/ 12 w 48"/>
                    <a:gd name="T53" fmla="*/ 12 h 18"/>
                    <a:gd name="T54" fmla="*/ 6 w 48"/>
                    <a:gd name="T55" fmla="*/ 12 h 18"/>
                    <a:gd name="T56" fmla="*/ 0 w 48"/>
                    <a:gd name="T57" fmla="*/ 18 h 18"/>
                    <a:gd name="T58" fmla="*/ 0 w 48"/>
                    <a:gd name="T59"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8" h="18">
                      <a:moveTo>
                        <a:pt x="0" y="18"/>
                      </a:moveTo>
                      <a:lnTo>
                        <a:pt x="6" y="18"/>
                      </a:lnTo>
                      <a:lnTo>
                        <a:pt x="18" y="18"/>
                      </a:lnTo>
                      <a:lnTo>
                        <a:pt x="18" y="18"/>
                      </a:lnTo>
                      <a:lnTo>
                        <a:pt x="24" y="18"/>
                      </a:lnTo>
                      <a:lnTo>
                        <a:pt x="30" y="12"/>
                      </a:lnTo>
                      <a:lnTo>
                        <a:pt x="30" y="6"/>
                      </a:lnTo>
                      <a:lnTo>
                        <a:pt x="30" y="6"/>
                      </a:lnTo>
                      <a:lnTo>
                        <a:pt x="36" y="6"/>
                      </a:lnTo>
                      <a:lnTo>
                        <a:pt x="36" y="6"/>
                      </a:lnTo>
                      <a:lnTo>
                        <a:pt x="36" y="6"/>
                      </a:lnTo>
                      <a:lnTo>
                        <a:pt x="42" y="0"/>
                      </a:lnTo>
                      <a:lnTo>
                        <a:pt x="42" y="0"/>
                      </a:lnTo>
                      <a:lnTo>
                        <a:pt x="42" y="0"/>
                      </a:lnTo>
                      <a:lnTo>
                        <a:pt x="48" y="0"/>
                      </a:lnTo>
                      <a:lnTo>
                        <a:pt x="48" y="0"/>
                      </a:lnTo>
                      <a:lnTo>
                        <a:pt x="48" y="0"/>
                      </a:lnTo>
                      <a:lnTo>
                        <a:pt x="42" y="0"/>
                      </a:lnTo>
                      <a:lnTo>
                        <a:pt x="42" y="0"/>
                      </a:lnTo>
                      <a:lnTo>
                        <a:pt x="36" y="0"/>
                      </a:lnTo>
                      <a:lnTo>
                        <a:pt x="36" y="6"/>
                      </a:lnTo>
                      <a:lnTo>
                        <a:pt x="30" y="6"/>
                      </a:lnTo>
                      <a:lnTo>
                        <a:pt x="30" y="12"/>
                      </a:lnTo>
                      <a:lnTo>
                        <a:pt x="24" y="12"/>
                      </a:lnTo>
                      <a:lnTo>
                        <a:pt x="24" y="12"/>
                      </a:lnTo>
                      <a:lnTo>
                        <a:pt x="18" y="12"/>
                      </a:lnTo>
                      <a:lnTo>
                        <a:pt x="12" y="12"/>
                      </a:lnTo>
                      <a:lnTo>
                        <a:pt x="6" y="12"/>
                      </a:lnTo>
                      <a:lnTo>
                        <a:pt x="0" y="18"/>
                      </a:lnTo>
                      <a:lnTo>
                        <a:pt x="0" y="18"/>
                      </a:lnTo>
                      <a:close/>
                    </a:path>
                  </a:pathLst>
                </a:custGeom>
                <a:solidFill>
                  <a:srgbClr val="00FF00"/>
                </a:solidFill>
                <a:ln w="9525">
                  <a:solidFill>
                    <a:srgbClr val="00FF00"/>
                  </a:solidFill>
                  <a:round/>
                  <a:headEnd/>
                  <a:tailEnd/>
                </a:ln>
              </p:spPr>
              <p:txBody>
                <a:bodyPr/>
                <a:lstStyle/>
                <a:p>
                  <a:endParaRPr lang="zh-CN" altLang="en-US"/>
                </a:p>
              </p:txBody>
            </p:sp>
            <p:sp>
              <p:nvSpPr>
                <p:cNvPr id="361" name="Freeform 288"/>
                <p:cNvSpPr>
                  <a:spLocks/>
                </p:cNvSpPr>
                <p:nvPr/>
              </p:nvSpPr>
              <p:spPr bwMode="auto">
                <a:xfrm>
                  <a:off x="4555" y="2417"/>
                  <a:ext cx="24" cy="24"/>
                </a:xfrm>
                <a:custGeom>
                  <a:avLst/>
                  <a:gdLst>
                    <a:gd name="T0" fmla="*/ 0 w 24"/>
                    <a:gd name="T1" fmla="*/ 24 h 24"/>
                    <a:gd name="T2" fmla="*/ 6 w 24"/>
                    <a:gd name="T3" fmla="*/ 24 h 24"/>
                    <a:gd name="T4" fmla="*/ 18 w 24"/>
                    <a:gd name="T5" fmla="*/ 24 h 24"/>
                    <a:gd name="T6" fmla="*/ 24 w 24"/>
                    <a:gd name="T7" fmla="*/ 18 h 24"/>
                    <a:gd name="T8" fmla="*/ 6 w 24"/>
                    <a:gd name="T9" fmla="*/ 6 h 24"/>
                    <a:gd name="T10" fmla="*/ 12 w 24"/>
                    <a:gd name="T11" fmla="*/ 0 h 24"/>
                    <a:gd name="T12" fmla="*/ 6 w 24"/>
                    <a:gd name="T13" fmla="*/ 0 h 24"/>
                    <a:gd name="T14" fmla="*/ 6 w 24"/>
                    <a:gd name="T15" fmla="*/ 0 h 24"/>
                    <a:gd name="T16" fmla="*/ 6 w 24"/>
                    <a:gd name="T17" fmla="*/ 0 h 24"/>
                    <a:gd name="T18" fmla="*/ 0 w 24"/>
                    <a:gd name="T1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24"/>
                      </a:moveTo>
                      <a:lnTo>
                        <a:pt x="6" y="24"/>
                      </a:lnTo>
                      <a:lnTo>
                        <a:pt x="18" y="24"/>
                      </a:lnTo>
                      <a:lnTo>
                        <a:pt x="24" y="18"/>
                      </a:lnTo>
                      <a:lnTo>
                        <a:pt x="6" y="6"/>
                      </a:lnTo>
                      <a:lnTo>
                        <a:pt x="12" y="0"/>
                      </a:lnTo>
                      <a:lnTo>
                        <a:pt x="6" y="0"/>
                      </a:lnTo>
                      <a:lnTo>
                        <a:pt x="6" y="0"/>
                      </a:lnTo>
                      <a:lnTo>
                        <a:pt x="6" y="0"/>
                      </a:lnTo>
                      <a:lnTo>
                        <a:pt x="0" y="24"/>
                      </a:lnTo>
                      <a:close/>
                    </a:path>
                  </a:pathLst>
                </a:custGeom>
                <a:solidFill>
                  <a:srgbClr val="00FF00"/>
                </a:solidFill>
                <a:ln w="9525">
                  <a:solidFill>
                    <a:srgbClr val="00FF00"/>
                  </a:solidFill>
                  <a:round/>
                  <a:headEnd/>
                  <a:tailEnd/>
                </a:ln>
              </p:spPr>
              <p:txBody>
                <a:bodyPr/>
                <a:lstStyle/>
                <a:p>
                  <a:endParaRPr lang="zh-CN" altLang="en-US"/>
                </a:p>
              </p:txBody>
            </p:sp>
            <p:sp>
              <p:nvSpPr>
                <p:cNvPr id="362" name="Freeform 289"/>
                <p:cNvSpPr>
                  <a:spLocks noEditPoints="1"/>
                </p:cNvSpPr>
                <p:nvPr/>
              </p:nvSpPr>
              <p:spPr bwMode="auto">
                <a:xfrm>
                  <a:off x="4561" y="2417"/>
                  <a:ext cx="24" cy="24"/>
                </a:xfrm>
                <a:custGeom>
                  <a:avLst/>
                  <a:gdLst>
                    <a:gd name="T0" fmla="*/ 12 w 24"/>
                    <a:gd name="T1" fmla="*/ 24 h 24"/>
                    <a:gd name="T2" fmla="*/ 18 w 24"/>
                    <a:gd name="T3" fmla="*/ 24 h 24"/>
                    <a:gd name="T4" fmla="*/ 24 w 24"/>
                    <a:gd name="T5" fmla="*/ 18 h 24"/>
                    <a:gd name="T6" fmla="*/ 6 w 24"/>
                    <a:gd name="T7" fmla="*/ 6 h 24"/>
                    <a:gd name="T8" fmla="*/ 12 w 24"/>
                    <a:gd name="T9" fmla="*/ 0 h 24"/>
                    <a:gd name="T10" fmla="*/ 12 w 24"/>
                    <a:gd name="T11" fmla="*/ 0 h 24"/>
                    <a:gd name="T12" fmla="*/ 12 w 24"/>
                    <a:gd name="T13" fmla="*/ 24 h 24"/>
                    <a:gd name="T14" fmla="*/ 12 w 24"/>
                    <a:gd name="T15" fmla="*/ 0 h 24"/>
                    <a:gd name="T16" fmla="*/ 6 w 24"/>
                    <a:gd name="T17" fmla="*/ 0 h 24"/>
                    <a:gd name="T18" fmla="*/ 0 w 24"/>
                    <a:gd name="T19" fmla="*/ 6 h 24"/>
                    <a:gd name="T20" fmla="*/ 12 w 24"/>
                    <a:gd name="T21" fmla="*/ 12 h 24"/>
                    <a:gd name="T22" fmla="*/ 12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2" y="24"/>
                      </a:moveTo>
                      <a:lnTo>
                        <a:pt x="18" y="24"/>
                      </a:lnTo>
                      <a:lnTo>
                        <a:pt x="24" y="18"/>
                      </a:lnTo>
                      <a:lnTo>
                        <a:pt x="6" y="6"/>
                      </a:lnTo>
                      <a:lnTo>
                        <a:pt x="12" y="0"/>
                      </a:lnTo>
                      <a:lnTo>
                        <a:pt x="12" y="0"/>
                      </a:lnTo>
                      <a:lnTo>
                        <a:pt x="12" y="24"/>
                      </a:lnTo>
                      <a:close/>
                      <a:moveTo>
                        <a:pt x="12" y="0"/>
                      </a:moveTo>
                      <a:lnTo>
                        <a:pt x="6" y="0"/>
                      </a:lnTo>
                      <a:lnTo>
                        <a:pt x="0" y="6"/>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363" name="Freeform 290"/>
                <p:cNvSpPr>
                  <a:spLocks noEditPoints="1"/>
                </p:cNvSpPr>
                <p:nvPr/>
              </p:nvSpPr>
              <p:spPr bwMode="auto">
                <a:xfrm>
                  <a:off x="4567" y="2411"/>
                  <a:ext cx="30" cy="24"/>
                </a:xfrm>
                <a:custGeom>
                  <a:avLst/>
                  <a:gdLst>
                    <a:gd name="T0" fmla="*/ 18 w 30"/>
                    <a:gd name="T1" fmla="*/ 24 h 24"/>
                    <a:gd name="T2" fmla="*/ 24 w 30"/>
                    <a:gd name="T3" fmla="*/ 24 h 24"/>
                    <a:gd name="T4" fmla="*/ 24 w 30"/>
                    <a:gd name="T5" fmla="*/ 18 h 24"/>
                    <a:gd name="T6" fmla="*/ 30 w 30"/>
                    <a:gd name="T7" fmla="*/ 6 h 24"/>
                    <a:gd name="T8" fmla="*/ 6 w 30"/>
                    <a:gd name="T9" fmla="*/ 6 h 24"/>
                    <a:gd name="T10" fmla="*/ 6 w 30"/>
                    <a:gd name="T11" fmla="*/ 0 h 24"/>
                    <a:gd name="T12" fmla="*/ 6 w 30"/>
                    <a:gd name="T13" fmla="*/ 0 h 24"/>
                    <a:gd name="T14" fmla="*/ 0 w 30"/>
                    <a:gd name="T15" fmla="*/ 6 h 24"/>
                    <a:gd name="T16" fmla="*/ 18 w 30"/>
                    <a:gd name="T17" fmla="*/ 24 h 24"/>
                    <a:gd name="T18" fmla="*/ 0 w 30"/>
                    <a:gd name="T19" fmla="*/ 6 h 24"/>
                    <a:gd name="T20" fmla="*/ 0 w 30"/>
                    <a:gd name="T21" fmla="*/ 6 h 24"/>
                    <a:gd name="T22" fmla="*/ 0 w 30"/>
                    <a:gd name="T23" fmla="*/ 12 h 24"/>
                    <a:gd name="T24" fmla="*/ 12 w 30"/>
                    <a:gd name="T25" fmla="*/ 18 h 24"/>
                    <a:gd name="T26" fmla="*/ 0 w 30"/>
                    <a:gd name="T27"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24">
                      <a:moveTo>
                        <a:pt x="18" y="24"/>
                      </a:moveTo>
                      <a:lnTo>
                        <a:pt x="24" y="24"/>
                      </a:lnTo>
                      <a:lnTo>
                        <a:pt x="24" y="18"/>
                      </a:lnTo>
                      <a:lnTo>
                        <a:pt x="30" y="6"/>
                      </a:lnTo>
                      <a:lnTo>
                        <a:pt x="6" y="6"/>
                      </a:lnTo>
                      <a:lnTo>
                        <a:pt x="6" y="0"/>
                      </a:lnTo>
                      <a:lnTo>
                        <a:pt x="6" y="0"/>
                      </a:lnTo>
                      <a:lnTo>
                        <a:pt x="0" y="6"/>
                      </a:lnTo>
                      <a:lnTo>
                        <a:pt x="18" y="24"/>
                      </a:lnTo>
                      <a:close/>
                      <a:moveTo>
                        <a:pt x="0" y="6"/>
                      </a:moveTo>
                      <a:lnTo>
                        <a:pt x="0" y="6"/>
                      </a:lnTo>
                      <a:lnTo>
                        <a:pt x="0" y="12"/>
                      </a:lnTo>
                      <a:lnTo>
                        <a:pt x="12" y="18"/>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364" name="Freeform 291"/>
                <p:cNvSpPr>
                  <a:spLocks noEditPoints="1"/>
                </p:cNvSpPr>
                <p:nvPr/>
              </p:nvSpPr>
              <p:spPr bwMode="auto">
                <a:xfrm>
                  <a:off x="4573" y="2405"/>
                  <a:ext cx="18" cy="24"/>
                </a:xfrm>
                <a:custGeom>
                  <a:avLst/>
                  <a:gdLst>
                    <a:gd name="T0" fmla="*/ 12 w 18"/>
                    <a:gd name="T1" fmla="*/ 24 h 24"/>
                    <a:gd name="T2" fmla="*/ 18 w 18"/>
                    <a:gd name="T3" fmla="*/ 24 h 24"/>
                    <a:gd name="T4" fmla="*/ 18 w 18"/>
                    <a:gd name="T5" fmla="*/ 24 h 24"/>
                    <a:gd name="T6" fmla="*/ 18 w 18"/>
                    <a:gd name="T7" fmla="*/ 24 h 24"/>
                    <a:gd name="T8" fmla="*/ 12 w 18"/>
                    <a:gd name="T9" fmla="*/ 0 h 24"/>
                    <a:gd name="T10" fmla="*/ 12 w 18"/>
                    <a:gd name="T11" fmla="*/ 0 h 24"/>
                    <a:gd name="T12" fmla="*/ 12 w 18"/>
                    <a:gd name="T13" fmla="*/ 0 h 24"/>
                    <a:gd name="T14" fmla="*/ 12 w 18"/>
                    <a:gd name="T15" fmla="*/ 24 h 24"/>
                    <a:gd name="T16" fmla="*/ 12 w 18"/>
                    <a:gd name="T17" fmla="*/ 0 h 24"/>
                    <a:gd name="T18" fmla="*/ 0 w 18"/>
                    <a:gd name="T19" fmla="*/ 6 h 24"/>
                    <a:gd name="T20" fmla="*/ 0 w 18"/>
                    <a:gd name="T21" fmla="*/ 12 h 24"/>
                    <a:gd name="T22" fmla="*/ 12 w 18"/>
                    <a:gd name="T23" fmla="*/ 12 h 24"/>
                    <a:gd name="T24" fmla="*/ 12 w 18"/>
                    <a:gd name="T25"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24">
                      <a:moveTo>
                        <a:pt x="12" y="24"/>
                      </a:moveTo>
                      <a:lnTo>
                        <a:pt x="18" y="24"/>
                      </a:lnTo>
                      <a:lnTo>
                        <a:pt x="18" y="24"/>
                      </a:lnTo>
                      <a:lnTo>
                        <a:pt x="18" y="24"/>
                      </a:lnTo>
                      <a:lnTo>
                        <a:pt x="12" y="0"/>
                      </a:lnTo>
                      <a:lnTo>
                        <a:pt x="12" y="0"/>
                      </a:lnTo>
                      <a:lnTo>
                        <a:pt x="12" y="0"/>
                      </a:lnTo>
                      <a:lnTo>
                        <a:pt x="12" y="24"/>
                      </a:lnTo>
                      <a:close/>
                      <a:moveTo>
                        <a:pt x="12" y="0"/>
                      </a:moveTo>
                      <a:lnTo>
                        <a:pt x="0" y="6"/>
                      </a:lnTo>
                      <a:lnTo>
                        <a:pt x="0" y="12"/>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365" name="Freeform 292"/>
                <p:cNvSpPr>
                  <a:spLocks noEditPoints="1"/>
                </p:cNvSpPr>
                <p:nvPr/>
              </p:nvSpPr>
              <p:spPr bwMode="auto">
                <a:xfrm>
                  <a:off x="4579" y="2405"/>
                  <a:ext cx="18" cy="24"/>
                </a:xfrm>
                <a:custGeom>
                  <a:avLst/>
                  <a:gdLst>
                    <a:gd name="T0" fmla="*/ 18 w 18"/>
                    <a:gd name="T1" fmla="*/ 24 h 24"/>
                    <a:gd name="T2" fmla="*/ 18 w 18"/>
                    <a:gd name="T3" fmla="*/ 24 h 24"/>
                    <a:gd name="T4" fmla="*/ 12 w 18"/>
                    <a:gd name="T5" fmla="*/ 24 h 24"/>
                    <a:gd name="T6" fmla="*/ 6 w 18"/>
                    <a:gd name="T7" fmla="*/ 0 h 24"/>
                    <a:gd name="T8" fmla="*/ 6 w 18"/>
                    <a:gd name="T9" fmla="*/ 0 h 24"/>
                    <a:gd name="T10" fmla="*/ 0 w 18"/>
                    <a:gd name="T11" fmla="*/ 0 h 24"/>
                    <a:gd name="T12" fmla="*/ 18 w 18"/>
                    <a:gd name="T13" fmla="*/ 24 h 24"/>
                    <a:gd name="T14" fmla="*/ 12 w 18"/>
                    <a:gd name="T15" fmla="*/ 24 h 24"/>
                    <a:gd name="T16" fmla="*/ 18 w 18"/>
                    <a:gd name="T17" fmla="*/ 24 h 24"/>
                    <a:gd name="T18" fmla="*/ 18 w 18"/>
                    <a:gd name="T19" fmla="*/ 24 h 24"/>
                    <a:gd name="T20" fmla="*/ 6 w 18"/>
                    <a:gd name="T21" fmla="*/ 12 h 24"/>
                    <a:gd name="T22" fmla="*/ 12 w 18"/>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18" y="24"/>
                      </a:moveTo>
                      <a:lnTo>
                        <a:pt x="18" y="24"/>
                      </a:lnTo>
                      <a:lnTo>
                        <a:pt x="12" y="24"/>
                      </a:lnTo>
                      <a:lnTo>
                        <a:pt x="6" y="0"/>
                      </a:lnTo>
                      <a:lnTo>
                        <a:pt x="6" y="0"/>
                      </a:lnTo>
                      <a:lnTo>
                        <a:pt x="0" y="0"/>
                      </a:lnTo>
                      <a:lnTo>
                        <a:pt x="18" y="24"/>
                      </a:lnTo>
                      <a:close/>
                      <a:moveTo>
                        <a:pt x="12" y="24"/>
                      </a:moveTo>
                      <a:lnTo>
                        <a:pt x="18" y="24"/>
                      </a:lnTo>
                      <a:lnTo>
                        <a:pt x="18" y="24"/>
                      </a:lnTo>
                      <a:lnTo>
                        <a:pt x="6" y="12"/>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366" name="Freeform 293"/>
                <p:cNvSpPr>
                  <a:spLocks noEditPoints="1"/>
                </p:cNvSpPr>
                <p:nvPr/>
              </p:nvSpPr>
              <p:spPr bwMode="auto">
                <a:xfrm>
                  <a:off x="4585" y="2405"/>
                  <a:ext cx="12" cy="24"/>
                </a:xfrm>
                <a:custGeom>
                  <a:avLst/>
                  <a:gdLst>
                    <a:gd name="T0" fmla="*/ 6 w 12"/>
                    <a:gd name="T1" fmla="*/ 24 h 24"/>
                    <a:gd name="T2" fmla="*/ 12 w 12"/>
                    <a:gd name="T3" fmla="*/ 24 h 24"/>
                    <a:gd name="T4" fmla="*/ 12 w 12"/>
                    <a:gd name="T5" fmla="*/ 18 h 24"/>
                    <a:gd name="T6" fmla="*/ 6 w 12"/>
                    <a:gd name="T7" fmla="*/ 0 h 24"/>
                    <a:gd name="T8" fmla="*/ 6 w 12"/>
                    <a:gd name="T9" fmla="*/ 0 h 24"/>
                    <a:gd name="T10" fmla="*/ 6 w 12"/>
                    <a:gd name="T11" fmla="*/ 0 h 24"/>
                    <a:gd name="T12" fmla="*/ 6 w 12"/>
                    <a:gd name="T13" fmla="*/ 24 h 24"/>
                    <a:gd name="T14" fmla="*/ 6 w 12"/>
                    <a:gd name="T15" fmla="*/ 0 h 24"/>
                    <a:gd name="T16" fmla="*/ 0 w 12"/>
                    <a:gd name="T17" fmla="*/ 0 h 24"/>
                    <a:gd name="T18" fmla="*/ 0 w 12"/>
                    <a:gd name="T19" fmla="*/ 0 h 24"/>
                    <a:gd name="T20" fmla="*/ 6 w 12"/>
                    <a:gd name="T21" fmla="*/ 12 h 24"/>
                    <a:gd name="T22" fmla="*/ 6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6" y="24"/>
                      </a:moveTo>
                      <a:lnTo>
                        <a:pt x="12" y="24"/>
                      </a:lnTo>
                      <a:lnTo>
                        <a:pt x="12" y="18"/>
                      </a:lnTo>
                      <a:lnTo>
                        <a:pt x="6" y="0"/>
                      </a:lnTo>
                      <a:lnTo>
                        <a:pt x="6" y="0"/>
                      </a:lnTo>
                      <a:lnTo>
                        <a:pt x="6" y="0"/>
                      </a:lnTo>
                      <a:lnTo>
                        <a:pt x="6" y="24"/>
                      </a:lnTo>
                      <a:close/>
                      <a:moveTo>
                        <a:pt x="6" y="0"/>
                      </a:moveTo>
                      <a:lnTo>
                        <a:pt x="0" y="0"/>
                      </a:lnTo>
                      <a:lnTo>
                        <a:pt x="0" y="0"/>
                      </a:lnTo>
                      <a:lnTo>
                        <a:pt x="6"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367" name="Freeform 294"/>
                <p:cNvSpPr>
                  <a:spLocks noEditPoints="1"/>
                </p:cNvSpPr>
                <p:nvPr/>
              </p:nvSpPr>
              <p:spPr bwMode="auto">
                <a:xfrm>
                  <a:off x="4585" y="2400"/>
                  <a:ext cx="18" cy="23"/>
                </a:xfrm>
                <a:custGeom>
                  <a:avLst/>
                  <a:gdLst>
                    <a:gd name="T0" fmla="*/ 12 w 18"/>
                    <a:gd name="T1" fmla="*/ 23 h 23"/>
                    <a:gd name="T2" fmla="*/ 18 w 18"/>
                    <a:gd name="T3" fmla="*/ 23 h 23"/>
                    <a:gd name="T4" fmla="*/ 18 w 18"/>
                    <a:gd name="T5" fmla="*/ 23 h 23"/>
                    <a:gd name="T6" fmla="*/ 18 w 18"/>
                    <a:gd name="T7" fmla="*/ 23 h 23"/>
                    <a:gd name="T8" fmla="*/ 18 w 18"/>
                    <a:gd name="T9" fmla="*/ 23 h 23"/>
                    <a:gd name="T10" fmla="*/ 18 w 18"/>
                    <a:gd name="T11" fmla="*/ 23 h 23"/>
                    <a:gd name="T12" fmla="*/ 18 w 18"/>
                    <a:gd name="T13" fmla="*/ 23 h 23"/>
                    <a:gd name="T14" fmla="*/ 6 w 18"/>
                    <a:gd name="T15" fmla="*/ 0 h 23"/>
                    <a:gd name="T16" fmla="*/ 6 w 18"/>
                    <a:gd name="T17" fmla="*/ 0 h 23"/>
                    <a:gd name="T18" fmla="*/ 6 w 18"/>
                    <a:gd name="T19" fmla="*/ 5 h 23"/>
                    <a:gd name="T20" fmla="*/ 6 w 18"/>
                    <a:gd name="T21" fmla="*/ 5 h 23"/>
                    <a:gd name="T22" fmla="*/ 6 w 18"/>
                    <a:gd name="T23" fmla="*/ 5 h 23"/>
                    <a:gd name="T24" fmla="*/ 6 w 18"/>
                    <a:gd name="T25" fmla="*/ 5 h 23"/>
                    <a:gd name="T26" fmla="*/ 6 w 18"/>
                    <a:gd name="T27" fmla="*/ 5 h 23"/>
                    <a:gd name="T28" fmla="*/ 0 w 18"/>
                    <a:gd name="T29" fmla="*/ 5 h 23"/>
                    <a:gd name="T30" fmla="*/ 12 w 18"/>
                    <a:gd name="T31" fmla="*/ 23 h 23"/>
                    <a:gd name="T32" fmla="*/ 6 w 18"/>
                    <a:gd name="T33" fmla="*/ 5 h 23"/>
                    <a:gd name="T34" fmla="*/ 6 w 18"/>
                    <a:gd name="T35" fmla="*/ 5 h 23"/>
                    <a:gd name="T36" fmla="*/ 6 w 18"/>
                    <a:gd name="T37" fmla="*/ 5 h 23"/>
                    <a:gd name="T38" fmla="*/ 6 w 18"/>
                    <a:gd name="T39" fmla="*/ 17 h 23"/>
                    <a:gd name="T40" fmla="*/ 6 w 18"/>
                    <a:gd name="T41" fmla="*/ 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 h="23">
                      <a:moveTo>
                        <a:pt x="12" y="23"/>
                      </a:moveTo>
                      <a:lnTo>
                        <a:pt x="18" y="23"/>
                      </a:lnTo>
                      <a:lnTo>
                        <a:pt x="18" y="23"/>
                      </a:lnTo>
                      <a:lnTo>
                        <a:pt x="18" y="23"/>
                      </a:lnTo>
                      <a:lnTo>
                        <a:pt x="18" y="23"/>
                      </a:lnTo>
                      <a:lnTo>
                        <a:pt x="18" y="23"/>
                      </a:lnTo>
                      <a:lnTo>
                        <a:pt x="18" y="23"/>
                      </a:lnTo>
                      <a:lnTo>
                        <a:pt x="6" y="0"/>
                      </a:lnTo>
                      <a:lnTo>
                        <a:pt x="6" y="0"/>
                      </a:lnTo>
                      <a:lnTo>
                        <a:pt x="6" y="5"/>
                      </a:lnTo>
                      <a:lnTo>
                        <a:pt x="6" y="5"/>
                      </a:lnTo>
                      <a:lnTo>
                        <a:pt x="6" y="5"/>
                      </a:lnTo>
                      <a:lnTo>
                        <a:pt x="6" y="5"/>
                      </a:lnTo>
                      <a:lnTo>
                        <a:pt x="6" y="5"/>
                      </a:lnTo>
                      <a:lnTo>
                        <a:pt x="0" y="5"/>
                      </a:lnTo>
                      <a:lnTo>
                        <a:pt x="12" y="23"/>
                      </a:lnTo>
                      <a:close/>
                      <a:moveTo>
                        <a:pt x="6" y="5"/>
                      </a:moveTo>
                      <a:lnTo>
                        <a:pt x="6" y="5"/>
                      </a:lnTo>
                      <a:lnTo>
                        <a:pt x="6" y="5"/>
                      </a:lnTo>
                      <a:lnTo>
                        <a:pt x="6" y="17"/>
                      </a:lnTo>
                      <a:lnTo>
                        <a:pt x="6" y="5"/>
                      </a:lnTo>
                      <a:close/>
                    </a:path>
                  </a:pathLst>
                </a:custGeom>
                <a:solidFill>
                  <a:srgbClr val="00FF00"/>
                </a:solidFill>
                <a:ln w="9525">
                  <a:solidFill>
                    <a:srgbClr val="00FF00"/>
                  </a:solidFill>
                  <a:round/>
                  <a:headEnd/>
                  <a:tailEnd/>
                </a:ln>
              </p:spPr>
              <p:txBody>
                <a:bodyPr/>
                <a:lstStyle/>
                <a:p>
                  <a:endParaRPr lang="zh-CN" altLang="en-US"/>
                </a:p>
              </p:txBody>
            </p:sp>
            <p:sp>
              <p:nvSpPr>
                <p:cNvPr id="368" name="Freeform 295"/>
                <p:cNvSpPr>
                  <a:spLocks noEditPoints="1"/>
                </p:cNvSpPr>
                <p:nvPr/>
              </p:nvSpPr>
              <p:spPr bwMode="auto">
                <a:xfrm>
                  <a:off x="4591" y="2400"/>
                  <a:ext cx="12" cy="23"/>
                </a:xfrm>
                <a:custGeom>
                  <a:avLst/>
                  <a:gdLst>
                    <a:gd name="T0" fmla="*/ 12 w 12"/>
                    <a:gd name="T1" fmla="*/ 23 h 23"/>
                    <a:gd name="T2" fmla="*/ 12 w 12"/>
                    <a:gd name="T3" fmla="*/ 23 h 23"/>
                    <a:gd name="T4" fmla="*/ 12 w 12"/>
                    <a:gd name="T5" fmla="*/ 23 h 23"/>
                    <a:gd name="T6" fmla="*/ 0 w 12"/>
                    <a:gd name="T7" fmla="*/ 0 h 23"/>
                    <a:gd name="T8" fmla="*/ 0 w 12"/>
                    <a:gd name="T9" fmla="*/ 5 h 23"/>
                    <a:gd name="T10" fmla="*/ 0 w 12"/>
                    <a:gd name="T11" fmla="*/ 5 h 23"/>
                    <a:gd name="T12" fmla="*/ 12 w 12"/>
                    <a:gd name="T13" fmla="*/ 23 h 23"/>
                    <a:gd name="T14" fmla="*/ 12 w 12"/>
                    <a:gd name="T15" fmla="*/ 23 h 23"/>
                    <a:gd name="T16" fmla="*/ 12 w 12"/>
                    <a:gd name="T17" fmla="*/ 23 h 23"/>
                    <a:gd name="T18" fmla="*/ 12 w 12"/>
                    <a:gd name="T19" fmla="*/ 23 h 23"/>
                    <a:gd name="T20" fmla="*/ 6 w 12"/>
                    <a:gd name="T21" fmla="*/ 11 h 23"/>
                    <a:gd name="T22" fmla="*/ 12 w 12"/>
                    <a:gd name="T23"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3">
                      <a:moveTo>
                        <a:pt x="12" y="23"/>
                      </a:moveTo>
                      <a:lnTo>
                        <a:pt x="12" y="23"/>
                      </a:lnTo>
                      <a:lnTo>
                        <a:pt x="12" y="23"/>
                      </a:lnTo>
                      <a:lnTo>
                        <a:pt x="0" y="0"/>
                      </a:lnTo>
                      <a:lnTo>
                        <a:pt x="0" y="5"/>
                      </a:lnTo>
                      <a:lnTo>
                        <a:pt x="0" y="5"/>
                      </a:lnTo>
                      <a:lnTo>
                        <a:pt x="12" y="23"/>
                      </a:lnTo>
                      <a:close/>
                      <a:moveTo>
                        <a:pt x="12" y="23"/>
                      </a:moveTo>
                      <a:lnTo>
                        <a:pt x="12" y="23"/>
                      </a:lnTo>
                      <a:lnTo>
                        <a:pt x="12" y="23"/>
                      </a:lnTo>
                      <a:lnTo>
                        <a:pt x="6" y="11"/>
                      </a:lnTo>
                      <a:lnTo>
                        <a:pt x="12" y="23"/>
                      </a:lnTo>
                      <a:close/>
                    </a:path>
                  </a:pathLst>
                </a:custGeom>
                <a:solidFill>
                  <a:srgbClr val="00FF00"/>
                </a:solidFill>
                <a:ln w="9525">
                  <a:solidFill>
                    <a:srgbClr val="00FF00"/>
                  </a:solidFill>
                  <a:round/>
                  <a:headEnd/>
                  <a:tailEnd/>
                </a:ln>
              </p:spPr>
              <p:txBody>
                <a:bodyPr/>
                <a:lstStyle/>
                <a:p>
                  <a:endParaRPr lang="zh-CN" altLang="en-US"/>
                </a:p>
              </p:txBody>
            </p:sp>
            <p:sp>
              <p:nvSpPr>
                <p:cNvPr id="369" name="Freeform 296"/>
                <p:cNvSpPr>
                  <a:spLocks noEditPoints="1"/>
                </p:cNvSpPr>
                <p:nvPr/>
              </p:nvSpPr>
              <p:spPr bwMode="auto">
                <a:xfrm>
                  <a:off x="4591" y="2400"/>
                  <a:ext cx="12" cy="23"/>
                </a:xfrm>
                <a:custGeom>
                  <a:avLst/>
                  <a:gdLst>
                    <a:gd name="T0" fmla="*/ 12 w 12"/>
                    <a:gd name="T1" fmla="*/ 23 h 23"/>
                    <a:gd name="T2" fmla="*/ 12 w 12"/>
                    <a:gd name="T3" fmla="*/ 23 h 23"/>
                    <a:gd name="T4" fmla="*/ 12 w 12"/>
                    <a:gd name="T5" fmla="*/ 23 h 23"/>
                    <a:gd name="T6" fmla="*/ 6 w 12"/>
                    <a:gd name="T7" fmla="*/ 0 h 23"/>
                    <a:gd name="T8" fmla="*/ 6 w 12"/>
                    <a:gd name="T9" fmla="*/ 0 h 23"/>
                    <a:gd name="T10" fmla="*/ 6 w 12"/>
                    <a:gd name="T11" fmla="*/ 0 h 23"/>
                    <a:gd name="T12" fmla="*/ 12 w 12"/>
                    <a:gd name="T13" fmla="*/ 23 h 23"/>
                    <a:gd name="T14" fmla="*/ 6 w 12"/>
                    <a:gd name="T15" fmla="*/ 0 h 23"/>
                    <a:gd name="T16" fmla="*/ 6 w 12"/>
                    <a:gd name="T17" fmla="*/ 0 h 23"/>
                    <a:gd name="T18" fmla="*/ 0 w 12"/>
                    <a:gd name="T19" fmla="*/ 0 h 23"/>
                    <a:gd name="T20" fmla="*/ 6 w 12"/>
                    <a:gd name="T21" fmla="*/ 11 h 23"/>
                    <a:gd name="T22" fmla="*/ 6 w 12"/>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3">
                      <a:moveTo>
                        <a:pt x="12" y="23"/>
                      </a:moveTo>
                      <a:lnTo>
                        <a:pt x="12" y="23"/>
                      </a:lnTo>
                      <a:lnTo>
                        <a:pt x="12" y="23"/>
                      </a:lnTo>
                      <a:lnTo>
                        <a:pt x="6" y="0"/>
                      </a:lnTo>
                      <a:lnTo>
                        <a:pt x="6" y="0"/>
                      </a:lnTo>
                      <a:lnTo>
                        <a:pt x="6" y="0"/>
                      </a:lnTo>
                      <a:lnTo>
                        <a:pt x="12" y="23"/>
                      </a:lnTo>
                      <a:close/>
                      <a:moveTo>
                        <a:pt x="6" y="0"/>
                      </a:moveTo>
                      <a:lnTo>
                        <a:pt x="6" y="0"/>
                      </a:lnTo>
                      <a:lnTo>
                        <a:pt x="0" y="0"/>
                      </a:lnTo>
                      <a:lnTo>
                        <a:pt x="6" y="11"/>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370" name="Freeform 297"/>
                <p:cNvSpPr>
                  <a:spLocks noEditPoints="1"/>
                </p:cNvSpPr>
                <p:nvPr/>
              </p:nvSpPr>
              <p:spPr bwMode="auto">
                <a:xfrm>
                  <a:off x="4597" y="2400"/>
                  <a:ext cx="6" cy="23"/>
                </a:xfrm>
                <a:custGeom>
                  <a:avLst/>
                  <a:gdLst>
                    <a:gd name="T0" fmla="*/ 6 w 6"/>
                    <a:gd name="T1" fmla="*/ 0 h 23"/>
                    <a:gd name="T2" fmla="*/ 6 w 6"/>
                    <a:gd name="T3" fmla="*/ 0 h 23"/>
                    <a:gd name="T4" fmla="*/ 0 w 6"/>
                    <a:gd name="T5" fmla="*/ 0 h 23"/>
                    <a:gd name="T6" fmla="*/ 0 w 6"/>
                    <a:gd name="T7" fmla="*/ 23 h 23"/>
                    <a:gd name="T8" fmla="*/ 0 w 6"/>
                    <a:gd name="T9" fmla="*/ 23 h 23"/>
                    <a:gd name="T10" fmla="*/ 6 w 6"/>
                    <a:gd name="T11" fmla="*/ 0 h 23"/>
                    <a:gd name="T12" fmla="*/ 6 w 6"/>
                    <a:gd name="T13" fmla="*/ 23 h 23"/>
                    <a:gd name="T14" fmla="*/ 6 w 6"/>
                    <a:gd name="T15" fmla="*/ 0 h 23"/>
                    <a:gd name="T16" fmla="*/ 0 w 6"/>
                    <a:gd name="T17" fmla="*/ 23 h 23"/>
                    <a:gd name="T18" fmla="*/ 0 w 6"/>
                    <a:gd name="T19" fmla="*/ 0 h 23"/>
                    <a:gd name="T20" fmla="*/ 6 w 6"/>
                    <a:gd name="T21"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 h="23">
                      <a:moveTo>
                        <a:pt x="6" y="0"/>
                      </a:moveTo>
                      <a:lnTo>
                        <a:pt x="6" y="0"/>
                      </a:lnTo>
                      <a:lnTo>
                        <a:pt x="0" y="0"/>
                      </a:lnTo>
                      <a:lnTo>
                        <a:pt x="0" y="23"/>
                      </a:lnTo>
                      <a:lnTo>
                        <a:pt x="0" y="23"/>
                      </a:lnTo>
                      <a:lnTo>
                        <a:pt x="6" y="0"/>
                      </a:lnTo>
                      <a:close/>
                      <a:moveTo>
                        <a:pt x="6" y="23"/>
                      </a:moveTo>
                      <a:lnTo>
                        <a:pt x="6" y="0"/>
                      </a:lnTo>
                      <a:lnTo>
                        <a:pt x="0" y="23"/>
                      </a:lnTo>
                      <a:lnTo>
                        <a:pt x="0" y="0"/>
                      </a:lnTo>
                      <a:lnTo>
                        <a:pt x="6" y="23"/>
                      </a:lnTo>
                      <a:close/>
                    </a:path>
                  </a:pathLst>
                </a:custGeom>
                <a:solidFill>
                  <a:srgbClr val="00FF00"/>
                </a:solidFill>
                <a:ln w="9525">
                  <a:solidFill>
                    <a:srgbClr val="00FF00"/>
                  </a:solidFill>
                  <a:round/>
                  <a:headEnd/>
                  <a:tailEnd/>
                </a:ln>
              </p:spPr>
              <p:txBody>
                <a:bodyPr/>
                <a:lstStyle/>
                <a:p>
                  <a:endParaRPr lang="zh-CN" altLang="en-US"/>
                </a:p>
              </p:txBody>
            </p:sp>
            <p:sp>
              <p:nvSpPr>
                <p:cNvPr id="371" name="Freeform 298"/>
                <p:cNvSpPr>
                  <a:spLocks noEditPoints="1"/>
                </p:cNvSpPr>
                <p:nvPr/>
              </p:nvSpPr>
              <p:spPr bwMode="auto">
                <a:xfrm>
                  <a:off x="4585" y="2400"/>
                  <a:ext cx="18" cy="23"/>
                </a:xfrm>
                <a:custGeom>
                  <a:avLst/>
                  <a:gdLst>
                    <a:gd name="T0" fmla="*/ 6 w 18"/>
                    <a:gd name="T1" fmla="*/ 0 h 23"/>
                    <a:gd name="T2" fmla="*/ 6 w 18"/>
                    <a:gd name="T3" fmla="*/ 0 h 23"/>
                    <a:gd name="T4" fmla="*/ 0 w 18"/>
                    <a:gd name="T5" fmla="*/ 0 h 23"/>
                    <a:gd name="T6" fmla="*/ 12 w 18"/>
                    <a:gd name="T7" fmla="*/ 23 h 23"/>
                    <a:gd name="T8" fmla="*/ 18 w 18"/>
                    <a:gd name="T9" fmla="*/ 23 h 23"/>
                    <a:gd name="T10" fmla="*/ 18 w 18"/>
                    <a:gd name="T11" fmla="*/ 23 h 23"/>
                    <a:gd name="T12" fmla="*/ 6 w 18"/>
                    <a:gd name="T13" fmla="*/ 0 h 23"/>
                    <a:gd name="T14" fmla="*/ 12 w 18"/>
                    <a:gd name="T15" fmla="*/ 0 h 23"/>
                    <a:gd name="T16" fmla="*/ 6 w 18"/>
                    <a:gd name="T17" fmla="*/ 0 h 23"/>
                    <a:gd name="T18" fmla="*/ 6 w 18"/>
                    <a:gd name="T19" fmla="*/ 0 h 23"/>
                    <a:gd name="T20" fmla="*/ 12 w 18"/>
                    <a:gd name="T21" fmla="*/ 11 h 23"/>
                    <a:gd name="T22" fmla="*/ 12 w 18"/>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3">
                      <a:moveTo>
                        <a:pt x="6" y="0"/>
                      </a:moveTo>
                      <a:lnTo>
                        <a:pt x="6" y="0"/>
                      </a:lnTo>
                      <a:lnTo>
                        <a:pt x="0" y="0"/>
                      </a:lnTo>
                      <a:lnTo>
                        <a:pt x="12" y="23"/>
                      </a:lnTo>
                      <a:lnTo>
                        <a:pt x="18" y="23"/>
                      </a:lnTo>
                      <a:lnTo>
                        <a:pt x="18" y="23"/>
                      </a:lnTo>
                      <a:lnTo>
                        <a:pt x="6" y="0"/>
                      </a:lnTo>
                      <a:close/>
                      <a:moveTo>
                        <a:pt x="12" y="0"/>
                      </a:moveTo>
                      <a:lnTo>
                        <a:pt x="6" y="0"/>
                      </a:lnTo>
                      <a:lnTo>
                        <a:pt x="6" y="0"/>
                      </a:lnTo>
                      <a:lnTo>
                        <a:pt x="12" y="11"/>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372" name="Freeform 299"/>
                <p:cNvSpPr>
                  <a:spLocks noEditPoints="1"/>
                </p:cNvSpPr>
                <p:nvPr/>
              </p:nvSpPr>
              <p:spPr bwMode="auto">
                <a:xfrm>
                  <a:off x="4579" y="2400"/>
                  <a:ext cx="18" cy="29"/>
                </a:xfrm>
                <a:custGeom>
                  <a:avLst/>
                  <a:gdLst>
                    <a:gd name="T0" fmla="*/ 6 w 18"/>
                    <a:gd name="T1" fmla="*/ 5 h 29"/>
                    <a:gd name="T2" fmla="*/ 0 w 18"/>
                    <a:gd name="T3" fmla="*/ 5 h 29"/>
                    <a:gd name="T4" fmla="*/ 0 w 18"/>
                    <a:gd name="T5" fmla="*/ 5 h 29"/>
                    <a:gd name="T6" fmla="*/ 6 w 18"/>
                    <a:gd name="T7" fmla="*/ 5 h 29"/>
                    <a:gd name="T8" fmla="*/ 0 w 18"/>
                    <a:gd name="T9" fmla="*/ 29 h 29"/>
                    <a:gd name="T10" fmla="*/ 12 w 18"/>
                    <a:gd name="T11" fmla="*/ 29 h 29"/>
                    <a:gd name="T12" fmla="*/ 18 w 18"/>
                    <a:gd name="T13" fmla="*/ 29 h 29"/>
                    <a:gd name="T14" fmla="*/ 18 w 18"/>
                    <a:gd name="T15" fmla="*/ 23 h 29"/>
                    <a:gd name="T16" fmla="*/ 6 w 18"/>
                    <a:gd name="T17" fmla="*/ 5 h 29"/>
                    <a:gd name="T18" fmla="*/ 6 w 18"/>
                    <a:gd name="T19" fmla="*/ 0 h 29"/>
                    <a:gd name="T20" fmla="*/ 6 w 18"/>
                    <a:gd name="T21" fmla="*/ 5 h 29"/>
                    <a:gd name="T22" fmla="*/ 6 w 18"/>
                    <a:gd name="T23" fmla="*/ 5 h 29"/>
                    <a:gd name="T24" fmla="*/ 12 w 18"/>
                    <a:gd name="T25" fmla="*/ 11 h 29"/>
                    <a:gd name="T26" fmla="*/ 6 w 18"/>
                    <a:gd name="T2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29">
                      <a:moveTo>
                        <a:pt x="6" y="5"/>
                      </a:moveTo>
                      <a:lnTo>
                        <a:pt x="0" y="5"/>
                      </a:lnTo>
                      <a:lnTo>
                        <a:pt x="0" y="5"/>
                      </a:lnTo>
                      <a:lnTo>
                        <a:pt x="6" y="5"/>
                      </a:lnTo>
                      <a:lnTo>
                        <a:pt x="0" y="29"/>
                      </a:lnTo>
                      <a:lnTo>
                        <a:pt x="12" y="29"/>
                      </a:lnTo>
                      <a:lnTo>
                        <a:pt x="18" y="29"/>
                      </a:lnTo>
                      <a:lnTo>
                        <a:pt x="18" y="23"/>
                      </a:lnTo>
                      <a:lnTo>
                        <a:pt x="6" y="5"/>
                      </a:lnTo>
                      <a:close/>
                      <a:moveTo>
                        <a:pt x="6" y="0"/>
                      </a:moveTo>
                      <a:lnTo>
                        <a:pt x="6" y="5"/>
                      </a:lnTo>
                      <a:lnTo>
                        <a:pt x="6" y="5"/>
                      </a:lnTo>
                      <a:lnTo>
                        <a:pt x="12" y="11"/>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373" name="Freeform 300"/>
                <p:cNvSpPr>
                  <a:spLocks noEditPoints="1"/>
                </p:cNvSpPr>
                <p:nvPr/>
              </p:nvSpPr>
              <p:spPr bwMode="auto">
                <a:xfrm>
                  <a:off x="4573" y="2405"/>
                  <a:ext cx="18" cy="30"/>
                </a:xfrm>
                <a:custGeom>
                  <a:avLst/>
                  <a:gdLst>
                    <a:gd name="T0" fmla="*/ 0 w 18"/>
                    <a:gd name="T1" fmla="*/ 6 h 30"/>
                    <a:gd name="T2" fmla="*/ 0 w 18"/>
                    <a:gd name="T3" fmla="*/ 6 h 30"/>
                    <a:gd name="T4" fmla="*/ 0 w 18"/>
                    <a:gd name="T5" fmla="*/ 6 h 30"/>
                    <a:gd name="T6" fmla="*/ 0 w 18"/>
                    <a:gd name="T7" fmla="*/ 6 h 30"/>
                    <a:gd name="T8" fmla="*/ 6 w 18"/>
                    <a:gd name="T9" fmla="*/ 6 h 30"/>
                    <a:gd name="T10" fmla="*/ 6 w 18"/>
                    <a:gd name="T11" fmla="*/ 30 h 30"/>
                    <a:gd name="T12" fmla="*/ 18 w 18"/>
                    <a:gd name="T13" fmla="*/ 24 h 30"/>
                    <a:gd name="T14" fmla="*/ 18 w 18"/>
                    <a:gd name="T15" fmla="*/ 18 h 30"/>
                    <a:gd name="T16" fmla="*/ 0 w 18"/>
                    <a:gd name="T17" fmla="*/ 6 h 30"/>
                    <a:gd name="T18" fmla="*/ 12 w 18"/>
                    <a:gd name="T19" fmla="*/ 0 h 30"/>
                    <a:gd name="T20" fmla="*/ 6 w 18"/>
                    <a:gd name="T21" fmla="*/ 0 h 30"/>
                    <a:gd name="T22" fmla="*/ 0 w 18"/>
                    <a:gd name="T23" fmla="*/ 6 h 30"/>
                    <a:gd name="T24" fmla="*/ 12 w 18"/>
                    <a:gd name="T25" fmla="*/ 12 h 30"/>
                    <a:gd name="T26" fmla="*/ 12 w 18"/>
                    <a:gd name="T2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30">
                      <a:moveTo>
                        <a:pt x="0" y="6"/>
                      </a:moveTo>
                      <a:lnTo>
                        <a:pt x="0" y="6"/>
                      </a:lnTo>
                      <a:lnTo>
                        <a:pt x="0" y="6"/>
                      </a:lnTo>
                      <a:lnTo>
                        <a:pt x="0" y="6"/>
                      </a:lnTo>
                      <a:lnTo>
                        <a:pt x="6" y="6"/>
                      </a:lnTo>
                      <a:lnTo>
                        <a:pt x="6" y="30"/>
                      </a:lnTo>
                      <a:lnTo>
                        <a:pt x="18" y="24"/>
                      </a:lnTo>
                      <a:lnTo>
                        <a:pt x="18" y="18"/>
                      </a:lnTo>
                      <a:lnTo>
                        <a:pt x="0" y="6"/>
                      </a:lnTo>
                      <a:close/>
                      <a:moveTo>
                        <a:pt x="12" y="0"/>
                      </a:moveTo>
                      <a:lnTo>
                        <a:pt x="6" y="0"/>
                      </a:lnTo>
                      <a:lnTo>
                        <a:pt x="0" y="6"/>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374" name="Freeform 301"/>
                <p:cNvSpPr>
                  <a:spLocks noEditPoints="1"/>
                </p:cNvSpPr>
                <p:nvPr/>
              </p:nvSpPr>
              <p:spPr bwMode="auto">
                <a:xfrm>
                  <a:off x="4567" y="2411"/>
                  <a:ext cx="12" cy="24"/>
                </a:xfrm>
                <a:custGeom>
                  <a:avLst/>
                  <a:gdLst>
                    <a:gd name="T0" fmla="*/ 6 w 12"/>
                    <a:gd name="T1" fmla="*/ 0 h 24"/>
                    <a:gd name="T2" fmla="*/ 6 w 12"/>
                    <a:gd name="T3" fmla="*/ 0 h 24"/>
                    <a:gd name="T4" fmla="*/ 0 w 12"/>
                    <a:gd name="T5" fmla="*/ 6 h 24"/>
                    <a:gd name="T6" fmla="*/ 6 w 12"/>
                    <a:gd name="T7" fmla="*/ 24 h 24"/>
                    <a:gd name="T8" fmla="*/ 12 w 12"/>
                    <a:gd name="T9" fmla="*/ 24 h 24"/>
                    <a:gd name="T10" fmla="*/ 12 w 12"/>
                    <a:gd name="T11" fmla="*/ 24 h 24"/>
                    <a:gd name="T12" fmla="*/ 6 w 12"/>
                    <a:gd name="T13" fmla="*/ 0 h 24"/>
                    <a:gd name="T14" fmla="*/ 12 w 12"/>
                    <a:gd name="T15" fmla="*/ 0 h 24"/>
                    <a:gd name="T16" fmla="*/ 6 w 12"/>
                    <a:gd name="T17" fmla="*/ 0 h 24"/>
                    <a:gd name="T18" fmla="*/ 6 w 12"/>
                    <a:gd name="T19" fmla="*/ 0 h 24"/>
                    <a:gd name="T20" fmla="*/ 12 w 12"/>
                    <a:gd name="T21" fmla="*/ 12 h 24"/>
                    <a:gd name="T22" fmla="*/ 12 w 12"/>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4">
                      <a:moveTo>
                        <a:pt x="6" y="0"/>
                      </a:moveTo>
                      <a:lnTo>
                        <a:pt x="6" y="0"/>
                      </a:lnTo>
                      <a:lnTo>
                        <a:pt x="0" y="6"/>
                      </a:lnTo>
                      <a:lnTo>
                        <a:pt x="6" y="24"/>
                      </a:lnTo>
                      <a:lnTo>
                        <a:pt x="12" y="24"/>
                      </a:lnTo>
                      <a:lnTo>
                        <a:pt x="12" y="24"/>
                      </a:lnTo>
                      <a:lnTo>
                        <a:pt x="6" y="0"/>
                      </a:lnTo>
                      <a:close/>
                      <a:moveTo>
                        <a:pt x="12" y="0"/>
                      </a:moveTo>
                      <a:lnTo>
                        <a:pt x="6" y="0"/>
                      </a:lnTo>
                      <a:lnTo>
                        <a:pt x="6" y="0"/>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375" name="Freeform 302"/>
                <p:cNvSpPr>
                  <a:spLocks noEditPoints="1"/>
                </p:cNvSpPr>
                <p:nvPr/>
              </p:nvSpPr>
              <p:spPr bwMode="auto">
                <a:xfrm>
                  <a:off x="4561" y="2411"/>
                  <a:ext cx="12" cy="24"/>
                </a:xfrm>
                <a:custGeom>
                  <a:avLst/>
                  <a:gdLst>
                    <a:gd name="T0" fmla="*/ 12 w 12"/>
                    <a:gd name="T1" fmla="*/ 0 h 24"/>
                    <a:gd name="T2" fmla="*/ 6 w 12"/>
                    <a:gd name="T3" fmla="*/ 0 h 24"/>
                    <a:gd name="T4" fmla="*/ 0 w 12"/>
                    <a:gd name="T5" fmla="*/ 0 h 24"/>
                    <a:gd name="T6" fmla="*/ 0 w 12"/>
                    <a:gd name="T7" fmla="*/ 24 h 24"/>
                    <a:gd name="T8" fmla="*/ 0 w 12"/>
                    <a:gd name="T9" fmla="*/ 24 h 24"/>
                    <a:gd name="T10" fmla="*/ 6 w 12"/>
                    <a:gd name="T11" fmla="*/ 24 h 24"/>
                    <a:gd name="T12" fmla="*/ 12 w 12"/>
                    <a:gd name="T13" fmla="*/ 24 h 24"/>
                    <a:gd name="T14" fmla="*/ 12 w 12"/>
                    <a:gd name="T15" fmla="*/ 24 h 24"/>
                    <a:gd name="T16" fmla="*/ 12 w 12"/>
                    <a:gd name="T17" fmla="*/ 0 h 24"/>
                    <a:gd name="T18" fmla="*/ 12 w 12"/>
                    <a:gd name="T19" fmla="*/ 24 h 24"/>
                    <a:gd name="T20" fmla="*/ 12 w 12"/>
                    <a:gd name="T21" fmla="*/ 24 h 24"/>
                    <a:gd name="T22" fmla="*/ 12 w 12"/>
                    <a:gd name="T23" fmla="*/ 24 h 24"/>
                    <a:gd name="T24" fmla="*/ 12 w 12"/>
                    <a:gd name="T25" fmla="*/ 12 h 24"/>
                    <a:gd name="T26" fmla="*/ 12 w 12"/>
                    <a:gd name="T2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 h="24">
                      <a:moveTo>
                        <a:pt x="12" y="0"/>
                      </a:moveTo>
                      <a:lnTo>
                        <a:pt x="6" y="0"/>
                      </a:lnTo>
                      <a:lnTo>
                        <a:pt x="0" y="0"/>
                      </a:lnTo>
                      <a:lnTo>
                        <a:pt x="0" y="24"/>
                      </a:lnTo>
                      <a:lnTo>
                        <a:pt x="0" y="24"/>
                      </a:lnTo>
                      <a:lnTo>
                        <a:pt x="6" y="24"/>
                      </a:lnTo>
                      <a:lnTo>
                        <a:pt x="12" y="24"/>
                      </a:lnTo>
                      <a:lnTo>
                        <a:pt x="12" y="24"/>
                      </a:lnTo>
                      <a:lnTo>
                        <a:pt x="12" y="0"/>
                      </a:lnTo>
                      <a:close/>
                      <a:moveTo>
                        <a:pt x="12" y="24"/>
                      </a:moveTo>
                      <a:lnTo>
                        <a:pt x="12" y="24"/>
                      </a:lnTo>
                      <a:lnTo>
                        <a:pt x="12" y="24"/>
                      </a:lnTo>
                      <a:lnTo>
                        <a:pt x="12" y="12"/>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376" name="Freeform 303"/>
                <p:cNvSpPr>
                  <a:spLocks noEditPoints="1"/>
                </p:cNvSpPr>
                <p:nvPr/>
              </p:nvSpPr>
              <p:spPr bwMode="auto">
                <a:xfrm>
                  <a:off x="4549" y="2411"/>
                  <a:ext cx="24" cy="24"/>
                </a:xfrm>
                <a:custGeom>
                  <a:avLst/>
                  <a:gdLst>
                    <a:gd name="T0" fmla="*/ 0 w 24"/>
                    <a:gd name="T1" fmla="*/ 6 h 24"/>
                    <a:gd name="T2" fmla="*/ 0 w 24"/>
                    <a:gd name="T3" fmla="*/ 12 h 24"/>
                    <a:gd name="T4" fmla="*/ 18 w 24"/>
                    <a:gd name="T5" fmla="*/ 24 h 24"/>
                    <a:gd name="T6" fmla="*/ 24 w 24"/>
                    <a:gd name="T7" fmla="*/ 18 h 24"/>
                    <a:gd name="T8" fmla="*/ 0 w 24"/>
                    <a:gd name="T9" fmla="*/ 6 h 24"/>
                    <a:gd name="T10" fmla="*/ 12 w 24"/>
                    <a:gd name="T11" fmla="*/ 0 h 24"/>
                    <a:gd name="T12" fmla="*/ 6 w 24"/>
                    <a:gd name="T13" fmla="*/ 0 h 24"/>
                    <a:gd name="T14" fmla="*/ 0 w 24"/>
                    <a:gd name="T15" fmla="*/ 6 h 24"/>
                    <a:gd name="T16" fmla="*/ 12 w 24"/>
                    <a:gd name="T17" fmla="*/ 12 h 24"/>
                    <a:gd name="T18" fmla="*/ 12 w 24"/>
                    <a:gd name="T19"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6"/>
                      </a:moveTo>
                      <a:lnTo>
                        <a:pt x="0" y="12"/>
                      </a:lnTo>
                      <a:lnTo>
                        <a:pt x="18" y="24"/>
                      </a:lnTo>
                      <a:lnTo>
                        <a:pt x="24" y="18"/>
                      </a:lnTo>
                      <a:lnTo>
                        <a:pt x="0" y="6"/>
                      </a:lnTo>
                      <a:close/>
                      <a:moveTo>
                        <a:pt x="12" y="0"/>
                      </a:moveTo>
                      <a:lnTo>
                        <a:pt x="6" y="0"/>
                      </a:lnTo>
                      <a:lnTo>
                        <a:pt x="0" y="6"/>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377" name="Freeform 304"/>
                <p:cNvSpPr>
                  <a:spLocks/>
                </p:cNvSpPr>
                <p:nvPr/>
              </p:nvSpPr>
              <p:spPr bwMode="auto">
                <a:xfrm>
                  <a:off x="4537" y="2423"/>
                  <a:ext cx="18" cy="18"/>
                </a:xfrm>
                <a:custGeom>
                  <a:avLst/>
                  <a:gdLst>
                    <a:gd name="T0" fmla="*/ 12 w 18"/>
                    <a:gd name="T1" fmla="*/ 0 h 18"/>
                    <a:gd name="T2" fmla="*/ 0 w 18"/>
                    <a:gd name="T3" fmla="*/ 18 h 18"/>
                    <a:gd name="T4" fmla="*/ 18 w 18"/>
                    <a:gd name="T5" fmla="*/ 18 h 18"/>
                    <a:gd name="T6" fmla="*/ 18 w 18"/>
                    <a:gd name="T7" fmla="*/ 6 h 18"/>
                    <a:gd name="T8" fmla="*/ 12 w 18"/>
                    <a:gd name="T9" fmla="*/ 0 h 18"/>
                  </a:gdLst>
                  <a:ahLst/>
                  <a:cxnLst>
                    <a:cxn ang="0">
                      <a:pos x="T0" y="T1"/>
                    </a:cxn>
                    <a:cxn ang="0">
                      <a:pos x="T2" y="T3"/>
                    </a:cxn>
                    <a:cxn ang="0">
                      <a:pos x="T4" y="T5"/>
                    </a:cxn>
                    <a:cxn ang="0">
                      <a:pos x="T6" y="T7"/>
                    </a:cxn>
                    <a:cxn ang="0">
                      <a:pos x="T8" y="T9"/>
                    </a:cxn>
                  </a:cxnLst>
                  <a:rect l="0" t="0" r="r" b="b"/>
                  <a:pathLst>
                    <a:path w="18" h="18">
                      <a:moveTo>
                        <a:pt x="12" y="0"/>
                      </a:moveTo>
                      <a:lnTo>
                        <a:pt x="0" y="18"/>
                      </a:lnTo>
                      <a:lnTo>
                        <a:pt x="18" y="18"/>
                      </a:lnTo>
                      <a:lnTo>
                        <a:pt x="18" y="6"/>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378" name="Freeform 305"/>
                <p:cNvSpPr>
                  <a:spLocks/>
                </p:cNvSpPr>
                <p:nvPr/>
              </p:nvSpPr>
              <p:spPr bwMode="auto">
                <a:xfrm>
                  <a:off x="4525" y="2429"/>
                  <a:ext cx="18" cy="30"/>
                </a:xfrm>
                <a:custGeom>
                  <a:avLst/>
                  <a:gdLst>
                    <a:gd name="T0" fmla="*/ 12 w 18"/>
                    <a:gd name="T1" fmla="*/ 6 h 30"/>
                    <a:gd name="T2" fmla="*/ 6 w 18"/>
                    <a:gd name="T3" fmla="*/ 12 h 30"/>
                    <a:gd name="T4" fmla="*/ 6 w 18"/>
                    <a:gd name="T5" fmla="*/ 18 h 30"/>
                    <a:gd name="T6" fmla="*/ 6 w 18"/>
                    <a:gd name="T7" fmla="*/ 18 h 30"/>
                    <a:gd name="T8" fmla="*/ 6 w 18"/>
                    <a:gd name="T9" fmla="*/ 24 h 30"/>
                    <a:gd name="T10" fmla="*/ 6 w 18"/>
                    <a:gd name="T11" fmla="*/ 24 h 30"/>
                    <a:gd name="T12" fmla="*/ 6 w 18"/>
                    <a:gd name="T13" fmla="*/ 30 h 30"/>
                    <a:gd name="T14" fmla="*/ 0 w 18"/>
                    <a:gd name="T15" fmla="*/ 30 h 30"/>
                    <a:gd name="T16" fmla="*/ 0 w 18"/>
                    <a:gd name="T17" fmla="*/ 30 h 30"/>
                    <a:gd name="T18" fmla="*/ 0 w 18"/>
                    <a:gd name="T19" fmla="*/ 24 h 30"/>
                    <a:gd name="T20" fmla="*/ 6 w 18"/>
                    <a:gd name="T21" fmla="*/ 24 h 30"/>
                    <a:gd name="T22" fmla="*/ 6 w 18"/>
                    <a:gd name="T23" fmla="*/ 18 h 30"/>
                    <a:gd name="T24" fmla="*/ 6 w 18"/>
                    <a:gd name="T25" fmla="*/ 18 h 30"/>
                    <a:gd name="T26" fmla="*/ 6 w 18"/>
                    <a:gd name="T27" fmla="*/ 12 h 30"/>
                    <a:gd name="T28" fmla="*/ 6 w 18"/>
                    <a:gd name="T29" fmla="*/ 12 h 30"/>
                    <a:gd name="T30" fmla="*/ 6 w 18"/>
                    <a:gd name="T31" fmla="*/ 6 h 30"/>
                    <a:gd name="T32" fmla="*/ 12 w 18"/>
                    <a:gd name="T33" fmla="*/ 6 h 30"/>
                    <a:gd name="T34" fmla="*/ 18 w 18"/>
                    <a:gd name="T35" fmla="*/ 0 h 30"/>
                    <a:gd name="T36" fmla="*/ 12 w 18"/>
                    <a:gd name="T37" fmla="*/ 6 h 30"/>
                    <a:gd name="T38" fmla="*/ 12 w 18"/>
                    <a:gd name="T39"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30">
                      <a:moveTo>
                        <a:pt x="12" y="6"/>
                      </a:moveTo>
                      <a:lnTo>
                        <a:pt x="6" y="12"/>
                      </a:lnTo>
                      <a:lnTo>
                        <a:pt x="6" y="18"/>
                      </a:lnTo>
                      <a:lnTo>
                        <a:pt x="6" y="18"/>
                      </a:lnTo>
                      <a:lnTo>
                        <a:pt x="6" y="24"/>
                      </a:lnTo>
                      <a:lnTo>
                        <a:pt x="6" y="24"/>
                      </a:lnTo>
                      <a:lnTo>
                        <a:pt x="6" y="30"/>
                      </a:lnTo>
                      <a:lnTo>
                        <a:pt x="0" y="30"/>
                      </a:lnTo>
                      <a:lnTo>
                        <a:pt x="0" y="30"/>
                      </a:lnTo>
                      <a:lnTo>
                        <a:pt x="0" y="24"/>
                      </a:lnTo>
                      <a:lnTo>
                        <a:pt x="6" y="24"/>
                      </a:lnTo>
                      <a:lnTo>
                        <a:pt x="6" y="18"/>
                      </a:lnTo>
                      <a:lnTo>
                        <a:pt x="6" y="18"/>
                      </a:lnTo>
                      <a:lnTo>
                        <a:pt x="6" y="12"/>
                      </a:lnTo>
                      <a:lnTo>
                        <a:pt x="6" y="12"/>
                      </a:lnTo>
                      <a:lnTo>
                        <a:pt x="6" y="6"/>
                      </a:lnTo>
                      <a:lnTo>
                        <a:pt x="12" y="6"/>
                      </a:lnTo>
                      <a:lnTo>
                        <a:pt x="18" y="0"/>
                      </a:lnTo>
                      <a:lnTo>
                        <a:pt x="12" y="6"/>
                      </a:lnTo>
                      <a:lnTo>
                        <a:pt x="12" y="6"/>
                      </a:lnTo>
                      <a:close/>
                    </a:path>
                  </a:pathLst>
                </a:custGeom>
                <a:solidFill>
                  <a:srgbClr val="00FF00"/>
                </a:solidFill>
                <a:ln w="9525">
                  <a:solidFill>
                    <a:srgbClr val="00FF00"/>
                  </a:solidFill>
                  <a:round/>
                  <a:headEnd/>
                  <a:tailEnd/>
                </a:ln>
              </p:spPr>
              <p:txBody>
                <a:bodyPr/>
                <a:lstStyle/>
                <a:p>
                  <a:endParaRPr lang="zh-CN" altLang="en-US"/>
                </a:p>
              </p:txBody>
            </p:sp>
            <p:sp>
              <p:nvSpPr>
                <p:cNvPr id="379" name="Freeform 306"/>
                <p:cNvSpPr>
                  <a:spLocks/>
                </p:cNvSpPr>
                <p:nvPr/>
              </p:nvSpPr>
              <p:spPr bwMode="auto">
                <a:xfrm>
                  <a:off x="4525" y="2423"/>
                  <a:ext cx="18" cy="30"/>
                </a:xfrm>
                <a:custGeom>
                  <a:avLst/>
                  <a:gdLst>
                    <a:gd name="T0" fmla="*/ 6 w 18"/>
                    <a:gd name="T1" fmla="*/ 0 h 30"/>
                    <a:gd name="T2" fmla="*/ 0 w 18"/>
                    <a:gd name="T3" fmla="*/ 6 h 30"/>
                    <a:gd name="T4" fmla="*/ 12 w 18"/>
                    <a:gd name="T5" fmla="*/ 30 h 30"/>
                    <a:gd name="T6" fmla="*/ 18 w 18"/>
                    <a:gd name="T7" fmla="*/ 24 h 30"/>
                    <a:gd name="T8" fmla="*/ 6 w 18"/>
                    <a:gd name="T9" fmla="*/ 0 h 30"/>
                  </a:gdLst>
                  <a:ahLst/>
                  <a:cxnLst>
                    <a:cxn ang="0">
                      <a:pos x="T0" y="T1"/>
                    </a:cxn>
                    <a:cxn ang="0">
                      <a:pos x="T2" y="T3"/>
                    </a:cxn>
                    <a:cxn ang="0">
                      <a:pos x="T4" y="T5"/>
                    </a:cxn>
                    <a:cxn ang="0">
                      <a:pos x="T6" y="T7"/>
                    </a:cxn>
                    <a:cxn ang="0">
                      <a:pos x="T8" y="T9"/>
                    </a:cxn>
                  </a:cxnLst>
                  <a:rect l="0" t="0" r="r" b="b"/>
                  <a:pathLst>
                    <a:path w="18" h="30">
                      <a:moveTo>
                        <a:pt x="6" y="0"/>
                      </a:moveTo>
                      <a:lnTo>
                        <a:pt x="0" y="6"/>
                      </a:lnTo>
                      <a:lnTo>
                        <a:pt x="12" y="30"/>
                      </a:lnTo>
                      <a:lnTo>
                        <a:pt x="18" y="24"/>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380" name="Freeform 307"/>
                <p:cNvSpPr>
                  <a:spLocks noEditPoints="1"/>
                </p:cNvSpPr>
                <p:nvPr/>
              </p:nvSpPr>
              <p:spPr bwMode="auto">
                <a:xfrm>
                  <a:off x="4519" y="2429"/>
                  <a:ext cx="30" cy="30"/>
                </a:xfrm>
                <a:custGeom>
                  <a:avLst/>
                  <a:gdLst>
                    <a:gd name="T0" fmla="*/ 0 w 30"/>
                    <a:gd name="T1" fmla="*/ 12 h 30"/>
                    <a:gd name="T2" fmla="*/ 0 w 30"/>
                    <a:gd name="T3" fmla="*/ 12 h 30"/>
                    <a:gd name="T4" fmla="*/ 0 w 30"/>
                    <a:gd name="T5" fmla="*/ 12 h 30"/>
                    <a:gd name="T6" fmla="*/ 6 w 30"/>
                    <a:gd name="T7" fmla="*/ 12 h 30"/>
                    <a:gd name="T8" fmla="*/ 12 w 30"/>
                    <a:gd name="T9" fmla="*/ 6 h 30"/>
                    <a:gd name="T10" fmla="*/ 18 w 30"/>
                    <a:gd name="T11" fmla="*/ 30 h 30"/>
                    <a:gd name="T12" fmla="*/ 24 w 30"/>
                    <a:gd name="T13" fmla="*/ 18 h 30"/>
                    <a:gd name="T14" fmla="*/ 30 w 30"/>
                    <a:gd name="T15" fmla="*/ 12 h 30"/>
                    <a:gd name="T16" fmla="*/ 24 w 30"/>
                    <a:gd name="T17" fmla="*/ 6 h 30"/>
                    <a:gd name="T18" fmla="*/ 0 w 30"/>
                    <a:gd name="T19" fmla="*/ 12 h 30"/>
                    <a:gd name="T20" fmla="*/ 6 w 30"/>
                    <a:gd name="T21" fmla="*/ 0 h 30"/>
                    <a:gd name="T22" fmla="*/ 0 w 30"/>
                    <a:gd name="T23" fmla="*/ 6 h 30"/>
                    <a:gd name="T24" fmla="*/ 0 w 30"/>
                    <a:gd name="T25" fmla="*/ 12 h 30"/>
                    <a:gd name="T26" fmla="*/ 12 w 30"/>
                    <a:gd name="T27" fmla="*/ 12 h 30"/>
                    <a:gd name="T28" fmla="*/ 6 w 30"/>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30">
                      <a:moveTo>
                        <a:pt x="0" y="12"/>
                      </a:moveTo>
                      <a:lnTo>
                        <a:pt x="0" y="12"/>
                      </a:lnTo>
                      <a:lnTo>
                        <a:pt x="0" y="12"/>
                      </a:lnTo>
                      <a:lnTo>
                        <a:pt x="6" y="12"/>
                      </a:lnTo>
                      <a:lnTo>
                        <a:pt x="12" y="6"/>
                      </a:lnTo>
                      <a:lnTo>
                        <a:pt x="18" y="30"/>
                      </a:lnTo>
                      <a:lnTo>
                        <a:pt x="24" y="18"/>
                      </a:lnTo>
                      <a:lnTo>
                        <a:pt x="30" y="12"/>
                      </a:lnTo>
                      <a:lnTo>
                        <a:pt x="24" y="6"/>
                      </a:lnTo>
                      <a:lnTo>
                        <a:pt x="0" y="12"/>
                      </a:lnTo>
                      <a:close/>
                      <a:moveTo>
                        <a:pt x="6" y="0"/>
                      </a:moveTo>
                      <a:lnTo>
                        <a:pt x="0" y="6"/>
                      </a:lnTo>
                      <a:lnTo>
                        <a:pt x="0" y="12"/>
                      </a:lnTo>
                      <a:lnTo>
                        <a:pt x="12" y="12"/>
                      </a:lnTo>
                      <a:lnTo>
                        <a:pt x="6" y="0"/>
                      </a:lnTo>
                      <a:close/>
                    </a:path>
                  </a:pathLst>
                </a:custGeom>
                <a:solidFill>
                  <a:srgbClr val="00FF00"/>
                </a:solidFill>
                <a:ln w="9525">
                  <a:solidFill>
                    <a:srgbClr val="00FF00"/>
                  </a:solidFill>
                  <a:round/>
                  <a:headEnd/>
                  <a:tailEnd/>
                </a:ln>
              </p:spPr>
              <p:txBody>
                <a:bodyPr/>
                <a:lstStyle/>
                <a:p>
                  <a:endParaRPr lang="zh-CN" altLang="en-US"/>
                </a:p>
              </p:txBody>
            </p:sp>
            <p:sp>
              <p:nvSpPr>
                <p:cNvPr id="381" name="Freeform 308"/>
                <p:cNvSpPr>
                  <a:spLocks noEditPoints="1"/>
                </p:cNvSpPr>
                <p:nvPr/>
              </p:nvSpPr>
              <p:spPr bwMode="auto">
                <a:xfrm>
                  <a:off x="4519" y="2435"/>
                  <a:ext cx="24" cy="30"/>
                </a:xfrm>
                <a:custGeom>
                  <a:avLst/>
                  <a:gdLst>
                    <a:gd name="T0" fmla="*/ 0 w 24"/>
                    <a:gd name="T1" fmla="*/ 12 h 30"/>
                    <a:gd name="T2" fmla="*/ 0 w 24"/>
                    <a:gd name="T3" fmla="*/ 12 h 30"/>
                    <a:gd name="T4" fmla="*/ 0 w 24"/>
                    <a:gd name="T5" fmla="*/ 12 h 30"/>
                    <a:gd name="T6" fmla="*/ 0 w 24"/>
                    <a:gd name="T7" fmla="*/ 12 h 30"/>
                    <a:gd name="T8" fmla="*/ 0 w 24"/>
                    <a:gd name="T9" fmla="*/ 12 h 30"/>
                    <a:gd name="T10" fmla="*/ 0 w 24"/>
                    <a:gd name="T11" fmla="*/ 12 h 30"/>
                    <a:gd name="T12" fmla="*/ 6 w 24"/>
                    <a:gd name="T13" fmla="*/ 30 h 30"/>
                    <a:gd name="T14" fmla="*/ 18 w 24"/>
                    <a:gd name="T15" fmla="*/ 24 h 30"/>
                    <a:gd name="T16" fmla="*/ 24 w 24"/>
                    <a:gd name="T17" fmla="*/ 18 h 30"/>
                    <a:gd name="T18" fmla="*/ 24 w 24"/>
                    <a:gd name="T19" fmla="*/ 18 h 30"/>
                    <a:gd name="T20" fmla="*/ 24 w 24"/>
                    <a:gd name="T21" fmla="*/ 12 h 30"/>
                    <a:gd name="T22" fmla="*/ 0 w 24"/>
                    <a:gd name="T23" fmla="*/ 12 h 30"/>
                    <a:gd name="T24" fmla="*/ 12 w 24"/>
                    <a:gd name="T25" fmla="*/ 0 h 30"/>
                    <a:gd name="T26" fmla="*/ 0 w 24"/>
                    <a:gd name="T27" fmla="*/ 0 h 30"/>
                    <a:gd name="T28" fmla="*/ 0 w 24"/>
                    <a:gd name="T29" fmla="*/ 12 h 30"/>
                    <a:gd name="T30" fmla="*/ 12 w 24"/>
                    <a:gd name="T31" fmla="*/ 12 h 30"/>
                    <a:gd name="T32" fmla="*/ 12 w 24"/>
                    <a:gd name="T3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30">
                      <a:moveTo>
                        <a:pt x="0" y="12"/>
                      </a:moveTo>
                      <a:lnTo>
                        <a:pt x="0" y="12"/>
                      </a:lnTo>
                      <a:lnTo>
                        <a:pt x="0" y="12"/>
                      </a:lnTo>
                      <a:lnTo>
                        <a:pt x="0" y="12"/>
                      </a:lnTo>
                      <a:lnTo>
                        <a:pt x="0" y="12"/>
                      </a:lnTo>
                      <a:lnTo>
                        <a:pt x="0" y="12"/>
                      </a:lnTo>
                      <a:lnTo>
                        <a:pt x="6" y="30"/>
                      </a:lnTo>
                      <a:lnTo>
                        <a:pt x="18" y="24"/>
                      </a:lnTo>
                      <a:lnTo>
                        <a:pt x="24" y="18"/>
                      </a:lnTo>
                      <a:lnTo>
                        <a:pt x="24" y="18"/>
                      </a:lnTo>
                      <a:lnTo>
                        <a:pt x="24" y="12"/>
                      </a:lnTo>
                      <a:lnTo>
                        <a:pt x="0" y="12"/>
                      </a:lnTo>
                      <a:close/>
                      <a:moveTo>
                        <a:pt x="12" y="0"/>
                      </a:moveTo>
                      <a:lnTo>
                        <a:pt x="0" y="0"/>
                      </a:lnTo>
                      <a:lnTo>
                        <a:pt x="0" y="12"/>
                      </a:lnTo>
                      <a:lnTo>
                        <a:pt x="12" y="12"/>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382" name="Freeform 309"/>
                <p:cNvSpPr>
                  <a:spLocks noEditPoints="1"/>
                </p:cNvSpPr>
                <p:nvPr/>
              </p:nvSpPr>
              <p:spPr bwMode="auto">
                <a:xfrm>
                  <a:off x="4513" y="2441"/>
                  <a:ext cx="24" cy="24"/>
                </a:xfrm>
                <a:custGeom>
                  <a:avLst/>
                  <a:gdLst>
                    <a:gd name="T0" fmla="*/ 6 w 24"/>
                    <a:gd name="T1" fmla="*/ 6 h 24"/>
                    <a:gd name="T2" fmla="*/ 6 w 24"/>
                    <a:gd name="T3" fmla="*/ 12 h 24"/>
                    <a:gd name="T4" fmla="*/ 0 w 24"/>
                    <a:gd name="T5" fmla="*/ 12 h 24"/>
                    <a:gd name="T6" fmla="*/ 24 w 24"/>
                    <a:gd name="T7" fmla="*/ 24 h 24"/>
                    <a:gd name="T8" fmla="*/ 24 w 24"/>
                    <a:gd name="T9" fmla="*/ 24 h 24"/>
                    <a:gd name="T10" fmla="*/ 24 w 24"/>
                    <a:gd name="T11" fmla="*/ 18 h 24"/>
                    <a:gd name="T12" fmla="*/ 6 w 24"/>
                    <a:gd name="T13" fmla="*/ 6 h 24"/>
                    <a:gd name="T14" fmla="*/ 24 w 24"/>
                    <a:gd name="T15" fmla="*/ 0 h 24"/>
                    <a:gd name="T16" fmla="*/ 12 w 24"/>
                    <a:gd name="T17" fmla="*/ 0 h 24"/>
                    <a:gd name="T18" fmla="*/ 6 w 24"/>
                    <a:gd name="T19" fmla="*/ 6 h 24"/>
                    <a:gd name="T20" fmla="*/ 18 w 24"/>
                    <a:gd name="T21" fmla="*/ 12 h 24"/>
                    <a:gd name="T22" fmla="*/ 24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6" y="6"/>
                      </a:moveTo>
                      <a:lnTo>
                        <a:pt x="6" y="12"/>
                      </a:lnTo>
                      <a:lnTo>
                        <a:pt x="0" y="12"/>
                      </a:lnTo>
                      <a:lnTo>
                        <a:pt x="24" y="24"/>
                      </a:lnTo>
                      <a:lnTo>
                        <a:pt x="24" y="24"/>
                      </a:lnTo>
                      <a:lnTo>
                        <a:pt x="24" y="18"/>
                      </a:lnTo>
                      <a:lnTo>
                        <a:pt x="6" y="6"/>
                      </a:lnTo>
                      <a:close/>
                      <a:moveTo>
                        <a:pt x="24" y="0"/>
                      </a:moveTo>
                      <a:lnTo>
                        <a:pt x="12" y="0"/>
                      </a:lnTo>
                      <a:lnTo>
                        <a:pt x="6" y="6"/>
                      </a:lnTo>
                      <a:lnTo>
                        <a:pt x="18" y="12"/>
                      </a:lnTo>
                      <a:lnTo>
                        <a:pt x="24" y="0"/>
                      </a:lnTo>
                      <a:close/>
                    </a:path>
                  </a:pathLst>
                </a:custGeom>
                <a:solidFill>
                  <a:srgbClr val="00FF00"/>
                </a:solidFill>
                <a:ln w="9525">
                  <a:solidFill>
                    <a:srgbClr val="00FF00"/>
                  </a:solidFill>
                  <a:round/>
                  <a:headEnd/>
                  <a:tailEnd/>
                </a:ln>
              </p:spPr>
              <p:txBody>
                <a:bodyPr/>
                <a:lstStyle/>
                <a:p>
                  <a:endParaRPr lang="zh-CN" altLang="en-US"/>
                </a:p>
              </p:txBody>
            </p:sp>
            <p:sp>
              <p:nvSpPr>
                <p:cNvPr id="383" name="Freeform 310"/>
                <p:cNvSpPr>
                  <a:spLocks noEditPoints="1"/>
                </p:cNvSpPr>
                <p:nvPr/>
              </p:nvSpPr>
              <p:spPr bwMode="auto">
                <a:xfrm>
                  <a:off x="4513" y="2447"/>
                  <a:ext cx="24" cy="18"/>
                </a:xfrm>
                <a:custGeom>
                  <a:avLst/>
                  <a:gdLst>
                    <a:gd name="T0" fmla="*/ 24 w 24"/>
                    <a:gd name="T1" fmla="*/ 12 h 18"/>
                    <a:gd name="T2" fmla="*/ 24 w 24"/>
                    <a:gd name="T3" fmla="*/ 12 h 18"/>
                    <a:gd name="T4" fmla="*/ 24 w 24"/>
                    <a:gd name="T5" fmla="*/ 12 h 18"/>
                    <a:gd name="T6" fmla="*/ 6 w 24"/>
                    <a:gd name="T7" fmla="*/ 0 h 18"/>
                    <a:gd name="T8" fmla="*/ 0 w 24"/>
                    <a:gd name="T9" fmla="*/ 6 h 18"/>
                    <a:gd name="T10" fmla="*/ 0 w 24"/>
                    <a:gd name="T11" fmla="*/ 12 h 18"/>
                    <a:gd name="T12" fmla="*/ 24 w 24"/>
                    <a:gd name="T13" fmla="*/ 12 h 18"/>
                    <a:gd name="T14" fmla="*/ 0 w 24"/>
                    <a:gd name="T15" fmla="*/ 6 h 18"/>
                    <a:gd name="T16" fmla="*/ 24 w 24"/>
                    <a:gd name="T17" fmla="*/ 12 h 18"/>
                    <a:gd name="T18" fmla="*/ 0 w 24"/>
                    <a:gd name="T19" fmla="*/ 12 h 18"/>
                    <a:gd name="T20" fmla="*/ 24 w 24"/>
                    <a:gd name="T21" fmla="*/ 18 h 18"/>
                    <a:gd name="T22" fmla="*/ 0 w 24"/>
                    <a:gd name="T23" fmla="*/ 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24" y="12"/>
                      </a:moveTo>
                      <a:lnTo>
                        <a:pt x="24" y="12"/>
                      </a:lnTo>
                      <a:lnTo>
                        <a:pt x="24" y="12"/>
                      </a:lnTo>
                      <a:lnTo>
                        <a:pt x="6" y="0"/>
                      </a:lnTo>
                      <a:lnTo>
                        <a:pt x="0" y="6"/>
                      </a:lnTo>
                      <a:lnTo>
                        <a:pt x="0" y="12"/>
                      </a:lnTo>
                      <a:lnTo>
                        <a:pt x="24" y="12"/>
                      </a:lnTo>
                      <a:close/>
                      <a:moveTo>
                        <a:pt x="0" y="6"/>
                      </a:moveTo>
                      <a:lnTo>
                        <a:pt x="24" y="12"/>
                      </a:lnTo>
                      <a:lnTo>
                        <a:pt x="0" y="12"/>
                      </a:lnTo>
                      <a:lnTo>
                        <a:pt x="24" y="18"/>
                      </a:lnTo>
                      <a:lnTo>
                        <a:pt x="0" y="6"/>
                      </a:lnTo>
                      <a:close/>
                    </a:path>
                  </a:pathLst>
                </a:custGeom>
                <a:solidFill>
                  <a:srgbClr val="00FF00"/>
                </a:solidFill>
                <a:ln w="9525">
                  <a:solidFill>
                    <a:srgbClr val="00FF00"/>
                  </a:solidFill>
                  <a:round/>
                  <a:headEnd/>
                  <a:tailEnd/>
                </a:ln>
              </p:spPr>
              <p:txBody>
                <a:bodyPr/>
                <a:lstStyle/>
                <a:p>
                  <a:endParaRPr lang="zh-CN" altLang="en-US"/>
                </a:p>
              </p:txBody>
            </p:sp>
            <p:sp>
              <p:nvSpPr>
                <p:cNvPr id="384" name="Freeform 311"/>
                <p:cNvSpPr>
                  <a:spLocks noEditPoints="1"/>
                </p:cNvSpPr>
                <p:nvPr/>
              </p:nvSpPr>
              <p:spPr bwMode="auto">
                <a:xfrm>
                  <a:off x="4519" y="2441"/>
                  <a:ext cx="24" cy="24"/>
                </a:xfrm>
                <a:custGeom>
                  <a:avLst/>
                  <a:gdLst>
                    <a:gd name="T0" fmla="*/ 12 w 24"/>
                    <a:gd name="T1" fmla="*/ 24 h 24"/>
                    <a:gd name="T2" fmla="*/ 18 w 24"/>
                    <a:gd name="T3" fmla="*/ 18 h 24"/>
                    <a:gd name="T4" fmla="*/ 24 w 24"/>
                    <a:gd name="T5" fmla="*/ 6 h 24"/>
                    <a:gd name="T6" fmla="*/ 0 w 24"/>
                    <a:gd name="T7" fmla="*/ 6 h 24"/>
                    <a:gd name="T8" fmla="*/ 0 w 24"/>
                    <a:gd name="T9" fmla="*/ 6 h 24"/>
                    <a:gd name="T10" fmla="*/ 0 w 24"/>
                    <a:gd name="T11" fmla="*/ 0 h 24"/>
                    <a:gd name="T12" fmla="*/ 12 w 24"/>
                    <a:gd name="T13" fmla="*/ 24 h 24"/>
                    <a:gd name="T14" fmla="*/ 0 w 24"/>
                    <a:gd name="T15" fmla="*/ 0 h 24"/>
                    <a:gd name="T16" fmla="*/ 0 w 24"/>
                    <a:gd name="T17" fmla="*/ 6 h 24"/>
                    <a:gd name="T18" fmla="*/ 0 w 24"/>
                    <a:gd name="T19" fmla="*/ 6 h 24"/>
                    <a:gd name="T20" fmla="*/ 6 w 24"/>
                    <a:gd name="T21" fmla="*/ 12 h 24"/>
                    <a:gd name="T22" fmla="*/ 0 w 24"/>
                    <a:gd name="T2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24">
                      <a:moveTo>
                        <a:pt x="12" y="24"/>
                      </a:moveTo>
                      <a:lnTo>
                        <a:pt x="18" y="18"/>
                      </a:lnTo>
                      <a:lnTo>
                        <a:pt x="24" y="6"/>
                      </a:lnTo>
                      <a:lnTo>
                        <a:pt x="0" y="6"/>
                      </a:lnTo>
                      <a:lnTo>
                        <a:pt x="0" y="6"/>
                      </a:lnTo>
                      <a:lnTo>
                        <a:pt x="0" y="0"/>
                      </a:lnTo>
                      <a:lnTo>
                        <a:pt x="12" y="24"/>
                      </a:lnTo>
                      <a:close/>
                      <a:moveTo>
                        <a:pt x="0" y="0"/>
                      </a:moveTo>
                      <a:lnTo>
                        <a:pt x="0" y="6"/>
                      </a:lnTo>
                      <a:lnTo>
                        <a:pt x="0" y="6"/>
                      </a:lnTo>
                      <a:lnTo>
                        <a:pt x="6" y="12"/>
                      </a:lnTo>
                      <a:lnTo>
                        <a:pt x="0" y="0"/>
                      </a:lnTo>
                      <a:close/>
                    </a:path>
                  </a:pathLst>
                </a:custGeom>
                <a:solidFill>
                  <a:srgbClr val="00FF00"/>
                </a:solidFill>
                <a:ln w="9525">
                  <a:solidFill>
                    <a:srgbClr val="00FF00"/>
                  </a:solidFill>
                  <a:round/>
                  <a:headEnd/>
                  <a:tailEnd/>
                </a:ln>
              </p:spPr>
              <p:txBody>
                <a:bodyPr/>
                <a:lstStyle/>
                <a:p>
                  <a:endParaRPr lang="zh-CN" altLang="en-US"/>
                </a:p>
              </p:txBody>
            </p:sp>
            <p:sp>
              <p:nvSpPr>
                <p:cNvPr id="385" name="Freeform 312"/>
                <p:cNvSpPr>
                  <a:spLocks noEditPoints="1"/>
                </p:cNvSpPr>
                <p:nvPr/>
              </p:nvSpPr>
              <p:spPr bwMode="auto">
                <a:xfrm>
                  <a:off x="4519" y="2429"/>
                  <a:ext cx="24" cy="24"/>
                </a:xfrm>
                <a:custGeom>
                  <a:avLst/>
                  <a:gdLst>
                    <a:gd name="T0" fmla="*/ 24 w 24"/>
                    <a:gd name="T1" fmla="*/ 24 h 24"/>
                    <a:gd name="T2" fmla="*/ 24 w 24"/>
                    <a:gd name="T3" fmla="*/ 12 h 24"/>
                    <a:gd name="T4" fmla="*/ 24 w 24"/>
                    <a:gd name="T5" fmla="*/ 6 h 24"/>
                    <a:gd name="T6" fmla="*/ 18 w 24"/>
                    <a:gd name="T7" fmla="*/ 0 h 24"/>
                    <a:gd name="T8" fmla="*/ 0 w 24"/>
                    <a:gd name="T9" fmla="*/ 18 h 24"/>
                    <a:gd name="T10" fmla="*/ 0 w 24"/>
                    <a:gd name="T11" fmla="*/ 18 h 24"/>
                    <a:gd name="T12" fmla="*/ 0 w 24"/>
                    <a:gd name="T13" fmla="*/ 12 h 24"/>
                    <a:gd name="T14" fmla="*/ 24 w 24"/>
                    <a:gd name="T15" fmla="*/ 24 h 24"/>
                    <a:gd name="T16" fmla="*/ 0 w 24"/>
                    <a:gd name="T17" fmla="*/ 12 h 24"/>
                    <a:gd name="T18" fmla="*/ 0 w 24"/>
                    <a:gd name="T19" fmla="*/ 18 h 24"/>
                    <a:gd name="T20" fmla="*/ 0 w 24"/>
                    <a:gd name="T21" fmla="*/ 18 h 24"/>
                    <a:gd name="T22" fmla="*/ 12 w 24"/>
                    <a:gd name="T23" fmla="*/ 18 h 24"/>
                    <a:gd name="T24" fmla="*/ 0 w 24"/>
                    <a:gd name="T25"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4">
                      <a:moveTo>
                        <a:pt x="24" y="24"/>
                      </a:moveTo>
                      <a:lnTo>
                        <a:pt x="24" y="12"/>
                      </a:lnTo>
                      <a:lnTo>
                        <a:pt x="24" y="6"/>
                      </a:lnTo>
                      <a:lnTo>
                        <a:pt x="18" y="0"/>
                      </a:lnTo>
                      <a:lnTo>
                        <a:pt x="0" y="18"/>
                      </a:lnTo>
                      <a:lnTo>
                        <a:pt x="0" y="18"/>
                      </a:lnTo>
                      <a:lnTo>
                        <a:pt x="0" y="12"/>
                      </a:lnTo>
                      <a:lnTo>
                        <a:pt x="24" y="24"/>
                      </a:lnTo>
                      <a:close/>
                      <a:moveTo>
                        <a:pt x="0" y="12"/>
                      </a:moveTo>
                      <a:lnTo>
                        <a:pt x="0" y="18"/>
                      </a:lnTo>
                      <a:lnTo>
                        <a:pt x="0" y="18"/>
                      </a:lnTo>
                      <a:lnTo>
                        <a:pt x="12" y="18"/>
                      </a:lnTo>
                      <a:lnTo>
                        <a:pt x="0" y="12"/>
                      </a:lnTo>
                      <a:close/>
                    </a:path>
                  </a:pathLst>
                </a:custGeom>
                <a:solidFill>
                  <a:srgbClr val="00FF00"/>
                </a:solidFill>
                <a:ln w="9525">
                  <a:solidFill>
                    <a:srgbClr val="00FF00"/>
                  </a:solidFill>
                  <a:round/>
                  <a:headEnd/>
                  <a:tailEnd/>
                </a:ln>
              </p:spPr>
              <p:txBody>
                <a:bodyPr/>
                <a:lstStyle/>
                <a:p>
                  <a:endParaRPr lang="zh-CN" altLang="en-US"/>
                </a:p>
              </p:txBody>
            </p:sp>
            <p:sp>
              <p:nvSpPr>
                <p:cNvPr id="386" name="Freeform 313"/>
                <p:cNvSpPr>
                  <a:spLocks noEditPoints="1"/>
                </p:cNvSpPr>
                <p:nvPr/>
              </p:nvSpPr>
              <p:spPr bwMode="auto">
                <a:xfrm>
                  <a:off x="4519" y="2423"/>
                  <a:ext cx="18" cy="24"/>
                </a:xfrm>
                <a:custGeom>
                  <a:avLst/>
                  <a:gdLst>
                    <a:gd name="T0" fmla="*/ 18 w 18"/>
                    <a:gd name="T1" fmla="*/ 6 h 24"/>
                    <a:gd name="T2" fmla="*/ 18 w 18"/>
                    <a:gd name="T3" fmla="*/ 6 h 24"/>
                    <a:gd name="T4" fmla="*/ 18 w 18"/>
                    <a:gd name="T5" fmla="*/ 12 h 24"/>
                    <a:gd name="T6" fmla="*/ 18 w 18"/>
                    <a:gd name="T7" fmla="*/ 18 h 24"/>
                    <a:gd name="T8" fmla="*/ 18 w 18"/>
                    <a:gd name="T9" fmla="*/ 18 h 24"/>
                    <a:gd name="T10" fmla="*/ 6 w 18"/>
                    <a:gd name="T11" fmla="*/ 0 h 24"/>
                    <a:gd name="T12" fmla="*/ 0 w 18"/>
                    <a:gd name="T13" fmla="*/ 6 h 24"/>
                    <a:gd name="T14" fmla="*/ 0 w 18"/>
                    <a:gd name="T15" fmla="*/ 12 h 24"/>
                    <a:gd name="T16" fmla="*/ 0 w 18"/>
                    <a:gd name="T17" fmla="*/ 18 h 24"/>
                    <a:gd name="T18" fmla="*/ 0 w 18"/>
                    <a:gd name="T19" fmla="*/ 24 h 24"/>
                    <a:gd name="T20" fmla="*/ 18 w 18"/>
                    <a:gd name="T21" fmla="*/ 6 h 24"/>
                    <a:gd name="T22" fmla="*/ 18 w 18"/>
                    <a:gd name="T23" fmla="*/ 6 h 24"/>
                    <a:gd name="T24" fmla="*/ 18 w 18"/>
                    <a:gd name="T25" fmla="*/ 6 h 24"/>
                    <a:gd name="T26" fmla="*/ 18 w 18"/>
                    <a:gd name="T27" fmla="*/ 6 h 24"/>
                    <a:gd name="T28" fmla="*/ 12 w 18"/>
                    <a:gd name="T29" fmla="*/ 18 h 24"/>
                    <a:gd name="T30" fmla="*/ 18 w 18"/>
                    <a:gd name="T31"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24">
                      <a:moveTo>
                        <a:pt x="18" y="6"/>
                      </a:moveTo>
                      <a:lnTo>
                        <a:pt x="18" y="6"/>
                      </a:lnTo>
                      <a:lnTo>
                        <a:pt x="18" y="12"/>
                      </a:lnTo>
                      <a:lnTo>
                        <a:pt x="18" y="18"/>
                      </a:lnTo>
                      <a:lnTo>
                        <a:pt x="18" y="18"/>
                      </a:lnTo>
                      <a:lnTo>
                        <a:pt x="6" y="0"/>
                      </a:lnTo>
                      <a:lnTo>
                        <a:pt x="0" y="6"/>
                      </a:lnTo>
                      <a:lnTo>
                        <a:pt x="0" y="12"/>
                      </a:lnTo>
                      <a:lnTo>
                        <a:pt x="0" y="18"/>
                      </a:lnTo>
                      <a:lnTo>
                        <a:pt x="0" y="24"/>
                      </a:lnTo>
                      <a:lnTo>
                        <a:pt x="18" y="6"/>
                      </a:lnTo>
                      <a:close/>
                      <a:moveTo>
                        <a:pt x="18" y="6"/>
                      </a:moveTo>
                      <a:lnTo>
                        <a:pt x="18" y="6"/>
                      </a:lnTo>
                      <a:lnTo>
                        <a:pt x="18" y="6"/>
                      </a:lnTo>
                      <a:lnTo>
                        <a:pt x="12" y="18"/>
                      </a:lnTo>
                      <a:lnTo>
                        <a:pt x="18" y="6"/>
                      </a:lnTo>
                      <a:close/>
                    </a:path>
                  </a:pathLst>
                </a:custGeom>
                <a:solidFill>
                  <a:srgbClr val="00FF00"/>
                </a:solidFill>
                <a:ln w="9525">
                  <a:solidFill>
                    <a:srgbClr val="00FF00"/>
                  </a:solidFill>
                  <a:round/>
                  <a:headEnd/>
                  <a:tailEnd/>
                </a:ln>
              </p:spPr>
              <p:txBody>
                <a:bodyPr/>
                <a:lstStyle/>
                <a:p>
                  <a:endParaRPr lang="zh-CN" altLang="en-US"/>
                </a:p>
              </p:txBody>
            </p:sp>
            <p:sp>
              <p:nvSpPr>
                <p:cNvPr id="387" name="Freeform 314"/>
                <p:cNvSpPr>
                  <a:spLocks noEditPoints="1"/>
                </p:cNvSpPr>
                <p:nvPr/>
              </p:nvSpPr>
              <p:spPr bwMode="auto">
                <a:xfrm>
                  <a:off x="4525" y="2417"/>
                  <a:ext cx="18" cy="24"/>
                </a:xfrm>
                <a:custGeom>
                  <a:avLst/>
                  <a:gdLst>
                    <a:gd name="T0" fmla="*/ 18 w 18"/>
                    <a:gd name="T1" fmla="*/ 24 h 24"/>
                    <a:gd name="T2" fmla="*/ 18 w 18"/>
                    <a:gd name="T3" fmla="*/ 24 h 24"/>
                    <a:gd name="T4" fmla="*/ 12 w 18"/>
                    <a:gd name="T5" fmla="*/ 24 h 24"/>
                    <a:gd name="T6" fmla="*/ 18 w 18"/>
                    <a:gd name="T7" fmla="*/ 0 h 24"/>
                    <a:gd name="T8" fmla="*/ 6 w 18"/>
                    <a:gd name="T9" fmla="*/ 6 h 24"/>
                    <a:gd name="T10" fmla="*/ 0 w 18"/>
                    <a:gd name="T11" fmla="*/ 6 h 24"/>
                    <a:gd name="T12" fmla="*/ 18 w 18"/>
                    <a:gd name="T13" fmla="*/ 24 h 24"/>
                    <a:gd name="T14" fmla="*/ 12 w 18"/>
                    <a:gd name="T15" fmla="*/ 24 h 24"/>
                    <a:gd name="T16" fmla="*/ 18 w 18"/>
                    <a:gd name="T17" fmla="*/ 24 h 24"/>
                    <a:gd name="T18" fmla="*/ 18 w 18"/>
                    <a:gd name="T19" fmla="*/ 24 h 24"/>
                    <a:gd name="T20" fmla="*/ 6 w 18"/>
                    <a:gd name="T21" fmla="*/ 18 h 24"/>
                    <a:gd name="T22" fmla="*/ 12 w 18"/>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24">
                      <a:moveTo>
                        <a:pt x="18" y="24"/>
                      </a:moveTo>
                      <a:lnTo>
                        <a:pt x="18" y="24"/>
                      </a:lnTo>
                      <a:lnTo>
                        <a:pt x="12" y="24"/>
                      </a:lnTo>
                      <a:lnTo>
                        <a:pt x="18" y="0"/>
                      </a:lnTo>
                      <a:lnTo>
                        <a:pt x="6" y="6"/>
                      </a:lnTo>
                      <a:lnTo>
                        <a:pt x="0" y="6"/>
                      </a:lnTo>
                      <a:lnTo>
                        <a:pt x="18" y="24"/>
                      </a:lnTo>
                      <a:close/>
                      <a:moveTo>
                        <a:pt x="12" y="24"/>
                      </a:moveTo>
                      <a:lnTo>
                        <a:pt x="18" y="24"/>
                      </a:lnTo>
                      <a:lnTo>
                        <a:pt x="18" y="24"/>
                      </a:lnTo>
                      <a:lnTo>
                        <a:pt x="6" y="18"/>
                      </a:lnTo>
                      <a:lnTo>
                        <a:pt x="12" y="24"/>
                      </a:lnTo>
                      <a:close/>
                    </a:path>
                  </a:pathLst>
                </a:custGeom>
                <a:solidFill>
                  <a:srgbClr val="00FF00"/>
                </a:solidFill>
                <a:ln w="9525">
                  <a:solidFill>
                    <a:srgbClr val="00FF00"/>
                  </a:solidFill>
                  <a:round/>
                  <a:headEnd/>
                  <a:tailEnd/>
                </a:ln>
              </p:spPr>
              <p:txBody>
                <a:bodyPr/>
                <a:lstStyle/>
                <a:p>
                  <a:endParaRPr lang="zh-CN" altLang="en-US"/>
                </a:p>
              </p:txBody>
            </p:sp>
            <p:sp>
              <p:nvSpPr>
                <p:cNvPr id="388" name="Freeform 315"/>
                <p:cNvSpPr>
                  <a:spLocks noEditPoints="1"/>
                </p:cNvSpPr>
                <p:nvPr/>
              </p:nvSpPr>
              <p:spPr bwMode="auto">
                <a:xfrm>
                  <a:off x="4525" y="2417"/>
                  <a:ext cx="30" cy="18"/>
                </a:xfrm>
                <a:custGeom>
                  <a:avLst/>
                  <a:gdLst>
                    <a:gd name="T0" fmla="*/ 6 w 30"/>
                    <a:gd name="T1" fmla="*/ 12 h 18"/>
                    <a:gd name="T2" fmla="*/ 0 w 30"/>
                    <a:gd name="T3" fmla="*/ 18 h 18"/>
                    <a:gd name="T4" fmla="*/ 24 w 30"/>
                    <a:gd name="T5" fmla="*/ 18 h 18"/>
                    <a:gd name="T6" fmla="*/ 30 w 30"/>
                    <a:gd name="T7" fmla="*/ 18 h 18"/>
                    <a:gd name="T8" fmla="*/ 6 w 30"/>
                    <a:gd name="T9" fmla="*/ 12 h 18"/>
                    <a:gd name="T10" fmla="*/ 30 w 30"/>
                    <a:gd name="T11" fmla="*/ 18 h 18"/>
                    <a:gd name="T12" fmla="*/ 30 w 30"/>
                    <a:gd name="T13" fmla="*/ 6 h 18"/>
                    <a:gd name="T14" fmla="*/ 18 w 30"/>
                    <a:gd name="T15" fmla="*/ 0 h 18"/>
                    <a:gd name="T16" fmla="*/ 18 w 30"/>
                    <a:gd name="T17" fmla="*/ 12 h 18"/>
                    <a:gd name="T18" fmla="*/ 30 w 30"/>
                    <a:gd name="T19"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8">
                      <a:moveTo>
                        <a:pt x="6" y="12"/>
                      </a:moveTo>
                      <a:lnTo>
                        <a:pt x="0" y="18"/>
                      </a:lnTo>
                      <a:lnTo>
                        <a:pt x="24" y="18"/>
                      </a:lnTo>
                      <a:lnTo>
                        <a:pt x="30" y="18"/>
                      </a:lnTo>
                      <a:lnTo>
                        <a:pt x="6" y="12"/>
                      </a:lnTo>
                      <a:close/>
                      <a:moveTo>
                        <a:pt x="30" y="18"/>
                      </a:moveTo>
                      <a:lnTo>
                        <a:pt x="30" y="6"/>
                      </a:lnTo>
                      <a:lnTo>
                        <a:pt x="18" y="0"/>
                      </a:lnTo>
                      <a:lnTo>
                        <a:pt x="18" y="12"/>
                      </a:lnTo>
                      <a:lnTo>
                        <a:pt x="30" y="18"/>
                      </a:lnTo>
                      <a:close/>
                    </a:path>
                  </a:pathLst>
                </a:custGeom>
                <a:solidFill>
                  <a:srgbClr val="00FF00"/>
                </a:solidFill>
                <a:ln w="9525">
                  <a:solidFill>
                    <a:srgbClr val="00FF00"/>
                  </a:solidFill>
                  <a:round/>
                  <a:headEnd/>
                  <a:tailEnd/>
                </a:ln>
              </p:spPr>
              <p:txBody>
                <a:bodyPr/>
                <a:lstStyle/>
                <a:p>
                  <a:endParaRPr lang="zh-CN" altLang="en-US"/>
                </a:p>
              </p:txBody>
            </p:sp>
            <p:sp>
              <p:nvSpPr>
                <p:cNvPr id="389" name="Freeform 316"/>
                <p:cNvSpPr>
                  <a:spLocks/>
                </p:cNvSpPr>
                <p:nvPr/>
              </p:nvSpPr>
              <p:spPr bwMode="auto">
                <a:xfrm>
                  <a:off x="4537" y="2435"/>
                  <a:ext cx="12" cy="12"/>
                </a:xfrm>
                <a:custGeom>
                  <a:avLst/>
                  <a:gdLst>
                    <a:gd name="T0" fmla="*/ 6 w 12"/>
                    <a:gd name="T1" fmla="*/ 12 h 12"/>
                    <a:gd name="T2" fmla="*/ 12 w 12"/>
                    <a:gd name="T3" fmla="*/ 6 h 12"/>
                    <a:gd name="T4" fmla="*/ 12 w 12"/>
                    <a:gd name="T5" fmla="*/ 0 h 12"/>
                    <a:gd name="T6" fmla="*/ 0 w 12"/>
                    <a:gd name="T7" fmla="*/ 0 h 12"/>
                    <a:gd name="T8" fmla="*/ 6 w 12"/>
                    <a:gd name="T9" fmla="*/ 12 h 12"/>
                  </a:gdLst>
                  <a:ahLst/>
                  <a:cxnLst>
                    <a:cxn ang="0">
                      <a:pos x="T0" y="T1"/>
                    </a:cxn>
                    <a:cxn ang="0">
                      <a:pos x="T2" y="T3"/>
                    </a:cxn>
                    <a:cxn ang="0">
                      <a:pos x="T4" y="T5"/>
                    </a:cxn>
                    <a:cxn ang="0">
                      <a:pos x="T6" y="T7"/>
                    </a:cxn>
                    <a:cxn ang="0">
                      <a:pos x="T8" y="T9"/>
                    </a:cxn>
                  </a:cxnLst>
                  <a:rect l="0" t="0" r="r" b="b"/>
                  <a:pathLst>
                    <a:path w="12" h="12">
                      <a:moveTo>
                        <a:pt x="6" y="12"/>
                      </a:moveTo>
                      <a:lnTo>
                        <a:pt x="12" y="6"/>
                      </a:lnTo>
                      <a:lnTo>
                        <a:pt x="12" y="0"/>
                      </a:lnTo>
                      <a:lnTo>
                        <a:pt x="0" y="0"/>
                      </a:lnTo>
                      <a:lnTo>
                        <a:pt x="6" y="12"/>
                      </a:lnTo>
                      <a:close/>
                    </a:path>
                  </a:pathLst>
                </a:custGeom>
                <a:solidFill>
                  <a:srgbClr val="00FF00"/>
                </a:solidFill>
                <a:ln w="9525">
                  <a:solidFill>
                    <a:srgbClr val="00FF00"/>
                  </a:solidFill>
                  <a:round/>
                  <a:headEnd/>
                  <a:tailEnd/>
                </a:ln>
              </p:spPr>
              <p:txBody>
                <a:bodyPr/>
                <a:lstStyle/>
                <a:p>
                  <a:endParaRPr lang="zh-CN" altLang="en-US"/>
                </a:p>
              </p:txBody>
            </p:sp>
            <p:sp>
              <p:nvSpPr>
                <p:cNvPr id="390" name="Freeform 317"/>
                <p:cNvSpPr>
                  <a:spLocks/>
                </p:cNvSpPr>
                <p:nvPr/>
              </p:nvSpPr>
              <p:spPr bwMode="auto">
                <a:xfrm>
                  <a:off x="4537" y="2370"/>
                  <a:ext cx="30" cy="77"/>
                </a:xfrm>
                <a:custGeom>
                  <a:avLst/>
                  <a:gdLst>
                    <a:gd name="T0" fmla="*/ 12 w 30"/>
                    <a:gd name="T1" fmla="*/ 0 h 77"/>
                    <a:gd name="T2" fmla="*/ 6 w 30"/>
                    <a:gd name="T3" fmla="*/ 6 h 77"/>
                    <a:gd name="T4" fmla="*/ 6 w 30"/>
                    <a:gd name="T5" fmla="*/ 12 h 77"/>
                    <a:gd name="T6" fmla="*/ 0 w 30"/>
                    <a:gd name="T7" fmla="*/ 35 h 77"/>
                    <a:gd name="T8" fmla="*/ 6 w 30"/>
                    <a:gd name="T9" fmla="*/ 65 h 77"/>
                    <a:gd name="T10" fmla="*/ 6 w 30"/>
                    <a:gd name="T11" fmla="*/ 77 h 77"/>
                    <a:gd name="T12" fmla="*/ 12 w 30"/>
                    <a:gd name="T13" fmla="*/ 77 h 77"/>
                    <a:gd name="T14" fmla="*/ 18 w 30"/>
                    <a:gd name="T15" fmla="*/ 77 h 77"/>
                    <a:gd name="T16" fmla="*/ 24 w 30"/>
                    <a:gd name="T17" fmla="*/ 65 h 77"/>
                    <a:gd name="T18" fmla="*/ 30 w 30"/>
                    <a:gd name="T19" fmla="*/ 35 h 77"/>
                    <a:gd name="T20" fmla="*/ 24 w 30"/>
                    <a:gd name="T21" fmla="*/ 12 h 77"/>
                    <a:gd name="T22" fmla="*/ 18 w 30"/>
                    <a:gd name="T23" fmla="*/ 6 h 77"/>
                    <a:gd name="T24" fmla="*/ 12 w 30"/>
                    <a:gd name="T25" fmla="*/ 0 h 77"/>
                    <a:gd name="T26" fmla="*/ 12 w 30"/>
                    <a:gd name="T27"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77">
                      <a:moveTo>
                        <a:pt x="12" y="0"/>
                      </a:moveTo>
                      <a:lnTo>
                        <a:pt x="6" y="6"/>
                      </a:lnTo>
                      <a:lnTo>
                        <a:pt x="6" y="12"/>
                      </a:lnTo>
                      <a:lnTo>
                        <a:pt x="0" y="35"/>
                      </a:lnTo>
                      <a:lnTo>
                        <a:pt x="6" y="65"/>
                      </a:lnTo>
                      <a:lnTo>
                        <a:pt x="6" y="77"/>
                      </a:lnTo>
                      <a:lnTo>
                        <a:pt x="12" y="77"/>
                      </a:lnTo>
                      <a:lnTo>
                        <a:pt x="18" y="77"/>
                      </a:lnTo>
                      <a:lnTo>
                        <a:pt x="24" y="65"/>
                      </a:lnTo>
                      <a:lnTo>
                        <a:pt x="30" y="35"/>
                      </a:lnTo>
                      <a:lnTo>
                        <a:pt x="24" y="12"/>
                      </a:lnTo>
                      <a:lnTo>
                        <a:pt x="18" y="6"/>
                      </a:lnTo>
                      <a:lnTo>
                        <a:pt x="12" y="0"/>
                      </a:lnTo>
                      <a:lnTo>
                        <a:pt x="12" y="0"/>
                      </a:lnTo>
                      <a:close/>
                    </a:path>
                  </a:pathLst>
                </a:custGeom>
                <a:solidFill>
                  <a:srgbClr val="00FF00"/>
                </a:solidFill>
                <a:ln w="9525">
                  <a:solidFill>
                    <a:srgbClr val="00FF00"/>
                  </a:solidFill>
                  <a:round/>
                  <a:headEnd/>
                  <a:tailEnd/>
                </a:ln>
              </p:spPr>
              <p:txBody>
                <a:bodyPr/>
                <a:lstStyle/>
                <a:p>
                  <a:endParaRPr lang="zh-CN" altLang="en-US"/>
                </a:p>
              </p:txBody>
            </p:sp>
            <p:sp>
              <p:nvSpPr>
                <p:cNvPr id="391" name="Freeform 318"/>
                <p:cNvSpPr>
                  <a:spLocks/>
                </p:cNvSpPr>
                <p:nvPr/>
              </p:nvSpPr>
              <p:spPr bwMode="auto">
                <a:xfrm>
                  <a:off x="4525" y="2358"/>
                  <a:ext cx="30" cy="47"/>
                </a:xfrm>
                <a:custGeom>
                  <a:avLst/>
                  <a:gdLst>
                    <a:gd name="T0" fmla="*/ 24 w 30"/>
                    <a:gd name="T1" fmla="*/ 0 h 47"/>
                    <a:gd name="T2" fmla="*/ 12 w 30"/>
                    <a:gd name="T3" fmla="*/ 6 h 47"/>
                    <a:gd name="T4" fmla="*/ 6 w 30"/>
                    <a:gd name="T5" fmla="*/ 18 h 47"/>
                    <a:gd name="T6" fmla="*/ 0 w 30"/>
                    <a:gd name="T7" fmla="*/ 47 h 47"/>
                    <a:gd name="T8" fmla="*/ 24 w 30"/>
                    <a:gd name="T9" fmla="*/ 47 h 47"/>
                    <a:gd name="T10" fmla="*/ 24 w 30"/>
                    <a:gd name="T11" fmla="*/ 36 h 47"/>
                    <a:gd name="T12" fmla="*/ 24 w 30"/>
                    <a:gd name="T13" fmla="*/ 30 h 47"/>
                    <a:gd name="T14" fmla="*/ 30 w 30"/>
                    <a:gd name="T15" fmla="*/ 24 h 47"/>
                    <a:gd name="T16" fmla="*/ 24 w 30"/>
                    <a:gd name="T17" fmla="*/ 24 h 47"/>
                    <a:gd name="T18" fmla="*/ 24 w 30"/>
                    <a:gd name="T1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47">
                      <a:moveTo>
                        <a:pt x="24" y="0"/>
                      </a:moveTo>
                      <a:lnTo>
                        <a:pt x="12" y="6"/>
                      </a:lnTo>
                      <a:lnTo>
                        <a:pt x="6" y="18"/>
                      </a:lnTo>
                      <a:lnTo>
                        <a:pt x="0" y="47"/>
                      </a:lnTo>
                      <a:lnTo>
                        <a:pt x="24" y="47"/>
                      </a:lnTo>
                      <a:lnTo>
                        <a:pt x="24" y="36"/>
                      </a:lnTo>
                      <a:lnTo>
                        <a:pt x="24" y="30"/>
                      </a:lnTo>
                      <a:lnTo>
                        <a:pt x="30" y="24"/>
                      </a:lnTo>
                      <a:lnTo>
                        <a:pt x="24" y="24"/>
                      </a:lnTo>
                      <a:lnTo>
                        <a:pt x="24" y="0"/>
                      </a:lnTo>
                      <a:close/>
                    </a:path>
                  </a:pathLst>
                </a:custGeom>
                <a:solidFill>
                  <a:srgbClr val="00FF00"/>
                </a:solidFill>
                <a:ln w="9525">
                  <a:solidFill>
                    <a:srgbClr val="00FF00"/>
                  </a:solidFill>
                  <a:round/>
                  <a:headEnd/>
                  <a:tailEnd/>
                </a:ln>
              </p:spPr>
              <p:txBody>
                <a:bodyPr/>
                <a:lstStyle/>
                <a:p>
                  <a:endParaRPr lang="zh-CN" altLang="en-US"/>
                </a:p>
              </p:txBody>
            </p:sp>
          </p:grpSp>
          <p:sp>
            <p:nvSpPr>
              <p:cNvPr id="211" name="Freeform 319"/>
              <p:cNvSpPr>
                <a:spLocks noEditPoints="1"/>
              </p:cNvSpPr>
              <p:nvPr/>
            </p:nvSpPr>
            <p:spPr bwMode="auto">
              <a:xfrm>
                <a:off x="4524" y="2386"/>
                <a:ext cx="30" cy="54"/>
              </a:xfrm>
              <a:custGeom>
                <a:avLst/>
                <a:gdLst>
                  <a:gd name="T0" fmla="*/ 0 w 30"/>
                  <a:gd name="T1" fmla="*/ 0 h 54"/>
                  <a:gd name="T2" fmla="*/ 6 w 30"/>
                  <a:gd name="T3" fmla="*/ 36 h 54"/>
                  <a:gd name="T4" fmla="*/ 12 w 30"/>
                  <a:gd name="T5" fmla="*/ 48 h 54"/>
                  <a:gd name="T6" fmla="*/ 24 w 30"/>
                  <a:gd name="T7" fmla="*/ 54 h 54"/>
                  <a:gd name="T8" fmla="*/ 24 w 30"/>
                  <a:gd name="T9" fmla="*/ 30 h 54"/>
                  <a:gd name="T10" fmla="*/ 30 w 30"/>
                  <a:gd name="T11" fmla="*/ 30 h 54"/>
                  <a:gd name="T12" fmla="*/ 30 w 30"/>
                  <a:gd name="T13" fmla="*/ 24 h 54"/>
                  <a:gd name="T14" fmla="*/ 24 w 30"/>
                  <a:gd name="T15" fmla="*/ 0 h 54"/>
                  <a:gd name="T16" fmla="*/ 0 w 30"/>
                  <a:gd name="T17" fmla="*/ 0 h 54"/>
                  <a:gd name="T18" fmla="*/ 24 w 30"/>
                  <a:gd name="T19" fmla="*/ 0 h 54"/>
                  <a:gd name="T20" fmla="*/ 24 w 30"/>
                  <a:gd name="T21" fmla="*/ 0 h 54"/>
                  <a:gd name="T22" fmla="*/ 12 w 30"/>
                  <a:gd name="T23" fmla="*/ 0 h 54"/>
                  <a:gd name="T24" fmla="*/ 24 w 30"/>
                  <a:gd name="T2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54">
                    <a:moveTo>
                      <a:pt x="0" y="0"/>
                    </a:moveTo>
                    <a:lnTo>
                      <a:pt x="6" y="36"/>
                    </a:lnTo>
                    <a:lnTo>
                      <a:pt x="12" y="48"/>
                    </a:lnTo>
                    <a:lnTo>
                      <a:pt x="24" y="54"/>
                    </a:lnTo>
                    <a:lnTo>
                      <a:pt x="24" y="30"/>
                    </a:lnTo>
                    <a:lnTo>
                      <a:pt x="30" y="30"/>
                    </a:lnTo>
                    <a:lnTo>
                      <a:pt x="30" y="24"/>
                    </a:lnTo>
                    <a:lnTo>
                      <a:pt x="24" y="0"/>
                    </a:lnTo>
                    <a:lnTo>
                      <a:pt x="0" y="0"/>
                    </a:lnTo>
                    <a:close/>
                    <a:moveTo>
                      <a:pt x="24" y="0"/>
                    </a:moveTo>
                    <a:lnTo>
                      <a:pt x="24" y="0"/>
                    </a:lnTo>
                    <a:lnTo>
                      <a:pt x="12" y="0"/>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2" name="Freeform 320"/>
              <p:cNvSpPr>
                <a:spLocks noEditPoints="1"/>
              </p:cNvSpPr>
              <p:nvPr/>
            </p:nvSpPr>
            <p:spPr bwMode="auto">
              <a:xfrm>
                <a:off x="4548" y="2386"/>
                <a:ext cx="30" cy="54"/>
              </a:xfrm>
              <a:custGeom>
                <a:avLst/>
                <a:gdLst>
                  <a:gd name="T0" fmla="*/ 0 w 30"/>
                  <a:gd name="T1" fmla="*/ 54 h 54"/>
                  <a:gd name="T2" fmla="*/ 12 w 30"/>
                  <a:gd name="T3" fmla="*/ 48 h 54"/>
                  <a:gd name="T4" fmla="*/ 24 w 30"/>
                  <a:gd name="T5" fmla="*/ 36 h 54"/>
                  <a:gd name="T6" fmla="*/ 30 w 30"/>
                  <a:gd name="T7" fmla="*/ 0 h 54"/>
                  <a:gd name="T8" fmla="*/ 6 w 30"/>
                  <a:gd name="T9" fmla="*/ 0 h 54"/>
                  <a:gd name="T10" fmla="*/ 0 w 30"/>
                  <a:gd name="T11" fmla="*/ 24 h 54"/>
                  <a:gd name="T12" fmla="*/ 0 w 30"/>
                  <a:gd name="T13" fmla="*/ 30 h 54"/>
                  <a:gd name="T14" fmla="*/ 0 w 30"/>
                  <a:gd name="T15" fmla="*/ 30 h 54"/>
                  <a:gd name="T16" fmla="*/ 0 w 30"/>
                  <a:gd name="T17" fmla="*/ 54 h 54"/>
                  <a:gd name="T18" fmla="*/ 0 w 30"/>
                  <a:gd name="T19" fmla="*/ 30 h 54"/>
                  <a:gd name="T20" fmla="*/ 0 w 30"/>
                  <a:gd name="T21" fmla="*/ 30 h 54"/>
                  <a:gd name="T22" fmla="*/ 0 w 30"/>
                  <a:gd name="T23" fmla="*/ 42 h 54"/>
                  <a:gd name="T24" fmla="*/ 0 w 30"/>
                  <a:gd name="T25" fmla="*/ 3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54">
                    <a:moveTo>
                      <a:pt x="0" y="54"/>
                    </a:moveTo>
                    <a:lnTo>
                      <a:pt x="12" y="48"/>
                    </a:lnTo>
                    <a:lnTo>
                      <a:pt x="24" y="36"/>
                    </a:lnTo>
                    <a:lnTo>
                      <a:pt x="30" y="0"/>
                    </a:lnTo>
                    <a:lnTo>
                      <a:pt x="6" y="0"/>
                    </a:lnTo>
                    <a:lnTo>
                      <a:pt x="0" y="24"/>
                    </a:lnTo>
                    <a:lnTo>
                      <a:pt x="0" y="30"/>
                    </a:lnTo>
                    <a:lnTo>
                      <a:pt x="0" y="30"/>
                    </a:lnTo>
                    <a:lnTo>
                      <a:pt x="0" y="54"/>
                    </a:lnTo>
                    <a:close/>
                    <a:moveTo>
                      <a:pt x="0" y="30"/>
                    </a:moveTo>
                    <a:lnTo>
                      <a:pt x="0" y="30"/>
                    </a:lnTo>
                    <a:lnTo>
                      <a:pt x="0" y="42"/>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3" name="Freeform 321"/>
              <p:cNvSpPr>
                <a:spLocks noEditPoints="1"/>
              </p:cNvSpPr>
              <p:nvPr/>
            </p:nvSpPr>
            <p:spPr bwMode="auto">
              <a:xfrm>
                <a:off x="4548" y="2339"/>
                <a:ext cx="30" cy="47"/>
              </a:xfrm>
              <a:custGeom>
                <a:avLst/>
                <a:gdLst>
                  <a:gd name="T0" fmla="*/ 30 w 30"/>
                  <a:gd name="T1" fmla="*/ 47 h 47"/>
                  <a:gd name="T2" fmla="*/ 24 w 30"/>
                  <a:gd name="T3" fmla="*/ 18 h 47"/>
                  <a:gd name="T4" fmla="*/ 12 w 30"/>
                  <a:gd name="T5" fmla="*/ 6 h 47"/>
                  <a:gd name="T6" fmla="*/ 0 w 30"/>
                  <a:gd name="T7" fmla="*/ 0 h 47"/>
                  <a:gd name="T8" fmla="*/ 0 w 30"/>
                  <a:gd name="T9" fmla="*/ 24 h 47"/>
                  <a:gd name="T10" fmla="*/ 0 w 30"/>
                  <a:gd name="T11" fmla="*/ 24 h 47"/>
                  <a:gd name="T12" fmla="*/ 0 w 30"/>
                  <a:gd name="T13" fmla="*/ 30 h 47"/>
                  <a:gd name="T14" fmla="*/ 6 w 30"/>
                  <a:gd name="T15" fmla="*/ 47 h 47"/>
                  <a:gd name="T16" fmla="*/ 30 w 30"/>
                  <a:gd name="T17" fmla="*/ 47 h 47"/>
                  <a:gd name="T18" fmla="*/ 6 w 30"/>
                  <a:gd name="T19" fmla="*/ 47 h 47"/>
                  <a:gd name="T20" fmla="*/ 6 w 30"/>
                  <a:gd name="T21" fmla="*/ 47 h 47"/>
                  <a:gd name="T22" fmla="*/ 18 w 30"/>
                  <a:gd name="T23" fmla="*/ 47 h 47"/>
                  <a:gd name="T24" fmla="*/ 6 w 30"/>
                  <a:gd name="T25"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47">
                    <a:moveTo>
                      <a:pt x="30" y="47"/>
                    </a:moveTo>
                    <a:lnTo>
                      <a:pt x="24" y="18"/>
                    </a:lnTo>
                    <a:lnTo>
                      <a:pt x="12" y="6"/>
                    </a:lnTo>
                    <a:lnTo>
                      <a:pt x="0" y="0"/>
                    </a:lnTo>
                    <a:lnTo>
                      <a:pt x="0" y="24"/>
                    </a:lnTo>
                    <a:lnTo>
                      <a:pt x="0" y="24"/>
                    </a:lnTo>
                    <a:lnTo>
                      <a:pt x="0" y="30"/>
                    </a:lnTo>
                    <a:lnTo>
                      <a:pt x="6" y="47"/>
                    </a:lnTo>
                    <a:lnTo>
                      <a:pt x="30" y="47"/>
                    </a:lnTo>
                    <a:close/>
                    <a:moveTo>
                      <a:pt x="6" y="47"/>
                    </a:moveTo>
                    <a:lnTo>
                      <a:pt x="6" y="47"/>
                    </a:lnTo>
                    <a:lnTo>
                      <a:pt x="18" y="47"/>
                    </a:lnTo>
                    <a:lnTo>
                      <a:pt x="6" y="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4" name="Freeform 322"/>
              <p:cNvSpPr>
                <a:spLocks/>
              </p:cNvSpPr>
              <p:nvPr/>
            </p:nvSpPr>
            <p:spPr bwMode="auto">
              <a:xfrm>
                <a:off x="4548" y="2351"/>
                <a:ext cx="1" cy="12"/>
              </a:xfrm>
              <a:custGeom>
                <a:avLst/>
                <a:gdLst>
                  <a:gd name="T0" fmla="*/ 12 h 12"/>
                  <a:gd name="T1" fmla="*/ 12 h 12"/>
                  <a:gd name="T2" fmla="*/ 12 h 12"/>
                  <a:gd name="T3" fmla="*/ 0 h 12"/>
                  <a:gd name="T4" fmla="*/ 12 h 12"/>
                </a:gdLst>
                <a:ahLst/>
                <a:cxnLst>
                  <a:cxn ang="0">
                    <a:pos x="0" y="T0"/>
                  </a:cxn>
                  <a:cxn ang="0">
                    <a:pos x="0" y="T1"/>
                  </a:cxn>
                  <a:cxn ang="0">
                    <a:pos x="0" y="T2"/>
                  </a:cxn>
                  <a:cxn ang="0">
                    <a:pos x="0" y="T3"/>
                  </a:cxn>
                  <a:cxn ang="0">
                    <a:pos x="0" y="T4"/>
                  </a:cxn>
                </a:cxnLst>
                <a:rect l="0" t="0" r="r" b="b"/>
                <a:pathLst>
                  <a:path h="12">
                    <a:moveTo>
                      <a:pt x="0" y="12"/>
                    </a:moveTo>
                    <a:lnTo>
                      <a:pt x="0" y="12"/>
                    </a:lnTo>
                    <a:lnTo>
                      <a:pt x="0" y="12"/>
                    </a:lnTo>
                    <a:lnTo>
                      <a:pt x="0"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 name="Freeform 323"/>
              <p:cNvSpPr>
                <a:spLocks/>
              </p:cNvSpPr>
              <p:nvPr/>
            </p:nvSpPr>
            <p:spPr bwMode="auto">
              <a:xfrm>
                <a:off x="4536" y="2428"/>
                <a:ext cx="24" cy="12"/>
              </a:xfrm>
              <a:custGeom>
                <a:avLst/>
                <a:gdLst>
                  <a:gd name="T0" fmla="*/ 6 w 24"/>
                  <a:gd name="T1" fmla="*/ 0 h 12"/>
                  <a:gd name="T2" fmla="*/ 6 w 24"/>
                  <a:gd name="T3" fmla="*/ 6 h 12"/>
                  <a:gd name="T4" fmla="*/ 0 w 24"/>
                  <a:gd name="T5" fmla="*/ 6 h 12"/>
                  <a:gd name="T6" fmla="*/ 6 w 24"/>
                  <a:gd name="T7" fmla="*/ 12 h 12"/>
                  <a:gd name="T8" fmla="*/ 6 w 24"/>
                  <a:gd name="T9" fmla="*/ 12 h 12"/>
                  <a:gd name="T10" fmla="*/ 18 w 24"/>
                  <a:gd name="T11" fmla="*/ 12 h 12"/>
                  <a:gd name="T12" fmla="*/ 24 w 24"/>
                  <a:gd name="T13" fmla="*/ 12 h 12"/>
                  <a:gd name="T14" fmla="*/ 24 w 24"/>
                  <a:gd name="T15" fmla="*/ 6 h 12"/>
                  <a:gd name="T16" fmla="*/ 24 w 24"/>
                  <a:gd name="T17" fmla="*/ 6 h 12"/>
                  <a:gd name="T18" fmla="*/ 18 w 24"/>
                  <a:gd name="T19" fmla="*/ 0 h 12"/>
                  <a:gd name="T20" fmla="*/ 6 w 24"/>
                  <a:gd name="T21" fmla="*/ 0 h 12"/>
                  <a:gd name="T22" fmla="*/ 6 w 24"/>
                  <a:gd name="T23"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2">
                    <a:moveTo>
                      <a:pt x="6" y="0"/>
                    </a:moveTo>
                    <a:lnTo>
                      <a:pt x="6" y="6"/>
                    </a:lnTo>
                    <a:lnTo>
                      <a:pt x="0" y="6"/>
                    </a:lnTo>
                    <a:lnTo>
                      <a:pt x="6" y="12"/>
                    </a:lnTo>
                    <a:lnTo>
                      <a:pt x="6" y="12"/>
                    </a:lnTo>
                    <a:lnTo>
                      <a:pt x="18" y="12"/>
                    </a:lnTo>
                    <a:lnTo>
                      <a:pt x="24" y="12"/>
                    </a:lnTo>
                    <a:lnTo>
                      <a:pt x="24" y="6"/>
                    </a:lnTo>
                    <a:lnTo>
                      <a:pt x="24" y="6"/>
                    </a:lnTo>
                    <a:lnTo>
                      <a:pt x="18" y="0"/>
                    </a:lnTo>
                    <a:lnTo>
                      <a:pt x="6" y="0"/>
                    </a:lnTo>
                    <a:lnTo>
                      <a:pt x="6" y="0"/>
                    </a:lnTo>
                    <a:close/>
                  </a:path>
                </a:pathLst>
              </a:custGeom>
              <a:solidFill>
                <a:srgbClr val="61AC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6" name="Freeform 324"/>
              <p:cNvSpPr>
                <a:spLocks/>
              </p:cNvSpPr>
              <p:nvPr/>
            </p:nvSpPr>
            <p:spPr bwMode="auto">
              <a:xfrm>
                <a:off x="4524" y="2416"/>
                <a:ext cx="24" cy="24"/>
              </a:xfrm>
              <a:custGeom>
                <a:avLst/>
                <a:gdLst>
                  <a:gd name="T0" fmla="*/ 18 w 24"/>
                  <a:gd name="T1" fmla="*/ 0 h 24"/>
                  <a:gd name="T2" fmla="*/ 6 w 24"/>
                  <a:gd name="T3" fmla="*/ 6 h 24"/>
                  <a:gd name="T4" fmla="*/ 0 w 24"/>
                  <a:gd name="T5" fmla="*/ 18 h 24"/>
                  <a:gd name="T6" fmla="*/ 24 w 24"/>
                  <a:gd name="T7" fmla="*/ 18 h 24"/>
                  <a:gd name="T8" fmla="*/ 24 w 24"/>
                  <a:gd name="T9" fmla="*/ 24 h 24"/>
                  <a:gd name="T10" fmla="*/ 18 w 24"/>
                  <a:gd name="T11" fmla="*/ 24 h 24"/>
                  <a:gd name="T12" fmla="*/ 18 w 24"/>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4" h="24">
                    <a:moveTo>
                      <a:pt x="18" y="0"/>
                    </a:moveTo>
                    <a:lnTo>
                      <a:pt x="6" y="6"/>
                    </a:lnTo>
                    <a:lnTo>
                      <a:pt x="0" y="18"/>
                    </a:lnTo>
                    <a:lnTo>
                      <a:pt x="24" y="18"/>
                    </a:lnTo>
                    <a:lnTo>
                      <a:pt x="24" y="24"/>
                    </a:lnTo>
                    <a:lnTo>
                      <a:pt x="18" y="24"/>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7" name="Freeform 325"/>
              <p:cNvSpPr>
                <a:spLocks noEditPoints="1"/>
              </p:cNvSpPr>
              <p:nvPr/>
            </p:nvSpPr>
            <p:spPr bwMode="auto">
              <a:xfrm>
                <a:off x="4524" y="2434"/>
                <a:ext cx="24" cy="18"/>
              </a:xfrm>
              <a:custGeom>
                <a:avLst/>
                <a:gdLst>
                  <a:gd name="T0" fmla="*/ 0 w 24"/>
                  <a:gd name="T1" fmla="*/ 0 h 18"/>
                  <a:gd name="T2" fmla="*/ 6 w 24"/>
                  <a:gd name="T3" fmla="*/ 12 h 18"/>
                  <a:gd name="T4" fmla="*/ 18 w 24"/>
                  <a:gd name="T5" fmla="*/ 18 h 18"/>
                  <a:gd name="T6" fmla="*/ 24 w 24"/>
                  <a:gd name="T7" fmla="*/ 0 h 18"/>
                  <a:gd name="T8" fmla="*/ 24 w 24"/>
                  <a:gd name="T9" fmla="*/ 0 h 18"/>
                  <a:gd name="T10" fmla="*/ 0 w 24"/>
                  <a:gd name="T11" fmla="*/ 0 h 18"/>
                  <a:gd name="T12" fmla="*/ 24 w 24"/>
                  <a:gd name="T13" fmla="*/ 0 h 18"/>
                  <a:gd name="T14" fmla="*/ 24 w 24"/>
                  <a:gd name="T15" fmla="*/ 0 h 18"/>
                  <a:gd name="T16" fmla="*/ 12 w 24"/>
                  <a:gd name="T17" fmla="*/ 0 h 18"/>
                  <a:gd name="T18" fmla="*/ 24 w 24"/>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0" y="0"/>
                    </a:moveTo>
                    <a:lnTo>
                      <a:pt x="6" y="12"/>
                    </a:lnTo>
                    <a:lnTo>
                      <a:pt x="18" y="18"/>
                    </a:lnTo>
                    <a:lnTo>
                      <a:pt x="24" y="0"/>
                    </a:lnTo>
                    <a:lnTo>
                      <a:pt x="24" y="0"/>
                    </a:lnTo>
                    <a:lnTo>
                      <a:pt x="0" y="0"/>
                    </a:lnTo>
                    <a:close/>
                    <a:moveTo>
                      <a:pt x="24" y="0"/>
                    </a:moveTo>
                    <a:lnTo>
                      <a:pt x="24" y="0"/>
                    </a:lnTo>
                    <a:lnTo>
                      <a:pt x="12" y="0"/>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8" name="Freeform 326"/>
              <p:cNvSpPr>
                <a:spLocks noEditPoints="1"/>
              </p:cNvSpPr>
              <p:nvPr/>
            </p:nvSpPr>
            <p:spPr bwMode="auto">
              <a:xfrm>
                <a:off x="4542" y="2428"/>
                <a:ext cx="12" cy="24"/>
              </a:xfrm>
              <a:custGeom>
                <a:avLst/>
                <a:gdLst>
                  <a:gd name="T0" fmla="*/ 0 w 12"/>
                  <a:gd name="T1" fmla="*/ 24 h 24"/>
                  <a:gd name="T2" fmla="*/ 12 w 12"/>
                  <a:gd name="T3" fmla="*/ 24 h 24"/>
                  <a:gd name="T4" fmla="*/ 12 w 12"/>
                  <a:gd name="T5" fmla="*/ 0 h 24"/>
                  <a:gd name="T6" fmla="*/ 0 w 12"/>
                  <a:gd name="T7" fmla="*/ 0 h 24"/>
                  <a:gd name="T8" fmla="*/ 0 w 12"/>
                  <a:gd name="T9" fmla="*/ 24 h 24"/>
                  <a:gd name="T10" fmla="*/ 0 w 12"/>
                  <a:gd name="T11" fmla="*/ 24 h 24"/>
                  <a:gd name="T12" fmla="*/ 0 w 12"/>
                  <a:gd name="T13" fmla="*/ 24 h 24"/>
                  <a:gd name="T14" fmla="*/ 0 w 12"/>
                  <a:gd name="T15" fmla="*/ 24 h 24"/>
                  <a:gd name="T16" fmla="*/ 0 w 12"/>
                  <a:gd name="T17" fmla="*/ 12 h 24"/>
                  <a:gd name="T18" fmla="*/ 0 w 12"/>
                  <a:gd name="T1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4">
                    <a:moveTo>
                      <a:pt x="0" y="24"/>
                    </a:moveTo>
                    <a:lnTo>
                      <a:pt x="12" y="24"/>
                    </a:lnTo>
                    <a:lnTo>
                      <a:pt x="12" y="0"/>
                    </a:lnTo>
                    <a:lnTo>
                      <a:pt x="0" y="0"/>
                    </a:lnTo>
                    <a:lnTo>
                      <a:pt x="0" y="24"/>
                    </a:lnTo>
                    <a:close/>
                    <a:moveTo>
                      <a:pt x="0" y="24"/>
                    </a:moveTo>
                    <a:lnTo>
                      <a:pt x="0" y="24"/>
                    </a:lnTo>
                    <a:lnTo>
                      <a:pt x="0" y="24"/>
                    </a:lnTo>
                    <a:lnTo>
                      <a:pt x="0" y="12"/>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9" name="Freeform 327"/>
              <p:cNvSpPr>
                <a:spLocks noEditPoints="1"/>
              </p:cNvSpPr>
              <p:nvPr/>
            </p:nvSpPr>
            <p:spPr bwMode="auto">
              <a:xfrm>
                <a:off x="4548" y="2434"/>
                <a:ext cx="24" cy="18"/>
              </a:xfrm>
              <a:custGeom>
                <a:avLst/>
                <a:gdLst>
                  <a:gd name="T0" fmla="*/ 12 w 24"/>
                  <a:gd name="T1" fmla="*/ 18 h 18"/>
                  <a:gd name="T2" fmla="*/ 18 w 24"/>
                  <a:gd name="T3" fmla="*/ 12 h 18"/>
                  <a:gd name="T4" fmla="*/ 24 w 24"/>
                  <a:gd name="T5" fmla="*/ 0 h 18"/>
                  <a:gd name="T6" fmla="*/ 0 w 24"/>
                  <a:gd name="T7" fmla="*/ 0 h 18"/>
                  <a:gd name="T8" fmla="*/ 6 w 24"/>
                  <a:gd name="T9" fmla="*/ 0 h 18"/>
                  <a:gd name="T10" fmla="*/ 6 w 24"/>
                  <a:gd name="T11" fmla="*/ 0 h 18"/>
                  <a:gd name="T12" fmla="*/ 12 w 24"/>
                  <a:gd name="T13" fmla="*/ 18 h 18"/>
                  <a:gd name="T14" fmla="*/ 6 w 24"/>
                  <a:gd name="T15" fmla="*/ 18 h 18"/>
                  <a:gd name="T16" fmla="*/ 12 w 24"/>
                  <a:gd name="T17" fmla="*/ 18 h 18"/>
                  <a:gd name="T18" fmla="*/ 12 w 24"/>
                  <a:gd name="T19" fmla="*/ 18 h 18"/>
                  <a:gd name="T20" fmla="*/ 6 w 24"/>
                  <a:gd name="T21" fmla="*/ 6 h 18"/>
                  <a:gd name="T22" fmla="*/ 6 w 24"/>
                  <a:gd name="T23"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12" y="18"/>
                    </a:moveTo>
                    <a:lnTo>
                      <a:pt x="18" y="12"/>
                    </a:lnTo>
                    <a:lnTo>
                      <a:pt x="24" y="0"/>
                    </a:lnTo>
                    <a:lnTo>
                      <a:pt x="0" y="0"/>
                    </a:lnTo>
                    <a:lnTo>
                      <a:pt x="6" y="0"/>
                    </a:lnTo>
                    <a:lnTo>
                      <a:pt x="6" y="0"/>
                    </a:lnTo>
                    <a:lnTo>
                      <a:pt x="12" y="18"/>
                    </a:lnTo>
                    <a:close/>
                    <a:moveTo>
                      <a:pt x="6" y="18"/>
                    </a:moveTo>
                    <a:lnTo>
                      <a:pt x="12" y="18"/>
                    </a:lnTo>
                    <a:lnTo>
                      <a:pt x="12" y="18"/>
                    </a:lnTo>
                    <a:lnTo>
                      <a:pt x="6" y="6"/>
                    </a:lnTo>
                    <a:lnTo>
                      <a:pt x="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0" name="Freeform 328"/>
              <p:cNvSpPr>
                <a:spLocks noEditPoints="1"/>
              </p:cNvSpPr>
              <p:nvPr/>
            </p:nvSpPr>
            <p:spPr bwMode="auto">
              <a:xfrm>
                <a:off x="4548" y="2416"/>
                <a:ext cx="24" cy="24"/>
              </a:xfrm>
              <a:custGeom>
                <a:avLst/>
                <a:gdLst>
                  <a:gd name="T0" fmla="*/ 24 w 24"/>
                  <a:gd name="T1" fmla="*/ 18 h 24"/>
                  <a:gd name="T2" fmla="*/ 18 w 24"/>
                  <a:gd name="T3" fmla="*/ 6 h 24"/>
                  <a:gd name="T4" fmla="*/ 6 w 24"/>
                  <a:gd name="T5" fmla="*/ 0 h 24"/>
                  <a:gd name="T6" fmla="*/ 6 w 24"/>
                  <a:gd name="T7" fmla="*/ 24 h 24"/>
                  <a:gd name="T8" fmla="*/ 6 w 24"/>
                  <a:gd name="T9" fmla="*/ 24 h 24"/>
                  <a:gd name="T10" fmla="*/ 0 w 24"/>
                  <a:gd name="T11" fmla="*/ 18 h 24"/>
                  <a:gd name="T12" fmla="*/ 24 w 24"/>
                  <a:gd name="T13" fmla="*/ 18 h 24"/>
                  <a:gd name="T14" fmla="*/ 0 w 24"/>
                  <a:gd name="T15" fmla="*/ 18 h 24"/>
                  <a:gd name="T16" fmla="*/ 0 w 24"/>
                  <a:gd name="T17" fmla="*/ 18 h 24"/>
                  <a:gd name="T18" fmla="*/ 12 w 24"/>
                  <a:gd name="T19" fmla="*/ 18 h 24"/>
                  <a:gd name="T20" fmla="*/ 0 w 24"/>
                  <a:gd name="T21" fmla="*/ 1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24" y="18"/>
                    </a:moveTo>
                    <a:lnTo>
                      <a:pt x="18" y="6"/>
                    </a:lnTo>
                    <a:lnTo>
                      <a:pt x="6" y="0"/>
                    </a:lnTo>
                    <a:lnTo>
                      <a:pt x="6" y="24"/>
                    </a:lnTo>
                    <a:lnTo>
                      <a:pt x="6" y="24"/>
                    </a:lnTo>
                    <a:lnTo>
                      <a:pt x="0" y="18"/>
                    </a:lnTo>
                    <a:lnTo>
                      <a:pt x="24" y="18"/>
                    </a:lnTo>
                    <a:close/>
                    <a:moveTo>
                      <a:pt x="0" y="18"/>
                    </a:moveTo>
                    <a:lnTo>
                      <a:pt x="0" y="18"/>
                    </a:lnTo>
                    <a:lnTo>
                      <a:pt x="12"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1" name="Freeform 329"/>
              <p:cNvSpPr>
                <a:spLocks noEditPoints="1"/>
              </p:cNvSpPr>
              <p:nvPr/>
            </p:nvSpPr>
            <p:spPr bwMode="auto">
              <a:xfrm>
                <a:off x="4542" y="2416"/>
                <a:ext cx="12" cy="24"/>
              </a:xfrm>
              <a:custGeom>
                <a:avLst/>
                <a:gdLst>
                  <a:gd name="T0" fmla="*/ 12 w 12"/>
                  <a:gd name="T1" fmla="*/ 0 h 24"/>
                  <a:gd name="T2" fmla="*/ 0 w 12"/>
                  <a:gd name="T3" fmla="*/ 0 h 24"/>
                  <a:gd name="T4" fmla="*/ 0 w 12"/>
                  <a:gd name="T5" fmla="*/ 24 h 24"/>
                  <a:gd name="T6" fmla="*/ 12 w 12"/>
                  <a:gd name="T7" fmla="*/ 24 h 24"/>
                  <a:gd name="T8" fmla="*/ 12 w 12"/>
                  <a:gd name="T9" fmla="*/ 0 h 24"/>
                  <a:gd name="T10" fmla="*/ 12 w 12"/>
                  <a:gd name="T11" fmla="*/ 24 h 24"/>
                  <a:gd name="T12" fmla="*/ 12 w 12"/>
                  <a:gd name="T13" fmla="*/ 24 h 24"/>
                  <a:gd name="T14" fmla="*/ 12 w 12"/>
                  <a:gd name="T15" fmla="*/ 12 h 24"/>
                  <a:gd name="T16" fmla="*/ 12 w 12"/>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4">
                    <a:moveTo>
                      <a:pt x="12" y="0"/>
                    </a:moveTo>
                    <a:lnTo>
                      <a:pt x="0" y="0"/>
                    </a:lnTo>
                    <a:lnTo>
                      <a:pt x="0" y="24"/>
                    </a:lnTo>
                    <a:lnTo>
                      <a:pt x="12" y="24"/>
                    </a:lnTo>
                    <a:lnTo>
                      <a:pt x="12" y="0"/>
                    </a:lnTo>
                    <a:close/>
                    <a:moveTo>
                      <a:pt x="12" y="24"/>
                    </a:moveTo>
                    <a:lnTo>
                      <a:pt x="12" y="24"/>
                    </a:lnTo>
                    <a:lnTo>
                      <a:pt x="12" y="12"/>
                    </a:lnTo>
                    <a:lnTo>
                      <a:pt x="12"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2" name="Freeform 330"/>
              <p:cNvSpPr>
                <a:spLocks/>
              </p:cNvSpPr>
              <p:nvPr/>
            </p:nvSpPr>
            <p:spPr bwMode="auto">
              <a:xfrm>
                <a:off x="4542" y="2428"/>
                <a:ext cx="1" cy="12"/>
              </a:xfrm>
              <a:custGeom>
                <a:avLst/>
                <a:gdLst>
                  <a:gd name="T0" fmla="*/ 12 h 12"/>
                  <a:gd name="T1" fmla="*/ 12 h 12"/>
                  <a:gd name="T2" fmla="*/ 0 h 12"/>
                  <a:gd name="T3" fmla="*/ 12 h 12"/>
                </a:gdLst>
                <a:ahLst/>
                <a:cxnLst>
                  <a:cxn ang="0">
                    <a:pos x="0" y="T0"/>
                  </a:cxn>
                  <a:cxn ang="0">
                    <a:pos x="0" y="T1"/>
                  </a:cxn>
                  <a:cxn ang="0">
                    <a:pos x="0" y="T2"/>
                  </a:cxn>
                  <a:cxn ang="0">
                    <a:pos x="0" y="T3"/>
                  </a:cxn>
                </a:cxnLst>
                <a:rect l="0" t="0" r="r" b="b"/>
                <a:pathLst>
                  <a:path h="12">
                    <a:moveTo>
                      <a:pt x="0" y="12"/>
                    </a:moveTo>
                    <a:lnTo>
                      <a:pt x="0" y="12"/>
                    </a:lnTo>
                    <a:lnTo>
                      <a:pt x="0"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3" name="Freeform 331"/>
              <p:cNvSpPr>
                <a:spLocks/>
              </p:cNvSpPr>
              <p:nvPr/>
            </p:nvSpPr>
            <p:spPr bwMode="auto">
              <a:xfrm>
                <a:off x="4554" y="2375"/>
                <a:ext cx="6" cy="35"/>
              </a:xfrm>
              <a:custGeom>
                <a:avLst/>
                <a:gdLst>
                  <a:gd name="T0" fmla="*/ 6 w 6"/>
                  <a:gd name="T1" fmla="*/ 0 h 35"/>
                  <a:gd name="T2" fmla="*/ 0 w 6"/>
                  <a:gd name="T3" fmla="*/ 11 h 35"/>
                  <a:gd name="T4" fmla="*/ 0 w 6"/>
                  <a:gd name="T5" fmla="*/ 23 h 35"/>
                  <a:gd name="T6" fmla="*/ 6 w 6"/>
                  <a:gd name="T7" fmla="*/ 29 h 35"/>
                  <a:gd name="T8" fmla="*/ 6 w 6"/>
                  <a:gd name="T9" fmla="*/ 35 h 35"/>
                  <a:gd name="T10" fmla="*/ 6 w 6"/>
                  <a:gd name="T11" fmla="*/ 0 h 35"/>
                  <a:gd name="T12" fmla="*/ 6 w 6"/>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6" h="35">
                    <a:moveTo>
                      <a:pt x="6" y="0"/>
                    </a:moveTo>
                    <a:lnTo>
                      <a:pt x="0" y="11"/>
                    </a:lnTo>
                    <a:lnTo>
                      <a:pt x="0" y="23"/>
                    </a:lnTo>
                    <a:lnTo>
                      <a:pt x="6" y="29"/>
                    </a:lnTo>
                    <a:lnTo>
                      <a:pt x="6" y="35"/>
                    </a:lnTo>
                    <a:lnTo>
                      <a:pt x="6" y="0"/>
                    </a:lnTo>
                    <a:lnTo>
                      <a:pt x="6"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 name="Freeform 332"/>
              <p:cNvSpPr>
                <a:spLocks/>
              </p:cNvSpPr>
              <p:nvPr/>
            </p:nvSpPr>
            <p:spPr bwMode="auto">
              <a:xfrm>
                <a:off x="4542" y="2369"/>
                <a:ext cx="30" cy="47"/>
              </a:xfrm>
              <a:custGeom>
                <a:avLst/>
                <a:gdLst>
                  <a:gd name="T0" fmla="*/ 12 w 30"/>
                  <a:gd name="T1" fmla="*/ 0 h 47"/>
                  <a:gd name="T2" fmla="*/ 6 w 30"/>
                  <a:gd name="T3" fmla="*/ 17 h 47"/>
                  <a:gd name="T4" fmla="*/ 0 w 30"/>
                  <a:gd name="T5" fmla="*/ 35 h 47"/>
                  <a:gd name="T6" fmla="*/ 6 w 30"/>
                  <a:gd name="T7" fmla="*/ 41 h 47"/>
                  <a:gd name="T8" fmla="*/ 6 w 30"/>
                  <a:gd name="T9" fmla="*/ 47 h 47"/>
                  <a:gd name="T10" fmla="*/ 30 w 30"/>
                  <a:gd name="T11" fmla="*/ 41 h 47"/>
                  <a:gd name="T12" fmla="*/ 30 w 30"/>
                  <a:gd name="T13" fmla="*/ 35 h 47"/>
                  <a:gd name="T14" fmla="*/ 30 w 30"/>
                  <a:gd name="T15" fmla="*/ 29 h 47"/>
                  <a:gd name="T16" fmla="*/ 30 w 30"/>
                  <a:gd name="T17" fmla="*/ 23 h 47"/>
                  <a:gd name="T18" fmla="*/ 30 w 30"/>
                  <a:gd name="T19" fmla="*/ 17 h 47"/>
                  <a:gd name="T20" fmla="*/ 12 w 30"/>
                  <a:gd name="T21"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47">
                    <a:moveTo>
                      <a:pt x="12" y="0"/>
                    </a:moveTo>
                    <a:lnTo>
                      <a:pt x="6" y="17"/>
                    </a:lnTo>
                    <a:lnTo>
                      <a:pt x="0" y="35"/>
                    </a:lnTo>
                    <a:lnTo>
                      <a:pt x="6" y="41"/>
                    </a:lnTo>
                    <a:lnTo>
                      <a:pt x="6" y="47"/>
                    </a:lnTo>
                    <a:lnTo>
                      <a:pt x="30" y="41"/>
                    </a:lnTo>
                    <a:lnTo>
                      <a:pt x="30" y="35"/>
                    </a:lnTo>
                    <a:lnTo>
                      <a:pt x="30" y="29"/>
                    </a:lnTo>
                    <a:lnTo>
                      <a:pt x="30" y="23"/>
                    </a:lnTo>
                    <a:lnTo>
                      <a:pt x="30" y="17"/>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5" name="Freeform 333"/>
              <p:cNvSpPr>
                <a:spLocks noEditPoints="1"/>
              </p:cNvSpPr>
              <p:nvPr/>
            </p:nvSpPr>
            <p:spPr bwMode="auto">
              <a:xfrm>
                <a:off x="4548" y="2375"/>
                <a:ext cx="24" cy="41"/>
              </a:xfrm>
              <a:custGeom>
                <a:avLst/>
                <a:gdLst>
                  <a:gd name="T0" fmla="*/ 24 w 24"/>
                  <a:gd name="T1" fmla="*/ 41 h 41"/>
                  <a:gd name="T2" fmla="*/ 24 w 24"/>
                  <a:gd name="T3" fmla="*/ 6 h 41"/>
                  <a:gd name="T4" fmla="*/ 0 w 24"/>
                  <a:gd name="T5" fmla="*/ 0 h 41"/>
                  <a:gd name="T6" fmla="*/ 0 w 24"/>
                  <a:gd name="T7" fmla="*/ 35 h 41"/>
                  <a:gd name="T8" fmla="*/ 24 w 24"/>
                  <a:gd name="T9" fmla="*/ 41 h 41"/>
                  <a:gd name="T10" fmla="*/ 0 w 24"/>
                  <a:gd name="T11" fmla="*/ 41 h 41"/>
                  <a:gd name="T12" fmla="*/ 24 w 24"/>
                  <a:gd name="T13" fmla="*/ 41 h 41"/>
                  <a:gd name="T14" fmla="*/ 0 w 24"/>
                  <a:gd name="T15" fmla="*/ 35 h 41"/>
                  <a:gd name="T16" fmla="*/ 24 w 24"/>
                  <a:gd name="T17" fmla="*/ 35 h 41"/>
                  <a:gd name="T18" fmla="*/ 0 w 24"/>
                  <a:gd name="T19"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41">
                    <a:moveTo>
                      <a:pt x="24" y="41"/>
                    </a:moveTo>
                    <a:lnTo>
                      <a:pt x="24" y="6"/>
                    </a:lnTo>
                    <a:lnTo>
                      <a:pt x="0" y="0"/>
                    </a:lnTo>
                    <a:lnTo>
                      <a:pt x="0" y="35"/>
                    </a:lnTo>
                    <a:lnTo>
                      <a:pt x="24" y="41"/>
                    </a:lnTo>
                    <a:close/>
                    <a:moveTo>
                      <a:pt x="0" y="41"/>
                    </a:moveTo>
                    <a:lnTo>
                      <a:pt x="24" y="41"/>
                    </a:lnTo>
                    <a:lnTo>
                      <a:pt x="0" y="35"/>
                    </a:lnTo>
                    <a:lnTo>
                      <a:pt x="24" y="35"/>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6" name="Freeform 334"/>
              <p:cNvSpPr>
                <a:spLocks/>
              </p:cNvSpPr>
              <p:nvPr/>
            </p:nvSpPr>
            <p:spPr bwMode="auto">
              <a:xfrm>
                <a:off x="4554" y="2345"/>
                <a:ext cx="24" cy="36"/>
              </a:xfrm>
              <a:custGeom>
                <a:avLst/>
                <a:gdLst>
                  <a:gd name="T0" fmla="*/ 18 w 24"/>
                  <a:gd name="T1" fmla="*/ 36 h 36"/>
                  <a:gd name="T2" fmla="*/ 24 w 24"/>
                  <a:gd name="T3" fmla="*/ 0 h 36"/>
                  <a:gd name="T4" fmla="*/ 0 w 24"/>
                  <a:gd name="T5" fmla="*/ 24 h 36"/>
                  <a:gd name="T6" fmla="*/ 6 w 24"/>
                  <a:gd name="T7" fmla="*/ 30 h 36"/>
                  <a:gd name="T8" fmla="*/ 18 w 24"/>
                  <a:gd name="T9" fmla="*/ 36 h 36"/>
                </a:gdLst>
                <a:ahLst/>
                <a:cxnLst>
                  <a:cxn ang="0">
                    <a:pos x="T0" y="T1"/>
                  </a:cxn>
                  <a:cxn ang="0">
                    <a:pos x="T2" y="T3"/>
                  </a:cxn>
                  <a:cxn ang="0">
                    <a:pos x="T4" y="T5"/>
                  </a:cxn>
                  <a:cxn ang="0">
                    <a:pos x="T6" y="T7"/>
                  </a:cxn>
                  <a:cxn ang="0">
                    <a:pos x="T8" y="T9"/>
                  </a:cxn>
                </a:cxnLst>
                <a:rect l="0" t="0" r="r" b="b"/>
                <a:pathLst>
                  <a:path w="24" h="36">
                    <a:moveTo>
                      <a:pt x="18" y="36"/>
                    </a:moveTo>
                    <a:lnTo>
                      <a:pt x="24" y="0"/>
                    </a:lnTo>
                    <a:lnTo>
                      <a:pt x="0" y="24"/>
                    </a:lnTo>
                    <a:lnTo>
                      <a:pt x="6" y="30"/>
                    </a:lnTo>
                    <a:lnTo>
                      <a:pt x="18"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7" name="Line 335"/>
              <p:cNvSpPr>
                <a:spLocks noChangeShapeType="1"/>
              </p:cNvSpPr>
              <p:nvPr/>
            </p:nvSpPr>
            <p:spPr bwMode="auto">
              <a:xfrm flipV="1">
                <a:off x="4554" y="2381"/>
                <a:ext cx="6" cy="23"/>
              </a:xfrm>
              <a:prstGeom prst="line">
                <a:avLst/>
              </a:prstGeom>
              <a:noFill/>
              <a:ln w="0">
                <a:solidFill>
                  <a:srgbClr val="354A1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8" name="Freeform 336"/>
              <p:cNvSpPr>
                <a:spLocks/>
              </p:cNvSpPr>
              <p:nvPr/>
            </p:nvSpPr>
            <p:spPr bwMode="auto">
              <a:xfrm>
                <a:off x="4542" y="2375"/>
                <a:ext cx="30" cy="29"/>
              </a:xfrm>
              <a:custGeom>
                <a:avLst/>
                <a:gdLst>
                  <a:gd name="T0" fmla="*/ 24 w 30"/>
                  <a:gd name="T1" fmla="*/ 29 h 29"/>
                  <a:gd name="T2" fmla="*/ 30 w 30"/>
                  <a:gd name="T3" fmla="*/ 6 h 29"/>
                  <a:gd name="T4" fmla="*/ 6 w 30"/>
                  <a:gd name="T5" fmla="*/ 0 h 29"/>
                  <a:gd name="T6" fmla="*/ 0 w 30"/>
                  <a:gd name="T7" fmla="*/ 23 h 29"/>
                  <a:gd name="T8" fmla="*/ 24 w 30"/>
                  <a:gd name="T9" fmla="*/ 29 h 29"/>
                </a:gdLst>
                <a:ahLst/>
                <a:cxnLst>
                  <a:cxn ang="0">
                    <a:pos x="T0" y="T1"/>
                  </a:cxn>
                  <a:cxn ang="0">
                    <a:pos x="T2" y="T3"/>
                  </a:cxn>
                  <a:cxn ang="0">
                    <a:pos x="T4" y="T5"/>
                  </a:cxn>
                  <a:cxn ang="0">
                    <a:pos x="T6" y="T7"/>
                  </a:cxn>
                  <a:cxn ang="0">
                    <a:pos x="T8" y="T9"/>
                  </a:cxn>
                </a:cxnLst>
                <a:rect l="0" t="0" r="r" b="b"/>
                <a:pathLst>
                  <a:path w="30" h="29">
                    <a:moveTo>
                      <a:pt x="24" y="29"/>
                    </a:moveTo>
                    <a:lnTo>
                      <a:pt x="30" y="6"/>
                    </a:lnTo>
                    <a:lnTo>
                      <a:pt x="6" y="0"/>
                    </a:lnTo>
                    <a:lnTo>
                      <a:pt x="0" y="23"/>
                    </a:lnTo>
                    <a:lnTo>
                      <a:pt x="2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9" name="Freeform 337"/>
              <p:cNvSpPr>
                <a:spLocks/>
              </p:cNvSpPr>
              <p:nvPr/>
            </p:nvSpPr>
            <p:spPr bwMode="auto">
              <a:xfrm>
                <a:off x="4536" y="2381"/>
                <a:ext cx="24" cy="29"/>
              </a:xfrm>
              <a:custGeom>
                <a:avLst/>
                <a:gdLst>
                  <a:gd name="T0" fmla="*/ 24 w 24"/>
                  <a:gd name="T1" fmla="*/ 29 h 29"/>
                  <a:gd name="T2" fmla="*/ 24 w 24"/>
                  <a:gd name="T3" fmla="*/ 29 h 29"/>
                  <a:gd name="T4" fmla="*/ 24 w 24"/>
                  <a:gd name="T5" fmla="*/ 29 h 29"/>
                  <a:gd name="T6" fmla="*/ 24 w 24"/>
                  <a:gd name="T7" fmla="*/ 23 h 29"/>
                  <a:gd name="T8" fmla="*/ 24 w 24"/>
                  <a:gd name="T9" fmla="*/ 23 h 29"/>
                  <a:gd name="T10" fmla="*/ 18 w 24"/>
                  <a:gd name="T11" fmla="*/ 0 h 29"/>
                  <a:gd name="T12" fmla="*/ 6 w 24"/>
                  <a:gd name="T13" fmla="*/ 11 h 29"/>
                  <a:gd name="T14" fmla="*/ 6 w 24"/>
                  <a:gd name="T15" fmla="*/ 17 h 29"/>
                  <a:gd name="T16" fmla="*/ 6 w 24"/>
                  <a:gd name="T17" fmla="*/ 29 h 29"/>
                  <a:gd name="T18" fmla="*/ 0 w 24"/>
                  <a:gd name="T19" fmla="*/ 29 h 29"/>
                  <a:gd name="T20" fmla="*/ 24 w 24"/>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9">
                    <a:moveTo>
                      <a:pt x="24" y="29"/>
                    </a:moveTo>
                    <a:lnTo>
                      <a:pt x="24" y="29"/>
                    </a:lnTo>
                    <a:lnTo>
                      <a:pt x="24" y="29"/>
                    </a:lnTo>
                    <a:lnTo>
                      <a:pt x="24" y="23"/>
                    </a:lnTo>
                    <a:lnTo>
                      <a:pt x="24" y="23"/>
                    </a:lnTo>
                    <a:lnTo>
                      <a:pt x="18" y="0"/>
                    </a:lnTo>
                    <a:lnTo>
                      <a:pt x="6" y="11"/>
                    </a:lnTo>
                    <a:lnTo>
                      <a:pt x="6" y="17"/>
                    </a:lnTo>
                    <a:lnTo>
                      <a:pt x="6" y="29"/>
                    </a:lnTo>
                    <a:lnTo>
                      <a:pt x="0" y="29"/>
                    </a:lnTo>
                    <a:lnTo>
                      <a:pt x="2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0" name="Freeform 338"/>
              <p:cNvSpPr>
                <a:spLocks/>
              </p:cNvSpPr>
              <p:nvPr/>
            </p:nvSpPr>
            <p:spPr bwMode="auto">
              <a:xfrm>
                <a:off x="4536" y="2381"/>
                <a:ext cx="6" cy="29"/>
              </a:xfrm>
              <a:custGeom>
                <a:avLst/>
                <a:gdLst>
                  <a:gd name="T0" fmla="*/ 0 w 6"/>
                  <a:gd name="T1" fmla="*/ 0 h 29"/>
                  <a:gd name="T2" fmla="*/ 6 w 6"/>
                  <a:gd name="T3" fmla="*/ 11 h 29"/>
                  <a:gd name="T4" fmla="*/ 6 w 6"/>
                  <a:gd name="T5" fmla="*/ 17 h 29"/>
                  <a:gd name="T6" fmla="*/ 0 w 6"/>
                  <a:gd name="T7" fmla="*/ 29 h 29"/>
                  <a:gd name="T8" fmla="*/ 0 w 6"/>
                  <a:gd name="T9" fmla="*/ 29 h 29"/>
                  <a:gd name="T10" fmla="*/ 0 w 6"/>
                  <a:gd name="T11" fmla="*/ 0 h 29"/>
                  <a:gd name="T12" fmla="*/ 0 w 6"/>
                  <a:gd name="T13" fmla="*/ 0 h 29"/>
                </a:gdLst>
                <a:ahLst/>
                <a:cxnLst>
                  <a:cxn ang="0">
                    <a:pos x="T0" y="T1"/>
                  </a:cxn>
                  <a:cxn ang="0">
                    <a:pos x="T2" y="T3"/>
                  </a:cxn>
                  <a:cxn ang="0">
                    <a:pos x="T4" y="T5"/>
                  </a:cxn>
                  <a:cxn ang="0">
                    <a:pos x="T6" y="T7"/>
                  </a:cxn>
                  <a:cxn ang="0">
                    <a:pos x="T8" y="T9"/>
                  </a:cxn>
                  <a:cxn ang="0">
                    <a:pos x="T10" y="T11"/>
                  </a:cxn>
                  <a:cxn ang="0">
                    <a:pos x="T12" y="T13"/>
                  </a:cxn>
                </a:cxnLst>
                <a:rect l="0" t="0" r="r" b="b"/>
                <a:pathLst>
                  <a:path w="6" h="29">
                    <a:moveTo>
                      <a:pt x="0" y="0"/>
                    </a:moveTo>
                    <a:lnTo>
                      <a:pt x="6" y="11"/>
                    </a:lnTo>
                    <a:lnTo>
                      <a:pt x="6" y="17"/>
                    </a:lnTo>
                    <a:lnTo>
                      <a:pt x="0" y="29"/>
                    </a:lnTo>
                    <a:lnTo>
                      <a:pt x="0" y="29"/>
                    </a:lnTo>
                    <a:lnTo>
                      <a:pt x="0" y="0"/>
                    </a:lnTo>
                    <a:lnTo>
                      <a:pt x="0"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1" name="Freeform 339"/>
              <p:cNvSpPr>
                <a:spLocks/>
              </p:cNvSpPr>
              <p:nvPr/>
            </p:nvSpPr>
            <p:spPr bwMode="auto">
              <a:xfrm>
                <a:off x="4530" y="2369"/>
                <a:ext cx="24" cy="47"/>
              </a:xfrm>
              <a:custGeom>
                <a:avLst/>
                <a:gdLst>
                  <a:gd name="T0" fmla="*/ 0 w 24"/>
                  <a:gd name="T1" fmla="*/ 17 h 47"/>
                  <a:gd name="T2" fmla="*/ 0 w 24"/>
                  <a:gd name="T3" fmla="*/ 23 h 47"/>
                  <a:gd name="T4" fmla="*/ 0 w 24"/>
                  <a:gd name="T5" fmla="*/ 29 h 47"/>
                  <a:gd name="T6" fmla="*/ 0 w 24"/>
                  <a:gd name="T7" fmla="*/ 35 h 47"/>
                  <a:gd name="T8" fmla="*/ 0 w 24"/>
                  <a:gd name="T9" fmla="*/ 41 h 47"/>
                  <a:gd name="T10" fmla="*/ 18 w 24"/>
                  <a:gd name="T11" fmla="*/ 47 h 47"/>
                  <a:gd name="T12" fmla="*/ 18 w 24"/>
                  <a:gd name="T13" fmla="*/ 41 h 47"/>
                  <a:gd name="T14" fmla="*/ 24 w 24"/>
                  <a:gd name="T15" fmla="*/ 35 h 47"/>
                  <a:gd name="T16" fmla="*/ 18 w 24"/>
                  <a:gd name="T17" fmla="*/ 17 h 47"/>
                  <a:gd name="T18" fmla="*/ 12 w 24"/>
                  <a:gd name="T19" fmla="*/ 0 h 47"/>
                  <a:gd name="T20" fmla="*/ 0 w 24"/>
                  <a:gd name="T21" fmla="*/ 1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47">
                    <a:moveTo>
                      <a:pt x="0" y="17"/>
                    </a:moveTo>
                    <a:lnTo>
                      <a:pt x="0" y="23"/>
                    </a:lnTo>
                    <a:lnTo>
                      <a:pt x="0" y="29"/>
                    </a:lnTo>
                    <a:lnTo>
                      <a:pt x="0" y="35"/>
                    </a:lnTo>
                    <a:lnTo>
                      <a:pt x="0" y="41"/>
                    </a:lnTo>
                    <a:lnTo>
                      <a:pt x="18" y="47"/>
                    </a:lnTo>
                    <a:lnTo>
                      <a:pt x="18" y="41"/>
                    </a:lnTo>
                    <a:lnTo>
                      <a:pt x="24" y="35"/>
                    </a:lnTo>
                    <a:lnTo>
                      <a:pt x="18" y="17"/>
                    </a:lnTo>
                    <a:lnTo>
                      <a:pt x="12" y="0"/>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2" name="Freeform 340"/>
              <p:cNvSpPr>
                <a:spLocks noEditPoints="1"/>
              </p:cNvSpPr>
              <p:nvPr/>
            </p:nvSpPr>
            <p:spPr bwMode="auto">
              <a:xfrm>
                <a:off x="4524" y="2375"/>
                <a:ext cx="24" cy="41"/>
              </a:xfrm>
              <a:custGeom>
                <a:avLst/>
                <a:gdLst>
                  <a:gd name="T0" fmla="*/ 24 w 24"/>
                  <a:gd name="T1" fmla="*/ 35 h 41"/>
                  <a:gd name="T2" fmla="*/ 24 w 24"/>
                  <a:gd name="T3" fmla="*/ 0 h 41"/>
                  <a:gd name="T4" fmla="*/ 0 w 24"/>
                  <a:gd name="T5" fmla="*/ 6 h 41"/>
                  <a:gd name="T6" fmla="*/ 0 w 24"/>
                  <a:gd name="T7" fmla="*/ 41 h 41"/>
                  <a:gd name="T8" fmla="*/ 24 w 24"/>
                  <a:gd name="T9" fmla="*/ 35 h 41"/>
                  <a:gd name="T10" fmla="*/ 6 w 24"/>
                  <a:gd name="T11" fmla="*/ 35 h 41"/>
                  <a:gd name="T12" fmla="*/ 24 w 24"/>
                  <a:gd name="T13" fmla="*/ 35 h 41"/>
                  <a:gd name="T14" fmla="*/ 0 w 24"/>
                  <a:gd name="T15" fmla="*/ 41 h 41"/>
                  <a:gd name="T16" fmla="*/ 24 w 24"/>
                  <a:gd name="T17" fmla="*/ 41 h 41"/>
                  <a:gd name="T18" fmla="*/ 6 w 24"/>
                  <a:gd name="T19" fmla="*/ 3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41">
                    <a:moveTo>
                      <a:pt x="24" y="35"/>
                    </a:moveTo>
                    <a:lnTo>
                      <a:pt x="24" y="0"/>
                    </a:lnTo>
                    <a:lnTo>
                      <a:pt x="0" y="6"/>
                    </a:lnTo>
                    <a:lnTo>
                      <a:pt x="0" y="41"/>
                    </a:lnTo>
                    <a:lnTo>
                      <a:pt x="24" y="35"/>
                    </a:lnTo>
                    <a:close/>
                    <a:moveTo>
                      <a:pt x="6" y="35"/>
                    </a:moveTo>
                    <a:lnTo>
                      <a:pt x="24" y="35"/>
                    </a:lnTo>
                    <a:lnTo>
                      <a:pt x="0" y="41"/>
                    </a:lnTo>
                    <a:lnTo>
                      <a:pt x="24" y="41"/>
                    </a:lnTo>
                    <a:lnTo>
                      <a:pt x="6"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3" name="Freeform 341"/>
              <p:cNvSpPr>
                <a:spLocks/>
              </p:cNvSpPr>
              <p:nvPr/>
            </p:nvSpPr>
            <p:spPr bwMode="auto">
              <a:xfrm>
                <a:off x="4518" y="2345"/>
                <a:ext cx="24" cy="36"/>
              </a:xfrm>
              <a:custGeom>
                <a:avLst/>
                <a:gdLst>
                  <a:gd name="T0" fmla="*/ 24 w 24"/>
                  <a:gd name="T1" fmla="*/ 24 h 36"/>
                  <a:gd name="T2" fmla="*/ 0 w 24"/>
                  <a:gd name="T3" fmla="*/ 0 h 36"/>
                  <a:gd name="T4" fmla="*/ 6 w 24"/>
                  <a:gd name="T5" fmla="*/ 36 h 36"/>
                  <a:gd name="T6" fmla="*/ 18 w 24"/>
                  <a:gd name="T7" fmla="*/ 36 h 36"/>
                  <a:gd name="T8" fmla="*/ 24 w 24"/>
                  <a:gd name="T9" fmla="*/ 24 h 36"/>
                </a:gdLst>
                <a:ahLst/>
                <a:cxnLst>
                  <a:cxn ang="0">
                    <a:pos x="T0" y="T1"/>
                  </a:cxn>
                  <a:cxn ang="0">
                    <a:pos x="T2" y="T3"/>
                  </a:cxn>
                  <a:cxn ang="0">
                    <a:pos x="T4" y="T5"/>
                  </a:cxn>
                  <a:cxn ang="0">
                    <a:pos x="T6" y="T7"/>
                  </a:cxn>
                  <a:cxn ang="0">
                    <a:pos x="T8" y="T9"/>
                  </a:cxn>
                </a:cxnLst>
                <a:rect l="0" t="0" r="r" b="b"/>
                <a:pathLst>
                  <a:path w="24" h="36">
                    <a:moveTo>
                      <a:pt x="24" y="24"/>
                    </a:moveTo>
                    <a:lnTo>
                      <a:pt x="0" y="0"/>
                    </a:lnTo>
                    <a:lnTo>
                      <a:pt x="6" y="36"/>
                    </a:lnTo>
                    <a:lnTo>
                      <a:pt x="18" y="36"/>
                    </a:lnTo>
                    <a:lnTo>
                      <a:pt x="24"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 name="Line 342"/>
              <p:cNvSpPr>
                <a:spLocks noChangeShapeType="1"/>
              </p:cNvSpPr>
              <p:nvPr/>
            </p:nvSpPr>
            <p:spPr bwMode="auto">
              <a:xfrm flipH="1" flipV="1">
                <a:off x="4536" y="2381"/>
                <a:ext cx="6" cy="23"/>
              </a:xfrm>
              <a:prstGeom prst="line">
                <a:avLst/>
              </a:prstGeom>
              <a:noFill/>
              <a:ln w="0">
                <a:solidFill>
                  <a:srgbClr val="354A1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 name="Freeform 343"/>
              <p:cNvSpPr>
                <a:spLocks/>
              </p:cNvSpPr>
              <p:nvPr/>
            </p:nvSpPr>
            <p:spPr bwMode="auto">
              <a:xfrm>
                <a:off x="4524" y="2375"/>
                <a:ext cx="30" cy="29"/>
              </a:xfrm>
              <a:custGeom>
                <a:avLst/>
                <a:gdLst>
                  <a:gd name="T0" fmla="*/ 30 w 30"/>
                  <a:gd name="T1" fmla="*/ 23 h 29"/>
                  <a:gd name="T2" fmla="*/ 24 w 30"/>
                  <a:gd name="T3" fmla="*/ 0 h 29"/>
                  <a:gd name="T4" fmla="*/ 0 w 30"/>
                  <a:gd name="T5" fmla="*/ 6 h 29"/>
                  <a:gd name="T6" fmla="*/ 6 w 30"/>
                  <a:gd name="T7" fmla="*/ 29 h 29"/>
                  <a:gd name="T8" fmla="*/ 30 w 30"/>
                  <a:gd name="T9" fmla="*/ 23 h 29"/>
                </a:gdLst>
                <a:ahLst/>
                <a:cxnLst>
                  <a:cxn ang="0">
                    <a:pos x="T0" y="T1"/>
                  </a:cxn>
                  <a:cxn ang="0">
                    <a:pos x="T2" y="T3"/>
                  </a:cxn>
                  <a:cxn ang="0">
                    <a:pos x="T4" y="T5"/>
                  </a:cxn>
                  <a:cxn ang="0">
                    <a:pos x="T6" y="T7"/>
                  </a:cxn>
                  <a:cxn ang="0">
                    <a:pos x="T8" y="T9"/>
                  </a:cxn>
                </a:cxnLst>
                <a:rect l="0" t="0" r="r" b="b"/>
                <a:pathLst>
                  <a:path w="30" h="29">
                    <a:moveTo>
                      <a:pt x="30" y="23"/>
                    </a:moveTo>
                    <a:lnTo>
                      <a:pt x="24" y="0"/>
                    </a:lnTo>
                    <a:lnTo>
                      <a:pt x="0" y="6"/>
                    </a:lnTo>
                    <a:lnTo>
                      <a:pt x="6" y="29"/>
                    </a:lnTo>
                    <a:lnTo>
                      <a:pt x="3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 name="Freeform 344"/>
              <p:cNvSpPr>
                <a:spLocks/>
              </p:cNvSpPr>
              <p:nvPr/>
            </p:nvSpPr>
            <p:spPr bwMode="auto">
              <a:xfrm>
                <a:off x="4536" y="2381"/>
                <a:ext cx="24" cy="29"/>
              </a:xfrm>
              <a:custGeom>
                <a:avLst/>
                <a:gdLst>
                  <a:gd name="T0" fmla="*/ 24 w 24"/>
                  <a:gd name="T1" fmla="*/ 29 h 29"/>
                  <a:gd name="T2" fmla="*/ 24 w 24"/>
                  <a:gd name="T3" fmla="*/ 29 h 29"/>
                  <a:gd name="T4" fmla="*/ 24 w 24"/>
                  <a:gd name="T5" fmla="*/ 17 h 29"/>
                  <a:gd name="T6" fmla="*/ 24 w 24"/>
                  <a:gd name="T7" fmla="*/ 11 h 29"/>
                  <a:gd name="T8" fmla="*/ 12 w 24"/>
                  <a:gd name="T9" fmla="*/ 0 h 29"/>
                  <a:gd name="T10" fmla="*/ 0 w 24"/>
                  <a:gd name="T11" fmla="*/ 23 h 29"/>
                  <a:gd name="T12" fmla="*/ 0 w 24"/>
                  <a:gd name="T13" fmla="*/ 23 h 29"/>
                  <a:gd name="T14" fmla="*/ 0 w 24"/>
                  <a:gd name="T15" fmla="*/ 29 h 29"/>
                  <a:gd name="T16" fmla="*/ 0 w 24"/>
                  <a:gd name="T17" fmla="*/ 29 h 29"/>
                  <a:gd name="T18" fmla="*/ 0 w 24"/>
                  <a:gd name="T19" fmla="*/ 29 h 29"/>
                  <a:gd name="T20" fmla="*/ 24 w 24"/>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9">
                    <a:moveTo>
                      <a:pt x="24" y="29"/>
                    </a:moveTo>
                    <a:lnTo>
                      <a:pt x="24" y="29"/>
                    </a:lnTo>
                    <a:lnTo>
                      <a:pt x="24" y="17"/>
                    </a:lnTo>
                    <a:lnTo>
                      <a:pt x="24" y="11"/>
                    </a:lnTo>
                    <a:lnTo>
                      <a:pt x="12" y="0"/>
                    </a:lnTo>
                    <a:lnTo>
                      <a:pt x="0" y="23"/>
                    </a:lnTo>
                    <a:lnTo>
                      <a:pt x="0" y="23"/>
                    </a:lnTo>
                    <a:lnTo>
                      <a:pt x="0" y="29"/>
                    </a:lnTo>
                    <a:lnTo>
                      <a:pt x="0" y="29"/>
                    </a:lnTo>
                    <a:lnTo>
                      <a:pt x="0" y="29"/>
                    </a:lnTo>
                    <a:lnTo>
                      <a:pt x="2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 name="Freeform 345"/>
              <p:cNvSpPr>
                <a:spLocks/>
              </p:cNvSpPr>
              <p:nvPr/>
            </p:nvSpPr>
            <p:spPr bwMode="auto">
              <a:xfrm>
                <a:off x="4536" y="2381"/>
                <a:ext cx="30" cy="23"/>
              </a:xfrm>
              <a:custGeom>
                <a:avLst/>
                <a:gdLst>
                  <a:gd name="T0" fmla="*/ 30 w 30"/>
                  <a:gd name="T1" fmla="*/ 5 h 23"/>
                  <a:gd name="T2" fmla="*/ 30 w 30"/>
                  <a:gd name="T3" fmla="*/ 5 h 23"/>
                  <a:gd name="T4" fmla="*/ 18 w 30"/>
                  <a:gd name="T5" fmla="*/ 0 h 23"/>
                  <a:gd name="T6" fmla="*/ 12 w 30"/>
                  <a:gd name="T7" fmla="*/ 0 h 23"/>
                  <a:gd name="T8" fmla="*/ 0 w 30"/>
                  <a:gd name="T9" fmla="*/ 5 h 23"/>
                  <a:gd name="T10" fmla="*/ 18 w 30"/>
                  <a:gd name="T11" fmla="*/ 23 h 23"/>
                  <a:gd name="T12" fmla="*/ 12 w 30"/>
                  <a:gd name="T13" fmla="*/ 23 h 23"/>
                  <a:gd name="T14" fmla="*/ 6 w 30"/>
                  <a:gd name="T15" fmla="*/ 23 h 23"/>
                  <a:gd name="T16" fmla="*/ 30 w 30"/>
                  <a:gd name="T17" fmla="*/ 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3">
                    <a:moveTo>
                      <a:pt x="30" y="5"/>
                    </a:moveTo>
                    <a:lnTo>
                      <a:pt x="30" y="5"/>
                    </a:lnTo>
                    <a:lnTo>
                      <a:pt x="18" y="0"/>
                    </a:lnTo>
                    <a:lnTo>
                      <a:pt x="12" y="0"/>
                    </a:lnTo>
                    <a:lnTo>
                      <a:pt x="0" y="5"/>
                    </a:lnTo>
                    <a:lnTo>
                      <a:pt x="18" y="23"/>
                    </a:lnTo>
                    <a:lnTo>
                      <a:pt x="12" y="23"/>
                    </a:lnTo>
                    <a:lnTo>
                      <a:pt x="6" y="23"/>
                    </a:lnTo>
                    <a:lnTo>
                      <a:pt x="3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 name="Freeform 346"/>
              <p:cNvSpPr>
                <a:spLocks/>
              </p:cNvSpPr>
              <p:nvPr/>
            </p:nvSpPr>
            <p:spPr bwMode="auto">
              <a:xfrm>
                <a:off x="4536" y="2369"/>
                <a:ext cx="30" cy="29"/>
              </a:xfrm>
              <a:custGeom>
                <a:avLst/>
                <a:gdLst>
                  <a:gd name="T0" fmla="*/ 30 w 30"/>
                  <a:gd name="T1" fmla="*/ 6 h 29"/>
                  <a:gd name="T2" fmla="*/ 30 w 30"/>
                  <a:gd name="T3" fmla="*/ 6 h 29"/>
                  <a:gd name="T4" fmla="*/ 18 w 30"/>
                  <a:gd name="T5" fmla="*/ 0 h 29"/>
                  <a:gd name="T6" fmla="*/ 12 w 30"/>
                  <a:gd name="T7" fmla="*/ 0 h 29"/>
                  <a:gd name="T8" fmla="*/ 0 w 30"/>
                  <a:gd name="T9" fmla="*/ 6 h 29"/>
                  <a:gd name="T10" fmla="*/ 12 w 30"/>
                  <a:gd name="T11" fmla="*/ 29 h 29"/>
                  <a:gd name="T12" fmla="*/ 12 w 30"/>
                  <a:gd name="T13" fmla="*/ 29 h 29"/>
                  <a:gd name="T14" fmla="*/ 12 w 30"/>
                  <a:gd name="T15" fmla="*/ 23 h 29"/>
                  <a:gd name="T16" fmla="*/ 30 w 30"/>
                  <a:gd name="T1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9">
                    <a:moveTo>
                      <a:pt x="30" y="6"/>
                    </a:moveTo>
                    <a:lnTo>
                      <a:pt x="30" y="6"/>
                    </a:lnTo>
                    <a:lnTo>
                      <a:pt x="18" y="0"/>
                    </a:lnTo>
                    <a:lnTo>
                      <a:pt x="12" y="0"/>
                    </a:lnTo>
                    <a:lnTo>
                      <a:pt x="0" y="6"/>
                    </a:lnTo>
                    <a:lnTo>
                      <a:pt x="12" y="29"/>
                    </a:lnTo>
                    <a:lnTo>
                      <a:pt x="12" y="29"/>
                    </a:lnTo>
                    <a:lnTo>
                      <a:pt x="12" y="23"/>
                    </a:lnTo>
                    <a:lnTo>
                      <a:pt x="3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 name="Freeform 347"/>
              <p:cNvSpPr>
                <a:spLocks/>
              </p:cNvSpPr>
              <p:nvPr/>
            </p:nvSpPr>
            <p:spPr bwMode="auto">
              <a:xfrm>
                <a:off x="4536" y="2369"/>
                <a:ext cx="30" cy="23"/>
              </a:xfrm>
              <a:custGeom>
                <a:avLst/>
                <a:gdLst>
                  <a:gd name="T0" fmla="*/ 30 w 30"/>
                  <a:gd name="T1" fmla="*/ 0 h 23"/>
                  <a:gd name="T2" fmla="*/ 30 w 30"/>
                  <a:gd name="T3" fmla="*/ 0 h 23"/>
                  <a:gd name="T4" fmla="*/ 18 w 30"/>
                  <a:gd name="T5" fmla="*/ 0 h 23"/>
                  <a:gd name="T6" fmla="*/ 0 w 30"/>
                  <a:gd name="T7" fmla="*/ 0 h 23"/>
                  <a:gd name="T8" fmla="*/ 6 w 30"/>
                  <a:gd name="T9" fmla="*/ 23 h 23"/>
                  <a:gd name="T10" fmla="*/ 12 w 30"/>
                  <a:gd name="T11" fmla="*/ 23 h 23"/>
                  <a:gd name="T12" fmla="*/ 18 w 30"/>
                  <a:gd name="T13" fmla="*/ 23 h 23"/>
                  <a:gd name="T14" fmla="*/ 30 w 30"/>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3">
                    <a:moveTo>
                      <a:pt x="30" y="0"/>
                    </a:moveTo>
                    <a:lnTo>
                      <a:pt x="30" y="0"/>
                    </a:lnTo>
                    <a:lnTo>
                      <a:pt x="18" y="0"/>
                    </a:lnTo>
                    <a:lnTo>
                      <a:pt x="0" y="0"/>
                    </a:lnTo>
                    <a:lnTo>
                      <a:pt x="6" y="23"/>
                    </a:lnTo>
                    <a:lnTo>
                      <a:pt x="12" y="23"/>
                    </a:lnTo>
                    <a:lnTo>
                      <a:pt x="18" y="23"/>
                    </a:lnTo>
                    <a:lnTo>
                      <a:pt x="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 name="Freeform 348"/>
              <p:cNvSpPr>
                <a:spLocks/>
              </p:cNvSpPr>
              <p:nvPr/>
            </p:nvSpPr>
            <p:spPr bwMode="auto">
              <a:xfrm>
                <a:off x="4530" y="2363"/>
                <a:ext cx="36" cy="23"/>
              </a:xfrm>
              <a:custGeom>
                <a:avLst/>
                <a:gdLst>
                  <a:gd name="T0" fmla="*/ 36 w 36"/>
                  <a:gd name="T1" fmla="*/ 6 h 23"/>
                  <a:gd name="T2" fmla="*/ 36 w 36"/>
                  <a:gd name="T3" fmla="*/ 6 h 23"/>
                  <a:gd name="T4" fmla="*/ 24 w 36"/>
                  <a:gd name="T5" fmla="*/ 0 h 23"/>
                  <a:gd name="T6" fmla="*/ 12 w 36"/>
                  <a:gd name="T7" fmla="*/ 0 h 23"/>
                  <a:gd name="T8" fmla="*/ 0 w 36"/>
                  <a:gd name="T9" fmla="*/ 6 h 23"/>
                  <a:gd name="T10" fmla="*/ 12 w 36"/>
                  <a:gd name="T11" fmla="*/ 23 h 23"/>
                  <a:gd name="T12" fmla="*/ 18 w 36"/>
                  <a:gd name="T13" fmla="*/ 23 h 23"/>
                  <a:gd name="T14" fmla="*/ 24 w 36"/>
                  <a:gd name="T15" fmla="*/ 23 h 23"/>
                  <a:gd name="T16" fmla="*/ 36 w 36"/>
                  <a:gd name="T17"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3">
                    <a:moveTo>
                      <a:pt x="36" y="6"/>
                    </a:moveTo>
                    <a:lnTo>
                      <a:pt x="36" y="6"/>
                    </a:lnTo>
                    <a:lnTo>
                      <a:pt x="24" y="0"/>
                    </a:lnTo>
                    <a:lnTo>
                      <a:pt x="12" y="0"/>
                    </a:lnTo>
                    <a:lnTo>
                      <a:pt x="0" y="6"/>
                    </a:lnTo>
                    <a:lnTo>
                      <a:pt x="12" y="23"/>
                    </a:lnTo>
                    <a:lnTo>
                      <a:pt x="18" y="23"/>
                    </a:lnTo>
                    <a:lnTo>
                      <a:pt x="24" y="23"/>
                    </a:lnTo>
                    <a:lnTo>
                      <a:pt x="3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1" name="Freeform 349"/>
              <p:cNvSpPr>
                <a:spLocks/>
              </p:cNvSpPr>
              <p:nvPr/>
            </p:nvSpPr>
            <p:spPr bwMode="auto">
              <a:xfrm>
                <a:off x="4530" y="2363"/>
                <a:ext cx="36" cy="23"/>
              </a:xfrm>
              <a:custGeom>
                <a:avLst/>
                <a:gdLst>
                  <a:gd name="T0" fmla="*/ 36 w 36"/>
                  <a:gd name="T1" fmla="*/ 0 h 23"/>
                  <a:gd name="T2" fmla="*/ 30 w 36"/>
                  <a:gd name="T3" fmla="*/ 0 h 23"/>
                  <a:gd name="T4" fmla="*/ 0 w 36"/>
                  <a:gd name="T5" fmla="*/ 0 h 23"/>
                  <a:gd name="T6" fmla="*/ 12 w 36"/>
                  <a:gd name="T7" fmla="*/ 23 h 23"/>
                  <a:gd name="T8" fmla="*/ 24 w 36"/>
                  <a:gd name="T9" fmla="*/ 23 h 23"/>
                  <a:gd name="T10" fmla="*/ 24 w 36"/>
                  <a:gd name="T11" fmla="*/ 23 h 23"/>
                  <a:gd name="T12" fmla="*/ 24 w 36"/>
                  <a:gd name="T13" fmla="*/ 23 h 23"/>
                  <a:gd name="T14" fmla="*/ 36 w 36"/>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3">
                    <a:moveTo>
                      <a:pt x="36" y="0"/>
                    </a:moveTo>
                    <a:lnTo>
                      <a:pt x="30" y="0"/>
                    </a:lnTo>
                    <a:lnTo>
                      <a:pt x="0" y="0"/>
                    </a:lnTo>
                    <a:lnTo>
                      <a:pt x="12" y="23"/>
                    </a:lnTo>
                    <a:lnTo>
                      <a:pt x="24" y="23"/>
                    </a:lnTo>
                    <a:lnTo>
                      <a:pt x="24" y="23"/>
                    </a:lnTo>
                    <a:lnTo>
                      <a:pt x="24" y="23"/>
                    </a:lnTo>
                    <a:lnTo>
                      <a:pt x="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2" name="Freeform 350"/>
              <p:cNvSpPr>
                <a:spLocks/>
              </p:cNvSpPr>
              <p:nvPr/>
            </p:nvSpPr>
            <p:spPr bwMode="auto">
              <a:xfrm>
                <a:off x="4536" y="2357"/>
                <a:ext cx="30" cy="24"/>
              </a:xfrm>
              <a:custGeom>
                <a:avLst/>
                <a:gdLst>
                  <a:gd name="T0" fmla="*/ 30 w 30"/>
                  <a:gd name="T1" fmla="*/ 0 h 24"/>
                  <a:gd name="T2" fmla="*/ 30 w 30"/>
                  <a:gd name="T3" fmla="*/ 0 h 24"/>
                  <a:gd name="T4" fmla="*/ 18 w 30"/>
                  <a:gd name="T5" fmla="*/ 0 h 24"/>
                  <a:gd name="T6" fmla="*/ 0 w 30"/>
                  <a:gd name="T7" fmla="*/ 0 h 24"/>
                  <a:gd name="T8" fmla="*/ 6 w 30"/>
                  <a:gd name="T9" fmla="*/ 24 h 24"/>
                  <a:gd name="T10" fmla="*/ 18 w 30"/>
                  <a:gd name="T11" fmla="*/ 24 h 24"/>
                  <a:gd name="T12" fmla="*/ 18 w 30"/>
                  <a:gd name="T13" fmla="*/ 24 h 24"/>
                  <a:gd name="T14" fmla="*/ 18 w 30"/>
                  <a:gd name="T15" fmla="*/ 24 h 24"/>
                  <a:gd name="T16" fmla="*/ 30 w 30"/>
                  <a:gd name="T1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4">
                    <a:moveTo>
                      <a:pt x="30" y="0"/>
                    </a:moveTo>
                    <a:lnTo>
                      <a:pt x="30" y="0"/>
                    </a:lnTo>
                    <a:lnTo>
                      <a:pt x="18" y="0"/>
                    </a:lnTo>
                    <a:lnTo>
                      <a:pt x="0" y="0"/>
                    </a:lnTo>
                    <a:lnTo>
                      <a:pt x="6" y="24"/>
                    </a:lnTo>
                    <a:lnTo>
                      <a:pt x="18" y="24"/>
                    </a:lnTo>
                    <a:lnTo>
                      <a:pt x="18" y="24"/>
                    </a:lnTo>
                    <a:lnTo>
                      <a:pt x="18" y="24"/>
                    </a:lnTo>
                    <a:lnTo>
                      <a:pt x="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3" name="Freeform 351"/>
              <p:cNvSpPr>
                <a:spLocks/>
              </p:cNvSpPr>
              <p:nvPr/>
            </p:nvSpPr>
            <p:spPr bwMode="auto">
              <a:xfrm>
                <a:off x="4536" y="2351"/>
                <a:ext cx="24" cy="24"/>
              </a:xfrm>
              <a:custGeom>
                <a:avLst/>
                <a:gdLst>
                  <a:gd name="T0" fmla="*/ 24 w 24"/>
                  <a:gd name="T1" fmla="*/ 0 h 24"/>
                  <a:gd name="T2" fmla="*/ 18 w 24"/>
                  <a:gd name="T3" fmla="*/ 0 h 24"/>
                  <a:gd name="T4" fmla="*/ 0 w 24"/>
                  <a:gd name="T5" fmla="*/ 0 h 24"/>
                  <a:gd name="T6" fmla="*/ 6 w 24"/>
                  <a:gd name="T7" fmla="*/ 24 h 24"/>
                  <a:gd name="T8" fmla="*/ 12 w 24"/>
                  <a:gd name="T9" fmla="*/ 24 h 24"/>
                  <a:gd name="T10" fmla="*/ 18 w 24"/>
                  <a:gd name="T11" fmla="*/ 24 h 24"/>
                  <a:gd name="T12" fmla="*/ 24 w 24"/>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4" h="24">
                    <a:moveTo>
                      <a:pt x="24" y="0"/>
                    </a:moveTo>
                    <a:lnTo>
                      <a:pt x="18" y="0"/>
                    </a:lnTo>
                    <a:lnTo>
                      <a:pt x="0" y="0"/>
                    </a:lnTo>
                    <a:lnTo>
                      <a:pt x="6" y="24"/>
                    </a:lnTo>
                    <a:lnTo>
                      <a:pt x="12" y="24"/>
                    </a:lnTo>
                    <a:lnTo>
                      <a:pt x="18" y="24"/>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4" name="Freeform 352"/>
              <p:cNvSpPr>
                <a:spLocks/>
              </p:cNvSpPr>
              <p:nvPr/>
            </p:nvSpPr>
            <p:spPr bwMode="auto">
              <a:xfrm>
                <a:off x="4542" y="2345"/>
                <a:ext cx="18" cy="24"/>
              </a:xfrm>
              <a:custGeom>
                <a:avLst/>
                <a:gdLst>
                  <a:gd name="T0" fmla="*/ 18 w 18"/>
                  <a:gd name="T1" fmla="*/ 0 h 24"/>
                  <a:gd name="T2" fmla="*/ 12 w 18"/>
                  <a:gd name="T3" fmla="*/ 0 h 24"/>
                  <a:gd name="T4" fmla="*/ 0 w 18"/>
                  <a:gd name="T5" fmla="*/ 0 h 24"/>
                  <a:gd name="T6" fmla="*/ 6 w 18"/>
                  <a:gd name="T7" fmla="*/ 24 h 24"/>
                  <a:gd name="T8" fmla="*/ 12 w 18"/>
                  <a:gd name="T9" fmla="*/ 24 h 24"/>
                  <a:gd name="T10" fmla="*/ 12 w 18"/>
                  <a:gd name="T11" fmla="*/ 24 h 24"/>
                  <a:gd name="T12" fmla="*/ 18 w 18"/>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18" h="24">
                    <a:moveTo>
                      <a:pt x="18" y="0"/>
                    </a:moveTo>
                    <a:lnTo>
                      <a:pt x="12" y="0"/>
                    </a:lnTo>
                    <a:lnTo>
                      <a:pt x="0" y="0"/>
                    </a:lnTo>
                    <a:lnTo>
                      <a:pt x="6" y="24"/>
                    </a:lnTo>
                    <a:lnTo>
                      <a:pt x="12" y="24"/>
                    </a:lnTo>
                    <a:lnTo>
                      <a:pt x="12" y="24"/>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 name="Freeform 353"/>
              <p:cNvSpPr>
                <a:spLocks/>
              </p:cNvSpPr>
              <p:nvPr/>
            </p:nvSpPr>
            <p:spPr bwMode="auto">
              <a:xfrm>
                <a:off x="4542" y="2434"/>
                <a:ext cx="18" cy="6"/>
              </a:xfrm>
              <a:custGeom>
                <a:avLst/>
                <a:gdLst>
                  <a:gd name="T0" fmla="*/ 0 w 18"/>
                  <a:gd name="T1" fmla="*/ 0 h 6"/>
                  <a:gd name="T2" fmla="*/ 0 w 18"/>
                  <a:gd name="T3" fmla="*/ 6 h 6"/>
                  <a:gd name="T4" fmla="*/ 0 w 18"/>
                  <a:gd name="T5" fmla="*/ 6 h 6"/>
                  <a:gd name="T6" fmla="*/ 6 w 18"/>
                  <a:gd name="T7" fmla="*/ 6 h 6"/>
                  <a:gd name="T8" fmla="*/ 6 w 18"/>
                  <a:gd name="T9" fmla="*/ 6 h 6"/>
                  <a:gd name="T10" fmla="*/ 6 w 18"/>
                  <a:gd name="T11" fmla="*/ 6 h 6"/>
                  <a:gd name="T12" fmla="*/ 6 w 18"/>
                  <a:gd name="T13" fmla="*/ 6 h 6"/>
                  <a:gd name="T14" fmla="*/ 12 w 18"/>
                  <a:gd name="T15" fmla="*/ 6 h 6"/>
                  <a:gd name="T16" fmla="*/ 12 w 18"/>
                  <a:gd name="T17" fmla="*/ 6 h 6"/>
                  <a:gd name="T18" fmla="*/ 18 w 18"/>
                  <a:gd name="T19" fmla="*/ 6 h 6"/>
                  <a:gd name="T20" fmla="*/ 18 w 18"/>
                  <a:gd name="T21" fmla="*/ 6 h 6"/>
                  <a:gd name="T22" fmla="*/ 6 w 18"/>
                  <a:gd name="T23" fmla="*/ 6 h 6"/>
                  <a:gd name="T24" fmla="*/ 6 w 18"/>
                  <a:gd name="T25" fmla="*/ 0 h 6"/>
                  <a:gd name="T26" fmla="*/ 0 w 18"/>
                  <a:gd name="T27" fmla="*/ 0 h 6"/>
                  <a:gd name="T28" fmla="*/ 0 w 18"/>
                  <a:gd name="T2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6">
                    <a:moveTo>
                      <a:pt x="0" y="0"/>
                    </a:moveTo>
                    <a:lnTo>
                      <a:pt x="0" y="6"/>
                    </a:lnTo>
                    <a:lnTo>
                      <a:pt x="0" y="6"/>
                    </a:lnTo>
                    <a:lnTo>
                      <a:pt x="6" y="6"/>
                    </a:lnTo>
                    <a:lnTo>
                      <a:pt x="6" y="6"/>
                    </a:lnTo>
                    <a:lnTo>
                      <a:pt x="6" y="6"/>
                    </a:lnTo>
                    <a:lnTo>
                      <a:pt x="6" y="6"/>
                    </a:lnTo>
                    <a:lnTo>
                      <a:pt x="12" y="6"/>
                    </a:lnTo>
                    <a:lnTo>
                      <a:pt x="12" y="6"/>
                    </a:lnTo>
                    <a:lnTo>
                      <a:pt x="18" y="6"/>
                    </a:lnTo>
                    <a:lnTo>
                      <a:pt x="18" y="6"/>
                    </a:lnTo>
                    <a:lnTo>
                      <a:pt x="6" y="6"/>
                    </a:lnTo>
                    <a:lnTo>
                      <a:pt x="6" y="0"/>
                    </a:lnTo>
                    <a:lnTo>
                      <a:pt x="0" y="0"/>
                    </a:lnTo>
                    <a:lnTo>
                      <a:pt x="0"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 name="Freeform 354"/>
              <p:cNvSpPr>
                <a:spLocks/>
              </p:cNvSpPr>
              <p:nvPr/>
            </p:nvSpPr>
            <p:spPr bwMode="auto">
              <a:xfrm>
                <a:off x="4530" y="2428"/>
                <a:ext cx="24" cy="24"/>
              </a:xfrm>
              <a:custGeom>
                <a:avLst/>
                <a:gdLst>
                  <a:gd name="T0" fmla="*/ 0 w 24"/>
                  <a:gd name="T1" fmla="*/ 12 h 24"/>
                  <a:gd name="T2" fmla="*/ 0 w 24"/>
                  <a:gd name="T3" fmla="*/ 18 h 24"/>
                  <a:gd name="T4" fmla="*/ 6 w 24"/>
                  <a:gd name="T5" fmla="*/ 24 h 24"/>
                  <a:gd name="T6" fmla="*/ 18 w 24"/>
                  <a:gd name="T7" fmla="*/ 24 h 24"/>
                  <a:gd name="T8" fmla="*/ 6 w 24"/>
                  <a:gd name="T9" fmla="*/ 0 h 24"/>
                  <a:gd name="T10" fmla="*/ 18 w 24"/>
                  <a:gd name="T11" fmla="*/ 0 h 24"/>
                  <a:gd name="T12" fmla="*/ 24 w 24"/>
                  <a:gd name="T13" fmla="*/ 6 h 24"/>
                  <a:gd name="T14" fmla="*/ 24 w 24"/>
                  <a:gd name="T15" fmla="*/ 6 h 24"/>
                  <a:gd name="T16" fmla="*/ 24 w 24"/>
                  <a:gd name="T17" fmla="*/ 6 h 24"/>
                  <a:gd name="T18" fmla="*/ 0 w 24"/>
                  <a:gd name="T1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0" y="12"/>
                    </a:moveTo>
                    <a:lnTo>
                      <a:pt x="0" y="18"/>
                    </a:lnTo>
                    <a:lnTo>
                      <a:pt x="6" y="24"/>
                    </a:lnTo>
                    <a:lnTo>
                      <a:pt x="18" y="24"/>
                    </a:lnTo>
                    <a:lnTo>
                      <a:pt x="6" y="0"/>
                    </a:lnTo>
                    <a:lnTo>
                      <a:pt x="18" y="0"/>
                    </a:lnTo>
                    <a:lnTo>
                      <a:pt x="24" y="6"/>
                    </a:lnTo>
                    <a:lnTo>
                      <a:pt x="24" y="6"/>
                    </a:lnTo>
                    <a:lnTo>
                      <a:pt x="24" y="6"/>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7" name="Freeform 355"/>
              <p:cNvSpPr>
                <a:spLocks noEditPoints="1"/>
              </p:cNvSpPr>
              <p:nvPr/>
            </p:nvSpPr>
            <p:spPr bwMode="auto">
              <a:xfrm>
                <a:off x="4536" y="2428"/>
                <a:ext cx="18" cy="24"/>
              </a:xfrm>
              <a:custGeom>
                <a:avLst/>
                <a:gdLst>
                  <a:gd name="T0" fmla="*/ 12 w 18"/>
                  <a:gd name="T1" fmla="*/ 24 h 24"/>
                  <a:gd name="T2" fmla="*/ 6 w 18"/>
                  <a:gd name="T3" fmla="*/ 24 h 24"/>
                  <a:gd name="T4" fmla="*/ 6 w 18"/>
                  <a:gd name="T5" fmla="*/ 24 h 24"/>
                  <a:gd name="T6" fmla="*/ 6 w 18"/>
                  <a:gd name="T7" fmla="*/ 24 h 24"/>
                  <a:gd name="T8" fmla="*/ 6 w 18"/>
                  <a:gd name="T9" fmla="*/ 24 h 24"/>
                  <a:gd name="T10" fmla="*/ 18 w 18"/>
                  <a:gd name="T11" fmla="*/ 0 h 24"/>
                  <a:gd name="T12" fmla="*/ 18 w 18"/>
                  <a:gd name="T13" fmla="*/ 0 h 24"/>
                  <a:gd name="T14" fmla="*/ 18 w 18"/>
                  <a:gd name="T15" fmla="*/ 0 h 24"/>
                  <a:gd name="T16" fmla="*/ 12 w 18"/>
                  <a:gd name="T17" fmla="*/ 0 h 24"/>
                  <a:gd name="T18" fmla="*/ 0 w 18"/>
                  <a:gd name="T19" fmla="*/ 0 h 24"/>
                  <a:gd name="T20" fmla="*/ 12 w 18"/>
                  <a:gd name="T21" fmla="*/ 24 h 24"/>
                  <a:gd name="T22" fmla="*/ 0 w 18"/>
                  <a:gd name="T23" fmla="*/ 0 h 24"/>
                  <a:gd name="T24" fmla="*/ 0 w 18"/>
                  <a:gd name="T25" fmla="*/ 0 h 24"/>
                  <a:gd name="T26" fmla="*/ 0 w 18"/>
                  <a:gd name="T27" fmla="*/ 0 h 24"/>
                  <a:gd name="T28" fmla="*/ 6 w 18"/>
                  <a:gd name="T29" fmla="*/ 12 h 24"/>
                  <a:gd name="T30" fmla="*/ 0 w 18"/>
                  <a:gd name="T31"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24">
                    <a:moveTo>
                      <a:pt x="12" y="24"/>
                    </a:moveTo>
                    <a:lnTo>
                      <a:pt x="6" y="24"/>
                    </a:lnTo>
                    <a:lnTo>
                      <a:pt x="6" y="24"/>
                    </a:lnTo>
                    <a:lnTo>
                      <a:pt x="6" y="24"/>
                    </a:lnTo>
                    <a:lnTo>
                      <a:pt x="6" y="24"/>
                    </a:lnTo>
                    <a:lnTo>
                      <a:pt x="18" y="0"/>
                    </a:lnTo>
                    <a:lnTo>
                      <a:pt x="18" y="0"/>
                    </a:lnTo>
                    <a:lnTo>
                      <a:pt x="18" y="0"/>
                    </a:lnTo>
                    <a:lnTo>
                      <a:pt x="12" y="0"/>
                    </a:lnTo>
                    <a:lnTo>
                      <a:pt x="0" y="0"/>
                    </a:lnTo>
                    <a:lnTo>
                      <a:pt x="12" y="24"/>
                    </a:lnTo>
                    <a:close/>
                    <a:moveTo>
                      <a:pt x="0" y="0"/>
                    </a:moveTo>
                    <a:lnTo>
                      <a:pt x="0" y="0"/>
                    </a:lnTo>
                    <a:lnTo>
                      <a:pt x="0" y="0"/>
                    </a:lnTo>
                    <a:lnTo>
                      <a:pt x="6" y="1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8" name="Freeform 356"/>
              <p:cNvSpPr>
                <a:spLocks noEditPoints="1"/>
              </p:cNvSpPr>
              <p:nvPr/>
            </p:nvSpPr>
            <p:spPr bwMode="auto">
              <a:xfrm>
                <a:off x="4536" y="2428"/>
                <a:ext cx="24" cy="24"/>
              </a:xfrm>
              <a:custGeom>
                <a:avLst/>
                <a:gdLst>
                  <a:gd name="T0" fmla="*/ 6 w 24"/>
                  <a:gd name="T1" fmla="*/ 24 h 24"/>
                  <a:gd name="T2" fmla="*/ 0 w 24"/>
                  <a:gd name="T3" fmla="*/ 18 h 24"/>
                  <a:gd name="T4" fmla="*/ 0 w 24"/>
                  <a:gd name="T5" fmla="*/ 18 h 24"/>
                  <a:gd name="T6" fmla="*/ 0 w 24"/>
                  <a:gd name="T7" fmla="*/ 18 h 24"/>
                  <a:gd name="T8" fmla="*/ 24 w 24"/>
                  <a:gd name="T9" fmla="*/ 6 h 24"/>
                  <a:gd name="T10" fmla="*/ 18 w 24"/>
                  <a:gd name="T11" fmla="*/ 0 h 24"/>
                  <a:gd name="T12" fmla="*/ 18 w 24"/>
                  <a:gd name="T13" fmla="*/ 0 h 24"/>
                  <a:gd name="T14" fmla="*/ 18 w 24"/>
                  <a:gd name="T15" fmla="*/ 0 h 24"/>
                  <a:gd name="T16" fmla="*/ 12 w 24"/>
                  <a:gd name="T17" fmla="*/ 0 h 24"/>
                  <a:gd name="T18" fmla="*/ 6 w 24"/>
                  <a:gd name="T19" fmla="*/ 24 h 24"/>
                  <a:gd name="T20" fmla="*/ 6 w 24"/>
                  <a:gd name="T21" fmla="*/ 24 h 24"/>
                  <a:gd name="T22" fmla="*/ 6 w 24"/>
                  <a:gd name="T23" fmla="*/ 24 h 24"/>
                  <a:gd name="T24" fmla="*/ 6 w 24"/>
                  <a:gd name="T25" fmla="*/ 24 h 24"/>
                  <a:gd name="T26" fmla="*/ 12 w 24"/>
                  <a:gd name="T27" fmla="*/ 12 h 24"/>
                  <a:gd name="T28" fmla="*/ 6 w 24"/>
                  <a:gd name="T2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4">
                    <a:moveTo>
                      <a:pt x="6" y="24"/>
                    </a:moveTo>
                    <a:lnTo>
                      <a:pt x="0" y="18"/>
                    </a:lnTo>
                    <a:lnTo>
                      <a:pt x="0" y="18"/>
                    </a:lnTo>
                    <a:lnTo>
                      <a:pt x="0" y="18"/>
                    </a:lnTo>
                    <a:lnTo>
                      <a:pt x="24" y="6"/>
                    </a:lnTo>
                    <a:lnTo>
                      <a:pt x="18" y="0"/>
                    </a:lnTo>
                    <a:lnTo>
                      <a:pt x="18" y="0"/>
                    </a:lnTo>
                    <a:lnTo>
                      <a:pt x="18" y="0"/>
                    </a:lnTo>
                    <a:lnTo>
                      <a:pt x="12" y="0"/>
                    </a:lnTo>
                    <a:lnTo>
                      <a:pt x="6" y="24"/>
                    </a:lnTo>
                    <a:close/>
                    <a:moveTo>
                      <a:pt x="6" y="24"/>
                    </a:moveTo>
                    <a:lnTo>
                      <a:pt x="6" y="24"/>
                    </a:lnTo>
                    <a:lnTo>
                      <a:pt x="6" y="24"/>
                    </a:lnTo>
                    <a:lnTo>
                      <a:pt x="12" y="12"/>
                    </a:lnTo>
                    <a:lnTo>
                      <a:pt x="6"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9" name="Freeform 357"/>
              <p:cNvSpPr>
                <a:spLocks noEditPoints="1"/>
              </p:cNvSpPr>
              <p:nvPr/>
            </p:nvSpPr>
            <p:spPr bwMode="auto">
              <a:xfrm>
                <a:off x="4536" y="2428"/>
                <a:ext cx="24" cy="42"/>
              </a:xfrm>
              <a:custGeom>
                <a:avLst/>
                <a:gdLst>
                  <a:gd name="T0" fmla="*/ 24 w 24"/>
                  <a:gd name="T1" fmla="*/ 18 h 42"/>
                  <a:gd name="T2" fmla="*/ 18 w 24"/>
                  <a:gd name="T3" fmla="*/ 24 h 42"/>
                  <a:gd name="T4" fmla="*/ 18 w 24"/>
                  <a:gd name="T5" fmla="*/ 24 h 42"/>
                  <a:gd name="T6" fmla="*/ 12 w 24"/>
                  <a:gd name="T7" fmla="*/ 24 h 42"/>
                  <a:gd name="T8" fmla="*/ 12 w 24"/>
                  <a:gd name="T9" fmla="*/ 24 h 42"/>
                  <a:gd name="T10" fmla="*/ 12 w 24"/>
                  <a:gd name="T11" fmla="*/ 24 h 42"/>
                  <a:gd name="T12" fmla="*/ 12 w 24"/>
                  <a:gd name="T13" fmla="*/ 0 h 42"/>
                  <a:gd name="T14" fmla="*/ 18 w 24"/>
                  <a:gd name="T15" fmla="*/ 0 h 42"/>
                  <a:gd name="T16" fmla="*/ 18 w 24"/>
                  <a:gd name="T17" fmla="*/ 0 h 42"/>
                  <a:gd name="T18" fmla="*/ 18 w 24"/>
                  <a:gd name="T19" fmla="*/ 0 h 42"/>
                  <a:gd name="T20" fmla="*/ 18 w 24"/>
                  <a:gd name="T21" fmla="*/ 0 h 42"/>
                  <a:gd name="T22" fmla="*/ 12 w 24"/>
                  <a:gd name="T23" fmla="*/ 0 h 42"/>
                  <a:gd name="T24" fmla="*/ 24 w 24"/>
                  <a:gd name="T25" fmla="*/ 18 h 42"/>
                  <a:gd name="T26" fmla="*/ 0 w 24"/>
                  <a:gd name="T27" fmla="*/ 18 h 42"/>
                  <a:gd name="T28" fmla="*/ 12 w 24"/>
                  <a:gd name="T29" fmla="*/ 42 h 42"/>
                  <a:gd name="T30" fmla="*/ 24 w 24"/>
                  <a:gd name="T31" fmla="*/ 18 h 42"/>
                  <a:gd name="T32" fmla="*/ 12 w 24"/>
                  <a:gd name="T33" fmla="*/ 12 h 42"/>
                  <a:gd name="T34" fmla="*/ 0 w 24"/>
                  <a:gd name="T35"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42">
                    <a:moveTo>
                      <a:pt x="24" y="18"/>
                    </a:moveTo>
                    <a:lnTo>
                      <a:pt x="18" y="24"/>
                    </a:lnTo>
                    <a:lnTo>
                      <a:pt x="18" y="24"/>
                    </a:lnTo>
                    <a:lnTo>
                      <a:pt x="12" y="24"/>
                    </a:lnTo>
                    <a:lnTo>
                      <a:pt x="12" y="24"/>
                    </a:lnTo>
                    <a:lnTo>
                      <a:pt x="12" y="24"/>
                    </a:lnTo>
                    <a:lnTo>
                      <a:pt x="12" y="0"/>
                    </a:lnTo>
                    <a:lnTo>
                      <a:pt x="18" y="0"/>
                    </a:lnTo>
                    <a:lnTo>
                      <a:pt x="18" y="0"/>
                    </a:lnTo>
                    <a:lnTo>
                      <a:pt x="18" y="0"/>
                    </a:lnTo>
                    <a:lnTo>
                      <a:pt x="18" y="0"/>
                    </a:lnTo>
                    <a:lnTo>
                      <a:pt x="12" y="0"/>
                    </a:lnTo>
                    <a:lnTo>
                      <a:pt x="24" y="18"/>
                    </a:lnTo>
                    <a:close/>
                    <a:moveTo>
                      <a:pt x="0" y="18"/>
                    </a:moveTo>
                    <a:lnTo>
                      <a:pt x="12" y="42"/>
                    </a:lnTo>
                    <a:lnTo>
                      <a:pt x="24" y="18"/>
                    </a:lnTo>
                    <a:lnTo>
                      <a:pt x="12" y="12"/>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0" name="Freeform 358"/>
              <p:cNvSpPr>
                <a:spLocks noEditPoints="1"/>
              </p:cNvSpPr>
              <p:nvPr/>
            </p:nvSpPr>
            <p:spPr bwMode="auto">
              <a:xfrm>
                <a:off x="4548" y="2428"/>
                <a:ext cx="12" cy="24"/>
              </a:xfrm>
              <a:custGeom>
                <a:avLst/>
                <a:gdLst>
                  <a:gd name="T0" fmla="*/ 12 w 12"/>
                  <a:gd name="T1" fmla="*/ 24 h 24"/>
                  <a:gd name="T2" fmla="*/ 12 w 12"/>
                  <a:gd name="T3" fmla="*/ 24 h 24"/>
                  <a:gd name="T4" fmla="*/ 12 w 12"/>
                  <a:gd name="T5" fmla="*/ 24 h 24"/>
                  <a:gd name="T6" fmla="*/ 12 w 12"/>
                  <a:gd name="T7" fmla="*/ 24 h 24"/>
                  <a:gd name="T8" fmla="*/ 6 w 12"/>
                  <a:gd name="T9" fmla="*/ 24 h 24"/>
                  <a:gd name="T10" fmla="*/ 12 w 12"/>
                  <a:gd name="T11" fmla="*/ 0 h 24"/>
                  <a:gd name="T12" fmla="*/ 6 w 12"/>
                  <a:gd name="T13" fmla="*/ 0 h 24"/>
                  <a:gd name="T14" fmla="*/ 0 w 12"/>
                  <a:gd name="T15" fmla="*/ 0 h 24"/>
                  <a:gd name="T16" fmla="*/ 0 w 12"/>
                  <a:gd name="T17" fmla="*/ 0 h 24"/>
                  <a:gd name="T18" fmla="*/ 0 w 12"/>
                  <a:gd name="T19" fmla="*/ 0 h 24"/>
                  <a:gd name="T20" fmla="*/ 12 w 12"/>
                  <a:gd name="T21" fmla="*/ 24 h 24"/>
                  <a:gd name="T22" fmla="*/ 6 w 12"/>
                  <a:gd name="T23" fmla="*/ 24 h 24"/>
                  <a:gd name="T24" fmla="*/ 6 w 12"/>
                  <a:gd name="T25" fmla="*/ 24 h 24"/>
                  <a:gd name="T26" fmla="*/ 12 w 12"/>
                  <a:gd name="T27" fmla="*/ 24 h 24"/>
                  <a:gd name="T28" fmla="*/ 6 w 12"/>
                  <a:gd name="T29" fmla="*/ 12 h 24"/>
                  <a:gd name="T30" fmla="*/ 6 w 12"/>
                  <a:gd name="T3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 h="24">
                    <a:moveTo>
                      <a:pt x="12" y="24"/>
                    </a:moveTo>
                    <a:lnTo>
                      <a:pt x="12" y="24"/>
                    </a:lnTo>
                    <a:lnTo>
                      <a:pt x="12" y="24"/>
                    </a:lnTo>
                    <a:lnTo>
                      <a:pt x="12" y="24"/>
                    </a:lnTo>
                    <a:lnTo>
                      <a:pt x="6" y="24"/>
                    </a:lnTo>
                    <a:lnTo>
                      <a:pt x="12" y="0"/>
                    </a:lnTo>
                    <a:lnTo>
                      <a:pt x="6" y="0"/>
                    </a:lnTo>
                    <a:lnTo>
                      <a:pt x="0" y="0"/>
                    </a:lnTo>
                    <a:lnTo>
                      <a:pt x="0" y="0"/>
                    </a:lnTo>
                    <a:lnTo>
                      <a:pt x="0" y="0"/>
                    </a:lnTo>
                    <a:lnTo>
                      <a:pt x="12" y="24"/>
                    </a:lnTo>
                    <a:close/>
                    <a:moveTo>
                      <a:pt x="6" y="24"/>
                    </a:moveTo>
                    <a:lnTo>
                      <a:pt x="6" y="24"/>
                    </a:lnTo>
                    <a:lnTo>
                      <a:pt x="12" y="24"/>
                    </a:lnTo>
                    <a:lnTo>
                      <a:pt x="6" y="12"/>
                    </a:lnTo>
                    <a:lnTo>
                      <a:pt x="6"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1" name="Freeform 359"/>
              <p:cNvSpPr>
                <a:spLocks noEditPoints="1"/>
              </p:cNvSpPr>
              <p:nvPr/>
            </p:nvSpPr>
            <p:spPr bwMode="auto">
              <a:xfrm>
                <a:off x="4548" y="2428"/>
                <a:ext cx="24" cy="24"/>
              </a:xfrm>
              <a:custGeom>
                <a:avLst/>
                <a:gdLst>
                  <a:gd name="T0" fmla="*/ 6 w 24"/>
                  <a:gd name="T1" fmla="*/ 24 h 24"/>
                  <a:gd name="T2" fmla="*/ 18 w 24"/>
                  <a:gd name="T3" fmla="*/ 24 h 24"/>
                  <a:gd name="T4" fmla="*/ 18 w 24"/>
                  <a:gd name="T5" fmla="*/ 18 h 24"/>
                  <a:gd name="T6" fmla="*/ 24 w 24"/>
                  <a:gd name="T7" fmla="*/ 12 h 24"/>
                  <a:gd name="T8" fmla="*/ 0 w 24"/>
                  <a:gd name="T9" fmla="*/ 6 h 24"/>
                  <a:gd name="T10" fmla="*/ 0 w 24"/>
                  <a:gd name="T11" fmla="*/ 6 h 24"/>
                  <a:gd name="T12" fmla="*/ 0 w 24"/>
                  <a:gd name="T13" fmla="*/ 0 h 24"/>
                  <a:gd name="T14" fmla="*/ 12 w 24"/>
                  <a:gd name="T15" fmla="*/ 0 h 24"/>
                  <a:gd name="T16" fmla="*/ 6 w 24"/>
                  <a:gd name="T17" fmla="*/ 24 h 24"/>
                  <a:gd name="T18" fmla="*/ 12 w 24"/>
                  <a:gd name="T19" fmla="*/ 0 h 24"/>
                  <a:gd name="T20" fmla="*/ 12 w 24"/>
                  <a:gd name="T21" fmla="*/ 0 h 24"/>
                  <a:gd name="T22" fmla="*/ 12 w 24"/>
                  <a:gd name="T23" fmla="*/ 0 h 24"/>
                  <a:gd name="T24" fmla="*/ 6 w 24"/>
                  <a:gd name="T25" fmla="*/ 12 h 24"/>
                  <a:gd name="T26" fmla="*/ 12 w 24"/>
                  <a:gd name="T2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24">
                    <a:moveTo>
                      <a:pt x="6" y="24"/>
                    </a:moveTo>
                    <a:lnTo>
                      <a:pt x="18" y="24"/>
                    </a:lnTo>
                    <a:lnTo>
                      <a:pt x="18" y="18"/>
                    </a:lnTo>
                    <a:lnTo>
                      <a:pt x="24" y="12"/>
                    </a:lnTo>
                    <a:lnTo>
                      <a:pt x="0" y="6"/>
                    </a:lnTo>
                    <a:lnTo>
                      <a:pt x="0" y="6"/>
                    </a:lnTo>
                    <a:lnTo>
                      <a:pt x="0" y="0"/>
                    </a:lnTo>
                    <a:lnTo>
                      <a:pt x="12" y="0"/>
                    </a:lnTo>
                    <a:lnTo>
                      <a:pt x="6" y="24"/>
                    </a:lnTo>
                    <a:close/>
                    <a:moveTo>
                      <a:pt x="12" y="0"/>
                    </a:moveTo>
                    <a:lnTo>
                      <a:pt x="12" y="0"/>
                    </a:lnTo>
                    <a:lnTo>
                      <a:pt x="12" y="0"/>
                    </a:lnTo>
                    <a:lnTo>
                      <a:pt x="6" y="12"/>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2" name="Freeform 360"/>
              <p:cNvSpPr>
                <a:spLocks noEditPoints="1"/>
              </p:cNvSpPr>
              <p:nvPr/>
            </p:nvSpPr>
            <p:spPr bwMode="auto">
              <a:xfrm>
                <a:off x="4548" y="2428"/>
                <a:ext cx="24" cy="24"/>
              </a:xfrm>
              <a:custGeom>
                <a:avLst/>
                <a:gdLst>
                  <a:gd name="T0" fmla="*/ 12 w 24"/>
                  <a:gd name="T1" fmla="*/ 0 h 24"/>
                  <a:gd name="T2" fmla="*/ 0 w 24"/>
                  <a:gd name="T3" fmla="*/ 0 h 24"/>
                  <a:gd name="T4" fmla="*/ 0 w 24"/>
                  <a:gd name="T5" fmla="*/ 24 h 24"/>
                  <a:gd name="T6" fmla="*/ 12 w 24"/>
                  <a:gd name="T7" fmla="*/ 24 h 24"/>
                  <a:gd name="T8" fmla="*/ 12 w 24"/>
                  <a:gd name="T9" fmla="*/ 0 h 24"/>
                  <a:gd name="T10" fmla="*/ 24 w 24"/>
                  <a:gd name="T11" fmla="*/ 12 h 24"/>
                  <a:gd name="T12" fmla="*/ 24 w 24"/>
                  <a:gd name="T13" fmla="*/ 0 h 24"/>
                  <a:gd name="T14" fmla="*/ 12 w 24"/>
                  <a:gd name="T15" fmla="*/ 0 h 24"/>
                  <a:gd name="T16" fmla="*/ 12 w 24"/>
                  <a:gd name="T17" fmla="*/ 12 h 24"/>
                  <a:gd name="T18" fmla="*/ 24 w 24"/>
                  <a:gd name="T1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lnTo>
                      <a:pt x="0" y="0"/>
                    </a:lnTo>
                    <a:lnTo>
                      <a:pt x="0" y="24"/>
                    </a:lnTo>
                    <a:lnTo>
                      <a:pt x="12" y="24"/>
                    </a:lnTo>
                    <a:lnTo>
                      <a:pt x="12" y="0"/>
                    </a:lnTo>
                    <a:close/>
                    <a:moveTo>
                      <a:pt x="24" y="12"/>
                    </a:moveTo>
                    <a:lnTo>
                      <a:pt x="24" y="0"/>
                    </a:lnTo>
                    <a:lnTo>
                      <a:pt x="12" y="0"/>
                    </a:lnTo>
                    <a:lnTo>
                      <a:pt x="12" y="12"/>
                    </a:lnTo>
                    <a:lnTo>
                      <a:pt x="24"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3" name="Freeform 361"/>
              <p:cNvSpPr>
                <a:spLocks noEditPoints="1"/>
              </p:cNvSpPr>
              <p:nvPr/>
            </p:nvSpPr>
            <p:spPr bwMode="auto">
              <a:xfrm>
                <a:off x="4536" y="2434"/>
                <a:ext cx="24" cy="18"/>
              </a:xfrm>
              <a:custGeom>
                <a:avLst/>
                <a:gdLst>
                  <a:gd name="T0" fmla="*/ 24 w 24"/>
                  <a:gd name="T1" fmla="*/ 6 h 18"/>
                  <a:gd name="T2" fmla="*/ 24 w 24"/>
                  <a:gd name="T3" fmla="*/ 0 h 18"/>
                  <a:gd name="T4" fmla="*/ 0 w 24"/>
                  <a:gd name="T5" fmla="*/ 0 h 18"/>
                  <a:gd name="T6" fmla="*/ 0 w 24"/>
                  <a:gd name="T7" fmla="*/ 6 h 18"/>
                  <a:gd name="T8" fmla="*/ 24 w 24"/>
                  <a:gd name="T9" fmla="*/ 6 h 18"/>
                  <a:gd name="T10" fmla="*/ 0 w 24"/>
                  <a:gd name="T11" fmla="*/ 6 h 18"/>
                  <a:gd name="T12" fmla="*/ 0 w 24"/>
                  <a:gd name="T13" fmla="*/ 18 h 18"/>
                  <a:gd name="T14" fmla="*/ 12 w 24"/>
                  <a:gd name="T15" fmla="*/ 18 h 18"/>
                  <a:gd name="T16" fmla="*/ 12 w 24"/>
                  <a:gd name="T17" fmla="*/ 6 h 18"/>
                  <a:gd name="T18" fmla="*/ 0 w 24"/>
                  <a:gd name="T19" fmla="*/ 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8">
                    <a:moveTo>
                      <a:pt x="24" y="6"/>
                    </a:moveTo>
                    <a:lnTo>
                      <a:pt x="24" y="0"/>
                    </a:lnTo>
                    <a:lnTo>
                      <a:pt x="0" y="0"/>
                    </a:lnTo>
                    <a:lnTo>
                      <a:pt x="0" y="6"/>
                    </a:lnTo>
                    <a:lnTo>
                      <a:pt x="24" y="6"/>
                    </a:lnTo>
                    <a:close/>
                    <a:moveTo>
                      <a:pt x="0" y="6"/>
                    </a:moveTo>
                    <a:lnTo>
                      <a:pt x="0" y="18"/>
                    </a:lnTo>
                    <a:lnTo>
                      <a:pt x="12" y="18"/>
                    </a:lnTo>
                    <a:lnTo>
                      <a:pt x="12"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4" name="Freeform 362"/>
              <p:cNvSpPr>
                <a:spLocks noEditPoints="1"/>
              </p:cNvSpPr>
              <p:nvPr/>
            </p:nvSpPr>
            <p:spPr bwMode="auto">
              <a:xfrm>
                <a:off x="4542" y="2422"/>
                <a:ext cx="18" cy="24"/>
              </a:xfrm>
              <a:custGeom>
                <a:avLst/>
                <a:gdLst>
                  <a:gd name="T0" fmla="*/ 6 w 18"/>
                  <a:gd name="T1" fmla="*/ 0 h 24"/>
                  <a:gd name="T2" fmla="*/ 0 w 18"/>
                  <a:gd name="T3" fmla="*/ 0 h 24"/>
                  <a:gd name="T4" fmla="*/ 0 w 18"/>
                  <a:gd name="T5" fmla="*/ 24 h 24"/>
                  <a:gd name="T6" fmla="*/ 6 w 18"/>
                  <a:gd name="T7" fmla="*/ 24 h 24"/>
                  <a:gd name="T8" fmla="*/ 6 w 18"/>
                  <a:gd name="T9" fmla="*/ 0 h 24"/>
                  <a:gd name="T10" fmla="*/ 18 w 18"/>
                  <a:gd name="T11" fmla="*/ 12 h 24"/>
                  <a:gd name="T12" fmla="*/ 18 w 18"/>
                  <a:gd name="T13" fmla="*/ 0 h 24"/>
                  <a:gd name="T14" fmla="*/ 6 w 18"/>
                  <a:gd name="T15" fmla="*/ 0 h 24"/>
                  <a:gd name="T16" fmla="*/ 6 w 18"/>
                  <a:gd name="T17" fmla="*/ 12 h 24"/>
                  <a:gd name="T18" fmla="*/ 18 w 18"/>
                  <a:gd name="T19"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24">
                    <a:moveTo>
                      <a:pt x="6" y="0"/>
                    </a:moveTo>
                    <a:lnTo>
                      <a:pt x="0" y="0"/>
                    </a:lnTo>
                    <a:lnTo>
                      <a:pt x="0" y="24"/>
                    </a:lnTo>
                    <a:lnTo>
                      <a:pt x="6" y="24"/>
                    </a:lnTo>
                    <a:lnTo>
                      <a:pt x="6" y="0"/>
                    </a:lnTo>
                    <a:close/>
                    <a:moveTo>
                      <a:pt x="18" y="12"/>
                    </a:moveTo>
                    <a:lnTo>
                      <a:pt x="18" y="0"/>
                    </a:lnTo>
                    <a:lnTo>
                      <a:pt x="6" y="0"/>
                    </a:lnTo>
                    <a:lnTo>
                      <a:pt x="6" y="12"/>
                    </a:lnTo>
                    <a:lnTo>
                      <a:pt x="1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5" name="Freeform 363"/>
              <p:cNvSpPr>
                <a:spLocks/>
              </p:cNvSpPr>
              <p:nvPr/>
            </p:nvSpPr>
            <p:spPr bwMode="auto">
              <a:xfrm>
                <a:off x="4524" y="2422"/>
                <a:ext cx="18" cy="18"/>
              </a:xfrm>
              <a:custGeom>
                <a:avLst/>
                <a:gdLst>
                  <a:gd name="T0" fmla="*/ 18 w 18"/>
                  <a:gd name="T1" fmla="*/ 0 h 18"/>
                  <a:gd name="T2" fmla="*/ 0 w 18"/>
                  <a:gd name="T3" fmla="*/ 0 h 18"/>
                  <a:gd name="T4" fmla="*/ 6 w 18"/>
                  <a:gd name="T5" fmla="*/ 18 h 18"/>
                  <a:gd name="T6" fmla="*/ 18 w 18"/>
                  <a:gd name="T7" fmla="*/ 12 h 18"/>
                  <a:gd name="T8" fmla="*/ 18 w 18"/>
                  <a:gd name="T9" fmla="*/ 0 h 18"/>
                </a:gdLst>
                <a:ahLst/>
                <a:cxnLst>
                  <a:cxn ang="0">
                    <a:pos x="T0" y="T1"/>
                  </a:cxn>
                  <a:cxn ang="0">
                    <a:pos x="T2" y="T3"/>
                  </a:cxn>
                  <a:cxn ang="0">
                    <a:pos x="T4" y="T5"/>
                  </a:cxn>
                  <a:cxn ang="0">
                    <a:pos x="T6" y="T7"/>
                  </a:cxn>
                  <a:cxn ang="0">
                    <a:pos x="T8" y="T9"/>
                  </a:cxn>
                </a:cxnLst>
                <a:rect l="0" t="0" r="r" b="b"/>
                <a:pathLst>
                  <a:path w="18" h="18">
                    <a:moveTo>
                      <a:pt x="18" y="0"/>
                    </a:moveTo>
                    <a:lnTo>
                      <a:pt x="0" y="0"/>
                    </a:lnTo>
                    <a:lnTo>
                      <a:pt x="6" y="18"/>
                    </a:lnTo>
                    <a:lnTo>
                      <a:pt x="18" y="12"/>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 name="Freeform 364"/>
              <p:cNvSpPr>
                <a:spLocks/>
              </p:cNvSpPr>
              <p:nvPr/>
            </p:nvSpPr>
            <p:spPr bwMode="auto">
              <a:xfrm>
                <a:off x="4536" y="2410"/>
                <a:ext cx="24" cy="18"/>
              </a:xfrm>
              <a:custGeom>
                <a:avLst/>
                <a:gdLst>
                  <a:gd name="T0" fmla="*/ 12 w 24"/>
                  <a:gd name="T1" fmla="*/ 0 h 18"/>
                  <a:gd name="T2" fmla="*/ 6 w 24"/>
                  <a:gd name="T3" fmla="*/ 6 h 18"/>
                  <a:gd name="T4" fmla="*/ 0 w 24"/>
                  <a:gd name="T5" fmla="*/ 12 h 18"/>
                  <a:gd name="T6" fmla="*/ 6 w 24"/>
                  <a:gd name="T7" fmla="*/ 18 h 18"/>
                  <a:gd name="T8" fmla="*/ 12 w 24"/>
                  <a:gd name="T9" fmla="*/ 18 h 18"/>
                  <a:gd name="T10" fmla="*/ 18 w 24"/>
                  <a:gd name="T11" fmla="*/ 18 h 18"/>
                  <a:gd name="T12" fmla="*/ 24 w 24"/>
                  <a:gd name="T13" fmla="*/ 18 h 18"/>
                  <a:gd name="T14" fmla="*/ 24 w 24"/>
                  <a:gd name="T15" fmla="*/ 12 h 18"/>
                  <a:gd name="T16" fmla="*/ 24 w 24"/>
                  <a:gd name="T17" fmla="*/ 6 h 18"/>
                  <a:gd name="T18" fmla="*/ 18 w 24"/>
                  <a:gd name="T19" fmla="*/ 0 h 18"/>
                  <a:gd name="T20" fmla="*/ 12 w 24"/>
                  <a:gd name="T21" fmla="*/ 0 h 18"/>
                  <a:gd name="T22" fmla="*/ 12 w 24"/>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12" y="0"/>
                    </a:moveTo>
                    <a:lnTo>
                      <a:pt x="6" y="6"/>
                    </a:lnTo>
                    <a:lnTo>
                      <a:pt x="0" y="12"/>
                    </a:lnTo>
                    <a:lnTo>
                      <a:pt x="6" y="18"/>
                    </a:lnTo>
                    <a:lnTo>
                      <a:pt x="12" y="18"/>
                    </a:lnTo>
                    <a:lnTo>
                      <a:pt x="18" y="18"/>
                    </a:lnTo>
                    <a:lnTo>
                      <a:pt x="24" y="18"/>
                    </a:lnTo>
                    <a:lnTo>
                      <a:pt x="24" y="12"/>
                    </a:lnTo>
                    <a:lnTo>
                      <a:pt x="24" y="6"/>
                    </a:lnTo>
                    <a:lnTo>
                      <a:pt x="18" y="0"/>
                    </a:lnTo>
                    <a:lnTo>
                      <a:pt x="12" y="0"/>
                    </a:lnTo>
                    <a:lnTo>
                      <a:pt x="12" y="0"/>
                    </a:lnTo>
                    <a:close/>
                  </a:path>
                </a:pathLst>
              </a:custGeom>
              <a:solidFill>
                <a:srgbClr val="214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 name="Freeform 365"/>
              <p:cNvSpPr>
                <a:spLocks/>
              </p:cNvSpPr>
              <p:nvPr/>
            </p:nvSpPr>
            <p:spPr bwMode="auto">
              <a:xfrm>
                <a:off x="4524" y="2398"/>
                <a:ext cx="24" cy="24"/>
              </a:xfrm>
              <a:custGeom>
                <a:avLst/>
                <a:gdLst>
                  <a:gd name="T0" fmla="*/ 24 w 24"/>
                  <a:gd name="T1" fmla="*/ 0 h 24"/>
                  <a:gd name="T2" fmla="*/ 6 w 24"/>
                  <a:gd name="T3" fmla="*/ 6 h 24"/>
                  <a:gd name="T4" fmla="*/ 0 w 24"/>
                  <a:gd name="T5" fmla="*/ 24 h 24"/>
                  <a:gd name="T6" fmla="*/ 24 w 24"/>
                  <a:gd name="T7" fmla="*/ 24 h 24"/>
                  <a:gd name="T8" fmla="*/ 24 w 24"/>
                  <a:gd name="T9" fmla="*/ 24 h 24"/>
                  <a:gd name="T10" fmla="*/ 24 w 24"/>
                  <a:gd name="T11" fmla="*/ 0 h 24"/>
                </a:gdLst>
                <a:ahLst/>
                <a:cxnLst>
                  <a:cxn ang="0">
                    <a:pos x="T0" y="T1"/>
                  </a:cxn>
                  <a:cxn ang="0">
                    <a:pos x="T2" y="T3"/>
                  </a:cxn>
                  <a:cxn ang="0">
                    <a:pos x="T4" y="T5"/>
                  </a:cxn>
                  <a:cxn ang="0">
                    <a:pos x="T6" y="T7"/>
                  </a:cxn>
                  <a:cxn ang="0">
                    <a:pos x="T8" y="T9"/>
                  </a:cxn>
                  <a:cxn ang="0">
                    <a:pos x="T10" y="T11"/>
                  </a:cxn>
                </a:cxnLst>
                <a:rect l="0" t="0" r="r" b="b"/>
                <a:pathLst>
                  <a:path w="24" h="24">
                    <a:moveTo>
                      <a:pt x="24" y="0"/>
                    </a:moveTo>
                    <a:lnTo>
                      <a:pt x="6" y="6"/>
                    </a:lnTo>
                    <a:lnTo>
                      <a:pt x="0" y="24"/>
                    </a:lnTo>
                    <a:lnTo>
                      <a:pt x="24" y="24"/>
                    </a:lnTo>
                    <a:lnTo>
                      <a:pt x="24" y="24"/>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 name="Freeform 366"/>
              <p:cNvSpPr>
                <a:spLocks noEditPoints="1"/>
              </p:cNvSpPr>
              <p:nvPr/>
            </p:nvSpPr>
            <p:spPr bwMode="auto">
              <a:xfrm>
                <a:off x="4524" y="2416"/>
                <a:ext cx="24" cy="24"/>
              </a:xfrm>
              <a:custGeom>
                <a:avLst/>
                <a:gdLst>
                  <a:gd name="T0" fmla="*/ 0 w 24"/>
                  <a:gd name="T1" fmla="*/ 6 h 24"/>
                  <a:gd name="T2" fmla="*/ 6 w 24"/>
                  <a:gd name="T3" fmla="*/ 18 h 24"/>
                  <a:gd name="T4" fmla="*/ 24 w 24"/>
                  <a:gd name="T5" fmla="*/ 24 h 24"/>
                  <a:gd name="T6" fmla="*/ 24 w 24"/>
                  <a:gd name="T7" fmla="*/ 0 h 24"/>
                  <a:gd name="T8" fmla="*/ 24 w 24"/>
                  <a:gd name="T9" fmla="*/ 6 h 24"/>
                  <a:gd name="T10" fmla="*/ 24 w 24"/>
                  <a:gd name="T11" fmla="*/ 6 h 24"/>
                  <a:gd name="T12" fmla="*/ 0 w 24"/>
                  <a:gd name="T13" fmla="*/ 6 h 24"/>
                  <a:gd name="T14" fmla="*/ 24 w 24"/>
                  <a:gd name="T15" fmla="*/ 6 h 24"/>
                  <a:gd name="T16" fmla="*/ 24 w 24"/>
                  <a:gd name="T17" fmla="*/ 6 h 24"/>
                  <a:gd name="T18" fmla="*/ 12 w 24"/>
                  <a:gd name="T19" fmla="*/ 6 h 24"/>
                  <a:gd name="T20" fmla="*/ 24 w 24"/>
                  <a:gd name="T21"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0" y="6"/>
                    </a:moveTo>
                    <a:lnTo>
                      <a:pt x="6" y="18"/>
                    </a:lnTo>
                    <a:lnTo>
                      <a:pt x="24" y="24"/>
                    </a:lnTo>
                    <a:lnTo>
                      <a:pt x="24" y="0"/>
                    </a:lnTo>
                    <a:lnTo>
                      <a:pt x="24" y="6"/>
                    </a:lnTo>
                    <a:lnTo>
                      <a:pt x="24" y="6"/>
                    </a:lnTo>
                    <a:lnTo>
                      <a:pt x="0" y="6"/>
                    </a:lnTo>
                    <a:close/>
                    <a:moveTo>
                      <a:pt x="24" y="6"/>
                    </a:moveTo>
                    <a:lnTo>
                      <a:pt x="24" y="6"/>
                    </a:lnTo>
                    <a:lnTo>
                      <a:pt x="12" y="6"/>
                    </a:lnTo>
                    <a:lnTo>
                      <a:pt x="2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 name="Freeform 367"/>
              <p:cNvSpPr>
                <a:spLocks noEditPoints="1"/>
              </p:cNvSpPr>
              <p:nvPr/>
            </p:nvSpPr>
            <p:spPr bwMode="auto">
              <a:xfrm>
                <a:off x="4548" y="2416"/>
                <a:ext cx="6" cy="24"/>
              </a:xfrm>
              <a:custGeom>
                <a:avLst/>
                <a:gdLst>
                  <a:gd name="T0" fmla="*/ 0 w 6"/>
                  <a:gd name="T1" fmla="*/ 24 h 24"/>
                  <a:gd name="T2" fmla="*/ 6 w 6"/>
                  <a:gd name="T3" fmla="*/ 24 h 24"/>
                  <a:gd name="T4" fmla="*/ 6 w 6"/>
                  <a:gd name="T5" fmla="*/ 0 h 24"/>
                  <a:gd name="T6" fmla="*/ 0 w 6"/>
                  <a:gd name="T7" fmla="*/ 0 h 24"/>
                  <a:gd name="T8" fmla="*/ 0 w 6"/>
                  <a:gd name="T9" fmla="*/ 24 h 24"/>
                  <a:gd name="T10" fmla="*/ 0 w 6"/>
                  <a:gd name="T11" fmla="*/ 0 h 24"/>
                  <a:gd name="T12" fmla="*/ 0 w 6"/>
                  <a:gd name="T13" fmla="*/ 0 h 24"/>
                  <a:gd name="T14" fmla="*/ 0 w 6"/>
                  <a:gd name="T15" fmla="*/ 12 h 24"/>
                  <a:gd name="T16" fmla="*/ 0 w 6"/>
                  <a:gd name="T1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4">
                    <a:moveTo>
                      <a:pt x="0" y="24"/>
                    </a:moveTo>
                    <a:lnTo>
                      <a:pt x="6" y="24"/>
                    </a:lnTo>
                    <a:lnTo>
                      <a:pt x="6" y="0"/>
                    </a:lnTo>
                    <a:lnTo>
                      <a:pt x="0" y="0"/>
                    </a:lnTo>
                    <a:lnTo>
                      <a:pt x="0" y="24"/>
                    </a:lnTo>
                    <a:close/>
                    <a:moveTo>
                      <a:pt x="0" y="0"/>
                    </a:moveTo>
                    <a:lnTo>
                      <a:pt x="0" y="0"/>
                    </a:lnTo>
                    <a:lnTo>
                      <a:pt x="0" y="1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 name="Freeform 368"/>
              <p:cNvSpPr>
                <a:spLocks noEditPoints="1"/>
              </p:cNvSpPr>
              <p:nvPr/>
            </p:nvSpPr>
            <p:spPr bwMode="auto">
              <a:xfrm>
                <a:off x="4548" y="2416"/>
                <a:ext cx="24" cy="24"/>
              </a:xfrm>
              <a:custGeom>
                <a:avLst/>
                <a:gdLst>
                  <a:gd name="T0" fmla="*/ 6 w 24"/>
                  <a:gd name="T1" fmla="*/ 24 h 24"/>
                  <a:gd name="T2" fmla="*/ 18 w 24"/>
                  <a:gd name="T3" fmla="*/ 18 h 24"/>
                  <a:gd name="T4" fmla="*/ 24 w 24"/>
                  <a:gd name="T5" fmla="*/ 6 h 24"/>
                  <a:gd name="T6" fmla="*/ 0 w 24"/>
                  <a:gd name="T7" fmla="*/ 6 h 24"/>
                  <a:gd name="T8" fmla="*/ 0 w 24"/>
                  <a:gd name="T9" fmla="*/ 6 h 24"/>
                  <a:gd name="T10" fmla="*/ 6 w 24"/>
                  <a:gd name="T11" fmla="*/ 0 h 24"/>
                  <a:gd name="T12" fmla="*/ 6 w 24"/>
                  <a:gd name="T13" fmla="*/ 24 h 24"/>
                  <a:gd name="T14" fmla="*/ 6 w 24"/>
                  <a:gd name="T15" fmla="*/ 0 h 24"/>
                  <a:gd name="T16" fmla="*/ 6 w 24"/>
                  <a:gd name="T17" fmla="*/ 0 h 24"/>
                  <a:gd name="T18" fmla="*/ 6 w 24"/>
                  <a:gd name="T19" fmla="*/ 12 h 24"/>
                  <a:gd name="T20" fmla="*/ 6 w 24"/>
                  <a:gd name="T21"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6" y="24"/>
                    </a:moveTo>
                    <a:lnTo>
                      <a:pt x="18" y="18"/>
                    </a:lnTo>
                    <a:lnTo>
                      <a:pt x="24" y="6"/>
                    </a:lnTo>
                    <a:lnTo>
                      <a:pt x="0" y="6"/>
                    </a:lnTo>
                    <a:lnTo>
                      <a:pt x="0" y="6"/>
                    </a:lnTo>
                    <a:lnTo>
                      <a:pt x="6" y="0"/>
                    </a:lnTo>
                    <a:lnTo>
                      <a:pt x="6" y="24"/>
                    </a:lnTo>
                    <a:close/>
                    <a:moveTo>
                      <a:pt x="6" y="0"/>
                    </a:moveTo>
                    <a:lnTo>
                      <a:pt x="6" y="0"/>
                    </a:lnTo>
                    <a:lnTo>
                      <a:pt x="6" y="1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 name="Freeform 369"/>
              <p:cNvSpPr>
                <a:spLocks noEditPoints="1"/>
              </p:cNvSpPr>
              <p:nvPr/>
            </p:nvSpPr>
            <p:spPr bwMode="auto">
              <a:xfrm>
                <a:off x="4548" y="2398"/>
                <a:ext cx="24" cy="24"/>
              </a:xfrm>
              <a:custGeom>
                <a:avLst/>
                <a:gdLst>
                  <a:gd name="T0" fmla="*/ 24 w 24"/>
                  <a:gd name="T1" fmla="*/ 24 h 24"/>
                  <a:gd name="T2" fmla="*/ 18 w 24"/>
                  <a:gd name="T3" fmla="*/ 6 h 24"/>
                  <a:gd name="T4" fmla="*/ 6 w 24"/>
                  <a:gd name="T5" fmla="*/ 0 h 24"/>
                  <a:gd name="T6" fmla="*/ 6 w 24"/>
                  <a:gd name="T7" fmla="*/ 24 h 24"/>
                  <a:gd name="T8" fmla="*/ 0 w 24"/>
                  <a:gd name="T9" fmla="*/ 24 h 24"/>
                  <a:gd name="T10" fmla="*/ 0 w 24"/>
                  <a:gd name="T11" fmla="*/ 24 h 24"/>
                  <a:gd name="T12" fmla="*/ 24 w 24"/>
                  <a:gd name="T13" fmla="*/ 24 h 24"/>
                  <a:gd name="T14" fmla="*/ 0 w 24"/>
                  <a:gd name="T15" fmla="*/ 24 h 24"/>
                  <a:gd name="T16" fmla="*/ 0 w 24"/>
                  <a:gd name="T17" fmla="*/ 24 h 24"/>
                  <a:gd name="T18" fmla="*/ 12 w 24"/>
                  <a:gd name="T19" fmla="*/ 24 h 24"/>
                  <a:gd name="T20" fmla="*/ 0 w 24"/>
                  <a:gd name="T2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24" y="24"/>
                    </a:moveTo>
                    <a:lnTo>
                      <a:pt x="18" y="6"/>
                    </a:lnTo>
                    <a:lnTo>
                      <a:pt x="6" y="0"/>
                    </a:lnTo>
                    <a:lnTo>
                      <a:pt x="6" y="24"/>
                    </a:lnTo>
                    <a:lnTo>
                      <a:pt x="0" y="24"/>
                    </a:lnTo>
                    <a:lnTo>
                      <a:pt x="0" y="24"/>
                    </a:lnTo>
                    <a:lnTo>
                      <a:pt x="24" y="24"/>
                    </a:lnTo>
                    <a:close/>
                    <a:moveTo>
                      <a:pt x="0" y="24"/>
                    </a:moveTo>
                    <a:lnTo>
                      <a:pt x="0" y="24"/>
                    </a:lnTo>
                    <a:lnTo>
                      <a:pt x="12"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2" name="Freeform 370"/>
              <p:cNvSpPr>
                <a:spLocks noEditPoints="1"/>
              </p:cNvSpPr>
              <p:nvPr/>
            </p:nvSpPr>
            <p:spPr bwMode="auto">
              <a:xfrm>
                <a:off x="4548" y="2398"/>
                <a:ext cx="6" cy="24"/>
              </a:xfrm>
              <a:custGeom>
                <a:avLst/>
                <a:gdLst>
                  <a:gd name="T0" fmla="*/ 6 w 6"/>
                  <a:gd name="T1" fmla="*/ 0 h 24"/>
                  <a:gd name="T2" fmla="*/ 0 w 6"/>
                  <a:gd name="T3" fmla="*/ 0 h 24"/>
                  <a:gd name="T4" fmla="*/ 0 w 6"/>
                  <a:gd name="T5" fmla="*/ 24 h 24"/>
                  <a:gd name="T6" fmla="*/ 6 w 6"/>
                  <a:gd name="T7" fmla="*/ 24 h 24"/>
                  <a:gd name="T8" fmla="*/ 6 w 6"/>
                  <a:gd name="T9" fmla="*/ 0 h 24"/>
                  <a:gd name="T10" fmla="*/ 6 w 6"/>
                  <a:gd name="T11" fmla="*/ 24 h 24"/>
                  <a:gd name="T12" fmla="*/ 6 w 6"/>
                  <a:gd name="T13" fmla="*/ 24 h 24"/>
                  <a:gd name="T14" fmla="*/ 6 w 6"/>
                  <a:gd name="T15" fmla="*/ 12 h 24"/>
                  <a:gd name="T16" fmla="*/ 6 w 6"/>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4">
                    <a:moveTo>
                      <a:pt x="6" y="0"/>
                    </a:moveTo>
                    <a:lnTo>
                      <a:pt x="0" y="0"/>
                    </a:lnTo>
                    <a:lnTo>
                      <a:pt x="0" y="24"/>
                    </a:lnTo>
                    <a:lnTo>
                      <a:pt x="6" y="24"/>
                    </a:lnTo>
                    <a:lnTo>
                      <a:pt x="6" y="0"/>
                    </a:lnTo>
                    <a:close/>
                    <a:moveTo>
                      <a:pt x="6" y="24"/>
                    </a:moveTo>
                    <a:lnTo>
                      <a:pt x="6" y="24"/>
                    </a:lnTo>
                    <a:lnTo>
                      <a:pt x="6" y="12"/>
                    </a:lnTo>
                    <a:lnTo>
                      <a:pt x="6"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3" name="Freeform 371"/>
              <p:cNvSpPr>
                <a:spLocks/>
              </p:cNvSpPr>
              <p:nvPr/>
            </p:nvSpPr>
            <p:spPr bwMode="auto">
              <a:xfrm>
                <a:off x="4548" y="2410"/>
                <a:ext cx="1" cy="12"/>
              </a:xfrm>
              <a:custGeom>
                <a:avLst/>
                <a:gdLst>
                  <a:gd name="T0" fmla="*/ 12 h 12"/>
                  <a:gd name="T1" fmla="*/ 12 h 12"/>
                  <a:gd name="T2" fmla="*/ 0 h 12"/>
                  <a:gd name="T3" fmla="*/ 12 h 12"/>
                </a:gdLst>
                <a:ahLst/>
                <a:cxnLst>
                  <a:cxn ang="0">
                    <a:pos x="0" y="T0"/>
                  </a:cxn>
                  <a:cxn ang="0">
                    <a:pos x="0" y="T1"/>
                  </a:cxn>
                  <a:cxn ang="0">
                    <a:pos x="0" y="T2"/>
                  </a:cxn>
                  <a:cxn ang="0">
                    <a:pos x="0" y="T3"/>
                  </a:cxn>
                </a:cxnLst>
                <a:rect l="0" t="0" r="r" b="b"/>
                <a:pathLst>
                  <a:path h="12">
                    <a:moveTo>
                      <a:pt x="0" y="12"/>
                    </a:moveTo>
                    <a:lnTo>
                      <a:pt x="0" y="12"/>
                    </a:lnTo>
                    <a:lnTo>
                      <a:pt x="0"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 name="Freeform 372"/>
              <p:cNvSpPr>
                <a:spLocks/>
              </p:cNvSpPr>
              <p:nvPr/>
            </p:nvSpPr>
            <p:spPr bwMode="auto">
              <a:xfrm>
                <a:off x="4548" y="2386"/>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 name="Freeform 373"/>
              <p:cNvSpPr>
                <a:spLocks/>
              </p:cNvSpPr>
              <p:nvPr/>
            </p:nvSpPr>
            <p:spPr bwMode="auto">
              <a:xfrm>
                <a:off x="4548" y="2357"/>
                <a:ext cx="6" cy="6"/>
              </a:xfrm>
              <a:custGeom>
                <a:avLst/>
                <a:gdLst>
                  <a:gd name="T0" fmla="*/ 0 w 6"/>
                  <a:gd name="T1" fmla="*/ 0 h 6"/>
                  <a:gd name="T2" fmla="*/ 0 w 6"/>
                  <a:gd name="T3" fmla="*/ 0 h 6"/>
                  <a:gd name="T4" fmla="*/ 0 w 6"/>
                  <a:gd name="T5" fmla="*/ 6 h 6"/>
                  <a:gd name="T6" fmla="*/ 0 w 6"/>
                  <a:gd name="T7" fmla="*/ 6 h 6"/>
                  <a:gd name="T8" fmla="*/ 6 w 6"/>
                  <a:gd name="T9" fmla="*/ 6 h 6"/>
                  <a:gd name="T10" fmla="*/ 6 w 6"/>
                  <a:gd name="T11" fmla="*/ 0 h 6"/>
                  <a:gd name="T12" fmla="*/ 6 w 6"/>
                  <a:gd name="T13" fmla="*/ 0 h 6"/>
                  <a:gd name="T14" fmla="*/ 0 w 6"/>
                  <a:gd name="T15" fmla="*/ 0 h 6"/>
                  <a:gd name="T16" fmla="*/ 0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0" y="0"/>
                    </a:moveTo>
                    <a:lnTo>
                      <a:pt x="0" y="0"/>
                    </a:lnTo>
                    <a:lnTo>
                      <a:pt x="0" y="6"/>
                    </a:lnTo>
                    <a:lnTo>
                      <a:pt x="0" y="6"/>
                    </a:lnTo>
                    <a:lnTo>
                      <a:pt x="6" y="6"/>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 name="Freeform 374"/>
              <p:cNvSpPr>
                <a:spLocks/>
              </p:cNvSpPr>
              <p:nvPr/>
            </p:nvSpPr>
            <p:spPr bwMode="auto">
              <a:xfrm>
                <a:off x="4548" y="2363"/>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7" name="Freeform 375"/>
              <p:cNvSpPr>
                <a:spLocks/>
              </p:cNvSpPr>
              <p:nvPr/>
            </p:nvSpPr>
            <p:spPr bwMode="auto">
              <a:xfrm>
                <a:off x="4548" y="2369"/>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8" name="Freeform 376"/>
              <p:cNvSpPr>
                <a:spLocks/>
              </p:cNvSpPr>
              <p:nvPr/>
            </p:nvSpPr>
            <p:spPr bwMode="auto">
              <a:xfrm>
                <a:off x="4548" y="2375"/>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9" name="Freeform 377"/>
              <p:cNvSpPr>
                <a:spLocks/>
              </p:cNvSpPr>
              <p:nvPr/>
            </p:nvSpPr>
            <p:spPr bwMode="auto">
              <a:xfrm>
                <a:off x="4548" y="2375"/>
                <a:ext cx="6" cy="6"/>
              </a:xfrm>
              <a:custGeom>
                <a:avLst/>
                <a:gdLst>
                  <a:gd name="T0" fmla="*/ 0 w 6"/>
                  <a:gd name="T1" fmla="*/ 0 h 6"/>
                  <a:gd name="T2" fmla="*/ 0 w 6"/>
                  <a:gd name="T3" fmla="*/ 0 h 6"/>
                  <a:gd name="T4" fmla="*/ 0 w 6"/>
                  <a:gd name="T5" fmla="*/ 6 h 6"/>
                  <a:gd name="T6" fmla="*/ 0 w 6"/>
                  <a:gd name="T7" fmla="*/ 6 h 6"/>
                  <a:gd name="T8" fmla="*/ 6 w 6"/>
                  <a:gd name="T9" fmla="*/ 6 h 6"/>
                  <a:gd name="T10" fmla="*/ 6 w 6"/>
                  <a:gd name="T11" fmla="*/ 0 h 6"/>
                  <a:gd name="T12" fmla="*/ 6 w 6"/>
                  <a:gd name="T13" fmla="*/ 0 h 6"/>
                  <a:gd name="T14" fmla="*/ 0 w 6"/>
                  <a:gd name="T15" fmla="*/ 0 h 6"/>
                  <a:gd name="T16" fmla="*/ 0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0" y="0"/>
                    </a:moveTo>
                    <a:lnTo>
                      <a:pt x="0" y="0"/>
                    </a:lnTo>
                    <a:lnTo>
                      <a:pt x="0" y="6"/>
                    </a:lnTo>
                    <a:lnTo>
                      <a:pt x="0" y="6"/>
                    </a:lnTo>
                    <a:lnTo>
                      <a:pt x="6" y="6"/>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0" name="Freeform 378"/>
              <p:cNvSpPr>
                <a:spLocks/>
              </p:cNvSpPr>
              <p:nvPr/>
            </p:nvSpPr>
            <p:spPr bwMode="auto">
              <a:xfrm>
                <a:off x="4548" y="2381"/>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1" name="Freeform 379"/>
              <p:cNvSpPr>
                <a:spLocks/>
              </p:cNvSpPr>
              <p:nvPr/>
            </p:nvSpPr>
            <p:spPr bwMode="auto">
              <a:xfrm>
                <a:off x="4548" y="2357"/>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2" name="Freeform 380"/>
              <p:cNvSpPr>
                <a:spLocks/>
              </p:cNvSpPr>
              <p:nvPr/>
            </p:nvSpPr>
            <p:spPr bwMode="auto">
              <a:xfrm>
                <a:off x="4548" y="2392"/>
                <a:ext cx="6" cy="6"/>
              </a:xfrm>
              <a:custGeom>
                <a:avLst/>
                <a:gdLst>
                  <a:gd name="T0" fmla="*/ 0 w 6"/>
                  <a:gd name="T1" fmla="*/ 0 h 6"/>
                  <a:gd name="T2" fmla="*/ 0 w 6"/>
                  <a:gd name="T3" fmla="*/ 0 h 6"/>
                  <a:gd name="T4" fmla="*/ 0 w 6"/>
                  <a:gd name="T5" fmla="*/ 6 h 6"/>
                  <a:gd name="T6" fmla="*/ 0 w 6"/>
                  <a:gd name="T7" fmla="*/ 6 h 6"/>
                  <a:gd name="T8" fmla="*/ 6 w 6"/>
                  <a:gd name="T9" fmla="*/ 6 h 6"/>
                  <a:gd name="T10" fmla="*/ 6 w 6"/>
                  <a:gd name="T11" fmla="*/ 6 h 6"/>
                  <a:gd name="T12" fmla="*/ 6 w 6"/>
                  <a:gd name="T13" fmla="*/ 0 h 6"/>
                  <a:gd name="T14" fmla="*/ 0 w 6"/>
                  <a:gd name="T15" fmla="*/ 0 h 6"/>
                  <a:gd name="T16" fmla="*/ 0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0" y="0"/>
                    </a:moveTo>
                    <a:lnTo>
                      <a:pt x="0" y="0"/>
                    </a:lnTo>
                    <a:lnTo>
                      <a:pt x="0" y="6"/>
                    </a:lnTo>
                    <a:lnTo>
                      <a:pt x="0" y="6"/>
                    </a:lnTo>
                    <a:lnTo>
                      <a:pt x="6" y="6"/>
                    </a:lnTo>
                    <a:lnTo>
                      <a:pt x="6" y="6"/>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3" name="Freeform 381"/>
              <p:cNvSpPr>
                <a:spLocks/>
              </p:cNvSpPr>
              <p:nvPr/>
            </p:nvSpPr>
            <p:spPr bwMode="auto">
              <a:xfrm>
                <a:off x="4542" y="2422"/>
                <a:ext cx="12" cy="1"/>
              </a:xfrm>
              <a:custGeom>
                <a:avLst/>
                <a:gdLst>
                  <a:gd name="T0" fmla="*/ 6 w 12"/>
                  <a:gd name="T1" fmla="*/ 6 w 12"/>
                  <a:gd name="T2" fmla="*/ 0 w 12"/>
                  <a:gd name="T3" fmla="*/ 6 w 12"/>
                  <a:gd name="T4" fmla="*/ 6 w 12"/>
                  <a:gd name="T5" fmla="*/ 12 w 12"/>
                  <a:gd name="T6" fmla="*/ 12 w 12"/>
                  <a:gd name="T7" fmla="*/ 12 w 12"/>
                  <a:gd name="T8" fmla="*/ 6 w 12"/>
                  <a:gd name="T9" fmla="*/ 6 w 12"/>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2">
                    <a:moveTo>
                      <a:pt x="6" y="0"/>
                    </a:moveTo>
                    <a:lnTo>
                      <a:pt x="6" y="0"/>
                    </a:lnTo>
                    <a:lnTo>
                      <a:pt x="0" y="0"/>
                    </a:lnTo>
                    <a:lnTo>
                      <a:pt x="6" y="0"/>
                    </a:lnTo>
                    <a:lnTo>
                      <a:pt x="6" y="0"/>
                    </a:lnTo>
                    <a:lnTo>
                      <a:pt x="12" y="0"/>
                    </a:lnTo>
                    <a:lnTo>
                      <a:pt x="12" y="0"/>
                    </a:lnTo>
                    <a:lnTo>
                      <a:pt x="12" y="0"/>
                    </a:lnTo>
                    <a:lnTo>
                      <a:pt x="6" y="0"/>
                    </a:lnTo>
                    <a:lnTo>
                      <a:pt x="6"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4" name="Freeform 382"/>
              <p:cNvSpPr>
                <a:spLocks/>
              </p:cNvSpPr>
              <p:nvPr/>
            </p:nvSpPr>
            <p:spPr bwMode="auto">
              <a:xfrm>
                <a:off x="4548" y="2434"/>
                <a:ext cx="6" cy="1"/>
              </a:xfrm>
              <a:custGeom>
                <a:avLst/>
                <a:gdLst>
                  <a:gd name="T0" fmla="*/ 0 w 6"/>
                  <a:gd name="T1" fmla="*/ 0 w 6"/>
                  <a:gd name="T2" fmla="*/ 0 w 6"/>
                  <a:gd name="T3" fmla="*/ 6 w 6"/>
                  <a:gd name="T4" fmla="*/ 6 w 6"/>
                  <a:gd name="T5" fmla="*/ 6 w 6"/>
                  <a:gd name="T6" fmla="*/ 0 w 6"/>
                  <a:gd name="T7" fmla="*/ 0 w 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6">
                    <a:moveTo>
                      <a:pt x="0" y="0"/>
                    </a:moveTo>
                    <a:lnTo>
                      <a:pt x="0" y="0"/>
                    </a:lnTo>
                    <a:lnTo>
                      <a:pt x="0" y="0"/>
                    </a:lnTo>
                    <a:lnTo>
                      <a:pt x="6" y="0"/>
                    </a:lnTo>
                    <a:lnTo>
                      <a:pt x="6" y="0"/>
                    </a:lnTo>
                    <a:lnTo>
                      <a:pt x="6" y="0"/>
                    </a:lnTo>
                    <a:lnTo>
                      <a:pt x="0" y="0"/>
                    </a:lnTo>
                    <a:lnTo>
                      <a:pt x="0" y="0"/>
                    </a:lnTo>
                    <a:close/>
                  </a:path>
                </a:pathLst>
              </a:custGeom>
              <a:solidFill>
                <a:srgbClr val="CCE70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92" name="Text Box 383"/>
            <p:cNvSpPr txBox="1">
              <a:spLocks noChangeArrowheads="1"/>
            </p:cNvSpPr>
            <p:nvPr/>
          </p:nvSpPr>
          <p:spPr bwMode="auto">
            <a:xfrm>
              <a:off x="7071520" y="655929"/>
              <a:ext cx="4048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eaLnBrk="0" hangingPunct="0"/>
              <a:r>
                <a:rPr lang="en-US" altLang="zh-CN" sz="2400" b="1" i="1">
                  <a:solidFill>
                    <a:srgbClr val="FFFF00"/>
                  </a:solidFill>
                  <a:latin typeface="Times New Roman" pitchFamily="18" charset="0"/>
                </a:rPr>
                <a:t>O</a:t>
              </a:r>
              <a:endParaRPr lang="en-US" altLang="zh-CN" sz="2400" b="1" i="1">
                <a:latin typeface="Times New Roman" pitchFamily="18" charset="0"/>
              </a:endParaRPr>
            </a:p>
          </p:txBody>
        </p:sp>
        <p:graphicFrame>
          <p:nvGraphicFramePr>
            <p:cNvPr id="393" name="Object 384"/>
            <p:cNvGraphicFramePr>
              <a:graphicFrameLocks/>
            </p:cNvGraphicFramePr>
            <p:nvPr>
              <p:extLst>
                <p:ext uri="{D42A27DB-BD31-4B8C-83A1-F6EECF244321}">
                  <p14:modId xmlns:p14="http://schemas.microsoft.com/office/powerpoint/2010/main" val="903801030"/>
                </p:ext>
              </p:extLst>
            </p:nvPr>
          </p:nvGraphicFramePr>
          <p:xfrm>
            <a:off x="7639845" y="541629"/>
            <a:ext cx="331787" cy="503237"/>
          </p:xfrm>
          <a:graphic>
            <a:graphicData uri="http://schemas.openxmlformats.org/presentationml/2006/ole">
              <mc:AlternateContent xmlns:mc="http://schemas.openxmlformats.org/markup-compatibility/2006">
                <mc:Choice xmlns:v="urn:schemas-microsoft-com:vml" Requires="v">
                  <p:oleObj spid="_x0000_s43065" name="Equation" r:id="rId17" imgW="152280" imgH="419040" progId="Equation.3">
                    <p:embed/>
                  </p:oleObj>
                </mc:Choice>
                <mc:Fallback>
                  <p:oleObj name="Equation" r:id="rId17" imgW="152280" imgH="419040" progId="Equation.3">
                    <p:embed/>
                    <p:pic>
                      <p:nvPicPr>
                        <p:cNvPr id="0" name=""/>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639845" y="541629"/>
                          <a:ext cx="331787"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4" name="Rectangle 385"/>
            <p:cNvSpPr>
              <a:spLocks noChangeArrowheads="1"/>
            </p:cNvSpPr>
            <p:nvPr/>
          </p:nvSpPr>
          <p:spPr bwMode="auto">
            <a:xfrm rot="1463351">
              <a:off x="7639845" y="1303629"/>
              <a:ext cx="3032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eaLnBrk="0" hangingPunct="0"/>
              <a:r>
                <a:rPr lang="en-US" altLang="zh-CN" sz="2400" b="1" i="1">
                  <a:solidFill>
                    <a:srgbClr val="00FF00"/>
                  </a:solidFill>
                  <a:latin typeface="Times New Roman" pitchFamily="18" charset="0"/>
                </a:rPr>
                <a:t>r</a:t>
              </a:r>
            </a:p>
          </p:txBody>
        </p:sp>
        <p:sp>
          <p:nvSpPr>
            <p:cNvPr id="395" name="Arc 386"/>
            <p:cNvSpPr>
              <a:spLocks/>
            </p:cNvSpPr>
            <p:nvPr/>
          </p:nvSpPr>
          <p:spPr bwMode="auto">
            <a:xfrm flipH="1">
              <a:off x="6561932" y="771816"/>
              <a:ext cx="76200" cy="3048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FF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96" name="Text Box 387"/>
            <p:cNvSpPr txBox="1">
              <a:spLocks noChangeArrowheads="1"/>
            </p:cNvSpPr>
            <p:nvPr/>
          </p:nvSpPr>
          <p:spPr bwMode="auto">
            <a:xfrm>
              <a:off x="6115845" y="617829"/>
              <a:ext cx="342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0" hangingPunct="0"/>
              <a:r>
                <a:rPr lang="en-US" altLang="zh-CN" sz="2400" b="1" i="1">
                  <a:solidFill>
                    <a:srgbClr val="FFFF00"/>
                  </a:solidFill>
                  <a:latin typeface="Times New Roman" pitchFamily="18" charset="0"/>
                  <a:sym typeface="Symbol" pitchFamily="18" charset="2"/>
                </a:rPr>
                <a:t></a:t>
              </a:r>
              <a:endParaRPr lang="en-US" altLang="zh-CN" sz="2400" b="1" i="1">
                <a:latin typeface="Times New Roman" pitchFamily="18" charset="0"/>
              </a:endParaRPr>
            </a:p>
          </p:txBody>
        </p:sp>
      </p:grpSp>
      <p:sp>
        <p:nvSpPr>
          <p:cNvPr id="398" name="Text Box 7"/>
          <p:cNvSpPr txBox="1">
            <a:spLocks noChangeArrowheads="1"/>
          </p:cNvSpPr>
          <p:nvPr/>
        </p:nvSpPr>
        <p:spPr bwMode="auto">
          <a:xfrm>
            <a:off x="659836" y="1380291"/>
            <a:ext cx="684832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FFC000"/>
                </a:solidFill>
                <a:latin typeface="Times New Roman" pitchFamily="18" charset="0"/>
              </a:rPr>
              <a:t>杆和虫组成的系统重力矩在变，转动惯量也在变</a:t>
            </a:r>
            <a:endParaRPr lang="en-US" altLang="zh-CN" sz="2400" b="1" dirty="0">
              <a:solidFill>
                <a:srgbClr val="FFC000"/>
              </a:solidFill>
              <a:latin typeface="Times New Roman" pitchFamily="18" charset="0"/>
            </a:endParaRPr>
          </a:p>
          <a:p>
            <a:pPr>
              <a:spcBef>
                <a:spcPct val="50000"/>
              </a:spcBef>
            </a:pPr>
            <a:r>
              <a:rPr lang="zh-CN" altLang="en-US" sz="2400" b="1" dirty="0">
                <a:solidFill>
                  <a:schemeClr val="bg1"/>
                </a:solidFill>
                <a:latin typeface="Times New Roman" pitchFamily="18" charset="0"/>
              </a:rPr>
              <a:t>可以</a:t>
            </a:r>
            <a:r>
              <a:rPr lang="zh-CN" altLang="en-US" sz="2400" b="1" dirty="0">
                <a:solidFill>
                  <a:srgbClr val="92D050"/>
                </a:solidFill>
                <a:latin typeface="Times New Roman" pitchFamily="18" charset="0"/>
              </a:rPr>
              <a:t>类比变质量牛顿第二定律</a:t>
            </a:r>
            <a:r>
              <a:rPr lang="zh-CN" altLang="en-US" sz="2400" b="1" dirty="0">
                <a:solidFill>
                  <a:schemeClr val="bg1"/>
                </a:solidFill>
                <a:latin typeface="Times New Roman" pitchFamily="18" charset="0"/>
              </a:rPr>
              <a:t>问题的处理思路！</a:t>
            </a:r>
          </a:p>
        </p:txBody>
      </p:sp>
    </p:spTree>
    <p:extLst>
      <p:ext uri="{BB962C8B-B14F-4D97-AF65-F5344CB8AC3E}">
        <p14:creationId xmlns:p14="http://schemas.microsoft.com/office/powerpoint/2010/main" val="3879037877"/>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235"/>
                                        </p:tgtEl>
                                        <p:attrNameLst>
                                          <p:attrName>style.visibility</p:attrName>
                                        </p:attrNameLst>
                                      </p:cBhvr>
                                      <p:to>
                                        <p:strVal val="visible"/>
                                      </p:to>
                                    </p:set>
                                    <p:animEffect transition="in" filter="wipe(left)">
                                      <p:cBhvr>
                                        <p:cTn id="7" dur="500"/>
                                        <p:tgtEl>
                                          <p:spTgt spid="522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2236"/>
                                        </p:tgtEl>
                                        <p:attrNameLst>
                                          <p:attrName>style.visibility</p:attrName>
                                        </p:attrNameLst>
                                      </p:cBhvr>
                                      <p:to>
                                        <p:strVal val="visible"/>
                                      </p:to>
                                    </p:set>
                                    <p:animEffect transition="in" filter="wipe(left)">
                                      <p:cBhvr>
                                        <p:cTn id="12" dur="500"/>
                                        <p:tgtEl>
                                          <p:spTgt spid="522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98"/>
                                        </p:tgtEl>
                                        <p:attrNameLst>
                                          <p:attrName>style.visibility</p:attrName>
                                        </p:attrNameLst>
                                      </p:cBhvr>
                                      <p:to>
                                        <p:strVal val="visible"/>
                                      </p:to>
                                    </p:set>
                                    <p:animEffect transition="in" filter="wipe(left)">
                                      <p:cBhvr>
                                        <p:cTn id="17" dur="500"/>
                                        <p:tgtEl>
                                          <p:spTgt spid="3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2231"/>
                                        </p:tgtEl>
                                        <p:attrNameLst>
                                          <p:attrName>style.visibility</p:attrName>
                                        </p:attrNameLst>
                                      </p:cBhvr>
                                      <p:to>
                                        <p:strVal val="visible"/>
                                      </p:to>
                                    </p:set>
                                    <p:animEffect transition="in" filter="wipe(left)">
                                      <p:cBhvr>
                                        <p:cTn id="22" dur="500"/>
                                        <p:tgtEl>
                                          <p:spTgt spid="522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2232"/>
                                        </p:tgtEl>
                                        <p:attrNameLst>
                                          <p:attrName>style.visibility</p:attrName>
                                        </p:attrNameLst>
                                      </p:cBhvr>
                                      <p:to>
                                        <p:strVal val="visible"/>
                                      </p:to>
                                    </p:set>
                                    <p:animEffect transition="in" filter="wipe(left)">
                                      <p:cBhvr>
                                        <p:cTn id="27" dur="500"/>
                                        <p:tgtEl>
                                          <p:spTgt spid="522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2226"/>
                                        </p:tgtEl>
                                        <p:attrNameLst>
                                          <p:attrName>style.visibility</p:attrName>
                                        </p:attrNameLst>
                                      </p:cBhvr>
                                      <p:to>
                                        <p:strVal val="visible"/>
                                      </p:to>
                                    </p:set>
                                    <p:animEffect transition="in" filter="wipe(left)">
                                      <p:cBhvr>
                                        <p:cTn id="32" dur="500"/>
                                        <p:tgtEl>
                                          <p:spTgt spid="5222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2237"/>
                                        </p:tgtEl>
                                        <p:attrNameLst>
                                          <p:attrName>style.visibility</p:attrName>
                                        </p:attrNameLst>
                                      </p:cBhvr>
                                      <p:to>
                                        <p:strVal val="visible"/>
                                      </p:to>
                                    </p:set>
                                    <p:animEffect transition="in" filter="wipe(left)">
                                      <p:cBhvr>
                                        <p:cTn id="37" dur="500"/>
                                        <p:tgtEl>
                                          <p:spTgt spid="5223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2233"/>
                                        </p:tgtEl>
                                        <p:attrNameLst>
                                          <p:attrName>style.visibility</p:attrName>
                                        </p:attrNameLst>
                                      </p:cBhvr>
                                      <p:to>
                                        <p:strVal val="visible"/>
                                      </p:to>
                                    </p:set>
                                    <p:animEffect transition="in" filter="wipe(left)">
                                      <p:cBhvr>
                                        <p:cTn id="42" dur="500"/>
                                        <p:tgtEl>
                                          <p:spTgt spid="5223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2227"/>
                                        </p:tgtEl>
                                        <p:attrNameLst>
                                          <p:attrName>style.visibility</p:attrName>
                                        </p:attrNameLst>
                                      </p:cBhvr>
                                      <p:to>
                                        <p:strVal val="visible"/>
                                      </p:to>
                                    </p:set>
                                    <p:animEffect transition="in" filter="wipe(left)">
                                      <p:cBhvr>
                                        <p:cTn id="47" dur="500"/>
                                        <p:tgtEl>
                                          <p:spTgt spid="5222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2234"/>
                                        </p:tgtEl>
                                        <p:attrNameLst>
                                          <p:attrName>style.visibility</p:attrName>
                                        </p:attrNameLst>
                                      </p:cBhvr>
                                      <p:to>
                                        <p:strVal val="visible"/>
                                      </p:to>
                                    </p:set>
                                    <p:animEffect transition="in" filter="wipe(left)">
                                      <p:cBhvr>
                                        <p:cTn id="52" dur="500"/>
                                        <p:tgtEl>
                                          <p:spTgt spid="5223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52228"/>
                                        </p:tgtEl>
                                        <p:attrNameLst>
                                          <p:attrName>style.visibility</p:attrName>
                                        </p:attrNameLst>
                                      </p:cBhvr>
                                      <p:to>
                                        <p:strVal val="visible"/>
                                      </p:to>
                                    </p:set>
                                    <p:animEffect transition="in" filter="wipe(left)">
                                      <p:cBhvr>
                                        <p:cTn id="57" dur="500"/>
                                        <p:tgtEl>
                                          <p:spTgt spid="5222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52229"/>
                                        </p:tgtEl>
                                        <p:attrNameLst>
                                          <p:attrName>style.visibility</p:attrName>
                                        </p:attrNameLst>
                                      </p:cBhvr>
                                      <p:to>
                                        <p:strVal val="visible"/>
                                      </p:to>
                                    </p:set>
                                    <p:animEffect transition="in" filter="wipe(left)">
                                      <p:cBhvr>
                                        <p:cTn id="62" dur="500"/>
                                        <p:tgtEl>
                                          <p:spTgt spid="5222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52230"/>
                                        </p:tgtEl>
                                        <p:attrNameLst>
                                          <p:attrName>style.visibility</p:attrName>
                                        </p:attrNameLst>
                                      </p:cBhvr>
                                      <p:to>
                                        <p:strVal val="visible"/>
                                      </p:to>
                                    </p:set>
                                    <p:animEffect transition="in" filter="wipe(left)">
                                      <p:cBhvr>
                                        <p:cTn id="67" dur="500"/>
                                        <p:tgtEl>
                                          <p:spTgt spid="52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1" grpId="0"/>
      <p:bldP spid="52232" grpId="0" animBg="1"/>
      <p:bldP spid="52234" grpId="0"/>
      <p:bldP spid="52235" grpId="0" autoUpdateAnimBg="0"/>
      <p:bldP spid="52237" grpId="0"/>
      <p:bldP spid="398" grpId="0"/>
    </p:bld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3250" name="Group 2"/>
          <p:cNvGrpSpPr>
            <a:grpSpLocks/>
          </p:cNvGrpSpPr>
          <p:nvPr/>
        </p:nvGrpSpPr>
        <p:grpSpPr bwMode="auto">
          <a:xfrm>
            <a:off x="6332538" y="3108325"/>
            <a:ext cx="1296987" cy="2373313"/>
            <a:chOff x="2925" y="1320"/>
            <a:chExt cx="1072" cy="1993"/>
          </a:xfrm>
        </p:grpSpPr>
        <p:sp>
          <p:nvSpPr>
            <p:cNvPr id="53251" name="AutoShape 3"/>
            <p:cNvSpPr>
              <a:spLocks noChangeArrowheads="1"/>
            </p:cNvSpPr>
            <p:nvPr/>
          </p:nvSpPr>
          <p:spPr bwMode="auto">
            <a:xfrm rot="-8653602">
              <a:off x="2925" y="1862"/>
              <a:ext cx="635" cy="1451"/>
            </a:xfrm>
            <a:prstGeom prst="triangle">
              <a:avLst>
                <a:gd name="adj" fmla="val 50000"/>
              </a:avLst>
            </a:prstGeom>
            <a:gradFill rotWithShape="1">
              <a:gsLst>
                <a:gs pos="0">
                  <a:srgbClr val="66FF33">
                    <a:alpha val="82001"/>
                  </a:srgbClr>
                </a:gs>
                <a:gs pos="50000">
                  <a:srgbClr val="66FF33">
                    <a:gamma/>
                    <a:shade val="46275"/>
                    <a:invGamma/>
                  </a:srgbClr>
                </a:gs>
                <a:gs pos="100000">
                  <a:srgbClr val="66FF33">
                    <a:alpha val="82001"/>
                  </a:srgbClr>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sp>
          <p:nvSpPr>
            <p:cNvPr id="60484" name="Oval 4"/>
            <p:cNvSpPr>
              <a:spLocks noChangeArrowheads="1"/>
            </p:cNvSpPr>
            <p:nvPr/>
          </p:nvSpPr>
          <p:spPr bwMode="auto">
            <a:xfrm rot="1984759">
              <a:off x="3357" y="1842"/>
              <a:ext cx="640" cy="317"/>
            </a:xfrm>
            <a:prstGeom prst="ellipse">
              <a:avLst/>
            </a:prstGeom>
            <a:gradFill rotWithShape="1">
              <a:gsLst>
                <a:gs pos="0">
                  <a:srgbClr val="2F7618"/>
                </a:gs>
                <a:gs pos="100000">
                  <a:srgbClr val="66FF33"/>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5" name="Rectangle 5"/>
            <p:cNvSpPr>
              <a:spLocks noChangeArrowheads="1"/>
            </p:cNvSpPr>
            <p:nvPr/>
          </p:nvSpPr>
          <p:spPr bwMode="auto">
            <a:xfrm rot="1963918">
              <a:off x="3830" y="1320"/>
              <a:ext cx="90" cy="725"/>
            </a:xfrm>
            <a:prstGeom prst="rect">
              <a:avLst/>
            </a:prstGeom>
            <a:solidFill>
              <a:srgbClr val="FFCC00"/>
            </a:solidFill>
            <a:ln w="9525">
              <a:solidFill>
                <a:srgbClr val="00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254" name="Text Box 6"/>
          <p:cNvSpPr txBox="1">
            <a:spLocks noChangeArrowheads="1"/>
          </p:cNvSpPr>
          <p:nvPr/>
        </p:nvSpPr>
        <p:spPr bwMode="auto">
          <a:xfrm>
            <a:off x="171450" y="376238"/>
            <a:ext cx="1433513"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800" b="1">
                <a:solidFill>
                  <a:srgbClr val="FFFF00"/>
                </a:solidFill>
                <a:latin typeface="Times New Roman" pitchFamily="18" charset="0"/>
              </a:rPr>
              <a:t>四</a:t>
            </a:r>
            <a:r>
              <a:rPr lang="en-US" altLang="zh-CN" sz="2800" b="1">
                <a:solidFill>
                  <a:srgbClr val="FFFF00"/>
                </a:solidFill>
                <a:latin typeface="Times New Roman" pitchFamily="18" charset="0"/>
              </a:rPr>
              <a:t>. </a:t>
            </a:r>
            <a:r>
              <a:rPr lang="zh-CN" altLang="en-US" sz="2800" b="1">
                <a:solidFill>
                  <a:srgbClr val="FFFF00"/>
                </a:solidFill>
                <a:latin typeface="Times New Roman" pitchFamily="18" charset="0"/>
              </a:rPr>
              <a:t>进动</a:t>
            </a:r>
          </a:p>
        </p:txBody>
      </p:sp>
      <p:sp>
        <p:nvSpPr>
          <p:cNvPr id="53255" name="Line 7"/>
          <p:cNvSpPr>
            <a:spLocks noChangeShapeType="1"/>
          </p:cNvSpPr>
          <p:nvPr/>
        </p:nvSpPr>
        <p:spPr bwMode="auto">
          <a:xfrm>
            <a:off x="6230938" y="2571750"/>
            <a:ext cx="0" cy="2663825"/>
          </a:xfrm>
          <a:prstGeom prst="line">
            <a:avLst/>
          </a:prstGeom>
          <a:noFill/>
          <a:ln w="28575" cap="rnd">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3256" name="Group 8"/>
          <p:cNvGrpSpPr>
            <a:grpSpLocks/>
          </p:cNvGrpSpPr>
          <p:nvPr/>
        </p:nvGrpSpPr>
        <p:grpSpPr bwMode="auto">
          <a:xfrm>
            <a:off x="5180013" y="5313363"/>
            <a:ext cx="2092325" cy="85725"/>
            <a:chOff x="3016" y="2614"/>
            <a:chExt cx="1318" cy="54"/>
          </a:xfrm>
        </p:grpSpPr>
        <p:sp>
          <p:nvSpPr>
            <p:cNvPr id="60467" name="Line 9"/>
            <p:cNvSpPr>
              <a:spLocks noChangeShapeType="1"/>
            </p:cNvSpPr>
            <p:nvPr/>
          </p:nvSpPr>
          <p:spPr bwMode="auto">
            <a:xfrm>
              <a:off x="3064" y="2614"/>
              <a:ext cx="1270"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0468" name="Group 10"/>
            <p:cNvGrpSpPr>
              <a:grpSpLocks/>
            </p:cNvGrpSpPr>
            <p:nvPr/>
          </p:nvGrpSpPr>
          <p:grpSpPr bwMode="auto">
            <a:xfrm>
              <a:off x="3016" y="2623"/>
              <a:ext cx="1270" cy="45"/>
              <a:chOff x="3016" y="2659"/>
              <a:chExt cx="1270" cy="45"/>
            </a:xfrm>
          </p:grpSpPr>
          <p:sp>
            <p:nvSpPr>
              <p:cNvPr id="60469" name="Line 11"/>
              <p:cNvSpPr>
                <a:spLocks noChangeShapeType="1"/>
              </p:cNvSpPr>
              <p:nvPr/>
            </p:nvSpPr>
            <p:spPr bwMode="auto">
              <a:xfrm flipH="1">
                <a:off x="3016" y="2659"/>
                <a:ext cx="45" cy="45"/>
              </a:xfrm>
              <a:prstGeom prst="line">
                <a:avLst/>
              </a:prstGeom>
              <a:noFill/>
              <a:ln w="952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0" name="Line 12"/>
              <p:cNvSpPr>
                <a:spLocks noChangeShapeType="1"/>
              </p:cNvSpPr>
              <p:nvPr/>
            </p:nvSpPr>
            <p:spPr bwMode="auto">
              <a:xfrm flipH="1">
                <a:off x="3127" y="2659"/>
                <a:ext cx="45" cy="45"/>
              </a:xfrm>
              <a:prstGeom prst="line">
                <a:avLst/>
              </a:prstGeom>
              <a:noFill/>
              <a:ln w="952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1" name="Line 13"/>
              <p:cNvSpPr>
                <a:spLocks noChangeShapeType="1"/>
              </p:cNvSpPr>
              <p:nvPr/>
            </p:nvSpPr>
            <p:spPr bwMode="auto">
              <a:xfrm flipH="1">
                <a:off x="3238" y="2659"/>
                <a:ext cx="45" cy="45"/>
              </a:xfrm>
              <a:prstGeom prst="line">
                <a:avLst/>
              </a:prstGeom>
              <a:noFill/>
              <a:ln w="952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2" name="Line 14"/>
              <p:cNvSpPr>
                <a:spLocks noChangeShapeType="1"/>
              </p:cNvSpPr>
              <p:nvPr/>
            </p:nvSpPr>
            <p:spPr bwMode="auto">
              <a:xfrm flipH="1">
                <a:off x="3350" y="2659"/>
                <a:ext cx="45" cy="45"/>
              </a:xfrm>
              <a:prstGeom prst="line">
                <a:avLst/>
              </a:prstGeom>
              <a:noFill/>
              <a:ln w="952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3" name="Line 15"/>
              <p:cNvSpPr>
                <a:spLocks noChangeShapeType="1"/>
              </p:cNvSpPr>
              <p:nvPr/>
            </p:nvSpPr>
            <p:spPr bwMode="auto">
              <a:xfrm flipH="1">
                <a:off x="3461" y="2659"/>
                <a:ext cx="45" cy="45"/>
              </a:xfrm>
              <a:prstGeom prst="line">
                <a:avLst/>
              </a:prstGeom>
              <a:noFill/>
              <a:ln w="952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4" name="Line 16"/>
              <p:cNvSpPr>
                <a:spLocks noChangeShapeType="1"/>
              </p:cNvSpPr>
              <p:nvPr/>
            </p:nvSpPr>
            <p:spPr bwMode="auto">
              <a:xfrm flipH="1">
                <a:off x="3572" y="2659"/>
                <a:ext cx="45" cy="45"/>
              </a:xfrm>
              <a:prstGeom prst="line">
                <a:avLst/>
              </a:prstGeom>
              <a:noFill/>
              <a:ln w="952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5" name="Line 17"/>
              <p:cNvSpPr>
                <a:spLocks noChangeShapeType="1"/>
              </p:cNvSpPr>
              <p:nvPr/>
            </p:nvSpPr>
            <p:spPr bwMode="auto">
              <a:xfrm flipH="1">
                <a:off x="3684" y="2659"/>
                <a:ext cx="45" cy="45"/>
              </a:xfrm>
              <a:prstGeom prst="line">
                <a:avLst/>
              </a:prstGeom>
              <a:noFill/>
              <a:ln w="952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6" name="Line 18"/>
              <p:cNvSpPr>
                <a:spLocks noChangeShapeType="1"/>
              </p:cNvSpPr>
              <p:nvPr/>
            </p:nvSpPr>
            <p:spPr bwMode="auto">
              <a:xfrm flipH="1">
                <a:off x="3795" y="2659"/>
                <a:ext cx="45" cy="45"/>
              </a:xfrm>
              <a:prstGeom prst="line">
                <a:avLst/>
              </a:prstGeom>
              <a:noFill/>
              <a:ln w="952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7" name="Line 19"/>
              <p:cNvSpPr>
                <a:spLocks noChangeShapeType="1"/>
              </p:cNvSpPr>
              <p:nvPr/>
            </p:nvSpPr>
            <p:spPr bwMode="auto">
              <a:xfrm flipH="1">
                <a:off x="3906" y="2659"/>
                <a:ext cx="45" cy="45"/>
              </a:xfrm>
              <a:prstGeom prst="line">
                <a:avLst/>
              </a:prstGeom>
              <a:noFill/>
              <a:ln w="952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8" name="Line 20"/>
              <p:cNvSpPr>
                <a:spLocks noChangeShapeType="1"/>
              </p:cNvSpPr>
              <p:nvPr/>
            </p:nvSpPr>
            <p:spPr bwMode="auto">
              <a:xfrm flipH="1">
                <a:off x="4018" y="2659"/>
                <a:ext cx="45" cy="45"/>
              </a:xfrm>
              <a:prstGeom prst="line">
                <a:avLst/>
              </a:prstGeom>
              <a:noFill/>
              <a:ln w="952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9" name="Line 21"/>
              <p:cNvSpPr>
                <a:spLocks noChangeShapeType="1"/>
              </p:cNvSpPr>
              <p:nvPr/>
            </p:nvSpPr>
            <p:spPr bwMode="auto">
              <a:xfrm flipH="1">
                <a:off x="4129" y="2659"/>
                <a:ext cx="45" cy="45"/>
              </a:xfrm>
              <a:prstGeom prst="line">
                <a:avLst/>
              </a:prstGeom>
              <a:noFill/>
              <a:ln w="952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0" name="Line 22"/>
              <p:cNvSpPr>
                <a:spLocks noChangeShapeType="1"/>
              </p:cNvSpPr>
              <p:nvPr/>
            </p:nvSpPr>
            <p:spPr bwMode="auto">
              <a:xfrm flipH="1">
                <a:off x="4241" y="2659"/>
                <a:ext cx="45" cy="45"/>
              </a:xfrm>
              <a:prstGeom prst="line">
                <a:avLst/>
              </a:prstGeom>
              <a:noFill/>
              <a:ln w="952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53271" name="Oval 23"/>
          <p:cNvSpPr>
            <a:spLocks noChangeArrowheads="1"/>
          </p:cNvSpPr>
          <p:nvPr/>
        </p:nvSpPr>
        <p:spPr bwMode="auto">
          <a:xfrm>
            <a:off x="4805363" y="2911475"/>
            <a:ext cx="2881312" cy="504825"/>
          </a:xfrm>
          <a:prstGeom prst="ellipse">
            <a:avLst/>
          </a:prstGeom>
          <a:noFill/>
          <a:ln w="28575" cap="rnd">
            <a:solidFill>
              <a:schemeClr val="bg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2" name="Line 24"/>
          <p:cNvSpPr>
            <a:spLocks noChangeShapeType="1"/>
          </p:cNvSpPr>
          <p:nvPr/>
        </p:nvSpPr>
        <p:spPr bwMode="auto">
          <a:xfrm>
            <a:off x="4776788" y="3190875"/>
            <a:ext cx="1439862" cy="2087563"/>
          </a:xfrm>
          <a:prstGeom prst="line">
            <a:avLst/>
          </a:prstGeom>
          <a:noFill/>
          <a:ln w="28575" cap="rnd">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3" name="Line 25"/>
          <p:cNvSpPr>
            <a:spLocks noChangeShapeType="1"/>
          </p:cNvSpPr>
          <p:nvPr/>
        </p:nvSpPr>
        <p:spPr bwMode="auto">
          <a:xfrm>
            <a:off x="6853238" y="4476750"/>
            <a:ext cx="0" cy="720725"/>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3274" name="Object 26"/>
          <p:cNvGraphicFramePr>
            <a:graphicFrameLocks/>
          </p:cNvGraphicFramePr>
          <p:nvPr/>
        </p:nvGraphicFramePr>
        <p:xfrm>
          <a:off x="5953125" y="5341938"/>
          <a:ext cx="292100" cy="319087"/>
        </p:xfrm>
        <a:graphic>
          <a:graphicData uri="http://schemas.openxmlformats.org/presentationml/2006/ole">
            <mc:AlternateContent xmlns:mc="http://schemas.openxmlformats.org/markup-compatibility/2006">
              <mc:Choice xmlns:v="urn:schemas-microsoft-com:vml" Requires="v">
                <p:oleObj spid="_x0000_s44124" name="公式" r:id="rId3" imgW="200026" imgH="228634" progId="Equation.3">
                  <p:embed/>
                </p:oleObj>
              </mc:Choice>
              <mc:Fallback>
                <p:oleObj name="公式" r:id="rId3" imgW="200026" imgH="228634" progId="Equation.3">
                  <p:embed/>
                  <p:pic>
                    <p:nvPicPr>
                      <p:cNvPr id="0" name="Object 2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3125" y="5341938"/>
                        <a:ext cx="292100" cy="319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75" name="Object 27"/>
          <p:cNvGraphicFramePr>
            <a:graphicFrameLocks/>
          </p:cNvGraphicFramePr>
          <p:nvPr/>
        </p:nvGraphicFramePr>
        <p:xfrm>
          <a:off x="7688263" y="3268663"/>
          <a:ext cx="482600" cy="420687"/>
        </p:xfrm>
        <a:graphic>
          <a:graphicData uri="http://schemas.openxmlformats.org/presentationml/2006/ole">
            <mc:AlternateContent xmlns:mc="http://schemas.openxmlformats.org/markup-compatibility/2006">
              <mc:Choice xmlns:v="urn:schemas-microsoft-com:vml" Requires="v">
                <p:oleObj spid="_x0000_s44125" name="公式" r:id="rId5" imgW="390604" imgH="323920" progId="Equation.3">
                  <p:embed/>
                </p:oleObj>
              </mc:Choice>
              <mc:Fallback>
                <p:oleObj name="公式" r:id="rId5" imgW="390604" imgH="323920" progId="Equation.3">
                  <p:embed/>
                  <p:pic>
                    <p:nvPicPr>
                      <p:cNvPr id="0" name="Object 2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88263" y="3268663"/>
                        <a:ext cx="482600"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76" name="Object 28"/>
          <p:cNvGraphicFramePr>
            <a:graphicFrameLocks/>
          </p:cNvGraphicFramePr>
          <p:nvPr/>
        </p:nvGraphicFramePr>
        <p:xfrm>
          <a:off x="7959725" y="2301875"/>
          <a:ext cx="254000" cy="369888"/>
        </p:xfrm>
        <a:graphic>
          <a:graphicData uri="http://schemas.openxmlformats.org/presentationml/2006/ole">
            <mc:AlternateContent xmlns:mc="http://schemas.openxmlformats.org/markup-compatibility/2006">
              <mc:Choice xmlns:v="urn:schemas-microsoft-com:vml" Requires="v">
                <p:oleObj spid="_x0000_s44126" name="公式" r:id="rId7" imgW="161965" imgH="276142" progId="Equation.3">
                  <p:embed/>
                </p:oleObj>
              </mc:Choice>
              <mc:Fallback>
                <p:oleObj name="公式" r:id="rId7" imgW="161965" imgH="276142" progId="Equation.3">
                  <p:embed/>
                  <p:pic>
                    <p:nvPicPr>
                      <p:cNvPr id="0" name="Object 2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59725" y="2301875"/>
                        <a:ext cx="254000"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77" name="Line 29"/>
          <p:cNvSpPr>
            <a:spLocks noChangeShapeType="1"/>
          </p:cNvSpPr>
          <p:nvPr/>
        </p:nvSpPr>
        <p:spPr bwMode="auto">
          <a:xfrm flipV="1">
            <a:off x="7686675" y="2714625"/>
            <a:ext cx="358775" cy="504825"/>
          </a:xfrm>
          <a:prstGeom prst="line">
            <a:avLst/>
          </a:prstGeom>
          <a:noFill/>
          <a:ln w="381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3278" name="Object 30"/>
          <p:cNvGraphicFramePr>
            <a:graphicFrameLocks/>
          </p:cNvGraphicFramePr>
          <p:nvPr/>
        </p:nvGraphicFramePr>
        <p:xfrm>
          <a:off x="7004050" y="4692650"/>
          <a:ext cx="495300" cy="382588"/>
        </p:xfrm>
        <a:graphic>
          <a:graphicData uri="http://schemas.openxmlformats.org/presentationml/2006/ole">
            <mc:AlternateContent xmlns:mc="http://schemas.openxmlformats.org/markup-compatibility/2006">
              <mc:Choice xmlns:v="urn:schemas-microsoft-com:vml" Requires="v">
                <p:oleObj spid="_x0000_s44127" name="公式" r:id="rId9" imgW="400052" imgH="295307" progId="Equation.3">
                  <p:embed/>
                </p:oleObj>
              </mc:Choice>
              <mc:Fallback>
                <p:oleObj name="公式" r:id="rId9" imgW="400052" imgH="295307" progId="Equation.3">
                  <p:embed/>
                  <p:pic>
                    <p:nvPicPr>
                      <p:cNvPr id="0" name="Object 3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04050" y="4692650"/>
                        <a:ext cx="495300" cy="382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79" name="Object 31"/>
          <p:cNvGraphicFramePr>
            <a:graphicFrameLocks/>
          </p:cNvGraphicFramePr>
          <p:nvPr/>
        </p:nvGraphicFramePr>
        <p:xfrm>
          <a:off x="6270625" y="4470400"/>
          <a:ext cx="228600" cy="319088"/>
        </p:xfrm>
        <a:graphic>
          <a:graphicData uri="http://schemas.openxmlformats.org/presentationml/2006/ole">
            <mc:AlternateContent xmlns:mc="http://schemas.openxmlformats.org/markup-compatibility/2006">
              <mc:Choice xmlns:v="urn:schemas-microsoft-com:vml" Requires="v">
                <p:oleObj spid="_x0000_s44128" name="公式" r:id="rId11" imgW="133351" imgH="228634" progId="Equation.3">
                  <p:embed/>
                </p:oleObj>
              </mc:Choice>
              <mc:Fallback>
                <p:oleObj name="公式" r:id="rId11" imgW="133351" imgH="228634" progId="Equation.3">
                  <p:embed/>
                  <p:pic>
                    <p:nvPicPr>
                      <p:cNvPr id="0" name="Object 31"/>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70625" y="4470400"/>
                        <a:ext cx="228600"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80" name="Object 32"/>
          <p:cNvGraphicFramePr>
            <a:graphicFrameLocks/>
          </p:cNvGraphicFramePr>
          <p:nvPr/>
        </p:nvGraphicFramePr>
        <p:xfrm>
          <a:off x="8045450" y="3900488"/>
          <a:ext cx="393700" cy="369887"/>
        </p:xfrm>
        <a:graphic>
          <a:graphicData uri="http://schemas.openxmlformats.org/presentationml/2006/ole">
            <mc:AlternateContent xmlns:mc="http://schemas.openxmlformats.org/markup-compatibility/2006">
              <mc:Choice xmlns:v="urn:schemas-microsoft-com:vml" Requires="v">
                <p:oleObj spid="_x0000_s44129" name="公式" r:id="rId13" imgW="304763" imgH="276142" progId="Equation.3">
                  <p:embed/>
                </p:oleObj>
              </mc:Choice>
              <mc:Fallback>
                <p:oleObj name="公式" r:id="rId13" imgW="304763" imgH="276142" progId="Equation.3">
                  <p:embed/>
                  <p:pic>
                    <p:nvPicPr>
                      <p:cNvPr id="0" name="Object 32"/>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45450" y="3900488"/>
                        <a:ext cx="393700"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81" name="Object 33"/>
          <p:cNvGraphicFramePr>
            <a:graphicFrameLocks/>
          </p:cNvGraphicFramePr>
          <p:nvPr/>
        </p:nvGraphicFramePr>
        <p:xfrm>
          <a:off x="8080375" y="3522663"/>
          <a:ext cx="304800" cy="306387"/>
        </p:xfrm>
        <a:graphic>
          <a:graphicData uri="http://schemas.openxmlformats.org/presentationml/2006/ole">
            <mc:AlternateContent xmlns:mc="http://schemas.openxmlformats.org/markup-compatibility/2006">
              <mc:Choice xmlns:v="urn:schemas-microsoft-com:vml" Requires="v">
                <p:oleObj spid="_x0000_s44130" name="公式" r:id="rId15" imgW="219192" imgH="219186" progId="Equation.3">
                  <p:embed/>
                </p:oleObj>
              </mc:Choice>
              <mc:Fallback>
                <p:oleObj name="公式" r:id="rId15" imgW="219192" imgH="219186" progId="Equation.3">
                  <p:embed/>
                  <p:pic>
                    <p:nvPicPr>
                      <p:cNvPr id="0" name="Object 33"/>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080375" y="3522663"/>
                        <a:ext cx="304800"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82" name="Object 34"/>
          <p:cNvGraphicFramePr>
            <a:graphicFrameLocks/>
          </p:cNvGraphicFramePr>
          <p:nvPr/>
        </p:nvGraphicFramePr>
        <p:xfrm>
          <a:off x="8040688" y="3033713"/>
          <a:ext cx="419100" cy="382587"/>
        </p:xfrm>
        <a:graphic>
          <a:graphicData uri="http://schemas.openxmlformats.org/presentationml/2006/ole">
            <mc:AlternateContent xmlns:mc="http://schemas.openxmlformats.org/markup-compatibility/2006">
              <mc:Choice xmlns:v="urn:schemas-microsoft-com:vml" Requires="v">
                <p:oleObj spid="_x0000_s44131" name="公式" r:id="rId17" imgW="333377" imgH="295307" progId="Equation.3">
                  <p:embed/>
                </p:oleObj>
              </mc:Choice>
              <mc:Fallback>
                <p:oleObj name="公式" r:id="rId17" imgW="333377" imgH="295307" progId="Equation.3">
                  <p:embed/>
                  <p:pic>
                    <p:nvPicPr>
                      <p:cNvPr id="0" name="Object 34"/>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040688" y="3033713"/>
                        <a:ext cx="419100" cy="382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83" name="Object 35"/>
          <p:cNvGraphicFramePr>
            <a:graphicFrameLocks/>
          </p:cNvGraphicFramePr>
          <p:nvPr/>
        </p:nvGraphicFramePr>
        <p:xfrm>
          <a:off x="5724525" y="2133600"/>
          <a:ext cx="241300" cy="344488"/>
        </p:xfrm>
        <a:graphic>
          <a:graphicData uri="http://schemas.openxmlformats.org/presentationml/2006/ole">
            <mc:AlternateContent xmlns:mc="http://schemas.openxmlformats.org/markup-compatibility/2006">
              <mc:Choice xmlns:v="urn:schemas-microsoft-com:vml" Requires="v">
                <p:oleObj spid="_x0000_s44132" name="公式" r:id="rId19" imgW="152517" imgH="257247" progId="Equation.3">
                  <p:embed/>
                </p:oleObj>
              </mc:Choice>
              <mc:Fallback>
                <p:oleObj name="公式" r:id="rId19" imgW="152517" imgH="257247" progId="Equation.3">
                  <p:embed/>
                  <p:pic>
                    <p:nvPicPr>
                      <p:cNvPr id="0" name="Object 35"/>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24525" y="2133600"/>
                        <a:ext cx="241300" cy="344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84" name="Text Box 36"/>
          <p:cNvSpPr txBox="1">
            <a:spLocks noChangeArrowheads="1"/>
          </p:cNvSpPr>
          <p:nvPr/>
        </p:nvSpPr>
        <p:spPr bwMode="auto">
          <a:xfrm>
            <a:off x="719138" y="909638"/>
            <a:ext cx="8605837" cy="549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893763" indent="-893763"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zh-CN" altLang="en-US" sz="2400" b="1" dirty="0">
                <a:solidFill>
                  <a:schemeClr val="bg1"/>
                </a:solidFill>
                <a:latin typeface="宋体" pitchFamily="2" charset="-122"/>
              </a:rPr>
              <a:t>高速自转的陀螺在</a:t>
            </a:r>
            <a:r>
              <a:rPr lang="zh-CN" altLang="en-US" sz="2400" b="1" dirty="0">
                <a:solidFill>
                  <a:schemeClr val="bg1"/>
                </a:solidFill>
                <a:latin typeface="Times New Roman" pitchFamily="18" charset="0"/>
              </a:rPr>
              <a:t>陀螺重力对支点</a:t>
            </a:r>
            <a:r>
              <a:rPr lang="en-US" altLang="zh-CN" sz="2400" b="1" i="1" dirty="0">
                <a:solidFill>
                  <a:schemeClr val="bg1"/>
                </a:solidFill>
                <a:latin typeface="Times New Roman" pitchFamily="18" charset="0"/>
              </a:rPr>
              <a:t>O </a:t>
            </a:r>
            <a:r>
              <a:rPr lang="zh-CN" altLang="en-US" sz="2400" b="1" dirty="0">
                <a:solidFill>
                  <a:schemeClr val="bg1"/>
                </a:solidFill>
                <a:latin typeface="Times New Roman" pitchFamily="18" charset="0"/>
              </a:rPr>
              <a:t>的力矩作用下发生进动</a:t>
            </a:r>
          </a:p>
        </p:txBody>
      </p:sp>
      <p:sp>
        <p:nvSpPr>
          <p:cNvPr id="53285" name="Text Box 37"/>
          <p:cNvSpPr txBox="1">
            <a:spLocks noChangeArrowheads="1"/>
          </p:cNvSpPr>
          <p:nvPr/>
        </p:nvSpPr>
        <p:spPr bwMode="auto">
          <a:xfrm>
            <a:off x="471488" y="1609725"/>
            <a:ext cx="34559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400" b="1" dirty="0">
                <a:solidFill>
                  <a:schemeClr val="bg1"/>
                </a:solidFill>
                <a:latin typeface="Times New Roman" pitchFamily="18" charset="0"/>
              </a:rPr>
              <a:t>陀螺的动量矩近似为</a:t>
            </a:r>
          </a:p>
        </p:txBody>
      </p:sp>
      <p:graphicFrame>
        <p:nvGraphicFramePr>
          <p:cNvPr id="53286" name="Object 38"/>
          <p:cNvGraphicFramePr>
            <a:graphicFrameLocks/>
          </p:cNvGraphicFramePr>
          <p:nvPr/>
        </p:nvGraphicFramePr>
        <p:xfrm>
          <a:off x="900113" y="2276475"/>
          <a:ext cx="1066800" cy="357188"/>
        </p:xfrm>
        <a:graphic>
          <a:graphicData uri="http://schemas.openxmlformats.org/presentationml/2006/ole">
            <mc:AlternateContent xmlns:mc="http://schemas.openxmlformats.org/markup-compatibility/2006">
              <mc:Choice xmlns:v="urn:schemas-microsoft-com:vml" Requires="v">
                <p:oleObj spid="_x0000_s44133" name="公式" r:id="rId21" imgW="971517" imgH="266694" progId="Equation.3">
                  <p:embed/>
                </p:oleObj>
              </mc:Choice>
              <mc:Fallback>
                <p:oleObj name="公式" r:id="rId21" imgW="971517" imgH="266694" progId="Equation.3">
                  <p:embed/>
                  <p:pic>
                    <p:nvPicPr>
                      <p:cNvPr id="0" name="Object 38"/>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00113" y="2276475"/>
                        <a:ext cx="1066800" cy="357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87" name="Text Box 39"/>
          <p:cNvSpPr txBox="1">
            <a:spLocks noChangeArrowheads="1"/>
          </p:cNvSpPr>
          <p:nvPr/>
        </p:nvSpPr>
        <p:spPr bwMode="auto">
          <a:xfrm>
            <a:off x="107950" y="2814638"/>
            <a:ext cx="3097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400" b="1" dirty="0">
                <a:solidFill>
                  <a:schemeClr val="bg1"/>
                </a:solidFill>
                <a:latin typeface="Times New Roman" pitchFamily="18" charset="0"/>
              </a:rPr>
              <a:t>动量矩定理</a:t>
            </a:r>
          </a:p>
        </p:txBody>
      </p:sp>
      <p:graphicFrame>
        <p:nvGraphicFramePr>
          <p:cNvPr id="53288" name="Object 40"/>
          <p:cNvGraphicFramePr>
            <a:graphicFrameLocks/>
          </p:cNvGraphicFramePr>
          <p:nvPr/>
        </p:nvGraphicFramePr>
        <p:xfrm>
          <a:off x="900113" y="3570288"/>
          <a:ext cx="1168400" cy="866775"/>
        </p:xfrm>
        <a:graphic>
          <a:graphicData uri="http://schemas.openxmlformats.org/presentationml/2006/ole">
            <mc:AlternateContent xmlns:mc="http://schemas.openxmlformats.org/markup-compatibility/2006">
              <mc:Choice xmlns:v="urn:schemas-microsoft-com:vml" Requires="v">
                <p:oleObj spid="_x0000_s44134" name="公式" r:id="rId23" imgW="1076254" imgH="771470" progId="Equation.3">
                  <p:embed/>
                </p:oleObj>
              </mc:Choice>
              <mc:Fallback>
                <p:oleObj name="公式" r:id="rId23" imgW="1076254" imgH="771470" progId="Equation.3">
                  <p:embed/>
                  <p:pic>
                    <p:nvPicPr>
                      <p:cNvPr id="0" name="Object 40"/>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00113" y="3570288"/>
                        <a:ext cx="1168400"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89" name="Line 41"/>
          <p:cNvSpPr>
            <a:spLocks noChangeShapeType="1"/>
          </p:cNvSpPr>
          <p:nvPr/>
        </p:nvSpPr>
        <p:spPr bwMode="auto">
          <a:xfrm flipV="1">
            <a:off x="6230938" y="4076700"/>
            <a:ext cx="865187" cy="1223963"/>
          </a:xfrm>
          <a:prstGeom prst="line">
            <a:avLst/>
          </a:prstGeom>
          <a:noFill/>
          <a:ln w="28575">
            <a:solidFill>
              <a:schemeClr val="bg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3290" name="Object 42"/>
          <p:cNvGraphicFramePr>
            <a:graphicFrameLocks/>
          </p:cNvGraphicFramePr>
          <p:nvPr/>
        </p:nvGraphicFramePr>
        <p:xfrm>
          <a:off x="3132138" y="3819525"/>
          <a:ext cx="1384300" cy="382588"/>
        </p:xfrm>
        <a:graphic>
          <a:graphicData uri="http://schemas.openxmlformats.org/presentationml/2006/ole">
            <mc:AlternateContent xmlns:mc="http://schemas.openxmlformats.org/markup-compatibility/2006">
              <mc:Choice xmlns:v="urn:schemas-microsoft-com:vml" Requires="v">
                <p:oleObj spid="_x0000_s44135" name="公式" r:id="rId25" imgW="1295446" imgH="295307" progId="Equation.3">
                  <p:embed/>
                </p:oleObj>
              </mc:Choice>
              <mc:Fallback>
                <p:oleObj name="公式" r:id="rId25" imgW="1295446" imgH="295307" progId="Equation.3">
                  <p:embed/>
                  <p:pic>
                    <p:nvPicPr>
                      <p:cNvPr id="0" name="Object 42"/>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132138" y="3819525"/>
                        <a:ext cx="1384300" cy="382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91" name="AutoShape 43"/>
          <p:cNvSpPr>
            <a:spLocks noChangeArrowheads="1"/>
          </p:cNvSpPr>
          <p:nvPr/>
        </p:nvSpPr>
        <p:spPr bwMode="auto">
          <a:xfrm>
            <a:off x="2339975" y="3895725"/>
            <a:ext cx="647700" cy="287338"/>
          </a:xfrm>
          <a:prstGeom prst="rightArrow">
            <a:avLst>
              <a:gd name="adj1" fmla="val 50000"/>
              <a:gd name="adj2" fmla="val 56353"/>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3292" name="Object 44"/>
          <p:cNvGraphicFramePr>
            <a:graphicFrameLocks/>
          </p:cNvGraphicFramePr>
          <p:nvPr/>
        </p:nvGraphicFramePr>
        <p:xfrm>
          <a:off x="862013" y="4652963"/>
          <a:ext cx="1117600" cy="382587"/>
        </p:xfrm>
        <a:graphic>
          <a:graphicData uri="http://schemas.openxmlformats.org/presentationml/2006/ole">
            <mc:AlternateContent xmlns:mc="http://schemas.openxmlformats.org/markup-compatibility/2006">
              <mc:Choice xmlns:v="urn:schemas-microsoft-com:vml" Requires="v">
                <p:oleObj spid="_x0000_s44136" name="公式" r:id="rId27" imgW="1028745" imgH="295307" progId="Equation.3">
                  <p:embed/>
                </p:oleObj>
              </mc:Choice>
              <mc:Fallback>
                <p:oleObj name="公式" r:id="rId27" imgW="1028745" imgH="295307" progId="Equation.3">
                  <p:embed/>
                  <p:pic>
                    <p:nvPicPr>
                      <p:cNvPr id="0" name="Object 44"/>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62013" y="4652963"/>
                        <a:ext cx="1117600" cy="382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93" name="Text Box 45"/>
          <p:cNvSpPr txBox="1">
            <a:spLocks noChangeArrowheads="1"/>
          </p:cNvSpPr>
          <p:nvPr/>
        </p:nvSpPr>
        <p:spPr bwMode="auto">
          <a:xfrm>
            <a:off x="684213" y="5229225"/>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zh-CN" altLang="en-US" sz="2400" b="1">
                <a:solidFill>
                  <a:schemeClr val="bg1"/>
                </a:solidFill>
                <a:latin typeface="Times New Roman" pitchFamily="18" charset="0"/>
              </a:rPr>
              <a:t>当</a:t>
            </a:r>
          </a:p>
        </p:txBody>
      </p:sp>
      <p:graphicFrame>
        <p:nvGraphicFramePr>
          <p:cNvPr id="53294" name="Object 46"/>
          <p:cNvGraphicFramePr>
            <a:graphicFrameLocks/>
          </p:cNvGraphicFramePr>
          <p:nvPr/>
        </p:nvGraphicFramePr>
        <p:xfrm>
          <a:off x="1323975" y="5229225"/>
          <a:ext cx="1016000" cy="369888"/>
        </p:xfrm>
        <a:graphic>
          <a:graphicData uri="http://schemas.openxmlformats.org/presentationml/2006/ole">
            <mc:AlternateContent xmlns:mc="http://schemas.openxmlformats.org/markup-compatibility/2006">
              <mc:Choice xmlns:v="urn:schemas-microsoft-com:vml" Requires="v">
                <p:oleObj spid="_x0000_s44137" name="公式" r:id="rId29" imgW="924008" imgH="276142" progId="Equation.3">
                  <p:embed/>
                </p:oleObj>
              </mc:Choice>
              <mc:Fallback>
                <p:oleObj name="公式" r:id="rId29" imgW="924008" imgH="276142" progId="Equation.3">
                  <p:embed/>
                  <p:pic>
                    <p:nvPicPr>
                      <p:cNvPr id="0" name="Object 46"/>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323975" y="5229225"/>
                        <a:ext cx="1016000"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95" name="Text Box 47"/>
          <p:cNvSpPr txBox="1">
            <a:spLocks noChangeArrowheads="1"/>
          </p:cNvSpPr>
          <p:nvPr/>
        </p:nvSpPr>
        <p:spPr bwMode="auto">
          <a:xfrm>
            <a:off x="2332038" y="5210175"/>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zh-CN" altLang="en-US" sz="2400" b="1">
                <a:solidFill>
                  <a:schemeClr val="bg1"/>
                </a:solidFill>
                <a:latin typeface="Times New Roman" pitchFamily="18" charset="0"/>
              </a:rPr>
              <a:t>时</a:t>
            </a:r>
          </a:p>
        </p:txBody>
      </p:sp>
      <p:sp>
        <p:nvSpPr>
          <p:cNvPr id="53296" name="Rectangle 48"/>
          <p:cNvSpPr>
            <a:spLocks noChangeArrowheads="1"/>
          </p:cNvSpPr>
          <p:nvPr/>
        </p:nvSpPr>
        <p:spPr bwMode="auto">
          <a:xfrm>
            <a:off x="827088" y="5942013"/>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400" b="1" dirty="0">
                <a:solidFill>
                  <a:schemeClr val="bg1"/>
                </a:solidFill>
                <a:latin typeface="宋体" pitchFamily="2" charset="-122"/>
              </a:rPr>
              <a:t>则</a:t>
            </a:r>
            <a:endParaRPr kumimoji="1" lang="zh-CN" altLang="en-US" sz="2400" b="1" dirty="0">
              <a:solidFill>
                <a:schemeClr val="bg1"/>
              </a:solidFill>
              <a:latin typeface="Times New Roman" pitchFamily="18" charset="0"/>
            </a:endParaRPr>
          </a:p>
        </p:txBody>
      </p:sp>
      <p:sp>
        <p:nvSpPr>
          <p:cNvPr id="53297" name="Rectangle 49"/>
          <p:cNvSpPr>
            <a:spLocks noChangeArrowheads="1"/>
          </p:cNvSpPr>
          <p:nvPr/>
        </p:nvSpPr>
        <p:spPr bwMode="auto">
          <a:xfrm>
            <a:off x="1592263" y="5943600"/>
            <a:ext cx="416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400" b="1" dirty="0">
                <a:solidFill>
                  <a:schemeClr val="bg1"/>
                </a:solidFill>
                <a:latin typeface="宋体" pitchFamily="2" charset="-122"/>
              </a:rPr>
              <a:t>只改变方向，</a:t>
            </a:r>
            <a:r>
              <a:rPr kumimoji="1" lang="zh-CN" altLang="en-US" sz="2400" b="1" dirty="0">
                <a:solidFill>
                  <a:schemeClr val="bg1"/>
                </a:solidFill>
                <a:latin typeface="Times New Roman" pitchFamily="18" charset="0"/>
              </a:rPr>
              <a:t>不改变大小</a:t>
            </a:r>
            <a:r>
              <a:rPr kumimoji="1" lang="en-US" altLang="zh-CN" sz="2400" b="1" dirty="0">
                <a:solidFill>
                  <a:schemeClr val="bg1"/>
                </a:solidFill>
                <a:latin typeface="Times New Roman" pitchFamily="18" charset="0"/>
              </a:rPr>
              <a:t>(</a:t>
            </a:r>
            <a:r>
              <a:rPr kumimoji="1" lang="zh-CN" altLang="en-US" sz="2400" b="1" dirty="0">
                <a:solidFill>
                  <a:schemeClr val="bg1"/>
                </a:solidFill>
                <a:latin typeface="Times New Roman" pitchFamily="18" charset="0"/>
              </a:rPr>
              <a:t>进动</a:t>
            </a:r>
            <a:r>
              <a:rPr kumimoji="1" lang="en-US" altLang="zh-CN" sz="2400" b="1" dirty="0">
                <a:solidFill>
                  <a:schemeClr val="bg1"/>
                </a:solidFill>
                <a:latin typeface="Times New Roman" pitchFamily="18" charset="0"/>
              </a:rPr>
              <a:t>)</a:t>
            </a:r>
          </a:p>
        </p:txBody>
      </p:sp>
      <p:graphicFrame>
        <p:nvGraphicFramePr>
          <p:cNvPr id="53298" name="Object 50"/>
          <p:cNvGraphicFramePr>
            <a:graphicFrameLocks/>
          </p:cNvGraphicFramePr>
          <p:nvPr/>
        </p:nvGraphicFramePr>
        <p:xfrm>
          <a:off x="1217613" y="5900738"/>
          <a:ext cx="254000" cy="369887"/>
        </p:xfrm>
        <a:graphic>
          <a:graphicData uri="http://schemas.openxmlformats.org/presentationml/2006/ole">
            <mc:AlternateContent xmlns:mc="http://schemas.openxmlformats.org/markup-compatibility/2006">
              <mc:Choice xmlns:v="urn:schemas-microsoft-com:vml" Requires="v">
                <p:oleObj spid="_x0000_s44138" name="公式" r:id="rId31" imgW="161965" imgH="276142" progId="Equation.3">
                  <p:embed/>
                </p:oleObj>
              </mc:Choice>
              <mc:Fallback>
                <p:oleObj name="公式" r:id="rId31" imgW="161965" imgH="276142" progId="Equation.3">
                  <p:embed/>
                  <p:pic>
                    <p:nvPicPr>
                      <p:cNvPr id="0" name="Object 50"/>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217613" y="5900738"/>
                        <a:ext cx="254000"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306" name="Arc 58"/>
          <p:cNvSpPr>
            <a:spLocks/>
          </p:cNvSpPr>
          <p:nvPr/>
        </p:nvSpPr>
        <p:spPr bwMode="auto">
          <a:xfrm rot="2038643" flipH="1">
            <a:off x="7212013" y="3500438"/>
            <a:ext cx="471487" cy="146050"/>
          </a:xfrm>
          <a:custGeom>
            <a:avLst/>
            <a:gdLst>
              <a:gd name="T0" fmla="*/ 2147483647 w 43200"/>
              <a:gd name="T1" fmla="*/ 0 h 38804"/>
              <a:gd name="T2" fmla="*/ 2147483647 w 43200"/>
              <a:gd name="T3" fmla="*/ 27904911 h 38804"/>
              <a:gd name="T4" fmla="*/ 2147483647 w 43200"/>
              <a:gd name="T5" fmla="*/ 2147483647 h 38804"/>
              <a:gd name="T6" fmla="*/ 0 60000 65536"/>
              <a:gd name="T7" fmla="*/ 0 60000 65536"/>
              <a:gd name="T8" fmla="*/ 0 60000 65536"/>
            </a:gdLst>
            <a:ahLst/>
            <a:cxnLst>
              <a:cxn ang="T6">
                <a:pos x="T0" y="T1"/>
              </a:cxn>
              <a:cxn ang="T7">
                <a:pos x="T2" y="T3"/>
              </a:cxn>
              <a:cxn ang="T8">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lnTo>
                  <a:pt x="34660" y="0"/>
                </a:lnTo>
                <a:close/>
              </a:path>
            </a:pathLst>
          </a:custGeom>
          <a:noFill/>
          <a:ln w="28575">
            <a:solidFill>
              <a:srgbClr val="FFFF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7" name="Arc 59"/>
          <p:cNvSpPr>
            <a:spLocks/>
          </p:cNvSpPr>
          <p:nvPr/>
        </p:nvSpPr>
        <p:spPr bwMode="auto">
          <a:xfrm rot="727523" flipH="1">
            <a:off x="6176963" y="4870450"/>
            <a:ext cx="165100" cy="571500"/>
          </a:xfrm>
          <a:custGeom>
            <a:avLst/>
            <a:gdLst>
              <a:gd name="T0" fmla="*/ 0 w 12372"/>
              <a:gd name="T1" fmla="*/ 2147483647 h 21600"/>
              <a:gd name="T2" fmla="*/ 2147483647 w 12372"/>
              <a:gd name="T3" fmla="*/ 2147483647 h 21600"/>
              <a:gd name="T4" fmla="*/ 2147483647 w 12372"/>
              <a:gd name="T5" fmla="*/ 2147483647 h 21600"/>
              <a:gd name="T6" fmla="*/ 0 60000 65536"/>
              <a:gd name="T7" fmla="*/ 0 60000 65536"/>
              <a:gd name="T8" fmla="*/ 0 60000 65536"/>
            </a:gdLst>
            <a:ahLst/>
            <a:cxnLst>
              <a:cxn ang="T6">
                <a:pos x="T0" y="T1"/>
              </a:cxn>
              <a:cxn ang="T7">
                <a:pos x="T2" y="T3"/>
              </a:cxn>
              <a:cxn ang="T8">
                <a:pos x="T4" y="T5"/>
              </a:cxn>
            </a:cxnLst>
            <a:rect l="0" t="0" r="r" b="b"/>
            <a:pathLst>
              <a:path w="12372" h="21600" fill="none" extrusionOk="0">
                <a:moveTo>
                  <a:pt x="0" y="902"/>
                </a:moveTo>
                <a:cubicBezTo>
                  <a:pt x="2004" y="303"/>
                  <a:pt x="4085" y="-1"/>
                  <a:pt x="6178" y="0"/>
                </a:cubicBezTo>
                <a:cubicBezTo>
                  <a:pt x="8275" y="0"/>
                  <a:pt x="10362" y="305"/>
                  <a:pt x="12371" y="907"/>
                </a:cubicBezTo>
              </a:path>
              <a:path w="12372" h="21600" stroke="0" extrusionOk="0">
                <a:moveTo>
                  <a:pt x="0" y="902"/>
                </a:moveTo>
                <a:cubicBezTo>
                  <a:pt x="2004" y="303"/>
                  <a:pt x="4085" y="-1"/>
                  <a:pt x="6178" y="0"/>
                </a:cubicBezTo>
                <a:cubicBezTo>
                  <a:pt x="8275" y="0"/>
                  <a:pt x="10362" y="305"/>
                  <a:pt x="12371" y="907"/>
                </a:cubicBezTo>
                <a:lnTo>
                  <a:pt x="6178" y="21600"/>
                </a:lnTo>
                <a:lnTo>
                  <a:pt x="0" y="902"/>
                </a:lnTo>
                <a:close/>
              </a:path>
            </a:pathLst>
          </a:custGeom>
          <a:noFill/>
          <a:ln w="28575">
            <a:solidFill>
              <a:srgbClr val="FFFF00"/>
            </a:solidFill>
            <a:round/>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308" name="Arc 60"/>
          <p:cNvSpPr>
            <a:spLocks/>
          </p:cNvSpPr>
          <p:nvPr/>
        </p:nvSpPr>
        <p:spPr bwMode="auto">
          <a:xfrm flipH="1">
            <a:off x="5891213" y="2600325"/>
            <a:ext cx="720725" cy="180975"/>
          </a:xfrm>
          <a:custGeom>
            <a:avLst/>
            <a:gdLst>
              <a:gd name="T0" fmla="*/ 2147483647 w 43200"/>
              <a:gd name="T1" fmla="*/ 2147483647 h 39082"/>
              <a:gd name="T2" fmla="*/ 2147483647 w 43200"/>
              <a:gd name="T3" fmla="*/ 0 h 39082"/>
              <a:gd name="T4" fmla="*/ 2147483647 w 43200"/>
              <a:gd name="T5" fmla="*/ 2147483647 h 39082"/>
              <a:gd name="T6" fmla="*/ 0 60000 65536"/>
              <a:gd name="T7" fmla="*/ 0 60000 65536"/>
              <a:gd name="T8" fmla="*/ 0 60000 65536"/>
            </a:gdLst>
            <a:ahLst/>
            <a:cxnLst>
              <a:cxn ang="T6">
                <a:pos x="T0" y="T1"/>
              </a:cxn>
              <a:cxn ang="T7">
                <a:pos x="T2" y="T3"/>
              </a:cxn>
              <a:cxn ang="T8">
                <a:pos x="T4" y="T5"/>
              </a:cxn>
            </a:cxnLst>
            <a:rect l="0" t="0" r="r" b="b"/>
            <a:pathLst>
              <a:path w="43200" h="39082" fill="none" extrusionOk="0">
                <a:moveTo>
                  <a:pt x="36518" y="1862"/>
                </a:moveTo>
                <a:cubicBezTo>
                  <a:pt x="40786" y="5937"/>
                  <a:pt x="43200" y="11581"/>
                  <a:pt x="43200" y="17482"/>
                </a:cubicBezTo>
                <a:cubicBezTo>
                  <a:pt x="43200" y="29411"/>
                  <a:pt x="33529" y="39082"/>
                  <a:pt x="21600" y="39082"/>
                </a:cubicBezTo>
                <a:cubicBezTo>
                  <a:pt x="9670" y="39082"/>
                  <a:pt x="0" y="29411"/>
                  <a:pt x="0" y="17482"/>
                </a:cubicBezTo>
                <a:cubicBezTo>
                  <a:pt x="-1" y="10563"/>
                  <a:pt x="3313" y="4063"/>
                  <a:pt x="8913" y="0"/>
                </a:cubicBezTo>
              </a:path>
              <a:path w="43200" h="39082" stroke="0" extrusionOk="0">
                <a:moveTo>
                  <a:pt x="36518" y="1862"/>
                </a:moveTo>
                <a:cubicBezTo>
                  <a:pt x="40786" y="5937"/>
                  <a:pt x="43200" y="11581"/>
                  <a:pt x="43200" y="17482"/>
                </a:cubicBezTo>
                <a:cubicBezTo>
                  <a:pt x="43200" y="29411"/>
                  <a:pt x="33529" y="39082"/>
                  <a:pt x="21600" y="39082"/>
                </a:cubicBezTo>
                <a:cubicBezTo>
                  <a:pt x="9670" y="39082"/>
                  <a:pt x="0" y="29411"/>
                  <a:pt x="0" y="17482"/>
                </a:cubicBezTo>
                <a:cubicBezTo>
                  <a:pt x="-1" y="10563"/>
                  <a:pt x="3313" y="4063"/>
                  <a:pt x="8913" y="0"/>
                </a:cubicBezTo>
                <a:lnTo>
                  <a:pt x="21600" y="17482"/>
                </a:lnTo>
                <a:lnTo>
                  <a:pt x="36518" y="1862"/>
                </a:lnTo>
                <a:close/>
              </a:path>
            </a:pathLst>
          </a:custGeom>
          <a:noFill/>
          <a:ln w="28575">
            <a:solidFill>
              <a:srgbClr val="FFFF00"/>
            </a:solidFill>
            <a:round/>
            <a:headEnd/>
            <a:tailEnd type="triangle" w="med" len="me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53250"/>
                                        </p:tgtEl>
                                        <p:attrNameLst>
                                          <p:attrName>style.visibility</p:attrName>
                                        </p:attrNameLst>
                                      </p:cBhvr>
                                      <p:to>
                                        <p:strVal val="visible"/>
                                      </p:to>
                                    </p:set>
                                    <p:anim calcmode="lin" valueType="num">
                                      <p:cBhvr>
                                        <p:cTn id="7" dur="500" fill="hold"/>
                                        <p:tgtEl>
                                          <p:spTgt spid="53250"/>
                                        </p:tgtEl>
                                        <p:attrNameLst>
                                          <p:attrName>ppt_w</p:attrName>
                                        </p:attrNameLst>
                                      </p:cBhvr>
                                      <p:tavLst>
                                        <p:tav tm="0">
                                          <p:val>
                                            <p:fltVal val="0"/>
                                          </p:val>
                                        </p:tav>
                                        <p:tav tm="100000">
                                          <p:val>
                                            <p:strVal val="#ppt_w"/>
                                          </p:val>
                                        </p:tav>
                                      </p:tavLst>
                                    </p:anim>
                                    <p:anim calcmode="lin" valueType="num">
                                      <p:cBhvr>
                                        <p:cTn id="8" dur="500" fill="hold"/>
                                        <p:tgtEl>
                                          <p:spTgt spid="53250"/>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53256"/>
                                        </p:tgtEl>
                                        <p:attrNameLst>
                                          <p:attrName>style.visibility</p:attrName>
                                        </p:attrNameLst>
                                      </p:cBhvr>
                                      <p:to>
                                        <p:strVal val="visible"/>
                                      </p:to>
                                    </p:set>
                                    <p:anim calcmode="lin" valueType="num">
                                      <p:cBhvr>
                                        <p:cTn id="13" dur="500" fill="hold"/>
                                        <p:tgtEl>
                                          <p:spTgt spid="53256"/>
                                        </p:tgtEl>
                                        <p:attrNameLst>
                                          <p:attrName>ppt_w</p:attrName>
                                        </p:attrNameLst>
                                      </p:cBhvr>
                                      <p:tavLst>
                                        <p:tav tm="0">
                                          <p:val>
                                            <p:fltVal val="0"/>
                                          </p:val>
                                        </p:tav>
                                        <p:tav tm="100000">
                                          <p:val>
                                            <p:strVal val="#ppt_w"/>
                                          </p:val>
                                        </p:tav>
                                      </p:tavLst>
                                    </p:anim>
                                    <p:anim calcmode="lin" valueType="num">
                                      <p:cBhvr>
                                        <p:cTn id="14" dur="500" fill="hold"/>
                                        <p:tgtEl>
                                          <p:spTgt spid="53256"/>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3255"/>
                                        </p:tgtEl>
                                        <p:attrNameLst>
                                          <p:attrName>style.visibility</p:attrName>
                                        </p:attrNameLst>
                                      </p:cBhvr>
                                      <p:to>
                                        <p:strVal val="visible"/>
                                      </p:to>
                                    </p:set>
                                    <p:animEffect transition="in" filter="wipe(down)">
                                      <p:cBhvr>
                                        <p:cTn id="19" dur="500"/>
                                        <p:tgtEl>
                                          <p:spTgt spid="5325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53271"/>
                                        </p:tgtEl>
                                        <p:attrNameLst>
                                          <p:attrName>style.visibility</p:attrName>
                                        </p:attrNameLst>
                                      </p:cBhvr>
                                      <p:to>
                                        <p:strVal val="visible"/>
                                      </p:to>
                                    </p:set>
                                    <p:anim calcmode="lin" valueType="num">
                                      <p:cBhvr>
                                        <p:cTn id="24" dur="500" fill="hold"/>
                                        <p:tgtEl>
                                          <p:spTgt spid="53271"/>
                                        </p:tgtEl>
                                        <p:attrNameLst>
                                          <p:attrName>ppt_w</p:attrName>
                                        </p:attrNameLst>
                                      </p:cBhvr>
                                      <p:tavLst>
                                        <p:tav tm="0">
                                          <p:val>
                                            <p:fltVal val="0"/>
                                          </p:val>
                                        </p:tav>
                                        <p:tav tm="100000">
                                          <p:val>
                                            <p:strVal val="#ppt_w"/>
                                          </p:val>
                                        </p:tav>
                                      </p:tavLst>
                                    </p:anim>
                                    <p:anim calcmode="lin" valueType="num">
                                      <p:cBhvr>
                                        <p:cTn id="25" dur="500" fill="hold"/>
                                        <p:tgtEl>
                                          <p:spTgt spid="53271"/>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53272"/>
                                        </p:tgtEl>
                                        <p:attrNameLst>
                                          <p:attrName>style.visibility</p:attrName>
                                        </p:attrNameLst>
                                      </p:cBhvr>
                                      <p:to>
                                        <p:strVal val="visible"/>
                                      </p:to>
                                    </p:set>
                                    <p:animEffect transition="in" filter="wipe(down)">
                                      <p:cBhvr>
                                        <p:cTn id="30" dur="500"/>
                                        <p:tgtEl>
                                          <p:spTgt spid="5327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53289"/>
                                        </p:tgtEl>
                                        <p:attrNameLst>
                                          <p:attrName>style.visibility</p:attrName>
                                        </p:attrNameLst>
                                      </p:cBhvr>
                                      <p:to>
                                        <p:strVal val="visible"/>
                                      </p:to>
                                    </p:set>
                                    <p:animEffect transition="in" filter="wipe(down)">
                                      <p:cBhvr>
                                        <p:cTn id="35" dur="500"/>
                                        <p:tgtEl>
                                          <p:spTgt spid="5328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53274"/>
                                        </p:tgtEl>
                                        <p:attrNameLst>
                                          <p:attrName>style.visibility</p:attrName>
                                        </p:attrNameLst>
                                      </p:cBhvr>
                                      <p:to>
                                        <p:strVal val="visible"/>
                                      </p:to>
                                    </p:set>
                                    <p:animEffect transition="in" filter="wipe(left)">
                                      <p:cBhvr>
                                        <p:cTn id="40" dur="500"/>
                                        <p:tgtEl>
                                          <p:spTgt spid="5327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53307"/>
                                        </p:tgtEl>
                                        <p:attrNameLst>
                                          <p:attrName>style.visibility</p:attrName>
                                        </p:attrNameLst>
                                      </p:cBhvr>
                                      <p:to>
                                        <p:strVal val="visible"/>
                                      </p:to>
                                    </p:set>
                                    <p:animEffect transition="in" filter="wipe(down)">
                                      <p:cBhvr>
                                        <p:cTn id="45" dur="500"/>
                                        <p:tgtEl>
                                          <p:spTgt spid="53307"/>
                                        </p:tgtEl>
                                      </p:cBhvr>
                                    </p:animEffect>
                                  </p:childTnLst>
                                </p:cTn>
                              </p:par>
                            </p:childTnLst>
                          </p:cTn>
                        </p:par>
                        <p:par>
                          <p:cTn id="46" fill="hold" nodeType="afterGroup">
                            <p:stCondLst>
                              <p:cond delay="500"/>
                            </p:stCondLst>
                            <p:childTnLst>
                              <p:par>
                                <p:cTn id="47" presetID="22" presetClass="entr" presetSubtype="4" fill="hold" nodeType="afterEffect">
                                  <p:stCondLst>
                                    <p:cond delay="0"/>
                                  </p:stCondLst>
                                  <p:childTnLst>
                                    <p:set>
                                      <p:cBhvr>
                                        <p:cTn id="48" dur="1" fill="hold">
                                          <p:stCondLst>
                                            <p:cond delay="0"/>
                                          </p:stCondLst>
                                        </p:cTn>
                                        <p:tgtEl>
                                          <p:spTgt spid="53279"/>
                                        </p:tgtEl>
                                        <p:attrNameLst>
                                          <p:attrName>style.visibility</p:attrName>
                                        </p:attrNameLst>
                                      </p:cBhvr>
                                      <p:to>
                                        <p:strVal val="visible"/>
                                      </p:to>
                                    </p:set>
                                    <p:animEffect transition="in" filter="wipe(down)">
                                      <p:cBhvr>
                                        <p:cTn id="49" dur="500"/>
                                        <p:tgtEl>
                                          <p:spTgt spid="5327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3306"/>
                                        </p:tgtEl>
                                        <p:attrNameLst>
                                          <p:attrName>style.visibility</p:attrName>
                                        </p:attrNameLst>
                                      </p:cBhvr>
                                      <p:to>
                                        <p:strVal val="visible"/>
                                      </p:to>
                                    </p:set>
                                    <p:animEffect transition="in" filter="wipe(left)">
                                      <p:cBhvr>
                                        <p:cTn id="54" dur="500"/>
                                        <p:tgtEl>
                                          <p:spTgt spid="53306"/>
                                        </p:tgtEl>
                                      </p:cBhvr>
                                    </p:animEffec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53275"/>
                                        </p:tgtEl>
                                        <p:attrNameLst>
                                          <p:attrName>style.visibility</p:attrName>
                                        </p:attrNameLst>
                                      </p:cBhvr>
                                      <p:to>
                                        <p:strVal val="visible"/>
                                      </p:to>
                                    </p:set>
                                    <p:animEffect transition="in" filter="wipe(left)">
                                      <p:cBhvr>
                                        <p:cTn id="58" dur="500"/>
                                        <p:tgtEl>
                                          <p:spTgt spid="5327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53285"/>
                                        </p:tgtEl>
                                        <p:attrNameLst>
                                          <p:attrName>style.visibility</p:attrName>
                                        </p:attrNameLst>
                                      </p:cBhvr>
                                      <p:to>
                                        <p:strVal val="visible"/>
                                      </p:to>
                                    </p:set>
                                    <p:animEffect transition="in" filter="wipe(left)">
                                      <p:cBhvr>
                                        <p:cTn id="63" dur="500"/>
                                        <p:tgtEl>
                                          <p:spTgt spid="5328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53277"/>
                                        </p:tgtEl>
                                        <p:attrNameLst>
                                          <p:attrName>style.visibility</p:attrName>
                                        </p:attrNameLst>
                                      </p:cBhvr>
                                      <p:to>
                                        <p:strVal val="visible"/>
                                      </p:to>
                                    </p:set>
                                    <p:animEffect transition="in" filter="wipe(down)">
                                      <p:cBhvr>
                                        <p:cTn id="68" dur="500"/>
                                        <p:tgtEl>
                                          <p:spTgt spid="53277"/>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53276"/>
                                        </p:tgtEl>
                                        <p:attrNameLst>
                                          <p:attrName>style.visibility</p:attrName>
                                        </p:attrNameLst>
                                      </p:cBhvr>
                                      <p:to>
                                        <p:strVal val="visible"/>
                                      </p:to>
                                    </p:set>
                                    <p:animEffect transition="in" filter="wipe(left)">
                                      <p:cBhvr>
                                        <p:cTn id="73" dur="500"/>
                                        <p:tgtEl>
                                          <p:spTgt spid="5327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53286"/>
                                        </p:tgtEl>
                                        <p:attrNameLst>
                                          <p:attrName>style.visibility</p:attrName>
                                        </p:attrNameLst>
                                      </p:cBhvr>
                                      <p:to>
                                        <p:strVal val="visible"/>
                                      </p:to>
                                    </p:set>
                                    <p:animEffect transition="in" filter="wipe(left)">
                                      <p:cBhvr>
                                        <p:cTn id="78" dur="500"/>
                                        <p:tgtEl>
                                          <p:spTgt spid="53286"/>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53287"/>
                                        </p:tgtEl>
                                        <p:attrNameLst>
                                          <p:attrName>style.visibility</p:attrName>
                                        </p:attrNameLst>
                                      </p:cBhvr>
                                      <p:to>
                                        <p:strVal val="visible"/>
                                      </p:to>
                                    </p:set>
                                    <p:animEffect transition="in" filter="wipe(left)">
                                      <p:cBhvr>
                                        <p:cTn id="83" dur="500"/>
                                        <p:tgtEl>
                                          <p:spTgt spid="53287"/>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1" fill="hold" grpId="0" nodeType="clickEffect">
                                  <p:stCondLst>
                                    <p:cond delay="0"/>
                                  </p:stCondLst>
                                  <p:childTnLst>
                                    <p:set>
                                      <p:cBhvr>
                                        <p:cTn id="87" dur="1" fill="hold">
                                          <p:stCondLst>
                                            <p:cond delay="0"/>
                                          </p:stCondLst>
                                        </p:cTn>
                                        <p:tgtEl>
                                          <p:spTgt spid="53273"/>
                                        </p:tgtEl>
                                        <p:attrNameLst>
                                          <p:attrName>style.visibility</p:attrName>
                                        </p:attrNameLst>
                                      </p:cBhvr>
                                      <p:to>
                                        <p:strVal val="visible"/>
                                      </p:to>
                                    </p:set>
                                    <p:animEffect transition="in" filter="wipe(up)">
                                      <p:cBhvr>
                                        <p:cTn id="88" dur="500"/>
                                        <p:tgtEl>
                                          <p:spTgt spid="53273"/>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53278"/>
                                        </p:tgtEl>
                                        <p:attrNameLst>
                                          <p:attrName>style.visibility</p:attrName>
                                        </p:attrNameLst>
                                      </p:cBhvr>
                                      <p:to>
                                        <p:strVal val="visible"/>
                                      </p:to>
                                    </p:set>
                                    <p:animEffect transition="in" filter="wipe(left)">
                                      <p:cBhvr>
                                        <p:cTn id="93" dur="500"/>
                                        <p:tgtEl>
                                          <p:spTgt spid="53278"/>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53288"/>
                                        </p:tgtEl>
                                        <p:attrNameLst>
                                          <p:attrName>style.visibility</p:attrName>
                                        </p:attrNameLst>
                                      </p:cBhvr>
                                      <p:to>
                                        <p:strVal val="visible"/>
                                      </p:to>
                                    </p:set>
                                    <p:animEffect transition="in" filter="wipe(left)">
                                      <p:cBhvr>
                                        <p:cTn id="98" dur="500"/>
                                        <p:tgtEl>
                                          <p:spTgt spid="53288"/>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53291"/>
                                        </p:tgtEl>
                                        <p:attrNameLst>
                                          <p:attrName>style.visibility</p:attrName>
                                        </p:attrNameLst>
                                      </p:cBhvr>
                                      <p:to>
                                        <p:strVal val="visible"/>
                                      </p:to>
                                    </p:set>
                                    <p:animEffect transition="in" filter="wipe(left)">
                                      <p:cBhvr>
                                        <p:cTn id="103" dur="500"/>
                                        <p:tgtEl>
                                          <p:spTgt spid="53291"/>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nodeType="clickEffect">
                                  <p:stCondLst>
                                    <p:cond delay="0"/>
                                  </p:stCondLst>
                                  <p:childTnLst>
                                    <p:set>
                                      <p:cBhvr>
                                        <p:cTn id="107" dur="1" fill="hold">
                                          <p:stCondLst>
                                            <p:cond delay="0"/>
                                          </p:stCondLst>
                                        </p:cTn>
                                        <p:tgtEl>
                                          <p:spTgt spid="53290"/>
                                        </p:tgtEl>
                                        <p:attrNameLst>
                                          <p:attrName>style.visibility</p:attrName>
                                        </p:attrNameLst>
                                      </p:cBhvr>
                                      <p:to>
                                        <p:strVal val="visible"/>
                                      </p:to>
                                    </p:set>
                                    <p:animEffect transition="in" filter="wipe(left)">
                                      <p:cBhvr>
                                        <p:cTn id="108" dur="500"/>
                                        <p:tgtEl>
                                          <p:spTgt spid="53290"/>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53292"/>
                                        </p:tgtEl>
                                        <p:attrNameLst>
                                          <p:attrName>style.visibility</p:attrName>
                                        </p:attrNameLst>
                                      </p:cBhvr>
                                      <p:to>
                                        <p:strVal val="visible"/>
                                      </p:to>
                                    </p:set>
                                    <p:animEffect transition="in" filter="wipe(left)">
                                      <p:cBhvr>
                                        <p:cTn id="113" dur="500"/>
                                        <p:tgtEl>
                                          <p:spTgt spid="53292"/>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53293"/>
                                        </p:tgtEl>
                                        <p:attrNameLst>
                                          <p:attrName>style.visibility</p:attrName>
                                        </p:attrNameLst>
                                      </p:cBhvr>
                                      <p:to>
                                        <p:strVal val="visible"/>
                                      </p:to>
                                    </p:set>
                                    <p:animEffect transition="in" filter="wipe(left)">
                                      <p:cBhvr>
                                        <p:cTn id="118" dur="500"/>
                                        <p:tgtEl>
                                          <p:spTgt spid="53293"/>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nodeType="clickEffect">
                                  <p:stCondLst>
                                    <p:cond delay="0"/>
                                  </p:stCondLst>
                                  <p:childTnLst>
                                    <p:set>
                                      <p:cBhvr>
                                        <p:cTn id="122" dur="1" fill="hold">
                                          <p:stCondLst>
                                            <p:cond delay="0"/>
                                          </p:stCondLst>
                                        </p:cTn>
                                        <p:tgtEl>
                                          <p:spTgt spid="53294"/>
                                        </p:tgtEl>
                                        <p:attrNameLst>
                                          <p:attrName>style.visibility</p:attrName>
                                        </p:attrNameLst>
                                      </p:cBhvr>
                                      <p:to>
                                        <p:strVal val="visible"/>
                                      </p:to>
                                    </p:set>
                                    <p:animEffect transition="in" filter="wipe(left)">
                                      <p:cBhvr>
                                        <p:cTn id="123" dur="500"/>
                                        <p:tgtEl>
                                          <p:spTgt spid="53294"/>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53295"/>
                                        </p:tgtEl>
                                        <p:attrNameLst>
                                          <p:attrName>style.visibility</p:attrName>
                                        </p:attrNameLst>
                                      </p:cBhvr>
                                      <p:to>
                                        <p:strVal val="visible"/>
                                      </p:to>
                                    </p:set>
                                    <p:animEffect transition="in" filter="wipe(left)">
                                      <p:cBhvr>
                                        <p:cTn id="128" dur="500"/>
                                        <p:tgtEl>
                                          <p:spTgt spid="53295"/>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nodeType="clickEffect">
                                  <p:stCondLst>
                                    <p:cond delay="0"/>
                                  </p:stCondLst>
                                  <p:childTnLst>
                                    <p:set>
                                      <p:cBhvr>
                                        <p:cTn id="132" dur="1" fill="hold">
                                          <p:stCondLst>
                                            <p:cond delay="0"/>
                                          </p:stCondLst>
                                        </p:cTn>
                                        <p:tgtEl>
                                          <p:spTgt spid="53280"/>
                                        </p:tgtEl>
                                        <p:attrNameLst>
                                          <p:attrName>style.visibility</p:attrName>
                                        </p:attrNameLst>
                                      </p:cBhvr>
                                      <p:to>
                                        <p:strVal val="visible"/>
                                      </p:to>
                                    </p:set>
                                    <p:animEffect transition="in" filter="wipe(left)">
                                      <p:cBhvr>
                                        <p:cTn id="133" dur="500"/>
                                        <p:tgtEl>
                                          <p:spTgt spid="53280"/>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8" fill="hold" nodeType="clickEffect">
                                  <p:stCondLst>
                                    <p:cond delay="0"/>
                                  </p:stCondLst>
                                  <p:childTnLst>
                                    <p:set>
                                      <p:cBhvr>
                                        <p:cTn id="137" dur="1" fill="hold">
                                          <p:stCondLst>
                                            <p:cond delay="0"/>
                                          </p:stCondLst>
                                        </p:cTn>
                                        <p:tgtEl>
                                          <p:spTgt spid="53281"/>
                                        </p:tgtEl>
                                        <p:attrNameLst>
                                          <p:attrName>style.visibility</p:attrName>
                                        </p:attrNameLst>
                                      </p:cBhvr>
                                      <p:to>
                                        <p:strVal val="visible"/>
                                      </p:to>
                                    </p:set>
                                    <p:animEffect transition="in" filter="wipe(left)">
                                      <p:cBhvr>
                                        <p:cTn id="138" dur="500"/>
                                        <p:tgtEl>
                                          <p:spTgt spid="53281"/>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8" fill="hold" nodeType="clickEffect">
                                  <p:stCondLst>
                                    <p:cond delay="0"/>
                                  </p:stCondLst>
                                  <p:childTnLst>
                                    <p:set>
                                      <p:cBhvr>
                                        <p:cTn id="142" dur="1" fill="hold">
                                          <p:stCondLst>
                                            <p:cond delay="0"/>
                                          </p:stCondLst>
                                        </p:cTn>
                                        <p:tgtEl>
                                          <p:spTgt spid="53282"/>
                                        </p:tgtEl>
                                        <p:attrNameLst>
                                          <p:attrName>style.visibility</p:attrName>
                                        </p:attrNameLst>
                                      </p:cBhvr>
                                      <p:to>
                                        <p:strVal val="visible"/>
                                      </p:to>
                                    </p:set>
                                    <p:animEffect transition="in" filter="wipe(left)">
                                      <p:cBhvr>
                                        <p:cTn id="143" dur="500"/>
                                        <p:tgtEl>
                                          <p:spTgt spid="53282"/>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53296"/>
                                        </p:tgtEl>
                                        <p:attrNameLst>
                                          <p:attrName>style.visibility</p:attrName>
                                        </p:attrNameLst>
                                      </p:cBhvr>
                                      <p:to>
                                        <p:strVal val="visible"/>
                                      </p:to>
                                    </p:set>
                                    <p:animEffect transition="in" filter="wipe(left)">
                                      <p:cBhvr>
                                        <p:cTn id="148" dur="500"/>
                                        <p:tgtEl>
                                          <p:spTgt spid="53296"/>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8" fill="hold" nodeType="clickEffect">
                                  <p:stCondLst>
                                    <p:cond delay="0"/>
                                  </p:stCondLst>
                                  <p:childTnLst>
                                    <p:set>
                                      <p:cBhvr>
                                        <p:cTn id="152" dur="1" fill="hold">
                                          <p:stCondLst>
                                            <p:cond delay="0"/>
                                          </p:stCondLst>
                                        </p:cTn>
                                        <p:tgtEl>
                                          <p:spTgt spid="53298"/>
                                        </p:tgtEl>
                                        <p:attrNameLst>
                                          <p:attrName>style.visibility</p:attrName>
                                        </p:attrNameLst>
                                      </p:cBhvr>
                                      <p:to>
                                        <p:strVal val="visible"/>
                                      </p:to>
                                    </p:set>
                                    <p:animEffect transition="in" filter="wipe(left)">
                                      <p:cBhvr>
                                        <p:cTn id="153" dur="500"/>
                                        <p:tgtEl>
                                          <p:spTgt spid="53298"/>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2" presetClass="entr" presetSubtype="8" fill="hold" grpId="0" nodeType="clickEffect">
                                  <p:stCondLst>
                                    <p:cond delay="0"/>
                                  </p:stCondLst>
                                  <p:childTnLst>
                                    <p:set>
                                      <p:cBhvr>
                                        <p:cTn id="157" dur="1" fill="hold">
                                          <p:stCondLst>
                                            <p:cond delay="0"/>
                                          </p:stCondLst>
                                        </p:cTn>
                                        <p:tgtEl>
                                          <p:spTgt spid="53297"/>
                                        </p:tgtEl>
                                        <p:attrNameLst>
                                          <p:attrName>style.visibility</p:attrName>
                                        </p:attrNameLst>
                                      </p:cBhvr>
                                      <p:to>
                                        <p:strVal val="visible"/>
                                      </p:to>
                                    </p:set>
                                    <p:animEffect transition="in" filter="wipe(left)">
                                      <p:cBhvr>
                                        <p:cTn id="158" dur="500"/>
                                        <p:tgtEl>
                                          <p:spTgt spid="53297"/>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53308"/>
                                        </p:tgtEl>
                                        <p:attrNameLst>
                                          <p:attrName>style.visibility</p:attrName>
                                        </p:attrNameLst>
                                      </p:cBhvr>
                                      <p:to>
                                        <p:strVal val="visible"/>
                                      </p:to>
                                    </p:set>
                                    <p:animEffect transition="in" filter="wipe(left)">
                                      <p:cBhvr>
                                        <p:cTn id="163" dur="500"/>
                                        <p:tgtEl>
                                          <p:spTgt spid="53308"/>
                                        </p:tgtEl>
                                      </p:cBhvr>
                                    </p:animEffec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22" presetClass="entr" presetSubtype="8" fill="hold" nodeType="clickEffect">
                                  <p:stCondLst>
                                    <p:cond delay="0"/>
                                  </p:stCondLst>
                                  <p:childTnLst>
                                    <p:set>
                                      <p:cBhvr>
                                        <p:cTn id="167" dur="1" fill="hold">
                                          <p:stCondLst>
                                            <p:cond delay="0"/>
                                          </p:stCondLst>
                                        </p:cTn>
                                        <p:tgtEl>
                                          <p:spTgt spid="53283"/>
                                        </p:tgtEl>
                                        <p:attrNameLst>
                                          <p:attrName>style.visibility</p:attrName>
                                        </p:attrNameLst>
                                      </p:cBhvr>
                                      <p:to>
                                        <p:strVal val="visible"/>
                                      </p:to>
                                    </p:set>
                                    <p:animEffect transition="in" filter="wipe(left)">
                                      <p:cBhvr>
                                        <p:cTn id="168" dur="500"/>
                                        <p:tgtEl>
                                          <p:spTgt spid="53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5" grpId="0" animBg="1"/>
      <p:bldP spid="53271" grpId="0" animBg="1"/>
      <p:bldP spid="53272" grpId="0" animBg="1"/>
      <p:bldP spid="53273" grpId="0" animBg="1"/>
      <p:bldP spid="53277" grpId="0" animBg="1"/>
      <p:bldP spid="53285" grpId="0"/>
      <p:bldP spid="53287" grpId="0"/>
      <p:bldP spid="53289" grpId="0" animBg="1"/>
      <p:bldP spid="53291" grpId="0" animBg="1"/>
      <p:bldP spid="53293" grpId="0"/>
      <p:bldP spid="53295" grpId="0"/>
      <p:bldP spid="53296" grpId="0"/>
      <p:bldP spid="53297" grpId="0"/>
      <p:bldP spid="53306" grpId="0" animBg="1"/>
      <p:bldP spid="53307" grpId="0" animBg="1"/>
      <p:bldP spid="53308" grpId="0" animBg="1"/>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4" name="Arc 2"/>
          <p:cNvSpPr>
            <a:spLocks/>
          </p:cNvSpPr>
          <p:nvPr/>
        </p:nvSpPr>
        <p:spPr bwMode="auto">
          <a:xfrm flipH="1">
            <a:off x="6465517" y="676276"/>
            <a:ext cx="720725" cy="234950"/>
          </a:xfrm>
          <a:custGeom>
            <a:avLst/>
            <a:gdLst>
              <a:gd name="T0" fmla="*/ 2147483647 w 43200"/>
              <a:gd name="T1" fmla="*/ 2147483647 h 41893"/>
              <a:gd name="T2" fmla="*/ 2147483647 w 43200"/>
              <a:gd name="T3" fmla="*/ 0 h 41893"/>
              <a:gd name="T4" fmla="*/ 2147483647 w 43200"/>
              <a:gd name="T5" fmla="*/ 2147483647 h 41893"/>
              <a:gd name="T6" fmla="*/ 0 60000 65536"/>
              <a:gd name="T7" fmla="*/ 0 60000 65536"/>
              <a:gd name="T8" fmla="*/ 0 60000 65536"/>
            </a:gdLst>
            <a:ahLst/>
            <a:cxnLst>
              <a:cxn ang="T6">
                <a:pos x="T0" y="T1"/>
              </a:cxn>
              <a:cxn ang="T7">
                <a:pos x="T2" y="T3"/>
              </a:cxn>
              <a:cxn ang="T8">
                <a:pos x="T4" y="T5"/>
              </a:cxn>
            </a:cxnLst>
            <a:rect l="0" t="0" r="r" b="b"/>
            <a:pathLst>
              <a:path w="43200" h="41893" fill="none" extrusionOk="0">
                <a:moveTo>
                  <a:pt x="33098" y="2007"/>
                </a:moveTo>
                <a:cubicBezTo>
                  <a:pt x="39384" y="5960"/>
                  <a:pt x="43200" y="12866"/>
                  <a:pt x="43200" y="20293"/>
                </a:cubicBezTo>
                <a:cubicBezTo>
                  <a:pt x="43200" y="32222"/>
                  <a:pt x="33529" y="41893"/>
                  <a:pt x="21600" y="41893"/>
                </a:cubicBezTo>
                <a:cubicBezTo>
                  <a:pt x="9670" y="41893"/>
                  <a:pt x="0" y="32222"/>
                  <a:pt x="0" y="20293"/>
                </a:cubicBezTo>
                <a:cubicBezTo>
                  <a:pt x="-1" y="11217"/>
                  <a:pt x="5673" y="3109"/>
                  <a:pt x="14200" y="0"/>
                </a:cubicBezTo>
              </a:path>
              <a:path w="43200" h="41893" stroke="0" extrusionOk="0">
                <a:moveTo>
                  <a:pt x="33098" y="2007"/>
                </a:moveTo>
                <a:cubicBezTo>
                  <a:pt x="39384" y="5960"/>
                  <a:pt x="43200" y="12866"/>
                  <a:pt x="43200" y="20293"/>
                </a:cubicBezTo>
                <a:cubicBezTo>
                  <a:pt x="43200" y="32222"/>
                  <a:pt x="33529" y="41893"/>
                  <a:pt x="21600" y="41893"/>
                </a:cubicBezTo>
                <a:cubicBezTo>
                  <a:pt x="9670" y="41893"/>
                  <a:pt x="0" y="32222"/>
                  <a:pt x="0" y="20293"/>
                </a:cubicBezTo>
                <a:cubicBezTo>
                  <a:pt x="-1" y="11217"/>
                  <a:pt x="5673" y="3109"/>
                  <a:pt x="14200" y="0"/>
                </a:cubicBezTo>
                <a:lnTo>
                  <a:pt x="21600" y="20293"/>
                </a:lnTo>
                <a:lnTo>
                  <a:pt x="33098" y="2007"/>
                </a:lnTo>
                <a:close/>
              </a:path>
            </a:pathLst>
          </a:custGeom>
          <a:noFill/>
          <a:ln w="28575">
            <a:solidFill>
              <a:srgbClr val="FFFF00"/>
            </a:solidFill>
            <a:round/>
            <a:headEnd/>
            <a:tailEnd type="triangle" w="med" len="me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275" name="Oval 3"/>
          <p:cNvSpPr>
            <a:spLocks noChangeArrowheads="1"/>
          </p:cNvSpPr>
          <p:nvPr/>
        </p:nvSpPr>
        <p:spPr bwMode="auto">
          <a:xfrm>
            <a:off x="5443167" y="1028701"/>
            <a:ext cx="2808288" cy="936625"/>
          </a:xfrm>
          <a:prstGeom prst="ellipse">
            <a:avLst/>
          </a:prstGeom>
          <a:noFill/>
          <a:ln w="28575" cap="rnd">
            <a:solidFill>
              <a:schemeClr val="bg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6" name="Line 4"/>
          <p:cNvSpPr>
            <a:spLocks noChangeShapeType="1"/>
          </p:cNvSpPr>
          <p:nvPr/>
        </p:nvSpPr>
        <p:spPr bwMode="auto">
          <a:xfrm>
            <a:off x="6811592" y="452438"/>
            <a:ext cx="0" cy="3384550"/>
          </a:xfrm>
          <a:prstGeom prst="line">
            <a:avLst/>
          </a:prstGeom>
          <a:noFill/>
          <a:ln w="28575" cap="rnd">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7" name="Line 5"/>
          <p:cNvSpPr>
            <a:spLocks noChangeShapeType="1"/>
          </p:cNvSpPr>
          <p:nvPr/>
        </p:nvSpPr>
        <p:spPr bwMode="auto">
          <a:xfrm flipV="1">
            <a:off x="6811592" y="1533526"/>
            <a:ext cx="1439863" cy="2303462"/>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4278" name="Object 6"/>
          <p:cNvGraphicFramePr>
            <a:graphicFrameLocks/>
          </p:cNvGraphicFramePr>
          <p:nvPr>
            <p:extLst>
              <p:ext uri="{D42A27DB-BD31-4B8C-83A1-F6EECF244321}">
                <p14:modId xmlns:p14="http://schemas.microsoft.com/office/powerpoint/2010/main" val="2873409626"/>
              </p:ext>
            </p:extLst>
          </p:nvPr>
        </p:nvGraphicFramePr>
        <p:xfrm>
          <a:off x="6636967" y="3905251"/>
          <a:ext cx="292100" cy="319087"/>
        </p:xfrm>
        <a:graphic>
          <a:graphicData uri="http://schemas.openxmlformats.org/presentationml/2006/ole">
            <mc:AlternateContent xmlns:mc="http://schemas.openxmlformats.org/markup-compatibility/2006">
              <mc:Choice xmlns:v="urn:schemas-microsoft-com:vml" Requires="v">
                <p:oleObj spid="_x0000_s45136" name="公式" r:id="rId3" imgW="200026" imgH="228634" progId="Equation.3">
                  <p:embed/>
                </p:oleObj>
              </mc:Choice>
              <mc:Fallback>
                <p:oleObj name="公式" r:id="rId3" imgW="200026" imgH="228634" progId="Equation.3">
                  <p:embed/>
                  <p:pic>
                    <p:nvPicPr>
                      <p:cNvPr id="0" name="Object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6967" y="3905251"/>
                        <a:ext cx="292100" cy="319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79" name="Line 7"/>
          <p:cNvSpPr>
            <a:spLocks noChangeShapeType="1"/>
          </p:cNvSpPr>
          <p:nvPr/>
        </p:nvSpPr>
        <p:spPr bwMode="auto">
          <a:xfrm>
            <a:off x="6811592" y="1536701"/>
            <a:ext cx="1439863"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0" name="Line 8"/>
          <p:cNvSpPr>
            <a:spLocks noChangeShapeType="1"/>
          </p:cNvSpPr>
          <p:nvPr/>
        </p:nvSpPr>
        <p:spPr bwMode="auto">
          <a:xfrm flipV="1">
            <a:off x="6811592" y="1101726"/>
            <a:ext cx="863600" cy="43180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4281" name="Object 9"/>
          <p:cNvGraphicFramePr>
            <a:graphicFrameLocks/>
          </p:cNvGraphicFramePr>
          <p:nvPr>
            <p:extLst>
              <p:ext uri="{D42A27DB-BD31-4B8C-83A1-F6EECF244321}">
                <p14:modId xmlns:p14="http://schemas.microsoft.com/office/powerpoint/2010/main" val="3941491542"/>
              </p:ext>
            </p:extLst>
          </p:nvPr>
        </p:nvGraphicFramePr>
        <p:xfrm>
          <a:off x="6873505" y="3049588"/>
          <a:ext cx="228600" cy="319088"/>
        </p:xfrm>
        <a:graphic>
          <a:graphicData uri="http://schemas.openxmlformats.org/presentationml/2006/ole">
            <mc:AlternateContent xmlns:mc="http://schemas.openxmlformats.org/markup-compatibility/2006">
              <mc:Choice xmlns:v="urn:schemas-microsoft-com:vml" Requires="v">
                <p:oleObj spid="_x0000_s45137" name="公式" r:id="rId5" imgW="133351" imgH="228634" progId="Equation.3">
                  <p:embed/>
                </p:oleObj>
              </mc:Choice>
              <mc:Fallback>
                <p:oleObj name="公式" r:id="rId5" imgW="133351" imgH="228634" progId="Equation.3">
                  <p:embed/>
                  <p:pic>
                    <p:nvPicPr>
                      <p:cNvPr id="0" name="Object 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3505" y="3049588"/>
                        <a:ext cx="228600"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2" name="Object 10"/>
          <p:cNvGraphicFramePr>
            <a:graphicFrameLocks/>
          </p:cNvGraphicFramePr>
          <p:nvPr>
            <p:extLst>
              <p:ext uri="{D42A27DB-BD31-4B8C-83A1-F6EECF244321}">
                <p14:modId xmlns:p14="http://schemas.microsoft.com/office/powerpoint/2010/main" val="968912324"/>
              </p:ext>
            </p:extLst>
          </p:nvPr>
        </p:nvGraphicFramePr>
        <p:xfrm>
          <a:off x="6425830" y="279401"/>
          <a:ext cx="241300" cy="344487"/>
        </p:xfrm>
        <a:graphic>
          <a:graphicData uri="http://schemas.openxmlformats.org/presentationml/2006/ole">
            <mc:AlternateContent xmlns:mc="http://schemas.openxmlformats.org/markup-compatibility/2006">
              <mc:Choice xmlns:v="urn:schemas-microsoft-com:vml" Requires="v">
                <p:oleObj spid="_x0000_s45138" name="公式" r:id="rId7" imgW="152517" imgH="257247" progId="Equation.3">
                  <p:embed/>
                </p:oleObj>
              </mc:Choice>
              <mc:Fallback>
                <p:oleObj name="公式" r:id="rId7" imgW="152517" imgH="257247" progId="Equation.3">
                  <p:embed/>
                  <p:pic>
                    <p:nvPicPr>
                      <p:cNvPr id="0" name="Object 1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25830" y="279401"/>
                        <a:ext cx="241300"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3" name="Object 11"/>
          <p:cNvGraphicFramePr>
            <a:graphicFrameLocks/>
          </p:cNvGraphicFramePr>
          <p:nvPr>
            <p:extLst>
              <p:ext uri="{D42A27DB-BD31-4B8C-83A1-F6EECF244321}">
                <p14:modId xmlns:p14="http://schemas.microsoft.com/office/powerpoint/2010/main" val="1234066073"/>
              </p:ext>
            </p:extLst>
          </p:nvPr>
        </p:nvGraphicFramePr>
        <p:xfrm>
          <a:off x="7964117" y="1919288"/>
          <a:ext cx="254000" cy="369888"/>
        </p:xfrm>
        <a:graphic>
          <a:graphicData uri="http://schemas.openxmlformats.org/presentationml/2006/ole">
            <mc:AlternateContent xmlns:mc="http://schemas.openxmlformats.org/markup-compatibility/2006">
              <mc:Choice xmlns:v="urn:schemas-microsoft-com:vml" Requires="v">
                <p:oleObj spid="_x0000_s45139" name="公式" r:id="rId9" imgW="161965" imgH="276142" progId="Equation.3">
                  <p:embed/>
                </p:oleObj>
              </mc:Choice>
              <mc:Fallback>
                <p:oleObj name="公式" r:id="rId9" imgW="161965" imgH="276142" progId="Equation.3">
                  <p:embed/>
                  <p:pic>
                    <p:nvPicPr>
                      <p:cNvPr id="0" name="Object 1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64117" y="1919288"/>
                        <a:ext cx="254000"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4" name="Object 12"/>
          <p:cNvGraphicFramePr>
            <a:graphicFrameLocks/>
          </p:cNvGraphicFramePr>
          <p:nvPr>
            <p:extLst>
              <p:ext uri="{D42A27DB-BD31-4B8C-83A1-F6EECF244321}">
                <p14:modId xmlns:p14="http://schemas.microsoft.com/office/powerpoint/2010/main" val="3715415245"/>
              </p:ext>
            </p:extLst>
          </p:nvPr>
        </p:nvGraphicFramePr>
        <p:xfrm>
          <a:off x="6971930" y="1571626"/>
          <a:ext cx="630237" cy="219075"/>
        </p:xfrm>
        <a:graphic>
          <a:graphicData uri="http://schemas.openxmlformats.org/presentationml/2006/ole">
            <mc:AlternateContent xmlns:mc="http://schemas.openxmlformats.org/markup-compatibility/2006">
              <mc:Choice xmlns:v="urn:schemas-microsoft-com:vml" Requires="v">
                <p:oleObj spid="_x0000_s45140" name="公式" r:id="rId11" imgW="809553" imgH="228634" progId="Equation.3">
                  <p:embed/>
                </p:oleObj>
              </mc:Choice>
              <mc:Fallback>
                <p:oleObj name="公式" r:id="rId11" imgW="809553" imgH="228634" progId="Equation.3">
                  <p:embed/>
                  <p:pic>
                    <p:nvPicPr>
                      <p:cNvPr id="0" name="Object 1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71930" y="1571626"/>
                        <a:ext cx="630237"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5" name="Object 13"/>
          <p:cNvGraphicFramePr>
            <a:graphicFrameLocks/>
          </p:cNvGraphicFramePr>
          <p:nvPr>
            <p:extLst>
              <p:ext uri="{D42A27DB-BD31-4B8C-83A1-F6EECF244321}">
                <p14:modId xmlns:p14="http://schemas.microsoft.com/office/powerpoint/2010/main" val="1647088715"/>
              </p:ext>
            </p:extLst>
          </p:nvPr>
        </p:nvGraphicFramePr>
        <p:xfrm>
          <a:off x="7387855" y="1268413"/>
          <a:ext cx="327025" cy="219075"/>
        </p:xfrm>
        <a:graphic>
          <a:graphicData uri="http://schemas.openxmlformats.org/presentationml/2006/ole">
            <mc:AlternateContent xmlns:mc="http://schemas.openxmlformats.org/markup-compatibility/2006">
              <mc:Choice xmlns:v="urn:schemas-microsoft-com:vml" Requires="v">
                <p:oleObj spid="_x0000_s45141" name="公式" r:id="rId13" imgW="380887" imgH="228634" progId="Equation.3">
                  <p:embed/>
                </p:oleObj>
              </mc:Choice>
              <mc:Fallback>
                <p:oleObj name="公式" r:id="rId13" imgW="380887" imgH="228634" progId="Equation.3">
                  <p:embed/>
                  <p:pic>
                    <p:nvPicPr>
                      <p:cNvPr id="0" name="Object 1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87855" y="1268413"/>
                        <a:ext cx="327025"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6" name="Freeform 14"/>
          <p:cNvSpPr>
            <a:spLocks/>
          </p:cNvSpPr>
          <p:nvPr/>
        </p:nvSpPr>
        <p:spPr bwMode="auto">
          <a:xfrm>
            <a:off x="7211642" y="1357313"/>
            <a:ext cx="125413" cy="157163"/>
          </a:xfrm>
          <a:custGeom>
            <a:avLst/>
            <a:gdLst>
              <a:gd name="T0" fmla="*/ 0 w 79"/>
              <a:gd name="T1" fmla="*/ 0 h 99"/>
              <a:gd name="T2" fmla="*/ 2147483647 w 79"/>
              <a:gd name="T3" fmla="*/ 2147483647 h 99"/>
              <a:gd name="T4" fmla="*/ 2147483647 w 79"/>
              <a:gd name="T5" fmla="*/ 2147483647 h 99"/>
              <a:gd name="T6" fmla="*/ 0 60000 65536"/>
              <a:gd name="T7" fmla="*/ 0 60000 65536"/>
              <a:gd name="T8" fmla="*/ 0 60000 65536"/>
            </a:gdLst>
            <a:ahLst/>
            <a:cxnLst>
              <a:cxn ang="T6">
                <a:pos x="T0" y="T1"/>
              </a:cxn>
              <a:cxn ang="T7">
                <a:pos x="T2" y="T3"/>
              </a:cxn>
              <a:cxn ang="T8">
                <a:pos x="T4" y="T5"/>
              </a:cxn>
            </a:cxnLst>
            <a:rect l="0" t="0" r="r" b="b"/>
            <a:pathLst>
              <a:path w="79" h="99">
                <a:moveTo>
                  <a:pt x="0" y="0"/>
                </a:moveTo>
                <a:cubicBezTo>
                  <a:pt x="10" y="6"/>
                  <a:pt x="47" y="22"/>
                  <a:pt x="60" y="38"/>
                </a:cubicBezTo>
                <a:cubicBezTo>
                  <a:pt x="73" y="54"/>
                  <a:pt x="75" y="86"/>
                  <a:pt x="79" y="99"/>
                </a:cubicBezTo>
              </a:path>
            </a:pathLst>
          </a:custGeom>
          <a:noFill/>
          <a:ln w="28575" cap="flat" cmpd="sng">
            <a:solidFill>
              <a:srgbClr val="FFFF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7" name="Text Box 15"/>
          <p:cNvSpPr txBox="1">
            <a:spLocks noChangeArrowheads="1"/>
          </p:cNvSpPr>
          <p:nvPr/>
        </p:nvSpPr>
        <p:spPr bwMode="auto">
          <a:xfrm>
            <a:off x="391742" y="119063"/>
            <a:ext cx="3097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en-US" altLang="zh-CN" sz="2400" b="1">
                <a:solidFill>
                  <a:srgbClr val="FFFF66"/>
                </a:solidFill>
                <a:latin typeface="Times New Roman" pitchFamily="18" charset="0"/>
                <a:sym typeface="Symbol" pitchFamily="18" charset="2"/>
              </a:rPr>
              <a:t>   </a:t>
            </a:r>
            <a:r>
              <a:rPr lang="zh-CN" altLang="en-US" sz="2400" b="1">
                <a:solidFill>
                  <a:schemeClr val="bg1"/>
                </a:solidFill>
                <a:latin typeface="Times New Roman" pitchFamily="18" charset="0"/>
              </a:rPr>
              <a:t>进动角速度</a:t>
            </a:r>
            <a:r>
              <a:rPr lang="el-GR" altLang="zh-CN" sz="2400" b="1" i="1">
                <a:solidFill>
                  <a:srgbClr val="66FFFF"/>
                </a:solidFill>
                <a:latin typeface="Times New Roman" pitchFamily="18" charset="0"/>
              </a:rPr>
              <a:t>Ω</a:t>
            </a:r>
          </a:p>
        </p:txBody>
      </p:sp>
      <p:graphicFrame>
        <p:nvGraphicFramePr>
          <p:cNvPr id="54288" name="Object 16"/>
          <p:cNvGraphicFramePr>
            <a:graphicFrameLocks/>
          </p:cNvGraphicFramePr>
          <p:nvPr>
            <p:extLst>
              <p:ext uri="{D42A27DB-BD31-4B8C-83A1-F6EECF244321}">
                <p14:modId xmlns:p14="http://schemas.microsoft.com/office/powerpoint/2010/main" val="1948277191"/>
              </p:ext>
            </p:extLst>
          </p:nvPr>
        </p:nvGraphicFramePr>
        <p:xfrm>
          <a:off x="2238005" y="1905001"/>
          <a:ext cx="1933575" cy="468312"/>
        </p:xfrm>
        <a:graphic>
          <a:graphicData uri="http://schemas.openxmlformats.org/presentationml/2006/ole">
            <mc:AlternateContent xmlns:mc="http://schemas.openxmlformats.org/markup-compatibility/2006">
              <mc:Choice xmlns:v="urn:schemas-microsoft-com:vml" Requires="v">
                <p:oleObj spid="_x0000_s45142" name="公式" r:id="rId15" imgW="2104999" imgH="438102" progId="Equation.3">
                  <p:embed/>
                </p:oleObj>
              </mc:Choice>
              <mc:Fallback>
                <p:oleObj name="公式" r:id="rId15" imgW="2104999" imgH="438102" progId="Equation.3">
                  <p:embed/>
                  <p:pic>
                    <p:nvPicPr>
                      <p:cNvPr id="0" name="Object 16"/>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38005" y="1905001"/>
                        <a:ext cx="1933575"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9" name="Text Box 17"/>
          <p:cNvSpPr txBox="1">
            <a:spLocks noChangeArrowheads="1"/>
          </p:cNvSpPr>
          <p:nvPr/>
        </p:nvSpPr>
        <p:spPr bwMode="auto">
          <a:xfrm>
            <a:off x="331417" y="1847851"/>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zh-CN" altLang="en-US" sz="2400" b="1">
                <a:solidFill>
                  <a:schemeClr val="bg1"/>
                </a:solidFill>
                <a:latin typeface="Times New Roman" pitchFamily="18" charset="0"/>
              </a:rPr>
              <a:t>而且</a:t>
            </a:r>
          </a:p>
        </p:txBody>
      </p:sp>
      <p:graphicFrame>
        <p:nvGraphicFramePr>
          <p:cNvPr id="54290" name="Object 18"/>
          <p:cNvGraphicFramePr>
            <a:graphicFrameLocks/>
          </p:cNvGraphicFramePr>
          <p:nvPr>
            <p:extLst>
              <p:ext uri="{D42A27DB-BD31-4B8C-83A1-F6EECF244321}">
                <p14:modId xmlns:p14="http://schemas.microsoft.com/office/powerpoint/2010/main" val="3094778144"/>
              </p:ext>
            </p:extLst>
          </p:nvPr>
        </p:nvGraphicFramePr>
        <p:xfrm>
          <a:off x="2906342" y="733426"/>
          <a:ext cx="1027113" cy="758825"/>
        </p:xfrm>
        <a:graphic>
          <a:graphicData uri="http://schemas.openxmlformats.org/presentationml/2006/ole">
            <mc:AlternateContent xmlns:mc="http://schemas.openxmlformats.org/markup-compatibility/2006">
              <mc:Choice xmlns:v="urn:schemas-microsoft-com:vml" Requires="v">
                <p:oleObj spid="_x0000_s45143" name="公式" r:id="rId17" imgW="1076254" imgH="771470" progId="Equation.3">
                  <p:embed/>
                </p:oleObj>
              </mc:Choice>
              <mc:Fallback>
                <p:oleObj name="公式" r:id="rId17" imgW="1076254" imgH="771470" progId="Equation.3">
                  <p:embed/>
                  <p:pic>
                    <p:nvPicPr>
                      <p:cNvPr id="0" name="Object 18"/>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06342" y="733426"/>
                        <a:ext cx="1027113"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91" name="Object 19"/>
          <p:cNvGraphicFramePr>
            <a:graphicFrameLocks/>
          </p:cNvGraphicFramePr>
          <p:nvPr>
            <p:extLst>
              <p:ext uri="{D42A27DB-BD31-4B8C-83A1-F6EECF244321}">
                <p14:modId xmlns:p14="http://schemas.microsoft.com/office/powerpoint/2010/main" val="791705726"/>
              </p:ext>
            </p:extLst>
          </p:nvPr>
        </p:nvGraphicFramePr>
        <p:xfrm>
          <a:off x="834655" y="2813051"/>
          <a:ext cx="4256087" cy="815975"/>
        </p:xfrm>
        <a:graphic>
          <a:graphicData uri="http://schemas.openxmlformats.org/presentationml/2006/ole">
            <mc:AlternateContent xmlns:mc="http://schemas.openxmlformats.org/markup-compatibility/2006">
              <mc:Choice xmlns:v="urn:schemas-microsoft-com:vml" Requires="v">
                <p:oleObj spid="_x0000_s45144" name="公式" r:id="rId19" imgW="4743401" imgH="838144" progId="Equation.3">
                  <p:embed/>
                </p:oleObj>
              </mc:Choice>
              <mc:Fallback>
                <p:oleObj name="公式" r:id="rId19" imgW="4743401" imgH="838144" progId="Equation.3">
                  <p:embed/>
                  <p:pic>
                    <p:nvPicPr>
                      <p:cNvPr id="0" name="Object 19"/>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34655" y="2813051"/>
                        <a:ext cx="4256087"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92" name="Text Box 20"/>
          <p:cNvSpPr txBox="1">
            <a:spLocks noChangeArrowheads="1"/>
          </p:cNvSpPr>
          <p:nvPr/>
        </p:nvSpPr>
        <p:spPr bwMode="auto">
          <a:xfrm>
            <a:off x="402855" y="3838576"/>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zh-CN" altLang="en-US" sz="2400" b="1">
                <a:solidFill>
                  <a:schemeClr val="bg1"/>
                </a:solidFill>
                <a:latin typeface="Times New Roman" pitchFamily="18" charset="0"/>
              </a:rPr>
              <a:t>所以</a:t>
            </a:r>
          </a:p>
        </p:txBody>
      </p:sp>
      <p:graphicFrame>
        <p:nvGraphicFramePr>
          <p:cNvPr id="54293" name="Object 21"/>
          <p:cNvGraphicFramePr>
            <a:graphicFrameLocks/>
          </p:cNvGraphicFramePr>
          <p:nvPr>
            <p:extLst>
              <p:ext uri="{D42A27DB-BD31-4B8C-83A1-F6EECF244321}">
                <p14:modId xmlns:p14="http://schemas.microsoft.com/office/powerpoint/2010/main" val="3052298528"/>
              </p:ext>
            </p:extLst>
          </p:nvPr>
        </p:nvGraphicFramePr>
        <p:xfrm>
          <a:off x="834655" y="4424363"/>
          <a:ext cx="3273425" cy="938213"/>
        </p:xfrm>
        <a:graphic>
          <a:graphicData uri="http://schemas.openxmlformats.org/presentationml/2006/ole">
            <mc:AlternateContent xmlns:mc="http://schemas.openxmlformats.org/markup-compatibility/2006">
              <mc:Choice xmlns:v="urn:schemas-microsoft-com:vml" Requires="v">
                <p:oleObj spid="_x0000_s45145" name="公式" r:id="rId21" imgW="3629085" imgH="981209" progId="Equation.3">
                  <p:embed/>
                </p:oleObj>
              </mc:Choice>
              <mc:Fallback>
                <p:oleObj name="公式" r:id="rId21" imgW="3629085" imgH="981209" progId="Equation.3">
                  <p:embed/>
                  <p:pic>
                    <p:nvPicPr>
                      <p:cNvPr id="0" name="Object 21"/>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34655" y="4424363"/>
                        <a:ext cx="3273425" cy="938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94" name="Object 22"/>
          <p:cNvGraphicFramePr>
            <a:graphicFrameLocks/>
          </p:cNvGraphicFramePr>
          <p:nvPr>
            <p:extLst>
              <p:ext uri="{D42A27DB-BD31-4B8C-83A1-F6EECF244321}">
                <p14:modId xmlns:p14="http://schemas.microsoft.com/office/powerpoint/2010/main" val="2967691640"/>
              </p:ext>
            </p:extLst>
          </p:nvPr>
        </p:nvGraphicFramePr>
        <p:xfrm>
          <a:off x="5947992" y="4784726"/>
          <a:ext cx="1173163" cy="401637"/>
        </p:xfrm>
        <a:graphic>
          <a:graphicData uri="http://schemas.openxmlformats.org/presentationml/2006/ole">
            <mc:AlternateContent xmlns:mc="http://schemas.openxmlformats.org/markup-compatibility/2006">
              <mc:Choice xmlns:v="urn:schemas-microsoft-com:vml" Requires="v">
                <p:oleObj spid="_x0000_s45146" name="公式" r:id="rId23" imgW="1238219" imgH="361981" progId="Equation.3">
                  <p:embed/>
                </p:oleObj>
              </mc:Choice>
              <mc:Fallback>
                <p:oleObj name="公式" r:id="rId23" imgW="1238219" imgH="361981" progId="Equation.3">
                  <p:embed/>
                  <p:pic>
                    <p:nvPicPr>
                      <p:cNvPr id="0" name="Object 22"/>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947992" y="4784726"/>
                        <a:ext cx="1173163"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95" name="AutoShape 23"/>
          <p:cNvSpPr>
            <a:spLocks noChangeArrowheads="1"/>
          </p:cNvSpPr>
          <p:nvPr/>
        </p:nvSpPr>
        <p:spPr bwMode="auto">
          <a:xfrm>
            <a:off x="4939930" y="4872038"/>
            <a:ext cx="647700" cy="215900"/>
          </a:xfrm>
          <a:prstGeom prst="rightArrow">
            <a:avLst>
              <a:gd name="adj1" fmla="val 50000"/>
              <a:gd name="adj2" fmla="val 7500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6" name="Rectangle 24"/>
          <p:cNvSpPr>
            <a:spLocks noChangeArrowheads="1"/>
          </p:cNvSpPr>
          <p:nvPr/>
        </p:nvSpPr>
        <p:spPr bwMode="auto">
          <a:xfrm>
            <a:off x="801317" y="5659438"/>
            <a:ext cx="59039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kumimoji="1" lang="zh-CN" altLang="en-US" sz="2400" b="1">
                <a:solidFill>
                  <a:schemeClr val="bg1"/>
                </a:solidFill>
                <a:latin typeface="宋体" pitchFamily="2" charset="-122"/>
              </a:rPr>
              <a:t>以上只是近似讨论，</a:t>
            </a:r>
            <a:r>
              <a:rPr kumimoji="1" lang="zh-CN" altLang="en-US" sz="2400" b="1">
                <a:solidFill>
                  <a:schemeClr val="bg1"/>
                </a:solidFill>
                <a:latin typeface="Times New Roman" pitchFamily="18" charset="0"/>
              </a:rPr>
              <a:t>只适用高速自转，即</a:t>
            </a:r>
          </a:p>
        </p:txBody>
      </p:sp>
      <p:sp>
        <p:nvSpPr>
          <p:cNvPr id="54297" name="Text Box 25"/>
          <p:cNvSpPr txBox="1">
            <a:spLocks noChangeArrowheads="1"/>
          </p:cNvSpPr>
          <p:nvPr/>
        </p:nvSpPr>
        <p:spPr bwMode="auto">
          <a:xfrm>
            <a:off x="475880" y="885826"/>
            <a:ext cx="2270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400" b="1">
                <a:solidFill>
                  <a:schemeClr val="bg1"/>
                </a:solidFill>
                <a:latin typeface="Times New Roman" pitchFamily="18" charset="0"/>
              </a:rPr>
              <a:t>动量矩定理</a:t>
            </a:r>
          </a:p>
        </p:txBody>
      </p:sp>
      <p:graphicFrame>
        <p:nvGraphicFramePr>
          <p:cNvPr id="54298" name="Object 26"/>
          <p:cNvGraphicFramePr>
            <a:graphicFrameLocks/>
          </p:cNvGraphicFramePr>
          <p:nvPr>
            <p:extLst>
              <p:ext uri="{D42A27DB-BD31-4B8C-83A1-F6EECF244321}">
                <p14:modId xmlns:p14="http://schemas.microsoft.com/office/powerpoint/2010/main" val="2346009395"/>
              </p:ext>
            </p:extLst>
          </p:nvPr>
        </p:nvGraphicFramePr>
        <p:xfrm>
          <a:off x="6740155" y="5732463"/>
          <a:ext cx="915987" cy="257175"/>
        </p:xfrm>
        <a:graphic>
          <a:graphicData uri="http://schemas.openxmlformats.org/presentationml/2006/ole">
            <mc:AlternateContent xmlns:mc="http://schemas.openxmlformats.org/markup-compatibility/2006">
              <mc:Choice xmlns:v="urn:schemas-microsoft-com:vml" Requires="v">
                <p:oleObj spid="_x0000_s45147" name="公式" r:id="rId25" imgW="952621" imgH="200021" progId="Equation.3">
                  <p:embed/>
                </p:oleObj>
              </mc:Choice>
              <mc:Fallback>
                <p:oleObj name="公式" r:id="rId25" imgW="952621" imgH="200021" progId="Equation.3">
                  <p:embed/>
                  <p:pic>
                    <p:nvPicPr>
                      <p:cNvPr id="0" name="Object 26"/>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740155" y="5732463"/>
                        <a:ext cx="915987"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99" name="Line 27"/>
          <p:cNvSpPr>
            <a:spLocks noChangeShapeType="1"/>
          </p:cNvSpPr>
          <p:nvPr/>
        </p:nvSpPr>
        <p:spPr bwMode="auto">
          <a:xfrm flipH="1" flipV="1">
            <a:off x="7670430" y="1084263"/>
            <a:ext cx="590550" cy="455613"/>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54300" name="Object 28"/>
          <p:cNvGraphicFramePr>
            <a:graphicFrameLocks/>
          </p:cNvGraphicFramePr>
          <p:nvPr>
            <p:extLst>
              <p:ext uri="{D42A27DB-BD31-4B8C-83A1-F6EECF244321}">
                <p14:modId xmlns:p14="http://schemas.microsoft.com/office/powerpoint/2010/main" val="3720186285"/>
              </p:ext>
            </p:extLst>
          </p:nvPr>
        </p:nvGraphicFramePr>
        <p:xfrm>
          <a:off x="7892680" y="984251"/>
          <a:ext cx="295275" cy="266700"/>
        </p:xfrm>
        <a:graphic>
          <a:graphicData uri="http://schemas.openxmlformats.org/presentationml/2006/ole">
            <mc:AlternateContent xmlns:mc="http://schemas.openxmlformats.org/markup-compatibility/2006">
              <mc:Choice xmlns:v="urn:schemas-microsoft-com:vml" Requires="v">
                <p:oleObj spid="_x0000_s45148" name="公式" r:id="rId27" imgW="333377" imgH="295307" progId="Equation.3">
                  <p:embed/>
                </p:oleObj>
              </mc:Choice>
              <mc:Fallback>
                <p:oleObj name="公式" r:id="rId27" imgW="333377" imgH="295307" progId="Equation.3">
                  <p:embed/>
                  <p:pic>
                    <p:nvPicPr>
                      <p:cNvPr id="0" name="Object 28"/>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892680" y="984251"/>
                        <a:ext cx="295275"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301" name="Arc 29"/>
          <p:cNvSpPr>
            <a:spLocks/>
          </p:cNvSpPr>
          <p:nvPr/>
        </p:nvSpPr>
        <p:spPr bwMode="auto">
          <a:xfrm flipV="1">
            <a:off x="6673480" y="3509963"/>
            <a:ext cx="317500" cy="315913"/>
          </a:xfrm>
          <a:custGeom>
            <a:avLst/>
            <a:gdLst>
              <a:gd name="T0" fmla="*/ 2147483647 w 11906"/>
              <a:gd name="T1" fmla="*/ 2147483647 h 21043"/>
              <a:gd name="T2" fmla="*/ 2147483647 w 11906"/>
              <a:gd name="T3" fmla="*/ 2147483647 h 21043"/>
              <a:gd name="T4" fmla="*/ 0 w 11906"/>
              <a:gd name="T5" fmla="*/ 0 h 21043"/>
              <a:gd name="T6" fmla="*/ 0 60000 65536"/>
              <a:gd name="T7" fmla="*/ 0 60000 65536"/>
              <a:gd name="T8" fmla="*/ 0 60000 65536"/>
            </a:gdLst>
            <a:ahLst/>
            <a:cxnLst>
              <a:cxn ang="T6">
                <a:pos x="T0" y="T1"/>
              </a:cxn>
              <a:cxn ang="T7">
                <a:pos x="T2" y="T3"/>
              </a:cxn>
              <a:cxn ang="T8">
                <a:pos x="T4" y="T5"/>
              </a:cxn>
            </a:cxnLst>
            <a:rect l="0" t="0" r="r" b="b"/>
            <a:pathLst>
              <a:path w="11906" h="21043" fill="none" extrusionOk="0">
                <a:moveTo>
                  <a:pt x="11905" y="18022"/>
                </a:moveTo>
                <a:cubicBezTo>
                  <a:pt x="9759" y="19440"/>
                  <a:pt x="7378" y="20462"/>
                  <a:pt x="4873" y="21043"/>
                </a:cubicBezTo>
              </a:path>
              <a:path w="11906" h="21043" stroke="0" extrusionOk="0">
                <a:moveTo>
                  <a:pt x="11905" y="18022"/>
                </a:moveTo>
                <a:cubicBezTo>
                  <a:pt x="9759" y="19440"/>
                  <a:pt x="7378" y="20462"/>
                  <a:pt x="4873" y="21043"/>
                </a:cubicBezTo>
                <a:lnTo>
                  <a:pt x="0" y="0"/>
                </a:lnTo>
                <a:lnTo>
                  <a:pt x="11905" y="18022"/>
                </a:lnTo>
                <a:close/>
              </a:path>
            </a:pathLst>
          </a:custGeom>
          <a:noFill/>
          <a:ln w="28575">
            <a:solidFill>
              <a:srgbClr val="FFFF00"/>
            </a:solidFill>
            <a:round/>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87"/>
                                        </p:tgtEl>
                                        <p:attrNameLst>
                                          <p:attrName>style.visibility</p:attrName>
                                        </p:attrNameLst>
                                      </p:cBhvr>
                                      <p:to>
                                        <p:strVal val="visible"/>
                                      </p:to>
                                    </p:set>
                                    <p:animEffect transition="in" filter="wipe(left)">
                                      <p:cBhvr>
                                        <p:cTn id="7" dur="500"/>
                                        <p:tgtEl>
                                          <p:spTgt spid="542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4278"/>
                                        </p:tgtEl>
                                        <p:attrNameLst>
                                          <p:attrName>style.visibility</p:attrName>
                                        </p:attrNameLst>
                                      </p:cBhvr>
                                      <p:to>
                                        <p:strVal val="visible"/>
                                      </p:to>
                                    </p:set>
                                    <p:animEffect transition="in" filter="wipe(left)">
                                      <p:cBhvr>
                                        <p:cTn id="12" dur="500"/>
                                        <p:tgtEl>
                                          <p:spTgt spid="54278"/>
                                        </p:tgtEl>
                                      </p:cBhvr>
                                    </p:animEffect>
                                  </p:childTnLst>
                                </p:cTn>
                              </p:par>
                            </p:childTnLst>
                          </p:cTn>
                        </p:par>
                        <p:par>
                          <p:cTn id="13" fill="hold" nodeType="afterGroup">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54276"/>
                                        </p:tgtEl>
                                        <p:attrNameLst>
                                          <p:attrName>style.visibility</p:attrName>
                                        </p:attrNameLst>
                                      </p:cBhvr>
                                      <p:to>
                                        <p:strVal val="visible"/>
                                      </p:to>
                                    </p:set>
                                    <p:animEffect transition="in" filter="wipe(down)">
                                      <p:cBhvr>
                                        <p:cTn id="16" dur="500"/>
                                        <p:tgtEl>
                                          <p:spTgt spid="5427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54277"/>
                                        </p:tgtEl>
                                        <p:attrNameLst>
                                          <p:attrName>style.visibility</p:attrName>
                                        </p:attrNameLst>
                                      </p:cBhvr>
                                      <p:to>
                                        <p:strVal val="visible"/>
                                      </p:to>
                                    </p:set>
                                    <p:animEffect transition="in" filter="wipe(down)">
                                      <p:cBhvr>
                                        <p:cTn id="21" dur="500"/>
                                        <p:tgtEl>
                                          <p:spTgt spid="5427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54283"/>
                                        </p:tgtEl>
                                        <p:attrNameLst>
                                          <p:attrName>style.visibility</p:attrName>
                                        </p:attrNameLst>
                                      </p:cBhvr>
                                      <p:to>
                                        <p:strVal val="visible"/>
                                      </p:to>
                                    </p:set>
                                    <p:animEffect transition="in" filter="wipe(left)">
                                      <p:cBhvr>
                                        <p:cTn id="26" dur="500"/>
                                        <p:tgtEl>
                                          <p:spTgt spid="5428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54275"/>
                                        </p:tgtEl>
                                        <p:attrNameLst>
                                          <p:attrName>style.visibility</p:attrName>
                                        </p:attrNameLst>
                                      </p:cBhvr>
                                      <p:to>
                                        <p:strVal val="visible"/>
                                      </p:to>
                                    </p:set>
                                    <p:anim calcmode="lin" valueType="num">
                                      <p:cBhvr>
                                        <p:cTn id="31" dur="500" fill="hold"/>
                                        <p:tgtEl>
                                          <p:spTgt spid="54275"/>
                                        </p:tgtEl>
                                        <p:attrNameLst>
                                          <p:attrName>ppt_w</p:attrName>
                                        </p:attrNameLst>
                                      </p:cBhvr>
                                      <p:tavLst>
                                        <p:tav tm="0">
                                          <p:val>
                                            <p:fltVal val="0"/>
                                          </p:val>
                                        </p:tav>
                                        <p:tav tm="100000">
                                          <p:val>
                                            <p:strVal val="#ppt_w"/>
                                          </p:val>
                                        </p:tav>
                                      </p:tavLst>
                                    </p:anim>
                                    <p:anim calcmode="lin" valueType="num">
                                      <p:cBhvr>
                                        <p:cTn id="32" dur="500" fill="hold"/>
                                        <p:tgtEl>
                                          <p:spTgt spid="54275"/>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54301"/>
                                        </p:tgtEl>
                                        <p:attrNameLst>
                                          <p:attrName>style.visibility</p:attrName>
                                        </p:attrNameLst>
                                      </p:cBhvr>
                                      <p:to>
                                        <p:strVal val="visible"/>
                                      </p:to>
                                    </p:set>
                                    <p:animEffect transition="in" filter="wipe(right)">
                                      <p:cBhvr>
                                        <p:cTn id="37" dur="500"/>
                                        <p:tgtEl>
                                          <p:spTgt spid="54301"/>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54281"/>
                                        </p:tgtEl>
                                        <p:attrNameLst>
                                          <p:attrName>style.visibility</p:attrName>
                                        </p:attrNameLst>
                                      </p:cBhvr>
                                      <p:to>
                                        <p:strVal val="visible"/>
                                      </p:to>
                                    </p:set>
                                    <p:animEffect transition="in" filter="wipe(left)">
                                      <p:cBhvr>
                                        <p:cTn id="41" dur="500"/>
                                        <p:tgtEl>
                                          <p:spTgt spid="5428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4297"/>
                                        </p:tgtEl>
                                        <p:attrNameLst>
                                          <p:attrName>style.visibility</p:attrName>
                                        </p:attrNameLst>
                                      </p:cBhvr>
                                      <p:to>
                                        <p:strVal val="visible"/>
                                      </p:to>
                                    </p:set>
                                    <p:animEffect transition="in" filter="wipe(left)">
                                      <p:cBhvr>
                                        <p:cTn id="46" dur="500"/>
                                        <p:tgtEl>
                                          <p:spTgt spid="5429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54290"/>
                                        </p:tgtEl>
                                        <p:attrNameLst>
                                          <p:attrName>style.visibility</p:attrName>
                                        </p:attrNameLst>
                                      </p:cBhvr>
                                      <p:to>
                                        <p:strVal val="visible"/>
                                      </p:to>
                                    </p:set>
                                    <p:animEffect transition="in" filter="wipe(left)">
                                      <p:cBhvr>
                                        <p:cTn id="51" dur="500"/>
                                        <p:tgtEl>
                                          <p:spTgt spid="5429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54279"/>
                                        </p:tgtEl>
                                        <p:attrNameLst>
                                          <p:attrName>style.visibility</p:attrName>
                                        </p:attrNameLst>
                                      </p:cBhvr>
                                      <p:to>
                                        <p:strVal val="visible"/>
                                      </p:to>
                                    </p:set>
                                    <p:animEffect transition="in" filter="wipe(left)">
                                      <p:cBhvr>
                                        <p:cTn id="56" dur="500"/>
                                        <p:tgtEl>
                                          <p:spTgt spid="54279"/>
                                        </p:tgtEl>
                                      </p:cBhvr>
                                    </p:animEffect>
                                  </p:childTnLst>
                                </p:cTn>
                              </p:par>
                            </p:childTnLst>
                          </p:cTn>
                        </p:par>
                        <p:par>
                          <p:cTn id="57" fill="hold" nodeType="afterGroup">
                            <p:stCondLst>
                              <p:cond delay="500"/>
                            </p:stCondLst>
                            <p:childTnLst>
                              <p:par>
                                <p:cTn id="58" presetID="22" presetClass="entr" presetSubtype="8" fill="hold" nodeType="afterEffect">
                                  <p:stCondLst>
                                    <p:cond delay="0"/>
                                  </p:stCondLst>
                                  <p:childTnLst>
                                    <p:set>
                                      <p:cBhvr>
                                        <p:cTn id="59" dur="1" fill="hold">
                                          <p:stCondLst>
                                            <p:cond delay="0"/>
                                          </p:stCondLst>
                                        </p:cTn>
                                        <p:tgtEl>
                                          <p:spTgt spid="54284"/>
                                        </p:tgtEl>
                                        <p:attrNameLst>
                                          <p:attrName>style.visibility</p:attrName>
                                        </p:attrNameLst>
                                      </p:cBhvr>
                                      <p:to>
                                        <p:strVal val="visible"/>
                                      </p:to>
                                    </p:set>
                                    <p:animEffect transition="in" filter="wipe(left)">
                                      <p:cBhvr>
                                        <p:cTn id="60" dur="500"/>
                                        <p:tgtEl>
                                          <p:spTgt spid="5428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54280"/>
                                        </p:tgtEl>
                                        <p:attrNameLst>
                                          <p:attrName>style.visibility</p:attrName>
                                        </p:attrNameLst>
                                      </p:cBhvr>
                                      <p:to>
                                        <p:strVal val="visible"/>
                                      </p:to>
                                    </p:set>
                                    <p:animEffect transition="in" filter="wipe(down)">
                                      <p:cBhvr>
                                        <p:cTn id="65" dur="500"/>
                                        <p:tgtEl>
                                          <p:spTgt spid="54280"/>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54286"/>
                                        </p:tgtEl>
                                        <p:attrNameLst>
                                          <p:attrName>style.visibility</p:attrName>
                                        </p:attrNameLst>
                                      </p:cBhvr>
                                      <p:to>
                                        <p:strVal val="visible"/>
                                      </p:to>
                                    </p:set>
                                    <p:animEffect transition="in" filter="wipe(down)">
                                      <p:cBhvr>
                                        <p:cTn id="70" dur="500"/>
                                        <p:tgtEl>
                                          <p:spTgt spid="54286"/>
                                        </p:tgtEl>
                                      </p:cBhvr>
                                    </p:animEffect>
                                  </p:childTnLst>
                                </p:cTn>
                              </p:par>
                            </p:childTnLst>
                          </p:cTn>
                        </p:par>
                        <p:par>
                          <p:cTn id="71" fill="hold" nodeType="afterGroup">
                            <p:stCondLst>
                              <p:cond delay="500"/>
                            </p:stCondLst>
                            <p:childTnLst>
                              <p:par>
                                <p:cTn id="72" presetID="22" presetClass="entr" presetSubtype="8" fill="hold" nodeType="afterEffect">
                                  <p:stCondLst>
                                    <p:cond delay="0"/>
                                  </p:stCondLst>
                                  <p:childTnLst>
                                    <p:set>
                                      <p:cBhvr>
                                        <p:cTn id="73" dur="1" fill="hold">
                                          <p:stCondLst>
                                            <p:cond delay="0"/>
                                          </p:stCondLst>
                                        </p:cTn>
                                        <p:tgtEl>
                                          <p:spTgt spid="54285"/>
                                        </p:tgtEl>
                                        <p:attrNameLst>
                                          <p:attrName>style.visibility</p:attrName>
                                        </p:attrNameLst>
                                      </p:cBhvr>
                                      <p:to>
                                        <p:strVal val="visible"/>
                                      </p:to>
                                    </p:set>
                                    <p:animEffect transition="in" filter="wipe(left)">
                                      <p:cBhvr>
                                        <p:cTn id="74" dur="500"/>
                                        <p:tgtEl>
                                          <p:spTgt spid="54285"/>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54299"/>
                                        </p:tgtEl>
                                        <p:attrNameLst>
                                          <p:attrName>style.visibility</p:attrName>
                                        </p:attrNameLst>
                                      </p:cBhvr>
                                      <p:to>
                                        <p:strVal val="visible"/>
                                      </p:to>
                                    </p:set>
                                    <p:animEffect transition="in" filter="wipe(down)">
                                      <p:cBhvr>
                                        <p:cTn id="79" dur="500"/>
                                        <p:tgtEl>
                                          <p:spTgt spid="54299"/>
                                        </p:tgtEl>
                                      </p:cBhvr>
                                    </p:animEffect>
                                  </p:childTnLst>
                                </p:cTn>
                              </p:par>
                            </p:childTnLst>
                          </p:cTn>
                        </p:par>
                        <p:par>
                          <p:cTn id="80" fill="hold" nodeType="afterGroup">
                            <p:stCondLst>
                              <p:cond delay="500"/>
                            </p:stCondLst>
                            <p:childTnLst>
                              <p:par>
                                <p:cTn id="81" presetID="22" presetClass="entr" presetSubtype="8" fill="hold" nodeType="afterEffect">
                                  <p:stCondLst>
                                    <p:cond delay="0"/>
                                  </p:stCondLst>
                                  <p:childTnLst>
                                    <p:set>
                                      <p:cBhvr>
                                        <p:cTn id="82" dur="1" fill="hold">
                                          <p:stCondLst>
                                            <p:cond delay="0"/>
                                          </p:stCondLst>
                                        </p:cTn>
                                        <p:tgtEl>
                                          <p:spTgt spid="54300"/>
                                        </p:tgtEl>
                                        <p:attrNameLst>
                                          <p:attrName>style.visibility</p:attrName>
                                        </p:attrNameLst>
                                      </p:cBhvr>
                                      <p:to>
                                        <p:strVal val="visible"/>
                                      </p:to>
                                    </p:set>
                                    <p:animEffect transition="in" filter="wipe(left)">
                                      <p:cBhvr>
                                        <p:cTn id="83" dur="500"/>
                                        <p:tgtEl>
                                          <p:spTgt spid="54300"/>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54289"/>
                                        </p:tgtEl>
                                        <p:attrNameLst>
                                          <p:attrName>style.visibility</p:attrName>
                                        </p:attrNameLst>
                                      </p:cBhvr>
                                      <p:to>
                                        <p:strVal val="visible"/>
                                      </p:to>
                                    </p:set>
                                    <p:animEffect transition="in" filter="wipe(left)">
                                      <p:cBhvr>
                                        <p:cTn id="88" dur="500"/>
                                        <p:tgtEl>
                                          <p:spTgt spid="54289"/>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54288"/>
                                        </p:tgtEl>
                                        <p:attrNameLst>
                                          <p:attrName>style.visibility</p:attrName>
                                        </p:attrNameLst>
                                      </p:cBhvr>
                                      <p:to>
                                        <p:strVal val="visible"/>
                                      </p:to>
                                    </p:set>
                                    <p:animEffect transition="in" filter="wipe(left)">
                                      <p:cBhvr>
                                        <p:cTn id="93" dur="500"/>
                                        <p:tgtEl>
                                          <p:spTgt spid="54288"/>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54291"/>
                                        </p:tgtEl>
                                        <p:attrNameLst>
                                          <p:attrName>style.visibility</p:attrName>
                                        </p:attrNameLst>
                                      </p:cBhvr>
                                      <p:to>
                                        <p:strVal val="visible"/>
                                      </p:to>
                                    </p:set>
                                    <p:animEffect transition="in" filter="wipe(left)">
                                      <p:cBhvr>
                                        <p:cTn id="98" dur="500"/>
                                        <p:tgtEl>
                                          <p:spTgt spid="54291"/>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54274"/>
                                        </p:tgtEl>
                                        <p:attrNameLst>
                                          <p:attrName>style.visibility</p:attrName>
                                        </p:attrNameLst>
                                      </p:cBhvr>
                                      <p:to>
                                        <p:strVal val="visible"/>
                                      </p:to>
                                    </p:set>
                                    <p:animEffect transition="in" filter="wipe(left)">
                                      <p:cBhvr>
                                        <p:cTn id="103" dur="500"/>
                                        <p:tgtEl>
                                          <p:spTgt spid="54274"/>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nodeType="clickEffect">
                                  <p:stCondLst>
                                    <p:cond delay="0"/>
                                  </p:stCondLst>
                                  <p:childTnLst>
                                    <p:set>
                                      <p:cBhvr>
                                        <p:cTn id="107" dur="1" fill="hold">
                                          <p:stCondLst>
                                            <p:cond delay="0"/>
                                          </p:stCondLst>
                                        </p:cTn>
                                        <p:tgtEl>
                                          <p:spTgt spid="54282"/>
                                        </p:tgtEl>
                                        <p:attrNameLst>
                                          <p:attrName>style.visibility</p:attrName>
                                        </p:attrNameLst>
                                      </p:cBhvr>
                                      <p:to>
                                        <p:strVal val="visible"/>
                                      </p:to>
                                    </p:set>
                                    <p:animEffect transition="in" filter="wipe(left)">
                                      <p:cBhvr>
                                        <p:cTn id="108" dur="500"/>
                                        <p:tgtEl>
                                          <p:spTgt spid="54282"/>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54292"/>
                                        </p:tgtEl>
                                        <p:attrNameLst>
                                          <p:attrName>style.visibility</p:attrName>
                                        </p:attrNameLst>
                                      </p:cBhvr>
                                      <p:to>
                                        <p:strVal val="visible"/>
                                      </p:to>
                                    </p:set>
                                    <p:animEffect transition="in" filter="wipe(left)">
                                      <p:cBhvr>
                                        <p:cTn id="113" dur="500"/>
                                        <p:tgtEl>
                                          <p:spTgt spid="54292"/>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54293"/>
                                        </p:tgtEl>
                                        <p:attrNameLst>
                                          <p:attrName>style.visibility</p:attrName>
                                        </p:attrNameLst>
                                      </p:cBhvr>
                                      <p:to>
                                        <p:strVal val="visible"/>
                                      </p:to>
                                    </p:set>
                                    <p:animEffect transition="in" filter="wipe(left)">
                                      <p:cBhvr>
                                        <p:cTn id="118" dur="500"/>
                                        <p:tgtEl>
                                          <p:spTgt spid="54293"/>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54295"/>
                                        </p:tgtEl>
                                        <p:attrNameLst>
                                          <p:attrName>style.visibility</p:attrName>
                                        </p:attrNameLst>
                                      </p:cBhvr>
                                      <p:to>
                                        <p:strVal val="visible"/>
                                      </p:to>
                                    </p:set>
                                    <p:animEffect transition="in" filter="wipe(left)">
                                      <p:cBhvr>
                                        <p:cTn id="123" dur="500"/>
                                        <p:tgtEl>
                                          <p:spTgt spid="54295"/>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nodeType="clickEffect">
                                  <p:stCondLst>
                                    <p:cond delay="0"/>
                                  </p:stCondLst>
                                  <p:childTnLst>
                                    <p:set>
                                      <p:cBhvr>
                                        <p:cTn id="127" dur="1" fill="hold">
                                          <p:stCondLst>
                                            <p:cond delay="0"/>
                                          </p:stCondLst>
                                        </p:cTn>
                                        <p:tgtEl>
                                          <p:spTgt spid="54294"/>
                                        </p:tgtEl>
                                        <p:attrNameLst>
                                          <p:attrName>style.visibility</p:attrName>
                                        </p:attrNameLst>
                                      </p:cBhvr>
                                      <p:to>
                                        <p:strVal val="visible"/>
                                      </p:to>
                                    </p:set>
                                    <p:animEffect transition="in" filter="wipe(left)">
                                      <p:cBhvr>
                                        <p:cTn id="128" dur="500"/>
                                        <p:tgtEl>
                                          <p:spTgt spid="54294"/>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54296"/>
                                        </p:tgtEl>
                                        <p:attrNameLst>
                                          <p:attrName>style.visibility</p:attrName>
                                        </p:attrNameLst>
                                      </p:cBhvr>
                                      <p:to>
                                        <p:strVal val="visible"/>
                                      </p:to>
                                    </p:set>
                                    <p:animEffect transition="in" filter="wipe(left)">
                                      <p:cBhvr>
                                        <p:cTn id="133" dur="500"/>
                                        <p:tgtEl>
                                          <p:spTgt spid="54296"/>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8" fill="hold" nodeType="clickEffect">
                                  <p:stCondLst>
                                    <p:cond delay="0"/>
                                  </p:stCondLst>
                                  <p:childTnLst>
                                    <p:set>
                                      <p:cBhvr>
                                        <p:cTn id="137" dur="1" fill="hold">
                                          <p:stCondLst>
                                            <p:cond delay="0"/>
                                          </p:stCondLst>
                                        </p:cTn>
                                        <p:tgtEl>
                                          <p:spTgt spid="54298"/>
                                        </p:tgtEl>
                                        <p:attrNameLst>
                                          <p:attrName>style.visibility</p:attrName>
                                        </p:attrNameLst>
                                      </p:cBhvr>
                                      <p:to>
                                        <p:strVal val="visible"/>
                                      </p:to>
                                    </p:set>
                                    <p:animEffect transition="in" filter="wipe(left)">
                                      <p:cBhvr>
                                        <p:cTn id="138" dur="500"/>
                                        <p:tgtEl>
                                          <p:spTgt spid="54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animBg="1"/>
      <p:bldP spid="54275" grpId="0" animBg="1"/>
      <p:bldP spid="54276" grpId="0" animBg="1"/>
      <p:bldP spid="54277" grpId="0" animBg="1"/>
      <p:bldP spid="54279" grpId="0" animBg="1"/>
      <p:bldP spid="54280" grpId="0" animBg="1"/>
      <p:bldP spid="54286" grpId="0" animBg="1"/>
      <p:bldP spid="54287" grpId="0"/>
      <p:bldP spid="54289" grpId="0"/>
      <p:bldP spid="54292" grpId="0"/>
      <p:bldP spid="54295" grpId="0" animBg="1"/>
      <p:bldP spid="54296" grpId="0"/>
      <p:bldP spid="54297" grpId="0"/>
      <p:bldP spid="54299" grpId="0" animBg="1"/>
      <p:bldP spid="54301"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EAA665A3-4AB6-44B1-8016-8D3E0656CCA8}"/>
              </a:ext>
            </a:extLst>
          </p:cNvPr>
          <p:cNvPicPr>
            <a:picLocks noChangeAspect="1"/>
          </p:cNvPicPr>
          <p:nvPr/>
        </p:nvPicPr>
        <p:blipFill>
          <a:blip r:embed="rId2"/>
          <a:stretch>
            <a:fillRect/>
          </a:stretch>
        </p:blipFill>
        <p:spPr>
          <a:xfrm>
            <a:off x="508864" y="116632"/>
            <a:ext cx="8126272" cy="5472608"/>
          </a:xfrm>
          <a:prstGeom prst="rect">
            <a:avLst/>
          </a:prstGeom>
        </p:spPr>
      </p:pic>
      <p:pic>
        <p:nvPicPr>
          <p:cNvPr id="16" name="图片 15">
            <a:extLst>
              <a:ext uri="{FF2B5EF4-FFF2-40B4-BE49-F238E27FC236}">
                <a16:creationId xmlns:a16="http://schemas.microsoft.com/office/drawing/2014/main" id="{883B8A11-4F14-4D38-8F3E-BC0F44E37436}"/>
              </a:ext>
            </a:extLst>
          </p:cNvPr>
          <p:cNvPicPr>
            <a:picLocks noChangeAspect="1"/>
          </p:cNvPicPr>
          <p:nvPr/>
        </p:nvPicPr>
        <p:blipFill>
          <a:blip r:embed="rId3"/>
          <a:stretch>
            <a:fillRect/>
          </a:stretch>
        </p:blipFill>
        <p:spPr>
          <a:xfrm>
            <a:off x="1547664" y="5605336"/>
            <a:ext cx="6300700" cy="1067191"/>
          </a:xfrm>
          <a:prstGeom prst="rect">
            <a:avLst/>
          </a:prstGeom>
        </p:spPr>
      </p:pic>
    </p:spTree>
    <p:extLst>
      <p:ext uri="{BB962C8B-B14F-4D97-AF65-F5344CB8AC3E}">
        <p14:creationId xmlns:p14="http://schemas.microsoft.com/office/powerpoint/2010/main" val="3177136787"/>
      </p:ext>
    </p:extLst>
  </p:cSld>
  <p:clrMapOvr>
    <a:masterClrMapping/>
  </p:clrMapOvr>
  <p:transition spd="slow">
    <p:wipe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F2DF272-38F4-490F-9963-6B2264583784}"/>
              </a:ext>
            </a:extLst>
          </p:cNvPr>
          <p:cNvPicPr>
            <a:picLocks noChangeAspect="1"/>
          </p:cNvPicPr>
          <p:nvPr/>
        </p:nvPicPr>
        <p:blipFill>
          <a:blip r:embed="rId2"/>
          <a:stretch>
            <a:fillRect/>
          </a:stretch>
        </p:blipFill>
        <p:spPr>
          <a:xfrm>
            <a:off x="362476" y="500428"/>
            <a:ext cx="8419048" cy="5857143"/>
          </a:xfrm>
          <a:prstGeom prst="rect">
            <a:avLst/>
          </a:prstGeom>
        </p:spPr>
      </p:pic>
    </p:spTree>
    <p:extLst>
      <p:ext uri="{BB962C8B-B14F-4D97-AF65-F5344CB8AC3E}">
        <p14:creationId xmlns:p14="http://schemas.microsoft.com/office/powerpoint/2010/main" val="3930763241"/>
      </p:ext>
    </p:extLst>
  </p:cSld>
  <p:clrMapOvr>
    <a:masterClrMapping/>
  </p:clrMapOvr>
  <p:transition spd="slow">
    <p:wipe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656E1B6-92FF-49B1-A42D-B0A15D51E6F1}"/>
              </a:ext>
            </a:extLst>
          </p:cNvPr>
          <p:cNvSpPr/>
          <p:nvPr/>
        </p:nvSpPr>
        <p:spPr>
          <a:xfrm>
            <a:off x="251520" y="188640"/>
            <a:ext cx="5642891" cy="1200329"/>
          </a:xfrm>
          <a:prstGeom prst="rect">
            <a:avLst/>
          </a:prstGeom>
        </p:spPr>
        <p:txBody>
          <a:bodyPr wrap="none">
            <a:spAutoFit/>
          </a:bodyPr>
          <a:lstStyle/>
          <a:p>
            <a:r>
              <a:rPr lang="zh-CN" altLang="en-US" b="1" dirty="0">
                <a:solidFill>
                  <a:srgbClr val="FFC000"/>
                </a:solidFill>
              </a:rPr>
              <a:t>第三次</a:t>
            </a:r>
            <a:r>
              <a:rPr lang="zh-CN" altLang="zh-CN" b="1" dirty="0">
                <a:solidFill>
                  <a:srgbClr val="FFC000"/>
                </a:solidFill>
              </a:rPr>
              <a:t>作业</a:t>
            </a:r>
            <a:r>
              <a:rPr lang="en-US" altLang="zh-CN" b="1" dirty="0">
                <a:solidFill>
                  <a:srgbClr val="FFC000"/>
                </a:solidFill>
              </a:rPr>
              <a:t> </a:t>
            </a:r>
            <a:r>
              <a:rPr lang="zh-CN" altLang="en-US" b="1" dirty="0">
                <a:solidFill>
                  <a:srgbClr val="FFC000"/>
                </a:solidFill>
              </a:rPr>
              <a:t>（教材</a:t>
            </a:r>
            <a:r>
              <a:rPr lang="en-US" altLang="zh-CN" b="1" dirty="0">
                <a:solidFill>
                  <a:srgbClr val="FFC000"/>
                </a:solidFill>
              </a:rPr>
              <a:t>8</a:t>
            </a:r>
            <a:r>
              <a:rPr lang="zh-CN" altLang="en-US" b="1" dirty="0">
                <a:solidFill>
                  <a:srgbClr val="FFC000"/>
                </a:solidFill>
              </a:rPr>
              <a:t>个题，补充</a:t>
            </a:r>
            <a:r>
              <a:rPr lang="en-US" altLang="zh-CN" b="1" dirty="0">
                <a:solidFill>
                  <a:srgbClr val="FFC000"/>
                </a:solidFill>
              </a:rPr>
              <a:t>2</a:t>
            </a:r>
            <a:r>
              <a:rPr lang="zh-CN" altLang="en-US" b="1" dirty="0">
                <a:solidFill>
                  <a:srgbClr val="FFC000"/>
                </a:solidFill>
              </a:rPr>
              <a:t>个题，一共</a:t>
            </a:r>
            <a:r>
              <a:rPr lang="en-US" altLang="zh-CN" b="1" dirty="0">
                <a:solidFill>
                  <a:srgbClr val="FFC000"/>
                </a:solidFill>
              </a:rPr>
              <a:t>10</a:t>
            </a:r>
            <a:r>
              <a:rPr lang="zh-CN" altLang="en-US" b="1" dirty="0">
                <a:solidFill>
                  <a:srgbClr val="FFC000"/>
                </a:solidFill>
              </a:rPr>
              <a:t>个）</a:t>
            </a:r>
            <a:r>
              <a:rPr lang="zh-CN" altLang="zh-CN" b="1" dirty="0">
                <a:solidFill>
                  <a:srgbClr val="FFC000"/>
                </a:solidFill>
              </a:rPr>
              <a:t>：</a:t>
            </a:r>
            <a:endParaRPr lang="en-US" altLang="zh-CN" b="1" dirty="0">
              <a:solidFill>
                <a:srgbClr val="FFC000"/>
              </a:solidFill>
            </a:endParaRPr>
          </a:p>
          <a:p>
            <a:endParaRPr lang="en-US" altLang="zh-CN" b="1" dirty="0">
              <a:solidFill>
                <a:srgbClr val="FFC000"/>
              </a:solidFill>
            </a:endParaRPr>
          </a:p>
          <a:p>
            <a:r>
              <a:rPr lang="en-US" altLang="zh-CN" b="1" dirty="0">
                <a:solidFill>
                  <a:srgbClr val="FFC000"/>
                </a:solidFill>
              </a:rPr>
              <a:t>P. 191   5.4;  5.6;  5.10</a:t>
            </a:r>
          </a:p>
          <a:p>
            <a:r>
              <a:rPr lang="en-US" altLang="zh-CN" b="1" dirty="0">
                <a:solidFill>
                  <a:srgbClr val="FFC000"/>
                </a:solidFill>
              </a:rPr>
              <a:t>P. 226   6.5 ;  6.6 ; 6.17 ;  6.19;  6.21</a:t>
            </a:r>
            <a:endParaRPr lang="zh-CN" altLang="zh-CN" b="1" dirty="0">
              <a:solidFill>
                <a:srgbClr val="FFC000"/>
              </a:solidFill>
            </a:endParaRPr>
          </a:p>
        </p:txBody>
      </p:sp>
      <p:sp>
        <p:nvSpPr>
          <p:cNvPr id="16" name="Rectangle 12">
            <a:extLst>
              <a:ext uri="{FF2B5EF4-FFF2-40B4-BE49-F238E27FC236}">
                <a16:creationId xmlns:a16="http://schemas.microsoft.com/office/drawing/2014/main" id="{47857DB3-25F1-422C-B1F5-03CCCA0EC306}"/>
              </a:ext>
            </a:extLst>
          </p:cNvPr>
          <p:cNvSpPr>
            <a:spLocks noChangeArrowheads="1"/>
          </p:cNvSpPr>
          <p:nvPr/>
        </p:nvSpPr>
        <p:spPr bwMode="auto">
          <a:xfrm>
            <a:off x="6516216" y="429309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8" name="组合 17">
            <a:extLst>
              <a:ext uri="{FF2B5EF4-FFF2-40B4-BE49-F238E27FC236}">
                <a16:creationId xmlns:a16="http://schemas.microsoft.com/office/drawing/2014/main" id="{1F7F8103-78DD-4946-8F07-30A3F85EE1B7}"/>
              </a:ext>
            </a:extLst>
          </p:cNvPr>
          <p:cNvGrpSpPr/>
          <p:nvPr/>
        </p:nvGrpSpPr>
        <p:grpSpPr>
          <a:xfrm>
            <a:off x="242331" y="1844824"/>
            <a:ext cx="6921958" cy="4708981"/>
            <a:chOff x="242331" y="1844824"/>
            <a:chExt cx="6921958" cy="4708981"/>
          </a:xfrm>
        </p:grpSpPr>
        <p:sp>
          <p:nvSpPr>
            <p:cNvPr id="10" name="矩形 9">
              <a:extLst>
                <a:ext uri="{FF2B5EF4-FFF2-40B4-BE49-F238E27FC236}">
                  <a16:creationId xmlns:a16="http://schemas.microsoft.com/office/drawing/2014/main" id="{391923EF-F931-42CE-954F-CEC202C36960}"/>
                </a:ext>
              </a:extLst>
            </p:cNvPr>
            <p:cNvSpPr/>
            <p:nvPr/>
          </p:nvSpPr>
          <p:spPr>
            <a:xfrm>
              <a:off x="242331" y="1844824"/>
              <a:ext cx="6921958" cy="4708981"/>
            </a:xfrm>
            <a:prstGeom prst="rect">
              <a:avLst/>
            </a:prstGeom>
          </p:spPr>
          <p:txBody>
            <a:bodyPr wrap="square">
              <a:spAutoFit/>
            </a:bodyPr>
            <a:lstStyle/>
            <a:p>
              <a:pPr algn="just">
                <a:spcAft>
                  <a:spcPts val="0"/>
                </a:spcAft>
              </a:pPr>
              <a:r>
                <a:rPr lang="en-US" altLang="zh-CN" sz="2000" b="1" kern="100" dirty="0">
                  <a:solidFill>
                    <a:schemeClr val="bg1"/>
                  </a:solidFill>
                  <a:latin typeface="Times New Roman" panose="02020603050405020304" pitchFamily="18" charset="0"/>
                </a:rPr>
                <a:t>9. </a:t>
              </a:r>
              <a:r>
                <a:rPr lang="zh-CN" altLang="zh-CN" sz="2000" b="1" kern="100" dirty="0">
                  <a:solidFill>
                    <a:schemeClr val="bg1"/>
                  </a:solidFill>
                  <a:latin typeface="Times New Roman" panose="02020603050405020304" pitchFamily="18" charset="0"/>
                </a:rPr>
                <a:t>一质量为</a:t>
              </a:r>
              <a:r>
                <a:rPr lang="en-US" altLang="zh-CN" sz="2000" b="1" kern="100" dirty="0">
                  <a:solidFill>
                    <a:schemeClr val="bg1"/>
                  </a:solidFill>
                  <a:latin typeface="Times New Roman" panose="02020603050405020304" pitchFamily="18" charset="0"/>
                </a:rPr>
                <a:t>m</a:t>
              </a:r>
              <a:r>
                <a:rPr lang="zh-CN" altLang="zh-CN" sz="2000" b="1" kern="100" dirty="0">
                  <a:solidFill>
                    <a:schemeClr val="bg1"/>
                  </a:solidFill>
                  <a:latin typeface="Times New Roman" panose="02020603050405020304" pitchFamily="18" charset="0"/>
                </a:rPr>
                <a:t>、长为</a:t>
              </a:r>
              <a:r>
                <a:rPr lang="en-US" altLang="zh-CN" sz="2000" b="1" i="1" kern="100" dirty="0">
                  <a:solidFill>
                    <a:schemeClr val="bg1"/>
                  </a:solidFill>
                  <a:latin typeface="Times New Roman" panose="02020603050405020304" pitchFamily="18" charset="0"/>
                </a:rPr>
                <a:t>l</a:t>
              </a:r>
              <a:r>
                <a:rPr lang="zh-CN" altLang="zh-CN" sz="2000" b="1" kern="100" dirty="0">
                  <a:solidFill>
                    <a:schemeClr val="bg1"/>
                  </a:solidFill>
                  <a:latin typeface="Times New Roman" panose="02020603050405020304" pitchFamily="18" charset="0"/>
                </a:rPr>
                <a:t>的均质细杆，可绕垂直于平面、穿过</a:t>
              </a:r>
              <a:r>
                <a:rPr lang="en-US" altLang="zh-CN" sz="2000" b="1" kern="100" dirty="0">
                  <a:solidFill>
                    <a:schemeClr val="bg1"/>
                  </a:solidFill>
                  <a:latin typeface="Times New Roman" panose="02020603050405020304" pitchFamily="18" charset="0"/>
                </a:rPr>
                <a:t>O</a:t>
              </a:r>
              <a:r>
                <a:rPr lang="zh-CN" altLang="zh-CN" sz="2000" b="1" kern="100" dirty="0">
                  <a:solidFill>
                    <a:schemeClr val="bg1"/>
                  </a:solidFill>
                  <a:latin typeface="Times New Roman" panose="02020603050405020304" pitchFamily="18" charset="0"/>
                </a:rPr>
                <a:t>点的转轴转动，转轴距</a:t>
              </a:r>
              <a:r>
                <a:rPr lang="en-US" altLang="zh-CN" sz="2000" b="1" kern="100" dirty="0">
                  <a:solidFill>
                    <a:schemeClr val="bg1"/>
                  </a:solidFill>
                  <a:latin typeface="Times New Roman" panose="02020603050405020304" pitchFamily="18" charset="0"/>
                </a:rPr>
                <a:t>A</a:t>
              </a:r>
              <a:r>
                <a:rPr lang="zh-CN" altLang="zh-CN" sz="2000" b="1" kern="100" dirty="0">
                  <a:solidFill>
                    <a:schemeClr val="bg1"/>
                  </a:solidFill>
                  <a:latin typeface="Times New Roman" panose="02020603050405020304" pitchFamily="18" charset="0"/>
                </a:rPr>
                <a:t>端</a:t>
              </a:r>
              <a:r>
                <a:rPr lang="en-US" altLang="zh-CN" sz="2000" b="1" i="1" kern="100" dirty="0">
                  <a:solidFill>
                    <a:schemeClr val="bg1"/>
                  </a:solidFill>
                  <a:latin typeface="Times New Roman" panose="02020603050405020304" pitchFamily="18" charset="0"/>
                </a:rPr>
                <a:t>l</a:t>
              </a:r>
              <a:r>
                <a:rPr lang="en-US" altLang="zh-CN" sz="2000" b="1" kern="100" dirty="0">
                  <a:solidFill>
                    <a:schemeClr val="bg1"/>
                  </a:solidFill>
                  <a:latin typeface="Times New Roman" panose="02020603050405020304" pitchFamily="18" charset="0"/>
                </a:rPr>
                <a:t>/3</a:t>
              </a:r>
              <a:r>
                <a:rPr lang="zh-CN" altLang="zh-CN" sz="2000" b="1" kern="100" dirty="0">
                  <a:solidFill>
                    <a:schemeClr val="bg1"/>
                  </a:solidFill>
                  <a:latin typeface="Times New Roman" panose="02020603050405020304" pitchFamily="18" charset="0"/>
                </a:rPr>
                <a:t>。今使杆从静止开始由水平位置绕</a:t>
              </a:r>
              <a:r>
                <a:rPr lang="en-US" altLang="zh-CN" sz="2000" b="1" kern="100" dirty="0">
                  <a:solidFill>
                    <a:schemeClr val="bg1"/>
                  </a:solidFill>
                  <a:latin typeface="Times New Roman" panose="02020603050405020304" pitchFamily="18" charset="0"/>
                </a:rPr>
                <a:t>O</a:t>
              </a:r>
              <a:r>
                <a:rPr lang="zh-CN" altLang="zh-CN" sz="2000" b="1" kern="100" dirty="0">
                  <a:solidFill>
                    <a:schemeClr val="bg1"/>
                  </a:solidFill>
                  <a:latin typeface="Times New Roman" panose="02020603050405020304" pitchFamily="18" charset="0"/>
                </a:rPr>
                <a:t>点转动，求：</a:t>
              </a:r>
            </a:p>
            <a:p>
              <a:pPr algn="just">
                <a:spcAft>
                  <a:spcPts val="0"/>
                </a:spcAft>
              </a:pPr>
              <a:r>
                <a:rPr lang="en-US" altLang="zh-CN" sz="2000" b="1" kern="100" dirty="0">
                  <a:solidFill>
                    <a:schemeClr val="bg1"/>
                  </a:solidFill>
                  <a:latin typeface="Times New Roman" panose="02020603050405020304" pitchFamily="18" charset="0"/>
                </a:rPr>
                <a:t>(1) </a:t>
              </a:r>
              <a:r>
                <a:rPr lang="zh-CN" altLang="zh-CN" sz="2000" b="1" kern="100" dirty="0">
                  <a:solidFill>
                    <a:schemeClr val="bg1"/>
                  </a:solidFill>
                  <a:latin typeface="Times New Roman" panose="02020603050405020304" pitchFamily="18" charset="0"/>
                </a:rPr>
                <a:t>杆水平位置时的角加速度；</a:t>
              </a:r>
            </a:p>
            <a:p>
              <a:pPr algn="just">
                <a:spcAft>
                  <a:spcPts val="0"/>
                </a:spcAft>
              </a:pPr>
              <a:r>
                <a:rPr lang="en-US" altLang="zh-CN" sz="2000" b="1" kern="100" dirty="0">
                  <a:solidFill>
                    <a:schemeClr val="bg1"/>
                  </a:solidFill>
                  <a:latin typeface="Times New Roman" panose="02020603050405020304" pitchFamily="18" charset="0"/>
                </a:rPr>
                <a:t>(2) </a:t>
              </a:r>
              <a:r>
                <a:rPr lang="zh-CN" altLang="zh-CN" sz="2000" b="1" kern="100" dirty="0">
                  <a:solidFill>
                    <a:schemeClr val="bg1"/>
                  </a:solidFill>
                  <a:latin typeface="Times New Roman" panose="02020603050405020304" pitchFamily="18" charset="0"/>
                </a:rPr>
                <a:t>杆垂直位置时的角速度和角加速度；</a:t>
              </a:r>
            </a:p>
            <a:p>
              <a:r>
                <a:rPr lang="en-US" altLang="zh-CN" sz="2000" b="1" kern="100" dirty="0">
                  <a:solidFill>
                    <a:schemeClr val="bg1"/>
                  </a:solidFill>
                  <a:latin typeface="Times New Roman" panose="02020603050405020304" pitchFamily="18" charset="0"/>
                </a:rPr>
                <a:t>(3) </a:t>
              </a:r>
              <a:r>
                <a:rPr lang="zh-CN" altLang="zh-CN" sz="2000" b="1" kern="100" dirty="0">
                  <a:solidFill>
                    <a:schemeClr val="bg1"/>
                  </a:solidFill>
                  <a:latin typeface="Times New Roman" panose="02020603050405020304" pitchFamily="18" charset="0"/>
                  <a:cs typeface="Times New Roman" panose="02020603050405020304" pitchFamily="18" charset="0"/>
                </a:rPr>
                <a:t>垂直位置时，杆的</a:t>
              </a:r>
              <a:r>
                <a:rPr lang="en-US" altLang="zh-CN" sz="2000" b="1" kern="100" dirty="0">
                  <a:solidFill>
                    <a:schemeClr val="bg1"/>
                  </a:solidFill>
                  <a:latin typeface="Times New Roman" panose="02020603050405020304" pitchFamily="18" charset="0"/>
                </a:rPr>
                <a:t>B</a:t>
              </a:r>
              <a:r>
                <a:rPr lang="zh-CN" altLang="zh-CN" sz="2000" b="1" kern="100" dirty="0">
                  <a:solidFill>
                    <a:schemeClr val="bg1"/>
                  </a:solidFill>
                  <a:latin typeface="Times New Roman" panose="02020603050405020304" pitchFamily="18" charset="0"/>
                  <a:cs typeface="Times New Roman" panose="02020603050405020304" pitchFamily="18" charset="0"/>
                </a:rPr>
                <a:t>端与质量同为</a:t>
              </a:r>
              <a:r>
                <a:rPr lang="en-US" altLang="zh-CN" sz="2000" b="1" kern="100" dirty="0">
                  <a:solidFill>
                    <a:schemeClr val="bg1"/>
                  </a:solidFill>
                  <a:latin typeface="Times New Roman" panose="02020603050405020304" pitchFamily="18" charset="0"/>
                </a:rPr>
                <a:t>m</a:t>
              </a:r>
              <a:r>
                <a:rPr lang="zh-CN" altLang="zh-CN" sz="2000" b="1" kern="100" dirty="0">
                  <a:solidFill>
                    <a:schemeClr val="bg1"/>
                  </a:solidFill>
                  <a:latin typeface="Times New Roman" panose="02020603050405020304" pitchFamily="18" charset="0"/>
                  <a:cs typeface="Times New Roman" panose="02020603050405020304" pitchFamily="18" charset="0"/>
                </a:rPr>
                <a:t>的物块</a:t>
              </a:r>
              <a:r>
                <a:rPr lang="en-US" altLang="zh-CN" sz="2000" b="1" kern="100" dirty="0">
                  <a:solidFill>
                    <a:schemeClr val="bg1"/>
                  </a:solidFill>
                  <a:latin typeface="Times New Roman" panose="02020603050405020304" pitchFamily="18" charset="0"/>
                </a:rPr>
                <a:t>C</a:t>
              </a:r>
              <a:r>
                <a:rPr lang="zh-CN" altLang="zh-CN" sz="2000" b="1" kern="100" dirty="0">
                  <a:solidFill>
                    <a:schemeClr val="bg1"/>
                  </a:solidFill>
                  <a:latin typeface="Times New Roman" panose="02020603050405020304" pitchFamily="18" charset="0"/>
                  <a:cs typeface="Times New Roman" panose="02020603050405020304" pitchFamily="18" charset="0"/>
                </a:rPr>
                <a:t>发生完全非弹性碰撞后，粘在一起转动，求杆能向上转过的最大角度</a:t>
              </a:r>
              <a:r>
                <a:rPr lang="en-US" altLang="zh-CN" sz="2000" b="1" i="1" kern="100" dirty="0">
                  <a:solidFill>
                    <a:schemeClr val="bg1"/>
                  </a:solidFill>
                  <a:latin typeface="Times New Roman" panose="02020603050405020304" pitchFamily="18" charset="0"/>
                </a:rPr>
                <a:t>θ</a:t>
              </a:r>
              <a:r>
                <a:rPr lang="zh-CN" altLang="zh-CN" sz="2000" b="1" kern="100" dirty="0">
                  <a:solidFill>
                    <a:schemeClr val="bg1"/>
                  </a:solidFill>
                  <a:latin typeface="Times New Roman" panose="02020603050405020304" pitchFamily="18" charset="0"/>
                  <a:cs typeface="Times New Roman" panose="02020603050405020304" pitchFamily="18" charset="0"/>
                </a:rPr>
                <a:t>。</a:t>
              </a:r>
              <a:endParaRPr lang="en-US" altLang="zh-CN" sz="2000" b="1" kern="100" dirty="0">
                <a:solidFill>
                  <a:schemeClr val="bg1"/>
                </a:solidFill>
                <a:latin typeface="Times New Roman" panose="02020603050405020304" pitchFamily="18" charset="0"/>
                <a:cs typeface="Times New Roman" panose="02020603050405020304" pitchFamily="18" charset="0"/>
              </a:endParaRPr>
            </a:p>
            <a:p>
              <a:endParaRPr lang="en-US" altLang="zh-CN" sz="2000" b="1" kern="100" dirty="0">
                <a:solidFill>
                  <a:schemeClr val="bg1"/>
                </a:solidFill>
                <a:latin typeface="Times New Roman" panose="02020603050405020304" pitchFamily="18" charset="0"/>
                <a:cs typeface="Times New Roman" panose="02020603050405020304" pitchFamily="18" charset="0"/>
              </a:endParaRPr>
            </a:p>
            <a:p>
              <a:endParaRPr lang="en-US" altLang="zh-CN" sz="2000" b="1" kern="100" dirty="0">
                <a:solidFill>
                  <a:schemeClr val="bg1"/>
                </a:solidFill>
                <a:latin typeface="Times New Roman" panose="02020603050405020304" pitchFamily="18" charset="0"/>
                <a:cs typeface="Times New Roman" panose="02020603050405020304" pitchFamily="18" charset="0"/>
              </a:endParaRPr>
            </a:p>
            <a:p>
              <a:r>
                <a:rPr lang="zh-CN" altLang="en-US" sz="2000" b="1" kern="100" dirty="0">
                  <a:solidFill>
                    <a:schemeClr val="bg1"/>
                  </a:solidFill>
                  <a:latin typeface="Times New Roman" panose="02020603050405020304" pitchFamily="18" charset="0"/>
                  <a:cs typeface="Times New Roman" panose="02020603050405020304" pitchFamily="18" charset="0"/>
                </a:rPr>
                <a:t> </a:t>
              </a:r>
              <a:r>
                <a:rPr lang="en-US" altLang="zh-CN" sz="2000" b="1" kern="100" dirty="0">
                  <a:solidFill>
                    <a:schemeClr val="bg1"/>
                  </a:solidFill>
                  <a:latin typeface="Times New Roman" panose="02020603050405020304" pitchFamily="18" charset="0"/>
                  <a:cs typeface="Times New Roman" panose="02020603050405020304" pitchFamily="18" charset="0"/>
                </a:rPr>
                <a:t>10. </a:t>
              </a:r>
              <a:r>
                <a:rPr lang="zh-CN" altLang="en-US" sz="2000" b="1" kern="100" dirty="0">
                  <a:solidFill>
                    <a:schemeClr val="bg1"/>
                  </a:solidFill>
                  <a:latin typeface="Times New Roman" panose="02020603050405020304" pitchFamily="18" charset="0"/>
                  <a:cs typeface="Times New Roman" panose="02020603050405020304" pitchFamily="18" charset="0"/>
                </a:rPr>
                <a:t>一个匀质圆盘质量为</a:t>
              </a:r>
              <a:r>
                <a:rPr lang="en-US" altLang="zh-CN" sz="2000" b="1" kern="100" dirty="0">
                  <a:solidFill>
                    <a:schemeClr val="bg1"/>
                  </a:solidFill>
                  <a:latin typeface="Times New Roman" panose="02020603050405020304" pitchFamily="18" charset="0"/>
                  <a:cs typeface="Times New Roman" panose="02020603050405020304" pitchFamily="18" charset="0"/>
                </a:rPr>
                <a:t>m</a:t>
              </a:r>
              <a:r>
                <a:rPr lang="zh-CN" altLang="en-US" sz="2000" b="1" kern="100" dirty="0">
                  <a:solidFill>
                    <a:schemeClr val="bg1"/>
                  </a:solidFill>
                  <a:latin typeface="Times New Roman" panose="02020603050405020304" pitchFamily="18" charset="0"/>
                  <a:cs typeface="Times New Roman" panose="02020603050405020304" pitchFamily="18" charset="0"/>
                </a:rPr>
                <a:t>，半径为</a:t>
              </a:r>
              <a:r>
                <a:rPr lang="en-US" altLang="zh-CN" sz="2000" b="1" kern="100" dirty="0">
                  <a:solidFill>
                    <a:schemeClr val="bg1"/>
                  </a:solidFill>
                  <a:latin typeface="Times New Roman" panose="02020603050405020304" pitchFamily="18" charset="0"/>
                  <a:cs typeface="Times New Roman" panose="02020603050405020304" pitchFamily="18" charset="0"/>
                </a:rPr>
                <a:t>R</a:t>
              </a:r>
              <a:r>
                <a:rPr lang="zh-CN" altLang="en-US" sz="2000" b="1" kern="100" dirty="0">
                  <a:solidFill>
                    <a:schemeClr val="bg1"/>
                  </a:solidFill>
                  <a:latin typeface="Times New Roman" panose="02020603050405020304" pitchFamily="18" charset="0"/>
                  <a:cs typeface="Times New Roman" panose="02020603050405020304" pitchFamily="18" charset="0"/>
                </a:rPr>
                <a:t>，绕中心定轴以初角速度 转动，盘各点单位面积上所受空气阻力与各点到转轴的距离成正比，即                     ，</a:t>
              </a:r>
              <a:r>
                <a:rPr lang="en-US" altLang="zh-CN" sz="2000" b="1" kern="100" dirty="0">
                  <a:solidFill>
                    <a:schemeClr val="bg1"/>
                  </a:solidFill>
                  <a:latin typeface="Times New Roman" panose="02020603050405020304" pitchFamily="18" charset="0"/>
                  <a:cs typeface="Times New Roman" panose="02020603050405020304" pitchFamily="18" charset="0"/>
                </a:rPr>
                <a:t>k</a:t>
              </a:r>
              <a:r>
                <a:rPr lang="zh-CN" altLang="en-US" sz="2000" b="1" kern="100" dirty="0">
                  <a:solidFill>
                    <a:schemeClr val="bg1"/>
                  </a:solidFill>
                  <a:latin typeface="Times New Roman" panose="02020603050405020304" pitchFamily="18" charset="0"/>
                  <a:cs typeface="Times New Roman" panose="02020603050405020304" pitchFamily="18" charset="0"/>
                </a:rPr>
                <a:t>为已知常数，到盘停止转动时，求：</a:t>
              </a:r>
              <a:r>
                <a:rPr lang="en-US" altLang="zh-CN" sz="2000" b="1" kern="100" dirty="0">
                  <a:solidFill>
                    <a:schemeClr val="bg1"/>
                  </a:solidFill>
                  <a:latin typeface="Times New Roman" panose="02020603050405020304" pitchFamily="18" charset="0"/>
                  <a:cs typeface="Times New Roman" panose="02020603050405020304" pitchFamily="18" charset="0"/>
                </a:rPr>
                <a:t>(1)</a:t>
              </a:r>
              <a:r>
                <a:rPr lang="zh-CN" altLang="en-US" sz="2000" b="1" kern="100" dirty="0">
                  <a:solidFill>
                    <a:schemeClr val="bg1"/>
                  </a:solidFill>
                  <a:latin typeface="Times New Roman" panose="02020603050405020304" pitchFamily="18" charset="0"/>
                  <a:cs typeface="Times New Roman" panose="02020603050405020304" pitchFamily="18" charset="0"/>
                </a:rPr>
                <a:t>所用的时间；</a:t>
              </a:r>
              <a:r>
                <a:rPr lang="en-US" altLang="zh-CN" sz="2000" b="1" kern="100" dirty="0">
                  <a:solidFill>
                    <a:schemeClr val="bg1"/>
                  </a:solidFill>
                  <a:latin typeface="Times New Roman" panose="02020603050405020304" pitchFamily="18" charset="0"/>
                  <a:cs typeface="Times New Roman" panose="02020603050405020304" pitchFamily="18" charset="0"/>
                </a:rPr>
                <a:t>(2)</a:t>
              </a:r>
              <a:r>
                <a:rPr lang="zh-CN" altLang="en-US" sz="2000" b="1" kern="100" dirty="0">
                  <a:solidFill>
                    <a:schemeClr val="bg1"/>
                  </a:solidFill>
                  <a:latin typeface="Times New Roman" panose="02020603050405020304" pitchFamily="18" charset="0"/>
                  <a:cs typeface="Times New Roman" panose="02020603050405020304" pitchFamily="18" charset="0"/>
                </a:rPr>
                <a:t>转过的角度。</a:t>
              </a:r>
              <a:endParaRPr lang="en-US" altLang="zh-CN" sz="2000" b="1" kern="100" dirty="0">
                <a:solidFill>
                  <a:schemeClr val="bg1"/>
                </a:solidFill>
                <a:latin typeface="Times New Roman" panose="02020603050405020304" pitchFamily="18" charset="0"/>
                <a:cs typeface="Times New Roman" panose="02020603050405020304" pitchFamily="18" charset="0"/>
              </a:endParaRPr>
            </a:p>
            <a:p>
              <a:endParaRPr lang="en-US" altLang="zh-CN" sz="2000" b="1" kern="100" dirty="0">
                <a:solidFill>
                  <a:schemeClr val="bg1"/>
                </a:solidFill>
                <a:latin typeface="Times New Roman" panose="02020603050405020304" pitchFamily="18" charset="0"/>
                <a:cs typeface="Times New Roman" panose="02020603050405020304" pitchFamily="18" charset="0"/>
              </a:endParaRPr>
            </a:p>
            <a:p>
              <a:endParaRPr lang="zh-CN" altLang="en-US" sz="2000" b="1" dirty="0">
                <a:solidFill>
                  <a:schemeClr val="bg1"/>
                </a:solidFill>
              </a:endParaRPr>
            </a:p>
          </p:txBody>
        </p:sp>
        <p:graphicFrame>
          <p:nvGraphicFramePr>
            <p:cNvPr id="17" name="对象 16">
              <a:extLst>
                <a:ext uri="{FF2B5EF4-FFF2-40B4-BE49-F238E27FC236}">
                  <a16:creationId xmlns:a16="http://schemas.microsoft.com/office/drawing/2014/main" id="{2CE29270-9CD0-4F3B-A94E-C70CD76D58B2}"/>
                </a:ext>
              </a:extLst>
            </p:cNvPr>
            <p:cNvGraphicFramePr>
              <a:graphicFrameLocks noChangeAspect="1"/>
            </p:cNvGraphicFramePr>
            <p:nvPr>
              <p:extLst>
                <p:ext uri="{D42A27DB-BD31-4B8C-83A1-F6EECF244321}">
                  <p14:modId xmlns:p14="http://schemas.microsoft.com/office/powerpoint/2010/main" val="2256090449"/>
                </p:ext>
              </p:extLst>
            </p:nvPr>
          </p:nvGraphicFramePr>
          <p:xfrm>
            <a:off x="1943246" y="5229200"/>
            <a:ext cx="1118344" cy="313136"/>
          </p:xfrm>
          <a:graphic>
            <a:graphicData uri="http://schemas.openxmlformats.org/presentationml/2006/ole">
              <mc:AlternateContent xmlns:mc="http://schemas.openxmlformats.org/markup-compatibility/2006">
                <mc:Choice xmlns:v="urn:schemas-microsoft-com:vml" Requires="v">
                  <p:oleObj spid="_x0000_s46088" name="Equation" r:id="rId3" imgW="710891" imgH="203112" progId="Equation.DSMT4">
                    <p:embed/>
                  </p:oleObj>
                </mc:Choice>
                <mc:Fallback>
                  <p:oleObj name="Equation" r:id="rId3" imgW="710891" imgH="203112"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246" y="5229200"/>
                          <a:ext cx="1118344" cy="313136"/>
                        </a:xfrm>
                        <a:prstGeom prst="rect">
                          <a:avLst/>
                        </a:prstGeom>
                        <a:solidFill>
                          <a:schemeClr val="bg1"/>
                        </a:solidFill>
                      </p:spPr>
                    </p:pic>
                  </p:oleObj>
                </mc:Fallback>
              </mc:AlternateContent>
            </a:graphicData>
          </a:graphic>
        </p:graphicFrame>
      </p:grpSp>
      <p:pic>
        <p:nvPicPr>
          <p:cNvPr id="19" name="图片 18">
            <a:extLst>
              <a:ext uri="{FF2B5EF4-FFF2-40B4-BE49-F238E27FC236}">
                <a16:creationId xmlns:a16="http://schemas.microsoft.com/office/drawing/2014/main" id="{C76EC4AA-9CE6-4D1F-BE1F-6FB72BA3633C}"/>
              </a:ext>
            </a:extLst>
          </p:cNvPr>
          <p:cNvPicPr/>
          <p:nvPr/>
        </p:nvPicPr>
        <p:blipFill>
          <a:blip r:embed="rId5"/>
          <a:stretch>
            <a:fillRect/>
          </a:stretch>
        </p:blipFill>
        <p:spPr>
          <a:xfrm>
            <a:off x="7159804" y="2032388"/>
            <a:ext cx="1948700" cy="1828609"/>
          </a:xfrm>
          <a:prstGeom prst="rect">
            <a:avLst/>
          </a:prstGeom>
        </p:spPr>
      </p:pic>
    </p:spTree>
    <p:extLst>
      <p:ext uri="{BB962C8B-B14F-4D97-AF65-F5344CB8AC3E}">
        <p14:creationId xmlns:p14="http://schemas.microsoft.com/office/powerpoint/2010/main" val="2611543772"/>
      </p:ext>
    </p:extLst>
  </p:cSld>
  <p:clrMapOvr>
    <a:masterClrMapping/>
  </p:clrMapOvr>
  <p:transition spd="slow">
    <p:wipe dir="d"/>
  </p:transition>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3781</TotalTime>
  <Words>4916</Words>
  <Application>Microsoft Office PowerPoint</Application>
  <PresentationFormat>全屏显示(4:3)</PresentationFormat>
  <Paragraphs>559</Paragraphs>
  <Slides>71</Slides>
  <Notes>11</Notes>
  <HiddenSlides>2</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vt:i4>
      </vt:variant>
      <vt:variant>
        <vt:lpstr>幻灯片标题</vt:lpstr>
      </vt:variant>
      <vt:variant>
        <vt:i4>71</vt:i4>
      </vt:variant>
    </vt:vector>
  </HeadingPairs>
  <TitlesOfParts>
    <vt:vector size="92" baseType="lpstr">
      <vt:lpstr>E-BX</vt:lpstr>
      <vt:lpstr>E-BZ</vt:lpstr>
      <vt:lpstr>KaTeX_Main</vt:lpstr>
      <vt:lpstr>KaTeX_Math</vt:lpstr>
      <vt:lpstr>KaTeX_Size1</vt:lpstr>
      <vt:lpstr>quote-cjk-patch</vt:lpstr>
      <vt:lpstr>Symbol01</vt:lpstr>
      <vt:lpstr>黑体</vt:lpstr>
      <vt:lpstr>华文楷体</vt:lpstr>
      <vt:lpstr>楷体_GB2312</vt:lpstr>
      <vt:lpstr>隶书</vt:lpstr>
      <vt:lpstr>宋体</vt:lpstr>
      <vt:lpstr>Arial</vt:lpstr>
      <vt:lpstr>Bookman Old Style</vt:lpstr>
      <vt:lpstr>Calibri</vt:lpstr>
      <vt:lpstr>Cambria Math</vt:lpstr>
      <vt:lpstr>Times New Roman</vt:lpstr>
      <vt:lpstr>Wingdings</vt:lpstr>
      <vt:lpstr>1_默认设计模板</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Workgroup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zxl</dc:creator>
  <cp:lastModifiedBy>LuoXiaoguang</cp:lastModifiedBy>
  <cp:revision>206</cp:revision>
  <dcterms:created xsi:type="dcterms:W3CDTF">2007-01-22T13:51:31Z</dcterms:created>
  <dcterms:modified xsi:type="dcterms:W3CDTF">2026-03-17T08:15:59Z</dcterms:modified>
</cp:coreProperties>
</file>