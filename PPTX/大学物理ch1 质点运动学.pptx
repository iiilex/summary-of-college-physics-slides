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60"/>
  </p:notesMasterIdLst>
  <p:handoutMasterIdLst>
    <p:handoutMasterId r:id="rId61"/>
  </p:handoutMasterIdLst>
  <p:sldIdLst>
    <p:sldId id="328" r:id="rId2"/>
    <p:sldId id="291" r:id="rId3"/>
    <p:sldId id="292" r:id="rId4"/>
    <p:sldId id="294" r:id="rId5"/>
    <p:sldId id="329" r:id="rId6"/>
    <p:sldId id="313" r:id="rId7"/>
    <p:sldId id="296" r:id="rId8"/>
    <p:sldId id="320" r:id="rId9"/>
    <p:sldId id="321" r:id="rId10"/>
    <p:sldId id="293" r:id="rId11"/>
    <p:sldId id="263" r:id="rId12"/>
    <p:sldId id="257" r:id="rId13"/>
    <p:sldId id="314" r:id="rId14"/>
    <p:sldId id="315" r:id="rId15"/>
    <p:sldId id="259" r:id="rId16"/>
    <p:sldId id="260" r:id="rId17"/>
    <p:sldId id="298" r:id="rId18"/>
    <p:sldId id="262" r:id="rId19"/>
    <p:sldId id="265" r:id="rId20"/>
    <p:sldId id="316" r:id="rId21"/>
    <p:sldId id="266" r:id="rId22"/>
    <p:sldId id="326" r:id="rId23"/>
    <p:sldId id="267" r:id="rId24"/>
    <p:sldId id="317" r:id="rId25"/>
    <p:sldId id="268" r:id="rId26"/>
    <p:sldId id="269" r:id="rId27"/>
    <p:sldId id="270" r:id="rId28"/>
    <p:sldId id="271" r:id="rId29"/>
    <p:sldId id="261" r:id="rId30"/>
    <p:sldId id="300" r:id="rId31"/>
    <p:sldId id="301" r:id="rId32"/>
    <p:sldId id="303" r:id="rId33"/>
    <p:sldId id="308" r:id="rId34"/>
    <p:sldId id="272" r:id="rId35"/>
    <p:sldId id="306" r:id="rId36"/>
    <p:sldId id="319" r:id="rId37"/>
    <p:sldId id="312" r:id="rId38"/>
    <p:sldId id="322" r:id="rId39"/>
    <p:sldId id="273" r:id="rId40"/>
    <p:sldId id="274" r:id="rId41"/>
    <p:sldId id="275" r:id="rId42"/>
    <p:sldId id="277" r:id="rId43"/>
    <p:sldId id="276" r:id="rId44"/>
    <p:sldId id="281" r:id="rId45"/>
    <p:sldId id="310" r:id="rId46"/>
    <p:sldId id="311" r:id="rId47"/>
    <p:sldId id="282" r:id="rId48"/>
    <p:sldId id="323" r:id="rId49"/>
    <p:sldId id="283" r:id="rId50"/>
    <p:sldId id="284" r:id="rId51"/>
    <p:sldId id="325" r:id="rId52"/>
    <p:sldId id="286" r:id="rId53"/>
    <p:sldId id="324" r:id="rId54"/>
    <p:sldId id="287" r:id="rId55"/>
    <p:sldId id="327" r:id="rId56"/>
    <p:sldId id="288" r:id="rId57"/>
    <p:sldId id="289" r:id="rId58"/>
    <p:sldId id="307" r:id="rId59"/>
  </p:sldIdLst>
  <p:sldSz cx="9144000" cy="6858000" type="screen4x3"/>
  <p:notesSz cx="10234613" cy="70993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  <a:srgbClr val="0000CC"/>
    <a:srgbClr val="080808"/>
    <a:srgbClr val="1C1C1C"/>
    <a:srgbClr val="B2B2B2"/>
    <a:srgbClr val="000099"/>
    <a:srgbClr val="0066FF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19" autoAdjust="0"/>
    <p:restoredTop sz="90093" autoAdjust="0"/>
  </p:normalViewPr>
  <p:slideViewPr>
    <p:cSldViewPr>
      <p:cViewPr varScale="1">
        <p:scale>
          <a:sx n="117" d="100"/>
          <a:sy n="117" d="100"/>
        </p:scale>
        <p:origin x="1122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DE4CB05A-6868-8F6D-F2A5-A383DB9078A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5475" cy="354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193080D-DC42-674D-BEAC-6AEB00484D8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797550" y="0"/>
            <a:ext cx="4435475" cy="354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63A5FB2-38A4-4099-B9C9-4C16B74C4A58}" type="datetimeFigureOut">
              <a:rPr lang="zh-CN" altLang="en-US"/>
              <a:pPr>
                <a:defRPr/>
              </a:pPr>
              <a:t>2026/3/3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B744E3A-967F-A74D-F813-57BCF03A39E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743700"/>
            <a:ext cx="4435475" cy="3540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A898FBA-BE16-2952-9EB5-63699AEDBF9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797550" y="6743700"/>
            <a:ext cx="4435475" cy="35401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C3C4EA6-939A-43E6-9327-CDA85426417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075D20CF-73DA-3364-5E65-51D5A34352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5475" cy="355600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 eaLnBrk="1" hangingPunct="1">
              <a:defRPr sz="13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4B73E35-2A1A-22CF-E1E4-473CC32FABA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797550" y="0"/>
            <a:ext cx="4435475" cy="355600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 eaLnBrk="1" hangingPunct="1">
              <a:defRPr sz="1300"/>
            </a:lvl1pPr>
          </a:lstStyle>
          <a:p>
            <a:pPr>
              <a:defRPr/>
            </a:pPr>
            <a:fld id="{DBAD9A49-1E69-457B-B520-56E17CC52F9E}" type="datetimeFigureOut">
              <a:rPr lang="zh-CN" altLang="en-US"/>
              <a:pPr>
                <a:defRPr/>
              </a:pPr>
              <a:t>2026/3/3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0C55C343-B3E0-F4AF-6B00-EF74C5D793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343275" y="533400"/>
            <a:ext cx="3548063" cy="2660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09CA8719-7B27-BF85-30E4-83D6FA3885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23938" y="3371850"/>
            <a:ext cx="8186737" cy="3195638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E49A1D6-D8B1-B775-9059-EBFCC10FAB9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743700"/>
            <a:ext cx="4435475" cy="354013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 eaLnBrk="1" hangingPunct="1">
              <a:defRPr sz="13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864FBC-A39F-7F3F-F472-AC4D37529A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797550" y="6743700"/>
            <a:ext cx="4435475" cy="354013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6AAD2843-43E3-4B94-B284-52AB4739094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80-6 -2=72</a:t>
            </a:r>
            <a:r>
              <a:rPr lang="zh-CN" altLang="en-US" dirty="0"/>
              <a:t>学时</a:t>
            </a:r>
            <a:br>
              <a:rPr lang="en-US" altLang="zh-CN" dirty="0"/>
            </a:br>
            <a:r>
              <a:rPr lang="zh-CN" altLang="en-US" dirty="0"/>
              <a:t>导引</a:t>
            </a:r>
            <a:r>
              <a:rPr lang="en-US" altLang="zh-CN" dirty="0"/>
              <a:t>1</a:t>
            </a:r>
            <a:r>
              <a:rPr lang="zh-CN" altLang="en-US" dirty="0"/>
              <a:t>，力学</a:t>
            </a:r>
            <a:r>
              <a:rPr lang="en-US" altLang="zh-CN" dirty="0"/>
              <a:t>32</a:t>
            </a:r>
            <a:r>
              <a:rPr lang="zh-CN" altLang="en-US" dirty="0"/>
              <a:t>，电磁学</a:t>
            </a:r>
            <a:r>
              <a:rPr lang="en-US" altLang="zh-CN" dirty="0"/>
              <a:t>37</a:t>
            </a:r>
            <a:r>
              <a:rPr lang="zh-CN" altLang="en-US" dirty="0"/>
              <a:t>，总结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AAD2843-43E3-4B94-B284-52AB47390942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98065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授课：知识层面，素养层面，</a:t>
            </a:r>
            <a:br>
              <a:rPr lang="en-US" altLang="zh-CN" dirty="0"/>
            </a:br>
            <a:r>
              <a:rPr lang="zh-CN" altLang="en-US" dirty="0"/>
              <a:t>范式：现象</a:t>
            </a:r>
            <a:r>
              <a:rPr lang="en-US" altLang="zh-CN" dirty="0"/>
              <a:t>—</a:t>
            </a:r>
            <a:r>
              <a:rPr lang="zh-CN" altLang="en-US" dirty="0"/>
              <a:t>物理模型</a:t>
            </a:r>
            <a:r>
              <a:rPr lang="en-US" altLang="zh-CN" dirty="0"/>
              <a:t>—</a:t>
            </a:r>
            <a:r>
              <a:rPr lang="zh-CN" altLang="en-US" dirty="0"/>
              <a:t>数学工具</a:t>
            </a:r>
            <a:r>
              <a:rPr lang="en-US" altLang="zh-CN" dirty="0"/>
              <a:t>—</a:t>
            </a:r>
            <a:r>
              <a:rPr lang="zh-CN" altLang="en-US" dirty="0"/>
              <a:t>意义</a:t>
            </a:r>
            <a:r>
              <a:rPr lang="en-US" altLang="zh-CN" dirty="0"/>
              <a:t>—</a:t>
            </a:r>
            <a:r>
              <a:rPr lang="zh-CN" altLang="en-US" dirty="0"/>
              <a:t>应用</a:t>
            </a:r>
            <a:br>
              <a:rPr lang="en-US" altLang="zh-CN" dirty="0"/>
            </a:br>
            <a:r>
              <a:rPr lang="zh-CN" altLang="en-US" dirty="0"/>
              <a:t>两性一度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AAD2843-43E3-4B94-B284-52AB47390942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7125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纯物理学</a:t>
            </a:r>
            <a:r>
              <a:rPr lang="en-US" altLang="zh-CN" dirty="0"/>
              <a:t>-</a:t>
            </a:r>
            <a:r>
              <a:rPr lang="zh-CN" altLang="en-US" dirty="0"/>
              <a:t>工科物理</a:t>
            </a:r>
            <a:r>
              <a:rPr lang="en-US" altLang="zh-CN" dirty="0"/>
              <a:t>-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AAD2843-43E3-4B94-B284-52AB47390942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86477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>
            <a:extLst>
              <a:ext uri="{FF2B5EF4-FFF2-40B4-BE49-F238E27FC236}">
                <a16:creationId xmlns:a16="http://schemas.microsoft.com/office/drawing/2014/main" id="{FF6B27EE-2AA6-E5C0-52B2-2AC954C1F4A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备注占位符 2">
            <a:extLst>
              <a:ext uri="{FF2B5EF4-FFF2-40B4-BE49-F238E27FC236}">
                <a16:creationId xmlns:a16="http://schemas.microsoft.com/office/drawing/2014/main" id="{C4A861F3-13D0-49A1-C268-4DAD27FEE47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7412" name="灯片编号占位符 3">
            <a:extLst>
              <a:ext uri="{FF2B5EF4-FFF2-40B4-BE49-F238E27FC236}">
                <a16:creationId xmlns:a16="http://schemas.microsoft.com/office/drawing/2014/main" id="{83160DCB-807E-15F1-0AA2-83414F7175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14F830E-CBF7-4D38-A53E-D1500FE91B67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AAD2843-43E3-4B94-B284-52AB47390942}" type="slidenum">
              <a:rPr lang="zh-CN" altLang="en-US" smtClean="0"/>
              <a:pPr>
                <a:defRPr/>
              </a:pPr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59354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6158570"/>
      </p:ext>
    </p:extLst>
  </p:cSld>
  <p:clrMapOvr>
    <a:masterClrMapping/>
  </p:clrMapOvr>
  <p:transition spd="slow"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20054"/>
      </p:ext>
    </p:extLst>
  </p:cSld>
  <p:clrMapOvr>
    <a:masterClrMapping/>
  </p:clrMapOvr>
  <p:transition spd="slow"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571331147"/>
      </p:ext>
    </p:extLst>
  </p:cSld>
  <p:clrMapOvr>
    <a:masterClrMapping/>
  </p:clrMapOvr>
  <p:transition spd="slow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4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83A65584-374A-6527-0A76-8C2F92FF741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45363" y="6675438"/>
            <a:ext cx="395287" cy="127000"/>
          </a:xfrm>
          <a:prstGeom prst="actionButtonBackPrevious">
            <a:avLst/>
          </a:prstGeom>
          <a:gradFill rotWithShape="1">
            <a:gsLst>
              <a:gs pos="0">
                <a:srgbClr val="FFFFFF">
                  <a:alpha val="62000"/>
                </a:srgbClr>
              </a:gs>
              <a:gs pos="100000">
                <a:srgbClr val="336699">
                  <a:alpha val="89000"/>
                </a:srgbClr>
              </a:gs>
            </a:gsLst>
            <a:lin ang="5400000" scaled="1"/>
          </a:gradFill>
          <a:ln w="0">
            <a:solidFill>
              <a:srgbClr val="339966">
                <a:alpha val="52156"/>
              </a:srgbClr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AutoShape 5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14643F72-57D4-C5AB-F7E8-975B308DC5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812088" y="6675438"/>
            <a:ext cx="395287" cy="127000"/>
          </a:xfrm>
          <a:prstGeom prst="actionButtonHome">
            <a:avLst/>
          </a:prstGeom>
          <a:gradFill rotWithShape="1">
            <a:gsLst>
              <a:gs pos="0">
                <a:srgbClr val="FFFFFF">
                  <a:alpha val="62000"/>
                </a:srgbClr>
              </a:gs>
              <a:gs pos="100000">
                <a:srgbClr val="336699">
                  <a:alpha val="89000"/>
                </a:srgbClr>
              </a:gs>
            </a:gsLst>
            <a:lin ang="5400000" scaled="1"/>
          </a:gradFill>
          <a:ln w="0">
            <a:solidFill>
              <a:srgbClr val="339966">
                <a:alpha val="52156"/>
              </a:srgbClr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8" name="AutoShape 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CCAE8C34-C3A2-ED8D-BD64-D82129D81C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280400" y="6675438"/>
            <a:ext cx="395288" cy="127000"/>
          </a:xfrm>
          <a:prstGeom prst="actionButtonForwardNext">
            <a:avLst/>
          </a:prstGeom>
          <a:gradFill rotWithShape="1">
            <a:gsLst>
              <a:gs pos="0">
                <a:srgbClr val="FFFFFF">
                  <a:alpha val="62000"/>
                </a:srgbClr>
              </a:gs>
              <a:gs pos="100000">
                <a:srgbClr val="336699">
                  <a:alpha val="89000"/>
                </a:srgbClr>
              </a:gs>
            </a:gsLst>
            <a:lin ang="5400000" scaled="1"/>
          </a:gradFill>
          <a:ln w="0">
            <a:solidFill>
              <a:srgbClr val="339966">
                <a:alpha val="52156"/>
              </a:srgbClr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9" name="Rectangle 10">
            <a:extLst>
              <a:ext uri="{FF2B5EF4-FFF2-40B4-BE49-F238E27FC236}">
                <a16:creationId xmlns:a16="http://schemas.microsoft.com/office/drawing/2014/main" id="{CC55DAC5-CAD2-B9B1-9B8B-622758E22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3495675"/>
            <a:ext cx="7777162" cy="438150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46800" rIns="90000" bIns="46800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  <a:defRPr/>
            </a:pPr>
            <a:endParaRPr lang="zh-CN" altLang="en-US" sz="800">
              <a:latin typeface="Times New Roman" pitchFamily="18" charset="0"/>
            </a:endParaRPr>
          </a:p>
        </p:txBody>
      </p:sp>
      <p:grpSp>
        <p:nvGrpSpPr>
          <p:cNvPr id="1030" name="Group 26">
            <a:extLst>
              <a:ext uri="{FF2B5EF4-FFF2-40B4-BE49-F238E27FC236}">
                <a16:creationId xmlns:a16="http://schemas.microsoft.com/office/drawing/2014/main" id="{28A6AE11-EF00-B8D1-CF8A-4EC2DBEAF8C3}"/>
              </a:ext>
            </a:extLst>
          </p:cNvPr>
          <p:cNvGrpSpPr>
            <a:grpSpLocks/>
          </p:cNvGrpSpPr>
          <p:nvPr/>
        </p:nvGrpSpPr>
        <p:grpSpPr bwMode="auto">
          <a:xfrm>
            <a:off x="7938" y="6604000"/>
            <a:ext cx="9086850" cy="4763"/>
            <a:chOff x="5" y="4160"/>
            <a:chExt cx="5724" cy="3"/>
          </a:xfrm>
        </p:grpSpPr>
        <p:sp>
          <p:nvSpPr>
            <p:cNvPr id="1031" name="Line 7">
              <a:extLst>
                <a:ext uri="{FF2B5EF4-FFF2-40B4-BE49-F238E27FC236}">
                  <a16:creationId xmlns:a16="http://schemas.microsoft.com/office/drawing/2014/main" id="{0850F77C-01BD-5885-D15C-38022BBAF3E4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" y="4163"/>
              <a:ext cx="5724" cy="0"/>
            </a:xfrm>
            <a:prstGeom prst="line">
              <a:avLst/>
            </a:prstGeom>
            <a:noFill/>
            <a:ln w="3175">
              <a:solidFill>
                <a:srgbClr val="B2B2B2">
                  <a:alpha val="89803"/>
                </a:srgb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2" name="Line 6">
              <a:extLst>
                <a:ext uri="{FF2B5EF4-FFF2-40B4-BE49-F238E27FC236}">
                  <a16:creationId xmlns:a16="http://schemas.microsoft.com/office/drawing/2014/main" id="{FCBE1E83-D991-9F34-103A-EFDEF6EA54C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1" y="4160"/>
              <a:ext cx="5701" cy="0"/>
            </a:xfrm>
            <a:prstGeom prst="line">
              <a:avLst/>
            </a:prstGeom>
            <a:noFill/>
            <a:ln w="6350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</p:sldLayoutIdLst>
  <p:transition spd="slow">
    <p:wipe dir="d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2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8.bin"/><Relationship Id="rId18" Type="http://schemas.openxmlformats.org/officeDocument/2006/relationships/image" Target="../media/image13.emf"/><Relationship Id="rId26" Type="http://schemas.openxmlformats.org/officeDocument/2006/relationships/image" Target="../media/image17.emf"/><Relationship Id="rId3" Type="http://schemas.openxmlformats.org/officeDocument/2006/relationships/oleObject" Target="../embeddings/oleObject3.bin"/><Relationship Id="rId21" Type="http://schemas.openxmlformats.org/officeDocument/2006/relationships/oleObject" Target="../embeddings/oleObject12.bin"/><Relationship Id="rId34" Type="http://schemas.openxmlformats.org/officeDocument/2006/relationships/image" Target="../media/image21.emf"/><Relationship Id="rId7" Type="http://schemas.openxmlformats.org/officeDocument/2006/relationships/oleObject" Target="../embeddings/oleObject5.bin"/><Relationship Id="rId12" Type="http://schemas.openxmlformats.org/officeDocument/2006/relationships/image" Target="../media/image10.emf"/><Relationship Id="rId17" Type="http://schemas.openxmlformats.org/officeDocument/2006/relationships/oleObject" Target="../embeddings/oleObject10.bin"/><Relationship Id="rId25" Type="http://schemas.openxmlformats.org/officeDocument/2006/relationships/oleObject" Target="../embeddings/oleObject14.bin"/><Relationship Id="rId33" Type="http://schemas.openxmlformats.org/officeDocument/2006/relationships/oleObject" Target="../embeddings/oleObject18.bin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2.emf"/><Relationship Id="rId20" Type="http://schemas.openxmlformats.org/officeDocument/2006/relationships/image" Target="../media/image14.emf"/><Relationship Id="rId29" Type="http://schemas.openxmlformats.org/officeDocument/2006/relationships/oleObject" Target="../embeddings/oleObject16.bin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emf"/><Relationship Id="rId11" Type="http://schemas.openxmlformats.org/officeDocument/2006/relationships/oleObject" Target="../embeddings/oleObject7.bin"/><Relationship Id="rId24" Type="http://schemas.openxmlformats.org/officeDocument/2006/relationships/image" Target="../media/image16.emf"/><Relationship Id="rId32" Type="http://schemas.openxmlformats.org/officeDocument/2006/relationships/image" Target="../media/image20.emf"/><Relationship Id="rId5" Type="http://schemas.openxmlformats.org/officeDocument/2006/relationships/oleObject" Target="../embeddings/oleObject4.bin"/><Relationship Id="rId15" Type="http://schemas.openxmlformats.org/officeDocument/2006/relationships/oleObject" Target="../embeddings/oleObject9.bin"/><Relationship Id="rId23" Type="http://schemas.openxmlformats.org/officeDocument/2006/relationships/oleObject" Target="../embeddings/oleObject13.bin"/><Relationship Id="rId28" Type="http://schemas.openxmlformats.org/officeDocument/2006/relationships/image" Target="../media/image18.emf"/><Relationship Id="rId10" Type="http://schemas.openxmlformats.org/officeDocument/2006/relationships/image" Target="../media/image9.emf"/><Relationship Id="rId19" Type="http://schemas.openxmlformats.org/officeDocument/2006/relationships/oleObject" Target="../embeddings/oleObject11.bin"/><Relationship Id="rId31" Type="http://schemas.openxmlformats.org/officeDocument/2006/relationships/oleObject" Target="../embeddings/oleObject17.bin"/><Relationship Id="rId4" Type="http://schemas.openxmlformats.org/officeDocument/2006/relationships/image" Target="../media/image6.emf"/><Relationship Id="rId9" Type="http://schemas.openxmlformats.org/officeDocument/2006/relationships/oleObject" Target="../embeddings/oleObject6.bin"/><Relationship Id="rId14" Type="http://schemas.openxmlformats.org/officeDocument/2006/relationships/image" Target="../media/image11.emf"/><Relationship Id="rId22" Type="http://schemas.openxmlformats.org/officeDocument/2006/relationships/image" Target="../media/image15.emf"/><Relationship Id="rId27" Type="http://schemas.openxmlformats.org/officeDocument/2006/relationships/oleObject" Target="../embeddings/oleObject15.bin"/><Relationship Id="rId30" Type="http://schemas.openxmlformats.org/officeDocument/2006/relationships/image" Target="../media/image19.emf"/><Relationship Id="rId8" Type="http://schemas.openxmlformats.org/officeDocument/2006/relationships/image" Target="../media/image8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13" Type="http://schemas.openxmlformats.org/officeDocument/2006/relationships/image" Target="../media/image27.emf"/><Relationship Id="rId3" Type="http://schemas.openxmlformats.org/officeDocument/2006/relationships/image" Target="../media/image22.emf"/><Relationship Id="rId7" Type="http://schemas.openxmlformats.org/officeDocument/2006/relationships/image" Target="../media/image24.emf"/><Relationship Id="rId12" Type="http://schemas.openxmlformats.org/officeDocument/2006/relationships/oleObject" Target="../embeddings/oleObject24.bin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26.emf"/><Relationship Id="rId5" Type="http://schemas.openxmlformats.org/officeDocument/2006/relationships/image" Target="../media/image23.emf"/><Relationship Id="rId10" Type="http://schemas.openxmlformats.org/officeDocument/2006/relationships/oleObject" Target="../embeddings/oleObject23.bin"/><Relationship Id="rId4" Type="http://schemas.openxmlformats.org/officeDocument/2006/relationships/oleObject" Target="../embeddings/oleObject20.bin"/><Relationship Id="rId9" Type="http://schemas.openxmlformats.org/officeDocument/2006/relationships/image" Target="../media/image25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3" Type="http://schemas.openxmlformats.org/officeDocument/2006/relationships/image" Target="../media/image28.emf"/><Relationship Id="rId7" Type="http://schemas.openxmlformats.org/officeDocument/2006/relationships/image" Target="../media/image30.emf"/><Relationship Id="rId12" Type="http://schemas.openxmlformats.org/officeDocument/2006/relationships/image" Target="../media/image33.e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7.bin"/><Relationship Id="rId11" Type="http://schemas.openxmlformats.org/officeDocument/2006/relationships/image" Target="../media/image32.emf"/><Relationship Id="rId5" Type="http://schemas.openxmlformats.org/officeDocument/2006/relationships/image" Target="../media/image29.emf"/><Relationship Id="rId10" Type="http://schemas.openxmlformats.org/officeDocument/2006/relationships/oleObject" Target="../embeddings/oleObject29.bin"/><Relationship Id="rId4" Type="http://schemas.openxmlformats.org/officeDocument/2006/relationships/oleObject" Target="../embeddings/oleObject26.bin"/><Relationship Id="rId9" Type="http://schemas.openxmlformats.org/officeDocument/2006/relationships/image" Target="../media/image31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13" Type="http://schemas.openxmlformats.org/officeDocument/2006/relationships/image" Target="../media/image39.emf"/><Relationship Id="rId3" Type="http://schemas.openxmlformats.org/officeDocument/2006/relationships/image" Target="../media/image34.emf"/><Relationship Id="rId7" Type="http://schemas.openxmlformats.org/officeDocument/2006/relationships/image" Target="../media/image36.emf"/><Relationship Id="rId12" Type="http://schemas.openxmlformats.org/officeDocument/2006/relationships/oleObject" Target="../embeddings/oleObject35.bin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2.bin"/><Relationship Id="rId11" Type="http://schemas.openxmlformats.org/officeDocument/2006/relationships/image" Target="../media/image38.emf"/><Relationship Id="rId5" Type="http://schemas.openxmlformats.org/officeDocument/2006/relationships/image" Target="../media/image35.emf"/><Relationship Id="rId10" Type="http://schemas.openxmlformats.org/officeDocument/2006/relationships/oleObject" Target="../embeddings/oleObject34.bin"/><Relationship Id="rId4" Type="http://schemas.openxmlformats.org/officeDocument/2006/relationships/oleObject" Target="../embeddings/oleObject31.bin"/><Relationship Id="rId9" Type="http://schemas.openxmlformats.org/officeDocument/2006/relationships/image" Target="../media/image37.emf"/><Relationship Id="rId14" Type="http://schemas.openxmlformats.org/officeDocument/2006/relationships/image" Target="../media/image40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.bin"/><Relationship Id="rId13" Type="http://schemas.openxmlformats.org/officeDocument/2006/relationships/image" Target="../media/image46.wmf"/><Relationship Id="rId3" Type="http://schemas.openxmlformats.org/officeDocument/2006/relationships/image" Target="../media/image41.emf"/><Relationship Id="rId7" Type="http://schemas.openxmlformats.org/officeDocument/2006/relationships/image" Target="../media/image43.emf"/><Relationship Id="rId12" Type="http://schemas.openxmlformats.org/officeDocument/2006/relationships/oleObject" Target="../embeddings/oleObject41.bin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8.bin"/><Relationship Id="rId11" Type="http://schemas.openxmlformats.org/officeDocument/2006/relationships/image" Target="../media/image45.emf"/><Relationship Id="rId5" Type="http://schemas.openxmlformats.org/officeDocument/2006/relationships/image" Target="../media/image42.emf"/><Relationship Id="rId10" Type="http://schemas.openxmlformats.org/officeDocument/2006/relationships/oleObject" Target="../embeddings/oleObject40.bin"/><Relationship Id="rId4" Type="http://schemas.openxmlformats.org/officeDocument/2006/relationships/oleObject" Target="../embeddings/oleObject37.bin"/><Relationship Id="rId9" Type="http://schemas.openxmlformats.org/officeDocument/2006/relationships/image" Target="../media/image44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emf"/><Relationship Id="rId13" Type="http://schemas.openxmlformats.org/officeDocument/2006/relationships/image" Target="../media/image51.wmf"/><Relationship Id="rId3" Type="http://schemas.openxmlformats.org/officeDocument/2006/relationships/image" Target="../media/image47.emf"/><Relationship Id="rId7" Type="http://schemas.openxmlformats.org/officeDocument/2006/relationships/oleObject" Target="../embeddings/oleObject45.bin"/><Relationship Id="rId12" Type="http://schemas.openxmlformats.org/officeDocument/2006/relationships/oleObject" Target="../embeddings/oleObject48.bin"/><Relationship Id="rId2" Type="http://schemas.openxmlformats.org/officeDocument/2006/relationships/oleObject" Target="../embeddings/oleObject42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emf"/><Relationship Id="rId11" Type="http://schemas.openxmlformats.org/officeDocument/2006/relationships/image" Target="../media/image50.wmf"/><Relationship Id="rId5" Type="http://schemas.openxmlformats.org/officeDocument/2006/relationships/oleObject" Target="../embeddings/oleObject44.bin"/><Relationship Id="rId15" Type="http://schemas.openxmlformats.org/officeDocument/2006/relationships/image" Target="../media/image52.emf"/><Relationship Id="rId10" Type="http://schemas.openxmlformats.org/officeDocument/2006/relationships/oleObject" Target="../embeddings/oleObject47.bin"/><Relationship Id="rId4" Type="http://schemas.openxmlformats.org/officeDocument/2006/relationships/oleObject" Target="../embeddings/oleObject43.bin"/><Relationship Id="rId9" Type="http://schemas.openxmlformats.org/officeDocument/2006/relationships/oleObject" Target="../embeddings/oleObject46.bin"/><Relationship Id="rId14" Type="http://schemas.openxmlformats.org/officeDocument/2006/relationships/oleObject" Target="../embeddings/oleObject49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3.bin"/><Relationship Id="rId3" Type="http://schemas.openxmlformats.org/officeDocument/2006/relationships/image" Target="../media/image53.emf"/><Relationship Id="rId7" Type="http://schemas.openxmlformats.org/officeDocument/2006/relationships/image" Target="../media/image55.emf"/><Relationship Id="rId2" Type="http://schemas.openxmlformats.org/officeDocument/2006/relationships/oleObject" Target="../embeddings/oleObject50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52.bin"/><Relationship Id="rId11" Type="http://schemas.openxmlformats.org/officeDocument/2006/relationships/image" Target="../media/image58.emf"/><Relationship Id="rId5" Type="http://schemas.openxmlformats.org/officeDocument/2006/relationships/image" Target="../media/image54.emf"/><Relationship Id="rId10" Type="http://schemas.openxmlformats.org/officeDocument/2006/relationships/image" Target="../media/image57.emf"/><Relationship Id="rId4" Type="http://schemas.openxmlformats.org/officeDocument/2006/relationships/oleObject" Target="../embeddings/oleObject51.bin"/><Relationship Id="rId9" Type="http://schemas.openxmlformats.org/officeDocument/2006/relationships/image" Target="../media/image56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7.bin"/><Relationship Id="rId3" Type="http://schemas.openxmlformats.org/officeDocument/2006/relationships/image" Target="../media/image59.emf"/><Relationship Id="rId7" Type="http://schemas.openxmlformats.org/officeDocument/2006/relationships/image" Target="../media/image61.emf"/><Relationship Id="rId2" Type="http://schemas.openxmlformats.org/officeDocument/2006/relationships/oleObject" Target="../embeddings/oleObject54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56.bin"/><Relationship Id="rId11" Type="http://schemas.openxmlformats.org/officeDocument/2006/relationships/image" Target="../media/image63.wmf"/><Relationship Id="rId5" Type="http://schemas.openxmlformats.org/officeDocument/2006/relationships/image" Target="../media/image60.emf"/><Relationship Id="rId10" Type="http://schemas.openxmlformats.org/officeDocument/2006/relationships/oleObject" Target="../embeddings/oleObject58.bin"/><Relationship Id="rId4" Type="http://schemas.openxmlformats.org/officeDocument/2006/relationships/oleObject" Target="../embeddings/oleObject55.bin"/><Relationship Id="rId9" Type="http://schemas.openxmlformats.org/officeDocument/2006/relationships/image" Target="../media/image62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2.bin"/><Relationship Id="rId13" Type="http://schemas.openxmlformats.org/officeDocument/2006/relationships/image" Target="../media/image69.emf"/><Relationship Id="rId18" Type="http://schemas.openxmlformats.org/officeDocument/2006/relationships/oleObject" Target="../embeddings/oleObject67.bin"/><Relationship Id="rId3" Type="http://schemas.openxmlformats.org/officeDocument/2006/relationships/image" Target="../media/image64.emf"/><Relationship Id="rId7" Type="http://schemas.openxmlformats.org/officeDocument/2006/relationships/image" Target="../media/image66.emf"/><Relationship Id="rId12" Type="http://schemas.openxmlformats.org/officeDocument/2006/relationships/oleObject" Target="../embeddings/oleObject64.bin"/><Relationship Id="rId17" Type="http://schemas.openxmlformats.org/officeDocument/2006/relationships/image" Target="../media/image71.emf"/><Relationship Id="rId2" Type="http://schemas.openxmlformats.org/officeDocument/2006/relationships/oleObject" Target="../embeddings/oleObject59.bin"/><Relationship Id="rId16" Type="http://schemas.openxmlformats.org/officeDocument/2006/relationships/oleObject" Target="../embeddings/oleObject6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1.bin"/><Relationship Id="rId11" Type="http://schemas.openxmlformats.org/officeDocument/2006/relationships/image" Target="../media/image68.emf"/><Relationship Id="rId5" Type="http://schemas.openxmlformats.org/officeDocument/2006/relationships/image" Target="../media/image65.emf"/><Relationship Id="rId15" Type="http://schemas.openxmlformats.org/officeDocument/2006/relationships/image" Target="../media/image70.emf"/><Relationship Id="rId10" Type="http://schemas.openxmlformats.org/officeDocument/2006/relationships/oleObject" Target="../embeddings/oleObject63.bin"/><Relationship Id="rId19" Type="http://schemas.openxmlformats.org/officeDocument/2006/relationships/image" Target="../media/image72.emf"/><Relationship Id="rId4" Type="http://schemas.openxmlformats.org/officeDocument/2006/relationships/oleObject" Target="../embeddings/oleObject60.bin"/><Relationship Id="rId9" Type="http://schemas.openxmlformats.org/officeDocument/2006/relationships/image" Target="../media/image67.emf"/><Relationship Id="rId14" Type="http://schemas.openxmlformats.org/officeDocument/2006/relationships/oleObject" Target="../embeddings/oleObject65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1.bin"/><Relationship Id="rId13" Type="http://schemas.openxmlformats.org/officeDocument/2006/relationships/image" Target="../media/image82.emf"/><Relationship Id="rId18" Type="http://schemas.openxmlformats.org/officeDocument/2006/relationships/oleObject" Target="../embeddings/oleObject76.bin"/><Relationship Id="rId26" Type="http://schemas.openxmlformats.org/officeDocument/2006/relationships/oleObject" Target="../embeddings/oleObject80.bin"/><Relationship Id="rId3" Type="http://schemas.openxmlformats.org/officeDocument/2006/relationships/image" Target="../media/image77.emf"/><Relationship Id="rId21" Type="http://schemas.openxmlformats.org/officeDocument/2006/relationships/image" Target="../media/image86.emf"/><Relationship Id="rId7" Type="http://schemas.openxmlformats.org/officeDocument/2006/relationships/image" Target="../media/image79.emf"/><Relationship Id="rId12" Type="http://schemas.openxmlformats.org/officeDocument/2006/relationships/oleObject" Target="../embeddings/oleObject73.bin"/><Relationship Id="rId17" Type="http://schemas.openxmlformats.org/officeDocument/2006/relationships/image" Target="../media/image84.emf"/><Relationship Id="rId25" Type="http://schemas.openxmlformats.org/officeDocument/2006/relationships/image" Target="../media/image88.emf"/><Relationship Id="rId2" Type="http://schemas.openxmlformats.org/officeDocument/2006/relationships/oleObject" Target="../embeddings/oleObject68.bin"/><Relationship Id="rId16" Type="http://schemas.openxmlformats.org/officeDocument/2006/relationships/oleObject" Target="../embeddings/oleObject75.bin"/><Relationship Id="rId20" Type="http://schemas.openxmlformats.org/officeDocument/2006/relationships/oleObject" Target="../embeddings/oleObject77.bin"/><Relationship Id="rId29" Type="http://schemas.openxmlformats.org/officeDocument/2006/relationships/image" Target="../media/image90.e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0.bin"/><Relationship Id="rId11" Type="http://schemas.openxmlformats.org/officeDocument/2006/relationships/image" Target="../media/image81.emf"/><Relationship Id="rId24" Type="http://schemas.openxmlformats.org/officeDocument/2006/relationships/oleObject" Target="../embeddings/oleObject79.bin"/><Relationship Id="rId5" Type="http://schemas.openxmlformats.org/officeDocument/2006/relationships/image" Target="../media/image78.emf"/><Relationship Id="rId15" Type="http://schemas.openxmlformats.org/officeDocument/2006/relationships/image" Target="../media/image83.emf"/><Relationship Id="rId23" Type="http://schemas.openxmlformats.org/officeDocument/2006/relationships/image" Target="../media/image87.emf"/><Relationship Id="rId28" Type="http://schemas.openxmlformats.org/officeDocument/2006/relationships/oleObject" Target="../embeddings/oleObject81.bin"/><Relationship Id="rId10" Type="http://schemas.openxmlformats.org/officeDocument/2006/relationships/oleObject" Target="../embeddings/oleObject72.bin"/><Relationship Id="rId19" Type="http://schemas.openxmlformats.org/officeDocument/2006/relationships/image" Target="../media/image85.emf"/><Relationship Id="rId4" Type="http://schemas.openxmlformats.org/officeDocument/2006/relationships/oleObject" Target="../embeddings/oleObject69.bin"/><Relationship Id="rId9" Type="http://schemas.openxmlformats.org/officeDocument/2006/relationships/image" Target="../media/image80.emf"/><Relationship Id="rId14" Type="http://schemas.openxmlformats.org/officeDocument/2006/relationships/oleObject" Target="../embeddings/oleObject74.bin"/><Relationship Id="rId22" Type="http://schemas.openxmlformats.org/officeDocument/2006/relationships/oleObject" Target="../embeddings/oleObject78.bin"/><Relationship Id="rId27" Type="http://schemas.openxmlformats.org/officeDocument/2006/relationships/image" Target="../media/image89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5.bin"/><Relationship Id="rId3" Type="http://schemas.openxmlformats.org/officeDocument/2006/relationships/image" Target="../media/image91.emf"/><Relationship Id="rId7" Type="http://schemas.openxmlformats.org/officeDocument/2006/relationships/image" Target="../media/image93.emf"/><Relationship Id="rId2" Type="http://schemas.openxmlformats.org/officeDocument/2006/relationships/oleObject" Target="../embeddings/oleObject8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4.bin"/><Relationship Id="rId11" Type="http://schemas.openxmlformats.org/officeDocument/2006/relationships/image" Target="../media/image95.emf"/><Relationship Id="rId5" Type="http://schemas.openxmlformats.org/officeDocument/2006/relationships/image" Target="../media/image92.emf"/><Relationship Id="rId10" Type="http://schemas.openxmlformats.org/officeDocument/2006/relationships/oleObject" Target="../embeddings/oleObject86.bin"/><Relationship Id="rId4" Type="http://schemas.openxmlformats.org/officeDocument/2006/relationships/oleObject" Target="../embeddings/oleObject83.bin"/><Relationship Id="rId9" Type="http://schemas.openxmlformats.org/officeDocument/2006/relationships/image" Target="../media/image94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0.bin"/><Relationship Id="rId13" Type="http://schemas.openxmlformats.org/officeDocument/2006/relationships/image" Target="../media/image101.emf"/><Relationship Id="rId3" Type="http://schemas.openxmlformats.org/officeDocument/2006/relationships/image" Target="../media/image96.emf"/><Relationship Id="rId7" Type="http://schemas.openxmlformats.org/officeDocument/2006/relationships/image" Target="../media/image98.emf"/><Relationship Id="rId12" Type="http://schemas.openxmlformats.org/officeDocument/2006/relationships/oleObject" Target="../embeddings/oleObject92.bin"/><Relationship Id="rId17" Type="http://schemas.openxmlformats.org/officeDocument/2006/relationships/image" Target="../media/image103.emf"/><Relationship Id="rId2" Type="http://schemas.openxmlformats.org/officeDocument/2006/relationships/oleObject" Target="../embeddings/oleObject87.bin"/><Relationship Id="rId16" Type="http://schemas.openxmlformats.org/officeDocument/2006/relationships/oleObject" Target="../embeddings/oleObject94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89.bin"/><Relationship Id="rId11" Type="http://schemas.openxmlformats.org/officeDocument/2006/relationships/image" Target="../media/image100.emf"/><Relationship Id="rId5" Type="http://schemas.openxmlformats.org/officeDocument/2006/relationships/image" Target="../media/image97.emf"/><Relationship Id="rId15" Type="http://schemas.openxmlformats.org/officeDocument/2006/relationships/image" Target="../media/image102.emf"/><Relationship Id="rId10" Type="http://schemas.openxmlformats.org/officeDocument/2006/relationships/oleObject" Target="../embeddings/oleObject91.bin"/><Relationship Id="rId4" Type="http://schemas.openxmlformats.org/officeDocument/2006/relationships/oleObject" Target="../embeddings/oleObject88.bin"/><Relationship Id="rId9" Type="http://schemas.openxmlformats.org/officeDocument/2006/relationships/image" Target="../media/image99.emf"/><Relationship Id="rId14" Type="http://schemas.openxmlformats.org/officeDocument/2006/relationships/oleObject" Target="../embeddings/oleObject93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8.bin"/><Relationship Id="rId13" Type="http://schemas.openxmlformats.org/officeDocument/2006/relationships/image" Target="../media/image109.emf"/><Relationship Id="rId18" Type="http://schemas.openxmlformats.org/officeDocument/2006/relationships/oleObject" Target="../embeddings/oleObject103.bin"/><Relationship Id="rId3" Type="http://schemas.openxmlformats.org/officeDocument/2006/relationships/image" Target="../media/image104.emf"/><Relationship Id="rId21" Type="http://schemas.openxmlformats.org/officeDocument/2006/relationships/image" Target="../media/image113.emf"/><Relationship Id="rId7" Type="http://schemas.openxmlformats.org/officeDocument/2006/relationships/image" Target="../media/image106.emf"/><Relationship Id="rId12" Type="http://schemas.openxmlformats.org/officeDocument/2006/relationships/oleObject" Target="../embeddings/oleObject100.bin"/><Relationship Id="rId17" Type="http://schemas.openxmlformats.org/officeDocument/2006/relationships/image" Target="../media/image111.emf"/><Relationship Id="rId25" Type="http://schemas.openxmlformats.org/officeDocument/2006/relationships/image" Target="../media/image115.emf"/><Relationship Id="rId2" Type="http://schemas.openxmlformats.org/officeDocument/2006/relationships/oleObject" Target="../embeddings/oleObject95.bin"/><Relationship Id="rId16" Type="http://schemas.openxmlformats.org/officeDocument/2006/relationships/oleObject" Target="../embeddings/oleObject102.bin"/><Relationship Id="rId20" Type="http://schemas.openxmlformats.org/officeDocument/2006/relationships/oleObject" Target="../embeddings/oleObject10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7.bin"/><Relationship Id="rId11" Type="http://schemas.openxmlformats.org/officeDocument/2006/relationships/image" Target="../media/image108.emf"/><Relationship Id="rId24" Type="http://schemas.openxmlformats.org/officeDocument/2006/relationships/oleObject" Target="../embeddings/oleObject106.bin"/><Relationship Id="rId5" Type="http://schemas.openxmlformats.org/officeDocument/2006/relationships/image" Target="../media/image105.emf"/><Relationship Id="rId15" Type="http://schemas.openxmlformats.org/officeDocument/2006/relationships/image" Target="../media/image110.emf"/><Relationship Id="rId23" Type="http://schemas.openxmlformats.org/officeDocument/2006/relationships/image" Target="../media/image114.emf"/><Relationship Id="rId10" Type="http://schemas.openxmlformats.org/officeDocument/2006/relationships/oleObject" Target="../embeddings/oleObject99.bin"/><Relationship Id="rId19" Type="http://schemas.openxmlformats.org/officeDocument/2006/relationships/image" Target="../media/image112.emf"/><Relationship Id="rId4" Type="http://schemas.openxmlformats.org/officeDocument/2006/relationships/oleObject" Target="../embeddings/oleObject96.bin"/><Relationship Id="rId9" Type="http://schemas.openxmlformats.org/officeDocument/2006/relationships/image" Target="../media/image107.emf"/><Relationship Id="rId14" Type="http://schemas.openxmlformats.org/officeDocument/2006/relationships/oleObject" Target="../embeddings/oleObject101.bin"/><Relationship Id="rId22" Type="http://schemas.openxmlformats.org/officeDocument/2006/relationships/oleObject" Target="../embeddings/oleObject105.bin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1.emf"/><Relationship Id="rId18" Type="http://schemas.openxmlformats.org/officeDocument/2006/relationships/oleObject" Target="../embeddings/oleObject115.bin"/><Relationship Id="rId26" Type="http://schemas.openxmlformats.org/officeDocument/2006/relationships/oleObject" Target="../embeddings/oleObject119.bin"/><Relationship Id="rId39" Type="http://schemas.openxmlformats.org/officeDocument/2006/relationships/image" Target="../media/image134.wmf"/><Relationship Id="rId21" Type="http://schemas.openxmlformats.org/officeDocument/2006/relationships/image" Target="../media/image125.emf"/><Relationship Id="rId34" Type="http://schemas.openxmlformats.org/officeDocument/2006/relationships/oleObject" Target="../embeddings/oleObject123.bin"/><Relationship Id="rId7" Type="http://schemas.openxmlformats.org/officeDocument/2006/relationships/image" Target="../media/image118.emf"/><Relationship Id="rId12" Type="http://schemas.openxmlformats.org/officeDocument/2006/relationships/oleObject" Target="../embeddings/oleObject112.bin"/><Relationship Id="rId17" Type="http://schemas.openxmlformats.org/officeDocument/2006/relationships/image" Target="../media/image123.emf"/><Relationship Id="rId25" Type="http://schemas.openxmlformats.org/officeDocument/2006/relationships/image" Target="../media/image127.emf"/><Relationship Id="rId33" Type="http://schemas.openxmlformats.org/officeDocument/2006/relationships/image" Target="../media/image131.emf"/><Relationship Id="rId38" Type="http://schemas.openxmlformats.org/officeDocument/2006/relationships/oleObject" Target="../embeddings/oleObject125.bin"/><Relationship Id="rId2" Type="http://schemas.openxmlformats.org/officeDocument/2006/relationships/oleObject" Target="../embeddings/oleObject107.bin"/><Relationship Id="rId16" Type="http://schemas.openxmlformats.org/officeDocument/2006/relationships/oleObject" Target="../embeddings/oleObject114.bin"/><Relationship Id="rId20" Type="http://schemas.openxmlformats.org/officeDocument/2006/relationships/oleObject" Target="../embeddings/oleObject116.bin"/><Relationship Id="rId29" Type="http://schemas.openxmlformats.org/officeDocument/2006/relationships/image" Target="../media/image129.e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9.bin"/><Relationship Id="rId11" Type="http://schemas.openxmlformats.org/officeDocument/2006/relationships/image" Target="../media/image120.emf"/><Relationship Id="rId24" Type="http://schemas.openxmlformats.org/officeDocument/2006/relationships/oleObject" Target="../embeddings/oleObject118.bin"/><Relationship Id="rId32" Type="http://schemas.openxmlformats.org/officeDocument/2006/relationships/oleObject" Target="../embeddings/oleObject122.bin"/><Relationship Id="rId37" Type="http://schemas.openxmlformats.org/officeDocument/2006/relationships/image" Target="../media/image133.wmf"/><Relationship Id="rId5" Type="http://schemas.openxmlformats.org/officeDocument/2006/relationships/image" Target="../media/image117.emf"/><Relationship Id="rId15" Type="http://schemas.openxmlformats.org/officeDocument/2006/relationships/image" Target="../media/image122.emf"/><Relationship Id="rId23" Type="http://schemas.openxmlformats.org/officeDocument/2006/relationships/image" Target="../media/image126.emf"/><Relationship Id="rId28" Type="http://schemas.openxmlformats.org/officeDocument/2006/relationships/oleObject" Target="../embeddings/oleObject120.bin"/><Relationship Id="rId36" Type="http://schemas.openxmlformats.org/officeDocument/2006/relationships/oleObject" Target="../embeddings/oleObject124.bin"/><Relationship Id="rId10" Type="http://schemas.openxmlformats.org/officeDocument/2006/relationships/oleObject" Target="../embeddings/oleObject111.bin"/><Relationship Id="rId19" Type="http://schemas.openxmlformats.org/officeDocument/2006/relationships/image" Target="../media/image124.emf"/><Relationship Id="rId31" Type="http://schemas.openxmlformats.org/officeDocument/2006/relationships/image" Target="../media/image130.emf"/><Relationship Id="rId4" Type="http://schemas.openxmlformats.org/officeDocument/2006/relationships/oleObject" Target="../embeddings/oleObject108.bin"/><Relationship Id="rId9" Type="http://schemas.openxmlformats.org/officeDocument/2006/relationships/image" Target="../media/image119.emf"/><Relationship Id="rId14" Type="http://schemas.openxmlformats.org/officeDocument/2006/relationships/oleObject" Target="../embeddings/oleObject113.bin"/><Relationship Id="rId22" Type="http://schemas.openxmlformats.org/officeDocument/2006/relationships/oleObject" Target="../embeddings/oleObject117.bin"/><Relationship Id="rId27" Type="http://schemas.openxmlformats.org/officeDocument/2006/relationships/image" Target="../media/image128.emf"/><Relationship Id="rId30" Type="http://schemas.openxmlformats.org/officeDocument/2006/relationships/oleObject" Target="../embeddings/oleObject121.bin"/><Relationship Id="rId35" Type="http://schemas.openxmlformats.org/officeDocument/2006/relationships/image" Target="../media/image132.emf"/><Relationship Id="rId8" Type="http://schemas.openxmlformats.org/officeDocument/2006/relationships/oleObject" Target="../embeddings/oleObject110.bin"/><Relationship Id="rId3" Type="http://schemas.openxmlformats.org/officeDocument/2006/relationships/image" Target="../media/image116.emf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2.emf"/><Relationship Id="rId18" Type="http://schemas.openxmlformats.org/officeDocument/2006/relationships/oleObject" Target="../embeddings/oleObject134.bin"/><Relationship Id="rId26" Type="http://schemas.openxmlformats.org/officeDocument/2006/relationships/oleObject" Target="../embeddings/oleObject138.bin"/><Relationship Id="rId3" Type="http://schemas.openxmlformats.org/officeDocument/2006/relationships/image" Target="../media/image117.emf"/><Relationship Id="rId21" Type="http://schemas.openxmlformats.org/officeDocument/2006/relationships/image" Target="../media/image126.emf"/><Relationship Id="rId34" Type="http://schemas.openxmlformats.org/officeDocument/2006/relationships/oleObject" Target="../embeddings/oleObject142.bin"/><Relationship Id="rId7" Type="http://schemas.openxmlformats.org/officeDocument/2006/relationships/image" Target="../media/image119.emf"/><Relationship Id="rId12" Type="http://schemas.openxmlformats.org/officeDocument/2006/relationships/oleObject" Target="../embeddings/oleObject131.bin"/><Relationship Id="rId17" Type="http://schemas.openxmlformats.org/officeDocument/2006/relationships/image" Target="../media/image124.emf"/><Relationship Id="rId25" Type="http://schemas.openxmlformats.org/officeDocument/2006/relationships/image" Target="../media/image128.emf"/><Relationship Id="rId33" Type="http://schemas.openxmlformats.org/officeDocument/2006/relationships/image" Target="../media/image135.wmf"/><Relationship Id="rId2" Type="http://schemas.openxmlformats.org/officeDocument/2006/relationships/oleObject" Target="../embeddings/oleObject126.bin"/><Relationship Id="rId16" Type="http://schemas.openxmlformats.org/officeDocument/2006/relationships/oleObject" Target="../embeddings/oleObject133.bin"/><Relationship Id="rId20" Type="http://schemas.openxmlformats.org/officeDocument/2006/relationships/oleObject" Target="../embeddings/oleObject135.bin"/><Relationship Id="rId29" Type="http://schemas.openxmlformats.org/officeDocument/2006/relationships/image" Target="../media/image130.e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8.bin"/><Relationship Id="rId11" Type="http://schemas.openxmlformats.org/officeDocument/2006/relationships/image" Target="../media/image121.emf"/><Relationship Id="rId24" Type="http://schemas.openxmlformats.org/officeDocument/2006/relationships/oleObject" Target="../embeddings/oleObject137.bin"/><Relationship Id="rId32" Type="http://schemas.openxmlformats.org/officeDocument/2006/relationships/oleObject" Target="../embeddings/oleObject141.bin"/><Relationship Id="rId5" Type="http://schemas.openxmlformats.org/officeDocument/2006/relationships/image" Target="../media/image118.emf"/><Relationship Id="rId15" Type="http://schemas.openxmlformats.org/officeDocument/2006/relationships/image" Target="../media/image123.emf"/><Relationship Id="rId23" Type="http://schemas.openxmlformats.org/officeDocument/2006/relationships/image" Target="../media/image127.emf"/><Relationship Id="rId28" Type="http://schemas.openxmlformats.org/officeDocument/2006/relationships/oleObject" Target="../embeddings/oleObject139.bin"/><Relationship Id="rId10" Type="http://schemas.openxmlformats.org/officeDocument/2006/relationships/oleObject" Target="../embeddings/oleObject130.bin"/><Relationship Id="rId19" Type="http://schemas.openxmlformats.org/officeDocument/2006/relationships/image" Target="../media/image125.emf"/><Relationship Id="rId31" Type="http://schemas.openxmlformats.org/officeDocument/2006/relationships/image" Target="../media/image131.emf"/><Relationship Id="rId4" Type="http://schemas.openxmlformats.org/officeDocument/2006/relationships/oleObject" Target="../embeddings/oleObject127.bin"/><Relationship Id="rId9" Type="http://schemas.openxmlformats.org/officeDocument/2006/relationships/image" Target="../media/image120.emf"/><Relationship Id="rId14" Type="http://schemas.openxmlformats.org/officeDocument/2006/relationships/oleObject" Target="../embeddings/oleObject132.bin"/><Relationship Id="rId22" Type="http://schemas.openxmlformats.org/officeDocument/2006/relationships/oleObject" Target="../embeddings/oleObject136.bin"/><Relationship Id="rId27" Type="http://schemas.openxmlformats.org/officeDocument/2006/relationships/image" Target="../media/image129.emf"/><Relationship Id="rId30" Type="http://schemas.openxmlformats.org/officeDocument/2006/relationships/oleObject" Target="../embeddings/oleObject140.bin"/><Relationship Id="rId35" Type="http://schemas.openxmlformats.org/officeDocument/2006/relationships/image" Target="../media/image136.wmf"/><Relationship Id="rId8" Type="http://schemas.openxmlformats.org/officeDocument/2006/relationships/oleObject" Target="../embeddings/oleObject129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wmf"/><Relationship Id="rId13" Type="http://schemas.openxmlformats.org/officeDocument/2006/relationships/oleObject" Target="../embeddings/oleObject148.bin"/><Relationship Id="rId18" Type="http://schemas.openxmlformats.org/officeDocument/2006/relationships/image" Target="../media/image145.wmf"/><Relationship Id="rId3" Type="http://schemas.openxmlformats.org/officeDocument/2006/relationships/oleObject" Target="../embeddings/oleObject143.bin"/><Relationship Id="rId7" Type="http://schemas.openxmlformats.org/officeDocument/2006/relationships/oleObject" Target="../embeddings/oleObject145.bin"/><Relationship Id="rId12" Type="http://schemas.openxmlformats.org/officeDocument/2006/relationships/image" Target="../media/image142.wmf"/><Relationship Id="rId17" Type="http://schemas.openxmlformats.org/officeDocument/2006/relationships/oleObject" Target="../embeddings/oleObject150.bin"/><Relationship Id="rId2" Type="http://schemas.openxmlformats.org/officeDocument/2006/relationships/image" Target="../media/image137.png"/><Relationship Id="rId16" Type="http://schemas.openxmlformats.org/officeDocument/2006/relationships/image" Target="../media/image144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9.wmf"/><Relationship Id="rId11" Type="http://schemas.openxmlformats.org/officeDocument/2006/relationships/oleObject" Target="../embeddings/oleObject147.bin"/><Relationship Id="rId5" Type="http://schemas.openxmlformats.org/officeDocument/2006/relationships/oleObject" Target="../embeddings/oleObject144.bin"/><Relationship Id="rId15" Type="http://schemas.openxmlformats.org/officeDocument/2006/relationships/oleObject" Target="../embeddings/oleObject149.bin"/><Relationship Id="rId10" Type="http://schemas.openxmlformats.org/officeDocument/2006/relationships/image" Target="../media/image141.wmf"/><Relationship Id="rId4" Type="http://schemas.openxmlformats.org/officeDocument/2006/relationships/image" Target="../media/image138.wmf"/><Relationship Id="rId9" Type="http://schemas.openxmlformats.org/officeDocument/2006/relationships/oleObject" Target="../embeddings/oleObject146.bin"/><Relationship Id="rId14" Type="http://schemas.openxmlformats.org/officeDocument/2006/relationships/image" Target="../media/image143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emf"/><Relationship Id="rId2" Type="http://schemas.openxmlformats.org/officeDocument/2006/relationships/oleObject" Target="../embeddings/oleObject15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1.e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5.bin"/><Relationship Id="rId13" Type="http://schemas.openxmlformats.org/officeDocument/2006/relationships/image" Target="../media/image157.wmf"/><Relationship Id="rId3" Type="http://schemas.openxmlformats.org/officeDocument/2006/relationships/image" Target="../media/image152.wmf"/><Relationship Id="rId7" Type="http://schemas.openxmlformats.org/officeDocument/2006/relationships/image" Target="../media/image154.wmf"/><Relationship Id="rId12" Type="http://schemas.openxmlformats.org/officeDocument/2006/relationships/oleObject" Target="../embeddings/oleObject157.bin"/><Relationship Id="rId2" Type="http://schemas.openxmlformats.org/officeDocument/2006/relationships/oleObject" Target="../embeddings/oleObject15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54.bin"/><Relationship Id="rId11" Type="http://schemas.openxmlformats.org/officeDocument/2006/relationships/image" Target="../media/image156.wmf"/><Relationship Id="rId5" Type="http://schemas.openxmlformats.org/officeDocument/2006/relationships/image" Target="../media/image153.wmf"/><Relationship Id="rId10" Type="http://schemas.openxmlformats.org/officeDocument/2006/relationships/oleObject" Target="../embeddings/oleObject156.bin"/><Relationship Id="rId4" Type="http://schemas.openxmlformats.org/officeDocument/2006/relationships/oleObject" Target="../embeddings/oleObject153.bin"/><Relationship Id="rId9" Type="http://schemas.openxmlformats.org/officeDocument/2006/relationships/image" Target="../media/image155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0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0.bin"/><Relationship Id="rId3" Type="http://schemas.openxmlformats.org/officeDocument/2006/relationships/image" Target="../media/image162.png"/><Relationship Id="rId7" Type="http://schemas.openxmlformats.org/officeDocument/2006/relationships/image" Target="../media/image164.wmf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59.bin"/><Relationship Id="rId5" Type="http://schemas.openxmlformats.org/officeDocument/2006/relationships/image" Target="../media/image163.wmf"/><Relationship Id="rId4" Type="http://schemas.openxmlformats.org/officeDocument/2006/relationships/oleObject" Target="../embeddings/oleObject158.bin"/><Relationship Id="rId9" Type="http://schemas.openxmlformats.org/officeDocument/2006/relationships/image" Target="../media/image165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4.bin"/><Relationship Id="rId13" Type="http://schemas.openxmlformats.org/officeDocument/2006/relationships/image" Target="../media/image171.wmf"/><Relationship Id="rId3" Type="http://schemas.openxmlformats.org/officeDocument/2006/relationships/image" Target="../media/image166.wmf"/><Relationship Id="rId7" Type="http://schemas.openxmlformats.org/officeDocument/2006/relationships/image" Target="../media/image168.wmf"/><Relationship Id="rId12" Type="http://schemas.openxmlformats.org/officeDocument/2006/relationships/oleObject" Target="../embeddings/oleObject166.bin"/><Relationship Id="rId2" Type="http://schemas.openxmlformats.org/officeDocument/2006/relationships/oleObject" Target="../embeddings/oleObject16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3.bin"/><Relationship Id="rId11" Type="http://schemas.openxmlformats.org/officeDocument/2006/relationships/image" Target="../media/image170.wmf"/><Relationship Id="rId5" Type="http://schemas.openxmlformats.org/officeDocument/2006/relationships/image" Target="../media/image167.wmf"/><Relationship Id="rId10" Type="http://schemas.openxmlformats.org/officeDocument/2006/relationships/oleObject" Target="../embeddings/oleObject165.bin"/><Relationship Id="rId4" Type="http://schemas.openxmlformats.org/officeDocument/2006/relationships/oleObject" Target="../embeddings/oleObject162.bin"/><Relationship Id="rId9" Type="http://schemas.openxmlformats.org/officeDocument/2006/relationships/image" Target="../media/image169.wmf"/></Relationships>
</file>

<file path=ppt/slides/_rels/slide3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7.emf"/><Relationship Id="rId18" Type="http://schemas.openxmlformats.org/officeDocument/2006/relationships/oleObject" Target="../embeddings/oleObject175.bin"/><Relationship Id="rId26" Type="http://schemas.openxmlformats.org/officeDocument/2006/relationships/oleObject" Target="../embeddings/oleObject179.bin"/><Relationship Id="rId3" Type="http://schemas.openxmlformats.org/officeDocument/2006/relationships/image" Target="../media/image172.emf"/><Relationship Id="rId21" Type="http://schemas.openxmlformats.org/officeDocument/2006/relationships/image" Target="../media/image181.emf"/><Relationship Id="rId34" Type="http://schemas.openxmlformats.org/officeDocument/2006/relationships/oleObject" Target="../embeddings/oleObject183.bin"/><Relationship Id="rId7" Type="http://schemas.openxmlformats.org/officeDocument/2006/relationships/image" Target="../media/image174.emf"/><Relationship Id="rId12" Type="http://schemas.openxmlformats.org/officeDocument/2006/relationships/oleObject" Target="../embeddings/oleObject172.bin"/><Relationship Id="rId17" Type="http://schemas.openxmlformats.org/officeDocument/2006/relationships/image" Target="../media/image179.emf"/><Relationship Id="rId25" Type="http://schemas.openxmlformats.org/officeDocument/2006/relationships/image" Target="../media/image183.emf"/><Relationship Id="rId33" Type="http://schemas.openxmlformats.org/officeDocument/2006/relationships/image" Target="../media/image187.emf"/><Relationship Id="rId2" Type="http://schemas.openxmlformats.org/officeDocument/2006/relationships/oleObject" Target="../embeddings/oleObject167.bin"/><Relationship Id="rId16" Type="http://schemas.openxmlformats.org/officeDocument/2006/relationships/oleObject" Target="../embeddings/oleObject174.bin"/><Relationship Id="rId20" Type="http://schemas.openxmlformats.org/officeDocument/2006/relationships/oleObject" Target="../embeddings/oleObject176.bin"/><Relationship Id="rId29" Type="http://schemas.openxmlformats.org/officeDocument/2006/relationships/image" Target="../media/image185.e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9.bin"/><Relationship Id="rId11" Type="http://schemas.openxmlformats.org/officeDocument/2006/relationships/image" Target="../media/image176.emf"/><Relationship Id="rId24" Type="http://schemas.openxmlformats.org/officeDocument/2006/relationships/oleObject" Target="../embeddings/oleObject178.bin"/><Relationship Id="rId32" Type="http://schemas.openxmlformats.org/officeDocument/2006/relationships/oleObject" Target="../embeddings/oleObject182.bin"/><Relationship Id="rId5" Type="http://schemas.openxmlformats.org/officeDocument/2006/relationships/image" Target="../media/image173.emf"/><Relationship Id="rId15" Type="http://schemas.openxmlformats.org/officeDocument/2006/relationships/image" Target="../media/image178.emf"/><Relationship Id="rId23" Type="http://schemas.openxmlformats.org/officeDocument/2006/relationships/image" Target="../media/image182.emf"/><Relationship Id="rId28" Type="http://schemas.openxmlformats.org/officeDocument/2006/relationships/oleObject" Target="../embeddings/oleObject180.bin"/><Relationship Id="rId10" Type="http://schemas.openxmlformats.org/officeDocument/2006/relationships/oleObject" Target="../embeddings/oleObject171.bin"/><Relationship Id="rId19" Type="http://schemas.openxmlformats.org/officeDocument/2006/relationships/image" Target="../media/image180.emf"/><Relationship Id="rId31" Type="http://schemas.openxmlformats.org/officeDocument/2006/relationships/image" Target="../media/image186.emf"/><Relationship Id="rId4" Type="http://schemas.openxmlformats.org/officeDocument/2006/relationships/oleObject" Target="../embeddings/oleObject168.bin"/><Relationship Id="rId9" Type="http://schemas.openxmlformats.org/officeDocument/2006/relationships/image" Target="../media/image175.emf"/><Relationship Id="rId14" Type="http://schemas.openxmlformats.org/officeDocument/2006/relationships/oleObject" Target="../embeddings/oleObject173.bin"/><Relationship Id="rId22" Type="http://schemas.openxmlformats.org/officeDocument/2006/relationships/oleObject" Target="../embeddings/oleObject177.bin"/><Relationship Id="rId27" Type="http://schemas.openxmlformats.org/officeDocument/2006/relationships/image" Target="../media/image184.emf"/><Relationship Id="rId30" Type="http://schemas.openxmlformats.org/officeDocument/2006/relationships/oleObject" Target="../embeddings/oleObject181.bin"/><Relationship Id="rId35" Type="http://schemas.openxmlformats.org/officeDocument/2006/relationships/image" Target="../media/image188.emf"/><Relationship Id="rId8" Type="http://schemas.openxmlformats.org/officeDocument/2006/relationships/oleObject" Target="../embeddings/oleObject170.bin"/></Relationships>
</file>

<file path=ppt/slides/_rels/slide4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4.emf"/><Relationship Id="rId18" Type="http://schemas.openxmlformats.org/officeDocument/2006/relationships/oleObject" Target="../embeddings/oleObject192.bin"/><Relationship Id="rId26" Type="http://schemas.openxmlformats.org/officeDocument/2006/relationships/oleObject" Target="../embeddings/oleObject196.bin"/><Relationship Id="rId39" Type="http://schemas.openxmlformats.org/officeDocument/2006/relationships/image" Target="../media/image207.emf"/><Relationship Id="rId21" Type="http://schemas.openxmlformats.org/officeDocument/2006/relationships/image" Target="../media/image198.emf"/><Relationship Id="rId34" Type="http://schemas.openxmlformats.org/officeDocument/2006/relationships/oleObject" Target="../embeddings/oleObject200.bin"/><Relationship Id="rId42" Type="http://schemas.openxmlformats.org/officeDocument/2006/relationships/oleObject" Target="../embeddings/oleObject204.bin"/><Relationship Id="rId47" Type="http://schemas.openxmlformats.org/officeDocument/2006/relationships/image" Target="../media/image211.emf"/><Relationship Id="rId7" Type="http://schemas.openxmlformats.org/officeDocument/2006/relationships/image" Target="../media/image191.emf"/><Relationship Id="rId2" Type="http://schemas.openxmlformats.org/officeDocument/2006/relationships/oleObject" Target="../embeddings/oleObject184.bin"/><Relationship Id="rId16" Type="http://schemas.openxmlformats.org/officeDocument/2006/relationships/oleObject" Target="../embeddings/oleObject191.bin"/><Relationship Id="rId29" Type="http://schemas.openxmlformats.org/officeDocument/2006/relationships/image" Target="../media/image202.e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86.bin"/><Relationship Id="rId11" Type="http://schemas.openxmlformats.org/officeDocument/2006/relationships/image" Target="../media/image193.emf"/><Relationship Id="rId24" Type="http://schemas.openxmlformats.org/officeDocument/2006/relationships/oleObject" Target="../embeddings/oleObject195.bin"/><Relationship Id="rId32" Type="http://schemas.openxmlformats.org/officeDocument/2006/relationships/oleObject" Target="../embeddings/oleObject199.bin"/><Relationship Id="rId37" Type="http://schemas.openxmlformats.org/officeDocument/2006/relationships/image" Target="../media/image206.emf"/><Relationship Id="rId40" Type="http://schemas.openxmlformats.org/officeDocument/2006/relationships/oleObject" Target="../embeddings/oleObject203.bin"/><Relationship Id="rId45" Type="http://schemas.openxmlformats.org/officeDocument/2006/relationships/image" Target="../media/image210.emf"/><Relationship Id="rId5" Type="http://schemas.openxmlformats.org/officeDocument/2006/relationships/image" Target="../media/image190.emf"/><Relationship Id="rId15" Type="http://schemas.openxmlformats.org/officeDocument/2006/relationships/image" Target="../media/image195.emf"/><Relationship Id="rId23" Type="http://schemas.openxmlformats.org/officeDocument/2006/relationships/image" Target="../media/image199.emf"/><Relationship Id="rId28" Type="http://schemas.openxmlformats.org/officeDocument/2006/relationships/oleObject" Target="../embeddings/oleObject197.bin"/><Relationship Id="rId36" Type="http://schemas.openxmlformats.org/officeDocument/2006/relationships/oleObject" Target="../embeddings/oleObject201.bin"/><Relationship Id="rId10" Type="http://schemas.openxmlformats.org/officeDocument/2006/relationships/oleObject" Target="../embeddings/oleObject188.bin"/><Relationship Id="rId19" Type="http://schemas.openxmlformats.org/officeDocument/2006/relationships/image" Target="../media/image197.emf"/><Relationship Id="rId31" Type="http://schemas.openxmlformats.org/officeDocument/2006/relationships/image" Target="../media/image203.emf"/><Relationship Id="rId44" Type="http://schemas.openxmlformats.org/officeDocument/2006/relationships/oleObject" Target="../embeddings/oleObject205.bin"/><Relationship Id="rId4" Type="http://schemas.openxmlformats.org/officeDocument/2006/relationships/oleObject" Target="../embeddings/oleObject185.bin"/><Relationship Id="rId9" Type="http://schemas.openxmlformats.org/officeDocument/2006/relationships/image" Target="../media/image192.emf"/><Relationship Id="rId14" Type="http://schemas.openxmlformats.org/officeDocument/2006/relationships/oleObject" Target="../embeddings/oleObject190.bin"/><Relationship Id="rId22" Type="http://schemas.openxmlformats.org/officeDocument/2006/relationships/oleObject" Target="../embeddings/oleObject194.bin"/><Relationship Id="rId27" Type="http://schemas.openxmlformats.org/officeDocument/2006/relationships/image" Target="../media/image201.emf"/><Relationship Id="rId30" Type="http://schemas.openxmlformats.org/officeDocument/2006/relationships/oleObject" Target="../embeddings/oleObject198.bin"/><Relationship Id="rId35" Type="http://schemas.openxmlformats.org/officeDocument/2006/relationships/image" Target="../media/image205.emf"/><Relationship Id="rId43" Type="http://schemas.openxmlformats.org/officeDocument/2006/relationships/image" Target="../media/image209.emf"/><Relationship Id="rId8" Type="http://schemas.openxmlformats.org/officeDocument/2006/relationships/oleObject" Target="../embeddings/oleObject187.bin"/><Relationship Id="rId3" Type="http://schemas.openxmlformats.org/officeDocument/2006/relationships/image" Target="../media/image189.emf"/><Relationship Id="rId12" Type="http://schemas.openxmlformats.org/officeDocument/2006/relationships/oleObject" Target="../embeddings/oleObject189.bin"/><Relationship Id="rId17" Type="http://schemas.openxmlformats.org/officeDocument/2006/relationships/image" Target="../media/image196.emf"/><Relationship Id="rId25" Type="http://schemas.openxmlformats.org/officeDocument/2006/relationships/image" Target="../media/image200.emf"/><Relationship Id="rId33" Type="http://schemas.openxmlformats.org/officeDocument/2006/relationships/image" Target="../media/image204.emf"/><Relationship Id="rId38" Type="http://schemas.openxmlformats.org/officeDocument/2006/relationships/oleObject" Target="../embeddings/oleObject202.bin"/><Relationship Id="rId46" Type="http://schemas.openxmlformats.org/officeDocument/2006/relationships/oleObject" Target="../embeddings/oleObject206.bin"/><Relationship Id="rId20" Type="http://schemas.openxmlformats.org/officeDocument/2006/relationships/oleObject" Target="../embeddings/oleObject193.bin"/><Relationship Id="rId41" Type="http://schemas.openxmlformats.org/officeDocument/2006/relationships/image" Target="../media/image208.e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0.bin"/><Relationship Id="rId13" Type="http://schemas.openxmlformats.org/officeDocument/2006/relationships/image" Target="../media/image217.emf"/><Relationship Id="rId18" Type="http://schemas.openxmlformats.org/officeDocument/2006/relationships/oleObject" Target="../embeddings/oleObject215.bin"/><Relationship Id="rId26" Type="http://schemas.openxmlformats.org/officeDocument/2006/relationships/oleObject" Target="../embeddings/oleObject219.bin"/><Relationship Id="rId3" Type="http://schemas.openxmlformats.org/officeDocument/2006/relationships/image" Target="../media/image212.emf"/><Relationship Id="rId21" Type="http://schemas.openxmlformats.org/officeDocument/2006/relationships/image" Target="../media/image221.emf"/><Relationship Id="rId7" Type="http://schemas.openxmlformats.org/officeDocument/2006/relationships/image" Target="../media/image214.emf"/><Relationship Id="rId12" Type="http://schemas.openxmlformats.org/officeDocument/2006/relationships/oleObject" Target="../embeddings/oleObject212.bin"/><Relationship Id="rId17" Type="http://schemas.openxmlformats.org/officeDocument/2006/relationships/image" Target="../media/image219.emf"/><Relationship Id="rId25" Type="http://schemas.openxmlformats.org/officeDocument/2006/relationships/image" Target="../media/image223.emf"/><Relationship Id="rId2" Type="http://schemas.openxmlformats.org/officeDocument/2006/relationships/oleObject" Target="../embeddings/oleObject207.bin"/><Relationship Id="rId16" Type="http://schemas.openxmlformats.org/officeDocument/2006/relationships/oleObject" Target="../embeddings/oleObject214.bin"/><Relationship Id="rId20" Type="http://schemas.openxmlformats.org/officeDocument/2006/relationships/oleObject" Target="../embeddings/oleObject216.bin"/><Relationship Id="rId29" Type="http://schemas.openxmlformats.org/officeDocument/2006/relationships/image" Target="../media/image225.e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09.bin"/><Relationship Id="rId11" Type="http://schemas.openxmlformats.org/officeDocument/2006/relationships/image" Target="../media/image216.emf"/><Relationship Id="rId24" Type="http://schemas.openxmlformats.org/officeDocument/2006/relationships/oleObject" Target="../embeddings/oleObject218.bin"/><Relationship Id="rId5" Type="http://schemas.openxmlformats.org/officeDocument/2006/relationships/image" Target="../media/image213.emf"/><Relationship Id="rId15" Type="http://schemas.openxmlformats.org/officeDocument/2006/relationships/image" Target="../media/image218.emf"/><Relationship Id="rId23" Type="http://schemas.openxmlformats.org/officeDocument/2006/relationships/image" Target="../media/image222.wmf"/><Relationship Id="rId28" Type="http://schemas.openxmlformats.org/officeDocument/2006/relationships/oleObject" Target="../embeddings/oleObject220.bin"/><Relationship Id="rId10" Type="http://schemas.openxmlformats.org/officeDocument/2006/relationships/oleObject" Target="../embeddings/oleObject211.bin"/><Relationship Id="rId19" Type="http://schemas.openxmlformats.org/officeDocument/2006/relationships/image" Target="../media/image220.emf"/><Relationship Id="rId31" Type="http://schemas.openxmlformats.org/officeDocument/2006/relationships/image" Target="../media/image226.emf"/><Relationship Id="rId4" Type="http://schemas.openxmlformats.org/officeDocument/2006/relationships/oleObject" Target="../embeddings/oleObject208.bin"/><Relationship Id="rId9" Type="http://schemas.openxmlformats.org/officeDocument/2006/relationships/image" Target="../media/image215.emf"/><Relationship Id="rId14" Type="http://schemas.openxmlformats.org/officeDocument/2006/relationships/oleObject" Target="../embeddings/oleObject213.bin"/><Relationship Id="rId22" Type="http://schemas.openxmlformats.org/officeDocument/2006/relationships/oleObject" Target="../embeddings/oleObject217.bin"/><Relationship Id="rId27" Type="http://schemas.openxmlformats.org/officeDocument/2006/relationships/image" Target="../media/image224.emf"/><Relationship Id="rId30" Type="http://schemas.openxmlformats.org/officeDocument/2006/relationships/oleObject" Target="../embeddings/oleObject221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9.emf"/><Relationship Id="rId13" Type="http://schemas.openxmlformats.org/officeDocument/2006/relationships/oleObject" Target="../embeddings/oleObject227.bin"/><Relationship Id="rId18" Type="http://schemas.openxmlformats.org/officeDocument/2006/relationships/image" Target="../media/image234.emf"/><Relationship Id="rId26" Type="http://schemas.openxmlformats.org/officeDocument/2006/relationships/image" Target="../media/image238.emf"/><Relationship Id="rId3" Type="http://schemas.openxmlformats.org/officeDocument/2006/relationships/oleObject" Target="../embeddings/oleObject222.bin"/><Relationship Id="rId21" Type="http://schemas.openxmlformats.org/officeDocument/2006/relationships/oleObject" Target="../embeddings/oleObject231.bin"/><Relationship Id="rId7" Type="http://schemas.openxmlformats.org/officeDocument/2006/relationships/oleObject" Target="../embeddings/oleObject224.bin"/><Relationship Id="rId12" Type="http://schemas.openxmlformats.org/officeDocument/2006/relationships/image" Target="../media/image231.emf"/><Relationship Id="rId17" Type="http://schemas.openxmlformats.org/officeDocument/2006/relationships/oleObject" Target="../embeddings/oleObject229.bin"/><Relationship Id="rId25" Type="http://schemas.openxmlformats.org/officeDocument/2006/relationships/oleObject" Target="../embeddings/oleObject233.bin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33.emf"/><Relationship Id="rId20" Type="http://schemas.openxmlformats.org/officeDocument/2006/relationships/image" Target="../media/image23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8.emf"/><Relationship Id="rId11" Type="http://schemas.openxmlformats.org/officeDocument/2006/relationships/oleObject" Target="../embeddings/oleObject226.bin"/><Relationship Id="rId24" Type="http://schemas.openxmlformats.org/officeDocument/2006/relationships/image" Target="../media/image237.emf"/><Relationship Id="rId5" Type="http://schemas.openxmlformats.org/officeDocument/2006/relationships/oleObject" Target="../embeddings/oleObject223.bin"/><Relationship Id="rId15" Type="http://schemas.openxmlformats.org/officeDocument/2006/relationships/oleObject" Target="../embeddings/oleObject228.bin"/><Relationship Id="rId23" Type="http://schemas.openxmlformats.org/officeDocument/2006/relationships/oleObject" Target="../embeddings/oleObject232.bin"/><Relationship Id="rId28" Type="http://schemas.openxmlformats.org/officeDocument/2006/relationships/image" Target="../media/image239.emf"/><Relationship Id="rId10" Type="http://schemas.openxmlformats.org/officeDocument/2006/relationships/image" Target="../media/image230.emf"/><Relationship Id="rId19" Type="http://schemas.openxmlformats.org/officeDocument/2006/relationships/oleObject" Target="../embeddings/oleObject230.bin"/><Relationship Id="rId4" Type="http://schemas.openxmlformats.org/officeDocument/2006/relationships/image" Target="../media/image227.emf"/><Relationship Id="rId9" Type="http://schemas.openxmlformats.org/officeDocument/2006/relationships/oleObject" Target="../embeddings/oleObject225.bin"/><Relationship Id="rId14" Type="http://schemas.openxmlformats.org/officeDocument/2006/relationships/image" Target="../media/image232.emf"/><Relationship Id="rId22" Type="http://schemas.openxmlformats.org/officeDocument/2006/relationships/image" Target="../media/image236.emf"/><Relationship Id="rId27" Type="http://schemas.openxmlformats.org/officeDocument/2006/relationships/oleObject" Target="../embeddings/oleObject234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8.bin"/><Relationship Id="rId13" Type="http://schemas.openxmlformats.org/officeDocument/2006/relationships/image" Target="../media/image245.emf"/><Relationship Id="rId3" Type="http://schemas.openxmlformats.org/officeDocument/2006/relationships/image" Target="../media/image240.emf"/><Relationship Id="rId7" Type="http://schemas.openxmlformats.org/officeDocument/2006/relationships/image" Target="../media/image242.emf"/><Relationship Id="rId12" Type="http://schemas.openxmlformats.org/officeDocument/2006/relationships/oleObject" Target="../embeddings/oleObject240.bin"/><Relationship Id="rId2" Type="http://schemas.openxmlformats.org/officeDocument/2006/relationships/oleObject" Target="../embeddings/oleObject23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37.bin"/><Relationship Id="rId11" Type="http://schemas.openxmlformats.org/officeDocument/2006/relationships/image" Target="../media/image244.emf"/><Relationship Id="rId5" Type="http://schemas.openxmlformats.org/officeDocument/2006/relationships/image" Target="../media/image241.emf"/><Relationship Id="rId10" Type="http://schemas.openxmlformats.org/officeDocument/2006/relationships/oleObject" Target="../embeddings/oleObject239.bin"/><Relationship Id="rId4" Type="http://schemas.openxmlformats.org/officeDocument/2006/relationships/oleObject" Target="../embeddings/oleObject236.bin"/><Relationship Id="rId9" Type="http://schemas.openxmlformats.org/officeDocument/2006/relationships/image" Target="../media/image243.emf"/></Relationships>
</file>

<file path=ppt/slides/_rels/slide4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46.bin"/><Relationship Id="rId18" Type="http://schemas.openxmlformats.org/officeDocument/2006/relationships/image" Target="../media/image254.emf"/><Relationship Id="rId26" Type="http://schemas.openxmlformats.org/officeDocument/2006/relationships/image" Target="../media/image258.emf"/><Relationship Id="rId3" Type="http://schemas.openxmlformats.org/officeDocument/2006/relationships/oleObject" Target="../embeddings/oleObject241.bin"/><Relationship Id="rId21" Type="http://schemas.openxmlformats.org/officeDocument/2006/relationships/oleObject" Target="../embeddings/oleObject250.bin"/><Relationship Id="rId7" Type="http://schemas.openxmlformats.org/officeDocument/2006/relationships/oleObject" Target="../embeddings/oleObject243.bin"/><Relationship Id="rId12" Type="http://schemas.openxmlformats.org/officeDocument/2006/relationships/image" Target="../media/image251.emf"/><Relationship Id="rId17" Type="http://schemas.openxmlformats.org/officeDocument/2006/relationships/oleObject" Target="../embeddings/oleObject248.bin"/><Relationship Id="rId25" Type="http://schemas.openxmlformats.org/officeDocument/2006/relationships/oleObject" Target="../embeddings/oleObject252.bin"/><Relationship Id="rId33" Type="http://schemas.openxmlformats.org/officeDocument/2006/relationships/image" Target="../media/image262.emf"/><Relationship Id="rId2" Type="http://schemas.openxmlformats.org/officeDocument/2006/relationships/image" Target="../media/image246.jpeg"/><Relationship Id="rId16" Type="http://schemas.openxmlformats.org/officeDocument/2006/relationships/image" Target="../media/image253.emf"/><Relationship Id="rId20" Type="http://schemas.openxmlformats.org/officeDocument/2006/relationships/image" Target="../media/image255.emf"/><Relationship Id="rId29" Type="http://schemas.openxmlformats.org/officeDocument/2006/relationships/oleObject" Target="../embeddings/oleObject254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8.emf"/><Relationship Id="rId11" Type="http://schemas.openxmlformats.org/officeDocument/2006/relationships/oleObject" Target="../embeddings/oleObject245.bin"/><Relationship Id="rId24" Type="http://schemas.openxmlformats.org/officeDocument/2006/relationships/image" Target="../media/image257.emf"/><Relationship Id="rId32" Type="http://schemas.openxmlformats.org/officeDocument/2006/relationships/oleObject" Target="../embeddings/oleObject255.bin"/><Relationship Id="rId5" Type="http://schemas.openxmlformats.org/officeDocument/2006/relationships/oleObject" Target="../embeddings/oleObject242.bin"/><Relationship Id="rId15" Type="http://schemas.openxmlformats.org/officeDocument/2006/relationships/oleObject" Target="../embeddings/oleObject247.bin"/><Relationship Id="rId23" Type="http://schemas.openxmlformats.org/officeDocument/2006/relationships/oleObject" Target="../embeddings/oleObject251.bin"/><Relationship Id="rId28" Type="http://schemas.openxmlformats.org/officeDocument/2006/relationships/image" Target="../media/image259.wmf"/><Relationship Id="rId10" Type="http://schemas.openxmlformats.org/officeDocument/2006/relationships/image" Target="../media/image250.emf"/><Relationship Id="rId19" Type="http://schemas.openxmlformats.org/officeDocument/2006/relationships/oleObject" Target="../embeddings/oleObject249.bin"/><Relationship Id="rId31" Type="http://schemas.openxmlformats.org/officeDocument/2006/relationships/image" Target="../media/image261.png"/><Relationship Id="rId4" Type="http://schemas.openxmlformats.org/officeDocument/2006/relationships/image" Target="../media/image247.emf"/><Relationship Id="rId9" Type="http://schemas.openxmlformats.org/officeDocument/2006/relationships/oleObject" Target="../embeddings/oleObject244.bin"/><Relationship Id="rId14" Type="http://schemas.openxmlformats.org/officeDocument/2006/relationships/image" Target="../media/image252.emf"/><Relationship Id="rId22" Type="http://schemas.openxmlformats.org/officeDocument/2006/relationships/image" Target="../media/image256.emf"/><Relationship Id="rId27" Type="http://schemas.openxmlformats.org/officeDocument/2006/relationships/oleObject" Target="../embeddings/oleObject253.bin"/><Relationship Id="rId30" Type="http://schemas.openxmlformats.org/officeDocument/2006/relationships/image" Target="../media/image260.wmf"/><Relationship Id="rId8" Type="http://schemas.openxmlformats.org/officeDocument/2006/relationships/image" Target="../media/image249.emf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9.bin"/><Relationship Id="rId13" Type="http://schemas.openxmlformats.org/officeDocument/2006/relationships/image" Target="../media/image270.emf"/><Relationship Id="rId18" Type="http://schemas.openxmlformats.org/officeDocument/2006/relationships/oleObject" Target="../embeddings/oleObject264.bin"/><Relationship Id="rId3" Type="http://schemas.openxmlformats.org/officeDocument/2006/relationships/image" Target="../media/image265.emf"/><Relationship Id="rId7" Type="http://schemas.openxmlformats.org/officeDocument/2006/relationships/image" Target="../media/image267.emf"/><Relationship Id="rId12" Type="http://schemas.openxmlformats.org/officeDocument/2006/relationships/oleObject" Target="../embeddings/oleObject261.bin"/><Relationship Id="rId17" Type="http://schemas.openxmlformats.org/officeDocument/2006/relationships/image" Target="../media/image272.emf"/><Relationship Id="rId2" Type="http://schemas.openxmlformats.org/officeDocument/2006/relationships/oleObject" Target="../embeddings/oleObject256.bin"/><Relationship Id="rId16" Type="http://schemas.openxmlformats.org/officeDocument/2006/relationships/oleObject" Target="../embeddings/oleObject26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58.bin"/><Relationship Id="rId11" Type="http://schemas.openxmlformats.org/officeDocument/2006/relationships/image" Target="../media/image269.emf"/><Relationship Id="rId5" Type="http://schemas.openxmlformats.org/officeDocument/2006/relationships/image" Target="../media/image266.emf"/><Relationship Id="rId15" Type="http://schemas.openxmlformats.org/officeDocument/2006/relationships/image" Target="../media/image271.emf"/><Relationship Id="rId10" Type="http://schemas.openxmlformats.org/officeDocument/2006/relationships/oleObject" Target="../embeddings/oleObject260.bin"/><Relationship Id="rId19" Type="http://schemas.openxmlformats.org/officeDocument/2006/relationships/image" Target="../media/image273.emf"/><Relationship Id="rId4" Type="http://schemas.openxmlformats.org/officeDocument/2006/relationships/oleObject" Target="../embeddings/oleObject257.bin"/><Relationship Id="rId9" Type="http://schemas.openxmlformats.org/officeDocument/2006/relationships/image" Target="../media/image268.emf"/><Relationship Id="rId14" Type="http://schemas.openxmlformats.org/officeDocument/2006/relationships/oleObject" Target="../embeddings/oleObject262.bin"/></Relationships>
</file>

<file path=ppt/slides/_rels/slide4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9.emf"/><Relationship Id="rId18" Type="http://schemas.openxmlformats.org/officeDocument/2006/relationships/oleObject" Target="../embeddings/oleObject273.bin"/><Relationship Id="rId26" Type="http://schemas.openxmlformats.org/officeDocument/2006/relationships/oleObject" Target="../embeddings/oleObject277.bin"/><Relationship Id="rId39" Type="http://schemas.openxmlformats.org/officeDocument/2006/relationships/image" Target="../media/image292.emf"/><Relationship Id="rId21" Type="http://schemas.openxmlformats.org/officeDocument/2006/relationships/image" Target="../media/image283.emf"/><Relationship Id="rId34" Type="http://schemas.openxmlformats.org/officeDocument/2006/relationships/oleObject" Target="../embeddings/oleObject281.bin"/><Relationship Id="rId42" Type="http://schemas.openxmlformats.org/officeDocument/2006/relationships/oleObject" Target="../embeddings/oleObject285.bin"/><Relationship Id="rId7" Type="http://schemas.openxmlformats.org/officeDocument/2006/relationships/image" Target="../media/image276.emf"/><Relationship Id="rId2" Type="http://schemas.openxmlformats.org/officeDocument/2006/relationships/oleObject" Target="../embeddings/oleObject265.bin"/><Relationship Id="rId16" Type="http://schemas.openxmlformats.org/officeDocument/2006/relationships/oleObject" Target="../embeddings/oleObject272.bin"/><Relationship Id="rId20" Type="http://schemas.openxmlformats.org/officeDocument/2006/relationships/oleObject" Target="../embeddings/oleObject274.bin"/><Relationship Id="rId29" Type="http://schemas.openxmlformats.org/officeDocument/2006/relationships/image" Target="../media/image287.emf"/><Relationship Id="rId41" Type="http://schemas.openxmlformats.org/officeDocument/2006/relationships/image" Target="../media/image293.e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67.bin"/><Relationship Id="rId11" Type="http://schemas.openxmlformats.org/officeDocument/2006/relationships/image" Target="../media/image278.emf"/><Relationship Id="rId24" Type="http://schemas.openxmlformats.org/officeDocument/2006/relationships/oleObject" Target="../embeddings/oleObject276.bin"/><Relationship Id="rId32" Type="http://schemas.openxmlformats.org/officeDocument/2006/relationships/oleObject" Target="../embeddings/oleObject280.bin"/><Relationship Id="rId37" Type="http://schemas.openxmlformats.org/officeDocument/2006/relationships/image" Target="../media/image291.emf"/><Relationship Id="rId40" Type="http://schemas.openxmlformats.org/officeDocument/2006/relationships/oleObject" Target="../embeddings/oleObject284.bin"/><Relationship Id="rId5" Type="http://schemas.openxmlformats.org/officeDocument/2006/relationships/image" Target="../media/image275.emf"/><Relationship Id="rId15" Type="http://schemas.openxmlformats.org/officeDocument/2006/relationships/image" Target="../media/image280.emf"/><Relationship Id="rId23" Type="http://schemas.openxmlformats.org/officeDocument/2006/relationships/image" Target="../media/image284.emf"/><Relationship Id="rId28" Type="http://schemas.openxmlformats.org/officeDocument/2006/relationships/oleObject" Target="../embeddings/oleObject278.bin"/><Relationship Id="rId36" Type="http://schemas.openxmlformats.org/officeDocument/2006/relationships/oleObject" Target="../embeddings/oleObject282.bin"/><Relationship Id="rId10" Type="http://schemas.openxmlformats.org/officeDocument/2006/relationships/oleObject" Target="../embeddings/oleObject269.bin"/><Relationship Id="rId19" Type="http://schemas.openxmlformats.org/officeDocument/2006/relationships/image" Target="../media/image282.emf"/><Relationship Id="rId31" Type="http://schemas.openxmlformats.org/officeDocument/2006/relationships/image" Target="../media/image288.emf"/><Relationship Id="rId44" Type="http://schemas.openxmlformats.org/officeDocument/2006/relationships/oleObject" Target="../embeddings/oleObject286.bin"/><Relationship Id="rId4" Type="http://schemas.openxmlformats.org/officeDocument/2006/relationships/oleObject" Target="../embeddings/oleObject266.bin"/><Relationship Id="rId9" Type="http://schemas.openxmlformats.org/officeDocument/2006/relationships/image" Target="../media/image277.emf"/><Relationship Id="rId14" Type="http://schemas.openxmlformats.org/officeDocument/2006/relationships/oleObject" Target="../embeddings/oleObject271.bin"/><Relationship Id="rId22" Type="http://schemas.openxmlformats.org/officeDocument/2006/relationships/oleObject" Target="../embeddings/oleObject275.bin"/><Relationship Id="rId27" Type="http://schemas.openxmlformats.org/officeDocument/2006/relationships/image" Target="../media/image286.emf"/><Relationship Id="rId30" Type="http://schemas.openxmlformats.org/officeDocument/2006/relationships/oleObject" Target="../embeddings/oleObject279.bin"/><Relationship Id="rId35" Type="http://schemas.openxmlformats.org/officeDocument/2006/relationships/image" Target="../media/image290.emf"/><Relationship Id="rId43" Type="http://schemas.openxmlformats.org/officeDocument/2006/relationships/image" Target="../media/image294.emf"/><Relationship Id="rId8" Type="http://schemas.openxmlformats.org/officeDocument/2006/relationships/oleObject" Target="../embeddings/oleObject268.bin"/><Relationship Id="rId3" Type="http://schemas.openxmlformats.org/officeDocument/2006/relationships/image" Target="../media/image274.emf"/><Relationship Id="rId12" Type="http://schemas.openxmlformats.org/officeDocument/2006/relationships/oleObject" Target="../embeddings/oleObject270.bin"/><Relationship Id="rId17" Type="http://schemas.openxmlformats.org/officeDocument/2006/relationships/image" Target="../media/image281.emf"/><Relationship Id="rId25" Type="http://schemas.openxmlformats.org/officeDocument/2006/relationships/image" Target="../media/image285.emf"/><Relationship Id="rId33" Type="http://schemas.openxmlformats.org/officeDocument/2006/relationships/image" Target="../media/image289.emf"/><Relationship Id="rId38" Type="http://schemas.openxmlformats.org/officeDocument/2006/relationships/oleObject" Target="../embeddings/oleObject283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0.bin"/><Relationship Id="rId13" Type="http://schemas.openxmlformats.org/officeDocument/2006/relationships/image" Target="../media/image300.emf"/><Relationship Id="rId18" Type="http://schemas.openxmlformats.org/officeDocument/2006/relationships/oleObject" Target="../embeddings/oleObject295.bin"/><Relationship Id="rId3" Type="http://schemas.openxmlformats.org/officeDocument/2006/relationships/image" Target="../media/image295.emf"/><Relationship Id="rId21" Type="http://schemas.openxmlformats.org/officeDocument/2006/relationships/image" Target="../media/image304.wmf"/><Relationship Id="rId7" Type="http://schemas.openxmlformats.org/officeDocument/2006/relationships/image" Target="../media/image297.emf"/><Relationship Id="rId12" Type="http://schemas.openxmlformats.org/officeDocument/2006/relationships/oleObject" Target="../embeddings/oleObject292.bin"/><Relationship Id="rId17" Type="http://schemas.openxmlformats.org/officeDocument/2006/relationships/image" Target="../media/image302.emf"/><Relationship Id="rId2" Type="http://schemas.openxmlformats.org/officeDocument/2006/relationships/oleObject" Target="../embeddings/oleObject287.bin"/><Relationship Id="rId16" Type="http://schemas.openxmlformats.org/officeDocument/2006/relationships/oleObject" Target="../embeddings/oleObject294.bin"/><Relationship Id="rId20" Type="http://schemas.openxmlformats.org/officeDocument/2006/relationships/oleObject" Target="../embeddings/oleObject296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289.bin"/><Relationship Id="rId11" Type="http://schemas.openxmlformats.org/officeDocument/2006/relationships/image" Target="../media/image299.emf"/><Relationship Id="rId5" Type="http://schemas.openxmlformats.org/officeDocument/2006/relationships/image" Target="../media/image296.emf"/><Relationship Id="rId15" Type="http://schemas.openxmlformats.org/officeDocument/2006/relationships/image" Target="../media/image301.emf"/><Relationship Id="rId10" Type="http://schemas.openxmlformats.org/officeDocument/2006/relationships/oleObject" Target="../embeddings/oleObject291.bin"/><Relationship Id="rId19" Type="http://schemas.openxmlformats.org/officeDocument/2006/relationships/image" Target="../media/image303.emf"/><Relationship Id="rId4" Type="http://schemas.openxmlformats.org/officeDocument/2006/relationships/oleObject" Target="../embeddings/oleObject288.bin"/><Relationship Id="rId9" Type="http://schemas.openxmlformats.org/officeDocument/2006/relationships/image" Target="../media/image298.emf"/><Relationship Id="rId14" Type="http://schemas.openxmlformats.org/officeDocument/2006/relationships/oleObject" Target="../embeddings/oleObject293.bin"/><Relationship Id="rId22" Type="http://schemas.openxmlformats.org/officeDocument/2006/relationships/image" Target="../media/image305.e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0.bin"/><Relationship Id="rId13" Type="http://schemas.openxmlformats.org/officeDocument/2006/relationships/image" Target="../media/image311.emf"/><Relationship Id="rId18" Type="http://schemas.openxmlformats.org/officeDocument/2006/relationships/oleObject" Target="../embeddings/oleObject305.bin"/><Relationship Id="rId26" Type="http://schemas.openxmlformats.org/officeDocument/2006/relationships/oleObject" Target="../embeddings/oleObject309.bin"/><Relationship Id="rId3" Type="http://schemas.openxmlformats.org/officeDocument/2006/relationships/image" Target="../media/image306.emf"/><Relationship Id="rId21" Type="http://schemas.openxmlformats.org/officeDocument/2006/relationships/image" Target="../media/image315.emf"/><Relationship Id="rId7" Type="http://schemas.openxmlformats.org/officeDocument/2006/relationships/image" Target="../media/image308.emf"/><Relationship Id="rId12" Type="http://schemas.openxmlformats.org/officeDocument/2006/relationships/oleObject" Target="../embeddings/oleObject302.bin"/><Relationship Id="rId17" Type="http://schemas.openxmlformats.org/officeDocument/2006/relationships/image" Target="../media/image313.emf"/><Relationship Id="rId25" Type="http://schemas.openxmlformats.org/officeDocument/2006/relationships/image" Target="../media/image317.emf"/><Relationship Id="rId2" Type="http://schemas.openxmlformats.org/officeDocument/2006/relationships/oleObject" Target="../embeddings/oleObject297.bin"/><Relationship Id="rId16" Type="http://schemas.openxmlformats.org/officeDocument/2006/relationships/oleObject" Target="../embeddings/oleObject304.bin"/><Relationship Id="rId20" Type="http://schemas.openxmlformats.org/officeDocument/2006/relationships/oleObject" Target="../embeddings/oleObject30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99.bin"/><Relationship Id="rId11" Type="http://schemas.openxmlformats.org/officeDocument/2006/relationships/image" Target="../media/image310.emf"/><Relationship Id="rId24" Type="http://schemas.openxmlformats.org/officeDocument/2006/relationships/oleObject" Target="../embeddings/oleObject308.bin"/><Relationship Id="rId5" Type="http://schemas.openxmlformats.org/officeDocument/2006/relationships/image" Target="../media/image307.emf"/><Relationship Id="rId15" Type="http://schemas.openxmlformats.org/officeDocument/2006/relationships/image" Target="../media/image312.emf"/><Relationship Id="rId23" Type="http://schemas.openxmlformats.org/officeDocument/2006/relationships/image" Target="../media/image316.emf"/><Relationship Id="rId10" Type="http://schemas.openxmlformats.org/officeDocument/2006/relationships/oleObject" Target="../embeddings/oleObject301.bin"/><Relationship Id="rId19" Type="http://schemas.openxmlformats.org/officeDocument/2006/relationships/image" Target="../media/image314.emf"/><Relationship Id="rId4" Type="http://schemas.openxmlformats.org/officeDocument/2006/relationships/oleObject" Target="../embeddings/oleObject298.bin"/><Relationship Id="rId9" Type="http://schemas.openxmlformats.org/officeDocument/2006/relationships/image" Target="../media/image309.emf"/><Relationship Id="rId14" Type="http://schemas.openxmlformats.org/officeDocument/2006/relationships/oleObject" Target="../embeddings/oleObject303.bin"/><Relationship Id="rId22" Type="http://schemas.openxmlformats.org/officeDocument/2006/relationships/oleObject" Target="../embeddings/oleObject307.bin"/><Relationship Id="rId27" Type="http://schemas.openxmlformats.org/officeDocument/2006/relationships/image" Target="../media/image318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image" Target="../media/image31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3.bin"/><Relationship Id="rId13" Type="http://schemas.openxmlformats.org/officeDocument/2006/relationships/image" Target="../media/image326.emf"/><Relationship Id="rId18" Type="http://schemas.openxmlformats.org/officeDocument/2006/relationships/oleObject" Target="../embeddings/oleObject318.bin"/><Relationship Id="rId3" Type="http://schemas.openxmlformats.org/officeDocument/2006/relationships/image" Target="../media/image321.emf"/><Relationship Id="rId7" Type="http://schemas.openxmlformats.org/officeDocument/2006/relationships/image" Target="../media/image323.emf"/><Relationship Id="rId12" Type="http://schemas.openxmlformats.org/officeDocument/2006/relationships/oleObject" Target="../embeddings/oleObject315.bin"/><Relationship Id="rId17" Type="http://schemas.openxmlformats.org/officeDocument/2006/relationships/image" Target="../media/image328.emf"/><Relationship Id="rId2" Type="http://schemas.openxmlformats.org/officeDocument/2006/relationships/oleObject" Target="../embeddings/oleObject310.bin"/><Relationship Id="rId16" Type="http://schemas.openxmlformats.org/officeDocument/2006/relationships/oleObject" Target="../embeddings/oleObject31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12.bin"/><Relationship Id="rId11" Type="http://schemas.openxmlformats.org/officeDocument/2006/relationships/image" Target="../media/image325.wmf"/><Relationship Id="rId5" Type="http://schemas.openxmlformats.org/officeDocument/2006/relationships/image" Target="../media/image322.emf"/><Relationship Id="rId15" Type="http://schemas.openxmlformats.org/officeDocument/2006/relationships/image" Target="../media/image327.emf"/><Relationship Id="rId10" Type="http://schemas.openxmlformats.org/officeDocument/2006/relationships/oleObject" Target="../embeddings/oleObject314.bin"/><Relationship Id="rId19" Type="http://schemas.openxmlformats.org/officeDocument/2006/relationships/image" Target="../media/image329.emf"/><Relationship Id="rId4" Type="http://schemas.openxmlformats.org/officeDocument/2006/relationships/oleObject" Target="../embeddings/oleObject311.bin"/><Relationship Id="rId9" Type="http://schemas.openxmlformats.org/officeDocument/2006/relationships/image" Target="../media/image324.emf"/><Relationship Id="rId14" Type="http://schemas.openxmlformats.org/officeDocument/2006/relationships/oleObject" Target="../embeddings/oleObject316.bin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1.bin"/><Relationship Id="rId3" Type="http://schemas.openxmlformats.org/officeDocument/2006/relationships/image" Target="../media/image331.png"/><Relationship Id="rId7" Type="http://schemas.openxmlformats.org/officeDocument/2006/relationships/image" Target="../media/image333.wmf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20.bin"/><Relationship Id="rId5" Type="http://schemas.openxmlformats.org/officeDocument/2006/relationships/image" Target="../media/image332.wmf"/><Relationship Id="rId4" Type="http://schemas.openxmlformats.org/officeDocument/2006/relationships/oleObject" Target="../embeddings/oleObject319.bin"/><Relationship Id="rId9" Type="http://schemas.openxmlformats.org/officeDocument/2006/relationships/image" Target="../media/image334.w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6.emf"/><Relationship Id="rId2" Type="http://schemas.openxmlformats.org/officeDocument/2006/relationships/image" Target="../media/image335.emf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42.emf"/><Relationship Id="rId18" Type="http://schemas.openxmlformats.org/officeDocument/2006/relationships/oleObject" Target="../embeddings/oleObject330.bin"/><Relationship Id="rId26" Type="http://schemas.openxmlformats.org/officeDocument/2006/relationships/oleObject" Target="../embeddings/oleObject334.bin"/><Relationship Id="rId39" Type="http://schemas.openxmlformats.org/officeDocument/2006/relationships/image" Target="../media/image355.emf"/><Relationship Id="rId21" Type="http://schemas.openxmlformats.org/officeDocument/2006/relationships/image" Target="../media/image346.emf"/><Relationship Id="rId34" Type="http://schemas.openxmlformats.org/officeDocument/2006/relationships/oleObject" Target="../embeddings/oleObject338.bin"/><Relationship Id="rId42" Type="http://schemas.openxmlformats.org/officeDocument/2006/relationships/oleObject" Target="../embeddings/oleObject342.bin"/><Relationship Id="rId7" Type="http://schemas.openxmlformats.org/officeDocument/2006/relationships/image" Target="../media/image339.emf"/><Relationship Id="rId2" Type="http://schemas.openxmlformats.org/officeDocument/2006/relationships/oleObject" Target="../embeddings/oleObject322.bin"/><Relationship Id="rId16" Type="http://schemas.openxmlformats.org/officeDocument/2006/relationships/oleObject" Target="../embeddings/oleObject329.bin"/><Relationship Id="rId20" Type="http://schemas.openxmlformats.org/officeDocument/2006/relationships/oleObject" Target="../embeddings/oleObject331.bin"/><Relationship Id="rId29" Type="http://schemas.openxmlformats.org/officeDocument/2006/relationships/image" Target="../media/image350.emf"/><Relationship Id="rId41" Type="http://schemas.openxmlformats.org/officeDocument/2006/relationships/image" Target="../media/image356.e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24.bin"/><Relationship Id="rId11" Type="http://schemas.openxmlformats.org/officeDocument/2006/relationships/image" Target="../media/image341.emf"/><Relationship Id="rId24" Type="http://schemas.openxmlformats.org/officeDocument/2006/relationships/oleObject" Target="../embeddings/oleObject333.bin"/><Relationship Id="rId32" Type="http://schemas.openxmlformats.org/officeDocument/2006/relationships/oleObject" Target="../embeddings/oleObject337.bin"/><Relationship Id="rId37" Type="http://schemas.openxmlformats.org/officeDocument/2006/relationships/image" Target="../media/image354.emf"/><Relationship Id="rId40" Type="http://schemas.openxmlformats.org/officeDocument/2006/relationships/oleObject" Target="../embeddings/oleObject341.bin"/><Relationship Id="rId5" Type="http://schemas.openxmlformats.org/officeDocument/2006/relationships/image" Target="../media/image338.emf"/><Relationship Id="rId15" Type="http://schemas.openxmlformats.org/officeDocument/2006/relationships/image" Target="../media/image343.emf"/><Relationship Id="rId23" Type="http://schemas.openxmlformats.org/officeDocument/2006/relationships/image" Target="../media/image347.emf"/><Relationship Id="rId28" Type="http://schemas.openxmlformats.org/officeDocument/2006/relationships/oleObject" Target="../embeddings/oleObject335.bin"/><Relationship Id="rId36" Type="http://schemas.openxmlformats.org/officeDocument/2006/relationships/oleObject" Target="../embeddings/oleObject339.bin"/><Relationship Id="rId10" Type="http://schemas.openxmlformats.org/officeDocument/2006/relationships/oleObject" Target="../embeddings/oleObject326.bin"/><Relationship Id="rId19" Type="http://schemas.openxmlformats.org/officeDocument/2006/relationships/image" Target="../media/image345.emf"/><Relationship Id="rId31" Type="http://schemas.openxmlformats.org/officeDocument/2006/relationships/image" Target="../media/image351.emf"/><Relationship Id="rId4" Type="http://schemas.openxmlformats.org/officeDocument/2006/relationships/oleObject" Target="../embeddings/oleObject323.bin"/><Relationship Id="rId9" Type="http://schemas.openxmlformats.org/officeDocument/2006/relationships/image" Target="../media/image340.emf"/><Relationship Id="rId14" Type="http://schemas.openxmlformats.org/officeDocument/2006/relationships/oleObject" Target="../embeddings/oleObject328.bin"/><Relationship Id="rId22" Type="http://schemas.openxmlformats.org/officeDocument/2006/relationships/oleObject" Target="../embeddings/oleObject332.bin"/><Relationship Id="rId27" Type="http://schemas.openxmlformats.org/officeDocument/2006/relationships/image" Target="../media/image349.emf"/><Relationship Id="rId30" Type="http://schemas.openxmlformats.org/officeDocument/2006/relationships/oleObject" Target="../embeddings/oleObject336.bin"/><Relationship Id="rId35" Type="http://schemas.openxmlformats.org/officeDocument/2006/relationships/image" Target="../media/image353.emf"/><Relationship Id="rId43" Type="http://schemas.openxmlformats.org/officeDocument/2006/relationships/image" Target="../media/image357.emf"/><Relationship Id="rId8" Type="http://schemas.openxmlformats.org/officeDocument/2006/relationships/oleObject" Target="../embeddings/oleObject325.bin"/><Relationship Id="rId3" Type="http://schemas.openxmlformats.org/officeDocument/2006/relationships/image" Target="../media/image337.emf"/><Relationship Id="rId12" Type="http://schemas.openxmlformats.org/officeDocument/2006/relationships/oleObject" Target="../embeddings/oleObject327.bin"/><Relationship Id="rId17" Type="http://schemas.openxmlformats.org/officeDocument/2006/relationships/image" Target="../media/image344.emf"/><Relationship Id="rId25" Type="http://schemas.openxmlformats.org/officeDocument/2006/relationships/image" Target="../media/image348.emf"/><Relationship Id="rId33" Type="http://schemas.openxmlformats.org/officeDocument/2006/relationships/image" Target="../media/image352.emf"/><Relationship Id="rId38" Type="http://schemas.openxmlformats.org/officeDocument/2006/relationships/oleObject" Target="../embeddings/oleObject340.bin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6.bin"/><Relationship Id="rId13" Type="http://schemas.openxmlformats.org/officeDocument/2006/relationships/image" Target="../media/image363.emf"/><Relationship Id="rId3" Type="http://schemas.openxmlformats.org/officeDocument/2006/relationships/image" Target="../media/image358.emf"/><Relationship Id="rId7" Type="http://schemas.openxmlformats.org/officeDocument/2006/relationships/image" Target="../media/image360.emf"/><Relationship Id="rId12" Type="http://schemas.openxmlformats.org/officeDocument/2006/relationships/oleObject" Target="../embeddings/oleObject348.bin"/><Relationship Id="rId2" Type="http://schemas.openxmlformats.org/officeDocument/2006/relationships/oleObject" Target="../embeddings/oleObject343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345.bin"/><Relationship Id="rId11" Type="http://schemas.openxmlformats.org/officeDocument/2006/relationships/image" Target="../media/image362.emf"/><Relationship Id="rId5" Type="http://schemas.openxmlformats.org/officeDocument/2006/relationships/image" Target="../media/image359.emf"/><Relationship Id="rId10" Type="http://schemas.openxmlformats.org/officeDocument/2006/relationships/oleObject" Target="../embeddings/oleObject347.bin"/><Relationship Id="rId4" Type="http://schemas.openxmlformats.org/officeDocument/2006/relationships/oleObject" Target="../embeddings/oleObject344.bin"/><Relationship Id="rId9" Type="http://schemas.openxmlformats.org/officeDocument/2006/relationships/image" Target="../media/image361.emf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2.bin"/><Relationship Id="rId13" Type="http://schemas.openxmlformats.org/officeDocument/2006/relationships/image" Target="../media/image369.emf"/><Relationship Id="rId18" Type="http://schemas.openxmlformats.org/officeDocument/2006/relationships/oleObject" Target="../embeddings/oleObject357.bin"/><Relationship Id="rId3" Type="http://schemas.openxmlformats.org/officeDocument/2006/relationships/image" Target="../media/image364.emf"/><Relationship Id="rId21" Type="http://schemas.openxmlformats.org/officeDocument/2006/relationships/image" Target="../media/image373.emf"/><Relationship Id="rId7" Type="http://schemas.openxmlformats.org/officeDocument/2006/relationships/image" Target="../media/image366.emf"/><Relationship Id="rId12" Type="http://schemas.openxmlformats.org/officeDocument/2006/relationships/oleObject" Target="../embeddings/oleObject354.bin"/><Relationship Id="rId17" Type="http://schemas.openxmlformats.org/officeDocument/2006/relationships/image" Target="../media/image371.emf"/><Relationship Id="rId2" Type="http://schemas.openxmlformats.org/officeDocument/2006/relationships/oleObject" Target="../embeddings/oleObject349.bin"/><Relationship Id="rId16" Type="http://schemas.openxmlformats.org/officeDocument/2006/relationships/oleObject" Target="../embeddings/oleObject356.bin"/><Relationship Id="rId20" Type="http://schemas.openxmlformats.org/officeDocument/2006/relationships/oleObject" Target="../embeddings/oleObject35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51.bin"/><Relationship Id="rId11" Type="http://schemas.openxmlformats.org/officeDocument/2006/relationships/image" Target="../media/image368.emf"/><Relationship Id="rId5" Type="http://schemas.openxmlformats.org/officeDocument/2006/relationships/image" Target="../media/image365.emf"/><Relationship Id="rId15" Type="http://schemas.openxmlformats.org/officeDocument/2006/relationships/image" Target="../media/image370.emf"/><Relationship Id="rId10" Type="http://schemas.openxmlformats.org/officeDocument/2006/relationships/oleObject" Target="../embeddings/oleObject353.bin"/><Relationship Id="rId19" Type="http://schemas.openxmlformats.org/officeDocument/2006/relationships/image" Target="../media/image372.emf"/><Relationship Id="rId4" Type="http://schemas.openxmlformats.org/officeDocument/2006/relationships/oleObject" Target="../embeddings/oleObject350.bin"/><Relationship Id="rId9" Type="http://schemas.openxmlformats.org/officeDocument/2006/relationships/image" Target="../media/image367.emf"/><Relationship Id="rId14" Type="http://schemas.openxmlformats.org/officeDocument/2006/relationships/oleObject" Target="../embeddings/oleObject355.bin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77C437B-34EC-10A3-D3AB-8DF93BEB177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750" b="10101"/>
          <a:stretch/>
        </p:blipFill>
        <p:spPr>
          <a:xfrm>
            <a:off x="2118384" y="836712"/>
            <a:ext cx="4907232" cy="453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537401"/>
      </p:ext>
    </p:extLst>
  </p:cSld>
  <p:clrMapOvr>
    <a:masterClrMapping/>
  </p:clrMapOvr>
  <p:transition spd="slow"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1">
            <a:extLst>
              <a:ext uri="{FF2B5EF4-FFF2-40B4-BE49-F238E27FC236}">
                <a16:creationId xmlns:a16="http://schemas.microsoft.com/office/drawing/2014/main" id="{5881FBAE-CE97-14F6-DCF0-082CE8405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500" y="1000125"/>
            <a:ext cx="5329238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6000" b="1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大学物理</a:t>
            </a:r>
            <a:r>
              <a:rPr lang="zh-CN" altLang="en-US" sz="6000" b="1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学</a:t>
            </a:r>
            <a:r>
              <a:rPr lang="en-US" altLang="zh-CN" sz="6000" b="1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6000" b="1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</a:t>
            </a:r>
            <a:r>
              <a:rPr lang="en-US" altLang="zh-CN" sz="6000" b="1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6000" b="1" dirty="0">
              <a:solidFill>
                <a:srgbClr val="FFC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099" name="TextBox 2">
            <a:extLst>
              <a:ext uri="{FF2B5EF4-FFF2-40B4-BE49-F238E27FC236}">
                <a16:creationId xmlns:a16="http://schemas.microsoft.com/office/drawing/2014/main" id="{38A04602-BDCE-760A-6F8F-B675A62999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4413" y="3141663"/>
            <a:ext cx="50738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</a:rPr>
              <a:t>主讲：罗晓光  副研究员</a:t>
            </a:r>
          </a:p>
        </p:txBody>
      </p:sp>
      <p:sp>
        <p:nvSpPr>
          <p:cNvPr id="4100" name="TextBox 3">
            <a:extLst>
              <a:ext uri="{FF2B5EF4-FFF2-40B4-BE49-F238E27FC236}">
                <a16:creationId xmlns:a16="http://schemas.microsoft.com/office/drawing/2014/main" id="{AE7EF6D0-3730-92E7-2496-23A8ABAF8F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4925" y="6021388"/>
            <a:ext cx="38925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rgbClr val="FFC000"/>
                </a:solidFill>
              </a:rPr>
              <a:t>luoxg@nankai.edu.cn</a:t>
            </a:r>
            <a:endParaRPr lang="zh-CN" altLang="en-US" sz="2800" b="1" dirty="0">
              <a:solidFill>
                <a:srgbClr val="FFC000"/>
              </a:solidFill>
            </a:endParaRPr>
          </a:p>
        </p:txBody>
      </p:sp>
      <p:sp>
        <p:nvSpPr>
          <p:cNvPr id="4101" name="TextBox 4">
            <a:extLst>
              <a:ext uri="{FF2B5EF4-FFF2-40B4-BE49-F238E27FC236}">
                <a16:creationId xmlns:a16="http://schemas.microsoft.com/office/drawing/2014/main" id="{679A5FDA-D03A-9142-D0E0-E427782C2C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6639" y="4635500"/>
            <a:ext cx="4152099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lang="zh-CN" altLang="en-US" sz="2800" b="1" dirty="0">
                <a:solidFill>
                  <a:srgbClr val="FFC000"/>
                </a:solidFill>
              </a:rPr>
              <a:t>电子信息与光学工程学院</a:t>
            </a:r>
            <a:endParaRPr lang="en-US" altLang="zh-CN" sz="2800" b="1" dirty="0">
              <a:solidFill>
                <a:srgbClr val="FFC000"/>
              </a:solidFill>
            </a:endParaRPr>
          </a:p>
          <a:p>
            <a:pPr algn="r" eaLnBrk="1" hangingPunct="1"/>
            <a:r>
              <a:rPr lang="zh-CN" altLang="en-US" sz="2800" b="1" dirty="0">
                <a:solidFill>
                  <a:srgbClr val="FFC000"/>
                </a:solidFill>
              </a:rPr>
              <a:t>微纳电子学系</a:t>
            </a:r>
            <a:endParaRPr lang="en-US" altLang="zh-CN" sz="2800" b="1" dirty="0">
              <a:solidFill>
                <a:srgbClr val="FFC000"/>
              </a:solidFill>
            </a:endParaRPr>
          </a:p>
          <a:p>
            <a:pPr algn="r" eaLnBrk="1" hangingPunct="1"/>
            <a:r>
              <a:rPr lang="zh-CN" altLang="en-US" sz="2800" b="1" dirty="0">
                <a:solidFill>
                  <a:srgbClr val="FFC000"/>
                </a:solidFill>
              </a:rPr>
              <a:t>（电光西楼</a:t>
            </a:r>
            <a:r>
              <a:rPr lang="en-US" altLang="zh-CN" sz="2800" b="1" dirty="0">
                <a:solidFill>
                  <a:srgbClr val="FFC000"/>
                </a:solidFill>
              </a:rPr>
              <a:t>139</a:t>
            </a:r>
            <a:r>
              <a:rPr lang="zh-CN" altLang="en-US" sz="2800" b="1" dirty="0">
                <a:solidFill>
                  <a:srgbClr val="FFC000"/>
                </a:solidFill>
              </a:rPr>
              <a:t>办公室）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1">
            <a:extLst>
              <a:ext uri="{FF2B5EF4-FFF2-40B4-BE49-F238E27FC236}">
                <a16:creationId xmlns:a16="http://schemas.microsoft.com/office/drawing/2014/main" id="{92570F46-1B4E-84A4-085A-340512CE3C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836613"/>
            <a:ext cx="8280400" cy="415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800" b="1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《</a:t>
            </a:r>
            <a:r>
              <a:rPr lang="zh-CN" altLang="en-US" sz="2800" b="1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大学物理</a:t>
            </a:r>
            <a:r>
              <a:rPr lang="en-US" altLang="zh-CN" sz="2800" b="1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》</a:t>
            </a:r>
            <a:r>
              <a:rPr lang="zh-CN" altLang="en-US" sz="2800" b="1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从工科角度讲授普通物理中“力学”和“电磁学”部分的知识。</a:t>
            </a:r>
            <a:endParaRPr lang="en-US" altLang="zh-CN" sz="2800" b="1" dirty="0">
              <a:solidFill>
                <a:srgbClr val="FFC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院级必修课，</a:t>
            </a:r>
            <a:r>
              <a:rPr lang="en-US" altLang="zh-CN" sz="2800" b="1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800" b="1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学分，</a:t>
            </a:r>
            <a:r>
              <a:rPr lang="en-US" altLang="zh-CN" sz="2800" b="1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80</a:t>
            </a:r>
            <a:r>
              <a:rPr lang="zh-CN" altLang="en-US" sz="2800" b="1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学时，每周</a:t>
            </a:r>
            <a:r>
              <a:rPr lang="en-US" altLang="zh-CN" sz="2800" b="1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800" b="1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学时</a:t>
            </a:r>
            <a:endParaRPr lang="en-US" altLang="zh-CN" sz="2800" b="1" dirty="0">
              <a:solidFill>
                <a:srgbClr val="FFC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力学讲授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37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学时</a:t>
            </a:r>
            <a:r>
              <a:rPr lang="zh-CN" altLang="en-US" sz="2800" b="1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，电磁学讲授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43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学时</a:t>
            </a:r>
            <a:endParaRPr lang="en-US" altLang="zh-CN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平时成绩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30%</a:t>
            </a:r>
            <a:r>
              <a:rPr lang="zh-CN" altLang="en-US" sz="2800" b="1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br>
              <a:rPr lang="en-US" altLang="zh-CN" sz="2800" b="1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sz="2800" b="1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其中作业和课堂考核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25%</a:t>
            </a:r>
            <a:br>
              <a:rPr lang="en-US" altLang="zh-CN" sz="2800" b="1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sz="2800" b="1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考勤和课上互动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5%.</a:t>
            </a:r>
          </a:p>
          <a:p>
            <a:pPr eaLnBrk="1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期末考试成绩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占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70%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7CFD69-A391-02B5-C5BF-0CE66B2E9E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476250"/>
            <a:ext cx="8640959" cy="60324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教材：吴百诗，</a:t>
            </a:r>
            <a:r>
              <a:rPr lang="en-US" altLang="zh-CN" sz="2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《</a:t>
            </a:r>
            <a:r>
              <a:rPr lang="zh-CN" altLang="en-US" sz="2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大学物理</a:t>
            </a:r>
            <a:r>
              <a:rPr lang="en-US" altLang="zh-CN" sz="2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》</a:t>
            </a:r>
            <a:r>
              <a:rPr lang="zh-CN" altLang="en-US" sz="2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新版（上册），科学出版社，</a:t>
            </a:r>
            <a:r>
              <a:rPr lang="en-US" altLang="zh-CN" sz="2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2001</a:t>
            </a:r>
          </a:p>
          <a:p>
            <a:pPr eaLnBrk="1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参考书：赵凯华</a:t>
            </a:r>
            <a:r>
              <a:rPr lang="en-US" altLang="zh-CN" sz="2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《</a:t>
            </a:r>
            <a:r>
              <a:rPr lang="zh-CN" altLang="en-US" sz="2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力学</a:t>
            </a:r>
            <a:r>
              <a:rPr lang="en-US" altLang="zh-CN" sz="2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》《</a:t>
            </a:r>
            <a:r>
              <a:rPr lang="zh-CN" altLang="en-US" sz="2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电磁学</a:t>
            </a:r>
            <a:r>
              <a:rPr lang="en-US" altLang="zh-CN" sz="2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》</a:t>
            </a:r>
            <a:r>
              <a:rPr lang="zh-CN" altLang="en-US" sz="2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，高等教育出版社</a:t>
            </a:r>
            <a:endParaRPr lang="en-US" altLang="zh-CN" sz="28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该课程所需的预备知识有：高等数学关于</a:t>
            </a:r>
            <a:r>
              <a:rPr lang="zh-CN" altLang="en-US" sz="2800" b="1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极限、微积分、矢量运算</a:t>
            </a:r>
            <a:r>
              <a:rPr lang="zh-CN" altLang="en-US" sz="2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等方面的知识。</a:t>
            </a:r>
            <a:endParaRPr lang="en-US" altLang="zh-CN" sz="28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课程目的：培养学生将实际问题抽象为科学模型，再利用高等数学尤其是运用微积分解决实际问题的能力。</a:t>
            </a:r>
            <a:endParaRPr lang="en-US" altLang="zh-CN" sz="28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本课程处理问题的方法体现了物理学与数学知识的高度有机结合，这些方法在后续课程中被广泛应用。</a:t>
            </a:r>
            <a:endParaRPr lang="en-US" altLang="zh-CN" sz="28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AI for everything</a:t>
            </a:r>
            <a:endParaRPr lang="zh-CN" altLang="en-US" sz="28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A8B4CB-5EF3-F14C-1878-3419141999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476250"/>
            <a:ext cx="864095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AI for everything</a:t>
            </a:r>
            <a:endParaRPr lang="zh-CN" altLang="en-US" sz="28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36636585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Box 1">
            <a:extLst>
              <a:ext uri="{FF2B5EF4-FFF2-40B4-BE49-F238E27FC236}">
                <a16:creationId xmlns:a16="http://schemas.microsoft.com/office/drawing/2014/main" id="{935943BF-D665-1932-4BE0-2E40635222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338" y="209550"/>
            <a:ext cx="14208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物理学</a:t>
            </a:r>
            <a:endParaRPr lang="zh-CN" altLang="en-US" sz="2400" b="1">
              <a:solidFill>
                <a:srgbClr val="FFC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171" name="TextBox 2">
            <a:extLst>
              <a:ext uri="{FF2B5EF4-FFF2-40B4-BE49-F238E27FC236}">
                <a16:creationId xmlns:a16="http://schemas.microsoft.com/office/drawing/2014/main" id="{5786EF5A-CBB5-EEA3-DE05-39F3D5F393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8150" y="301625"/>
            <a:ext cx="7146925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4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是探讨</a:t>
            </a:r>
            <a:r>
              <a:rPr lang="zh-CN" altLang="en-US" sz="2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物质结构、运动基本规律和相互作用</a:t>
            </a:r>
            <a:r>
              <a:rPr lang="zh-CN" altLang="en-US" sz="24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的科学 </a:t>
            </a:r>
          </a:p>
        </p:txBody>
      </p:sp>
      <p:sp>
        <p:nvSpPr>
          <p:cNvPr id="7172" name="TextBox 3">
            <a:extLst>
              <a:ext uri="{FF2B5EF4-FFF2-40B4-BE49-F238E27FC236}">
                <a16:creationId xmlns:a16="http://schemas.microsoft.com/office/drawing/2014/main" id="{9BA74A47-8BB9-E64A-6D58-CE85297A2D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100" y="2292350"/>
            <a:ext cx="1731963" cy="3652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200000"/>
              </a:lnSpc>
            </a:pPr>
            <a:r>
              <a:rPr lang="zh-CN" altLang="en-US" sz="2400" b="1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力学</a:t>
            </a:r>
            <a:endParaRPr lang="en-US" altLang="zh-CN" sz="2400" b="1">
              <a:solidFill>
                <a:srgbClr val="FFC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200000"/>
              </a:lnSpc>
            </a:pPr>
            <a:r>
              <a:rPr lang="zh-CN" altLang="en-US" sz="2400" b="1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电磁学</a:t>
            </a:r>
            <a:endParaRPr lang="en-US" altLang="zh-CN" sz="2400" b="1">
              <a:solidFill>
                <a:srgbClr val="FFC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200000"/>
              </a:lnSpc>
            </a:pPr>
            <a:r>
              <a:rPr lang="zh-CN" altLang="en-US" sz="24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热学</a:t>
            </a:r>
            <a:endParaRPr lang="en-US" altLang="zh-CN" sz="2400" b="1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200000"/>
              </a:lnSpc>
            </a:pPr>
            <a:r>
              <a:rPr lang="zh-CN" altLang="en-US" sz="24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光学</a:t>
            </a:r>
            <a:endParaRPr lang="en-US" altLang="zh-CN" sz="2400" b="1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200000"/>
              </a:lnSpc>
            </a:pPr>
            <a:r>
              <a:rPr lang="zh-CN" altLang="en-US" sz="24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原子物理学</a:t>
            </a:r>
          </a:p>
        </p:txBody>
      </p:sp>
      <p:sp>
        <p:nvSpPr>
          <p:cNvPr id="5" name="下箭头 4">
            <a:extLst>
              <a:ext uri="{FF2B5EF4-FFF2-40B4-BE49-F238E27FC236}">
                <a16:creationId xmlns:a16="http://schemas.microsoft.com/office/drawing/2014/main" id="{7AEAD32C-01A6-DABA-3094-7FFD9CE0C576}"/>
              </a:ext>
            </a:extLst>
          </p:cNvPr>
          <p:cNvSpPr/>
          <p:nvPr/>
        </p:nvSpPr>
        <p:spPr>
          <a:xfrm>
            <a:off x="2400300" y="908050"/>
            <a:ext cx="3600450" cy="60801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b="1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126" name="TextBox 8">
            <a:extLst>
              <a:ext uri="{FF2B5EF4-FFF2-40B4-BE49-F238E27FC236}">
                <a16:creationId xmlns:a16="http://schemas.microsoft.com/office/drawing/2014/main" id="{D2E67FB7-8133-EA88-6751-91E6BBBC9D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8738" y="2781300"/>
            <a:ext cx="2846387" cy="291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200000"/>
              </a:lnSpc>
            </a:pPr>
            <a:r>
              <a:rPr lang="zh-CN" altLang="en-US" sz="24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理论力学</a:t>
            </a:r>
            <a:endParaRPr lang="en-US" altLang="zh-CN" sz="2400" b="1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200000"/>
              </a:lnSpc>
            </a:pPr>
            <a:r>
              <a:rPr lang="zh-CN" altLang="en-US" sz="24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电动力学</a:t>
            </a:r>
            <a:endParaRPr lang="en-US" altLang="zh-CN" sz="2400" b="1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200000"/>
              </a:lnSpc>
            </a:pPr>
            <a:r>
              <a:rPr lang="zh-CN" altLang="en-US" sz="24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热力学与统计物理</a:t>
            </a:r>
            <a:endParaRPr lang="en-US" altLang="zh-CN" sz="2400" b="1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200000"/>
              </a:lnSpc>
            </a:pPr>
            <a:r>
              <a:rPr lang="zh-CN" altLang="en-US" sz="24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量子力学</a:t>
            </a:r>
          </a:p>
        </p:txBody>
      </p:sp>
      <p:sp>
        <p:nvSpPr>
          <p:cNvPr id="7175" name="TextBox 12">
            <a:extLst>
              <a:ext uri="{FF2B5EF4-FFF2-40B4-BE49-F238E27FC236}">
                <a16:creationId xmlns:a16="http://schemas.microsoft.com/office/drawing/2014/main" id="{4928F714-64D6-6BCC-5623-27DB6039CF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338" y="1779588"/>
            <a:ext cx="162718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普通物理</a:t>
            </a:r>
            <a:endParaRPr lang="zh-CN" altLang="en-US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右箭头 13">
            <a:extLst>
              <a:ext uri="{FF2B5EF4-FFF2-40B4-BE49-F238E27FC236}">
                <a16:creationId xmlns:a16="http://schemas.microsoft.com/office/drawing/2014/main" id="{9875152F-6837-B912-D75C-DB67026558F9}"/>
              </a:ext>
            </a:extLst>
          </p:cNvPr>
          <p:cNvSpPr/>
          <p:nvPr/>
        </p:nvSpPr>
        <p:spPr>
          <a:xfrm>
            <a:off x="1908175" y="3311525"/>
            <a:ext cx="576263" cy="1727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b="1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129" name="TextBox 14">
            <a:extLst>
              <a:ext uri="{FF2B5EF4-FFF2-40B4-BE49-F238E27FC236}">
                <a16:creationId xmlns:a16="http://schemas.microsoft.com/office/drawing/2014/main" id="{7EDEF06B-3AC3-6F7E-17C6-4D4AFA7165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0050" y="1779588"/>
            <a:ext cx="16271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基础物理</a:t>
            </a:r>
            <a:endParaRPr lang="zh-CN" altLang="en-US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130" name="TextBox 15">
            <a:extLst>
              <a:ext uri="{FF2B5EF4-FFF2-40B4-BE49-F238E27FC236}">
                <a16:creationId xmlns:a16="http://schemas.microsoft.com/office/drawing/2014/main" id="{E810FCA4-FAB4-4BBF-C4AE-CA85FA7DCB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4363" y="1779588"/>
            <a:ext cx="343217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现代物理学主要学科</a:t>
            </a:r>
            <a:endParaRPr lang="zh-CN" altLang="en-US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131" name="TextBox 17">
            <a:extLst>
              <a:ext uri="{FF2B5EF4-FFF2-40B4-BE49-F238E27FC236}">
                <a16:creationId xmlns:a16="http://schemas.microsoft.com/office/drawing/2014/main" id="{8D239F86-DCDB-B5E3-B9B2-567FF137C2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2000" y="2492375"/>
            <a:ext cx="3136900" cy="3652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200000"/>
              </a:lnSpc>
            </a:pPr>
            <a:r>
              <a:rPr lang="zh-CN" altLang="en-US" sz="24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理论物理、原子分子与光物理、凝聚态物理、粒子物理与原子核物理、等离子体物理、声学</a:t>
            </a:r>
            <a:r>
              <a:rPr lang="en-US" altLang="zh-CN" sz="24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</a:t>
            </a:r>
          </a:p>
        </p:txBody>
      </p:sp>
      <p:sp>
        <p:nvSpPr>
          <p:cNvPr id="19" name="右箭头 18">
            <a:extLst>
              <a:ext uri="{FF2B5EF4-FFF2-40B4-BE49-F238E27FC236}">
                <a16:creationId xmlns:a16="http://schemas.microsoft.com/office/drawing/2014/main" id="{846FFB9D-1D1F-33B7-7581-48D1C78B1267}"/>
              </a:ext>
            </a:extLst>
          </p:cNvPr>
          <p:cNvSpPr/>
          <p:nvPr/>
        </p:nvSpPr>
        <p:spPr>
          <a:xfrm>
            <a:off x="5311775" y="3300413"/>
            <a:ext cx="436563" cy="1727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b="1"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6" grpId="0"/>
      <p:bldP spid="14" grpId="0" animBg="1"/>
      <p:bldP spid="5129" grpId="0"/>
      <p:bldP spid="5130" grpId="0"/>
      <p:bldP spid="5131" grpId="0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9" name="Text Box 5">
            <a:extLst>
              <a:ext uri="{FF2B5EF4-FFF2-40B4-BE49-F238E27FC236}">
                <a16:creationId xmlns:a16="http://schemas.microsoft.com/office/drawing/2014/main" id="{5DFD8AFE-EC0C-81BE-9FC5-CEA6DB3A2C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363538"/>
            <a:ext cx="8496300" cy="5876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 b="1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力学是研究物体机械运动及其相互作用规律的一门学科</a:t>
            </a:r>
            <a:r>
              <a:rPr lang="zh-CN" altLang="en-US" sz="24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。机械运动是指宏观物体的空间位置随时间的变动。</a:t>
            </a:r>
            <a:endParaRPr lang="en-US" altLang="zh-CN" sz="2400" b="1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2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机械运动是物质运动最简单、最基本的初级运动形态</a:t>
            </a:r>
            <a:r>
              <a:rPr lang="en-US" altLang="zh-CN" sz="24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几乎在物质的一切运动形式中都包含有这种运动形式</a:t>
            </a:r>
            <a:r>
              <a:rPr lang="en-US" altLang="zh-CN" sz="24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因而</a:t>
            </a:r>
            <a:r>
              <a:rPr lang="zh-CN" altLang="en-US" sz="2400" b="1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力学是学习物理学和其他理工学科的基础</a:t>
            </a:r>
            <a:r>
              <a:rPr lang="en-US" altLang="zh-CN" sz="2400" b="1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1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也是近代工程技术的理论基础。</a:t>
            </a:r>
            <a:endParaRPr lang="en-US" altLang="zh-CN" sz="2400" b="1">
              <a:solidFill>
                <a:srgbClr val="FFC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2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力学分为</a:t>
            </a:r>
            <a:r>
              <a:rPr lang="zh-CN" altLang="en-US" sz="2400" b="1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运动学、静力学</a:t>
            </a:r>
            <a:r>
              <a:rPr lang="zh-CN" altLang="en-US" sz="24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zh-CN" altLang="en-US" sz="2400" b="1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动力学</a:t>
            </a:r>
            <a:r>
              <a:rPr lang="zh-CN" altLang="en-US" sz="24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运动学讨论如何描述机械运动，而不涉及引起运动变化的原因。静力学研究物体在力系作用下的平衡规律。动力学探讨运动发生变化的原因，即动力学研究的是物体间的相互作用对机械运动的影响。本课程主要涉及质点和刚体的运动学和动力学，核心是动力学。</a:t>
            </a:r>
            <a:endParaRPr lang="en-US" altLang="zh-CN" sz="2400" b="1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C29E08D6-C642-461E-8FF0-DE81140B68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525" y="192088"/>
            <a:ext cx="75438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800">
                <a:solidFill>
                  <a:srgbClr val="FFC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力学的发展史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43FA8F62-A716-F06A-910B-2934EE8A97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350" y="857250"/>
            <a:ext cx="7691438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早在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公元前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287~212)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古希腊</a:t>
            </a:r>
            <a:r>
              <a:rPr lang="zh-CN" altLang="en-US" sz="2400" b="1">
                <a:solidFill>
                  <a:srgbClr val="FFFF00"/>
                </a:solidFill>
                <a:latin typeface="Times New Roman" panose="02020603050405020304" pitchFamily="18" charset="0"/>
              </a:rPr>
              <a:t>阿基米德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著的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《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论比重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》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就奠定了静力学基础。</a:t>
            </a:r>
          </a:p>
        </p:txBody>
      </p:sp>
      <p:sp>
        <p:nvSpPr>
          <p:cNvPr id="9220" name="Rectangle 9">
            <a:extLst>
              <a:ext uri="{FF2B5EF4-FFF2-40B4-BE49-F238E27FC236}">
                <a16:creationId xmlns:a16="http://schemas.microsoft.com/office/drawing/2014/main" id="{0249BCB0-879B-1919-B9B4-C7BC0C2CF5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425" y="1677988"/>
            <a:ext cx="7691438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w"/>
            </a:pPr>
            <a:r>
              <a:rPr lang="zh-CN" altLang="en-US" sz="2400" b="1">
                <a:solidFill>
                  <a:schemeClr val="bg1"/>
                </a:solidFill>
              </a:rPr>
              <a:t>意大利的</a:t>
            </a:r>
            <a:r>
              <a:rPr lang="zh-CN" altLang="en-US" sz="2400" b="1">
                <a:solidFill>
                  <a:srgbClr val="FFFF00"/>
                </a:solidFill>
              </a:rPr>
              <a:t>达芬奇</a:t>
            </a:r>
            <a:r>
              <a:rPr lang="en-US" altLang="zh-CN" sz="2400" b="1">
                <a:solidFill>
                  <a:schemeClr val="bg1"/>
                </a:solidFill>
              </a:rPr>
              <a:t>(1452~1519)</a:t>
            </a:r>
            <a:r>
              <a:rPr lang="zh-CN" altLang="en-US" sz="2400" b="1">
                <a:solidFill>
                  <a:schemeClr val="bg1"/>
                </a:solidFill>
              </a:rPr>
              <a:t>研究滑动摩擦、平衡、力矩。</a:t>
            </a:r>
          </a:p>
        </p:txBody>
      </p:sp>
      <p:sp>
        <p:nvSpPr>
          <p:cNvPr id="9221" name="Rectangle 10">
            <a:extLst>
              <a:ext uri="{FF2B5EF4-FFF2-40B4-BE49-F238E27FC236}">
                <a16:creationId xmlns:a16="http://schemas.microsoft.com/office/drawing/2014/main" id="{105DB43C-746E-9098-68E0-AC147D1C95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613" y="2430463"/>
            <a:ext cx="769302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w"/>
            </a:pPr>
            <a:r>
              <a:rPr lang="zh-CN" altLang="en-US" sz="2400" b="1">
                <a:solidFill>
                  <a:schemeClr val="bg1"/>
                </a:solidFill>
              </a:rPr>
              <a:t>波兰的</a:t>
            </a:r>
            <a:r>
              <a:rPr lang="zh-CN" altLang="en-US" sz="2400" b="1">
                <a:solidFill>
                  <a:srgbClr val="FFFF00"/>
                </a:solidFill>
              </a:rPr>
              <a:t>哥白尼</a:t>
            </a:r>
            <a:r>
              <a:rPr lang="en-US" altLang="zh-CN" sz="2400" b="1">
                <a:solidFill>
                  <a:schemeClr val="bg1"/>
                </a:solidFill>
              </a:rPr>
              <a:t>(1473~1543)</a:t>
            </a:r>
            <a:r>
              <a:rPr lang="zh-CN" altLang="en-US" sz="2400" b="1">
                <a:solidFill>
                  <a:schemeClr val="bg1"/>
                </a:solidFill>
              </a:rPr>
              <a:t>创立宇宙“日心说”。</a:t>
            </a:r>
          </a:p>
        </p:txBody>
      </p:sp>
      <p:sp>
        <p:nvSpPr>
          <p:cNvPr id="9222" name="Rectangle 11">
            <a:extLst>
              <a:ext uri="{FF2B5EF4-FFF2-40B4-BE49-F238E27FC236}">
                <a16:creationId xmlns:a16="http://schemas.microsoft.com/office/drawing/2014/main" id="{2C48AA9E-03E1-EDE4-14E1-72DAAD903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613" y="2951163"/>
            <a:ext cx="76914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w"/>
            </a:pPr>
            <a:r>
              <a:rPr lang="zh-CN" altLang="en-US" sz="2400" b="1">
                <a:solidFill>
                  <a:schemeClr val="bg1"/>
                </a:solidFill>
              </a:rPr>
              <a:t>德国的</a:t>
            </a:r>
            <a:r>
              <a:rPr lang="zh-CN" altLang="en-US" sz="2400" b="1">
                <a:solidFill>
                  <a:srgbClr val="FFFF00"/>
                </a:solidFill>
              </a:rPr>
              <a:t>开普勒</a:t>
            </a:r>
            <a:r>
              <a:rPr lang="en-US" altLang="zh-CN" sz="2400" b="1">
                <a:solidFill>
                  <a:schemeClr val="bg1"/>
                </a:solidFill>
              </a:rPr>
              <a:t>(1571~1630)</a:t>
            </a:r>
            <a:r>
              <a:rPr lang="zh-CN" altLang="en-US" sz="2400" b="1">
                <a:solidFill>
                  <a:schemeClr val="bg1"/>
                </a:solidFill>
              </a:rPr>
              <a:t>提出行星运动三定律。</a:t>
            </a:r>
          </a:p>
        </p:txBody>
      </p:sp>
      <p:sp>
        <p:nvSpPr>
          <p:cNvPr id="9223" name="Rectangle 12">
            <a:extLst>
              <a:ext uri="{FF2B5EF4-FFF2-40B4-BE49-F238E27FC236}">
                <a16:creationId xmlns:a16="http://schemas.microsoft.com/office/drawing/2014/main" id="{36459142-3CF5-2A3C-89A4-CB39818F20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425" y="3535363"/>
            <a:ext cx="7691438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w"/>
            </a:pPr>
            <a:r>
              <a:rPr lang="zh-CN" altLang="en-US" sz="2400" b="1">
                <a:solidFill>
                  <a:schemeClr val="bg1"/>
                </a:solidFill>
              </a:rPr>
              <a:t>意大利的</a:t>
            </a:r>
            <a:r>
              <a:rPr lang="zh-CN" altLang="en-US" sz="2400" b="1">
                <a:solidFill>
                  <a:srgbClr val="FFFF00"/>
                </a:solidFill>
              </a:rPr>
              <a:t>伽利略</a:t>
            </a:r>
            <a:r>
              <a:rPr lang="en-US" altLang="zh-CN" sz="2400" b="1">
                <a:solidFill>
                  <a:schemeClr val="bg1"/>
                </a:solidFill>
              </a:rPr>
              <a:t>(1564~1642)</a:t>
            </a:r>
            <a:r>
              <a:rPr lang="zh-CN" altLang="en-US" sz="2400" b="1">
                <a:solidFill>
                  <a:schemeClr val="bg1"/>
                </a:solidFill>
              </a:rPr>
              <a:t>自由落体规律、惯性定律及加速度的概念。</a:t>
            </a:r>
          </a:p>
        </p:txBody>
      </p:sp>
      <p:sp>
        <p:nvSpPr>
          <p:cNvPr id="9224" name="Rectangle 13">
            <a:extLst>
              <a:ext uri="{FF2B5EF4-FFF2-40B4-BE49-F238E27FC236}">
                <a16:creationId xmlns:a16="http://schemas.microsoft.com/office/drawing/2014/main" id="{CDB16B2B-13A4-B67F-48E6-48A63FBB4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388" y="4508500"/>
            <a:ext cx="7691437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w"/>
            </a:pPr>
            <a:r>
              <a:rPr lang="zh-CN" altLang="en-US" sz="2400" b="1">
                <a:solidFill>
                  <a:schemeClr val="bg1"/>
                </a:solidFill>
              </a:rPr>
              <a:t>英国伟大科学家</a:t>
            </a:r>
            <a:r>
              <a:rPr lang="zh-CN" altLang="en-US" sz="2400" b="1">
                <a:solidFill>
                  <a:srgbClr val="FFFF00"/>
                </a:solidFill>
              </a:rPr>
              <a:t>牛顿</a:t>
            </a:r>
            <a:r>
              <a:rPr lang="en-US" altLang="zh-CN" sz="2400" b="1">
                <a:solidFill>
                  <a:schemeClr val="bg1"/>
                </a:solidFill>
              </a:rPr>
              <a:t>(1643~1727)</a:t>
            </a:r>
            <a:r>
              <a:rPr lang="zh-CN" altLang="en-US" sz="2400" b="1">
                <a:solidFill>
                  <a:schemeClr val="bg1"/>
                </a:solidFill>
              </a:rPr>
              <a:t>在</a:t>
            </a:r>
            <a:r>
              <a:rPr lang="en-US" altLang="zh-CN" sz="2400" b="1">
                <a:solidFill>
                  <a:schemeClr val="bg1"/>
                </a:solidFill>
              </a:rPr>
              <a:t>1687</a:t>
            </a:r>
            <a:r>
              <a:rPr lang="zh-CN" altLang="en-US" sz="2400" b="1">
                <a:solidFill>
                  <a:schemeClr val="bg1"/>
                </a:solidFill>
              </a:rPr>
              <a:t>年版的</a:t>
            </a:r>
            <a:r>
              <a:rPr lang="en-US" altLang="zh-CN" sz="2400" b="1">
                <a:solidFill>
                  <a:srgbClr val="FF0000"/>
                </a:solidFill>
              </a:rPr>
              <a:t>《</a:t>
            </a:r>
            <a:r>
              <a:rPr lang="zh-CN" altLang="en-US" sz="2400" b="1">
                <a:solidFill>
                  <a:srgbClr val="FF0000"/>
                </a:solidFill>
              </a:rPr>
              <a:t>自然哲学的数学原理</a:t>
            </a:r>
            <a:r>
              <a:rPr lang="en-US" altLang="zh-CN" sz="2400" b="1">
                <a:solidFill>
                  <a:srgbClr val="FF0000"/>
                </a:solidFill>
              </a:rPr>
              <a:t>》</a:t>
            </a:r>
            <a:r>
              <a:rPr lang="zh-CN" altLang="en-US" sz="2400" b="1">
                <a:solidFill>
                  <a:schemeClr val="bg1"/>
                </a:solidFill>
              </a:rPr>
              <a:t>一书总其大成，提出动力学的三个基本定律，万有引力定律，天体力学等，是经典力学奠基人。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>
            <a:extLst>
              <a:ext uri="{FF2B5EF4-FFF2-40B4-BE49-F238E27FC236}">
                <a16:creationId xmlns:a16="http://schemas.microsoft.com/office/drawing/2014/main" id="{68F33E68-49BE-2216-710C-F59F3909C3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536575"/>
            <a:ext cx="7620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rgbClr val="FFC000"/>
                </a:solidFill>
                <a:latin typeface="Times New Roman" panose="02020603050405020304" pitchFamily="18" charset="0"/>
              </a:rPr>
              <a:t>     </a:t>
            </a:r>
            <a:r>
              <a:rPr lang="zh-CN" altLang="en-US" sz="3200" b="1">
                <a:solidFill>
                  <a:srgbClr val="FFC000"/>
                </a:solidFill>
                <a:latin typeface="Times New Roman" panose="02020603050405020304" pitchFamily="18" charset="0"/>
              </a:rPr>
              <a:t>牛顿之后的经典力学发展：</a:t>
            </a:r>
          </a:p>
        </p:txBody>
      </p:sp>
      <p:sp>
        <p:nvSpPr>
          <p:cNvPr id="10243" name="Rectangle 9">
            <a:extLst>
              <a:ext uri="{FF2B5EF4-FFF2-40B4-BE49-F238E27FC236}">
                <a16:creationId xmlns:a16="http://schemas.microsoft.com/office/drawing/2014/main" id="{3FDCBFC5-0B5C-38DF-2D72-55A3D7F38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268413"/>
            <a:ext cx="8496300" cy="489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800" b="1">
                <a:solidFill>
                  <a:srgbClr val="FFFF00"/>
                </a:solidFill>
              </a:rPr>
              <a:t>伯努利</a:t>
            </a:r>
            <a:r>
              <a:rPr lang="en-US" altLang="zh-CN" sz="2800" b="1">
                <a:solidFill>
                  <a:schemeClr val="bg1"/>
                </a:solidFill>
              </a:rPr>
              <a:t>(1667~1748)</a:t>
            </a:r>
            <a:r>
              <a:rPr lang="zh-CN" altLang="en-US" sz="2800" b="1">
                <a:solidFill>
                  <a:schemeClr val="bg1"/>
                </a:solidFill>
              </a:rPr>
              <a:t>确立了虚位移原理。</a:t>
            </a:r>
            <a:endParaRPr lang="en-US" altLang="zh-CN" sz="2800" b="1">
              <a:solidFill>
                <a:schemeClr val="bg1"/>
              </a:solidFill>
            </a:endParaRPr>
          </a:p>
          <a:p>
            <a:pPr eaLnBrk="1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800" b="1">
                <a:solidFill>
                  <a:schemeClr val="bg1"/>
                </a:solidFill>
              </a:rPr>
              <a:t>法国</a:t>
            </a:r>
            <a:r>
              <a:rPr lang="zh-CN" altLang="en-US" sz="2800" b="1">
                <a:solidFill>
                  <a:srgbClr val="FFFF00"/>
                </a:solidFill>
              </a:rPr>
              <a:t>达朗贝尔</a:t>
            </a:r>
            <a:r>
              <a:rPr lang="zh-CN" altLang="en-US" sz="2800" b="1">
                <a:solidFill>
                  <a:schemeClr val="bg1"/>
                </a:solidFill>
              </a:rPr>
              <a:t>著</a:t>
            </a:r>
            <a:r>
              <a:rPr lang="en-US" altLang="zh-CN" sz="2800" b="1">
                <a:solidFill>
                  <a:schemeClr val="bg1"/>
                </a:solidFill>
              </a:rPr>
              <a:t>《</a:t>
            </a:r>
            <a:r>
              <a:rPr lang="zh-CN" altLang="en-US" sz="2800" b="1">
                <a:solidFill>
                  <a:schemeClr val="bg1"/>
                </a:solidFill>
              </a:rPr>
              <a:t>论动力学</a:t>
            </a:r>
            <a:r>
              <a:rPr lang="en-US" altLang="zh-CN" sz="2800" b="1">
                <a:solidFill>
                  <a:schemeClr val="bg1"/>
                </a:solidFill>
              </a:rPr>
              <a:t>》</a:t>
            </a:r>
            <a:r>
              <a:rPr lang="zh-CN" altLang="en-US" sz="2800" b="1">
                <a:solidFill>
                  <a:schemeClr val="bg1"/>
                </a:solidFill>
              </a:rPr>
              <a:t>提出</a:t>
            </a:r>
            <a:r>
              <a:rPr lang="zh-CN" altLang="en-US" sz="2800" b="1">
                <a:solidFill>
                  <a:srgbClr val="FFC000"/>
                </a:solidFill>
              </a:rPr>
              <a:t>达朗贝尔原理</a:t>
            </a:r>
            <a:r>
              <a:rPr lang="zh-CN" altLang="en-US" sz="2800" b="1">
                <a:solidFill>
                  <a:schemeClr val="bg1"/>
                </a:solidFill>
              </a:rPr>
              <a:t>。 </a:t>
            </a:r>
            <a:r>
              <a:rPr lang="en-US" altLang="zh-CN" sz="2800" b="1">
                <a:solidFill>
                  <a:schemeClr val="bg1"/>
                </a:solidFill>
              </a:rPr>
              <a:t>(1743 </a:t>
            </a:r>
            <a:r>
              <a:rPr lang="zh-CN" altLang="en-US" sz="2800" b="1">
                <a:solidFill>
                  <a:schemeClr val="bg1"/>
                </a:solidFill>
              </a:rPr>
              <a:t>年</a:t>
            </a:r>
            <a:r>
              <a:rPr lang="en-US" altLang="zh-CN" sz="2800" b="1">
                <a:solidFill>
                  <a:schemeClr val="bg1"/>
                </a:solidFill>
              </a:rPr>
              <a:t>)</a:t>
            </a:r>
          </a:p>
          <a:p>
            <a:pPr eaLnBrk="1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800" b="1">
                <a:solidFill>
                  <a:srgbClr val="FFFF00"/>
                </a:solidFill>
              </a:rPr>
              <a:t>欧拉</a:t>
            </a:r>
            <a:r>
              <a:rPr lang="zh-CN" altLang="en-US" sz="2800" b="1">
                <a:solidFill>
                  <a:schemeClr val="bg1"/>
                </a:solidFill>
              </a:rPr>
              <a:t>著</a:t>
            </a:r>
            <a:r>
              <a:rPr lang="en-US" altLang="zh-CN" sz="2800" b="1">
                <a:solidFill>
                  <a:schemeClr val="bg1"/>
                </a:solidFill>
              </a:rPr>
              <a:t>《</a:t>
            </a:r>
            <a:r>
              <a:rPr lang="zh-CN" altLang="en-US" sz="2800" b="1">
                <a:solidFill>
                  <a:schemeClr val="bg1"/>
                </a:solidFill>
              </a:rPr>
              <a:t>刚体运动理论</a:t>
            </a:r>
            <a:r>
              <a:rPr lang="en-US" altLang="zh-CN" sz="2800" b="1">
                <a:solidFill>
                  <a:schemeClr val="bg1"/>
                </a:solidFill>
              </a:rPr>
              <a:t>》 (1765 </a:t>
            </a:r>
            <a:r>
              <a:rPr lang="zh-CN" altLang="en-US" sz="2800" b="1">
                <a:solidFill>
                  <a:schemeClr val="bg1"/>
                </a:solidFill>
              </a:rPr>
              <a:t>年</a:t>
            </a:r>
            <a:r>
              <a:rPr lang="en-US" altLang="zh-CN" sz="2800" b="1">
                <a:solidFill>
                  <a:schemeClr val="bg1"/>
                </a:solidFill>
              </a:rPr>
              <a:t>)</a:t>
            </a:r>
          </a:p>
          <a:p>
            <a:pPr eaLnBrk="1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800" b="1">
                <a:solidFill>
                  <a:srgbClr val="FFFF00"/>
                </a:solidFill>
              </a:rPr>
              <a:t>拉格朗日</a:t>
            </a:r>
            <a:r>
              <a:rPr lang="zh-CN" altLang="en-US" sz="2800" b="1">
                <a:solidFill>
                  <a:schemeClr val="bg1"/>
                </a:solidFill>
              </a:rPr>
              <a:t>著</a:t>
            </a:r>
            <a:r>
              <a:rPr lang="en-US" altLang="zh-CN" sz="2800" b="1">
                <a:solidFill>
                  <a:schemeClr val="bg1"/>
                </a:solidFill>
              </a:rPr>
              <a:t>《</a:t>
            </a:r>
            <a:r>
              <a:rPr lang="zh-CN" altLang="en-US" sz="2800" b="1">
                <a:solidFill>
                  <a:schemeClr val="bg1"/>
                </a:solidFill>
              </a:rPr>
              <a:t>分析力学</a:t>
            </a:r>
            <a:r>
              <a:rPr lang="en-US" altLang="zh-CN" sz="2800" b="1">
                <a:solidFill>
                  <a:schemeClr val="bg1"/>
                </a:solidFill>
              </a:rPr>
              <a:t>》(1788 </a:t>
            </a:r>
            <a:r>
              <a:rPr lang="zh-CN" altLang="en-US" sz="2800" b="1">
                <a:solidFill>
                  <a:schemeClr val="bg1"/>
                </a:solidFill>
              </a:rPr>
              <a:t>年</a:t>
            </a:r>
            <a:r>
              <a:rPr lang="en-US" altLang="zh-CN" sz="2800" b="1">
                <a:solidFill>
                  <a:schemeClr val="bg1"/>
                </a:solidFill>
              </a:rPr>
              <a:t>)</a:t>
            </a:r>
            <a:r>
              <a:rPr lang="zh-CN" altLang="en-US" sz="2800" b="1">
                <a:solidFill>
                  <a:schemeClr val="bg1"/>
                </a:solidFill>
              </a:rPr>
              <a:t>提出第二类</a:t>
            </a:r>
            <a:r>
              <a:rPr lang="zh-CN" altLang="en-US" sz="2800" b="1">
                <a:solidFill>
                  <a:srgbClr val="FFC000"/>
                </a:solidFill>
              </a:rPr>
              <a:t>拉格朗日方程</a:t>
            </a:r>
            <a:r>
              <a:rPr lang="zh-CN" altLang="en-US" sz="2800">
                <a:solidFill>
                  <a:schemeClr val="bg1"/>
                </a:solidFill>
              </a:rPr>
              <a:t>。</a:t>
            </a:r>
            <a:endParaRPr lang="en-US" altLang="zh-CN" sz="2800" b="1">
              <a:solidFill>
                <a:schemeClr val="bg1"/>
              </a:solidFill>
            </a:endParaRPr>
          </a:p>
          <a:p>
            <a:pPr eaLnBrk="1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800" b="1">
                <a:solidFill>
                  <a:srgbClr val="FFFF00"/>
                </a:solidFill>
              </a:rPr>
              <a:t>拉普拉斯</a:t>
            </a:r>
            <a:r>
              <a:rPr lang="zh-CN" altLang="en-US" sz="2800" b="1">
                <a:solidFill>
                  <a:schemeClr val="bg1"/>
                </a:solidFill>
              </a:rPr>
              <a:t>著</a:t>
            </a:r>
            <a:r>
              <a:rPr lang="en-US" altLang="zh-CN" sz="2800" b="1">
                <a:solidFill>
                  <a:schemeClr val="bg1"/>
                </a:solidFill>
              </a:rPr>
              <a:t>《</a:t>
            </a:r>
            <a:r>
              <a:rPr lang="zh-CN" altLang="en-US" sz="2800" b="1">
                <a:solidFill>
                  <a:schemeClr val="bg1"/>
                </a:solidFill>
              </a:rPr>
              <a:t>天体力学</a:t>
            </a:r>
            <a:r>
              <a:rPr lang="en-US" altLang="zh-CN" sz="2800" b="1">
                <a:solidFill>
                  <a:schemeClr val="bg1"/>
                </a:solidFill>
              </a:rPr>
              <a:t>》(1799 - 1825 </a:t>
            </a:r>
            <a:r>
              <a:rPr lang="zh-CN" altLang="en-US" sz="2800" b="1">
                <a:solidFill>
                  <a:schemeClr val="bg1"/>
                </a:solidFill>
              </a:rPr>
              <a:t>年</a:t>
            </a:r>
            <a:r>
              <a:rPr lang="en-US" altLang="zh-CN" sz="2800" b="1">
                <a:solidFill>
                  <a:schemeClr val="bg1"/>
                </a:solidFill>
              </a:rPr>
              <a:t>)</a:t>
            </a:r>
          </a:p>
          <a:p>
            <a:pPr eaLnBrk="1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800" b="1">
                <a:solidFill>
                  <a:srgbClr val="FFFF00"/>
                </a:solidFill>
              </a:rPr>
              <a:t>哈密顿</a:t>
            </a:r>
            <a:r>
              <a:rPr lang="zh-CN" altLang="en-US" sz="2800" b="1">
                <a:solidFill>
                  <a:schemeClr val="bg1"/>
                </a:solidFill>
              </a:rPr>
              <a:t>著</a:t>
            </a:r>
            <a:r>
              <a:rPr lang="en-US" altLang="zh-CN" sz="2800" b="1">
                <a:solidFill>
                  <a:schemeClr val="bg1"/>
                </a:solidFill>
              </a:rPr>
              <a:t>《</a:t>
            </a:r>
            <a:r>
              <a:rPr lang="zh-CN" altLang="en-US" sz="2800" b="1">
                <a:solidFill>
                  <a:schemeClr val="bg1"/>
                </a:solidFill>
              </a:rPr>
              <a:t>论动力学中的一个普遍方法</a:t>
            </a:r>
            <a:r>
              <a:rPr lang="en-US" altLang="zh-CN" sz="2800" b="1">
                <a:solidFill>
                  <a:schemeClr val="bg1"/>
                </a:solidFill>
              </a:rPr>
              <a:t>》(1834 </a:t>
            </a:r>
            <a:r>
              <a:rPr lang="zh-CN" altLang="en-US" sz="2800" b="1">
                <a:solidFill>
                  <a:schemeClr val="bg1"/>
                </a:solidFill>
              </a:rPr>
              <a:t>年</a:t>
            </a:r>
            <a:r>
              <a:rPr lang="en-US" altLang="zh-CN" sz="2800" b="1">
                <a:solidFill>
                  <a:schemeClr val="bg1"/>
                </a:solidFill>
              </a:rPr>
              <a:t>)</a:t>
            </a:r>
            <a:r>
              <a:rPr lang="zh-CN" altLang="en-US" sz="2800" b="1">
                <a:solidFill>
                  <a:schemeClr val="bg1"/>
                </a:solidFill>
              </a:rPr>
              <a:t>、</a:t>
            </a:r>
            <a:r>
              <a:rPr lang="en-US" altLang="zh-CN" sz="2800" b="1">
                <a:solidFill>
                  <a:schemeClr val="bg1"/>
                </a:solidFill>
              </a:rPr>
              <a:t>《</a:t>
            </a:r>
            <a:r>
              <a:rPr lang="zh-CN" altLang="en-US" sz="2800" b="1">
                <a:solidFill>
                  <a:schemeClr val="bg1"/>
                </a:solidFill>
              </a:rPr>
              <a:t>再论动力学中的一个普遍方法</a:t>
            </a:r>
            <a:r>
              <a:rPr lang="en-US" altLang="zh-CN" sz="2800" b="1">
                <a:solidFill>
                  <a:schemeClr val="bg1"/>
                </a:solidFill>
              </a:rPr>
              <a:t>》 (1835 </a:t>
            </a:r>
            <a:r>
              <a:rPr lang="zh-CN" altLang="en-US" sz="2800" b="1">
                <a:solidFill>
                  <a:schemeClr val="bg1"/>
                </a:solidFill>
              </a:rPr>
              <a:t>年</a:t>
            </a:r>
            <a:r>
              <a:rPr lang="en-US" altLang="zh-CN" sz="2800" b="1">
                <a:solidFill>
                  <a:schemeClr val="bg1"/>
                </a:solidFill>
              </a:rPr>
              <a:t>)</a:t>
            </a:r>
            <a:endParaRPr lang="zh-CN" altLang="en-US" sz="28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Box 1">
            <a:extLst>
              <a:ext uri="{FF2B5EF4-FFF2-40B4-BE49-F238E27FC236}">
                <a16:creationId xmlns:a16="http://schemas.microsoft.com/office/drawing/2014/main" id="{B769422D-7278-721C-4195-0859A6CBF2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4775" y="188913"/>
            <a:ext cx="14224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4800" b="1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力学</a:t>
            </a:r>
            <a:endParaRPr lang="zh-CN" altLang="en-US" sz="3600" b="1">
              <a:solidFill>
                <a:srgbClr val="FFC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267" name="TextBox 2">
            <a:extLst>
              <a:ext uri="{FF2B5EF4-FFF2-40B4-BE49-F238E27FC236}">
                <a16:creationId xmlns:a16="http://schemas.microsoft.com/office/drawing/2014/main" id="{31DAEC7C-405A-F672-7854-1071C23333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5" y="1196975"/>
            <a:ext cx="3276600" cy="501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buFontTx/>
              <a:buAutoNum type="arabicPeriod"/>
            </a:pPr>
            <a:r>
              <a:rPr lang="zh-CN" altLang="en-US" sz="3200" b="1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质点运动学</a:t>
            </a:r>
            <a:endParaRPr lang="en-US" altLang="zh-CN" sz="3200" b="1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25000"/>
              </a:lnSpc>
              <a:buFontTx/>
              <a:buAutoNum type="arabicPeriod"/>
            </a:pPr>
            <a:r>
              <a:rPr lang="zh-CN" altLang="en-US" sz="3200" b="1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牛顿运动定律 </a:t>
            </a:r>
            <a:endParaRPr lang="en-US" altLang="zh-CN" sz="3200" b="1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25000"/>
              </a:lnSpc>
              <a:buFontTx/>
              <a:buAutoNum type="arabicPeriod"/>
            </a:pPr>
            <a:r>
              <a:rPr lang="zh-CN" altLang="en-US" sz="3200" b="1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功和能</a:t>
            </a:r>
            <a:endParaRPr lang="en-US" altLang="zh-CN" sz="3200" b="1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25000"/>
              </a:lnSpc>
              <a:buFontTx/>
              <a:buAutoNum type="arabicPeriod"/>
            </a:pPr>
            <a:r>
              <a:rPr lang="zh-CN" altLang="en-US" sz="3200" b="1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冲量和动量</a:t>
            </a:r>
            <a:endParaRPr lang="en-US" altLang="zh-CN" sz="3200" b="1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25000"/>
              </a:lnSpc>
              <a:buFontTx/>
              <a:buAutoNum type="arabicPeriod"/>
            </a:pPr>
            <a:r>
              <a:rPr lang="zh-CN" altLang="en-US" sz="3200" b="1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质点的动量矩</a:t>
            </a:r>
            <a:endParaRPr lang="en-US" altLang="zh-CN" sz="3200" b="1">
              <a:solidFill>
                <a:srgbClr val="FFC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25000"/>
              </a:lnSpc>
              <a:buFontTx/>
              <a:buAutoNum type="arabicPeriod"/>
            </a:pPr>
            <a:r>
              <a:rPr lang="zh-CN" altLang="en-US" sz="3200" b="1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刚体力学</a:t>
            </a:r>
            <a:endParaRPr lang="en-US" altLang="zh-CN" sz="3200" b="1">
              <a:solidFill>
                <a:srgbClr val="FFC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25000"/>
              </a:lnSpc>
              <a:buFontTx/>
              <a:buAutoNum type="arabicPeriod"/>
            </a:pPr>
            <a:r>
              <a:rPr lang="zh-CN" altLang="en-US" sz="3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机械振动</a:t>
            </a:r>
            <a:endParaRPr lang="en-US" altLang="zh-CN" sz="3200" b="1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25000"/>
              </a:lnSpc>
              <a:buFontTx/>
              <a:buAutoNum type="arabicPeriod"/>
            </a:pPr>
            <a:r>
              <a:rPr lang="zh-CN" altLang="en-US" sz="3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机械波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Text Box 5">
            <a:extLst>
              <a:ext uri="{FF2B5EF4-FFF2-40B4-BE49-F238E27FC236}">
                <a16:creationId xmlns:a16="http://schemas.microsoft.com/office/drawing/2014/main" id="{A5C84A8A-653B-FEC1-4D2F-9834E9DFB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695325"/>
            <a:ext cx="6027737" cy="884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zh-CN" altLang="en-US" sz="52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隶书" pitchFamily="49" charset="-122"/>
              </a:rPr>
              <a:t>第</a:t>
            </a:r>
            <a:r>
              <a:rPr lang="en-US" altLang="zh-CN" sz="52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隶书" pitchFamily="49" charset="-122"/>
              </a:rPr>
              <a:t>1</a:t>
            </a:r>
            <a:r>
              <a:rPr lang="zh-CN" altLang="en-US" sz="52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隶书" pitchFamily="49" charset="-122"/>
              </a:rPr>
              <a:t>章  质点运动学</a:t>
            </a:r>
          </a:p>
        </p:txBody>
      </p:sp>
      <p:sp>
        <p:nvSpPr>
          <p:cNvPr id="12291" name="Text Box 9">
            <a:extLst>
              <a:ext uri="{FF2B5EF4-FFF2-40B4-BE49-F238E27FC236}">
                <a16:creationId xmlns:a16="http://schemas.microsoft.com/office/drawing/2014/main" id="{96AB0CD9-13B2-88AC-C047-9C295F86B0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2298700"/>
            <a:ext cx="51054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solidFill>
                  <a:srgbClr val="FFFF66"/>
                </a:solidFill>
                <a:latin typeface="Times New Roman" panose="02020603050405020304" pitchFamily="18" charset="0"/>
              </a:rPr>
              <a:t>1. 1 </a:t>
            </a:r>
            <a:r>
              <a:rPr kumimoji="1" lang="zh-CN" altLang="en-US" sz="2400" b="1">
                <a:solidFill>
                  <a:srgbClr val="FFFF66"/>
                </a:solidFill>
                <a:latin typeface="Times New Roman" panose="02020603050405020304" pitchFamily="18" charset="0"/>
              </a:rPr>
              <a:t>质点位置的确定方法</a:t>
            </a:r>
          </a:p>
        </p:txBody>
      </p:sp>
      <p:sp>
        <p:nvSpPr>
          <p:cNvPr id="12292" name="Text Box 10">
            <a:extLst>
              <a:ext uri="{FF2B5EF4-FFF2-40B4-BE49-F238E27FC236}">
                <a16:creationId xmlns:a16="http://schemas.microsoft.com/office/drawing/2014/main" id="{1664A692-71B8-7B16-B876-60B6A0A959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2865438"/>
            <a:ext cx="51054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solidFill>
                  <a:srgbClr val="FFFF66"/>
                </a:solidFill>
                <a:latin typeface="Times New Roman" panose="02020603050405020304" pitchFamily="18" charset="0"/>
              </a:rPr>
              <a:t>1. 2 </a:t>
            </a:r>
            <a:r>
              <a:rPr kumimoji="1" lang="zh-CN" altLang="en-US" sz="2400" b="1">
                <a:solidFill>
                  <a:srgbClr val="FFFF66"/>
                </a:solidFill>
                <a:latin typeface="Times New Roman" panose="02020603050405020304" pitchFamily="18" charset="0"/>
              </a:rPr>
              <a:t>质点的位移、速度和加速度</a:t>
            </a:r>
          </a:p>
        </p:txBody>
      </p:sp>
      <p:sp>
        <p:nvSpPr>
          <p:cNvPr id="12293" name="Text Box 11">
            <a:extLst>
              <a:ext uri="{FF2B5EF4-FFF2-40B4-BE49-F238E27FC236}">
                <a16:creationId xmlns:a16="http://schemas.microsoft.com/office/drawing/2014/main" id="{E2F76E18-7696-DC79-A143-A367D4301B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3432175"/>
            <a:ext cx="691197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solidFill>
                  <a:srgbClr val="FFFF66"/>
                </a:solidFill>
                <a:latin typeface="Times New Roman" panose="02020603050405020304" pitchFamily="18" charset="0"/>
              </a:rPr>
              <a:t>1. 3 </a:t>
            </a:r>
            <a:r>
              <a:rPr kumimoji="1" lang="zh-CN" altLang="en-US" sz="2400" b="1">
                <a:solidFill>
                  <a:srgbClr val="FFFF66"/>
                </a:solidFill>
                <a:latin typeface="Times New Roman" panose="02020603050405020304" pitchFamily="18" charset="0"/>
              </a:rPr>
              <a:t>用直角坐标表示位移、速度和加速度</a:t>
            </a:r>
          </a:p>
        </p:txBody>
      </p:sp>
      <p:sp>
        <p:nvSpPr>
          <p:cNvPr id="12294" name="Text Box 12">
            <a:extLst>
              <a:ext uri="{FF2B5EF4-FFF2-40B4-BE49-F238E27FC236}">
                <a16:creationId xmlns:a16="http://schemas.microsoft.com/office/drawing/2014/main" id="{5719266A-3FC5-547B-BC9A-DA0F374ADF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3998913"/>
            <a:ext cx="785018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solidFill>
                  <a:srgbClr val="FFFF66"/>
                </a:solidFill>
                <a:latin typeface="Times New Roman" panose="02020603050405020304" pitchFamily="18" charset="0"/>
              </a:rPr>
              <a:t>1. 4 </a:t>
            </a:r>
            <a:r>
              <a:rPr kumimoji="1" lang="zh-CN" altLang="en-US" sz="2400" b="1">
                <a:solidFill>
                  <a:srgbClr val="FFFF66"/>
                </a:solidFill>
                <a:latin typeface="Times New Roman" panose="02020603050405020304" pitchFamily="18" charset="0"/>
              </a:rPr>
              <a:t>用自然坐标表示平面曲线运动中的速度和加速</a:t>
            </a:r>
            <a:r>
              <a:rPr kumimoji="1" lang="zh-CN" altLang="en-US" sz="2400" b="1">
                <a:solidFill>
                  <a:srgbClr val="FFFF66"/>
                </a:solidFill>
              </a:rPr>
              <a:t>度</a:t>
            </a:r>
          </a:p>
        </p:txBody>
      </p:sp>
      <p:sp>
        <p:nvSpPr>
          <p:cNvPr id="12295" name="Text Box 13">
            <a:extLst>
              <a:ext uri="{FF2B5EF4-FFF2-40B4-BE49-F238E27FC236}">
                <a16:creationId xmlns:a16="http://schemas.microsoft.com/office/drawing/2014/main" id="{B1C41E98-6968-BBA8-86C9-A0107E71FF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4565650"/>
            <a:ext cx="7777162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solidFill>
                  <a:srgbClr val="FFFF66"/>
                </a:solidFill>
                <a:latin typeface="Times New Roman" panose="02020603050405020304" pitchFamily="18" charset="0"/>
              </a:rPr>
              <a:t>1. 5 </a:t>
            </a:r>
            <a:r>
              <a:rPr kumimoji="1" lang="zh-CN" altLang="en-US" sz="2400" b="1">
                <a:solidFill>
                  <a:srgbClr val="FFFF66"/>
                </a:solidFill>
                <a:latin typeface="Times New Roman" panose="02020603050405020304" pitchFamily="18" charset="0"/>
              </a:rPr>
              <a:t>圆周运动的角量表示    角量与线量的关系</a:t>
            </a:r>
          </a:p>
        </p:txBody>
      </p:sp>
      <p:sp>
        <p:nvSpPr>
          <p:cNvPr id="12296" name="Text Box 14">
            <a:extLst>
              <a:ext uri="{FF2B5EF4-FFF2-40B4-BE49-F238E27FC236}">
                <a16:creationId xmlns:a16="http://schemas.microsoft.com/office/drawing/2014/main" id="{13D6AEAC-1A46-EE40-DA45-EB9DE037E4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5132388"/>
            <a:ext cx="76327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solidFill>
                  <a:srgbClr val="FFFF66"/>
                </a:solidFill>
                <a:latin typeface="Times New Roman" panose="02020603050405020304" pitchFamily="18" charset="0"/>
              </a:rPr>
              <a:t>1. 6 </a:t>
            </a:r>
            <a:r>
              <a:rPr kumimoji="1" lang="zh-CN" altLang="en-US" sz="2400" b="1">
                <a:solidFill>
                  <a:srgbClr val="FFFF66"/>
                </a:solidFill>
                <a:latin typeface="Times New Roman" panose="02020603050405020304" pitchFamily="18" charset="0"/>
              </a:rPr>
              <a:t>不同参考系中的速度和加速度变换定理简介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7">
            <a:extLst>
              <a:ext uri="{FF2B5EF4-FFF2-40B4-BE49-F238E27FC236}">
                <a16:creationId xmlns:a16="http://schemas.microsoft.com/office/drawing/2014/main" id="{B7BB0907-FCA6-BA50-B64B-CDEF45FB1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285750"/>
            <a:ext cx="5791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t" hangingPunct="1"/>
            <a:r>
              <a:rPr kumimoji="1" lang="en-US" altLang="zh-CN" sz="3200" b="1">
                <a:solidFill>
                  <a:srgbClr val="66FF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1.1  </a:t>
            </a:r>
            <a:r>
              <a:rPr kumimoji="1" lang="zh-CN" altLang="en-US" sz="3200" b="1">
                <a:solidFill>
                  <a:srgbClr val="66FF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质点位置的确定方法</a:t>
            </a:r>
          </a:p>
        </p:txBody>
      </p:sp>
      <p:sp>
        <p:nvSpPr>
          <p:cNvPr id="13315" name="Text Box 18">
            <a:extLst>
              <a:ext uri="{FF2B5EF4-FFF2-40B4-BE49-F238E27FC236}">
                <a16:creationId xmlns:a16="http://schemas.microsoft.com/office/drawing/2014/main" id="{76FDD44A-610E-B8E1-DD91-8161236667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976313"/>
            <a:ext cx="5105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rgbClr val="FFFF00"/>
                </a:solidFill>
                <a:latin typeface="Times New Roman" panose="02020603050405020304" pitchFamily="18" charset="0"/>
              </a:rPr>
              <a:t>一</a:t>
            </a:r>
            <a:r>
              <a:rPr kumimoji="1" lang="en-US" altLang="zh-CN" sz="2800" b="1">
                <a:solidFill>
                  <a:srgbClr val="FFFF00"/>
                </a:solidFill>
                <a:latin typeface="Times New Roman" panose="02020603050405020304" pitchFamily="18" charset="0"/>
              </a:rPr>
              <a:t>. </a:t>
            </a:r>
            <a:r>
              <a:rPr kumimoji="1" lang="zh-CN" altLang="en-US" sz="2800" b="1">
                <a:solidFill>
                  <a:srgbClr val="FFFF00"/>
                </a:solidFill>
                <a:latin typeface="Times New Roman" panose="02020603050405020304" pitchFamily="18" charset="0"/>
              </a:rPr>
              <a:t>质点运动学的基本概念</a:t>
            </a:r>
          </a:p>
        </p:txBody>
      </p:sp>
      <p:sp>
        <p:nvSpPr>
          <p:cNvPr id="13316" name="Text Box 19">
            <a:extLst>
              <a:ext uri="{FF2B5EF4-FFF2-40B4-BE49-F238E27FC236}">
                <a16:creationId xmlns:a16="http://schemas.microsoft.com/office/drawing/2014/main" id="{0427CBD1-59D4-F5D4-865E-7268B6232A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" y="1676400"/>
            <a:ext cx="868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</a:rPr>
              <a:t>质点</a:t>
            </a:r>
            <a:r>
              <a:rPr kumimoji="1" lang="zh-CN" altLang="en-US" sz="2400">
                <a:solidFill>
                  <a:schemeClr val="bg1"/>
                </a:solidFill>
                <a:latin typeface="Times New Roman" panose="02020603050405020304" pitchFamily="18" charset="0"/>
              </a:rPr>
              <a:t>：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有质量而无形状和大小的几何点。</a:t>
            </a:r>
            <a:endParaRPr kumimoji="1" lang="zh-CN" altLang="en-US" sz="2400" b="1">
              <a:solidFill>
                <a:srgbClr val="66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17" name="矩形 1">
            <a:extLst>
              <a:ext uri="{FF2B5EF4-FFF2-40B4-BE49-F238E27FC236}">
                <a16:creationId xmlns:a16="http://schemas.microsoft.com/office/drawing/2014/main" id="{8DE6EADD-29F9-2731-A45F-5A4E4DD906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133600"/>
            <a:ext cx="807085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400" b="1">
                <a:solidFill>
                  <a:srgbClr val="92D050"/>
                </a:solidFill>
              </a:rPr>
              <a:t>两种可以把物体看作质点来处理的情况</a:t>
            </a:r>
            <a:r>
              <a:rPr lang="en-US" altLang="zh-CN" sz="2400">
                <a:solidFill>
                  <a:srgbClr val="92D050"/>
                </a:solidFill>
              </a:rPr>
              <a:t>: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400">
                <a:solidFill>
                  <a:schemeClr val="bg1"/>
                </a:solidFill>
              </a:rPr>
              <a:t>• </a:t>
            </a:r>
            <a:r>
              <a:rPr lang="zh-CN" altLang="en-US" sz="2400" b="1">
                <a:solidFill>
                  <a:schemeClr val="bg1"/>
                </a:solidFill>
              </a:rPr>
              <a:t>两相互作用着的物体</a:t>
            </a:r>
            <a:r>
              <a:rPr lang="en-US" altLang="zh-CN" sz="2400" b="1">
                <a:solidFill>
                  <a:schemeClr val="bg1"/>
                </a:solidFill>
              </a:rPr>
              <a:t>, </a:t>
            </a:r>
            <a:r>
              <a:rPr lang="zh-CN" altLang="en-US" sz="2400" b="1">
                <a:solidFill>
                  <a:schemeClr val="bg1"/>
                </a:solidFill>
              </a:rPr>
              <a:t>如果它们之间的距离远大于本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400" b="1">
                <a:solidFill>
                  <a:schemeClr val="bg1"/>
                </a:solidFill>
              </a:rPr>
              <a:t>  身的线度</a:t>
            </a:r>
            <a:r>
              <a:rPr lang="en-US" altLang="zh-CN" sz="2400" b="1">
                <a:solidFill>
                  <a:schemeClr val="bg1"/>
                </a:solidFill>
              </a:rPr>
              <a:t>, </a:t>
            </a:r>
            <a:r>
              <a:rPr lang="zh-CN" altLang="en-US" sz="2400" b="1">
                <a:solidFill>
                  <a:schemeClr val="bg1"/>
                </a:solidFill>
              </a:rPr>
              <a:t>可以把这两物体看作质点</a:t>
            </a:r>
            <a:r>
              <a:rPr lang="en-US" altLang="zh-CN" sz="2400" b="1">
                <a:solidFill>
                  <a:schemeClr val="bg1"/>
                </a:solidFill>
              </a:rPr>
              <a:t>.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400">
                <a:solidFill>
                  <a:schemeClr val="bg1"/>
                </a:solidFill>
              </a:rPr>
              <a:t>• </a:t>
            </a:r>
            <a:r>
              <a:rPr lang="zh-CN" altLang="en-US" sz="2400" b="1">
                <a:solidFill>
                  <a:schemeClr val="bg1"/>
                </a:solidFill>
              </a:rPr>
              <a:t>作平动的物体</a:t>
            </a:r>
            <a:r>
              <a:rPr lang="en-US" altLang="zh-CN" sz="2400" b="1">
                <a:solidFill>
                  <a:schemeClr val="bg1"/>
                </a:solidFill>
              </a:rPr>
              <a:t>, </a:t>
            </a:r>
            <a:r>
              <a:rPr lang="zh-CN" altLang="en-US" sz="2400" b="1">
                <a:solidFill>
                  <a:schemeClr val="bg1"/>
                </a:solidFill>
              </a:rPr>
              <a:t>可以被看作质点</a:t>
            </a:r>
            <a:r>
              <a:rPr lang="en-US" altLang="zh-CN" sz="2400" b="1">
                <a:solidFill>
                  <a:schemeClr val="bg1"/>
                </a:solidFill>
              </a:rPr>
              <a:t>.</a:t>
            </a:r>
            <a:endParaRPr lang="zh-CN" altLang="en-US" sz="2400">
              <a:solidFill>
                <a:schemeClr val="bg1"/>
              </a:solidFill>
            </a:endParaRPr>
          </a:p>
        </p:txBody>
      </p:sp>
      <p:pic>
        <p:nvPicPr>
          <p:cNvPr id="13318" name="Picture 8">
            <a:extLst>
              <a:ext uri="{FF2B5EF4-FFF2-40B4-BE49-F238E27FC236}">
                <a16:creationId xmlns:a16="http://schemas.microsoft.com/office/drawing/2014/main" id="{70F6C262-A84F-E009-DA07-A4E6DAE61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600" y="3422650"/>
            <a:ext cx="3509963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 Box 20">
            <a:extLst>
              <a:ext uri="{FF2B5EF4-FFF2-40B4-BE49-F238E27FC236}">
                <a16:creationId xmlns:a16="http://schemas.microsoft.com/office/drawing/2014/main" id="{5B6D93D5-A55E-CF8A-2F3E-8FAE27C9E7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225" y="5589588"/>
            <a:ext cx="434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rgbClr val="66FFFF"/>
                </a:solidFill>
                <a:latin typeface="宋体" panose="02010600030101010101" pitchFamily="2" charset="-122"/>
              </a:rPr>
              <a:t>质点系</a:t>
            </a:r>
            <a:r>
              <a:rPr kumimoji="1" lang="en-US" altLang="zh-CN" sz="2400" b="1">
                <a:solidFill>
                  <a:schemeClr val="bg1"/>
                </a:solidFill>
                <a:latin typeface="宋体" panose="02010600030101010101" pitchFamily="2" charset="-122"/>
              </a:rPr>
              <a:t>:</a:t>
            </a:r>
            <a:r>
              <a:rPr kumimoji="1" lang="en-US" altLang="zh-CN" sz="2400" b="1">
                <a:solidFill>
                  <a:srgbClr val="FFFF66"/>
                </a:solidFill>
                <a:latin typeface="宋体" panose="02010600030101010101" pitchFamily="2" charset="-122"/>
              </a:rPr>
              <a:t>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若干质点的集合。</a:t>
            </a:r>
          </a:p>
        </p:txBody>
      </p:sp>
      <p:sp>
        <p:nvSpPr>
          <p:cNvPr id="10" name="矩形 2">
            <a:extLst>
              <a:ext uri="{FF2B5EF4-FFF2-40B4-BE49-F238E27FC236}">
                <a16:creationId xmlns:a16="http://schemas.microsoft.com/office/drawing/2014/main" id="{8CFB3383-DE95-9544-411A-473B70B0CE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4652963"/>
            <a:ext cx="8208963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solidFill>
                  <a:schemeClr val="bg1"/>
                </a:solidFill>
              </a:rPr>
              <a:t>质点是理想模型。忽略了物体的</a:t>
            </a:r>
            <a:r>
              <a:rPr lang="zh-CN" altLang="zh-CN" sz="2400" b="1">
                <a:solidFill>
                  <a:srgbClr val="C00000"/>
                </a:solidFill>
              </a:rPr>
              <a:t>形状、大小</a:t>
            </a:r>
            <a:r>
              <a:rPr lang="zh-CN" altLang="zh-CN" sz="2400" b="1">
                <a:solidFill>
                  <a:schemeClr val="bg1"/>
                </a:solidFill>
              </a:rPr>
              <a:t>所产生的效果</a:t>
            </a:r>
            <a:r>
              <a:rPr lang="en-US" altLang="zh-CN" sz="2400" b="1">
                <a:solidFill>
                  <a:schemeClr val="bg1"/>
                </a:solidFill>
              </a:rPr>
              <a:t>,</a:t>
            </a:r>
            <a:r>
              <a:rPr lang="zh-CN" altLang="zh-CN" sz="2400" b="1">
                <a:solidFill>
                  <a:schemeClr val="bg1"/>
                </a:solidFill>
              </a:rPr>
              <a:t>突出了</a:t>
            </a:r>
            <a:r>
              <a:rPr lang="zh-CN" altLang="zh-CN" sz="2400" b="1">
                <a:solidFill>
                  <a:srgbClr val="FF0000"/>
                </a:solidFill>
              </a:rPr>
              <a:t>质量、位置和力</a:t>
            </a:r>
            <a:r>
              <a:rPr lang="zh-CN" altLang="zh-CN" sz="2400" b="1">
                <a:solidFill>
                  <a:schemeClr val="bg1"/>
                </a:solidFill>
              </a:rPr>
              <a:t>三者之间的主要矛盾</a:t>
            </a:r>
            <a:r>
              <a:rPr lang="zh-CN" altLang="en-US" sz="2400" b="1">
                <a:solidFill>
                  <a:schemeClr val="bg1"/>
                </a:solidFill>
              </a:rPr>
              <a:t>。</a:t>
            </a:r>
            <a:r>
              <a:rPr lang="en-US" altLang="zh-CN" sz="2400" b="1">
                <a:solidFill>
                  <a:schemeClr val="bg1"/>
                </a:solidFill>
              </a:rPr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33">
            <a:extLst>
              <a:ext uri="{FF2B5EF4-FFF2-40B4-BE49-F238E27FC236}">
                <a16:creationId xmlns:a16="http://schemas.microsoft.com/office/drawing/2014/main" id="{26205FE4-BF39-7737-4580-9145C02EBD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75" y="669925"/>
            <a:ext cx="8215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rgbClr val="66FFFF"/>
                </a:solidFill>
                <a:latin typeface="宋体" panose="02010600030101010101" pitchFamily="2" charset="-122"/>
              </a:rPr>
              <a:t>参照物</a:t>
            </a:r>
            <a:r>
              <a:rPr kumimoji="1" lang="zh-CN" altLang="en-US" sz="2400" b="1">
                <a:solidFill>
                  <a:schemeClr val="bg1"/>
                </a:solidFill>
                <a:latin typeface="仿宋_GB2312" panose="02010609030101010101" pitchFamily="49" charset="-122"/>
              </a:rPr>
              <a:t>：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用来描述物体运动而选作参考的物体或物体系。</a:t>
            </a:r>
          </a:p>
        </p:txBody>
      </p:sp>
      <p:sp>
        <p:nvSpPr>
          <p:cNvPr id="12293" name="Line 30">
            <a:extLst>
              <a:ext uri="{FF2B5EF4-FFF2-40B4-BE49-F238E27FC236}">
                <a16:creationId xmlns:a16="http://schemas.microsoft.com/office/drawing/2014/main" id="{9DC8A54F-B881-CACF-971C-7708A42525C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57838" y="2890838"/>
            <a:ext cx="838200" cy="762000"/>
          </a:xfrm>
          <a:prstGeom prst="line">
            <a:avLst/>
          </a:prstGeom>
          <a:noFill/>
          <a:ln w="28575">
            <a:solidFill>
              <a:srgbClr val="FFFFCC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4" name="Line 21">
            <a:extLst>
              <a:ext uri="{FF2B5EF4-FFF2-40B4-BE49-F238E27FC236}">
                <a16:creationId xmlns:a16="http://schemas.microsoft.com/office/drawing/2014/main" id="{A3ED9DFA-FA1D-4F44-EB46-4E09A703861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96038" y="1292225"/>
            <a:ext cx="0" cy="1598613"/>
          </a:xfrm>
          <a:prstGeom prst="line">
            <a:avLst/>
          </a:prstGeom>
          <a:noFill/>
          <a:ln w="28575">
            <a:solidFill>
              <a:srgbClr val="FFFFCC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5" name="Line 22">
            <a:extLst>
              <a:ext uri="{FF2B5EF4-FFF2-40B4-BE49-F238E27FC236}">
                <a16:creationId xmlns:a16="http://schemas.microsoft.com/office/drawing/2014/main" id="{0303A929-754B-B1ED-8103-EEECB90DB7FF}"/>
              </a:ext>
            </a:extLst>
          </p:cNvPr>
          <p:cNvSpPr>
            <a:spLocks noChangeShapeType="1"/>
          </p:cNvSpPr>
          <p:nvPr/>
        </p:nvSpPr>
        <p:spPr bwMode="auto">
          <a:xfrm>
            <a:off x="6396038" y="2890838"/>
            <a:ext cx="1981200" cy="0"/>
          </a:xfrm>
          <a:prstGeom prst="line">
            <a:avLst/>
          </a:prstGeom>
          <a:noFill/>
          <a:ln w="28575">
            <a:solidFill>
              <a:srgbClr val="FFFFCC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2" name="Freeform 23">
            <a:extLst>
              <a:ext uri="{FF2B5EF4-FFF2-40B4-BE49-F238E27FC236}">
                <a16:creationId xmlns:a16="http://schemas.microsoft.com/office/drawing/2014/main" id="{EBA55753-BCF9-5D8F-6766-2E55BAE0D34F}"/>
              </a:ext>
            </a:extLst>
          </p:cNvPr>
          <p:cNvSpPr>
            <a:spLocks/>
          </p:cNvSpPr>
          <p:nvPr/>
        </p:nvSpPr>
        <p:spPr bwMode="auto">
          <a:xfrm>
            <a:off x="5634038" y="2281238"/>
            <a:ext cx="1387475" cy="1066800"/>
          </a:xfrm>
          <a:custGeom>
            <a:avLst/>
            <a:gdLst>
              <a:gd name="T0" fmla="*/ 2147483646 w 874"/>
              <a:gd name="T1" fmla="*/ 0 h 672"/>
              <a:gd name="T2" fmla="*/ 2147483646 w 874"/>
              <a:gd name="T3" fmla="*/ 2147483646 h 672"/>
              <a:gd name="T4" fmla="*/ 2147483646 w 874"/>
              <a:gd name="T5" fmla="*/ 2147483646 h 672"/>
              <a:gd name="T6" fmla="*/ 2147483646 w 874"/>
              <a:gd name="T7" fmla="*/ 2147483646 h 672"/>
              <a:gd name="T8" fmla="*/ 2147483646 w 874"/>
              <a:gd name="T9" fmla="*/ 2147483646 h 672"/>
              <a:gd name="T10" fmla="*/ 2147483646 w 874"/>
              <a:gd name="T11" fmla="*/ 2147483646 h 672"/>
              <a:gd name="T12" fmla="*/ 2147483646 w 874"/>
              <a:gd name="T13" fmla="*/ 2147483646 h 672"/>
              <a:gd name="T14" fmla="*/ 2147483646 w 874"/>
              <a:gd name="T15" fmla="*/ 2147483646 h 672"/>
              <a:gd name="T16" fmla="*/ 2147483646 w 874"/>
              <a:gd name="T17" fmla="*/ 2147483646 h 672"/>
              <a:gd name="T18" fmla="*/ 2147483646 w 874"/>
              <a:gd name="T19" fmla="*/ 2147483646 h 672"/>
              <a:gd name="T20" fmla="*/ 2147483646 w 874"/>
              <a:gd name="T21" fmla="*/ 2147483646 h 672"/>
              <a:gd name="T22" fmla="*/ 2147483646 w 874"/>
              <a:gd name="T23" fmla="*/ 2147483646 h 672"/>
              <a:gd name="T24" fmla="*/ 2147483646 w 874"/>
              <a:gd name="T25" fmla="*/ 2147483646 h 672"/>
              <a:gd name="T26" fmla="*/ 2147483646 w 874"/>
              <a:gd name="T27" fmla="*/ 2147483646 h 672"/>
              <a:gd name="T28" fmla="*/ 2147483646 w 874"/>
              <a:gd name="T29" fmla="*/ 2147483646 h 672"/>
              <a:gd name="T30" fmla="*/ 2147483646 w 874"/>
              <a:gd name="T31" fmla="*/ 2147483646 h 672"/>
              <a:gd name="T32" fmla="*/ 2147483646 w 874"/>
              <a:gd name="T33" fmla="*/ 2147483646 h 672"/>
              <a:gd name="T34" fmla="*/ 2147483646 w 874"/>
              <a:gd name="T35" fmla="*/ 2147483646 h 672"/>
              <a:gd name="T36" fmla="*/ 2147483646 w 874"/>
              <a:gd name="T37" fmla="*/ 0 h 672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874"/>
              <a:gd name="T58" fmla="*/ 0 h 672"/>
              <a:gd name="T59" fmla="*/ 874 w 874"/>
              <a:gd name="T60" fmla="*/ 672 h 672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874" h="672">
                <a:moveTo>
                  <a:pt x="578" y="0"/>
                </a:moveTo>
                <a:cubicBezTo>
                  <a:pt x="466" y="16"/>
                  <a:pt x="354" y="32"/>
                  <a:pt x="242" y="48"/>
                </a:cubicBezTo>
                <a:cubicBezTo>
                  <a:pt x="226" y="53"/>
                  <a:pt x="210" y="60"/>
                  <a:pt x="194" y="64"/>
                </a:cubicBezTo>
                <a:cubicBezTo>
                  <a:pt x="162" y="71"/>
                  <a:pt x="98" y="80"/>
                  <a:pt x="98" y="80"/>
                </a:cubicBezTo>
                <a:cubicBezTo>
                  <a:pt x="87" y="91"/>
                  <a:pt x="79" y="104"/>
                  <a:pt x="66" y="112"/>
                </a:cubicBezTo>
                <a:cubicBezTo>
                  <a:pt x="52" y="121"/>
                  <a:pt x="29" y="115"/>
                  <a:pt x="18" y="128"/>
                </a:cubicBezTo>
                <a:cubicBezTo>
                  <a:pt x="0" y="148"/>
                  <a:pt x="9" y="182"/>
                  <a:pt x="2" y="208"/>
                </a:cubicBezTo>
                <a:cubicBezTo>
                  <a:pt x="21" y="397"/>
                  <a:pt x="117" y="469"/>
                  <a:pt x="282" y="552"/>
                </a:cubicBezTo>
                <a:cubicBezTo>
                  <a:pt x="330" y="576"/>
                  <a:pt x="377" y="635"/>
                  <a:pt x="426" y="648"/>
                </a:cubicBezTo>
                <a:cubicBezTo>
                  <a:pt x="507" y="670"/>
                  <a:pt x="599" y="664"/>
                  <a:pt x="682" y="672"/>
                </a:cubicBezTo>
                <a:cubicBezTo>
                  <a:pt x="695" y="667"/>
                  <a:pt x="714" y="668"/>
                  <a:pt x="722" y="656"/>
                </a:cubicBezTo>
                <a:cubicBezTo>
                  <a:pt x="734" y="639"/>
                  <a:pt x="740" y="568"/>
                  <a:pt x="746" y="544"/>
                </a:cubicBezTo>
                <a:cubicBezTo>
                  <a:pt x="757" y="501"/>
                  <a:pt x="781" y="480"/>
                  <a:pt x="794" y="440"/>
                </a:cubicBezTo>
                <a:cubicBezTo>
                  <a:pt x="801" y="419"/>
                  <a:pt x="802" y="396"/>
                  <a:pt x="810" y="376"/>
                </a:cubicBezTo>
                <a:cubicBezTo>
                  <a:pt x="827" y="336"/>
                  <a:pt x="860" y="307"/>
                  <a:pt x="874" y="264"/>
                </a:cubicBezTo>
                <a:cubicBezTo>
                  <a:pt x="870" y="235"/>
                  <a:pt x="869" y="183"/>
                  <a:pt x="842" y="160"/>
                </a:cubicBezTo>
                <a:cubicBezTo>
                  <a:pt x="817" y="139"/>
                  <a:pt x="783" y="134"/>
                  <a:pt x="754" y="120"/>
                </a:cubicBezTo>
                <a:cubicBezTo>
                  <a:pt x="726" y="106"/>
                  <a:pt x="708" y="81"/>
                  <a:pt x="682" y="64"/>
                </a:cubicBezTo>
                <a:cubicBezTo>
                  <a:pt x="658" y="29"/>
                  <a:pt x="619" y="10"/>
                  <a:pt x="578" y="0"/>
                </a:cubicBezTo>
                <a:close/>
              </a:path>
            </a:pathLst>
          </a:custGeom>
          <a:solidFill>
            <a:srgbClr val="00FF00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2297" name="Object 24">
            <a:extLst>
              <a:ext uri="{FF2B5EF4-FFF2-40B4-BE49-F238E27FC236}">
                <a16:creationId xmlns:a16="http://schemas.microsoft.com/office/drawing/2014/main" id="{197DD26C-BE6F-9987-BF15-F18D295B22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62838" y="1597025"/>
          <a:ext cx="609600" cy="68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3286125" imgH="3038475" progId="MS_ClipArt_Gallery.5">
                  <p:embed/>
                </p:oleObj>
              </mc:Choice>
              <mc:Fallback>
                <p:oleObj name="Clip" r:id="rId2" imgW="3286125" imgH="3038475" progId="MS_ClipArt_Gallery.5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2838" y="1597025"/>
                        <a:ext cx="609600" cy="684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8" name="Rectangle 25">
            <a:extLst>
              <a:ext uri="{FF2B5EF4-FFF2-40B4-BE49-F238E27FC236}">
                <a16:creationId xmlns:a16="http://schemas.microsoft.com/office/drawing/2014/main" id="{289D01C4-BF43-57BC-3468-40B4ABC45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9138" y="3368675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000" b="1" i="1">
                <a:solidFill>
                  <a:srgbClr val="FFFFCC"/>
                </a:solidFill>
                <a:latin typeface="Times New Roman" panose="02020603050405020304" pitchFamily="18" charset="0"/>
              </a:rPr>
              <a:t>x</a:t>
            </a:r>
            <a:endParaRPr kumimoji="1" lang="en-US" altLang="zh-CN" sz="2000" b="1">
              <a:latin typeface="Times New Roman" panose="02020603050405020304" pitchFamily="18" charset="0"/>
            </a:endParaRPr>
          </a:p>
        </p:txBody>
      </p:sp>
      <p:sp>
        <p:nvSpPr>
          <p:cNvPr id="12299" name="Rectangle 26">
            <a:extLst>
              <a:ext uri="{FF2B5EF4-FFF2-40B4-BE49-F238E27FC236}">
                <a16:creationId xmlns:a16="http://schemas.microsoft.com/office/drawing/2014/main" id="{C558F0E9-A67F-AC7B-5FA5-CEE327971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8463" y="2406650"/>
            <a:ext cx="2968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000" b="1" i="1">
                <a:solidFill>
                  <a:srgbClr val="FFFFCC"/>
                </a:solidFill>
                <a:latin typeface="Times New Roman" panose="02020603050405020304" pitchFamily="18" charset="0"/>
              </a:rPr>
              <a:t>y</a:t>
            </a:r>
            <a:endParaRPr kumimoji="1" lang="en-US" altLang="zh-CN" sz="2000" b="1">
              <a:latin typeface="Times New Roman" panose="02020603050405020304" pitchFamily="18" charset="0"/>
            </a:endParaRPr>
          </a:p>
        </p:txBody>
      </p:sp>
      <p:sp>
        <p:nvSpPr>
          <p:cNvPr id="12300" name="Rectangle 27">
            <a:extLst>
              <a:ext uri="{FF2B5EF4-FFF2-40B4-BE49-F238E27FC236}">
                <a16:creationId xmlns:a16="http://schemas.microsoft.com/office/drawing/2014/main" id="{D286AE5F-878C-A464-6502-2742D290C3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9700" y="1341438"/>
            <a:ext cx="282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000" b="1" i="1">
                <a:solidFill>
                  <a:srgbClr val="FFFFCC"/>
                </a:solidFill>
                <a:latin typeface="Times New Roman" panose="02020603050405020304" pitchFamily="18" charset="0"/>
              </a:rPr>
              <a:t>z</a:t>
            </a:r>
            <a:endParaRPr kumimoji="1" lang="en-US" altLang="zh-CN" sz="2000" b="1">
              <a:solidFill>
                <a:srgbClr val="FFFF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01" name="Rectangle 28">
            <a:extLst>
              <a:ext uri="{FF2B5EF4-FFF2-40B4-BE49-F238E27FC236}">
                <a16:creationId xmlns:a16="http://schemas.microsoft.com/office/drawing/2014/main" id="{EC60CD71-5D67-F011-6B54-952A4F5A8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4113" y="2862263"/>
            <a:ext cx="404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400" b="1" i="1">
                <a:solidFill>
                  <a:srgbClr val="FFFFCC"/>
                </a:solidFill>
                <a:latin typeface="Times New Roman" panose="02020603050405020304" pitchFamily="18" charset="0"/>
              </a:rPr>
              <a:t>O</a:t>
            </a:r>
            <a:endParaRPr kumimoji="1" lang="en-US" altLang="zh-CN" sz="2400" b="1" i="1">
              <a:latin typeface="Times New Roman" panose="02020603050405020304" pitchFamily="18" charset="0"/>
            </a:endParaRPr>
          </a:p>
        </p:txBody>
      </p:sp>
      <p:sp>
        <p:nvSpPr>
          <p:cNvPr id="14348" name="Rectangle 29">
            <a:extLst>
              <a:ext uri="{FF2B5EF4-FFF2-40B4-BE49-F238E27FC236}">
                <a16:creationId xmlns:a16="http://schemas.microsoft.com/office/drawing/2014/main" id="{98FFAD06-2B28-2FD1-8C87-A154755D5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4463" y="2959100"/>
            <a:ext cx="152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000" b="1">
                <a:solidFill>
                  <a:srgbClr val="FFFF66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参照物</a:t>
            </a:r>
            <a:endParaRPr kumimoji="1" lang="zh-CN" altLang="en-US" sz="2000" b="1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12303" name="Text Box 31">
            <a:extLst>
              <a:ext uri="{FF2B5EF4-FFF2-40B4-BE49-F238E27FC236}">
                <a16:creationId xmlns:a16="http://schemas.microsoft.com/office/drawing/2014/main" id="{6121AE56-1582-4ED8-AC38-16E68BEA5D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75" y="1292225"/>
            <a:ext cx="5099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rgbClr val="66FFFF"/>
                </a:solidFill>
                <a:latin typeface="宋体" panose="02010600030101010101" pitchFamily="2" charset="-122"/>
              </a:rPr>
              <a:t>参考系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：参照物 </a:t>
            </a:r>
            <a:r>
              <a:rPr kumimoji="1" lang="en-US" altLang="zh-CN" sz="2400" b="1">
                <a:solidFill>
                  <a:schemeClr val="bg1"/>
                </a:solidFill>
                <a:latin typeface="宋体" panose="02010600030101010101" pitchFamily="2" charset="-122"/>
              </a:rPr>
              <a:t>+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坐标系 </a:t>
            </a:r>
            <a:r>
              <a:rPr kumimoji="1" lang="en-US" altLang="zh-CN" sz="2400" b="1">
                <a:solidFill>
                  <a:schemeClr val="bg1"/>
                </a:solidFill>
                <a:latin typeface="宋体" panose="02010600030101010101" pitchFamily="2" charset="-122"/>
              </a:rPr>
              <a:t>+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时钟</a:t>
            </a:r>
          </a:p>
        </p:txBody>
      </p:sp>
      <p:sp>
        <p:nvSpPr>
          <p:cNvPr id="12304" name="Text Box 32">
            <a:extLst>
              <a:ext uri="{FF2B5EF4-FFF2-40B4-BE49-F238E27FC236}">
                <a16:creationId xmlns:a16="http://schemas.microsoft.com/office/drawing/2014/main" id="{6757E725-B30D-68C0-ED70-36DCD012F8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525" y="1808163"/>
            <a:ext cx="4572000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50000"/>
              </a:spcBef>
            </a:pP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(1) </a:t>
            </a:r>
            <a:r>
              <a:rPr kumimoji="1" lang="zh-CN" altLang="en-US" sz="2400" b="1">
                <a:solidFill>
                  <a:srgbClr val="FFFFFF"/>
                </a:solidFill>
                <a:latin typeface="仿宋_GB2312" panose="02010609030101010101" pitchFamily="49" charset="-122"/>
              </a:rPr>
              <a:t>运动学中参考系可任选</a:t>
            </a:r>
            <a:r>
              <a:rPr kumimoji="1" lang="zh-CN" altLang="en-US" sz="2400" b="1">
                <a:solidFill>
                  <a:srgbClr val="FFFFFF"/>
                </a:solidFill>
                <a:latin typeface="宋体" panose="02010600030101010101" pitchFamily="2" charset="-122"/>
              </a:rPr>
              <a:t>。</a:t>
            </a:r>
          </a:p>
        </p:txBody>
      </p:sp>
      <p:graphicFrame>
        <p:nvGraphicFramePr>
          <p:cNvPr id="14351" name="Object 34">
            <a:extLst>
              <a:ext uri="{FF2B5EF4-FFF2-40B4-BE49-F238E27FC236}">
                <a16:creationId xmlns:a16="http://schemas.microsoft.com/office/drawing/2014/main" id="{342AD0C6-A14E-1CDC-835B-0C3510FA91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05288" y="1412875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14151" imgH="215619" progId="Equation.3">
                  <p:embed/>
                </p:oleObj>
              </mc:Choice>
              <mc:Fallback>
                <p:oleObj name="公式" r:id="rId4" imgW="114151" imgH="215619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5288" y="1412875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6" name="Rectangle 36">
            <a:extLst>
              <a:ext uri="{FF2B5EF4-FFF2-40B4-BE49-F238E27FC236}">
                <a16:creationId xmlns:a16="http://schemas.microsoft.com/office/drawing/2014/main" id="{1EF25832-CF96-3B8B-C2BE-B00A74D20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2713" y="1354138"/>
            <a:ext cx="339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000" b="1" i="1">
                <a:solidFill>
                  <a:srgbClr val="FFFFCC"/>
                </a:solidFill>
                <a:latin typeface="Times New Roman" panose="02020603050405020304" pitchFamily="18" charset="0"/>
              </a:rPr>
              <a:t>P</a:t>
            </a:r>
            <a:endParaRPr kumimoji="1" lang="en-US" altLang="zh-CN" sz="2000" b="1">
              <a:latin typeface="Times New Roman" panose="02020603050405020304" pitchFamily="18" charset="0"/>
            </a:endParaRPr>
          </a:p>
        </p:txBody>
      </p:sp>
      <p:sp>
        <p:nvSpPr>
          <p:cNvPr id="12307" name="Arc 37">
            <a:extLst>
              <a:ext uri="{FF2B5EF4-FFF2-40B4-BE49-F238E27FC236}">
                <a16:creationId xmlns:a16="http://schemas.microsoft.com/office/drawing/2014/main" id="{5563F997-784B-86E9-374C-0611E3D4F9B5}"/>
              </a:ext>
            </a:extLst>
          </p:cNvPr>
          <p:cNvSpPr>
            <a:spLocks/>
          </p:cNvSpPr>
          <p:nvPr/>
        </p:nvSpPr>
        <p:spPr bwMode="auto">
          <a:xfrm flipV="1">
            <a:off x="5126038" y="2025650"/>
            <a:ext cx="2565400" cy="531813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wrap="none" anchor="ctr"/>
          <a:lstStyle/>
          <a:p>
            <a:endParaRPr lang="zh-CN" altLang="en-US"/>
          </a:p>
        </p:txBody>
      </p:sp>
      <p:sp>
        <p:nvSpPr>
          <p:cNvPr id="12308" name="Text Box 39">
            <a:extLst>
              <a:ext uri="{FF2B5EF4-FFF2-40B4-BE49-F238E27FC236}">
                <a16:creationId xmlns:a16="http://schemas.microsoft.com/office/drawing/2014/main" id="{AF665932-10B9-A89F-1300-DCF1AA4575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525" y="2482850"/>
            <a:ext cx="4795838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5763" indent="-3857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(2)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坐标系</a:t>
            </a:r>
            <a:r>
              <a:rPr kumimoji="1" lang="en-US" altLang="zh-CN" sz="2400" b="1">
                <a:solidFill>
                  <a:schemeClr val="bg1"/>
                </a:solidFill>
                <a:latin typeface="宋体" panose="02010600030101010101" pitchFamily="2" charset="-122"/>
              </a:rPr>
              <a:t>:</a:t>
            </a:r>
            <a:r>
              <a:rPr lang="zh-CN" altLang="en-US" sz="2400" b="1">
                <a:solidFill>
                  <a:schemeClr val="bg1"/>
                </a:solidFill>
              </a:rPr>
              <a:t>用以标定物体的空间位置而设置的坐标系统。</a:t>
            </a:r>
            <a:endParaRPr kumimoji="1" lang="zh-CN" altLang="en-US" sz="2400" b="1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12309" name="Text Box 40">
            <a:extLst>
              <a:ext uri="{FF2B5EF4-FFF2-40B4-BE49-F238E27FC236}">
                <a16:creationId xmlns:a16="http://schemas.microsoft.com/office/drawing/2014/main" id="{7FA8A02D-F739-088C-D4C3-6A7DEB108D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75" y="3567113"/>
            <a:ext cx="4802188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(3)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参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照物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选定后，坐标系可任选。</a:t>
            </a:r>
          </a:p>
          <a:p>
            <a:pPr algn="just" eaLnBrk="1" hangingPunct="1"/>
            <a:endParaRPr kumimoji="1" lang="zh-CN" altLang="en-US" sz="2400" b="1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5399AA2-7190-A6F6-1C36-975992996E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75" y="4524375"/>
            <a:ext cx="8540750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 b="1">
                <a:solidFill>
                  <a:schemeClr val="bg1"/>
                </a:solidFill>
              </a:rPr>
              <a:t>不同参考系下，物体的运动状态和运动轨迹可能不同。</a:t>
            </a:r>
            <a:endParaRPr lang="en-US" altLang="zh-CN" sz="2400" b="1">
              <a:solidFill>
                <a:schemeClr val="bg1"/>
              </a:solidFill>
            </a:endParaRPr>
          </a:p>
          <a:p>
            <a:pPr eaLnBrk="1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 b="1">
                <a:solidFill>
                  <a:schemeClr val="bg1"/>
                </a:solidFill>
              </a:rPr>
              <a:t>同一参考系下，物体的运动状态与坐标系的选择没有关系，只是描述运动状态的数学形式不同。</a:t>
            </a:r>
            <a:endParaRPr lang="en-US" altLang="zh-CN" sz="24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8" grpId="0"/>
      <p:bldP spid="12299" grpId="0"/>
      <p:bldP spid="12300" grpId="0"/>
      <p:bldP spid="12301" grpId="0"/>
      <p:bldP spid="12303" grpId="0"/>
      <p:bldP spid="12304" grpId="0"/>
      <p:bldP spid="12306" grpId="0"/>
      <p:bldP spid="12308" grpId="0"/>
      <p:bldP spid="12309" grpId="0"/>
      <p:bldP spid="2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3">
            <a:extLst>
              <a:ext uri="{FF2B5EF4-FFF2-40B4-BE49-F238E27FC236}">
                <a16:creationId xmlns:a16="http://schemas.microsoft.com/office/drawing/2014/main" id="{FC02A3B5-E2FD-8E10-C6F7-6D4092951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325" y="836613"/>
            <a:ext cx="6767513" cy="4727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363" name="TextBox 1">
            <a:extLst>
              <a:ext uri="{FF2B5EF4-FFF2-40B4-BE49-F238E27FC236}">
                <a16:creationId xmlns:a16="http://schemas.microsoft.com/office/drawing/2014/main" id="{51F7C3EA-EDE7-5F6C-D476-C4CC7E6ACB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88913"/>
            <a:ext cx="17224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chemeClr val="bg1"/>
                </a:solidFill>
              </a:rPr>
              <a:t>常见坐标系</a:t>
            </a:r>
          </a:p>
        </p:txBody>
      </p:sp>
      <p:sp>
        <p:nvSpPr>
          <p:cNvPr id="15364" name="矩形 2">
            <a:extLst>
              <a:ext uri="{FF2B5EF4-FFF2-40B4-BE49-F238E27FC236}">
                <a16:creationId xmlns:a16="http://schemas.microsoft.com/office/drawing/2014/main" id="{82154EB6-A053-2DBA-2020-D5CDD2788C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038" y="5597525"/>
            <a:ext cx="7812087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chemeClr val="bg1"/>
                </a:solidFill>
              </a:rPr>
              <a:t>      在物理应用中</a:t>
            </a:r>
            <a:r>
              <a:rPr lang="en-US" altLang="zh-CN" sz="2400" b="1" dirty="0">
                <a:solidFill>
                  <a:schemeClr val="bg1"/>
                </a:solidFill>
              </a:rPr>
              <a:t>, </a:t>
            </a:r>
            <a:r>
              <a:rPr lang="zh-CN" altLang="en-US" sz="2400" b="1" dirty="0">
                <a:solidFill>
                  <a:schemeClr val="bg1"/>
                </a:solidFill>
              </a:rPr>
              <a:t>根据实际情况灵活、正确的建立坐标系</a:t>
            </a:r>
            <a:r>
              <a:rPr lang="en-US" altLang="zh-CN" sz="2400" b="1" dirty="0">
                <a:solidFill>
                  <a:schemeClr val="bg1"/>
                </a:solidFill>
              </a:rPr>
              <a:t>, </a:t>
            </a:r>
            <a:r>
              <a:rPr lang="zh-CN" altLang="en-US" sz="2400" b="1" dirty="0">
                <a:solidFill>
                  <a:schemeClr val="bg1"/>
                </a:solidFill>
              </a:rPr>
              <a:t>可以使问题的解决有事半功倍的效果</a:t>
            </a:r>
            <a:r>
              <a:rPr lang="en-US" altLang="zh-CN" sz="2400" b="1" dirty="0">
                <a:solidFill>
                  <a:schemeClr val="bg1"/>
                </a:solidFill>
              </a:rPr>
              <a:t>.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5">
            <a:extLst>
              <a:ext uri="{FF2B5EF4-FFF2-40B4-BE49-F238E27FC236}">
                <a16:creationId xmlns:a16="http://schemas.microsoft.com/office/drawing/2014/main" id="{9B315CC4-73BF-A02F-D8F0-44B22B89CE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404813"/>
            <a:ext cx="4752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rgbClr val="FFFF00"/>
                </a:solidFill>
                <a:latin typeface="Times New Roman" panose="02020603050405020304" pitchFamily="18" charset="0"/>
              </a:rPr>
              <a:t>二</a:t>
            </a:r>
            <a:r>
              <a:rPr kumimoji="1" lang="en-US" altLang="zh-CN" sz="2800" b="1">
                <a:solidFill>
                  <a:srgbClr val="FFFF00"/>
                </a:solidFill>
                <a:latin typeface="Times New Roman" panose="02020603050405020304" pitchFamily="18" charset="0"/>
              </a:rPr>
              <a:t>. </a:t>
            </a:r>
            <a:r>
              <a:rPr kumimoji="1" lang="zh-CN" altLang="en-US" sz="2800" b="1">
                <a:solidFill>
                  <a:srgbClr val="FFFF00"/>
                </a:solidFill>
                <a:latin typeface="Times New Roman" panose="02020603050405020304" pitchFamily="18" charset="0"/>
              </a:rPr>
              <a:t>确定质点位置的常用方法</a:t>
            </a:r>
          </a:p>
        </p:txBody>
      </p:sp>
      <p:sp>
        <p:nvSpPr>
          <p:cNvPr id="16387" name="Rectangle 6">
            <a:extLst>
              <a:ext uri="{FF2B5EF4-FFF2-40B4-BE49-F238E27FC236}">
                <a16:creationId xmlns:a16="http://schemas.microsoft.com/office/drawing/2014/main" id="{1D431A7D-A6F1-AA9A-CDB2-589ADBE7E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" y="1027113"/>
            <a:ext cx="3241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</a:rPr>
              <a:t>1. </a:t>
            </a:r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</a:rPr>
              <a:t>直角坐标法 </a:t>
            </a:r>
            <a:r>
              <a:rPr kumimoji="1" lang="en-US" altLang="zh-CN" sz="2400" b="1" i="1">
                <a:solidFill>
                  <a:srgbClr val="FFFF00"/>
                </a:solidFill>
                <a:latin typeface="Times New Roman" panose="02020603050405020304" pitchFamily="18" charset="0"/>
              </a:rPr>
              <a:t>P</a:t>
            </a:r>
            <a:r>
              <a:rPr kumimoji="1" lang="en-US" altLang="zh-CN" sz="2400" b="1">
                <a:solidFill>
                  <a:srgbClr val="FFFF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400" b="1" i="1">
                <a:solidFill>
                  <a:srgbClr val="FFFF00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2400" b="1">
                <a:solidFill>
                  <a:srgbClr val="FFFF00"/>
                </a:solidFill>
                <a:latin typeface="Times New Roman" panose="02020603050405020304" pitchFamily="18" charset="0"/>
              </a:rPr>
              <a:t>, </a:t>
            </a:r>
            <a:r>
              <a:rPr kumimoji="1" lang="en-US" altLang="zh-CN" sz="2400" b="1" i="1">
                <a:solidFill>
                  <a:srgbClr val="FFFF00"/>
                </a:solidFill>
                <a:latin typeface="Times New Roman" panose="02020603050405020304" pitchFamily="18" charset="0"/>
              </a:rPr>
              <a:t>y</a:t>
            </a:r>
            <a:r>
              <a:rPr kumimoji="1" lang="en-US" altLang="zh-CN" sz="2400" b="1">
                <a:solidFill>
                  <a:srgbClr val="FFFF00"/>
                </a:solidFill>
                <a:latin typeface="Times New Roman" panose="02020603050405020304" pitchFamily="18" charset="0"/>
              </a:rPr>
              <a:t>, </a:t>
            </a:r>
            <a:r>
              <a:rPr kumimoji="1" lang="en-US" altLang="zh-CN" sz="2400" b="1" i="1">
                <a:solidFill>
                  <a:srgbClr val="FFFF00"/>
                </a:solidFill>
                <a:latin typeface="Times New Roman" panose="02020603050405020304" pitchFamily="18" charset="0"/>
              </a:rPr>
              <a:t>z</a:t>
            </a:r>
            <a:r>
              <a:rPr kumimoji="1" lang="en-US" altLang="zh-CN" sz="2400" b="1">
                <a:solidFill>
                  <a:srgbClr val="FFFF00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16388" name="Text Box 7">
            <a:extLst>
              <a:ext uri="{FF2B5EF4-FFF2-40B4-BE49-F238E27FC236}">
                <a16:creationId xmlns:a16="http://schemas.microsoft.com/office/drawing/2014/main" id="{6513EBF0-03AE-14CA-DC36-37017874F2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913" y="1592263"/>
            <a:ext cx="1752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</a:rPr>
              <a:t>2. </a:t>
            </a:r>
            <a:r>
              <a:rPr kumimoji="1" lang="zh-CN" altLang="en-US" sz="2400" b="1">
                <a:solidFill>
                  <a:srgbClr val="66FFFF"/>
                </a:solidFill>
                <a:latin typeface="宋体" panose="02010600030101010101" pitchFamily="2" charset="-122"/>
              </a:rPr>
              <a:t>位矢法</a:t>
            </a:r>
            <a:endParaRPr kumimoji="1" lang="zh-CN" altLang="en-US" sz="2800">
              <a:solidFill>
                <a:srgbClr val="66FF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6389" name="Object 8">
            <a:extLst>
              <a:ext uri="{FF2B5EF4-FFF2-40B4-BE49-F238E27FC236}">
                <a16:creationId xmlns:a16="http://schemas.microsoft.com/office/drawing/2014/main" id="{73E416BE-043A-BFDF-F315-6F0CE155772B}"/>
              </a:ext>
            </a:extLst>
          </p:cNvPr>
          <p:cNvGraphicFramePr>
            <a:graphicFrameLocks/>
          </p:cNvGraphicFramePr>
          <p:nvPr/>
        </p:nvGraphicFramePr>
        <p:xfrm>
          <a:off x="1466850" y="3154363"/>
          <a:ext cx="2262188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232595" imgH="419040" progId="Equation.3">
                  <p:embed/>
                </p:oleObj>
              </mc:Choice>
              <mc:Fallback>
                <p:oleObj name="公式" r:id="rId3" imgW="2232595" imgH="419040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6850" y="3154363"/>
                        <a:ext cx="2262188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00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9" name="Text Box 11">
            <a:extLst>
              <a:ext uri="{FF2B5EF4-FFF2-40B4-BE49-F238E27FC236}">
                <a16:creationId xmlns:a16="http://schemas.microsoft.com/office/drawing/2014/main" id="{0E2CAE8D-313F-6FB4-D119-704F933202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3716338"/>
            <a:ext cx="294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rgbClr val="FFFFFF"/>
                </a:solidFill>
                <a:latin typeface="Times New Roman" panose="02020603050405020304" pitchFamily="18" charset="0"/>
              </a:rPr>
              <a:t>位矢的</a:t>
            </a:r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</a:rPr>
              <a:t>大小</a:t>
            </a:r>
            <a:r>
              <a:rPr kumimoji="1" lang="zh-CN" altLang="en-US" sz="2400" b="1">
                <a:solidFill>
                  <a:srgbClr val="FFFFFF"/>
                </a:solidFill>
                <a:latin typeface="Times New Roman" panose="02020603050405020304" pitchFamily="18" charset="0"/>
              </a:rPr>
              <a:t>为：</a:t>
            </a:r>
          </a:p>
        </p:txBody>
      </p:sp>
      <p:graphicFrame>
        <p:nvGraphicFramePr>
          <p:cNvPr id="7180" name="Object 12">
            <a:extLst>
              <a:ext uri="{FF2B5EF4-FFF2-40B4-BE49-F238E27FC236}">
                <a16:creationId xmlns:a16="http://schemas.microsoft.com/office/drawing/2014/main" id="{314A7169-B72C-88A6-914A-C84B34E1EFAC}"/>
              </a:ext>
            </a:extLst>
          </p:cNvPr>
          <p:cNvGraphicFramePr>
            <a:graphicFrameLocks/>
          </p:cNvGraphicFramePr>
          <p:nvPr/>
        </p:nvGraphicFramePr>
        <p:xfrm>
          <a:off x="1447800" y="4292600"/>
          <a:ext cx="256222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537521" imgH="510624" progId="Equation.3">
                  <p:embed/>
                </p:oleObj>
              </mc:Choice>
              <mc:Fallback>
                <p:oleObj name="公式" r:id="rId5" imgW="2537521" imgH="510624" progId="Equation.3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4292600"/>
                        <a:ext cx="2562225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1" name="Rectangle 13">
            <a:extLst>
              <a:ext uri="{FF2B5EF4-FFF2-40B4-BE49-F238E27FC236}">
                <a16:creationId xmlns:a16="http://schemas.microsoft.com/office/drawing/2014/main" id="{05325FD7-F4A5-1154-17BC-38A679CEA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613" y="4941888"/>
            <a:ext cx="5060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位矢的</a:t>
            </a:r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</a:rPr>
              <a:t>方向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用方向余弦表示，则有：</a:t>
            </a:r>
            <a:endParaRPr kumimoji="1" lang="zh-CN" altLang="en-US" sz="2400" b="1">
              <a:solidFill>
                <a:srgbClr val="66FF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7182" name="Object 14">
            <a:extLst>
              <a:ext uri="{FF2B5EF4-FFF2-40B4-BE49-F238E27FC236}">
                <a16:creationId xmlns:a16="http://schemas.microsoft.com/office/drawing/2014/main" id="{4E6555F9-08B1-2ABA-66E1-4A01062E46EF}"/>
              </a:ext>
            </a:extLst>
          </p:cNvPr>
          <p:cNvGraphicFramePr>
            <a:graphicFrameLocks/>
          </p:cNvGraphicFramePr>
          <p:nvPr/>
        </p:nvGraphicFramePr>
        <p:xfrm>
          <a:off x="2287588" y="5516563"/>
          <a:ext cx="4705350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4686266" imgH="899208" progId="Equation.3">
                  <p:embed/>
                </p:oleObj>
              </mc:Choice>
              <mc:Fallback>
                <p:oleObj name="公式" r:id="rId7" imgW="4686266" imgH="899208" progId="Equation.3">
                  <p:embed/>
                  <p:pic>
                    <p:nvPicPr>
                      <p:cNvPr id="0" name="Object 14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7588" y="5516563"/>
                        <a:ext cx="4705350" cy="92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00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394" name="组合 1">
            <a:extLst>
              <a:ext uri="{FF2B5EF4-FFF2-40B4-BE49-F238E27FC236}">
                <a16:creationId xmlns:a16="http://schemas.microsoft.com/office/drawing/2014/main" id="{201F3138-56ED-9AD4-C057-C9CEC7311C6B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2125663"/>
            <a:ext cx="4408488" cy="914400"/>
            <a:chOff x="762000" y="2125663"/>
            <a:chExt cx="4408488" cy="914400"/>
          </a:xfrm>
        </p:grpSpPr>
        <p:sp>
          <p:nvSpPr>
            <p:cNvPr id="16422" name="Text Box 9">
              <a:extLst>
                <a:ext uri="{FF2B5EF4-FFF2-40B4-BE49-F238E27FC236}">
                  <a16:creationId xmlns:a16="http://schemas.microsoft.com/office/drawing/2014/main" id="{89C551AB-0E13-50E0-197A-3FF755244C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800" y="2582863"/>
              <a:ext cx="141763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>
                  <a:solidFill>
                    <a:schemeClr val="bg1"/>
                  </a:solidFill>
                  <a:latin typeface="宋体" panose="02010600030101010101" pitchFamily="2" charset="-122"/>
                </a:rPr>
                <a:t>表示。</a:t>
              </a:r>
              <a:endParaRPr kumimoji="1" lang="zh-CN" altLang="en-US" sz="2400" b="1">
                <a:latin typeface="宋体" panose="02010600030101010101" pitchFamily="2" charset="-122"/>
              </a:endParaRPr>
            </a:p>
          </p:txBody>
        </p:sp>
        <p:graphicFrame>
          <p:nvGraphicFramePr>
            <p:cNvPr id="16423" name="Object 10">
              <a:extLst>
                <a:ext uri="{FF2B5EF4-FFF2-40B4-BE49-F238E27FC236}">
                  <a16:creationId xmlns:a16="http://schemas.microsoft.com/office/drawing/2014/main" id="{3C9B4CB6-EBA8-ED07-F06B-D1FC25C8A87B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838200" y="2684463"/>
            <a:ext cx="2159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190606" imgH="243864" progId="Equation.3">
                    <p:embed/>
                  </p:oleObj>
                </mc:Choice>
                <mc:Fallback>
                  <p:oleObj name="公式" r:id="rId9" imgW="190606" imgH="243864" progId="Equation.3">
                    <p:embed/>
                    <p:pic>
                      <p:nvPicPr>
                        <p:cNvPr id="0" name="Object 1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8200" y="2684463"/>
                          <a:ext cx="215900" cy="266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304" name="Rectangle 41">
              <a:extLst>
                <a:ext uri="{FF2B5EF4-FFF2-40B4-BE49-F238E27FC236}">
                  <a16:creationId xmlns:a16="http://schemas.microsoft.com/office/drawing/2014/main" id="{6E012337-59FA-CB61-6501-043C273241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000" y="2125663"/>
              <a:ext cx="4408488" cy="45720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kumimoji="1" lang="zh-CN" altLang="en-US" sz="2400" b="1" dirty="0">
                  <a:solidFill>
                    <a:schemeClr val="bg1"/>
                  </a:solidFill>
                  <a:latin typeface="宋体" pitchFamily="2" charset="-122"/>
                </a:rPr>
                <a:t>质点某时刻位置</a:t>
              </a:r>
              <a:r>
                <a:rPr kumimoji="1" lang="en-US" altLang="zh-CN" sz="2400" b="1" i="1" dirty="0">
                  <a:solidFill>
                    <a:srgbClr val="66FFFF"/>
                  </a:solidFill>
                  <a:latin typeface="Times New Roman" pitchFamily="18" charset="0"/>
                </a:rPr>
                <a:t>P </a:t>
              </a:r>
              <a:r>
                <a:rPr kumimoji="1" lang="en-US" altLang="zh-CN" sz="2400" b="1" dirty="0">
                  <a:solidFill>
                    <a:srgbClr val="66FFFF"/>
                  </a:solidFill>
                  <a:latin typeface="Times New Roman" pitchFamily="18" charset="0"/>
                </a:rPr>
                <a:t>(</a:t>
              </a:r>
              <a:r>
                <a:rPr kumimoji="1" lang="en-US" altLang="zh-CN" sz="2400" b="1" i="1" dirty="0" err="1">
                  <a:solidFill>
                    <a:srgbClr val="66FFFF"/>
                  </a:solidFill>
                  <a:latin typeface="Times New Roman" pitchFamily="18" charset="0"/>
                </a:rPr>
                <a:t>x,y,z</a:t>
              </a:r>
              <a:r>
                <a:rPr kumimoji="1" lang="en-US" altLang="zh-CN" sz="2400" b="1" dirty="0">
                  <a:solidFill>
                    <a:srgbClr val="66FFFF"/>
                  </a:solidFill>
                  <a:latin typeface="Times New Roman" pitchFamily="18" charset="0"/>
                </a:rPr>
                <a:t>)</a:t>
              </a:r>
              <a:r>
                <a:rPr kumimoji="1" lang="en-US" altLang="zh-CN" sz="2400" b="1" dirty="0">
                  <a:solidFill>
                    <a:schemeClr val="bg1"/>
                  </a:solidFill>
                  <a:latin typeface="Times New Roman" pitchFamily="18" charset="0"/>
                </a:rPr>
                <a:t> </a:t>
              </a:r>
              <a:r>
                <a:rPr kumimoji="1" lang="zh-CN" altLang="en-US" sz="2400" b="1" dirty="0">
                  <a:solidFill>
                    <a:schemeClr val="bg1"/>
                  </a:solidFill>
                  <a:latin typeface="宋体" pitchFamily="2" charset="-122"/>
                </a:rPr>
                <a:t>由</a:t>
              </a:r>
              <a:r>
                <a:rPr kumimoji="1" lang="zh-CN" altLang="en-US" sz="2400" b="1" dirty="0">
                  <a:solidFill>
                    <a:srgbClr val="FFC000"/>
                  </a:solidFill>
                  <a:latin typeface="宋体" pitchFamily="2" charset="-122"/>
                </a:rPr>
                <a:t>位矢</a:t>
              </a:r>
              <a:r>
                <a:rPr kumimoji="1" lang="zh-CN" altLang="en-US" sz="2400" b="1" dirty="0">
                  <a:solidFill>
                    <a:schemeClr val="bg1"/>
                  </a:solidFill>
                  <a:latin typeface="Times New Roman" pitchFamily="18" charset="0"/>
                </a:rPr>
                <a:t> 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9FC9CCC2-20B5-C5DB-A39C-72F9B12DC970}"/>
              </a:ext>
            </a:extLst>
          </p:cNvPr>
          <p:cNvGrpSpPr>
            <a:grpSpLocks/>
          </p:cNvGrpSpPr>
          <p:nvPr/>
        </p:nvGrpSpPr>
        <p:grpSpPr bwMode="auto">
          <a:xfrm>
            <a:off x="4267200" y="893763"/>
            <a:ext cx="4419600" cy="3614737"/>
            <a:chOff x="4267200" y="893763"/>
            <a:chExt cx="4419600" cy="3614737"/>
          </a:xfrm>
        </p:grpSpPr>
        <p:sp>
          <p:nvSpPr>
            <p:cNvPr id="16396" name="Freeform 15">
              <a:extLst>
                <a:ext uri="{FF2B5EF4-FFF2-40B4-BE49-F238E27FC236}">
                  <a16:creationId xmlns:a16="http://schemas.microsoft.com/office/drawing/2014/main" id="{D2E0222B-52C7-9E67-BCBD-56D2AFDB8B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7200" y="2874963"/>
              <a:ext cx="4343400" cy="1143000"/>
            </a:xfrm>
            <a:custGeom>
              <a:avLst/>
              <a:gdLst>
                <a:gd name="T0" fmla="*/ 2147483646 w 1667"/>
                <a:gd name="T1" fmla="*/ 2147483646 h 1694"/>
                <a:gd name="T2" fmla="*/ 2147483646 w 1667"/>
                <a:gd name="T3" fmla="*/ 2147483646 h 1694"/>
                <a:gd name="T4" fmla="*/ 2147483646 w 1667"/>
                <a:gd name="T5" fmla="*/ 2147483646 h 1694"/>
                <a:gd name="T6" fmla="*/ 2147483646 w 1667"/>
                <a:gd name="T7" fmla="*/ 0 h 1694"/>
                <a:gd name="T8" fmla="*/ 2147483646 w 1667"/>
                <a:gd name="T9" fmla="*/ 2147483646 h 1694"/>
                <a:gd name="T10" fmla="*/ 2147483646 w 1667"/>
                <a:gd name="T11" fmla="*/ 2147483646 h 1694"/>
                <a:gd name="T12" fmla="*/ 2147483646 w 1667"/>
                <a:gd name="T13" fmla="*/ 2147483646 h 1694"/>
                <a:gd name="T14" fmla="*/ 2147483646 w 1667"/>
                <a:gd name="T15" fmla="*/ 2147483646 h 1694"/>
                <a:gd name="T16" fmla="*/ 2147483646 w 1667"/>
                <a:gd name="T17" fmla="*/ 2147483646 h 1694"/>
                <a:gd name="T18" fmla="*/ 2147483646 w 1667"/>
                <a:gd name="T19" fmla="*/ 2147483646 h 1694"/>
                <a:gd name="T20" fmla="*/ 2147483646 w 1667"/>
                <a:gd name="T21" fmla="*/ 2147483646 h 1694"/>
                <a:gd name="T22" fmla="*/ 2147483646 w 1667"/>
                <a:gd name="T23" fmla="*/ 2147483646 h 1694"/>
                <a:gd name="T24" fmla="*/ 2147483646 w 1667"/>
                <a:gd name="T25" fmla="*/ 2147483646 h 1694"/>
                <a:gd name="T26" fmla="*/ 2147483646 w 1667"/>
                <a:gd name="T27" fmla="*/ 2147483646 h 1694"/>
                <a:gd name="T28" fmla="*/ 2147483646 w 1667"/>
                <a:gd name="T29" fmla="*/ 2147483646 h 1694"/>
                <a:gd name="T30" fmla="*/ 2147483646 w 1667"/>
                <a:gd name="T31" fmla="*/ 2147483646 h 1694"/>
                <a:gd name="T32" fmla="*/ 2147483646 w 1667"/>
                <a:gd name="T33" fmla="*/ 2147483646 h 1694"/>
                <a:gd name="T34" fmla="*/ 2147483646 w 1667"/>
                <a:gd name="T35" fmla="*/ 2147483646 h 1694"/>
                <a:gd name="T36" fmla="*/ 2147483646 w 1667"/>
                <a:gd name="T37" fmla="*/ 2147483646 h 1694"/>
                <a:gd name="T38" fmla="*/ 2147483646 w 1667"/>
                <a:gd name="T39" fmla="*/ 2147483646 h 1694"/>
                <a:gd name="T40" fmla="*/ 2147483646 w 1667"/>
                <a:gd name="T41" fmla="*/ 2147483646 h 1694"/>
                <a:gd name="T42" fmla="*/ 2147483646 w 1667"/>
                <a:gd name="T43" fmla="*/ 2147483646 h 1694"/>
                <a:gd name="T44" fmla="*/ 2147483646 w 1667"/>
                <a:gd name="T45" fmla="*/ 2147483646 h 1694"/>
                <a:gd name="T46" fmla="*/ 2147483646 w 1667"/>
                <a:gd name="T47" fmla="*/ 2147483646 h 1694"/>
                <a:gd name="T48" fmla="*/ 2147483646 w 1667"/>
                <a:gd name="T49" fmla="*/ 2147483646 h 1694"/>
                <a:gd name="T50" fmla="*/ 2147483646 w 1667"/>
                <a:gd name="T51" fmla="*/ 2147483646 h 1694"/>
                <a:gd name="T52" fmla="*/ 2147483646 w 1667"/>
                <a:gd name="T53" fmla="*/ 2147483646 h 1694"/>
                <a:gd name="T54" fmla="*/ 2147483646 w 1667"/>
                <a:gd name="T55" fmla="*/ 2147483646 h 1694"/>
                <a:gd name="T56" fmla="*/ 2147483646 w 1667"/>
                <a:gd name="T57" fmla="*/ 2147483646 h 1694"/>
                <a:gd name="T58" fmla="*/ 2147483646 w 1667"/>
                <a:gd name="T59" fmla="*/ 2147483646 h 1694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1667"/>
                <a:gd name="T91" fmla="*/ 0 h 1694"/>
                <a:gd name="T92" fmla="*/ 1667 w 1667"/>
                <a:gd name="T93" fmla="*/ 1694 h 1694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1667" h="1694">
                  <a:moveTo>
                    <a:pt x="1402" y="356"/>
                  </a:moveTo>
                  <a:cubicBezTo>
                    <a:pt x="1396" y="311"/>
                    <a:pt x="1397" y="264"/>
                    <a:pt x="1385" y="220"/>
                  </a:cubicBezTo>
                  <a:cubicBezTo>
                    <a:pt x="1368" y="158"/>
                    <a:pt x="1271" y="102"/>
                    <a:pt x="1215" y="85"/>
                  </a:cubicBezTo>
                  <a:cubicBezTo>
                    <a:pt x="1058" y="38"/>
                    <a:pt x="884" y="40"/>
                    <a:pt x="724" y="0"/>
                  </a:cubicBezTo>
                  <a:cubicBezTo>
                    <a:pt x="594" y="6"/>
                    <a:pt x="464" y="7"/>
                    <a:pt x="335" y="17"/>
                  </a:cubicBezTo>
                  <a:cubicBezTo>
                    <a:pt x="317" y="18"/>
                    <a:pt x="297" y="21"/>
                    <a:pt x="284" y="34"/>
                  </a:cubicBezTo>
                  <a:cubicBezTo>
                    <a:pt x="271" y="47"/>
                    <a:pt x="275" y="69"/>
                    <a:pt x="267" y="85"/>
                  </a:cubicBezTo>
                  <a:cubicBezTo>
                    <a:pt x="258" y="103"/>
                    <a:pt x="241" y="117"/>
                    <a:pt x="233" y="136"/>
                  </a:cubicBezTo>
                  <a:cubicBezTo>
                    <a:pt x="218" y="168"/>
                    <a:pt x="199" y="237"/>
                    <a:pt x="199" y="237"/>
                  </a:cubicBezTo>
                  <a:cubicBezTo>
                    <a:pt x="193" y="288"/>
                    <a:pt x="194" y="340"/>
                    <a:pt x="182" y="390"/>
                  </a:cubicBezTo>
                  <a:cubicBezTo>
                    <a:pt x="177" y="410"/>
                    <a:pt x="156" y="422"/>
                    <a:pt x="148" y="441"/>
                  </a:cubicBezTo>
                  <a:cubicBezTo>
                    <a:pt x="115" y="517"/>
                    <a:pt x="147" y="493"/>
                    <a:pt x="114" y="559"/>
                  </a:cubicBezTo>
                  <a:cubicBezTo>
                    <a:pt x="105" y="577"/>
                    <a:pt x="88" y="591"/>
                    <a:pt x="80" y="610"/>
                  </a:cubicBezTo>
                  <a:cubicBezTo>
                    <a:pt x="0" y="792"/>
                    <a:pt x="90" y="648"/>
                    <a:pt x="13" y="763"/>
                  </a:cubicBezTo>
                  <a:cubicBezTo>
                    <a:pt x="19" y="887"/>
                    <a:pt x="20" y="1011"/>
                    <a:pt x="30" y="1135"/>
                  </a:cubicBezTo>
                  <a:cubicBezTo>
                    <a:pt x="32" y="1158"/>
                    <a:pt x="36" y="1183"/>
                    <a:pt x="47" y="1203"/>
                  </a:cubicBezTo>
                  <a:cubicBezTo>
                    <a:pt x="59" y="1224"/>
                    <a:pt x="82" y="1235"/>
                    <a:pt x="97" y="1254"/>
                  </a:cubicBezTo>
                  <a:cubicBezTo>
                    <a:pt x="180" y="1361"/>
                    <a:pt x="216" y="1441"/>
                    <a:pt x="351" y="1508"/>
                  </a:cubicBezTo>
                  <a:cubicBezTo>
                    <a:pt x="454" y="1560"/>
                    <a:pt x="505" y="1630"/>
                    <a:pt x="623" y="1660"/>
                  </a:cubicBezTo>
                  <a:cubicBezTo>
                    <a:pt x="668" y="1671"/>
                    <a:pt x="758" y="1694"/>
                    <a:pt x="758" y="1694"/>
                  </a:cubicBezTo>
                  <a:cubicBezTo>
                    <a:pt x="814" y="1688"/>
                    <a:pt x="871" y="1686"/>
                    <a:pt x="927" y="1677"/>
                  </a:cubicBezTo>
                  <a:cubicBezTo>
                    <a:pt x="1055" y="1657"/>
                    <a:pt x="1134" y="1520"/>
                    <a:pt x="1199" y="1423"/>
                  </a:cubicBezTo>
                  <a:cubicBezTo>
                    <a:pt x="1212" y="1404"/>
                    <a:pt x="1244" y="1413"/>
                    <a:pt x="1266" y="1406"/>
                  </a:cubicBezTo>
                  <a:cubicBezTo>
                    <a:pt x="1300" y="1396"/>
                    <a:pt x="1368" y="1372"/>
                    <a:pt x="1368" y="1372"/>
                  </a:cubicBezTo>
                  <a:cubicBezTo>
                    <a:pt x="1391" y="1355"/>
                    <a:pt x="1418" y="1344"/>
                    <a:pt x="1436" y="1322"/>
                  </a:cubicBezTo>
                  <a:cubicBezTo>
                    <a:pt x="1543" y="1195"/>
                    <a:pt x="1344" y="1345"/>
                    <a:pt x="1503" y="1237"/>
                  </a:cubicBezTo>
                  <a:cubicBezTo>
                    <a:pt x="1571" y="1033"/>
                    <a:pt x="1667" y="710"/>
                    <a:pt x="1470" y="576"/>
                  </a:cubicBezTo>
                  <a:cubicBezTo>
                    <a:pt x="1459" y="559"/>
                    <a:pt x="1441" y="545"/>
                    <a:pt x="1436" y="525"/>
                  </a:cubicBezTo>
                  <a:cubicBezTo>
                    <a:pt x="1415" y="448"/>
                    <a:pt x="1434" y="403"/>
                    <a:pt x="1402" y="339"/>
                  </a:cubicBezTo>
                  <a:cubicBezTo>
                    <a:pt x="1399" y="334"/>
                    <a:pt x="1402" y="350"/>
                    <a:pt x="1402" y="356"/>
                  </a:cubicBezTo>
                  <a:close/>
                </a:path>
              </a:pathLst>
            </a:custGeom>
            <a:solidFill>
              <a:schemeClr val="accent1">
                <a:alpha val="50195"/>
              </a:schemeClr>
            </a:solidFill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6397" name="Line 16">
              <a:extLst>
                <a:ext uri="{FF2B5EF4-FFF2-40B4-BE49-F238E27FC236}">
                  <a16:creationId xmlns:a16="http://schemas.microsoft.com/office/drawing/2014/main" id="{0C5C1C9F-2C77-66AC-CD28-819890C5C3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38800" y="3408363"/>
              <a:ext cx="3048000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6398" name="Line 17">
              <a:extLst>
                <a:ext uri="{FF2B5EF4-FFF2-40B4-BE49-F238E27FC236}">
                  <a16:creationId xmlns:a16="http://schemas.microsoft.com/office/drawing/2014/main" id="{AB6484D3-1BCA-1A7A-E2FE-16554DC08B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38800" y="893763"/>
              <a:ext cx="0" cy="251460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6399" name="Line 18">
              <a:extLst>
                <a:ext uri="{FF2B5EF4-FFF2-40B4-BE49-F238E27FC236}">
                  <a16:creationId xmlns:a16="http://schemas.microsoft.com/office/drawing/2014/main" id="{017B4014-81D7-AFDC-0D3E-65F536ABAB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72000" y="3408363"/>
              <a:ext cx="1066800" cy="106680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graphicFrame>
          <p:nvGraphicFramePr>
            <p:cNvPr id="16400" name="Object 19">
              <a:extLst>
                <a:ext uri="{FF2B5EF4-FFF2-40B4-BE49-F238E27FC236}">
                  <a16:creationId xmlns:a16="http://schemas.microsoft.com/office/drawing/2014/main" id="{CA3E27BC-8EEE-8601-672A-2C0AAC28CFE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743575" y="893763"/>
            <a:ext cx="165100" cy="174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175262" imgH="190512" progId="Equation.3">
                    <p:embed/>
                  </p:oleObj>
                </mc:Choice>
                <mc:Fallback>
                  <p:oleObj name="公式" r:id="rId11" imgW="175262" imgH="190512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43575" y="893763"/>
                          <a:ext cx="165100" cy="1746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1" name="Object 20">
              <a:extLst>
                <a:ext uri="{FF2B5EF4-FFF2-40B4-BE49-F238E27FC236}">
                  <a16:creationId xmlns:a16="http://schemas.microsoft.com/office/drawing/2014/main" id="{27EAD388-88C3-D4E1-B7A4-BE3FF7DF1B5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22825" y="4276725"/>
            <a:ext cx="173038" cy="1825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190606" imgH="205848" progId="Equation.3">
                    <p:embed/>
                  </p:oleObj>
                </mc:Choice>
                <mc:Fallback>
                  <p:oleObj name="公式" r:id="rId13" imgW="190606" imgH="205848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22825" y="4276725"/>
                          <a:ext cx="173038" cy="1825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2" name="Object 21">
              <a:extLst>
                <a:ext uri="{FF2B5EF4-FFF2-40B4-BE49-F238E27FC236}">
                  <a16:creationId xmlns:a16="http://schemas.microsoft.com/office/drawing/2014/main" id="{3DC7777C-FC79-287D-CA51-70BE13CBD68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332788" y="3051175"/>
            <a:ext cx="1905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213297" imgH="281880" progId="Equation.3">
                    <p:embed/>
                  </p:oleObj>
                </mc:Choice>
                <mc:Fallback>
                  <p:oleObj name="公式" r:id="rId15" imgW="213297" imgH="281880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32788" y="3051175"/>
                          <a:ext cx="190500" cy="241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3" name="Object 22">
              <a:extLst>
                <a:ext uri="{FF2B5EF4-FFF2-40B4-BE49-F238E27FC236}">
                  <a16:creationId xmlns:a16="http://schemas.microsoft.com/office/drawing/2014/main" id="{F32BB711-1B26-B833-E70C-4CFCDAB9B8E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75263" y="3257550"/>
            <a:ext cx="233362" cy="252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7" imgW="274239" imgH="289656" progId="Equation.3">
                    <p:embed/>
                  </p:oleObj>
                </mc:Choice>
                <mc:Fallback>
                  <p:oleObj name="公式" r:id="rId17" imgW="274239" imgH="289656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75263" y="3257550"/>
                          <a:ext cx="233362" cy="2524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04" name="Line 23">
              <a:extLst>
                <a:ext uri="{FF2B5EF4-FFF2-40B4-BE49-F238E27FC236}">
                  <a16:creationId xmlns:a16="http://schemas.microsoft.com/office/drawing/2014/main" id="{BD56395E-3CC8-796E-8703-C232E6A6F2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80288" y="1989138"/>
              <a:ext cx="71437" cy="2160587"/>
            </a:xfrm>
            <a:prstGeom prst="line">
              <a:avLst/>
            </a:prstGeom>
            <a:noFill/>
            <a:ln w="19050">
              <a:solidFill>
                <a:srgbClr val="66FF33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6405" name="Line 24">
              <a:extLst>
                <a:ext uri="{FF2B5EF4-FFF2-40B4-BE49-F238E27FC236}">
                  <a16:creationId xmlns:a16="http://schemas.microsoft.com/office/drawing/2014/main" id="{CF6CF551-A67A-22AF-1EED-9BC1587D9F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52988" y="4208463"/>
              <a:ext cx="2514600" cy="0"/>
            </a:xfrm>
            <a:prstGeom prst="line">
              <a:avLst/>
            </a:prstGeom>
            <a:noFill/>
            <a:ln w="19050">
              <a:solidFill>
                <a:srgbClr val="66FF33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graphicFrame>
          <p:nvGraphicFramePr>
            <p:cNvPr id="16406" name="Object 25">
              <a:extLst>
                <a:ext uri="{FF2B5EF4-FFF2-40B4-BE49-F238E27FC236}">
                  <a16:creationId xmlns:a16="http://schemas.microsoft.com/office/drawing/2014/main" id="{5D16C998-BB8D-5137-D8EB-865B7A5BEB4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512050" y="2606675"/>
            <a:ext cx="155575" cy="174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175262" imgH="190512" progId="Equation.3">
                    <p:embed/>
                  </p:oleObj>
                </mc:Choice>
                <mc:Fallback>
                  <p:oleObj name="公式" r:id="rId19" imgW="175262" imgH="190512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12050" y="2606675"/>
                          <a:ext cx="155575" cy="1746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7" name="Object 26">
              <a:extLst>
                <a:ext uri="{FF2B5EF4-FFF2-40B4-BE49-F238E27FC236}">
                  <a16:creationId xmlns:a16="http://schemas.microsoft.com/office/drawing/2014/main" id="{1FE828D6-2F0A-AC99-0512-418C1F8AC3D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334250" y="1531938"/>
            <a:ext cx="1054100" cy="3127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1" imgW="1295341" imgH="365688" progId="Equation.3">
                    <p:embed/>
                  </p:oleObj>
                </mc:Choice>
                <mc:Fallback>
                  <p:oleObj name="公式" r:id="rId21" imgW="1295341" imgH="365688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34250" y="1531938"/>
                          <a:ext cx="1054100" cy="3127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8" name="Object 27">
              <a:extLst>
                <a:ext uri="{FF2B5EF4-FFF2-40B4-BE49-F238E27FC236}">
                  <a16:creationId xmlns:a16="http://schemas.microsoft.com/office/drawing/2014/main" id="{34800850-08B3-D783-CEF9-A29E598D49B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094413" y="4260850"/>
            <a:ext cx="206375" cy="247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3" imgW="213297" imgH="281880" progId="Equation.3">
                    <p:embed/>
                  </p:oleObj>
                </mc:Choice>
                <mc:Fallback>
                  <p:oleObj name="公式" r:id="rId23" imgW="213297" imgH="281880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94413" y="4260850"/>
                          <a:ext cx="206375" cy="2476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9" name="Object 28">
              <a:extLst>
                <a:ext uri="{FF2B5EF4-FFF2-40B4-BE49-F238E27FC236}">
                  <a16:creationId xmlns:a16="http://schemas.microsoft.com/office/drawing/2014/main" id="{C3A493A8-C19C-2F62-F3B7-12C7C7791A9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667625" y="3892550"/>
            <a:ext cx="174625" cy="184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5" imgW="190606" imgH="205848" progId="Equation.3">
                    <p:embed/>
                  </p:oleObj>
                </mc:Choice>
                <mc:Fallback>
                  <p:oleObj name="公式" r:id="rId25" imgW="190606" imgH="205848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67625" y="3892550"/>
                          <a:ext cx="174625" cy="1841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10" name="Line 29">
              <a:extLst>
                <a:ext uri="{FF2B5EF4-FFF2-40B4-BE49-F238E27FC236}">
                  <a16:creationId xmlns:a16="http://schemas.microsoft.com/office/drawing/2014/main" id="{91168E46-D614-921B-D2B2-EF3669A92F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38800" y="2009775"/>
              <a:ext cx="1781175" cy="1398588"/>
            </a:xfrm>
            <a:prstGeom prst="line">
              <a:avLst/>
            </a:prstGeom>
            <a:noFill/>
            <a:ln w="38100">
              <a:solidFill>
                <a:srgbClr val="66FF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graphicFrame>
          <p:nvGraphicFramePr>
            <p:cNvPr id="16411" name="Object 30">
              <a:extLst>
                <a:ext uri="{FF2B5EF4-FFF2-40B4-BE49-F238E27FC236}">
                  <a16:creationId xmlns:a16="http://schemas.microsoft.com/office/drawing/2014/main" id="{12D2A8CE-E53B-FCEB-98D0-766D4C9CA17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775450" y="2565400"/>
            <a:ext cx="173038" cy="214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7" imgW="190606" imgH="243864" progId="Equation.3">
                    <p:embed/>
                  </p:oleObj>
                </mc:Choice>
                <mc:Fallback>
                  <p:oleObj name="公式" r:id="rId27" imgW="190606" imgH="243864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75450" y="2565400"/>
                          <a:ext cx="173038" cy="214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12" name="Object 31">
              <a:extLst>
                <a:ext uri="{FF2B5EF4-FFF2-40B4-BE49-F238E27FC236}">
                  <a16:creationId xmlns:a16="http://schemas.microsoft.com/office/drawing/2014/main" id="{3392A9A1-28CB-151C-19CD-2DD50E0B80D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227763" y="2995613"/>
            <a:ext cx="288925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9" imgW="98977" imgH="129600" progId="Equation.3">
                    <p:embed/>
                  </p:oleObj>
                </mc:Choice>
                <mc:Fallback>
                  <p:oleObj name="公式" r:id="rId29" imgW="98977" imgH="129600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27763" y="2995613"/>
                          <a:ext cx="288925" cy="336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13" name="Object 32">
              <a:extLst>
                <a:ext uri="{FF2B5EF4-FFF2-40B4-BE49-F238E27FC236}">
                  <a16:creationId xmlns:a16="http://schemas.microsoft.com/office/drawing/2014/main" id="{48CC9A4F-18E0-A671-C222-0075C8AF9999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797550" y="3525838"/>
            <a:ext cx="214313" cy="1825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1" imgW="243768" imgH="205848" progId="Equation.3">
                    <p:embed/>
                  </p:oleObj>
                </mc:Choice>
                <mc:Fallback>
                  <p:oleObj name="公式" r:id="rId31" imgW="243768" imgH="205848" progId="Equation.3">
                    <p:embed/>
                    <p:pic>
                      <p:nvPicPr>
                        <p:cNvPr id="0" name="Object 3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97550" y="3525838"/>
                          <a:ext cx="214313" cy="1825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14" name="Object 33">
              <a:extLst>
                <a:ext uri="{FF2B5EF4-FFF2-40B4-BE49-F238E27FC236}">
                  <a16:creationId xmlns:a16="http://schemas.microsoft.com/office/drawing/2014/main" id="{8CC13965-1231-6B5F-40C5-0A4E6A76F66C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761038" y="2605088"/>
            <a:ext cx="160337" cy="247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3" imgW="175262" imgH="281880" progId="Equation.3">
                    <p:embed/>
                  </p:oleObj>
                </mc:Choice>
                <mc:Fallback>
                  <p:oleObj name="公式" r:id="rId33" imgW="175262" imgH="281880" progId="Equation.3">
                    <p:embed/>
                    <p:pic>
                      <p:nvPicPr>
                        <p:cNvPr id="0" name="Object 3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1038" y="2605088"/>
                          <a:ext cx="160337" cy="2476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15" name="Text Box 35">
              <a:extLst>
                <a:ext uri="{FF2B5EF4-FFF2-40B4-BE49-F238E27FC236}">
                  <a16:creationId xmlns:a16="http://schemas.microsoft.com/office/drawing/2014/main" id="{3186AA17-19EA-831C-567A-C7CA91B802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9988" y="3438525"/>
              <a:ext cx="950912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 sz="2000" b="1">
                  <a:solidFill>
                    <a:srgbClr val="66FF33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参考物</a:t>
              </a:r>
              <a:endParaRPr kumimoji="1" lang="zh-CN" altLang="en-US" sz="2000" b="1">
                <a:solidFill>
                  <a:schemeClr val="hlink"/>
                </a:solidFill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6416" name="Arc 36">
              <a:extLst>
                <a:ext uri="{FF2B5EF4-FFF2-40B4-BE49-F238E27FC236}">
                  <a16:creationId xmlns:a16="http://schemas.microsoft.com/office/drawing/2014/main" id="{A562D824-B272-D002-A1DE-C9C3A788305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511800" y="3170238"/>
              <a:ext cx="392113" cy="381000"/>
            </a:xfrm>
            <a:custGeom>
              <a:avLst/>
              <a:gdLst>
                <a:gd name="T0" fmla="*/ 0 w 22198"/>
                <a:gd name="T1" fmla="*/ 2147483646 h 21600"/>
                <a:gd name="T2" fmla="*/ 2147483646 w 22198"/>
                <a:gd name="T3" fmla="*/ 2147483646 h 21600"/>
                <a:gd name="T4" fmla="*/ 2147483646 w 22198"/>
                <a:gd name="T5" fmla="*/ 2147483646 h 21600"/>
                <a:gd name="T6" fmla="*/ 0 60000 65536"/>
                <a:gd name="T7" fmla="*/ 0 60000 65536"/>
                <a:gd name="T8" fmla="*/ 0 60000 65536"/>
                <a:gd name="T9" fmla="*/ 0 w 22198"/>
                <a:gd name="T10" fmla="*/ 0 h 21600"/>
                <a:gd name="T11" fmla="*/ 22198 w 2219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198" h="21600" fill="none" extrusionOk="0">
                  <a:moveTo>
                    <a:pt x="-1" y="14"/>
                  </a:moveTo>
                  <a:cubicBezTo>
                    <a:pt x="266" y="4"/>
                    <a:pt x="532" y="-1"/>
                    <a:pt x="799" y="0"/>
                  </a:cubicBezTo>
                  <a:cubicBezTo>
                    <a:pt x="11591" y="0"/>
                    <a:pt x="20727" y="7966"/>
                    <a:pt x="22197" y="18658"/>
                  </a:cubicBezTo>
                </a:path>
                <a:path w="22198" h="21600" stroke="0" extrusionOk="0">
                  <a:moveTo>
                    <a:pt x="-1" y="14"/>
                  </a:moveTo>
                  <a:cubicBezTo>
                    <a:pt x="266" y="4"/>
                    <a:pt x="532" y="-1"/>
                    <a:pt x="799" y="0"/>
                  </a:cubicBezTo>
                  <a:cubicBezTo>
                    <a:pt x="11591" y="0"/>
                    <a:pt x="20727" y="7966"/>
                    <a:pt x="22197" y="18658"/>
                  </a:cubicBezTo>
                  <a:lnTo>
                    <a:pt x="799" y="21600"/>
                  </a:lnTo>
                  <a:lnTo>
                    <a:pt x="-1" y="14"/>
                  </a:lnTo>
                  <a:close/>
                </a:path>
              </a:pathLst>
            </a:cu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17" name="Arc 37">
              <a:extLst>
                <a:ext uri="{FF2B5EF4-FFF2-40B4-BE49-F238E27FC236}">
                  <a16:creationId xmlns:a16="http://schemas.microsoft.com/office/drawing/2014/main" id="{DF6097CB-B097-D3F3-1453-049C34A65291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9950" y="3125788"/>
              <a:ext cx="152400" cy="292100"/>
            </a:xfrm>
            <a:custGeom>
              <a:avLst/>
              <a:gdLst>
                <a:gd name="T0" fmla="*/ 2147483646 w 21575"/>
                <a:gd name="T1" fmla="*/ 0 h 20740"/>
                <a:gd name="T2" fmla="*/ 2147483646 w 21575"/>
                <a:gd name="T3" fmla="*/ 2147483646 h 20740"/>
                <a:gd name="T4" fmla="*/ 0 w 21575"/>
                <a:gd name="T5" fmla="*/ 2147483646 h 20740"/>
                <a:gd name="T6" fmla="*/ 0 60000 65536"/>
                <a:gd name="T7" fmla="*/ 0 60000 65536"/>
                <a:gd name="T8" fmla="*/ 0 60000 65536"/>
                <a:gd name="T9" fmla="*/ 0 w 21575"/>
                <a:gd name="T10" fmla="*/ 0 h 20740"/>
                <a:gd name="T11" fmla="*/ 21575 w 21575"/>
                <a:gd name="T12" fmla="*/ 20740 h 207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75" h="20740" fill="none" extrusionOk="0">
                  <a:moveTo>
                    <a:pt x="6034" y="-1"/>
                  </a:moveTo>
                  <a:cubicBezTo>
                    <a:pt x="14886" y="2575"/>
                    <a:pt x="21128" y="10486"/>
                    <a:pt x="21574" y="19695"/>
                  </a:cubicBezTo>
                </a:path>
                <a:path w="21575" h="20740" stroke="0" extrusionOk="0">
                  <a:moveTo>
                    <a:pt x="6034" y="-1"/>
                  </a:moveTo>
                  <a:cubicBezTo>
                    <a:pt x="14886" y="2575"/>
                    <a:pt x="21128" y="10486"/>
                    <a:pt x="21574" y="19695"/>
                  </a:cubicBezTo>
                  <a:lnTo>
                    <a:pt x="0" y="20740"/>
                  </a:lnTo>
                  <a:lnTo>
                    <a:pt x="6034" y="-1"/>
                  </a:lnTo>
                  <a:close/>
                </a:path>
              </a:pathLst>
            </a:custGeom>
            <a:noFill/>
            <a:ln w="2857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18" name="Arc 38">
              <a:extLst>
                <a:ext uri="{FF2B5EF4-FFF2-40B4-BE49-F238E27FC236}">
                  <a16:creationId xmlns:a16="http://schemas.microsoft.com/office/drawing/2014/main" id="{83092E25-3375-C90C-6500-9B916621D7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8800" y="2852738"/>
              <a:ext cx="425450" cy="307975"/>
            </a:xfrm>
            <a:custGeom>
              <a:avLst/>
              <a:gdLst>
                <a:gd name="T0" fmla="*/ 0 w 20578"/>
                <a:gd name="T1" fmla="*/ 0 h 21600"/>
                <a:gd name="T2" fmla="*/ 2147483646 w 20578"/>
                <a:gd name="T3" fmla="*/ 2147483646 h 21600"/>
                <a:gd name="T4" fmla="*/ 0 w 20578"/>
                <a:gd name="T5" fmla="*/ 2147483646 h 21600"/>
                <a:gd name="T6" fmla="*/ 0 60000 65536"/>
                <a:gd name="T7" fmla="*/ 0 60000 65536"/>
                <a:gd name="T8" fmla="*/ 0 60000 65536"/>
                <a:gd name="T9" fmla="*/ 0 w 20578"/>
                <a:gd name="T10" fmla="*/ 0 h 21600"/>
                <a:gd name="T11" fmla="*/ 20578 w 2057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578" h="21600" fill="none" extrusionOk="0">
                  <a:moveTo>
                    <a:pt x="-1" y="0"/>
                  </a:moveTo>
                  <a:cubicBezTo>
                    <a:pt x="9399" y="0"/>
                    <a:pt x="17719" y="6078"/>
                    <a:pt x="20577" y="15033"/>
                  </a:cubicBezTo>
                </a:path>
                <a:path w="20578" h="21600" stroke="0" extrusionOk="0">
                  <a:moveTo>
                    <a:pt x="-1" y="0"/>
                  </a:moveTo>
                  <a:cubicBezTo>
                    <a:pt x="9399" y="0"/>
                    <a:pt x="17719" y="6078"/>
                    <a:pt x="20577" y="15033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66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19" name="Line 39">
              <a:extLst>
                <a:ext uri="{FF2B5EF4-FFF2-40B4-BE49-F238E27FC236}">
                  <a16:creationId xmlns:a16="http://schemas.microsoft.com/office/drawing/2014/main" id="{983D8FE5-47B3-B814-1B5F-F4E33333CD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38800" y="1217613"/>
              <a:ext cx="1812925" cy="771525"/>
            </a:xfrm>
            <a:prstGeom prst="line">
              <a:avLst/>
            </a:prstGeom>
            <a:noFill/>
            <a:ln w="19050">
              <a:solidFill>
                <a:srgbClr val="66FF33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20" name="Line 40">
              <a:extLst>
                <a:ext uri="{FF2B5EF4-FFF2-40B4-BE49-F238E27FC236}">
                  <a16:creationId xmlns:a16="http://schemas.microsoft.com/office/drawing/2014/main" id="{F4FAB8C6-ADFF-AC2A-156E-DE04A72D70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72350" y="3429000"/>
              <a:ext cx="652463" cy="798513"/>
            </a:xfrm>
            <a:prstGeom prst="line">
              <a:avLst/>
            </a:prstGeom>
            <a:noFill/>
            <a:ln w="19050">
              <a:solidFill>
                <a:srgbClr val="66FF33"/>
              </a:solidFill>
              <a:prstDash val="dash"/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6421" name="Oval 42">
              <a:extLst>
                <a:ext uri="{FF2B5EF4-FFF2-40B4-BE49-F238E27FC236}">
                  <a16:creationId xmlns:a16="http://schemas.microsoft.com/office/drawing/2014/main" id="{D2D62D71-A16D-85EB-E34D-39F5EDCD67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66000" y="1935163"/>
              <a:ext cx="144463" cy="14446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9" grpId="0"/>
      <p:bldP spid="718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reeform 6">
            <a:extLst>
              <a:ext uri="{FF2B5EF4-FFF2-40B4-BE49-F238E27FC236}">
                <a16:creationId xmlns:a16="http://schemas.microsoft.com/office/drawing/2014/main" id="{691A73A7-6701-8DCC-028F-EC3EC6EFCD30}"/>
              </a:ext>
            </a:extLst>
          </p:cNvPr>
          <p:cNvSpPr>
            <a:spLocks/>
          </p:cNvSpPr>
          <p:nvPr/>
        </p:nvSpPr>
        <p:spPr bwMode="auto">
          <a:xfrm>
            <a:off x="1895475" y="4076700"/>
            <a:ext cx="4329113" cy="1657350"/>
          </a:xfrm>
          <a:custGeom>
            <a:avLst/>
            <a:gdLst>
              <a:gd name="T0" fmla="*/ 2147483646 w 2727"/>
              <a:gd name="T1" fmla="*/ 2147483646 h 1044"/>
              <a:gd name="T2" fmla="*/ 2147483646 w 2727"/>
              <a:gd name="T3" fmla="*/ 2147483646 h 1044"/>
              <a:gd name="T4" fmla="*/ 2147483646 w 2727"/>
              <a:gd name="T5" fmla="*/ 2147483646 h 1044"/>
              <a:gd name="T6" fmla="*/ 2147483646 w 2727"/>
              <a:gd name="T7" fmla="*/ 2147483646 h 1044"/>
              <a:gd name="T8" fmla="*/ 2147483646 w 2727"/>
              <a:gd name="T9" fmla="*/ 2147483646 h 1044"/>
              <a:gd name="T10" fmla="*/ 2147483646 w 2727"/>
              <a:gd name="T11" fmla="*/ 2147483646 h 1044"/>
              <a:gd name="T12" fmla="*/ 2147483646 w 2727"/>
              <a:gd name="T13" fmla="*/ 2147483646 h 1044"/>
              <a:gd name="T14" fmla="*/ 2147483646 w 2727"/>
              <a:gd name="T15" fmla="*/ 2147483646 h 1044"/>
              <a:gd name="T16" fmla="*/ 2147483646 w 2727"/>
              <a:gd name="T17" fmla="*/ 2147483646 h 1044"/>
              <a:gd name="T18" fmla="*/ 2147483646 w 2727"/>
              <a:gd name="T19" fmla="*/ 2147483646 h 1044"/>
              <a:gd name="T20" fmla="*/ 2147483646 w 2727"/>
              <a:gd name="T21" fmla="*/ 2147483646 h 1044"/>
              <a:gd name="T22" fmla="*/ 2147483646 w 2727"/>
              <a:gd name="T23" fmla="*/ 2147483646 h 1044"/>
              <a:gd name="T24" fmla="*/ 2147483646 w 2727"/>
              <a:gd name="T25" fmla="*/ 2147483646 h 1044"/>
              <a:gd name="T26" fmla="*/ 2147483646 w 2727"/>
              <a:gd name="T27" fmla="*/ 2147483646 h 1044"/>
              <a:gd name="T28" fmla="*/ 2147483646 w 2727"/>
              <a:gd name="T29" fmla="*/ 2147483646 h 1044"/>
              <a:gd name="T30" fmla="*/ 0 w 2727"/>
              <a:gd name="T31" fmla="*/ 2147483646 h 1044"/>
              <a:gd name="T32" fmla="*/ 2147483646 w 2727"/>
              <a:gd name="T33" fmla="*/ 2147483646 h 1044"/>
              <a:gd name="T34" fmla="*/ 2147483646 w 2727"/>
              <a:gd name="T35" fmla="*/ 2147483646 h 1044"/>
              <a:gd name="T36" fmla="*/ 2147483646 w 2727"/>
              <a:gd name="T37" fmla="*/ 2147483646 h 1044"/>
              <a:gd name="T38" fmla="*/ 2147483646 w 2727"/>
              <a:gd name="T39" fmla="*/ 2147483646 h 1044"/>
              <a:gd name="T40" fmla="*/ 2147483646 w 2727"/>
              <a:gd name="T41" fmla="*/ 2147483646 h 1044"/>
              <a:gd name="T42" fmla="*/ 2147483646 w 2727"/>
              <a:gd name="T43" fmla="*/ 2147483646 h 1044"/>
              <a:gd name="T44" fmla="*/ 2147483646 w 2727"/>
              <a:gd name="T45" fmla="*/ 0 h 1044"/>
              <a:gd name="T46" fmla="*/ 2147483646 w 2727"/>
              <a:gd name="T47" fmla="*/ 2147483646 h 1044"/>
              <a:gd name="T48" fmla="*/ 2147483646 w 2727"/>
              <a:gd name="T49" fmla="*/ 2147483646 h 1044"/>
              <a:gd name="T50" fmla="*/ 2147483646 w 2727"/>
              <a:gd name="T51" fmla="*/ 2147483646 h 1044"/>
              <a:gd name="T52" fmla="*/ 2147483646 w 2727"/>
              <a:gd name="T53" fmla="*/ 2147483646 h 1044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w 2727"/>
              <a:gd name="T82" fmla="*/ 0 h 1044"/>
              <a:gd name="T83" fmla="*/ 2727 w 2727"/>
              <a:gd name="T84" fmla="*/ 1044 h 1044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T81" t="T82" r="T83" b="T84"/>
            <a:pathLst>
              <a:path w="2727" h="1044">
                <a:moveTo>
                  <a:pt x="2376" y="12"/>
                </a:moveTo>
                <a:cubicBezTo>
                  <a:pt x="2457" y="26"/>
                  <a:pt x="2524" y="51"/>
                  <a:pt x="2592" y="96"/>
                </a:cubicBezTo>
                <a:cubicBezTo>
                  <a:pt x="2661" y="200"/>
                  <a:pt x="2699" y="309"/>
                  <a:pt x="2724" y="432"/>
                </a:cubicBezTo>
                <a:cubicBezTo>
                  <a:pt x="2714" y="521"/>
                  <a:pt x="2727" y="714"/>
                  <a:pt x="2652" y="780"/>
                </a:cubicBezTo>
                <a:cubicBezTo>
                  <a:pt x="2577" y="845"/>
                  <a:pt x="2479" y="858"/>
                  <a:pt x="2388" y="888"/>
                </a:cubicBezTo>
                <a:cubicBezTo>
                  <a:pt x="2361" y="897"/>
                  <a:pt x="2340" y="920"/>
                  <a:pt x="2316" y="936"/>
                </a:cubicBezTo>
                <a:cubicBezTo>
                  <a:pt x="2156" y="1043"/>
                  <a:pt x="2393" y="889"/>
                  <a:pt x="2244" y="972"/>
                </a:cubicBezTo>
                <a:cubicBezTo>
                  <a:pt x="2216" y="987"/>
                  <a:pt x="2175" y="1028"/>
                  <a:pt x="2136" y="1032"/>
                </a:cubicBezTo>
                <a:cubicBezTo>
                  <a:pt x="2064" y="1039"/>
                  <a:pt x="1992" y="1040"/>
                  <a:pt x="1920" y="1044"/>
                </a:cubicBezTo>
                <a:cubicBezTo>
                  <a:pt x="1630" y="1037"/>
                  <a:pt x="1504" y="1028"/>
                  <a:pt x="1260" y="1008"/>
                </a:cubicBezTo>
                <a:cubicBezTo>
                  <a:pt x="1111" y="958"/>
                  <a:pt x="960" y="931"/>
                  <a:pt x="804" y="912"/>
                </a:cubicBezTo>
                <a:cubicBezTo>
                  <a:pt x="754" y="895"/>
                  <a:pt x="699" y="863"/>
                  <a:pt x="648" y="852"/>
                </a:cubicBezTo>
                <a:cubicBezTo>
                  <a:pt x="490" y="817"/>
                  <a:pt x="345" y="812"/>
                  <a:pt x="180" y="804"/>
                </a:cubicBezTo>
                <a:cubicBezTo>
                  <a:pt x="164" y="800"/>
                  <a:pt x="148" y="797"/>
                  <a:pt x="132" y="792"/>
                </a:cubicBezTo>
                <a:cubicBezTo>
                  <a:pt x="108" y="785"/>
                  <a:pt x="60" y="768"/>
                  <a:pt x="60" y="768"/>
                </a:cubicBezTo>
                <a:cubicBezTo>
                  <a:pt x="1" y="679"/>
                  <a:pt x="18" y="724"/>
                  <a:pt x="0" y="636"/>
                </a:cubicBezTo>
                <a:cubicBezTo>
                  <a:pt x="12" y="544"/>
                  <a:pt x="10" y="359"/>
                  <a:pt x="84" y="276"/>
                </a:cubicBezTo>
                <a:cubicBezTo>
                  <a:pt x="118" y="238"/>
                  <a:pt x="164" y="210"/>
                  <a:pt x="192" y="168"/>
                </a:cubicBezTo>
                <a:cubicBezTo>
                  <a:pt x="220" y="125"/>
                  <a:pt x="281" y="64"/>
                  <a:pt x="336" y="60"/>
                </a:cubicBezTo>
                <a:cubicBezTo>
                  <a:pt x="424" y="53"/>
                  <a:pt x="512" y="52"/>
                  <a:pt x="600" y="48"/>
                </a:cubicBezTo>
                <a:cubicBezTo>
                  <a:pt x="640" y="44"/>
                  <a:pt x="680" y="43"/>
                  <a:pt x="720" y="36"/>
                </a:cubicBezTo>
                <a:cubicBezTo>
                  <a:pt x="745" y="31"/>
                  <a:pt x="768" y="20"/>
                  <a:pt x="792" y="12"/>
                </a:cubicBezTo>
                <a:cubicBezTo>
                  <a:pt x="804" y="8"/>
                  <a:pt x="828" y="0"/>
                  <a:pt x="828" y="0"/>
                </a:cubicBezTo>
                <a:cubicBezTo>
                  <a:pt x="965" y="9"/>
                  <a:pt x="1089" y="33"/>
                  <a:pt x="1224" y="48"/>
                </a:cubicBezTo>
                <a:cubicBezTo>
                  <a:pt x="1276" y="65"/>
                  <a:pt x="1326" y="75"/>
                  <a:pt x="1380" y="84"/>
                </a:cubicBezTo>
                <a:cubicBezTo>
                  <a:pt x="1631" y="61"/>
                  <a:pt x="1884" y="56"/>
                  <a:pt x="2136" y="48"/>
                </a:cubicBezTo>
                <a:cubicBezTo>
                  <a:pt x="2226" y="18"/>
                  <a:pt x="2282" y="12"/>
                  <a:pt x="2376" y="12"/>
                </a:cubicBezTo>
                <a:close/>
              </a:path>
            </a:pathLst>
          </a:custGeom>
          <a:solidFill>
            <a:schemeClr val="hlink">
              <a:alpha val="50195"/>
            </a:schemeClr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7" name="Rectangle 4">
            <a:extLst>
              <a:ext uri="{FF2B5EF4-FFF2-40B4-BE49-F238E27FC236}">
                <a16:creationId xmlns:a16="http://schemas.microsoft.com/office/drawing/2014/main" id="{8F59756C-363A-A926-E8E7-DAA439AC3E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4350" y="4819650"/>
            <a:ext cx="3619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4000" b="1">
                <a:solidFill>
                  <a:srgbClr val="66FF33"/>
                </a:solidFill>
                <a:latin typeface="Times New Roman" panose="02020603050405020304" pitchFamily="18" charset="0"/>
              </a:rPr>
              <a:t>•</a:t>
            </a:r>
            <a:endParaRPr kumimoji="1" lang="en-US" altLang="zh-CN" sz="40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68" name="Rectangle 5">
            <a:extLst>
              <a:ext uri="{FF2B5EF4-FFF2-40B4-BE49-F238E27FC236}">
                <a16:creationId xmlns:a16="http://schemas.microsoft.com/office/drawing/2014/main" id="{2D50497D-708F-9342-DD76-C7F995D42D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7075" y="4176713"/>
            <a:ext cx="3619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4000" b="1">
                <a:solidFill>
                  <a:srgbClr val="FFFF00"/>
                </a:solidFill>
                <a:latin typeface="Times New Roman" panose="02020603050405020304" pitchFamily="18" charset="0"/>
              </a:rPr>
              <a:t>•</a:t>
            </a:r>
            <a:endParaRPr kumimoji="1" lang="en-US" altLang="zh-CN" sz="40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37" name="Text Box 7">
            <a:extLst>
              <a:ext uri="{FF2B5EF4-FFF2-40B4-BE49-F238E27FC236}">
                <a16:creationId xmlns:a16="http://schemas.microsoft.com/office/drawing/2014/main" id="{DB19D1BB-92F7-0450-C150-E3EA788346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476250"/>
            <a:ext cx="3048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solidFill>
                  <a:srgbClr val="66FFFF"/>
                </a:solidFill>
                <a:latin typeface="Times New Roman" panose="02020603050405020304" pitchFamily="18" charset="0"/>
              </a:rPr>
              <a:t>3. </a:t>
            </a:r>
            <a:r>
              <a:rPr kumimoji="1" lang="zh-CN" altLang="en-US" sz="2800" b="1">
                <a:solidFill>
                  <a:srgbClr val="66FFFF"/>
                </a:solidFill>
                <a:latin typeface="Times New Roman" panose="02020603050405020304" pitchFamily="18" charset="0"/>
              </a:rPr>
              <a:t>自然坐标</a:t>
            </a:r>
            <a:r>
              <a:rPr kumimoji="1" lang="zh-CN" altLang="en-US" sz="2800" b="1">
                <a:solidFill>
                  <a:srgbClr val="66FFFF"/>
                </a:solidFill>
                <a:latin typeface="宋体" panose="02010600030101010101" pitchFamily="2" charset="-122"/>
              </a:rPr>
              <a:t>法</a:t>
            </a:r>
            <a:endParaRPr kumimoji="1" lang="zh-CN" altLang="en-US" sz="3200" b="1">
              <a:solidFill>
                <a:srgbClr val="66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38" name="Text Box 8">
            <a:extLst>
              <a:ext uri="{FF2B5EF4-FFF2-40B4-BE49-F238E27FC236}">
                <a16:creationId xmlns:a16="http://schemas.microsoft.com/office/drawing/2014/main" id="{B9E816DA-980C-69D2-E35A-BB5DFD3381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087438"/>
            <a:ext cx="763270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bg1"/>
                </a:solidFill>
                <a:latin typeface="宋体" panose="02010600030101010101" pitchFamily="2" charset="-122"/>
              </a:rPr>
              <a:t>已知质点相对参考系的运动轨迹时，常用自然法，其质点的运动轨迹往往可以由确定的解析函数表示出来：</a:t>
            </a:r>
          </a:p>
        </p:txBody>
      </p:sp>
      <p:graphicFrame>
        <p:nvGraphicFramePr>
          <p:cNvPr id="11271" name="Object 19">
            <a:extLst>
              <a:ext uri="{FF2B5EF4-FFF2-40B4-BE49-F238E27FC236}">
                <a16:creationId xmlns:a16="http://schemas.microsoft.com/office/drawing/2014/main" id="{5C731D9F-0689-7BE0-A2D1-EA41294FF2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0900" y="4762500"/>
          <a:ext cx="960438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18223" imgH="190512" progId="Equation.3">
                  <p:embed/>
                </p:oleObj>
              </mc:Choice>
              <mc:Fallback>
                <p:oleObj name="Equation" r:id="rId2" imgW="518223" imgH="190512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0900" y="4762500"/>
                        <a:ext cx="960438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2" name="Line 20">
            <a:extLst>
              <a:ext uri="{FF2B5EF4-FFF2-40B4-BE49-F238E27FC236}">
                <a16:creationId xmlns:a16="http://schemas.microsoft.com/office/drawing/2014/main" id="{4654C480-0C03-019B-BFC3-144CF01C5B24}"/>
              </a:ext>
            </a:extLst>
          </p:cNvPr>
          <p:cNvSpPr>
            <a:spLocks noChangeShapeType="1"/>
          </p:cNvSpPr>
          <p:nvPr/>
        </p:nvSpPr>
        <p:spPr bwMode="auto">
          <a:xfrm>
            <a:off x="3724275" y="4533900"/>
            <a:ext cx="381000" cy="304800"/>
          </a:xfrm>
          <a:prstGeom prst="line">
            <a:avLst/>
          </a:prstGeom>
          <a:noFill/>
          <a:ln w="38100">
            <a:solidFill>
              <a:srgbClr val="66FF33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1273" name="Object 21">
            <a:extLst>
              <a:ext uri="{FF2B5EF4-FFF2-40B4-BE49-F238E27FC236}">
                <a16:creationId xmlns:a16="http://schemas.microsoft.com/office/drawing/2014/main" id="{247FA989-49E4-0A5A-E5BB-44E2BC985C8D}"/>
              </a:ext>
            </a:extLst>
          </p:cNvPr>
          <p:cNvGraphicFramePr>
            <a:graphicFrameLocks/>
          </p:cNvGraphicFramePr>
          <p:nvPr/>
        </p:nvGraphicFramePr>
        <p:xfrm>
          <a:off x="3200400" y="4659313"/>
          <a:ext cx="215900" cy="280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9448" imgH="152496" progId="Equation.3">
                  <p:embed/>
                </p:oleObj>
              </mc:Choice>
              <mc:Fallback>
                <p:oleObj name="Equation" r:id="rId4" imgW="129448" imgH="152496" progId="Equation.3">
                  <p:embed/>
                  <p:pic>
                    <p:nvPicPr>
                      <p:cNvPr id="0" name="Object 21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659313"/>
                        <a:ext cx="215900" cy="280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4" name="Object 22">
            <a:extLst>
              <a:ext uri="{FF2B5EF4-FFF2-40B4-BE49-F238E27FC236}">
                <a16:creationId xmlns:a16="http://schemas.microsoft.com/office/drawing/2014/main" id="{D5CE4BB7-04DF-49E8-90E1-C25ACEB6A7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24275" y="4914900"/>
          <a:ext cx="288925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8977" imgH="129600" progId="Equation.3">
                  <p:embed/>
                </p:oleObj>
              </mc:Choice>
              <mc:Fallback>
                <p:oleObj name="Equation" r:id="rId6" imgW="98977" imgH="1296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4275" y="4914900"/>
                        <a:ext cx="288925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5" name="Object 23">
            <a:extLst>
              <a:ext uri="{FF2B5EF4-FFF2-40B4-BE49-F238E27FC236}">
                <a16:creationId xmlns:a16="http://schemas.microsoft.com/office/drawing/2014/main" id="{AA7196C8-A41A-372B-9183-C3BB985E6B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71963" y="5219700"/>
          <a:ext cx="347662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9448" imgH="137160" progId="Equation.3">
                  <p:embed/>
                </p:oleObj>
              </mc:Choice>
              <mc:Fallback>
                <p:oleObj name="Equation" r:id="rId8" imgW="129448" imgH="13716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1963" y="5219700"/>
                        <a:ext cx="347662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6" name="Object 24">
            <a:extLst>
              <a:ext uri="{FF2B5EF4-FFF2-40B4-BE49-F238E27FC236}">
                <a16:creationId xmlns:a16="http://schemas.microsoft.com/office/drawing/2014/main" id="{2E061242-E884-07B5-2860-18B3D02F76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21150" y="4537075"/>
          <a:ext cx="44132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7699" imgH="205848" progId="Equation.3">
                  <p:embed/>
                </p:oleObj>
              </mc:Choice>
              <mc:Fallback>
                <p:oleObj name="Equation" r:id="rId10" imgW="167699" imgH="205848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1150" y="4537075"/>
                        <a:ext cx="441325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5" name="Object 25">
            <a:extLst>
              <a:ext uri="{FF2B5EF4-FFF2-40B4-BE49-F238E27FC236}">
                <a16:creationId xmlns:a16="http://schemas.microsoft.com/office/drawing/2014/main" id="{35404878-1E7D-34D2-49F8-DEB54F7B50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65488" y="2744788"/>
          <a:ext cx="159385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27859" imgH="365688" progId="Equation.3">
                  <p:embed/>
                </p:oleObj>
              </mc:Choice>
              <mc:Fallback>
                <p:oleObj name="Equation" r:id="rId12" imgW="1127859" imgH="365688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5488" y="2744788"/>
                        <a:ext cx="1593850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8" name="Freeform 27">
            <a:extLst>
              <a:ext uri="{FF2B5EF4-FFF2-40B4-BE49-F238E27FC236}">
                <a16:creationId xmlns:a16="http://schemas.microsoft.com/office/drawing/2014/main" id="{8EF57124-66F8-1B77-439D-513CF903CE51}"/>
              </a:ext>
            </a:extLst>
          </p:cNvPr>
          <p:cNvSpPr>
            <a:spLocks/>
          </p:cNvSpPr>
          <p:nvPr/>
        </p:nvSpPr>
        <p:spPr bwMode="auto">
          <a:xfrm>
            <a:off x="2263775" y="4438650"/>
            <a:ext cx="3822700" cy="774700"/>
          </a:xfrm>
          <a:custGeom>
            <a:avLst/>
            <a:gdLst>
              <a:gd name="T0" fmla="*/ 0 w 2408"/>
              <a:gd name="T1" fmla="*/ 2147483646 h 488"/>
              <a:gd name="T2" fmla="*/ 2147483646 w 2408"/>
              <a:gd name="T3" fmla="*/ 2147483646 h 488"/>
              <a:gd name="T4" fmla="*/ 2147483646 w 2408"/>
              <a:gd name="T5" fmla="*/ 2147483646 h 488"/>
              <a:gd name="T6" fmla="*/ 2147483646 w 2408"/>
              <a:gd name="T7" fmla="*/ 2147483646 h 488"/>
              <a:gd name="T8" fmla="*/ 2147483646 w 2408"/>
              <a:gd name="T9" fmla="*/ 2147483646 h 488"/>
              <a:gd name="T10" fmla="*/ 2147483646 w 2408"/>
              <a:gd name="T11" fmla="*/ 2147483646 h 488"/>
              <a:gd name="T12" fmla="*/ 2147483646 w 2408"/>
              <a:gd name="T13" fmla="*/ 2147483646 h 488"/>
              <a:gd name="T14" fmla="*/ 2147483646 w 2408"/>
              <a:gd name="T15" fmla="*/ 2147483646 h 48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2408"/>
              <a:gd name="T25" fmla="*/ 0 h 488"/>
              <a:gd name="T26" fmla="*/ 2408 w 2408"/>
              <a:gd name="T27" fmla="*/ 488 h 48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408" h="488">
                <a:moveTo>
                  <a:pt x="0" y="118"/>
                </a:moveTo>
                <a:cubicBezTo>
                  <a:pt x="72" y="100"/>
                  <a:pt x="302" y="14"/>
                  <a:pt x="431" y="7"/>
                </a:cubicBezTo>
                <a:cubicBezTo>
                  <a:pt x="560" y="0"/>
                  <a:pt x="647" y="9"/>
                  <a:pt x="772" y="73"/>
                </a:cubicBezTo>
                <a:cubicBezTo>
                  <a:pt x="897" y="137"/>
                  <a:pt x="1051" y="322"/>
                  <a:pt x="1180" y="390"/>
                </a:cubicBezTo>
                <a:cubicBezTo>
                  <a:pt x="1309" y="458"/>
                  <a:pt x="1394" y="488"/>
                  <a:pt x="1543" y="481"/>
                </a:cubicBezTo>
                <a:cubicBezTo>
                  <a:pt x="1692" y="474"/>
                  <a:pt x="1939" y="387"/>
                  <a:pt x="2075" y="349"/>
                </a:cubicBezTo>
                <a:cubicBezTo>
                  <a:pt x="2211" y="311"/>
                  <a:pt x="2310" y="272"/>
                  <a:pt x="2359" y="254"/>
                </a:cubicBezTo>
                <a:cubicBezTo>
                  <a:pt x="2408" y="236"/>
                  <a:pt x="2367" y="244"/>
                  <a:pt x="2369" y="241"/>
                </a:cubicBezTo>
              </a:path>
            </a:pathLst>
          </a:custGeom>
          <a:noFill/>
          <a:ln w="19050">
            <a:solidFill>
              <a:srgbClr val="FFFF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/>
      <p:bldP spid="1126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9">
            <a:extLst>
              <a:ext uri="{FF2B5EF4-FFF2-40B4-BE49-F238E27FC236}">
                <a16:creationId xmlns:a16="http://schemas.microsoft.com/office/drawing/2014/main" id="{178C58D9-5CC4-5403-A49F-0B82F23EF1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404813"/>
            <a:ext cx="3429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rgbClr val="FFC000"/>
                </a:solidFill>
                <a:latin typeface="宋体" panose="02010600030101010101" pitchFamily="2" charset="-122"/>
              </a:rPr>
              <a:t>三、运动学方程</a:t>
            </a:r>
            <a:endParaRPr kumimoji="1" lang="en-US" altLang="zh-CN" sz="2800">
              <a:solidFill>
                <a:srgbClr val="FFC000"/>
              </a:solidFill>
              <a:latin typeface="宋体" panose="02010600030101010101" pitchFamily="2" charset="-122"/>
            </a:endParaRPr>
          </a:p>
        </p:txBody>
      </p:sp>
      <p:sp>
        <p:nvSpPr>
          <p:cNvPr id="8202" name="Text Box 10">
            <a:extLst>
              <a:ext uri="{FF2B5EF4-FFF2-40B4-BE49-F238E27FC236}">
                <a16:creationId xmlns:a16="http://schemas.microsoft.com/office/drawing/2014/main" id="{6B182425-E6A4-BCEE-6CE3-B5D7AE0D58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563" y="3621088"/>
            <a:ext cx="2209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直角坐标下</a:t>
            </a:r>
          </a:p>
        </p:txBody>
      </p:sp>
      <p:graphicFrame>
        <p:nvGraphicFramePr>
          <p:cNvPr id="8203" name="Object 11">
            <a:extLst>
              <a:ext uri="{FF2B5EF4-FFF2-40B4-BE49-F238E27FC236}">
                <a16:creationId xmlns:a16="http://schemas.microsoft.com/office/drawing/2014/main" id="{D42BB45A-E2E2-E8DC-47F2-725E0CD6E2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67025" y="3694113"/>
          <a:ext cx="1119188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89608" imgH="365688" progId="Equation.3">
                  <p:embed/>
                </p:oleObj>
              </mc:Choice>
              <mc:Fallback>
                <p:oleObj name="Equation" r:id="rId2" imgW="1089608" imgH="365688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7025" y="3694113"/>
                        <a:ext cx="1119188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4" name="Object 12">
            <a:extLst>
              <a:ext uri="{FF2B5EF4-FFF2-40B4-BE49-F238E27FC236}">
                <a16:creationId xmlns:a16="http://schemas.microsoft.com/office/drawing/2014/main" id="{8F5DB352-3D1F-F001-E566-0F0D43C6FE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95813" y="3694113"/>
          <a:ext cx="1169987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50550" imgH="365688" progId="Equation.3">
                  <p:embed/>
                </p:oleObj>
              </mc:Choice>
              <mc:Fallback>
                <p:oleObj name="Equation" r:id="rId4" imgW="1150550" imgH="365688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5813" y="3694113"/>
                        <a:ext cx="1169987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5" name="Object 13">
            <a:extLst>
              <a:ext uri="{FF2B5EF4-FFF2-40B4-BE49-F238E27FC236}">
                <a16:creationId xmlns:a16="http://schemas.microsoft.com/office/drawing/2014/main" id="{0AA7854B-E101-D15C-9F1A-8B2EB647E2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67475" y="3694113"/>
          <a:ext cx="1093788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74481" imgH="365688" progId="Equation.3">
                  <p:embed/>
                </p:oleObj>
              </mc:Choice>
              <mc:Fallback>
                <p:oleObj name="Equation" r:id="rId6" imgW="1074481" imgH="365688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7475" y="3694113"/>
                        <a:ext cx="1093788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3" name="Object 14">
            <a:extLst>
              <a:ext uri="{FF2B5EF4-FFF2-40B4-BE49-F238E27FC236}">
                <a16:creationId xmlns:a16="http://schemas.microsoft.com/office/drawing/2014/main" id="{B87D4F4F-AC39-6BDA-C8D0-96FC1E22B7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0213" y="2132013"/>
          <a:ext cx="5049837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351085" imgH="419040" progId="Equation.3">
                  <p:embed/>
                </p:oleObj>
              </mc:Choice>
              <mc:Fallback>
                <p:oleObj name="公式" r:id="rId8" imgW="4351085" imgH="41904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213" y="2132013"/>
                        <a:ext cx="5049837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7" name="Text Box 15">
            <a:extLst>
              <a:ext uri="{FF2B5EF4-FFF2-40B4-BE49-F238E27FC236}">
                <a16:creationId xmlns:a16="http://schemas.microsoft.com/office/drawing/2014/main" id="{CEE826FD-DA59-4E55-FA6F-2210C3837C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463" y="514985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自然坐标下</a:t>
            </a:r>
          </a:p>
        </p:txBody>
      </p:sp>
      <p:graphicFrame>
        <p:nvGraphicFramePr>
          <p:cNvPr id="8208" name="Object 16">
            <a:extLst>
              <a:ext uri="{FF2B5EF4-FFF2-40B4-BE49-F238E27FC236}">
                <a16:creationId xmlns:a16="http://schemas.microsoft.com/office/drawing/2014/main" id="{1E49D2C5-16F2-3C48-9566-6D71072DCF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9550" y="5207000"/>
          <a:ext cx="1158875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27859" imgH="365688" progId="Equation.3">
                  <p:embed/>
                </p:oleObj>
              </mc:Choice>
              <mc:Fallback>
                <p:oleObj name="Equation" r:id="rId10" imgW="1127859" imgH="365688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9550" y="5207000"/>
                        <a:ext cx="1158875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9" name="Text Box 17">
            <a:extLst>
              <a:ext uri="{FF2B5EF4-FFF2-40B4-BE49-F238E27FC236}">
                <a16:creationId xmlns:a16="http://schemas.microsoft.com/office/drawing/2014/main" id="{1AAE6137-BFFC-381D-5EB5-AF97A0282F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000" y="5783263"/>
            <a:ext cx="7467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已知运动学方程，可求质点运动轨迹、速度和加速度</a:t>
            </a:r>
          </a:p>
        </p:txBody>
      </p:sp>
      <p:sp>
        <p:nvSpPr>
          <p:cNvPr id="8218" name="Rectangle 26">
            <a:extLst>
              <a:ext uri="{FF2B5EF4-FFF2-40B4-BE49-F238E27FC236}">
                <a16:creationId xmlns:a16="http://schemas.microsoft.com/office/drawing/2014/main" id="{AD815627-947E-33BA-7199-CF13A2477B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575" y="5784850"/>
            <a:ext cx="895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</a:rPr>
              <a:t>意义</a:t>
            </a:r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</a:rPr>
              <a:t>: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4A4484D-ACFF-2D9C-5269-03C7E5813702}"/>
              </a:ext>
            </a:extLst>
          </p:cNvPr>
          <p:cNvSpPr/>
          <p:nvPr/>
        </p:nvSpPr>
        <p:spPr>
          <a:xfrm>
            <a:off x="506413" y="1125538"/>
            <a:ext cx="4857750" cy="954087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zh-CN" sz="2800" b="1" dirty="0">
                <a:solidFill>
                  <a:schemeClr val="accent3"/>
                </a:solidFill>
                <a:latin typeface="Arial" charset="0"/>
              </a:rPr>
              <a:t>当质点在空间移动时，质点的位置矢量随时间发生变化：</a:t>
            </a:r>
            <a:endParaRPr lang="zh-CN" altLang="en-US" sz="2800" b="1" dirty="0">
              <a:solidFill>
                <a:schemeClr val="accent3"/>
              </a:solidFill>
              <a:latin typeface="Arial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2104182-0ED2-7EAB-F7A9-2DA1AAF4D0B7}"/>
              </a:ext>
            </a:extLst>
          </p:cNvPr>
          <p:cNvSpPr/>
          <p:nvPr/>
        </p:nvSpPr>
        <p:spPr>
          <a:xfrm>
            <a:off x="536575" y="2841625"/>
            <a:ext cx="4151313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zh-CN" sz="2800" b="1" dirty="0">
                <a:solidFill>
                  <a:schemeClr val="accent3"/>
                </a:solidFill>
                <a:latin typeface="Arial" charset="0"/>
              </a:rPr>
              <a:t>这就是质点的</a:t>
            </a:r>
            <a:r>
              <a:rPr lang="zh-CN" altLang="zh-CN" sz="2800" b="1" dirty="0">
                <a:solidFill>
                  <a:srgbClr val="FFC000"/>
                </a:solidFill>
                <a:latin typeface="Arial" charset="0"/>
              </a:rPr>
              <a:t>运动学方程</a:t>
            </a:r>
            <a:endParaRPr lang="zh-CN" altLang="en-US" sz="2800" b="1" dirty="0">
              <a:solidFill>
                <a:srgbClr val="FFC000"/>
              </a:solidFill>
              <a:latin typeface="Arial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2AD3710-E3B1-E5E8-FBF8-E85295C72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13" y="4379913"/>
            <a:ext cx="63722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直角坐标系的特点：三个基矢量的方向不变。</a:t>
            </a:r>
          </a:p>
        </p:txBody>
      </p:sp>
      <p:pic>
        <p:nvPicPr>
          <p:cNvPr id="19471" name="图片 5">
            <a:extLst>
              <a:ext uri="{FF2B5EF4-FFF2-40B4-BE49-F238E27FC236}">
                <a16:creationId xmlns:a16="http://schemas.microsoft.com/office/drawing/2014/main" id="{E75DE0CE-C25C-2F16-D912-B888BFD899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7763" y="25400"/>
            <a:ext cx="2835275" cy="343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2" grpId="0"/>
      <p:bldP spid="8207" grpId="0"/>
      <p:bldP spid="8209" grpId="0"/>
      <p:bldP spid="8218" grpId="0"/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7" name="Rectangle 27">
            <a:extLst>
              <a:ext uri="{FF2B5EF4-FFF2-40B4-BE49-F238E27FC236}">
                <a16:creationId xmlns:a16="http://schemas.microsoft.com/office/drawing/2014/main" id="{57E073D8-6A2C-5F55-FDAD-A00C43A62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1075" y="2781300"/>
            <a:ext cx="4016375" cy="14287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C6922F3F-8E45-73B8-2658-E728A29E1C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914400"/>
            <a:ext cx="1295400" cy="2057400"/>
          </a:xfrm>
          <a:prstGeom prst="rect">
            <a:avLst/>
          </a:prstGeom>
          <a:solidFill>
            <a:schemeClr val="folHlink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245" name="Text Box 5">
            <a:extLst>
              <a:ext uri="{FF2B5EF4-FFF2-40B4-BE49-F238E27FC236}">
                <a16:creationId xmlns:a16="http://schemas.microsoft.com/office/drawing/2014/main" id="{969D2D89-22F8-7165-1903-E09C7FD92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5400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</a:rPr>
              <a:t>求</a:t>
            </a:r>
            <a:endParaRPr kumimoji="1" lang="zh-CN" altLang="en-US" sz="2400" b="1">
              <a:solidFill>
                <a:srgbClr val="FFFF00"/>
              </a:solidFill>
              <a:latin typeface="Times New Roman" panose="02020603050405020304" pitchFamily="18" charset="0"/>
              <a:ea typeface="仿宋_GB2312" panose="02010609030101010101" pitchFamily="49" charset="-122"/>
            </a:endParaRPr>
          </a:p>
        </p:txBody>
      </p:sp>
      <p:sp>
        <p:nvSpPr>
          <p:cNvPr id="10246" name="Text Box 6">
            <a:extLst>
              <a:ext uri="{FF2B5EF4-FFF2-40B4-BE49-F238E27FC236}">
                <a16:creationId xmlns:a16="http://schemas.microsoft.com/office/drawing/2014/main" id="{779D84AF-351F-F52C-C2A8-5469BBCE74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116263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</a:rPr>
              <a:t>解</a:t>
            </a:r>
          </a:p>
        </p:txBody>
      </p:sp>
      <p:sp>
        <p:nvSpPr>
          <p:cNvPr id="10247" name="Line 7">
            <a:extLst>
              <a:ext uri="{FF2B5EF4-FFF2-40B4-BE49-F238E27FC236}">
                <a16:creationId xmlns:a16="http://schemas.microsoft.com/office/drawing/2014/main" id="{54AA765C-B3A3-C95F-04E6-6FDDA8780506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6700" y="685800"/>
            <a:ext cx="6858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triangle" w="sm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8" name="Line 8">
            <a:extLst>
              <a:ext uri="{FF2B5EF4-FFF2-40B4-BE49-F238E27FC236}">
                <a16:creationId xmlns:a16="http://schemas.microsoft.com/office/drawing/2014/main" id="{31D4BF7E-EA98-604F-C174-00D8EC0866D5}"/>
              </a:ext>
            </a:extLst>
          </p:cNvPr>
          <p:cNvSpPr>
            <a:spLocks noChangeShapeType="1"/>
          </p:cNvSpPr>
          <p:nvPr/>
        </p:nvSpPr>
        <p:spPr bwMode="auto">
          <a:xfrm>
            <a:off x="4838700" y="838200"/>
            <a:ext cx="3063875" cy="1884363"/>
          </a:xfrm>
          <a:prstGeom prst="line">
            <a:avLst/>
          </a:prstGeom>
          <a:noFill/>
          <a:ln w="28575">
            <a:solidFill>
              <a:srgbClr val="FFFF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9" name="Text Box 9">
            <a:extLst>
              <a:ext uri="{FF2B5EF4-FFF2-40B4-BE49-F238E27FC236}">
                <a16:creationId xmlns:a16="http://schemas.microsoft.com/office/drawing/2014/main" id="{160346B4-A101-4164-9FEB-A1B6C7CE59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500" y="1746250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000" b="1" i="1">
                <a:solidFill>
                  <a:schemeClr val="bg1"/>
                </a:solidFill>
                <a:latin typeface="Times New Roman" panose="02020603050405020304" pitchFamily="18" charset="0"/>
              </a:rPr>
              <a:t>h</a:t>
            </a:r>
            <a:endParaRPr kumimoji="1" lang="en-US" altLang="zh-CN" sz="2000" b="1">
              <a:latin typeface="Times New Roman" panose="02020603050405020304" pitchFamily="18" charset="0"/>
            </a:endParaRPr>
          </a:p>
        </p:txBody>
      </p:sp>
      <p:graphicFrame>
        <p:nvGraphicFramePr>
          <p:cNvPr id="10250" name="Object 10">
            <a:extLst>
              <a:ext uri="{FF2B5EF4-FFF2-40B4-BE49-F238E27FC236}">
                <a16:creationId xmlns:a16="http://schemas.microsoft.com/office/drawing/2014/main" id="{4494619D-BB1B-4B47-45CA-5A49595660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19588" y="328613"/>
          <a:ext cx="201612" cy="233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28641" imgH="274320" progId="Equation.3">
                  <p:embed/>
                </p:oleObj>
              </mc:Choice>
              <mc:Fallback>
                <p:oleObj name="公式" r:id="rId2" imgW="228641" imgH="27432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9588" y="328613"/>
                        <a:ext cx="201612" cy="233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1" name="Text Box 11">
            <a:extLst>
              <a:ext uri="{FF2B5EF4-FFF2-40B4-BE49-F238E27FC236}">
                <a16:creationId xmlns:a16="http://schemas.microsoft.com/office/drawing/2014/main" id="{EC82C2AA-D54F-253A-FF5F-48CD7FE052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43900" y="28194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 b="1" i="1">
                <a:solidFill>
                  <a:schemeClr val="bg1"/>
                </a:solidFill>
                <a:latin typeface="Times New Roman" panose="02020603050405020304" pitchFamily="18" charset="0"/>
              </a:rPr>
              <a:t>x</a:t>
            </a:r>
            <a:endParaRPr kumimoji="1" lang="en-US" altLang="zh-CN" sz="2000" b="1" i="1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0252" name="Object 12">
            <a:extLst>
              <a:ext uri="{FF2B5EF4-FFF2-40B4-BE49-F238E27FC236}">
                <a16:creationId xmlns:a16="http://schemas.microsoft.com/office/drawing/2014/main" id="{9598D2C2-E411-DAEE-CBB6-99000C0DD8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7000" y="4157663"/>
          <a:ext cx="3133725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124250" imgH="510624" progId="Equation.3">
                  <p:embed/>
                </p:oleObj>
              </mc:Choice>
              <mc:Fallback>
                <p:oleObj name="公式" r:id="rId4" imgW="3124250" imgH="510624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157663"/>
                        <a:ext cx="3133725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3" name="Text Box 13">
            <a:extLst>
              <a:ext uri="{FF2B5EF4-FFF2-40B4-BE49-F238E27FC236}">
                <a16:creationId xmlns:a16="http://schemas.microsoft.com/office/drawing/2014/main" id="{DC410C56-C706-68A2-C63B-1FC1D02AC5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191000"/>
            <a:ext cx="1828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坐标表示为</a:t>
            </a:r>
            <a:endParaRPr kumimoji="1" lang="zh-CN" altLang="en-US" sz="2400" b="1">
              <a:latin typeface="宋体" panose="02010600030101010101" pitchFamily="2" charset="-122"/>
            </a:endParaRPr>
          </a:p>
        </p:txBody>
      </p:sp>
      <p:sp>
        <p:nvSpPr>
          <p:cNvPr id="20493" name="Text Box 14">
            <a:extLst>
              <a:ext uri="{FF2B5EF4-FFF2-40B4-BE49-F238E27FC236}">
                <a16:creationId xmlns:a16="http://schemas.microsoft.com/office/drawing/2014/main" id="{054EFFAC-7F1D-A128-C3FE-A508542A23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2860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</a:rPr>
              <a:t>例</a:t>
            </a:r>
            <a:endParaRPr kumimoji="1"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20494" name="Text Box 15">
            <a:extLst>
              <a:ext uri="{FF2B5EF4-FFF2-40B4-BE49-F238E27FC236}">
                <a16:creationId xmlns:a16="http://schemas.microsoft.com/office/drawing/2014/main" id="{353848A3-DA33-2136-3310-3CF4D68C18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52400"/>
            <a:ext cx="2438400" cy="237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如图所示，以速度</a:t>
            </a:r>
            <a:r>
              <a:rPr kumimoji="1" lang="en-US" altLang="zh-CN" sz="2400" b="1" i="1">
                <a:solidFill>
                  <a:srgbClr val="66FFFF"/>
                </a:solidFill>
                <a:latin typeface="Bookman Old Style" panose="02050604050505020204" pitchFamily="18" charset="0"/>
              </a:rPr>
              <a:t>v</a:t>
            </a:r>
            <a:r>
              <a:rPr kumimoji="1" lang="en-US" altLang="zh-CN" sz="2400" b="1">
                <a:solidFill>
                  <a:srgbClr val="66FFFF"/>
                </a:solidFill>
                <a:latin typeface="Bookman Old Style" panose="02050604050505020204" pitchFamily="18" charset="0"/>
              </a:rPr>
              <a:t>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用绳跨一定滑轮拉湖面上的船，已知绳初长 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l </a:t>
            </a:r>
            <a:r>
              <a:rPr kumimoji="1" lang="en-US" altLang="zh-CN" sz="2400" b="1" baseline="-25000">
                <a:solidFill>
                  <a:srgbClr val="66FFFF"/>
                </a:solidFill>
                <a:latin typeface="宋体" panose="02010600030101010101" pitchFamily="2" charset="-122"/>
              </a:rPr>
              <a:t>0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，岸高 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10256" name="Text Box 16">
            <a:extLst>
              <a:ext uri="{FF2B5EF4-FFF2-40B4-BE49-F238E27FC236}">
                <a16:creationId xmlns:a16="http://schemas.microsoft.com/office/drawing/2014/main" id="{01F5B0A9-E1FF-15F6-9E36-9E28923F95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124200"/>
            <a:ext cx="22875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取坐标系如图</a:t>
            </a:r>
          </a:p>
        </p:txBody>
      </p:sp>
      <p:sp>
        <p:nvSpPr>
          <p:cNvPr id="10257" name="Text Box 17">
            <a:extLst>
              <a:ext uri="{FF2B5EF4-FFF2-40B4-BE49-F238E27FC236}">
                <a16:creationId xmlns:a16="http://schemas.microsoft.com/office/drawing/2014/main" id="{4850F640-09F3-F6C2-18B0-B2C00F82D0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657600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依题意有</a:t>
            </a:r>
          </a:p>
        </p:txBody>
      </p:sp>
      <p:graphicFrame>
        <p:nvGraphicFramePr>
          <p:cNvPr id="10258" name="Object 18">
            <a:extLst>
              <a:ext uri="{FF2B5EF4-FFF2-40B4-BE49-F238E27FC236}">
                <a16:creationId xmlns:a16="http://schemas.microsoft.com/office/drawing/2014/main" id="{BBCFA3C8-E560-0FC2-28B0-1345B2761EEB}"/>
              </a:ext>
            </a:extLst>
          </p:cNvPr>
          <p:cNvGraphicFramePr>
            <a:graphicFrameLocks/>
          </p:cNvGraphicFramePr>
          <p:nvPr/>
        </p:nvGraphicFramePr>
        <p:xfrm>
          <a:off x="2660650" y="3683000"/>
          <a:ext cx="17764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52623" imgH="403920" progId="Equation.3">
                  <p:embed/>
                </p:oleObj>
              </mc:Choice>
              <mc:Fallback>
                <p:oleObj name="Equation" r:id="rId6" imgW="1752623" imgH="403920" progId="Equation.3">
                  <p:embed/>
                  <p:pic>
                    <p:nvPicPr>
                      <p:cNvPr id="0" name="Object 18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0650" y="3683000"/>
                        <a:ext cx="17764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9" name="Line 19">
            <a:extLst>
              <a:ext uri="{FF2B5EF4-FFF2-40B4-BE49-F238E27FC236}">
                <a16:creationId xmlns:a16="http://schemas.microsoft.com/office/drawing/2014/main" id="{F16D32E0-6C40-841B-9DEB-031DEECF38CF}"/>
              </a:ext>
            </a:extLst>
          </p:cNvPr>
          <p:cNvSpPr>
            <a:spLocks noChangeShapeType="1"/>
          </p:cNvSpPr>
          <p:nvPr/>
        </p:nvSpPr>
        <p:spPr bwMode="auto">
          <a:xfrm rot="922360">
            <a:off x="4611688" y="1128713"/>
            <a:ext cx="2181225" cy="1336675"/>
          </a:xfrm>
          <a:prstGeom prst="line">
            <a:avLst/>
          </a:prstGeom>
          <a:noFill/>
          <a:ln w="28575">
            <a:solidFill>
              <a:srgbClr val="FFFF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60" name="Text Box 20">
            <a:extLst>
              <a:ext uri="{FF2B5EF4-FFF2-40B4-BE49-F238E27FC236}">
                <a16:creationId xmlns:a16="http://schemas.microsoft.com/office/drawing/2014/main" id="{780B2697-BD44-3EAF-C15E-56C894AC7D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060950"/>
            <a:ext cx="8083550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质点运动学的基本问题之一，是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确定质点运动学方程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。为正确写出质点运动学方程，先要选定参考系、坐标系，明确起始条件等，找出质点坐标随时间变化的函数关系。</a:t>
            </a:r>
          </a:p>
        </p:txBody>
      </p:sp>
      <p:graphicFrame>
        <p:nvGraphicFramePr>
          <p:cNvPr id="10261" name="Object 21">
            <a:extLst>
              <a:ext uri="{FF2B5EF4-FFF2-40B4-BE49-F238E27FC236}">
                <a16:creationId xmlns:a16="http://schemas.microsoft.com/office/drawing/2014/main" id="{6A2C945B-D918-5230-D4B7-E4817EEF8A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27738" y="1138238"/>
          <a:ext cx="18415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05733" imgH="403920" progId="Equation.3">
                  <p:embed/>
                </p:oleObj>
              </mc:Choice>
              <mc:Fallback>
                <p:oleObj name="公式" r:id="rId8" imgW="205733" imgH="40392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7738" y="1138238"/>
                        <a:ext cx="184150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2" name="Object 22">
            <a:extLst>
              <a:ext uri="{FF2B5EF4-FFF2-40B4-BE49-F238E27FC236}">
                <a16:creationId xmlns:a16="http://schemas.microsoft.com/office/drawing/2014/main" id="{CA8FD358-75E2-241E-5D38-54638D5F98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95875" y="1676400"/>
          <a:ext cx="41275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479972" imgH="365688" progId="Equation.3">
                  <p:embed/>
                </p:oleObj>
              </mc:Choice>
              <mc:Fallback>
                <p:oleObj name="公式" r:id="rId10" imgW="479972" imgH="365688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5875" y="1676400"/>
                        <a:ext cx="41275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3" name="Object 23">
            <a:extLst>
              <a:ext uri="{FF2B5EF4-FFF2-40B4-BE49-F238E27FC236}">
                <a16:creationId xmlns:a16="http://schemas.microsoft.com/office/drawing/2014/main" id="{9753BD76-5AFF-6D6A-391A-18C413D586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62725" y="2924175"/>
          <a:ext cx="471488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556258" imgH="365688" progId="Equation.3">
                  <p:embed/>
                </p:oleObj>
              </mc:Choice>
              <mc:Fallback>
                <p:oleObj name="公式" r:id="rId12" imgW="556258" imgH="365688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2725" y="2924175"/>
                        <a:ext cx="471488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64" name="Picture 24">
            <a:extLst>
              <a:ext uri="{FF2B5EF4-FFF2-40B4-BE49-F238E27FC236}">
                <a16:creationId xmlns:a16="http://schemas.microsoft.com/office/drawing/2014/main" id="{9E3C1C78-AC22-58FB-4D14-A294277878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5575" y="2311400"/>
            <a:ext cx="9493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5" name="Picture 25">
            <a:extLst>
              <a:ext uri="{FF2B5EF4-FFF2-40B4-BE49-F238E27FC236}">
                <a16:creationId xmlns:a16="http://schemas.microsoft.com/office/drawing/2014/main" id="{9351EDC3-D68D-8CFE-4ED2-9DB7D5344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5100" y="2311400"/>
            <a:ext cx="9493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66" name="Line 26">
            <a:extLst>
              <a:ext uri="{FF2B5EF4-FFF2-40B4-BE49-F238E27FC236}">
                <a16:creationId xmlns:a16="http://schemas.microsoft.com/office/drawing/2014/main" id="{43DAD0E4-26C8-ED00-CF62-DAAEF5374E5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52825" y="842963"/>
            <a:ext cx="1295400" cy="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68" name="Line 28">
            <a:extLst>
              <a:ext uri="{FF2B5EF4-FFF2-40B4-BE49-F238E27FC236}">
                <a16:creationId xmlns:a16="http://schemas.microsoft.com/office/drawing/2014/main" id="{630D0DA0-41DF-7992-08A9-D0825A12FF4E}"/>
              </a:ext>
            </a:extLst>
          </p:cNvPr>
          <p:cNvSpPr>
            <a:spLocks noChangeShapeType="1"/>
          </p:cNvSpPr>
          <p:nvPr/>
        </p:nvSpPr>
        <p:spPr bwMode="auto">
          <a:xfrm>
            <a:off x="4154488" y="2862263"/>
            <a:ext cx="4589462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0" name="Oval 30">
            <a:extLst>
              <a:ext uri="{FF2B5EF4-FFF2-40B4-BE49-F238E27FC236}">
                <a16:creationId xmlns:a16="http://schemas.microsoft.com/office/drawing/2014/main" id="{BF432D2F-5871-230B-F379-65753EBFFB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0" y="857250"/>
            <a:ext cx="90488" cy="904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271" name="Rectangle 31">
            <a:extLst>
              <a:ext uri="{FF2B5EF4-FFF2-40B4-BE49-F238E27FC236}">
                <a16:creationId xmlns:a16="http://schemas.microsoft.com/office/drawing/2014/main" id="{76E7CEE0-400B-7E26-1468-543EF95B8C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2813" y="2894013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sz="2000" b="1" i="1">
                <a:solidFill>
                  <a:schemeClr val="bg1"/>
                </a:solidFill>
                <a:latin typeface="Times New Roman" panose="02020603050405020304" pitchFamily="18" charset="0"/>
              </a:rPr>
              <a:t>O</a:t>
            </a:r>
          </a:p>
        </p:txBody>
      </p:sp>
      <p:sp>
        <p:nvSpPr>
          <p:cNvPr id="10272" name="Rectangle 32">
            <a:extLst>
              <a:ext uri="{FF2B5EF4-FFF2-40B4-BE49-F238E27FC236}">
                <a16:creationId xmlns:a16="http://schemas.microsoft.com/office/drawing/2014/main" id="{84041CAC-D4BB-E0CE-7FFC-40379F7E26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538413"/>
            <a:ext cx="2219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船的运动方程</a:t>
            </a:r>
            <a:endParaRPr kumimoji="1" lang="zh-CN" altLang="en-US" sz="2400" b="1">
              <a:solidFill>
                <a:srgbClr val="66FFFF"/>
              </a:solidFill>
              <a:latin typeface="宋体" panose="02010600030101010101" pitchFamily="2" charset="-122"/>
            </a:endParaRPr>
          </a:p>
        </p:txBody>
      </p:sp>
      <p:sp>
        <p:nvSpPr>
          <p:cNvPr id="10273" name="Rectangle 33">
            <a:extLst>
              <a:ext uri="{FF2B5EF4-FFF2-40B4-BE49-F238E27FC236}">
                <a16:creationId xmlns:a16="http://schemas.microsoft.com/office/drawing/2014/main" id="{AFA2682A-39C7-254F-5484-1BE0E115B0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700588"/>
            <a:ext cx="10080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</a:rPr>
              <a:t>说明</a:t>
            </a:r>
          </a:p>
        </p:txBody>
      </p:sp>
      <p:sp>
        <p:nvSpPr>
          <p:cNvPr id="10274" name="AutoShape 34">
            <a:extLst>
              <a:ext uri="{FF2B5EF4-FFF2-40B4-BE49-F238E27FC236}">
                <a16:creationId xmlns:a16="http://schemas.microsoft.com/office/drawing/2014/main" id="{22BE87F7-C1F9-23E7-DCD5-537BE003B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4638675"/>
            <a:ext cx="360363" cy="576263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477647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269" name="Line 29">
            <a:extLst>
              <a:ext uri="{FF2B5EF4-FFF2-40B4-BE49-F238E27FC236}">
                <a16:creationId xmlns:a16="http://schemas.microsoft.com/office/drawing/2014/main" id="{58C29551-6DD5-52FE-9799-362DF234A546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857250"/>
            <a:ext cx="0" cy="2009775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6" dur="2000"/>
                                        <p:tgtEl>
                                          <p:spTgt spid="10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0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0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2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0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0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80" dur="2000"/>
                                        <p:tgtEl>
                                          <p:spTgt spid="10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4" dur="500"/>
                                        <p:tgtEl>
                                          <p:spTgt spid="10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8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8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7" grpId="0" animBg="1"/>
      <p:bldP spid="10244" grpId="0" animBg="1"/>
      <p:bldP spid="10245" grpId="0"/>
      <p:bldP spid="10246" grpId="0"/>
      <p:bldP spid="10249" grpId="0" autoUpdateAnimBg="0"/>
      <p:bldP spid="10251" grpId="0" autoUpdateAnimBg="0"/>
      <p:bldP spid="10253" grpId="0"/>
      <p:bldP spid="10256" grpId="0" autoUpdateAnimBg="0"/>
      <p:bldP spid="10257" grpId="0"/>
      <p:bldP spid="10260" grpId="0"/>
      <p:bldP spid="10270" grpId="0" animBg="1"/>
      <p:bldP spid="10271" grpId="0" autoUpdateAnimBg="0"/>
      <p:bldP spid="10272" grpId="0" build="p" autoUpdateAnimBg="0"/>
      <p:bldP spid="10273" grpId="0"/>
      <p:bldP spid="1027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>
            <a:extLst>
              <a:ext uri="{FF2B5EF4-FFF2-40B4-BE49-F238E27FC236}">
                <a16:creationId xmlns:a16="http://schemas.microsoft.com/office/drawing/2014/main" id="{C1E5EDF7-6F04-FF2A-C2E6-04554FBF73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7025" y="328613"/>
            <a:ext cx="61436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rgbClr val="66FF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1.2  </a:t>
            </a:r>
            <a:r>
              <a:rPr kumimoji="1" lang="zh-CN" altLang="en-US" sz="3200" b="1">
                <a:solidFill>
                  <a:srgbClr val="66FF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质点的位移、速度和加速度</a:t>
            </a:r>
          </a:p>
        </p:txBody>
      </p:sp>
      <p:sp>
        <p:nvSpPr>
          <p:cNvPr id="21507" name="Text Box 3">
            <a:extLst>
              <a:ext uri="{FF2B5EF4-FFF2-40B4-BE49-F238E27FC236}">
                <a16:creationId xmlns:a16="http://schemas.microsoft.com/office/drawing/2014/main" id="{B6FE7299-225D-0F9D-D903-2AF85151E1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949325"/>
            <a:ext cx="2362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rgbClr val="FFFF00"/>
                </a:solidFill>
                <a:latin typeface="宋体" panose="02010600030101010101" pitchFamily="2" charset="-122"/>
              </a:rPr>
              <a:t>一</a:t>
            </a:r>
            <a:r>
              <a:rPr kumimoji="1" lang="en-US" altLang="zh-CN" sz="2800" b="1">
                <a:solidFill>
                  <a:srgbClr val="FFFF00"/>
                </a:solidFill>
                <a:latin typeface="Times New Roman" panose="02020603050405020304" pitchFamily="18" charset="0"/>
              </a:rPr>
              <a:t>. </a:t>
            </a:r>
            <a:r>
              <a:rPr kumimoji="1" lang="zh-CN" altLang="en-US" sz="2800" b="1">
                <a:solidFill>
                  <a:srgbClr val="FFFF00"/>
                </a:solidFill>
                <a:latin typeface="宋体" panose="02010600030101010101" pitchFamily="2" charset="-122"/>
              </a:rPr>
              <a:t>位移</a:t>
            </a:r>
          </a:p>
        </p:txBody>
      </p:sp>
      <p:sp>
        <p:nvSpPr>
          <p:cNvPr id="21508" name="Rectangle 4">
            <a:extLst>
              <a:ext uri="{FF2B5EF4-FFF2-40B4-BE49-F238E27FC236}">
                <a16:creationId xmlns:a16="http://schemas.microsoft.com/office/drawing/2014/main" id="{22AEA04C-D447-7ADE-A455-66F121BBC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" y="2278063"/>
            <a:ext cx="5000625" cy="1938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 sz="2400" b="1">
                <a:solidFill>
                  <a:srgbClr val="FFC000"/>
                </a:solidFill>
                <a:latin typeface="宋体" panose="02010600030101010101" pitchFamily="2" charset="-122"/>
              </a:rPr>
              <a:t>位移矢量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反映了物体运动中位置 </a:t>
            </a: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(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距离与方位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)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的变化。表示质点在某段时间内</a:t>
            </a:r>
            <a:r>
              <a:rPr kumimoji="1" lang="en-US" altLang="zh-CN" sz="2400" b="1">
                <a:solidFill>
                  <a:schemeClr val="bg1"/>
                </a:solidFill>
                <a:latin typeface="宋体" panose="02010600030101010101" pitchFamily="2" charset="-122"/>
              </a:rPr>
              <a:t>,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始、末位置变动的总效果。</a:t>
            </a:r>
            <a:endParaRPr kumimoji="1" lang="zh-CN" altLang="en-US" sz="1200" b="1">
              <a:solidFill>
                <a:schemeClr val="bg1"/>
              </a:solidFill>
              <a:latin typeface="仿宋_GB2312" panose="02010609030101010101" pitchFamily="49" charset="-122"/>
              <a:ea typeface="仿宋_GB2312" panose="02010609030101010101" pitchFamily="49" charset="-122"/>
            </a:endParaRPr>
          </a:p>
        </p:txBody>
      </p:sp>
      <p:graphicFrame>
        <p:nvGraphicFramePr>
          <p:cNvPr id="21509" name="Object 9">
            <a:extLst>
              <a:ext uri="{FF2B5EF4-FFF2-40B4-BE49-F238E27FC236}">
                <a16:creationId xmlns:a16="http://schemas.microsoft.com/office/drawing/2014/main" id="{F12EDF51-AD40-BBE3-908A-6162E9E552EA}"/>
              </a:ext>
            </a:extLst>
          </p:cNvPr>
          <p:cNvGraphicFramePr>
            <a:graphicFrameLocks/>
          </p:cNvGraphicFramePr>
          <p:nvPr/>
        </p:nvGraphicFramePr>
        <p:xfrm>
          <a:off x="1246188" y="1700213"/>
          <a:ext cx="370363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80507" imgH="434376" progId="Equation.DSMT4">
                  <p:embed/>
                </p:oleObj>
              </mc:Choice>
              <mc:Fallback>
                <p:oleObj name="Equation" r:id="rId2" imgW="3680507" imgH="434376" progId="Equation.DSMT4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6188" y="1700213"/>
                        <a:ext cx="370363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0" name="Line 14">
            <a:extLst>
              <a:ext uri="{FF2B5EF4-FFF2-40B4-BE49-F238E27FC236}">
                <a16:creationId xmlns:a16="http://schemas.microsoft.com/office/drawing/2014/main" id="{367C784A-E8EC-5FC1-9B2D-13A11AB1157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18300" y="1701800"/>
            <a:ext cx="533400" cy="1295400"/>
          </a:xfrm>
          <a:prstGeom prst="line">
            <a:avLst/>
          </a:prstGeom>
          <a:noFill/>
          <a:ln w="28575">
            <a:solidFill>
              <a:srgbClr val="FFFF66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39" name="Line 15">
            <a:extLst>
              <a:ext uri="{FF2B5EF4-FFF2-40B4-BE49-F238E27FC236}">
                <a16:creationId xmlns:a16="http://schemas.microsoft.com/office/drawing/2014/main" id="{0234916F-FBD1-65E8-CBFE-5C9DD2162E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18300" y="2540000"/>
            <a:ext cx="1371600" cy="457200"/>
          </a:xfrm>
          <a:prstGeom prst="line">
            <a:avLst/>
          </a:prstGeom>
          <a:noFill/>
          <a:ln w="28575">
            <a:solidFill>
              <a:srgbClr val="FFFF66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76" name="Line 16">
            <a:extLst>
              <a:ext uri="{FF2B5EF4-FFF2-40B4-BE49-F238E27FC236}">
                <a16:creationId xmlns:a16="http://schemas.microsoft.com/office/drawing/2014/main" id="{A39894A2-6E21-C366-B0CA-E1A259FAE0D3}"/>
              </a:ext>
            </a:extLst>
          </p:cNvPr>
          <p:cNvSpPr>
            <a:spLocks noChangeShapeType="1"/>
          </p:cNvSpPr>
          <p:nvPr/>
        </p:nvSpPr>
        <p:spPr bwMode="auto">
          <a:xfrm>
            <a:off x="7251700" y="1701800"/>
            <a:ext cx="838200" cy="838200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3" name="Rectangle 17">
            <a:extLst>
              <a:ext uri="{FF2B5EF4-FFF2-40B4-BE49-F238E27FC236}">
                <a16:creationId xmlns:a16="http://schemas.microsoft.com/office/drawing/2014/main" id="{C978EE54-5F1B-87A4-9FF1-ABE7E742C1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9350" y="2816225"/>
            <a:ext cx="4889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000" b="1" i="1">
                <a:solidFill>
                  <a:schemeClr val="bg1"/>
                </a:solidFill>
                <a:latin typeface="Times New Roman" panose="02020603050405020304" pitchFamily="18" charset="0"/>
              </a:rPr>
              <a:t>O</a:t>
            </a:r>
            <a:endParaRPr kumimoji="1" lang="en-US" altLang="zh-CN" sz="2000" b="1">
              <a:solidFill>
                <a:srgbClr val="66FF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14" name="Rectangle 18">
            <a:extLst>
              <a:ext uri="{FF2B5EF4-FFF2-40B4-BE49-F238E27FC236}">
                <a16:creationId xmlns:a16="http://schemas.microsoft.com/office/drawing/2014/main" id="{FB66CBA5-3362-EB32-0CD2-770E5F91CC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3588" y="1293813"/>
            <a:ext cx="339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000" i="1">
                <a:solidFill>
                  <a:srgbClr val="66FFCC"/>
                </a:solidFill>
                <a:latin typeface="Times New Roman" panose="02020603050405020304" pitchFamily="18" charset="0"/>
              </a:rPr>
              <a:t>P</a:t>
            </a:r>
            <a:endParaRPr kumimoji="1" lang="en-US" altLang="zh-CN" sz="2000">
              <a:solidFill>
                <a:srgbClr val="66FF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43" name="Rectangle 19">
            <a:extLst>
              <a:ext uri="{FF2B5EF4-FFF2-40B4-BE49-F238E27FC236}">
                <a16:creationId xmlns:a16="http://schemas.microsoft.com/office/drawing/2014/main" id="{B444EE1E-A97E-47A6-C640-7A537EA6F3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9913" y="2284413"/>
            <a:ext cx="4238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000" i="1">
                <a:solidFill>
                  <a:srgbClr val="66FFCC"/>
                </a:solidFill>
                <a:latin typeface="Times New Roman" panose="02020603050405020304" pitchFamily="18" charset="0"/>
              </a:rPr>
              <a:t>P’</a:t>
            </a:r>
            <a:endParaRPr kumimoji="1" lang="en-US" altLang="zh-CN" sz="2000">
              <a:solidFill>
                <a:srgbClr val="66FFCC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5380" name="Object 20">
            <a:extLst>
              <a:ext uri="{FF2B5EF4-FFF2-40B4-BE49-F238E27FC236}">
                <a16:creationId xmlns:a16="http://schemas.microsoft.com/office/drawing/2014/main" id="{8CB0F911-DE5E-E7F5-60B9-14E739B6DE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39000" y="2133600"/>
          <a:ext cx="431800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03903" imgH="274320" progId="Equation.3">
                  <p:embed/>
                </p:oleObj>
              </mc:Choice>
              <mc:Fallback>
                <p:oleObj name="Equation" r:id="rId4" imgW="403903" imgH="27432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2133600"/>
                        <a:ext cx="431800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7" name="Object 21">
            <a:extLst>
              <a:ext uri="{FF2B5EF4-FFF2-40B4-BE49-F238E27FC236}">
                <a16:creationId xmlns:a16="http://schemas.microsoft.com/office/drawing/2014/main" id="{9EB5324F-C4C3-7F67-F477-1EC81A2164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05563" y="2060575"/>
          <a:ext cx="471487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56258" imgH="365688" progId="Equation.3">
                  <p:embed/>
                </p:oleObj>
              </mc:Choice>
              <mc:Fallback>
                <p:oleObj name="公式" r:id="rId6" imgW="556258" imgH="365688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5563" y="2060575"/>
                        <a:ext cx="471487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6" name="Object 22">
            <a:extLst>
              <a:ext uri="{FF2B5EF4-FFF2-40B4-BE49-F238E27FC236}">
                <a16:creationId xmlns:a16="http://schemas.microsoft.com/office/drawing/2014/main" id="{1EE7581B-A282-BC0B-A184-E2C5C94A8E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0" y="3048000"/>
          <a:ext cx="1003300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219272" imgH="365688" progId="Equation.3">
                  <p:embed/>
                </p:oleObj>
              </mc:Choice>
              <mc:Fallback>
                <p:oleObj name="公式" r:id="rId8" imgW="1219272" imgH="365688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3048000"/>
                        <a:ext cx="1003300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87" name="Object 23">
            <a:extLst>
              <a:ext uri="{FF2B5EF4-FFF2-40B4-BE49-F238E27FC236}">
                <a16:creationId xmlns:a16="http://schemas.microsoft.com/office/drawing/2014/main" id="{D779A9E9-682E-E5DE-4686-88076D556C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85100" y="1539875"/>
          <a:ext cx="323850" cy="24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88559" imgH="281880" progId="Equation.3">
                  <p:embed/>
                </p:oleObj>
              </mc:Choice>
              <mc:Fallback>
                <p:oleObj name="Equation" r:id="rId10" imgW="388559" imgH="28188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85100" y="1539875"/>
                        <a:ext cx="323850" cy="242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20" name="Text Box 37">
            <a:extLst>
              <a:ext uri="{FF2B5EF4-FFF2-40B4-BE49-F238E27FC236}">
                <a16:creationId xmlns:a16="http://schemas.microsoft.com/office/drawing/2014/main" id="{8D077A02-B20A-8D25-A807-A40941B5E7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1138" y="2786063"/>
            <a:ext cx="301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000" b="1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</a:t>
            </a:r>
          </a:p>
        </p:txBody>
      </p:sp>
      <p:sp>
        <p:nvSpPr>
          <p:cNvPr id="21521" name="Freeform 40">
            <a:extLst>
              <a:ext uri="{FF2B5EF4-FFF2-40B4-BE49-F238E27FC236}">
                <a16:creationId xmlns:a16="http://schemas.microsoft.com/office/drawing/2014/main" id="{22A91981-F3B0-8F04-D63A-B30FF7F4BF69}"/>
              </a:ext>
            </a:extLst>
          </p:cNvPr>
          <p:cNvSpPr>
            <a:spLocks/>
          </p:cNvSpPr>
          <p:nvPr/>
        </p:nvSpPr>
        <p:spPr bwMode="auto">
          <a:xfrm rot="472300">
            <a:off x="5902325" y="1677988"/>
            <a:ext cx="2376488" cy="1955800"/>
          </a:xfrm>
          <a:custGeom>
            <a:avLst/>
            <a:gdLst>
              <a:gd name="T0" fmla="*/ 0 w 1497"/>
              <a:gd name="T1" fmla="*/ 2147483646 h 1232"/>
              <a:gd name="T2" fmla="*/ 2147483646 w 1497"/>
              <a:gd name="T3" fmla="*/ 2147483646 h 1232"/>
              <a:gd name="T4" fmla="*/ 2147483646 w 1497"/>
              <a:gd name="T5" fmla="*/ 2147483646 h 1232"/>
              <a:gd name="T6" fmla="*/ 2147483646 w 1497"/>
              <a:gd name="T7" fmla="*/ 2147483646 h 1232"/>
              <a:gd name="T8" fmla="*/ 2147483646 w 1497"/>
              <a:gd name="T9" fmla="*/ 2147483646 h 1232"/>
              <a:gd name="T10" fmla="*/ 2147483646 w 1497"/>
              <a:gd name="T11" fmla="*/ 2147483646 h 123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497" h="1232">
                <a:moveTo>
                  <a:pt x="0" y="143"/>
                </a:moveTo>
                <a:cubicBezTo>
                  <a:pt x="117" y="109"/>
                  <a:pt x="235" y="76"/>
                  <a:pt x="363" y="53"/>
                </a:cubicBezTo>
                <a:cubicBezTo>
                  <a:pt x="491" y="30"/>
                  <a:pt x="635" y="0"/>
                  <a:pt x="771" y="7"/>
                </a:cubicBezTo>
                <a:cubicBezTo>
                  <a:pt x="907" y="14"/>
                  <a:pt x="1081" y="30"/>
                  <a:pt x="1179" y="98"/>
                </a:cubicBezTo>
                <a:cubicBezTo>
                  <a:pt x="1277" y="166"/>
                  <a:pt x="1308" y="227"/>
                  <a:pt x="1361" y="416"/>
                </a:cubicBezTo>
                <a:cubicBezTo>
                  <a:pt x="1414" y="605"/>
                  <a:pt x="1474" y="1096"/>
                  <a:pt x="1497" y="1232"/>
                </a:cubicBezTo>
              </a:path>
            </a:pathLst>
          </a:custGeom>
          <a:noFill/>
          <a:ln w="19050" cap="flat" cmpd="sng">
            <a:solidFill>
              <a:schemeClr val="bg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22" name="Text Box 42">
            <a:extLst>
              <a:ext uri="{FF2B5EF4-FFF2-40B4-BE49-F238E27FC236}">
                <a16:creationId xmlns:a16="http://schemas.microsoft.com/office/drawing/2014/main" id="{E800F3F1-8C6F-8757-C306-393D161644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9300" y="1463675"/>
            <a:ext cx="301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000" b="1">
                <a:solidFill>
                  <a:srgbClr val="66FF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</a:t>
            </a:r>
          </a:p>
        </p:txBody>
      </p:sp>
      <p:sp>
        <p:nvSpPr>
          <p:cNvPr id="18451" name="Text Box 43">
            <a:extLst>
              <a:ext uri="{FF2B5EF4-FFF2-40B4-BE49-F238E27FC236}">
                <a16:creationId xmlns:a16="http://schemas.microsoft.com/office/drawing/2014/main" id="{9E8279C1-0F37-BCD5-15BF-1A9765CF14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8138" y="2319338"/>
            <a:ext cx="301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000" b="1">
                <a:solidFill>
                  <a:srgbClr val="66FF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1433E44-FF2D-25C4-2F5F-C58A1EF142BC}"/>
              </a:ext>
            </a:extLst>
          </p:cNvPr>
          <p:cNvGrpSpPr>
            <a:grpSpLocks/>
          </p:cNvGrpSpPr>
          <p:nvPr/>
        </p:nvGrpSpPr>
        <p:grpSpPr bwMode="auto">
          <a:xfrm>
            <a:off x="887413" y="4487863"/>
            <a:ext cx="6789737" cy="468312"/>
            <a:chOff x="868268" y="4718496"/>
            <a:chExt cx="6788924" cy="468313"/>
          </a:xfrm>
        </p:grpSpPr>
        <p:sp>
          <p:nvSpPr>
            <p:cNvPr id="21525" name="矩形 2">
              <a:extLst>
                <a:ext uri="{FF2B5EF4-FFF2-40B4-BE49-F238E27FC236}">
                  <a16:creationId xmlns:a16="http://schemas.microsoft.com/office/drawing/2014/main" id="{9B19C237-7C12-24A8-7F93-C3DCD802D1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0900" y="4725144"/>
              <a:ext cx="557629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>
                  <a:solidFill>
                    <a:schemeClr val="bg1"/>
                  </a:solidFill>
                </a:rPr>
                <a:t>质点实际行程的长度</a:t>
              </a:r>
              <a:r>
                <a:rPr lang="en-US" altLang="zh-CN" sz="2400" b="1">
                  <a:solidFill>
                    <a:schemeClr val="bg1"/>
                  </a:solidFill>
                </a:rPr>
                <a:t>(</a:t>
              </a:r>
              <a:r>
                <a:rPr lang="zh-CN" altLang="en-US" sz="2400" b="1">
                  <a:solidFill>
                    <a:schemeClr val="bg1"/>
                  </a:solidFill>
                </a:rPr>
                <a:t>正标量</a:t>
              </a:r>
              <a:r>
                <a:rPr lang="en-US" altLang="zh-CN" sz="2400" b="1">
                  <a:solidFill>
                    <a:schemeClr val="bg1"/>
                  </a:solidFill>
                </a:rPr>
                <a:t>)</a:t>
              </a:r>
              <a:r>
                <a:rPr lang="zh-CN" altLang="en-US" sz="2400" b="1">
                  <a:solidFill>
                    <a:schemeClr val="bg1"/>
                  </a:solidFill>
                </a:rPr>
                <a:t>称为</a:t>
              </a:r>
              <a:r>
                <a:rPr lang="zh-CN" altLang="en-US" sz="2400" b="1">
                  <a:solidFill>
                    <a:srgbClr val="FFC000"/>
                  </a:solidFill>
                </a:rPr>
                <a:t>路程</a:t>
              </a:r>
              <a:endParaRPr lang="zh-CN" altLang="en-US" sz="2400">
                <a:solidFill>
                  <a:srgbClr val="FFC000"/>
                </a:solidFill>
              </a:endParaRPr>
            </a:p>
          </p:txBody>
        </p:sp>
        <p:graphicFrame>
          <p:nvGraphicFramePr>
            <p:cNvPr id="21526" name="对象 3">
              <a:extLst>
                <a:ext uri="{FF2B5EF4-FFF2-40B4-BE49-F238E27FC236}">
                  <a16:creationId xmlns:a16="http://schemas.microsoft.com/office/drawing/2014/main" id="{BA8E2D8C-99AA-AC6B-73BD-303ED900A90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68268" y="4718496"/>
            <a:ext cx="1220787" cy="468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596900" imgH="228600" progId="Equation.DSMT4">
                    <p:embed/>
                  </p:oleObj>
                </mc:Choice>
                <mc:Fallback>
                  <p:oleObj name="Equation" r:id="rId12" imgW="596900" imgH="228600" progId="Equation.DSMT4">
                    <p:embed/>
                    <p:pic>
                      <p:nvPicPr>
                        <p:cNvPr id="0" name="对象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8268" y="4718496"/>
                          <a:ext cx="1220787" cy="468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43" grpId="0"/>
      <p:bldP spid="1845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6">
            <a:extLst>
              <a:ext uri="{FF2B5EF4-FFF2-40B4-BE49-F238E27FC236}">
                <a16:creationId xmlns:a16="http://schemas.microsoft.com/office/drawing/2014/main" id="{9FC6EEA2-946C-A0E5-1E5E-57B93BEC84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513" y="333375"/>
            <a:ext cx="4927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(1) </a:t>
            </a:r>
            <a:r>
              <a:rPr kumimoji="1" lang="zh-CN" altLang="en-US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位移是矢量（有大小，有方向）</a:t>
            </a:r>
            <a:endParaRPr kumimoji="1" lang="zh-CN" altLang="en-US" sz="2400" b="1">
              <a:solidFill>
                <a:schemeClr val="bg1"/>
              </a:solidFill>
              <a:latin typeface="仿宋_GB2312" panose="02010609030101010101" pitchFamily="49" charset="-122"/>
              <a:ea typeface="仿宋_GB2312" panose="02010609030101010101" pitchFamily="49" charset="-122"/>
            </a:endParaRPr>
          </a:p>
        </p:txBody>
      </p:sp>
      <p:sp>
        <p:nvSpPr>
          <p:cNvPr id="22531" name="Rectangle 7">
            <a:extLst>
              <a:ext uri="{FF2B5EF4-FFF2-40B4-BE49-F238E27FC236}">
                <a16:creationId xmlns:a16="http://schemas.microsoft.com/office/drawing/2014/main" id="{1E7AC0DD-E1E5-0E25-F223-8410A7ED96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4938" y="846138"/>
            <a:ext cx="2339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位移不同于路程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837C8FE4-D677-5A27-60A4-AA5765474D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675" y="2924175"/>
            <a:ext cx="4619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(2) </a:t>
            </a:r>
            <a:r>
              <a:rPr kumimoji="1" lang="zh-CN" altLang="en-US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位移与参照系位置的变化无关</a:t>
            </a:r>
            <a:endParaRPr kumimoji="1" lang="zh-CN" altLang="en-US" sz="1200" b="1">
              <a:solidFill>
                <a:schemeClr val="bg1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53B6D342-07B7-C647-852D-0F541C3A4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150" y="3500438"/>
            <a:ext cx="53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(3)</a:t>
            </a: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E6295C58-2E7A-D180-925C-6C5670D2BD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4925" y="3500438"/>
            <a:ext cx="1995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与</a:t>
            </a:r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Δ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r</a:t>
            </a:r>
            <a:r>
              <a:rPr kumimoji="1" lang="en-US" altLang="zh-CN" sz="2400" b="1" i="1">
                <a:solidFill>
                  <a:schemeClr val="bg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 </a:t>
            </a:r>
            <a:r>
              <a:rPr kumimoji="1" lang="zh-CN" altLang="en-US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的区别</a:t>
            </a:r>
          </a:p>
        </p:txBody>
      </p:sp>
      <p:graphicFrame>
        <p:nvGraphicFramePr>
          <p:cNvPr id="8" name="Object 13">
            <a:extLst>
              <a:ext uri="{FF2B5EF4-FFF2-40B4-BE49-F238E27FC236}">
                <a16:creationId xmlns:a16="http://schemas.microsoft.com/office/drawing/2014/main" id="{059835E7-20BD-7F5A-6CB3-B7384DCF3BA6}"/>
              </a:ext>
            </a:extLst>
          </p:cNvPr>
          <p:cNvGraphicFramePr>
            <a:graphicFrameLocks/>
          </p:cNvGraphicFramePr>
          <p:nvPr/>
        </p:nvGraphicFramePr>
        <p:xfrm>
          <a:off x="2041525" y="3556000"/>
          <a:ext cx="508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79972" imgH="434376" progId="Equation.3">
                  <p:embed/>
                </p:oleObj>
              </mc:Choice>
              <mc:Fallback>
                <p:oleObj name="公式" r:id="rId2" imgW="479972" imgH="434376" progId="Equation.3">
                  <p:embed/>
                  <p:pic>
                    <p:nvPicPr>
                      <p:cNvPr id="0" name="Object 13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1525" y="3556000"/>
                        <a:ext cx="508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24">
            <a:extLst>
              <a:ext uri="{FF2B5EF4-FFF2-40B4-BE49-F238E27FC236}">
                <a16:creationId xmlns:a16="http://schemas.microsoft.com/office/drawing/2014/main" id="{55EF48D9-A92E-E330-D25D-8C0FC289C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6675" y="2398713"/>
            <a:ext cx="45402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000" b="1" i="1">
                <a:solidFill>
                  <a:srgbClr val="66FF33"/>
                </a:solidFill>
                <a:latin typeface="Times New Roman" panose="02020603050405020304" pitchFamily="18" charset="0"/>
              </a:rPr>
              <a:t>O’</a:t>
            </a:r>
            <a:endParaRPr kumimoji="1" lang="en-US" altLang="zh-CN" sz="2000" b="1" i="1">
              <a:solidFill>
                <a:srgbClr val="66FF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" name="Line 25">
            <a:extLst>
              <a:ext uri="{FF2B5EF4-FFF2-40B4-BE49-F238E27FC236}">
                <a16:creationId xmlns:a16="http://schemas.microsoft.com/office/drawing/2014/main" id="{C4BF2C47-E5E6-3550-BE67-9CE367D5977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72213" y="808038"/>
            <a:ext cx="1295400" cy="1646237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Line 26">
            <a:extLst>
              <a:ext uri="{FF2B5EF4-FFF2-40B4-BE49-F238E27FC236}">
                <a16:creationId xmlns:a16="http://schemas.microsoft.com/office/drawing/2014/main" id="{1C97AB21-D7EA-8CD8-7A54-DFF35730D22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72213" y="1447800"/>
            <a:ext cx="2514600" cy="1006475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Line 27">
            <a:extLst>
              <a:ext uri="{FF2B5EF4-FFF2-40B4-BE49-F238E27FC236}">
                <a16:creationId xmlns:a16="http://schemas.microsoft.com/office/drawing/2014/main" id="{76E02E6D-031C-E0F6-4CD8-804232ACBA19}"/>
              </a:ext>
            </a:extLst>
          </p:cNvPr>
          <p:cNvSpPr>
            <a:spLocks noChangeShapeType="1"/>
          </p:cNvSpPr>
          <p:nvPr/>
        </p:nvSpPr>
        <p:spPr bwMode="auto">
          <a:xfrm>
            <a:off x="7567613" y="808038"/>
            <a:ext cx="1219200" cy="639762"/>
          </a:xfrm>
          <a:prstGeom prst="line">
            <a:avLst/>
          </a:prstGeom>
          <a:noFill/>
          <a:ln w="28575">
            <a:solidFill>
              <a:srgbClr val="FFFF66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Arc 28">
            <a:extLst>
              <a:ext uri="{FF2B5EF4-FFF2-40B4-BE49-F238E27FC236}">
                <a16:creationId xmlns:a16="http://schemas.microsoft.com/office/drawing/2014/main" id="{71B20878-AAF8-28B0-BD66-AD7B393194D9}"/>
              </a:ext>
            </a:extLst>
          </p:cNvPr>
          <p:cNvSpPr>
            <a:spLocks/>
          </p:cNvSpPr>
          <p:nvPr/>
        </p:nvSpPr>
        <p:spPr bwMode="auto">
          <a:xfrm>
            <a:off x="6958013" y="625475"/>
            <a:ext cx="1295400" cy="1646238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2225">
            <a:solidFill>
              <a:schemeClr val="bg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Line 29">
            <a:extLst>
              <a:ext uri="{FF2B5EF4-FFF2-40B4-BE49-F238E27FC236}">
                <a16:creationId xmlns:a16="http://schemas.microsoft.com/office/drawing/2014/main" id="{B4CE89F2-C51E-943E-2F49-6EA56E287B4A}"/>
              </a:ext>
            </a:extLst>
          </p:cNvPr>
          <p:cNvSpPr>
            <a:spLocks noChangeShapeType="1"/>
          </p:cNvSpPr>
          <p:nvPr/>
        </p:nvSpPr>
        <p:spPr bwMode="auto">
          <a:xfrm rot="20926042" flipV="1">
            <a:off x="6704013" y="900113"/>
            <a:ext cx="1019175" cy="1522412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Line 30">
            <a:extLst>
              <a:ext uri="{FF2B5EF4-FFF2-40B4-BE49-F238E27FC236}">
                <a16:creationId xmlns:a16="http://schemas.microsoft.com/office/drawing/2014/main" id="{EFFD8D0F-F249-5CD8-2A72-DB0EC16F2AD5}"/>
              </a:ext>
            </a:extLst>
          </p:cNvPr>
          <p:cNvSpPr>
            <a:spLocks noChangeShapeType="1"/>
          </p:cNvSpPr>
          <p:nvPr/>
        </p:nvSpPr>
        <p:spPr bwMode="auto">
          <a:xfrm rot="21167122" flipV="1">
            <a:off x="6773863" y="1581150"/>
            <a:ext cx="2068512" cy="820738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6" name="Object 31">
            <a:extLst>
              <a:ext uri="{FF2B5EF4-FFF2-40B4-BE49-F238E27FC236}">
                <a16:creationId xmlns:a16="http://schemas.microsoft.com/office/drawing/2014/main" id="{53657A68-92BF-7B76-B037-03C5E25714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64463" y="655638"/>
          <a:ext cx="346075" cy="23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0" imgH="0" progId="Equation.3">
                  <p:embed/>
                </p:oleObj>
              </mc:Choice>
              <mc:Fallback>
                <p:oleObj name="公式" r:id="rId4" imgW="0" imgH="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4463" y="655638"/>
                        <a:ext cx="346075" cy="234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32">
            <a:extLst>
              <a:ext uri="{FF2B5EF4-FFF2-40B4-BE49-F238E27FC236}">
                <a16:creationId xmlns:a16="http://schemas.microsoft.com/office/drawing/2014/main" id="{7692331C-9923-6630-B8BE-6DAD68AE11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40725" y="942975"/>
          <a:ext cx="346075" cy="23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403903" imgH="274320" progId="Equation.3">
                  <p:embed/>
                </p:oleObj>
              </mc:Choice>
              <mc:Fallback>
                <p:oleObj name="公式" r:id="rId5" imgW="403903" imgH="27432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40725" y="942975"/>
                        <a:ext cx="346075" cy="234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33">
            <a:extLst>
              <a:ext uri="{FF2B5EF4-FFF2-40B4-BE49-F238E27FC236}">
                <a16:creationId xmlns:a16="http://schemas.microsoft.com/office/drawing/2014/main" id="{86FE7A85-5244-41C5-967B-47A12E4D51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9775" y="2203450"/>
            <a:ext cx="4270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sz="2000" b="1" i="1">
                <a:solidFill>
                  <a:srgbClr val="FFFF66"/>
                </a:solidFill>
                <a:latin typeface="Times New Roman" panose="02020603050405020304" pitchFamily="18" charset="0"/>
              </a:rPr>
              <a:t>O</a:t>
            </a:r>
            <a:endParaRPr kumimoji="1" lang="en-US" altLang="zh-CN" sz="2000" b="1" i="1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" name="AutoShape 34">
            <a:extLst>
              <a:ext uri="{FF2B5EF4-FFF2-40B4-BE49-F238E27FC236}">
                <a16:creationId xmlns:a16="http://schemas.microsoft.com/office/drawing/2014/main" id="{EBBA6844-04AB-34EC-8651-BBC44EB9ED12}"/>
              </a:ext>
            </a:extLst>
          </p:cNvPr>
          <p:cNvSpPr>
            <a:spLocks/>
          </p:cNvSpPr>
          <p:nvPr/>
        </p:nvSpPr>
        <p:spPr bwMode="auto">
          <a:xfrm rot="-6805898">
            <a:off x="8428832" y="1372394"/>
            <a:ext cx="209550" cy="636587"/>
          </a:xfrm>
          <a:prstGeom prst="leftBrace">
            <a:avLst>
              <a:gd name="adj1" fmla="val 25316"/>
              <a:gd name="adj2" fmla="val 50000"/>
            </a:avLst>
          </a:prstGeom>
          <a:noFill/>
          <a:ln w="19050">
            <a:solidFill>
              <a:srgbClr val="FFFF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0" name="Object 35">
            <a:extLst>
              <a:ext uri="{FF2B5EF4-FFF2-40B4-BE49-F238E27FC236}">
                <a16:creationId xmlns:a16="http://schemas.microsoft.com/office/drawing/2014/main" id="{2EA79693-8149-8FB3-D1E4-131F996AB9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83600" y="1841500"/>
          <a:ext cx="323850" cy="23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88559" imgH="274320" progId="Equation.3">
                  <p:embed/>
                </p:oleObj>
              </mc:Choice>
              <mc:Fallback>
                <p:oleObj name="Equation" r:id="rId7" imgW="388559" imgH="27432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83600" y="1841500"/>
                        <a:ext cx="323850" cy="231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36">
            <a:extLst>
              <a:ext uri="{FF2B5EF4-FFF2-40B4-BE49-F238E27FC236}">
                <a16:creationId xmlns:a16="http://schemas.microsoft.com/office/drawing/2014/main" id="{578CBE1B-02C5-6B20-6335-04BA6191FE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2538" y="3508375"/>
            <a:ext cx="800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分清</a:t>
            </a:r>
          </a:p>
        </p:txBody>
      </p:sp>
      <p:sp>
        <p:nvSpPr>
          <p:cNvPr id="22" name="Text Box 38">
            <a:extLst>
              <a:ext uri="{FF2B5EF4-FFF2-40B4-BE49-F238E27FC236}">
                <a16:creationId xmlns:a16="http://schemas.microsoft.com/office/drawing/2014/main" id="{90A3BBDC-1A8B-1B7F-5643-1AD12B68E3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4575" y="2222500"/>
            <a:ext cx="301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000" b="1">
                <a:solidFill>
                  <a:srgbClr val="FFFF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</a:t>
            </a:r>
          </a:p>
        </p:txBody>
      </p:sp>
      <p:sp>
        <p:nvSpPr>
          <p:cNvPr id="23" name="Text Box 39">
            <a:extLst>
              <a:ext uri="{FF2B5EF4-FFF2-40B4-BE49-F238E27FC236}">
                <a16:creationId xmlns:a16="http://schemas.microsoft.com/office/drawing/2014/main" id="{EEA1C82F-2E8C-9CA6-90EE-ADDC27F111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0838" y="2303463"/>
            <a:ext cx="301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000" b="1">
                <a:solidFill>
                  <a:srgbClr val="66FF33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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5D0BD613-66EA-1909-C7D1-EDAF3A729DAB}"/>
              </a:ext>
            </a:extLst>
          </p:cNvPr>
          <p:cNvGrpSpPr>
            <a:grpSpLocks/>
          </p:cNvGrpSpPr>
          <p:nvPr/>
        </p:nvGrpSpPr>
        <p:grpSpPr bwMode="auto">
          <a:xfrm>
            <a:off x="587375" y="4076700"/>
            <a:ext cx="5659438" cy="492125"/>
            <a:chOff x="248845" y="6019800"/>
            <a:chExt cx="5659002" cy="491807"/>
          </a:xfrm>
        </p:grpSpPr>
        <p:graphicFrame>
          <p:nvGraphicFramePr>
            <p:cNvPr id="22555" name="对象 1">
              <a:extLst>
                <a:ext uri="{FF2B5EF4-FFF2-40B4-BE49-F238E27FC236}">
                  <a16:creationId xmlns:a16="http://schemas.microsoft.com/office/drawing/2014/main" id="{15E5FE13-24FF-11F0-431D-256DE8CB8745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48845" y="6054407"/>
            <a:ext cx="50800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479972" imgH="434376" progId="Equation.3">
                    <p:embed/>
                  </p:oleObj>
                </mc:Choice>
                <mc:Fallback>
                  <p:oleObj name="公式" r:id="rId9" imgW="479972" imgH="434376" progId="Equation.3">
                    <p:embed/>
                    <p:pic>
                      <p:nvPicPr>
                        <p:cNvPr id="0" name="对象 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8845" y="6054407"/>
                          <a:ext cx="508000" cy="457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56" name="TextBox 2">
              <a:extLst>
                <a:ext uri="{FF2B5EF4-FFF2-40B4-BE49-F238E27FC236}">
                  <a16:creationId xmlns:a16="http://schemas.microsoft.com/office/drawing/2014/main" id="{20560B45-D795-2EDA-E61D-5A8E6E6068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6497" y="6019800"/>
              <a:ext cx="235032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>
                  <a:solidFill>
                    <a:schemeClr val="bg1"/>
                  </a:solidFill>
                </a:rPr>
                <a:t>是位移的大小，</a:t>
              </a:r>
            </a:p>
          </p:txBody>
        </p:sp>
        <p:sp>
          <p:nvSpPr>
            <p:cNvPr id="22557" name="矩形 3">
              <a:extLst>
                <a:ext uri="{FF2B5EF4-FFF2-40B4-BE49-F238E27FC236}">
                  <a16:creationId xmlns:a16="http://schemas.microsoft.com/office/drawing/2014/main" id="{10AE6D23-F0C5-A505-28DB-94E7FD32C5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8614" y="6019800"/>
              <a:ext cx="304923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>
                  <a:solidFill>
                    <a:srgbClr val="66FFFF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Δ</a:t>
              </a:r>
              <a:r>
                <a:rPr kumimoji="1" lang="en-US" altLang="zh-CN" sz="2400" b="1" i="1">
                  <a:solidFill>
                    <a:srgbClr val="66FFFF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r</a:t>
              </a:r>
              <a:r>
                <a:rPr kumimoji="1" lang="zh-CN" altLang="en-US" sz="2400" b="1">
                  <a:solidFill>
                    <a:schemeClr val="bg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是位矢大小的变化</a:t>
              </a:r>
              <a:r>
                <a:rPr kumimoji="1" lang="en-US" altLang="zh-CN" sz="2400" b="1">
                  <a:solidFill>
                    <a:schemeClr val="bg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 </a:t>
              </a:r>
              <a:endParaRPr lang="zh-CN" altLang="en-US" sz="240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22552" name="对象 24">
            <a:extLst>
              <a:ext uri="{FF2B5EF4-FFF2-40B4-BE49-F238E27FC236}">
                <a16:creationId xmlns:a16="http://schemas.microsoft.com/office/drawing/2014/main" id="{24C3076E-BCDD-CCAF-6B75-E5EA6C98D3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8" y="1447800"/>
          <a:ext cx="4660900" cy="131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247900" imgH="635000" progId="Equation.DSMT4">
                  <p:embed/>
                </p:oleObj>
              </mc:Choice>
              <mc:Fallback>
                <p:oleObj name="Equation" r:id="rId10" imgW="2247900" imgH="635000" progId="Equation.DSMT4">
                  <p:embed/>
                  <p:pic>
                    <p:nvPicPr>
                      <p:cNvPr id="0" name="对象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1447800"/>
                        <a:ext cx="4660900" cy="131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668A5006-AFBB-6339-744B-EE7D39245E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0338" y="4724400"/>
          <a:ext cx="2817812" cy="181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58900" imgH="876300" progId="Equation.DSMT4">
                  <p:embed/>
                </p:oleObj>
              </mc:Choice>
              <mc:Fallback>
                <p:oleObj name="Equation" r:id="rId12" imgW="1358900" imgH="876300" progId="Equation.DSMT4">
                  <p:embed/>
                  <p:pic>
                    <p:nvPicPr>
                      <p:cNvPr id="0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4724400"/>
                        <a:ext cx="2817812" cy="181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54" name="对象 26">
            <a:extLst>
              <a:ext uri="{FF2B5EF4-FFF2-40B4-BE49-F238E27FC236}">
                <a16:creationId xmlns:a16="http://schemas.microsoft.com/office/drawing/2014/main" id="{D6FBF0B9-16A4-778D-C1EA-3CB356B17D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02063" y="871538"/>
          <a:ext cx="1296987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272434" imgH="434376" progId="Equation.3">
                  <p:embed/>
                </p:oleObj>
              </mc:Choice>
              <mc:Fallback>
                <p:oleObj name="公式" r:id="rId14" imgW="1272434" imgH="434376" progId="Equation.3">
                  <p:embed/>
                  <p:pic>
                    <p:nvPicPr>
                      <p:cNvPr id="0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2063" y="871538"/>
                        <a:ext cx="1296987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6" grpId="0" autoUpdateAnimBg="0"/>
      <p:bldP spid="7" grpId="0" autoUpdateAnimBg="0"/>
      <p:bldP spid="9" grpId="0" autoUpdateAnimBg="0"/>
      <p:bldP spid="18" grpId="0" autoUpdateAnimBg="0"/>
      <p:bldP spid="19" grpId="0" animBg="1"/>
      <p:bldP spid="21" grpId="0"/>
      <p:bldP spid="22" grpId="0"/>
      <p:bldP spid="2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>
            <a:extLst>
              <a:ext uri="{FF2B5EF4-FFF2-40B4-BE49-F238E27FC236}">
                <a16:creationId xmlns:a16="http://schemas.microsoft.com/office/drawing/2014/main" id="{FAC1BE64-09B3-0480-77A1-B4867C0C6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" y="7938"/>
            <a:ext cx="18478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rgbClr val="FFFF00"/>
                </a:solidFill>
                <a:latin typeface="宋体" panose="02010600030101010101" pitchFamily="2" charset="-122"/>
              </a:rPr>
              <a:t>二</a:t>
            </a:r>
            <a:r>
              <a:rPr kumimoji="1" lang="en-US" altLang="zh-CN" sz="2800" b="1">
                <a:solidFill>
                  <a:srgbClr val="FFFF00"/>
                </a:solidFill>
                <a:latin typeface="Times New Roman" panose="02020603050405020304" pitchFamily="18" charset="0"/>
              </a:rPr>
              <a:t>. </a:t>
            </a:r>
            <a:r>
              <a:rPr kumimoji="1" lang="zh-CN" altLang="en-US" sz="2800" b="1">
                <a:solidFill>
                  <a:srgbClr val="FFFF00"/>
                </a:solidFill>
                <a:latin typeface="宋体" panose="02010600030101010101" pitchFamily="2" charset="-122"/>
              </a:rPr>
              <a:t>速度</a:t>
            </a:r>
            <a:endParaRPr kumimoji="1" lang="zh-CN" altLang="en-US" sz="2800" b="1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B85D8359-77F9-A181-84A5-600BB9F94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2075" y="69850"/>
            <a:ext cx="426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(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描述物体运动状态的物理量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BF7E85AE-81FB-9FB5-D61C-663D389939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377950"/>
            <a:ext cx="1720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1. </a:t>
            </a:r>
            <a:r>
              <a:rPr kumimoji="1" lang="zh-CN" altLang="en-US" sz="2400" b="1">
                <a:solidFill>
                  <a:srgbClr val="66FFFF"/>
                </a:solidFill>
                <a:latin typeface="宋体" panose="02010600030101010101" pitchFamily="2" charset="-122"/>
              </a:rPr>
              <a:t>平均速度</a:t>
            </a:r>
            <a:endParaRPr kumimoji="1" lang="zh-CN" altLang="en-US" sz="1400" b="1">
              <a:solidFill>
                <a:srgbClr val="66FF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2293" name="Object 5">
            <a:extLst>
              <a:ext uri="{FF2B5EF4-FFF2-40B4-BE49-F238E27FC236}">
                <a16:creationId xmlns:a16="http://schemas.microsoft.com/office/drawing/2014/main" id="{B5889A5C-90E8-8D44-394E-5905658437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4075" y="1268413"/>
          <a:ext cx="3711575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680507" imgH="807624" progId="Equation.3">
                  <p:embed/>
                </p:oleObj>
              </mc:Choice>
              <mc:Fallback>
                <p:oleObj name="公式" r:id="rId2" imgW="3680507" imgH="807624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1268413"/>
                        <a:ext cx="3711575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4" name="Line 6">
            <a:extLst>
              <a:ext uri="{FF2B5EF4-FFF2-40B4-BE49-F238E27FC236}">
                <a16:creationId xmlns:a16="http://schemas.microsoft.com/office/drawing/2014/main" id="{0842B6BB-C712-2A92-F748-7F8C81982E7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69113" y="935038"/>
            <a:ext cx="527050" cy="1489075"/>
          </a:xfrm>
          <a:prstGeom prst="line">
            <a:avLst/>
          </a:prstGeom>
          <a:noFill/>
          <a:ln w="28575">
            <a:solidFill>
              <a:srgbClr val="66FFFF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5" name="Rectangle 7">
            <a:extLst>
              <a:ext uri="{FF2B5EF4-FFF2-40B4-BE49-F238E27FC236}">
                <a16:creationId xmlns:a16="http://schemas.microsoft.com/office/drawing/2014/main" id="{0FFE277A-619D-AE0A-1D55-0C095E3F94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1125" y="2309813"/>
            <a:ext cx="368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000" b="1" i="1">
                <a:solidFill>
                  <a:schemeClr val="bg1"/>
                </a:solidFill>
                <a:latin typeface="Times New Roman" panose="02020603050405020304" pitchFamily="18" charset="0"/>
              </a:rPr>
              <a:t>O</a:t>
            </a:r>
          </a:p>
        </p:txBody>
      </p:sp>
      <p:graphicFrame>
        <p:nvGraphicFramePr>
          <p:cNvPr id="12296" name="Object 8">
            <a:extLst>
              <a:ext uri="{FF2B5EF4-FFF2-40B4-BE49-F238E27FC236}">
                <a16:creationId xmlns:a16="http://schemas.microsoft.com/office/drawing/2014/main" id="{3DEFA756-4E00-2943-4A47-47A174DB9F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78713" y="1266825"/>
          <a:ext cx="349250" cy="23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03903" imgH="274320" progId="Equation.3">
                  <p:embed/>
                </p:oleObj>
              </mc:Choice>
              <mc:Fallback>
                <p:oleObj name="公式" r:id="rId4" imgW="403903" imgH="27432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8713" y="1266825"/>
                        <a:ext cx="349250" cy="234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7" name="Object 9">
            <a:extLst>
              <a:ext uri="{FF2B5EF4-FFF2-40B4-BE49-F238E27FC236}">
                <a16:creationId xmlns:a16="http://schemas.microsoft.com/office/drawing/2014/main" id="{A8F74D65-4A34-44D7-309B-D3B6F97C96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18363" y="2178050"/>
          <a:ext cx="993775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219272" imgH="365688" progId="Equation.3">
                  <p:embed/>
                </p:oleObj>
              </mc:Choice>
              <mc:Fallback>
                <p:oleObj name="公式" r:id="rId6" imgW="1219272" imgH="365688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8363" y="2178050"/>
                        <a:ext cx="993775" cy="312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8" name="Object 10">
            <a:extLst>
              <a:ext uri="{FF2B5EF4-FFF2-40B4-BE49-F238E27FC236}">
                <a16:creationId xmlns:a16="http://schemas.microsoft.com/office/drawing/2014/main" id="{42962347-09C6-B352-6E69-BEEECF5D57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42088" y="1482725"/>
          <a:ext cx="463550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556258" imgH="365688" progId="Equation.3">
                  <p:embed/>
                </p:oleObj>
              </mc:Choice>
              <mc:Fallback>
                <p:oleObj name="公式" r:id="rId8" imgW="556258" imgH="365688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2088" y="1482725"/>
                        <a:ext cx="463550" cy="312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9" name="Freeform 11">
            <a:extLst>
              <a:ext uri="{FF2B5EF4-FFF2-40B4-BE49-F238E27FC236}">
                <a16:creationId xmlns:a16="http://schemas.microsoft.com/office/drawing/2014/main" id="{63DEB06B-91E3-532D-63E3-A387CBD78E39}"/>
              </a:ext>
            </a:extLst>
          </p:cNvPr>
          <p:cNvSpPr>
            <a:spLocks/>
          </p:cNvSpPr>
          <p:nvPr/>
        </p:nvSpPr>
        <p:spPr bwMode="auto">
          <a:xfrm>
            <a:off x="6330950" y="892175"/>
            <a:ext cx="2160588" cy="2017713"/>
          </a:xfrm>
          <a:custGeom>
            <a:avLst/>
            <a:gdLst>
              <a:gd name="T0" fmla="*/ 0 w 1361"/>
              <a:gd name="T1" fmla="*/ 2147483646 h 1271"/>
              <a:gd name="T2" fmla="*/ 2147483646 w 1361"/>
              <a:gd name="T3" fmla="*/ 2147483646 h 1271"/>
              <a:gd name="T4" fmla="*/ 2147483646 w 1361"/>
              <a:gd name="T5" fmla="*/ 2147483646 h 127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361" h="1271">
                <a:moveTo>
                  <a:pt x="0" y="12"/>
                </a:moveTo>
                <a:cubicBezTo>
                  <a:pt x="488" y="7"/>
                  <a:pt x="977" y="0"/>
                  <a:pt x="1169" y="210"/>
                </a:cubicBezTo>
                <a:cubicBezTo>
                  <a:pt x="1361" y="420"/>
                  <a:pt x="1155" y="1050"/>
                  <a:pt x="1151" y="1271"/>
                </a:cubicBezTo>
              </a:path>
            </a:pathLst>
          </a:custGeom>
          <a:noFill/>
          <a:ln w="19050" cap="flat" cmpd="sng">
            <a:solidFill>
              <a:srgbClr val="66FF33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12" name="Text Box 24">
            <a:extLst>
              <a:ext uri="{FF2B5EF4-FFF2-40B4-BE49-F238E27FC236}">
                <a16:creationId xmlns:a16="http://schemas.microsoft.com/office/drawing/2014/main" id="{1F949F95-0D2E-2A02-95B1-B85AB5A1A1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1950" y="2214563"/>
            <a:ext cx="301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000" b="1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</a:t>
            </a:r>
          </a:p>
        </p:txBody>
      </p:sp>
      <p:sp>
        <p:nvSpPr>
          <p:cNvPr id="12317" name="Line 29">
            <a:extLst>
              <a:ext uri="{FF2B5EF4-FFF2-40B4-BE49-F238E27FC236}">
                <a16:creationId xmlns:a16="http://schemas.microsoft.com/office/drawing/2014/main" id="{10322095-A41B-84FD-F185-F7FEF668226F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9338" y="936625"/>
            <a:ext cx="909637" cy="582613"/>
          </a:xfrm>
          <a:prstGeom prst="line">
            <a:avLst/>
          </a:prstGeom>
          <a:noFill/>
          <a:ln w="28575">
            <a:solidFill>
              <a:srgbClr val="FFFF66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18" name="Line 30">
            <a:extLst>
              <a:ext uri="{FF2B5EF4-FFF2-40B4-BE49-F238E27FC236}">
                <a16:creationId xmlns:a16="http://schemas.microsoft.com/office/drawing/2014/main" id="{5C8DF8AE-1884-E87E-257D-81D9531CBA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69113" y="1514475"/>
            <a:ext cx="1433512" cy="909638"/>
          </a:xfrm>
          <a:prstGeom prst="line">
            <a:avLst/>
          </a:prstGeom>
          <a:noFill/>
          <a:ln w="31750">
            <a:solidFill>
              <a:srgbClr val="66FF33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74C07C1-91CD-B586-2979-DC9887CE4E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3500438"/>
            <a:ext cx="6086475" cy="223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8" name="图片 4">
            <a:extLst>
              <a:ext uri="{FF2B5EF4-FFF2-40B4-BE49-F238E27FC236}">
                <a16:creationId xmlns:a16="http://schemas.microsoft.com/office/drawing/2014/main" id="{CB79261A-AA42-C853-6CF3-C196315A7B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9225" y="3190875"/>
            <a:ext cx="2173288" cy="326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2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2" grpId="0" autoUpdateAnimBg="0"/>
      <p:bldP spid="12295" grpId="0" autoUpdateAnimBg="0"/>
      <p:bldP spid="123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>
            <a:extLst>
              <a:ext uri="{FF2B5EF4-FFF2-40B4-BE49-F238E27FC236}">
                <a16:creationId xmlns:a16="http://schemas.microsoft.com/office/drawing/2014/main" id="{03BB8BC8-5CAD-67DE-9E0B-EAA4B2C7A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50" y="866775"/>
            <a:ext cx="1790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</a:rPr>
              <a:t>2.  </a:t>
            </a:r>
            <a:r>
              <a:rPr kumimoji="1" lang="zh-CN" altLang="en-US" sz="2400" b="1">
                <a:solidFill>
                  <a:srgbClr val="66FFFF"/>
                </a:solidFill>
                <a:latin typeface="宋体" panose="02010600030101010101" pitchFamily="2" charset="-122"/>
              </a:rPr>
              <a:t>瞬时速度</a:t>
            </a:r>
            <a:endParaRPr kumimoji="1" lang="zh-CN" altLang="en-US" sz="2400" b="1">
              <a:solidFill>
                <a:srgbClr val="66FFFF"/>
              </a:solidFill>
              <a:latin typeface="仿宋_GB2312" panose="02010609030101010101" pitchFamily="49" charset="-122"/>
              <a:ea typeface="仿宋_GB2312" panose="02010609030101010101" pitchFamily="49" charset="-122"/>
            </a:endParaRPr>
          </a:p>
        </p:txBody>
      </p:sp>
      <p:graphicFrame>
        <p:nvGraphicFramePr>
          <p:cNvPr id="5" name="Object 13">
            <a:extLst>
              <a:ext uri="{FF2B5EF4-FFF2-40B4-BE49-F238E27FC236}">
                <a16:creationId xmlns:a16="http://schemas.microsoft.com/office/drawing/2014/main" id="{3AE087A3-3A24-A343-C0DE-36A1F09AA1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1863" y="730250"/>
          <a:ext cx="39941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977654" imgH="807624" progId="Equation.3">
                  <p:embed/>
                </p:oleObj>
              </mc:Choice>
              <mc:Fallback>
                <p:oleObj name="公式" r:id="rId2" imgW="3977654" imgH="807624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1863" y="730250"/>
                        <a:ext cx="399415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Line 14">
            <a:extLst>
              <a:ext uri="{FF2B5EF4-FFF2-40B4-BE49-F238E27FC236}">
                <a16:creationId xmlns:a16="http://schemas.microsoft.com/office/drawing/2014/main" id="{71F3DE22-3B6C-CA86-ADD4-2258550E53A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84938" y="2284413"/>
            <a:ext cx="1133475" cy="1223962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Line 15">
            <a:extLst>
              <a:ext uri="{FF2B5EF4-FFF2-40B4-BE49-F238E27FC236}">
                <a16:creationId xmlns:a16="http://schemas.microsoft.com/office/drawing/2014/main" id="{3FD975B4-55E2-B657-27B8-AEFB0E8871C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84938" y="2357438"/>
            <a:ext cx="1997075" cy="116205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Rectangle 16">
            <a:extLst>
              <a:ext uri="{FF2B5EF4-FFF2-40B4-BE49-F238E27FC236}">
                <a16:creationId xmlns:a16="http://schemas.microsoft.com/office/drawing/2014/main" id="{39FAE050-E639-9675-9C03-9EDFC583D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8913" y="3436938"/>
            <a:ext cx="3540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000" b="1" i="1">
                <a:solidFill>
                  <a:srgbClr val="66FFCC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9" name="Rectangle 17">
            <a:extLst>
              <a:ext uri="{FF2B5EF4-FFF2-40B4-BE49-F238E27FC236}">
                <a16:creationId xmlns:a16="http://schemas.microsoft.com/office/drawing/2014/main" id="{3C76E92D-28CB-093D-3216-E7AB01747A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0563" y="1960563"/>
            <a:ext cx="3873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000" b="1" i="1">
                <a:solidFill>
                  <a:srgbClr val="66FFCC"/>
                </a:solidFill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10" name="Rectangle 18">
            <a:extLst>
              <a:ext uri="{FF2B5EF4-FFF2-40B4-BE49-F238E27FC236}">
                <a16:creationId xmlns:a16="http://schemas.microsoft.com/office/drawing/2014/main" id="{DBEAE6B6-6FE7-8438-201C-D33F80AFD7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7125" y="1887538"/>
            <a:ext cx="423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000" b="1" i="1">
                <a:solidFill>
                  <a:srgbClr val="66FFCC"/>
                </a:solidFill>
                <a:latin typeface="Times New Roman" panose="02020603050405020304" pitchFamily="18" charset="0"/>
              </a:rPr>
              <a:t>B'</a:t>
            </a:r>
          </a:p>
        </p:txBody>
      </p:sp>
      <p:graphicFrame>
        <p:nvGraphicFramePr>
          <p:cNvPr id="11" name="Object 19">
            <a:extLst>
              <a:ext uri="{FF2B5EF4-FFF2-40B4-BE49-F238E27FC236}">
                <a16:creationId xmlns:a16="http://schemas.microsoft.com/office/drawing/2014/main" id="{4C5A1716-7978-EBCC-06D9-BA74D8FCD3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10350" y="2232025"/>
          <a:ext cx="29210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50525" imgH="396144" progId="Equation.3">
                  <p:embed/>
                </p:oleObj>
              </mc:Choice>
              <mc:Fallback>
                <p:oleObj name="公式" r:id="rId4" imgW="350525" imgH="396144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0350" y="2232025"/>
                        <a:ext cx="292100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reeform 25">
            <a:extLst>
              <a:ext uri="{FF2B5EF4-FFF2-40B4-BE49-F238E27FC236}">
                <a16:creationId xmlns:a16="http://schemas.microsoft.com/office/drawing/2014/main" id="{F8D055A6-DA2F-68E8-14A4-58E7D2F89BD5}"/>
              </a:ext>
            </a:extLst>
          </p:cNvPr>
          <p:cNvSpPr>
            <a:spLocks/>
          </p:cNvSpPr>
          <p:nvPr/>
        </p:nvSpPr>
        <p:spPr bwMode="auto">
          <a:xfrm>
            <a:off x="6465888" y="2276475"/>
            <a:ext cx="2305050" cy="1611313"/>
          </a:xfrm>
          <a:custGeom>
            <a:avLst/>
            <a:gdLst>
              <a:gd name="T0" fmla="*/ 0 w 1452"/>
              <a:gd name="T1" fmla="*/ 2147483646 h 1015"/>
              <a:gd name="T2" fmla="*/ 2147483646 w 1452"/>
              <a:gd name="T3" fmla="*/ 2147483646 h 1015"/>
              <a:gd name="T4" fmla="*/ 2147483646 w 1452"/>
              <a:gd name="T5" fmla="*/ 2147483646 h 1015"/>
              <a:gd name="T6" fmla="*/ 2147483646 w 1452"/>
              <a:gd name="T7" fmla="*/ 2147483646 h 1015"/>
              <a:gd name="T8" fmla="*/ 2147483646 w 1452"/>
              <a:gd name="T9" fmla="*/ 2147483646 h 1015"/>
              <a:gd name="T10" fmla="*/ 2147483646 w 1452"/>
              <a:gd name="T11" fmla="*/ 2147483646 h 1015"/>
              <a:gd name="T12" fmla="*/ 2147483646 w 1452"/>
              <a:gd name="T13" fmla="*/ 2147483646 h 101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52" h="1015">
                <a:moveTo>
                  <a:pt x="0" y="1015"/>
                </a:moveTo>
                <a:cubicBezTo>
                  <a:pt x="4" y="890"/>
                  <a:pt x="8" y="765"/>
                  <a:pt x="46" y="652"/>
                </a:cubicBezTo>
                <a:cubicBezTo>
                  <a:pt x="84" y="539"/>
                  <a:pt x="159" y="424"/>
                  <a:pt x="227" y="335"/>
                </a:cubicBezTo>
                <a:cubicBezTo>
                  <a:pt x="295" y="246"/>
                  <a:pt x="374" y="169"/>
                  <a:pt x="457" y="116"/>
                </a:cubicBezTo>
                <a:cubicBezTo>
                  <a:pt x="540" y="63"/>
                  <a:pt x="621" y="34"/>
                  <a:pt x="726" y="17"/>
                </a:cubicBezTo>
                <a:cubicBezTo>
                  <a:pt x="831" y="0"/>
                  <a:pt x="968" y="2"/>
                  <a:pt x="1089" y="17"/>
                </a:cubicBezTo>
                <a:cubicBezTo>
                  <a:pt x="1210" y="32"/>
                  <a:pt x="1331" y="70"/>
                  <a:pt x="1452" y="108"/>
                </a:cubicBezTo>
              </a:path>
            </a:pathLst>
          </a:custGeom>
          <a:noFill/>
          <a:ln w="19050" cap="flat" cmpd="sng">
            <a:solidFill>
              <a:srgbClr val="66FF33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Line 27">
            <a:extLst>
              <a:ext uri="{FF2B5EF4-FFF2-40B4-BE49-F238E27FC236}">
                <a16:creationId xmlns:a16="http://schemas.microsoft.com/office/drawing/2014/main" id="{F920395F-1008-4B09-A014-ED5E3F35BA5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86525" y="2519363"/>
            <a:ext cx="123825" cy="1017587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6F7CEE4-C4EB-D274-51B3-7CD1E7AA12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988" y="1909763"/>
            <a:ext cx="5410200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b="1">
                <a:solidFill>
                  <a:schemeClr val="bg1"/>
                </a:solidFill>
              </a:rPr>
              <a:t>速度的方向是沿着轨道上质点所在处的</a:t>
            </a:r>
            <a:r>
              <a:rPr lang="zh-CN" altLang="en-US" sz="2400" b="1">
                <a:solidFill>
                  <a:srgbClr val="FFC000"/>
                </a:solidFill>
              </a:rPr>
              <a:t>切向</a:t>
            </a:r>
            <a:r>
              <a:rPr lang="en-US" altLang="zh-CN" sz="2400" b="1">
                <a:solidFill>
                  <a:schemeClr val="bg1"/>
                </a:solidFill>
              </a:rPr>
              <a:t>, </a:t>
            </a:r>
            <a:r>
              <a:rPr lang="zh-CN" altLang="en-US" sz="2400" b="1">
                <a:solidFill>
                  <a:schemeClr val="bg1"/>
                </a:solidFill>
              </a:rPr>
              <a:t>指向质点前进的方向。</a:t>
            </a:r>
            <a:endParaRPr lang="en-US" altLang="zh-CN" sz="2400" b="1">
              <a:solidFill>
                <a:schemeClr val="bg1"/>
              </a:solidFill>
            </a:endParaRPr>
          </a:p>
          <a:p>
            <a:pPr eaLnBrk="1" hangingPunct="1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2400" b="1">
              <a:solidFill>
                <a:schemeClr val="bg1"/>
              </a:solidFill>
            </a:endParaRPr>
          </a:p>
          <a:p>
            <a:pPr eaLnBrk="1" hangingPunct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b="1">
                <a:solidFill>
                  <a:schemeClr val="bg1"/>
                </a:solidFill>
              </a:rPr>
              <a:t> (</a:t>
            </a:r>
            <a:r>
              <a:rPr lang="zh-CN" altLang="en-US" sz="2400" b="1">
                <a:solidFill>
                  <a:schemeClr val="bg1"/>
                </a:solidFill>
              </a:rPr>
              <a:t>瞬时</a:t>
            </a:r>
            <a:r>
              <a:rPr lang="en-US" altLang="zh-CN" sz="2400" b="1">
                <a:solidFill>
                  <a:schemeClr val="bg1"/>
                </a:solidFill>
              </a:rPr>
              <a:t>)</a:t>
            </a:r>
            <a:r>
              <a:rPr lang="zh-CN" altLang="en-US" sz="2400" b="1">
                <a:solidFill>
                  <a:schemeClr val="bg1"/>
                </a:solidFill>
              </a:rPr>
              <a:t>速度的大小等于</a:t>
            </a:r>
            <a:r>
              <a:rPr lang="en-US" altLang="zh-CN" sz="2400" b="1">
                <a:solidFill>
                  <a:schemeClr val="bg1"/>
                </a:solidFill>
              </a:rPr>
              <a:t>(</a:t>
            </a:r>
            <a:r>
              <a:rPr lang="zh-CN" altLang="en-US" sz="2400" b="1">
                <a:solidFill>
                  <a:schemeClr val="bg1"/>
                </a:solidFill>
              </a:rPr>
              <a:t>瞬时</a:t>
            </a:r>
            <a:r>
              <a:rPr lang="en-US" altLang="zh-CN" sz="2400" b="1">
                <a:solidFill>
                  <a:schemeClr val="bg1"/>
                </a:solidFill>
              </a:rPr>
              <a:t>)</a:t>
            </a:r>
            <a:r>
              <a:rPr lang="zh-CN" altLang="en-US" sz="2400" b="1">
                <a:solidFill>
                  <a:schemeClr val="bg1"/>
                </a:solidFill>
              </a:rPr>
              <a:t>速率。</a:t>
            </a: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15" name="Rectangle 20">
            <a:extLst>
              <a:ext uri="{FF2B5EF4-FFF2-40B4-BE49-F238E27FC236}">
                <a16:creationId xmlns:a16="http://schemas.microsoft.com/office/drawing/2014/main" id="{F64333F2-B73E-06FB-EECD-DFB18086D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350" y="4732338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</a:rPr>
              <a:t>讨论</a:t>
            </a:r>
          </a:p>
        </p:txBody>
      </p:sp>
      <p:sp>
        <p:nvSpPr>
          <p:cNvPr id="16" name="Rectangle 21">
            <a:extLst>
              <a:ext uri="{FF2B5EF4-FFF2-40B4-BE49-F238E27FC236}">
                <a16:creationId xmlns:a16="http://schemas.microsoft.com/office/drawing/2014/main" id="{C91623E0-3204-00C7-AA7B-382559A8C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950" y="4732338"/>
            <a:ext cx="5254625" cy="639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(1) 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速度的</a:t>
            </a:r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矢量性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、</a:t>
            </a:r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瞬时性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和</a:t>
            </a:r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相对性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。</a:t>
            </a:r>
            <a:br>
              <a:rPr kumimoji="1" lang="zh-CN" altLang="en-US" sz="1200" b="1">
                <a:solidFill>
                  <a:srgbClr val="FFFFCC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</a:br>
            <a:endParaRPr kumimoji="1" lang="zh-CN" altLang="en-US" sz="1200" b="1">
              <a:solidFill>
                <a:srgbClr val="FFFF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" name="Rectangle 22">
            <a:extLst>
              <a:ext uri="{FF2B5EF4-FFF2-40B4-BE49-F238E27FC236}">
                <a16:creationId xmlns:a16="http://schemas.microsoft.com/office/drawing/2014/main" id="{2686D580-874F-6738-3DFB-23D25BAB58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5308600"/>
            <a:ext cx="39576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(2) </a:t>
            </a:r>
            <a:r>
              <a:rPr kumimoji="1" lang="zh-CN" altLang="en-US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注意速度与速率的区别</a:t>
            </a:r>
            <a:endParaRPr kumimoji="1" lang="zh-CN" altLang="en-US" sz="1200" b="1">
              <a:solidFill>
                <a:srgbClr val="FFFFCC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aphicFrame>
        <p:nvGraphicFramePr>
          <p:cNvPr id="18" name="Object 23">
            <a:extLst>
              <a:ext uri="{FF2B5EF4-FFF2-40B4-BE49-F238E27FC236}">
                <a16:creationId xmlns:a16="http://schemas.microsoft.com/office/drawing/2014/main" id="{D36AA875-E8B0-6ACA-3F47-FEE7908953E6}"/>
              </a:ext>
            </a:extLst>
          </p:cNvPr>
          <p:cNvGraphicFramePr>
            <a:graphicFrameLocks/>
          </p:cNvGraphicFramePr>
          <p:nvPr/>
        </p:nvGraphicFramePr>
        <p:xfrm>
          <a:off x="2020888" y="5765800"/>
          <a:ext cx="9652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937253" imgH="807624" progId="Equation.3">
                  <p:embed/>
                </p:oleObj>
              </mc:Choice>
              <mc:Fallback>
                <p:oleObj name="公式" r:id="rId6" imgW="937253" imgH="807624" progId="Equation.3">
                  <p:embed/>
                  <p:pic>
                    <p:nvPicPr>
                      <p:cNvPr id="0" name="Object 23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0888" y="5765800"/>
                        <a:ext cx="965200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AutoShape 26">
            <a:extLst>
              <a:ext uri="{FF2B5EF4-FFF2-40B4-BE49-F238E27FC236}">
                <a16:creationId xmlns:a16="http://schemas.microsoft.com/office/drawing/2014/main" id="{DEE8D5A8-DD5B-F5CD-0CA1-5D01EFC178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" y="4660900"/>
            <a:ext cx="360363" cy="576263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477647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0" name="Object 28">
            <a:extLst>
              <a:ext uri="{FF2B5EF4-FFF2-40B4-BE49-F238E27FC236}">
                <a16:creationId xmlns:a16="http://schemas.microsoft.com/office/drawing/2014/main" id="{43E793ED-847D-7F93-311A-5AD1B3333599}"/>
              </a:ext>
            </a:extLst>
          </p:cNvPr>
          <p:cNvGraphicFramePr>
            <a:graphicFrameLocks/>
          </p:cNvGraphicFramePr>
          <p:nvPr/>
        </p:nvGraphicFramePr>
        <p:xfrm>
          <a:off x="3421063" y="5751513"/>
          <a:ext cx="3159125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139377" imgH="860976" progId="Equation.3">
                  <p:embed/>
                </p:oleObj>
              </mc:Choice>
              <mc:Fallback>
                <p:oleObj name="公式" r:id="rId8" imgW="3139377" imgH="860976" progId="Equation.3">
                  <p:embed/>
                  <p:pic>
                    <p:nvPicPr>
                      <p:cNvPr id="0" name="Object 28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1063" y="5751513"/>
                        <a:ext cx="3159125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95ADBE36-3AE4-8B83-9819-BD53DE0ACD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5150" y="3797300"/>
          <a:ext cx="2447925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80588" imgH="393529" progId="Equation.DSMT4">
                  <p:embed/>
                </p:oleObj>
              </mc:Choice>
              <mc:Fallback>
                <p:oleObj name="Equation" r:id="rId10" imgW="1180588" imgH="393529" progId="Equation.DSMT4">
                  <p:embed/>
                  <p:pic>
                    <p:nvPicPr>
                      <p:cNvPr id="0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3797300"/>
                        <a:ext cx="2447925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8" grpId="0" autoUpdateAnimBg="0"/>
      <p:bldP spid="9" grpId="0" autoUpdateAnimBg="0"/>
      <p:bldP spid="10" grpId="0" autoUpdateAnimBg="0"/>
      <p:bldP spid="14" grpId="0"/>
      <p:bldP spid="15" grpId="0"/>
      <p:bldP spid="16" grpId="0"/>
      <p:bldP spid="17" grpId="0"/>
      <p:bldP spid="1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2">
            <a:extLst>
              <a:ext uri="{FF2B5EF4-FFF2-40B4-BE49-F238E27FC236}">
                <a16:creationId xmlns:a16="http://schemas.microsoft.com/office/drawing/2014/main" id="{87D0B55A-3165-020E-7187-80CD27EF93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319088"/>
            <a:ext cx="23463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rgbClr val="FFFF00"/>
                </a:solidFill>
                <a:latin typeface="宋体" panose="02010600030101010101" pitchFamily="2" charset="-122"/>
              </a:rPr>
              <a:t>三</a:t>
            </a:r>
            <a:r>
              <a:rPr kumimoji="1" lang="en-US" altLang="zh-CN" sz="2800" b="1">
                <a:solidFill>
                  <a:srgbClr val="FFFF00"/>
                </a:solidFill>
                <a:latin typeface="Times New Roman" panose="02020603050405020304" pitchFamily="18" charset="0"/>
              </a:rPr>
              <a:t>. </a:t>
            </a:r>
            <a:r>
              <a:rPr kumimoji="1" lang="zh-CN" altLang="en-US" sz="2800" b="1">
                <a:solidFill>
                  <a:srgbClr val="FFFF00"/>
                </a:solidFill>
                <a:latin typeface="宋体" panose="02010600030101010101" pitchFamily="2" charset="-122"/>
              </a:rPr>
              <a:t>加速度</a:t>
            </a:r>
            <a:endParaRPr kumimoji="1" lang="zh-CN" altLang="en-US" sz="2800" b="1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5EB8E346-221A-7292-6CCA-47CE1C135E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955675"/>
            <a:ext cx="2022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</a:rPr>
              <a:t>1. </a:t>
            </a:r>
            <a:r>
              <a:rPr kumimoji="1" lang="zh-CN" altLang="en-US" sz="2400" b="1">
                <a:solidFill>
                  <a:srgbClr val="66FFFF"/>
                </a:solidFill>
                <a:latin typeface="宋体" panose="02010600030101010101" pitchFamily="2" charset="-122"/>
              </a:rPr>
              <a:t>平均加速度</a:t>
            </a:r>
            <a:endParaRPr kumimoji="1" lang="zh-CN" altLang="en-US" sz="1200" b="1">
              <a:solidFill>
                <a:srgbClr val="66FFFF"/>
              </a:solidFill>
              <a:latin typeface="楷体_GB2312" panose="02010609030101010101" pitchFamily="49" charset="-122"/>
            </a:endParaRPr>
          </a:p>
        </p:txBody>
      </p:sp>
      <p:graphicFrame>
        <p:nvGraphicFramePr>
          <p:cNvPr id="25604" name="Object 4">
            <a:extLst>
              <a:ext uri="{FF2B5EF4-FFF2-40B4-BE49-F238E27FC236}">
                <a16:creationId xmlns:a16="http://schemas.microsoft.com/office/drawing/2014/main" id="{55248BC5-7497-2FCC-7500-5BECB013E5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1593850"/>
          <a:ext cx="3836988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733886" imgH="807624" progId="Equation.3">
                  <p:embed/>
                </p:oleObj>
              </mc:Choice>
              <mc:Fallback>
                <p:oleObj name="公式" r:id="rId2" imgW="3733886" imgH="807624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1593850"/>
                        <a:ext cx="3836988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5" name="Rectangle 5">
            <a:extLst>
              <a:ext uri="{FF2B5EF4-FFF2-40B4-BE49-F238E27FC236}">
                <a16:creationId xmlns:a16="http://schemas.microsoft.com/office/drawing/2014/main" id="{299CEB1E-F3C2-BAD8-9A8A-DF12F9D34C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684463"/>
            <a:ext cx="2022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</a:rPr>
              <a:t>2. </a:t>
            </a:r>
            <a:r>
              <a:rPr kumimoji="1" lang="zh-CN" altLang="en-US" sz="2400" b="1">
                <a:solidFill>
                  <a:srgbClr val="66FFFF"/>
                </a:solidFill>
                <a:latin typeface="宋体" panose="02010600030101010101" pitchFamily="2" charset="-122"/>
              </a:rPr>
              <a:t>瞬时加速度</a:t>
            </a:r>
            <a:endParaRPr kumimoji="1" lang="zh-CN" altLang="en-US" sz="1200" b="1">
              <a:solidFill>
                <a:srgbClr val="66FFFF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13318" name="Rectangle 6">
            <a:extLst>
              <a:ext uri="{FF2B5EF4-FFF2-40B4-BE49-F238E27FC236}">
                <a16:creationId xmlns:a16="http://schemas.microsoft.com/office/drawing/2014/main" id="{174AEFC9-3A61-899F-D1DD-1F9731297A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605338"/>
            <a:ext cx="800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rgbClr val="FFFF00"/>
                </a:solidFill>
                <a:latin typeface="宋体" panose="02010600030101010101" pitchFamily="2" charset="-122"/>
              </a:rPr>
              <a:t>讨论</a:t>
            </a:r>
            <a:endParaRPr kumimoji="1" lang="zh-CN" altLang="en-US" sz="2400" b="1">
              <a:solidFill>
                <a:srgbClr val="FFFF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13319" name="Rectangle 7">
            <a:extLst>
              <a:ext uri="{FF2B5EF4-FFF2-40B4-BE49-F238E27FC236}">
                <a16:creationId xmlns:a16="http://schemas.microsoft.com/office/drawing/2014/main" id="{CE329C25-4AED-FEA8-AD6C-E35BC57B86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5205413"/>
            <a:ext cx="7735888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(1) </a:t>
            </a:r>
            <a:r>
              <a:rPr kumimoji="1" lang="zh-CN" altLang="en-US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加速度反映速度的变化情况：包括速度方向的变化和</a:t>
            </a:r>
          </a:p>
          <a:p>
            <a:pPr eaLnBrk="1" hangingPunct="1"/>
            <a:r>
              <a:rPr kumimoji="1" lang="zh-CN" altLang="en-US" sz="2400" b="1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速度量值的变化。</a:t>
            </a:r>
          </a:p>
        </p:txBody>
      </p:sp>
      <p:graphicFrame>
        <p:nvGraphicFramePr>
          <p:cNvPr id="25608" name="Object 8">
            <a:extLst>
              <a:ext uri="{FF2B5EF4-FFF2-40B4-BE49-F238E27FC236}">
                <a16:creationId xmlns:a16="http://schemas.microsoft.com/office/drawing/2014/main" id="{71625874-CD69-478F-C3E6-F3E430FE1F82}"/>
              </a:ext>
            </a:extLst>
          </p:cNvPr>
          <p:cNvGraphicFramePr>
            <a:graphicFrameLocks/>
          </p:cNvGraphicFramePr>
          <p:nvPr/>
        </p:nvGraphicFramePr>
        <p:xfrm>
          <a:off x="827088" y="3343275"/>
          <a:ext cx="4951412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930034" imgH="853416" progId="Equation.3">
                  <p:embed/>
                </p:oleObj>
              </mc:Choice>
              <mc:Fallback>
                <p:oleObj name="公式" r:id="rId4" imgW="4930034" imgH="853416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343275"/>
                        <a:ext cx="4951412" cy="877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9" name="Line 9">
            <a:extLst>
              <a:ext uri="{FF2B5EF4-FFF2-40B4-BE49-F238E27FC236}">
                <a16:creationId xmlns:a16="http://schemas.microsoft.com/office/drawing/2014/main" id="{F7C777FB-589E-7BA3-5537-BE1FCFA9416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91338" y="3529013"/>
            <a:ext cx="684212" cy="452437"/>
          </a:xfrm>
          <a:prstGeom prst="line">
            <a:avLst/>
          </a:prstGeom>
          <a:noFill/>
          <a:ln w="34925">
            <a:solidFill>
              <a:srgbClr val="66FF3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10" name="Line 10">
            <a:extLst>
              <a:ext uri="{FF2B5EF4-FFF2-40B4-BE49-F238E27FC236}">
                <a16:creationId xmlns:a16="http://schemas.microsoft.com/office/drawing/2014/main" id="{EE938859-2ED1-9F70-AB11-D27061E27875}"/>
              </a:ext>
            </a:extLst>
          </p:cNvPr>
          <p:cNvSpPr>
            <a:spLocks noChangeShapeType="1"/>
          </p:cNvSpPr>
          <p:nvPr/>
        </p:nvSpPr>
        <p:spPr bwMode="auto">
          <a:xfrm>
            <a:off x="6880225" y="3981450"/>
            <a:ext cx="1295400" cy="152400"/>
          </a:xfrm>
          <a:prstGeom prst="line">
            <a:avLst/>
          </a:prstGeom>
          <a:noFill/>
          <a:ln w="31750">
            <a:solidFill>
              <a:srgbClr val="66FF3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11" name="Line 11">
            <a:extLst>
              <a:ext uri="{FF2B5EF4-FFF2-40B4-BE49-F238E27FC236}">
                <a16:creationId xmlns:a16="http://schemas.microsoft.com/office/drawing/2014/main" id="{7876FF34-2D98-7219-2F55-C5EBC9634E26}"/>
              </a:ext>
            </a:extLst>
          </p:cNvPr>
          <p:cNvSpPr>
            <a:spLocks noChangeShapeType="1"/>
          </p:cNvSpPr>
          <p:nvPr/>
        </p:nvSpPr>
        <p:spPr bwMode="auto">
          <a:xfrm>
            <a:off x="7566025" y="3524250"/>
            <a:ext cx="609600" cy="609600"/>
          </a:xfrm>
          <a:prstGeom prst="line">
            <a:avLst/>
          </a:prstGeom>
          <a:noFill/>
          <a:ln w="38100">
            <a:solidFill>
              <a:srgbClr val="33CC3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12" name="Rectangle 12">
            <a:extLst>
              <a:ext uri="{FF2B5EF4-FFF2-40B4-BE49-F238E27FC236}">
                <a16:creationId xmlns:a16="http://schemas.microsoft.com/office/drawing/2014/main" id="{477B6737-B708-024B-8B9E-F31467A17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7025" y="3198813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 b="1" i="1">
              <a:solidFill>
                <a:srgbClr val="66FFCC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5613" name="Object 13">
            <a:extLst>
              <a:ext uri="{FF2B5EF4-FFF2-40B4-BE49-F238E27FC236}">
                <a16:creationId xmlns:a16="http://schemas.microsoft.com/office/drawing/2014/main" id="{01E7FE12-7E3C-8A5C-27B5-69616DB78F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77050" y="3429000"/>
          <a:ext cx="4826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79165" imgH="365688" progId="Equation.3">
                  <p:embed/>
                </p:oleObj>
              </mc:Choice>
              <mc:Fallback>
                <p:oleObj name="公式" r:id="rId6" imgW="579165" imgH="365688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7050" y="3429000"/>
                        <a:ext cx="4826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4" name="Object 14">
            <a:extLst>
              <a:ext uri="{FF2B5EF4-FFF2-40B4-BE49-F238E27FC236}">
                <a16:creationId xmlns:a16="http://schemas.microsoft.com/office/drawing/2014/main" id="{4A58A8F8-BD62-70CD-E307-F05C6F2CAF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80225" y="4186238"/>
          <a:ext cx="102235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234399" imgH="365688" progId="Equation.3">
                  <p:embed/>
                </p:oleObj>
              </mc:Choice>
              <mc:Fallback>
                <p:oleObj name="公式" r:id="rId8" imgW="1234399" imgH="365688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0225" y="4186238"/>
                        <a:ext cx="102235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5" name="Object 15">
            <a:extLst>
              <a:ext uri="{FF2B5EF4-FFF2-40B4-BE49-F238E27FC236}">
                <a16:creationId xmlns:a16="http://schemas.microsoft.com/office/drawing/2014/main" id="{1841A975-6BE8-0F52-E4B8-4C85D117C4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31150" y="3543300"/>
          <a:ext cx="385763" cy="24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457281" imgH="281880" progId="Equation.3">
                  <p:embed/>
                </p:oleObj>
              </mc:Choice>
              <mc:Fallback>
                <p:oleObj name="公式" r:id="rId10" imgW="457281" imgH="28188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1150" y="3543300"/>
                        <a:ext cx="385763" cy="246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6" name="Freeform 16">
            <a:extLst>
              <a:ext uri="{FF2B5EF4-FFF2-40B4-BE49-F238E27FC236}">
                <a16:creationId xmlns:a16="http://schemas.microsoft.com/office/drawing/2014/main" id="{6E103A2E-77BD-790F-20AA-B6E3A9381D02}"/>
              </a:ext>
            </a:extLst>
          </p:cNvPr>
          <p:cNvSpPr>
            <a:spLocks/>
          </p:cNvSpPr>
          <p:nvPr/>
        </p:nvSpPr>
        <p:spPr bwMode="auto">
          <a:xfrm>
            <a:off x="5181600" y="947738"/>
            <a:ext cx="3276600" cy="1473200"/>
          </a:xfrm>
          <a:custGeom>
            <a:avLst/>
            <a:gdLst>
              <a:gd name="T0" fmla="*/ 0 w 2064"/>
              <a:gd name="T1" fmla="*/ 2147483646 h 928"/>
              <a:gd name="T2" fmla="*/ 2147483646 w 2064"/>
              <a:gd name="T3" fmla="*/ 2147483646 h 928"/>
              <a:gd name="T4" fmla="*/ 2147483646 w 2064"/>
              <a:gd name="T5" fmla="*/ 2147483646 h 928"/>
              <a:gd name="T6" fmla="*/ 2147483646 w 2064"/>
              <a:gd name="T7" fmla="*/ 2147483646 h 928"/>
              <a:gd name="T8" fmla="*/ 2147483646 w 2064"/>
              <a:gd name="T9" fmla="*/ 2147483646 h 9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64" h="928">
                <a:moveTo>
                  <a:pt x="0" y="928"/>
                </a:moveTo>
                <a:cubicBezTo>
                  <a:pt x="164" y="688"/>
                  <a:pt x="328" y="448"/>
                  <a:pt x="480" y="304"/>
                </a:cubicBezTo>
                <a:cubicBezTo>
                  <a:pt x="632" y="160"/>
                  <a:pt x="744" y="112"/>
                  <a:pt x="912" y="64"/>
                </a:cubicBezTo>
                <a:cubicBezTo>
                  <a:pt x="1080" y="16"/>
                  <a:pt x="1296" y="0"/>
                  <a:pt x="1488" y="16"/>
                </a:cubicBezTo>
                <a:cubicBezTo>
                  <a:pt x="1680" y="32"/>
                  <a:pt x="1968" y="136"/>
                  <a:pt x="2064" y="160"/>
                </a:cubicBezTo>
              </a:path>
            </a:pathLst>
          </a:custGeom>
          <a:noFill/>
          <a:ln w="38100" cmpd="sng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17" name="Line 17">
            <a:extLst>
              <a:ext uri="{FF2B5EF4-FFF2-40B4-BE49-F238E27FC236}">
                <a16:creationId xmlns:a16="http://schemas.microsoft.com/office/drawing/2014/main" id="{BC5CE97D-E219-700D-05D5-DA7556CD99D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932488" y="1484313"/>
            <a:ext cx="511175" cy="1512887"/>
          </a:xfrm>
          <a:prstGeom prst="line">
            <a:avLst/>
          </a:prstGeom>
          <a:noFill/>
          <a:ln w="31750">
            <a:solidFill>
              <a:srgbClr val="66FF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18" name="Line 18">
            <a:extLst>
              <a:ext uri="{FF2B5EF4-FFF2-40B4-BE49-F238E27FC236}">
                <a16:creationId xmlns:a16="http://schemas.microsoft.com/office/drawing/2014/main" id="{3B2FD6AB-6B6C-DD3F-0F40-F1943347D9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43663" y="981075"/>
            <a:ext cx="920750" cy="2016125"/>
          </a:xfrm>
          <a:prstGeom prst="line">
            <a:avLst/>
          </a:prstGeom>
          <a:noFill/>
          <a:ln w="31750">
            <a:solidFill>
              <a:srgbClr val="66FF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19" name="Line 19">
            <a:extLst>
              <a:ext uri="{FF2B5EF4-FFF2-40B4-BE49-F238E27FC236}">
                <a16:creationId xmlns:a16="http://schemas.microsoft.com/office/drawing/2014/main" id="{562954D9-8240-16FE-9DE8-A1B06FF60E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24550" y="946150"/>
            <a:ext cx="500063" cy="496888"/>
          </a:xfrm>
          <a:prstGeom prst="line">
            <a:avLst/>
          </a:prstGeom>
          <a:noFill/>
          <a:ln w="3175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20" name="Line 20">
            <a:extLst>
              <a:ext uri="{FF2B5EF4-FFF2-40B4-BE49-F238E27FC236}">
                <a16:creationId xmlns:a16="http://schemas.microsoft.com/office/drawing/2014/main" id="{EEDF9B94-F74A-1964-F83D-B9B5AAC5958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81875" y="908050"/>
            <a:ext cx="1293813" cy="58738"/>
          </a:xfrm>
          <a:prstGeom prst="line">
            <a:avLst/>
          </a:prstGeom>
          <a:noFill/>
          <a:ln w="3175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21" name="Rectangle 21">
            <a:extLst>
              <a:ext uri="{FF2B5EF4-FFF2-40B4-BE49-F238E27FC236}">
                <a16:creationId xmlns:a16="http://schemas.microsoft.com/office/drawing/2014/main" id="{508E1FD2-3A8A-55EF-4E01-2A20D75139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7200" y="1042988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000" b="1" i="1">
                <a:solidFill>
                  <a:srgbClr val="66FFCC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25622" name="Rectangle 22">
            <a:extLst>
              <a:ext uri="{FF2B5EF4-FFF2-40B4-BE49-F238E27FC236}">
                <a16:creationId xmlns:a16="http://schemas.microsoft.com/office/drawing/2014/main" id="{8AA12489-8E89-7E7C-4647-BD67ABCD29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0288" y="981075"/>
            <a:ext cx="3540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000" b="1" i="1">
                <a:solidFill>
                  <a:srgbClr val="66FFCC"/>
                </a:solidFill>
                <a:latin typeface="Times New Roman" panose="02020603050405020304" pitchFamily="18" charset="0"/>
              </a:rPr>
              <a:t>B</a:t>
            </a:r>
          </a:p>
        </p:txBody>
      </p:sp>
      <p:graphicFrame>
        <p:nvGraphicFramePr>
          <p:cNvPr id="25623" name="Object 23">
            <a:extLst>
              <a:ext uri="{FF2B5EF4-FFF2-40B4-BE49-F238E27FC236}">
                <a16:creationId xmlns:a16="http://schemas.microsoft.com/office/drawing/2014/main" id="{7E46834C-479F-9508-849B-93DBE5EF3C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27763" y="549275"/>
          <a:ext cx="4746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579165" imgH="365688" progId="Equation.3">
                  <p:embed/>
                </p:oleObj>
              </mc:Choice>
              <mc:Fallback>
                <p:oleObj name="公式" r:id="rId12" imgW="579165" imgH="365688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7763" y="549275"/>
                        <a:ext cx="474662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4" name="Object 24">
            <a:extLst>
              <a:ext uri="{FF2B5EF4-FFF2-40B4-BE49-F238E27FC236}">
                <a16:creationId xmlns:a16="http://schemas.microsoft.com/office/drawing/2014/main" id="{751F943A-44D4-882E-EBFF-850DF79526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67625" y="549275"/>
          <a:ext cx="102235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234399" imgH="365688" progId="Equation.3">
                  <p:embed/>
                </p:oleObj>
              </mc:Choice>
              <mc:Fallback>
                <p:oleObj name="公式" r:id="rId14" imgW="1234399" imgH="365688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7625" y="549275"/>
                        <a:ext cx="102235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5" name="Object 25">
            <a:extLst>
              <a:ext uri="{FF2B5EF4-FFF2-40B4-BE49-F238E27FC236}">
                <a16:creationId xmlns:a16="http://schemas.microsoft.com/office/drawing/2014/main" id="{FD6A8017-D519-151A-8223-8278AC0FDA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96013" y="1749425"/>
          <a:ext cx="46355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556258" imgH="365688" progId="Equation.3">
                  <p:embed/>
                </p:oleObj>
              </mc:Choice>
              <mc:Fallback>
                <p:oleObj name="公式" r:id="rId16" imgW="556258" imgH="365688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6013" y="1749425"/>
                        <a:ext cx="463550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6" name="Object 26">
            <a:extLst>
              <a:ext uri="{FF2B5EF4-FFF2-40B4-BE49-F238E27FC236}">
                <a16:creationId xmlns:a16="http://schemas.microsoft.com/office/drawing/2014/main" id="{9855037B-A4BE-3672-918D-06118B0376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9925" y="1844675"/>
          <a:ext cx="99377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219272" imgH="365688" progId="Equation.3">
                  <p:embed/>
                </p:oleObj>
              </mc:Choice>
              <mc:Fallback>
                <p:oleObj name="公式" r:id="rId18" imgW="1219272" imgH="365688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9925" y="1844675"/>
                        <a:ext cx="993775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27" name="Text Box 27">
            <a:extLst>
              <a:ext uri="{FF2B5EF4-FFF2-40B4-BE49-F238E27FC236}">
                <a16:creationId xmlns:a16="http://schemas.microsoft.com/office/drawing/2014/main" id="{5163F153-8671-8D18-DA83-50DDB0FE5C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425" y="2816225"/>
            <a:ext cx="368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000" b="1" i="1">
                <a:solidFill>
                  <a:srgbClr val="FFFFFF"/>
                </a:solidFill>
                <a:latin typeface="Times New Roman" panose="02020603050405020304" pitchFamily="18" charset="0"/>
              </a:rPr>
              <a:t>O</a:t>
            </a:r>
            <a:endParaRPr kumimoji="1" lang="en-US" altLang="zh-CN" sz="20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40" name="Text Box 28">
            <a:extLst>
              <a:ext uri="{FF2B5EF4-FFF2-40B4-BE49-F238E27FC236}">
                <a16:creationId xmlns:a16="http://schemas.microsoft.com/office/drawing/2014/main" id="{12A28193-3767-59F7-0864-243FACA8D9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513" y="6048375"/>
            <a:ext cx="825097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(2) </a:t>
            </a:r>
            <a:r>
              <a:rPr kumimoji="1" lang="zh-CN" altLang="en-US" sz="2400" b="1" dirty="0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加</a:t>
            </a:r>
            <a:r>
              <a:rPr kumimoji="1"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速度的方向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(</a:t>
            </a:r>
            <a:r>
              <a:rPr kumimoji="1"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仅法向分量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)</a:t>
            </a:r>
            <a:r>
              <a:rPr kumimoji="1"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总是指向轨迹曲线凹的一面。</a:t>
            </a:r>
          </a:p>
        </p:txBody>
      </p:sp>
      <p:sp>
        <p:nvSpPr>
          <p:cNvPr id="25629" name="Text Box 29">
            <a:extLst>
              <a:ext uri="{FF2B5EF4-FFF2-40B4-BE49-F238E27FC236}">
                <a16:creationId xmlns:a16="http://schemas.microsoft.com/office/drawing/2014/main" id="{FD32F19D-25A9-45D9-014B-3E7C3FE4A5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0788" y="2781300"/>
            <a:ext cx="301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000" b="1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</a:t>
            </a:r>
          </a:p>
        </p:txBody>
      </p:sp>
      <p:sp>
        <p:nvSpPr>
          <p:cNvPr id="25630" name="Text Box 30">
            <a:extLst>
              <a:ext uri="{FF2B5EF4-FFF2-40B4-BE49-F238E27FC236}">
                <a16:creationId xmlns:a16="http://schemas.microsoft.com/office/drawing/2014/main" id="{264387BE-F69D-B2A5-9052-05E1C7C344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8975" y="1227138"/>
            <a:ext cx="301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000" b="1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</a:t>
            </a:r>
          </a:p>
        </p:txBody>
      </p:sp>
      <p:sp>
        <p:nvSpPr>
          <p:cNvPr id="25631" name="Text Box 31">
            <a:extLst>
              <a:ext uri="{FF2B5EF4-FFF2-40B4-BE49-F238E27FC236}">
                <a16:creationId xmlns:a16="http://schemas.microsoft.com/office/drawing/2014/main" id="{5720613F-2AEB-FB3F-0BE8-EEC5AE91C7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7888" y="738188"/>
            <a:ext cx="301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000" b="1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</a:t>
            </a:r>
          </a:p>
        </p:txBody>
      </p:sp>
      <p:sp>
        <p:nvSpPr>
          <p:cNvPr id="13344" name="AutoShape 32">
            <a:extLst>
              <a:ext uri="{FF2B5EF4-FFF2-40B4-BE49-F238E27FC236}">
                <a16:creationId xmlns:a16="http://schemas.microsoft.com/office/drawing/2014/main" id="{B016EA92-2776-2F98-57B9-8A485CB20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200" y="4546600"/>
            <a:ext cx="360363" cy="576263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477647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8" grpId="0"/>
      <p:bldP spid="13319" grpId="0"/>
      <p:bldP spid="13340" grpId="0"/>
      <p:bldP spid="1334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>
            <a:extLst>
              <a:ext uri="{FF2B5EF4-FFF2-40B4-BE49-F238E27FC236}">
                <a16:creationId xmlns:a16="http://schemas.microsoft.com/office/drawing/2014/main" id="{4C29BB0B-1DB2-43E1-1475-BF95E68D7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260350"/>
            <a:ext cx="7270750" cy="72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3251" name="Picture 3">
            <a:extLst>
              <a:ext uri="{FF2B5EF4-FFF2-40B4-BE49-F238E27FC236}">
                <a16:creationId xmlns:a16="http://schemas.microsoft.com/office/drawing/2014/main" id="{9C9B680E-5D01-7471-AB55-CDFEBEF16D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488" y="1533525"/>
            <a:ext cx="6330950" cy="3333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3252" name="Picture 4">
            <a:extLst>
              <a:ext uri="{FF2B5EF4-FFF2-40B4-BE49-F238E27FC236}">
                <a16:creationId xmlns:a16="http://schemas.microsoft.com/office/drawing/2014/main" id="{97A804D8-06A8-5021-EF73-314B1D9283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4838" y="2757488"/>
            <a:ext cx="6400800" cy="255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3253" name="Picture 5">
            <a:extLst>
              <a:ext uri="{FF2B5EF4-FFF2-40B4-BE49-F238E27FC236}">
                <a16:creationId xmlns:a16="http://schemas.microsoft.com/office/drawing/2014/main" id="{DB1CCB9D-DC4A-9C45-A134-890617DE4D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913" y="4325938"/>
            <a:ext cx="6508750" cy="196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>
            <a:extLst>
              <a:ext uri="{FF2B5EF4-FFF2-40B4-BE49-F238E27FC236}">
                <a16:creationId xmlns:a16="http://schemas.microsoft.com/office/drawing/2014/main" id="{3212A41B-5044-6A19-D1F4-B68B1EBC41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000" y="328613"/>
            <a:ext cx="757078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rgbClr val="66FF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1.3</a:t>
            </a:r>
            <a:r>
              <a:rPr kumimoji="1" lang="en-US" altLang="zh-CN" sz="3200" b="1">
                <a:solidFill>
                  <a:srgbClr val="66FF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sz="3200" b="1">
                <a:solidFill>
                  <a:srgbClr val="66FF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用直角坐标表示位移、速度和加速度</a:t>
            </a:r>
          </a:p>
        </p:txBody>
      </p:sp>
      <p:sp>
        <p:nvSpPr>
          <p:cNvPr id="27651" name="Text Box 3">
            <a:extLst>
              <a:ext uri="{FF2B5EF4-FFF2-40B4-BE49-F238E27FC236}">
                <a16:creationId xmlns:a16="http://schemas.microsoft.com/office/drawing/2014/main" id="{FEE8AED6-2BBE-08FE-105A-308AFBDE6E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949325"/>
            <a:ext cx="1682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rgbClr val="FFFF00"/>
                </a:solidFill>
                <a:latin typeface="宋体" panose="02010600030101010101" pitchFamily="2" charset="-122"/>
              </a:rPr>
              <a:t>一</a:t>
            </a:r>
            <a:r>
              <a:rPr kumimoji="1" lang="en-US" altLang="zh-CN" sz="2800" b="1">
                <a:solidFill>
                  <a:srgbClr val="FFFF00"/>
                </a:solidFill>
                <a:latin typeface="Times New Roman" panose="02020603050405020304" pitchFamily="18" charset="0"/>
              </a:rPr>
              <a:t>. </a:t>
            </a:r>
            <a:r>
              <a:rPr kumimoji="1" lang="zh-CN" altLang="en-US" sz="2800" b="1">
                <a:solidFill>
                  <a:srgbClr val="FFFF00"/>
                </a:solidFill>
                <a:latin typeface="宋体" panose="02010600030101010101" pitchFamily="2" charset="-122"/>
              </a:rPr>
              <a:t>位移</a:t>
            </a:r>
          </a:p>
        </p:txBody>
      </p:sp>
      <p:graphicFrame>
        <p:nvGraphicFramePr>
          <p:cNvPr id="23556" name="Object 4">
            <a:extLst>
              <a:ext uri="{FF2B5EF4-FFF2-40B4-BE49-F238E27FC236}">
                <a16:creationId xmlns:a16="http://schemas.microsoft.com/office/drawing/2014/main" id="{AE7E662F-0DF6-E9F7-8A95-44A7447DC719}"/>
              </a:ext>
            </a:extLst>
          </p:cNvPr>
          <p:cNvGraphicFramePr>
            <a:graphicFrameLocks/>
          </p:cNvGraphicFramePr>
          <p:nvPr/>
        </p:nvGraphicFramePr>
        <p:xfrm>
          <a:off x="4152900" y="4584700"/>
          <a:ext cx="15351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508855" imgH="396144" progId="Equation.3">
                  <p:embed/>
                </p:oleObj>
              </mc:Choice>
              <mc:Fallback>
                <p:oleObj name="公式" r:id="rId2" imgW="1508855" imgH="396144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2900" y="4584700"/>
                        <a:ext cx="153511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Object 5">
            <a:extLst>
              <a:ext uri="{FF2B5EF4-FFF2-40B4-BE49-F238E27FC236}">
                <a16:creationId xmlns:a16="http://schemas.microsoft.com/office/drawing/2014/main" id="{1A49839A-EE24-0838-FD3B-AFCCC3CF72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5133975"/>
          <a:ext cx="305117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032837" imgH="419040" progId="Equation.3">
                  <p:embed/>
                </p:oleObj>
              </mc:Choice>
              <mc:Fallback>
                <p:oleObj name="公式" r:id="rId4" imgW="3032837" imgH="4190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5133975"/>
                        <a:ext cx="3051175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4" name="Line 6">
            <a:extLst>
              <a:ext uri="{FF2B5EF4-FFF2-40B4-BE49-F238E27FC236}">
                <a16:creationId xmlns:a16="http://schemas.microsoft.com/office/drawing/2014/main" id="{8355389E-6CB6-EC70-3B49-EBE462CFB8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27788" y="1719263"/>
            <a:ext cx="0" cy="185420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55" name="Line 7">
            <a:extLst>
              <a:ext uri="{FF2B5EF4-FFF2-40B4-BE49-F238E27FC236}">
                <a16:creationId xmlns:a16="http://schemas.microsoft.com/office/drawing/2014/main" id="{5B2A8774-A9F8-6F94-EE7D-F3415CA0143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65788" y="3573463"/>
            <a:ext cx="762000" cy="68580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56" name="Line 8">
            <a:extLst>
              <a:ext uri="{FF2B5EF4-FFF2-40B4-BE49-F238E27FC236}">
                <a16:creationId xmlns:a16="http://schemas.microsoft.com/office/drawing/2014/main" id="{A6D858B8-B8B2-ACFD-FA09-AE66D4997013}"/>
              </a:ext>
            </a:extLst>
          </p:cNvPr>
          <p:cNvSpPr>
            <a:spLocks noChangeShapeType="1"/>
          </p:cNvSpPr>
          <p:nvPr/>
        </p:nvSpPr>
        <p:spPr bwMode="auto">
          <a:xfrm>
            <a:off x="6427788" y="3573463"/>
            <a:ext cx="1944687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57" name="Line 9">
            <a:extLst>
              <a:ext uri="{FF2B5EF4-FFF2-40B4-BE49-F238E27FC236}">
                <a16:creationId xmlns:a16="http://schemas.microsoft.com/office/drawing/2014/main" id="{8D652E54-AEE4-D859-FDD9-34FC19F87A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27788" y="2276475"/>
            <a:ext cx="533400" cy="1296988"/>
          </a:xfrm>
          <a:prstGeom prst="line">
            <a:avLst/>
          </a:prstGeom>
          <a:noFill/>
          <a:ln w="38100">
            <a:solidFill>
              <a:srgbClr val="FFFF66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58" name="Line 10">
            <a:extLst>
              <a:ext uri="{FF2B5EF4-FFF2-40B4-BE49-F238E27FC236}">
                <a16:creationId xmlns:a16="http://schemas.microsoft.com/office/drawing/2014/main" id="{9B8EE48B-59BB-43CE-FB96-F336071A2F8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27788" y="3573463"/>
            <a:ext cx="1295400" cy="228600"/>
          </a:xfrm>
          <a:prstGeom prst="line">
            <a:avLst/>
          </a:prstGeom>
          <a:noFill/>
          <a:ln w="38100">
            <a:solidFill>
              <a:srgbClr val="FFFF66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59" name="Line 11">
            <a:extLst>
              <a:ext uri="{FF2B5EF4-FFF2-40B4-BE49-F238E27FC236}">
                <a16:creationId xmlns:a16="http://schemas.microsoft.com/office/drawing/2014/main" id="{B985DD32-C7EB-D84E-9E43-66A09B950D02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1025" y="2276475"/>
            <a:ext cx="763588" cy="1511300"/>
          </a:xfrm>
          <a:prstGeom prst="line">
            <a:avLst/>
          </a:prstGeom>
          <a:noFill/>
          <a:ln w="38100">
            <a:solidFill>
              <a:srgbClr val="66FF33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60" name="Rectangle 12">
            <a:extLst>
              <a:ext uri="{FF2B5EF4-FFF2-40B4-BE49-F238E27FC236}">
                <a16:creationId xmlns:a16="http://schemas.microsoft.com/office/drawing/2014/main" id="{A3B10094-8A43-9AA7-3CE5-6F85E77CFA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6925" y="3960813"/>
            <a:ext cx="3746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000" b="1" i="1">
                <a:solidFill>
                  <a:schemeClr val="bg1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2000" b="1">
                <a:solidFill>
                  <a:srgbClr val="66FFCC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27661" name="Rectangle 13">
            <a:extLst>
              <a:ext uri="{FF2B5EF4-FFF2-40B4-BE49-F238E27FC236}">
                <a16:creationId xmlns:a16="http://schemas.microsoft.com/office/drawing/2014/main" id="{BA5D1C95-51B6-34E9-0F10-D2C749D0C9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4338" y="3097213"/>
            <a:ext cx="2968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000" b="1" i="1">
                <a:solidFill>
                  <a:schemeClr val="bg1"/>
                </a:solidFill>
                <a:latin typeface="Times New Roman" panose="02020603050405020304" pitchFamily="18" charset="0"/>
              </a:rPr>
              <a:t>y</a:t>
            </a:r>
            <a:endParaRPr kumimoji="1" lang="en-US" altLang="zh-CN" sz="2000" b="1" i="1">
              <a:solidFill>
                <a:srgbClr val="66FF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62" name="Rectangle 14">
            <a:extLst>
              <a:ext uri="{FF2B5EF4-FFF2-40B4-BE49-F238E27FC236}">
                <a16:creationId xmlns:a16="http://schemas.microsoft.com/office/drawing/2014/main" id="{CCD70ED3-FC65-6D01-520C-8C795178B1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4938" y="1700213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000" b="1" i="1">
                <a:solidFill>
                  <a:schemeClr val="bg1"/>
                </a:solidFill>
                <a:latin typeface="Times New Roman" panose="02020603050405020304" pitchFamily="18" charset="0"/>
              </a:rPr>
              <a:t>z</a:t>
            </a:r>
            <a:endParaRPr kumimoji="1" lang="en-US" altLang="zh-CN" sz="2000" b="1" i="1">
              <a:solidFill>
                <a:srgbClr val="66FF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63" name="Rectangle 15">
            <a:extLst>
              <a:ext uri="{FF2B5EF4-FFF2-40B4-BE49-F238E27FC236}">
                <a16:creationId xmlns:a16="http://schemas.microsoft.com/office/drawing/2014/main" id="{15DBF5D5-E83C-554E-A34C-A6BC8CFE9B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1888" y="3557588"/>
            <a:ext cx="4889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000" b="1" i="1">
                <a:solidFill>
                  <a:schemeClr val="bg1"/>
                </a:solidFill>
                <a:latin typeface="Times New Roman" panose="02020603050405020304" pitchFamily="18" charset="0"/>
              </a:rPr>
              <a:t>O</a:t>
            </a:r>
            <a:endParaRPr kumimoji="1" lang="en-US" altLang="zh-CN" sz="2000" b="1">
              <a:solidFill>
                <a:srgbClr val="66FFCC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7664" name="Object 16">
            <a:extLst>
              <a:ext uri="{FF2B5EF4-FFF2-40B4-BE49-F238E27FC236}">
                <a16:creationId xmlns:a16="http://schemas.microsoft.com/office/drawing/2014/main" id="{4586DB63-D169-B219-DA78-00E1CFBB25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91388" y="2713038"/>
          <a:ext cx="349250" cy="23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03903" imgH="274320" progId="Equation.3">
                  <p:embed/>
                </p:oleObj>
              </mc:Choice>
              <mc:Fallback>
                <p:oleObj name="公式" r:id="rId6" imgW="403903" imgH="27432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91388" y="2713038"/>
                        <a:ext cx="349250" cy="234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5" name="Object 17">
            <a:extLst>
              <a:ext uri="{FF2B5EF4-FFF2-40B4-BE49-F238E27FC236}">
                <a16:creationId xmlns:a16="http://schemas.microsoft.com/office/drawing/2014/main" id="{1FB4838A-36B8-0F2A-641C-42E311B73E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54813" y="2781300"/>
          <a:ext cx="176212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90606" imgH="396144" progId="Equation.3">
                  <p:embed/>
                </p:oleObj>
              </mc:Choice>
              <mc:Fallback>
                <p:oleObj name="公式" r:id="rId8" imgW="190606" imgH="396144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4813" y="2781300"/>
                        <a:ext cx="176212" cy="33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6" name="Object 18">
            <a:extLst>
              <a:ext uri="{FF2B5EF4-FFF2-40B4-BE49-F238E27FC236}">
                <a16:creationId xmlns:a16="http://schemas.microsoft.com/office/drawing/2014/main" id="{333683B4-B34A-F8F5-6115-62F8DE58E4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9588" y="3716338"/>
          <a:ext cx="204787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28641" imgH="396144" progId="Equation.3">
                  <p:embed/>
                </p:oleObj>
              </mc:Choice>
              <mc:Fallback>
                <p:oleObj name="公式" r:id="rId10" imgW="228641" imgH="396144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9588" y="3716338"/>
                        <a:ext cx="204787" cy="338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7" name="Object 19">
            <a:extLst>
              <a:ext uri="{FF2B5EF4-FFF2-40B4-BE49-F238E27FC236}">
                <a16:creationId xmlns:a16="http://schemas.microsoft.com/office/drawing/2014/main" id="{3032F7D8-7F7A-7C33-2FF2-CA3B962A4C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1650" y="1954213"/>
          <a:ext cx="223838" cy="233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51548" imgH="274320" progId="Equation.3">
                  <p:embed/>
                </p:oleObj>
              </mc:Choice>
              <mc:Fallback>
                <p:oleObj name="公式" r:id="rId12" imgW="251548" imgH="27432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1650" y="1954213"/>
                        <a:ext cx="223838" cy="233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8" name="Object 20">
            <a:extLst>
              <a:ext uri="{FF2B5EF4-FFF2-40B4-BE49-F238E27FC236}">
                <a16:creationId xmlns:a16="http://schemas.microsoft.com/office/drawing/2014/main" id="{8B6EAD2A-7F4A-853F-2E8E-957D66404750}"/>
              </a:ext>
            </a:extLst>
          </p:cNvPr>
          <p:cNvGraphicFramePr>
            <a:graphicFrameLocks/>
          </p:cNvGraphicFramePr>
          <p:nvPr/>
        </p:nvGraphicFramePr>
        <p:xfrm>
          <a:off x="7380288" y="3860800"/>
          <a:ext cx="233362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74239" imgH="365688" progId="Equation.3">
                  <p:embed/>
                </p:oleObj>
              </mc:Choice>
              <mc:Fallback>
                <p:oleObj name="公式" r:id="rId14" imgW="274239" imgH="365688" progId="Equation.3">
                  <p:embed/>
                  <p:pic>
                    <p:nvPicPr>
                      <p:cNvPr id="0" name="Object 20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0288" y="3860800"/>
                        <a:ext cx="233362" cy="312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9" name="Text Box 21">
            <a:extLst>
              <a:ext uri="{FF2B5EF4-FFF2-40B4-BE49-F238E27FC236}">
                <a16:creationId xmlns:a16="http://schemas.microsoft.com/office/drawing/2014/main" id="{A6A9E855-9FB9-7CB1-B846-CDB7B61737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563" y="1557338"/>
            <a:ext cx="403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时刻 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t 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，质点位于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P 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，位矢为</a:t>
            </a:r>
          </a:p>
        </p:txBody>
      </p:sp>
      <p:graphicFrame>
        <p:nvGraphicFramePr>
          <p:cNvPr id="27670" name="Object 22">
            <a:extLst>
              <a:ext uri="{FF2B5EF4-FFF2-40B4-BE49-F238E27FC236}">
                <a16:creationId xmlns:a16="http://schemas.microsoft.com/office/drawing/2014/main" id="{9EC96E60-1A91-7089-A10C-A21ED48D6D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1538" y="1557338"/>
          <a:ext cx="215900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90606" imgH="396144" progId="Equation.3">
                  <p:embed/>
                </p:oleObj>
              </mc:Choice>
              <mc:Fallback>
                <p:oleObj name="公式" r:id="rId16" imgW="190606" imgH="396144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1538" y="1557338"/>
                        <a:ext cx="215900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71" name="Text Box 23">
            <a:extLst>
              <a:ext uri="{FF2B5EF4-FFF2-40B4-BE49-F238E27FC236}">
                <a16:creationId xmlns:a16="http://schemas.microsoft.com/office/drawing/2014/main" id="{925A243E-B930-11B7-98EC-F84B31E869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563" y="2133600"/>
            <a:ext cx="4670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时刻 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t +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t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，质点位于 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Q 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，位矢为</a:t>
            </a:r>
          </a:p>
        </p:txBody>
      </p:sp>
      <p:graphicFrame>
        <p:nvGraphicFramePr>
          <p:cNvPr id="27672" name="Object 24">
            <a:extLst>
              <a:ext uri="{FF2B5EF4-FFF2-40B4-BE49-F238E27FC236}">
                <a16:creationId xmlns:a16="http://schemas.microsoft.com/office/drawing/2014/main" id="{5943DC81-7A93-4C1F-DB5C-C0B69A6790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64163" y="2163763"/>
          <a:ext cx="255587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28641" imgH="396144" progId="Equation.3">
                  <p:embed/>
                </p:oleObj>
              </mc:Choice>
              <mc:Fallback>
                <p:oleObj name="公式" r:id="rId18" imgW="228641" imgH="396144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2163763"/>
                        <a:ext cx="255587" cy="42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3" name="Object 25">
            <a:extLst>
              <a:ext uri="{FF2B5EF4-FFF2-40B4-BE49-F238E27FC236}">
                <a16:creationId xmlns:a16="http://schemas.microsoft.com/office/drawing/2014/main" id="{53031A90-9AFB-ABB1-3EA8-698B456132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89075" y="3190875"/>
          <a:ext cx="2671763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2651841" imgH="419040" progId="Equation.3">
                  <p:embed/>
                </p:oleObj>
              </mc:Choice>
              <mc:Fallback>
                <p:oleObj name="公式" r:id="rId20" imgW="2651841" imgH="41904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9075" y="3190875"/>
                        <a:ext cx="2671763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4" name="Object 26">
            <a:extLst>
              <a:ext uri="{FF2B5EF4-FFF2-40B4-BE49-F238E27FC236}">
                <a16:creationId xmlns:a16="http://schemas.microsoft.com/office/drawing/2014/main" id="{B4CFE9D6-1217-4110-1DF3-171A47F115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89075" y="3873500"/>
          <a:ext cx="283527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2819323" imgH="419040" progId="Equation.3">
                  <p:embed/>
                </p:oleObj>
              </mc:Choice>
              <mc:Fallback>
                <p:oleObj name="公式" r:id="rId22" imgW="2819323" imgH="41904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9075" y="3873500"/>
                        <a:ext cx="2835275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9" name="Text Box 27">
            <a:extLst>
              <a:ext uri="{FF2B5EF4-FFF2-40B4-BE49-F238E27FC236}">
                <a16:creationId xmlns:a16="http://schemas.microsoft.com/office/drawing/2014/main" id="{2C89BFB8-9484-5335-6244-00E1C569FC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588" y="4546600"/>
            <a:ext cx="34369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时间 </a:t>
            </a:r>
            <a:r>
              <a:rPr kumimoji="1" lang="zh-CN" altLang="en-US" sz="2400" b="1" i="1">
                <a:solidFill>
                  <a:srgbClr val="66FF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  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内质点的位移为</a:t>
            </a:r>
          </a:p>
        </p:txBody>
      </p:sp>
      <p:graphicFrame>
        <p:nvGraphicFramePr>
          <p:cNvPr id="23580" name="Object 28">
            <a:extLst>
              <a:ext uri="{FF2B5EF4-FFF2-40B4-BE49-F238E27FC236}">
                <a16:creationId xmlns:a16="http://schemas.microsoft.com/office/drawing/2014/main" id="{FAE0FEB6-95E2-3690-106C-E9BFFD1918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54213" y="5783263"/>
          <a:ext cx="501332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5006320" imgH="419040" progId="Equation.3">
                  <p:embed/>
                </p:oleObj>
              </mc:Choice>
              <mc:Fallback>
                <p:oleObj name="公式" r:id="rId24" imgW="5006320" imgH="41904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4213" y="5783263"/>
                        <a:ext cx="5013325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7" name="Object 29">
            <a:extLst>
              <a:ext uri="{FF2B5EF4-FFF2-40B4-BE49-F238E27FC236}">
                <a16:creationId xmlns:a16="http://schemas.microsoft.com/office/drawing/2014/main" id="{ED5CA412-ACE1-CEB0-7015-678CFB34C5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72313" y="1917700"/>
          <a:ext cx="9398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1318249" imgH="396144" progId="Equation.3">
                  <p:embed/>
                </p:oleObj>
              </mc:Choice>
              <mc:Fallback>
                <p:oleObj name="公式" r:id="rId26" imgW="1318249" imgH="396144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2313" y="1917700"/>
                        <a:ext cx="9398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8" name="Object 30">
            <a:extLst>
              <a:ext uri="{FF2B5EF4-FFF2-40B4-BE49-F238E27FC236}">
                <a16:creationId xmlns:a16="http://schemas.microsoft.com/office/drawing/2014/main" id="{BD71F782-CB99-C06C-7C9A-AD57A778363A}"/>
              </a:ext>
            </a:extLst>
          </p:cNvPr>
          <p:cNvGraphicFramePr>
            <a:graphicFrameLocks/>
          </p:cNvGraphicFramePr>
          <p:nvPr/>
        </p:nvGraphicFramePr>
        <p:xfrm>
          <a:off x="7667625" y="3860800"/>
          <a:ext cx="1025525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1455476" imgH="396144" progId="Equation.3">
                  <p:embed/>
                </p:oleObj>
              </mc:Choice>
              <mc:Fallback>
                <p:oleObj name="公式" r:id="rId28" imgW="1455476" imgH="396144" progId="Equation.3">
                  <p:embed/>
                  <p:pic>
                    <p:nvPicPr>
                      <p:cNvPr id="0" name="Object 30"/>
                      <p:cNvPicPr>
                        <a:picLocks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7625" y="3860800"/>
                        <a:ext cx="1025525" cy="29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79" name="Text Box 31">
            <a:extLst>
              <a:ext uri="{FF2B5EF4-FFF2-40B4-BE49-F238E27FC236}">
                <a16:creationId xmlns:a16="http://schemas.microsoft.com/office/drawing/2014/main" id="{C88CC612-5C4B-7C12-5C66-E261852BD1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2708275"/>
            <a:ext cx="292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建如图所示坐标，则</a:t>
            </a:r>
          </a:p>
        </p:txBody>
      </p:sp>
      <p:sp>
        <p:nvSpPr>
          <p:cNvPr id="27680" name="Freeform 32">
            <a:extLst>
              <a:ext uri="{FF2B5EF4-FFF2-40B4-BE49-F238E27FC236}">
                <a16:creationId xmlns:a16="http://schemas.microsoft.com/office/drawing/2014/main" id="{B40A73E3-EE43-1359-A1A1-80D5743A3BA5}"/>
              </a:ext>
            </a:extLst>
          </p:cNvPr>
          <p:cNvSpPr>
            <a:spLocks/>
          </p:cNvSpPr>
          <p:nvPr/>
        </p:nvSpPr>
        <p:spPr bwMode="auto">
          <a:xfrm rot="997389">
            <a:off x="5719763" y="2295525"/>
            <a:ext cx="2192337" cy="1955800"/>
          </a:xfrm>
          <a:custGeom>
            <a:avLst/>
            <a:gdLst>
              <a:gd name="T0" fmla="*/ 0 w 1497"/>
              <a:gd name="T1" fmla="*/ 2147483646 h 1232"/>
              <a:gd name="T2" fmla="*/ 2147483646 w 1497"/>
              <a:gd name="T3" fmla="*/ 2147483646 h 1232"/>
              <a:gd name="T4" fmla="*/ 2147483646 w 1497"/>
              <a:gd name="T5" fmla="*/ 2147483646 h 1232"/>
              <a:gd name="T6" fmla="*/ 2147483646 w 1497"/>
              <a:gd name="T7" fmla="*/ 2147483646 h 1232"/>
              <a:gd name="T8" fmla="*/ 2147483646 w 1497"/>
              <a:gd name="T9" fmla="*/ 2147483646 h 1232"/>
              <a:gd name="T10" fmla="*/ 2147483646 w 1497"/>
              <a:gd name="T11" fmla="*/ 2147483646 h 123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497" h="1232">
                <a:moveTo>
                  <a:pt x="0" y="143"/>
                </a:moveTo>
                <a:cubicBezTo>
                  <a:pt x="117" y="109"/>
                  <a:pt x="235" y="76"/>
                  <a:pt x="363" y="53"/>
                </a:cubicBezTo>
                <a:cubicBezTo>
                  <a:pt x="491" y="30"/>
                  <a:pt x="635" y="0"/>
                  <a:pt x="771" y="7"/>
                </a:cubicBezTo>
                <a:cubicBezTo>
                  <a:pt x="907" y="14"/>
                  <a:pt x="1081" y="30"/>
                  <a:pt x="1179" y="98"/>
                </a:cubicBezTo>
                <a:cubicBezTo>
                  <a:pt x="1277" y="166"/>
                  <a:pt x="1308" y="227"/>
                  <a:pt x="1361" y="416"/>
                </a:cubicBezTo>
                <a:cubicBezTo>
                  <a:pt x="1414" y="605"/>
                  <a:pt x="1474" y="1096"/>
                  <a:pt x="1497" y="1232"/>
                </a:cubicBezTo>
              </a:path>
            </a:pathLst>
          </a:custGeom>
          <a:noFill/>
          <a:ln w="19050" cap="flat" cmpd="sng">
            <a:solidFill>
              <a:schemeClr val="hlink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81" name="Text Box 33">
            <a:extLst>
              <a:ext uri="{FF2B5EF4-FFF2-40B4-BE49-F238E27FC236}">
                <a16:creationId xmlns:a16="http://schemas.microsoft.com/office/drawing/2014/main" id="{8BBA3050-CE42-C070-2223-CEA00D0846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1263" y="3348038"/>
            <a:ext cx="301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000" b="1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</a:t>
            </a:r>
          </a:p>
        </p:txBody>
      </p:sp>
      <p:sp>
        <p:nvSpPr>
          <p:cNvPr id="27682" name="Text Box 34">
            <a:extLst>
              <a:ext uri="{FF2B5EF4-FFF2-40B4-BE49-F238E27FC236}">
                <a16:creationId xmlns:a16="http://schemas.microsoft.com/office/drawing/2014/main" id="{60AADC50-0C07-39C4-90AB-CBAF57ACD5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6088" y="2081213"/>
            <a:ext cx="301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000" b="1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</a:t>
            </a:r>
          </a:p>
        </p:txBody>
      </p:sp>
      <p:sp>
        <p:nvSpPr>
          <p:cNvPr id="27683" name="Text Box 35">
            <a:extLst>
              <a:ext uri="{FF2B5EF4-FFF2-40B4-BE49-F238E27FC236}">
                <a16:creationId xmlns:a16="http://schemas.microsoft.com/office/drawing/2014/main" id="{D6408F39-85C0-16EE-2019-4EEA77056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3568700"/>
            <a:ext cx="301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000" b="1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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7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>
            <a:extLst>
              <a:ext uri="{FF2B5EF4-FFF2-40B4-BE49-F238E27FC236}">
                <a16:creationId xmlns:a16="http://schemas.microsoft.com/office/drawing/2014/main" id="{1E1B99F2-817C-B43D-FB40-4060E7E2DD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350" y="404813"/>
            <a:ext cx="18478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rgbClr val="FFFF00"/>
                </a:solidFill>
                <a:latin typeface="宋体" panose="02010600030101010101" pitchFamily="2" charset="-122"/>
              </a:rPr>
              <a:t>二</a:t>
            </a:r>
            <a:r>
              <a:rPr kumimoji="1" lang="en-US" altLang="zh-CN" sz="2800" b="1">
                <a:solidFill>
                  <a:srgbClr val="FFFF00"/>
                </a:solidFill>
                <a:latin typeface="Times New Roman" panose="02020603050405020304" pitchFamily="18" charset="0"/>
              </a:rPr>
              <a:t>. </a:t>
            </a:r>
            <a:r>
              <a:rPr kumimoji="1" lang="zh-CN" altLang="en-US" sz="2800" b="1">
                <a:solidFill>
                  <a:srgbClr val="FFFF00"/>
                </a:solidFill>
                <a:latin typeface="宋体" panose="02010600030101010101" pitchFamily="2" charset="-122"/>
              </a:rPr>
              <a:t>速度</a:t>
            </a:r>
            <a:endParaRPr kumimoji="1" lang="zh-CN" altLang="en-US" sz="2800" b="1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69D128D3-85D1-887B-9EDA-7B964E5645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550" y="1041400"/>
            <a:ext cx="1720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1. </a:t>
            </a:r>
            <a:r>
              <a:rPr kumimoji="1" lang="zh-CN" altLang="en-US" sz="2400" b="1">
                <a:solidFill>
                  <a:srgbClr val="66FFFF"/>
                </a:solidFill>
                <a:latin typeface="宋体" panose="02010600030101010101" pitchFamily="2" charset="-122"/>
              </a:rPr>
              <a:t>平均速度</a:t>
            </a:r>
            <a:endParaRPr kumimoji="1" lang="zh-CN" altLang="en-US" sz="1400" b="1">
              <a:solidFill>
                <a:srgbClr val="66FF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8676" name="Object 4">
            <a:extLst>
              <a:ext uri="{FF2B5EF4-FFF2-40B4-BE49-F238E27FC236}">
                <a16:creationId xmlns:a16="http://schemas.microsoft.com/office/drawing/2014/main" id="{C44B7BED-C11F-D91D-31D2-1745AD342F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14563" y="836613"/>
          <a:ext cx="4144962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122445" imgH="807624" progId="Equation.3">
                  <p:embed/>
                </p:oleObj>
              </mc:Choice>
              <mc:Fallback>
                <p:oleObj name="公式" r:id="rId2" imgW="4122445" imgH="807624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563" y="836613"/>
                        <a:ext cx="4144962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1" name="Rectangle 5">
            <a:extLst>
              <a:ext uri="{FF2B5EF4-FFF2-40B4-BE49-F238E27FC236}">
                <a16:creationId xmlns:a16="http://schemas.microsoft.com/office/drawing/2014/main" id="{EF5712F0-2EF1-DD2B-FCF2-660486E715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375" y="2058988"/>
            <a:ext cx="1714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</a:rPr>
              <a:t>2. </a:t>
            </a:r>
            <a:r>
              <a:rPr kumimoji="1" lang="zh-CN" altLang="en-US" sz="2400" b="1">
                <a:solidFill>
                  <a:srgbClr val="66FFFF"/>
                </a:solidFill>
                <a:latin typeface="宋体" panose="02010600030101010101" pitchFamily="2" charset="-122"/>
              </a:rPr>
              <a:t>瞬时速度</a:t>
            </a:r>
            <a:endParaRPr kumimoji="1" lang="zh-CN" altLang="en-US" sz="2400" b="1">
              <a:solidFill>
                <a:srgbClr val="66FFFF"/>
              </a:solidFill>
              <a:latin typeface="仿宋_GB2312" panose="02010609030101010101" pitchFamily="49" charset="-122"/>
              <a:ea typeface="仿宋_GB2312" panose="02010609030101010101" pitchFamily="49" charset="-122"/>
            </a:endParaRPr>
          </a:p>
        </p:txBody>
      </p:sp>
      <p:graphicFrame>
        <p:nvGraphicFramePr>
          <p:cNvPr id="24582" name="Object 6">
            <a:extLst>
              <a:ext uri="{FF2B5EF4-FFF2-40B4-BE49-F238E27FC236}">
                <a16:creationId xmlns:a16="http://schemas.microsoft.com/office/drawing/2014/main" id="{ED73F46B-793A-7FFD-6BEA-74E7E9CA67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55825" y="1879600"/>
          <a:ext cx="6249988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218028" imgH="807624" progId="Equation.3">
                  <p:embed/>
                </p:oleObj>
              </mc:Choice>
              <mc:Fallback>
                <p:oleObj name="公式" r:id="rId4" imgW="6218028" imgH="807624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5825" y="1879600"/>
                        <a:ext cx="6249988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3" name="Object 7">
            <a:extLst>
              <a:ext uri="{FF2B5EF4-FFF2-40B4-BE49-F238E27FC236}">
                <a16:creationId xmlns:a16="http://schemas.microsoft.com/office/drawing/2014/main" id="{C04D96F8-BD07-5C26-87B6-85BF3B7072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71775" y="2924175"/>
          <a:ext cx="4138613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099537" imgH="807624" progId="Equation.3">
                  <p:embed/>
                </p:oleObj>
              </mc:Choice>
              <mc:Fallback>
                <p:oleObj name="公式" r:id="rId6" imgW="4099537" imgH="807624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2924175"/>
                        <a:ext cx="4138613" cy="82867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4" name="Object 8">
            <a:extLst>
              <a:ext uri="{FF2B5EF4-FFF2-40B4-BE49-F238E27FC236}">
                <a16:creationId xmlns:a16="http://schemas.microsoft.com/office/drawing/2014/main" id="{F3803394-6BA4-9929-9861-1F47D1D285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38438" y="3906838"/>
          <a:ext cx="6124575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6080801" imgH="853416" progId="Equation.3">
                  <p:embed/>
                </p:oleObj>
              </mc:Choice>
              <mc:Fallback>
                <p:oleObj name="公式" r:id="rId8" imgW="6080801" imgH="853416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8438" y="3906838"/>
                        <a:ext cx="6124575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5" name="Text Box 9">
            <a:extLst>
              <a:ext uri="{FF2B5EF4-FFF2-40B4-BE49-F238E27FC236}">
                <a16:creationId xmlns:a16="http://schemas.microsoft.com/office/drawing/2014/main" id="{9AF71AE2-ABB8-805C-4220-CBCDE6CFBD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388" y="4122738"/>
            <a:ext cx="2019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速度的大小为</a:t>
            </a:r>
          </a:p>
        </p:txBody>
      </p:sp>
      <p:sp>
        <p:nvSpPr>
          <p:cNvPr id="24586" name="Text Box 10">
            <a:extLst>
              <a:ext uri="{FF2B5EF4-FFF2-40B4-BE49-F238E27FC236}">
                <a16:creationId xmlns:a16="http://schemas.microsoft.com/office/drawing/2014/main" id="{C71BE9F2-67A3-D5D3-B453-E9049D1886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038" y="4889500"/>
            <a:ext cx="4175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速度的方向用方向余弦表示为</a:t>
            </a:r>
          </a:p>
        </p:txBody>
      </p:sp>
      <p:graphicFrame>
        <p:nvGraphicFramePr>
          <p:cNvPr id="24587" name="Object 11">
            <a:extLst>
              <a:ext uri="{FF2B5EF4-FFF2-40B4-BE49-F238E27FC236}">
                <a16:creationId xmlns:a16="http://schemas.microsoft.com/office/drawing/2014/main" id="{1D93DD7E-CD38-4585-E52B-2513032DC684}"/>
              </a:ext>
            </a:extLst>
          </p:cNvPr>
          <p:cNvGraphicFramePr>
            <a:graphicFrameLocks/>
          </p:cNvGraphicFramePr>
          <p:nvPr/>
        </p:nvGraphicFramePr>
        <p:xfrm>
          <a:off x="2233613" y="5418138"/>
          <a:ext cx="5407025" cy="96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5387315" imgH="937224" progId="Equation.3">
                  <p:embed/>
                </p:oleObj>
              </mc:Choice>
              <mc:Fallback>
                <p:oleObj name="公式" r:id="rId10" imgW="5387315" imgH="937224" progId="Equation.3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3613" y="5418138"/>
                        <a:ext cx="5407025" cy="963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00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1" grpId="0"/>
      <p:bldP spid="24585" grpId="0"/>
      <p:bldP spid="2458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>
            <a:extLst>
              <a:ext uri="{FF2B5EF4-FFF2-40B4-BE49-F238E27FC236}">
                <a16:creationId xmlns:a16="http://schemas.microsoft.com/office/drawing/2014/main" id="{00628B73-D23E-3B3F-60F4-4316E78AB6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319088"/>
            <a:ext cx="23463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rgbClr val="FFFF00"/>
                </a:solidFill>
                <a:latin typeface="宋体" panose="02010600030101010101" pitchFamily="2" charset="-122"/>
              </a:rPr>
              <a:t>三</a:t>
            </a:r>
            <a:r>
              <a:rPr kumimoji="1" lang="en-US" altLang="zh-CN" sz="2800" b="1">
                <a:solidFill>
                  <a:srgbClr val="FFFF00"/>
                </a:solidFill>
                <a:latin typeface="Times New Roman" panose="02020603050405020304" pitchFamily="18" charset="0"/>
              </a:rPr>
              <a:t>. </a:t>
            </a:r>
            <a:r>
              <a:rPr kumimoji="1" lang="zh-CN" altLang="en-US" sz="2800" b="1">
                <a:solidFill>
                  <a:srgbClr val="FFFF00"/>
                </a:solidFill>
                <a:latin typeface="宋体" panose="02010600030101010101" pitchFamily="2" charset="-122"/>
              </a:rPr>
              <a:t>加速度</a:t>
            </a:r>
            <a:endParaRPr kumimoji="1" lang="zh-CN" altLang="en-US" sz="2800" b="1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9699" name="Object 3">
            <a:extLst>
              <a:ext uri="{FF2B5EF4-FFF2-40B4-BE49-F238E27FC236}">
                <a16:creationId xmlns:a16="http://schemas.microsoft.com/office/drawing/2014/main" id="{C08D72DC-9E81-64C4-3314-EF19BFEF2F6A}"/>
              </a:ext>
            </a:extLst>
          </p:cNvPr>
          <p:cNvGraphicFramePr>
            <a:graphicFrameLocks/>
          </p:cNvGraphicFramePr>
          <p:nvPr/>
        </p:nvGraphicFramePr>
        <p:xfrm>
          <a:off x="876300" y="873125"/>
          <a:ext cx="1028700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005759" imgH="807624" progId="Equation.3">
                  <p:embed/>
                </p:oleObj>
              </mc:Choice>
              <mc:Fallback>
                <p:oleObj name="公式" r:id="rId2" imgW="1005759" imgH="807624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300" y="873125"/>
                        <a:ext cx="1028700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0" name="Object 4">
            <a:extLst>
              <a:ext uri="{FF2B5EF4-FFF2-40B4-BE49-F238E27FC236}">
                <a16:creationId xmlns:a16="http://schemas.microsoft.com/office/drawing/2014/main" id="{CE1D5D54-60F6-0C98-6055-F16998E631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02238" y="822325"/>
          <a:ext cx="3173412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185192" imgH="853416" progId="Equation.3">
                  <p:embed/>
                </p:oleObj>
              </mc:Choice>
              <mc:Fallback>
                <p:oleObj name="公式" r:id="rId4" imgW="3185192" imgH="853416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2238" y="822325"/>
                        <a:ext cx="3173412" cy="877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1" name="Object 5">
            <a:extLst>
              <a:ext uri="{FF2B5EF4-FFF2-40B4-BE49-F238E27FC236}">
                <a16:creationId xmlns:a16="http://schemas.microsoft.com/office/drawing/2014/main" id="{7DCF69AE-B8DA-4D85-CC0D-42A3E01682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90713" y="835025"/>
          <a:ext cx="3286125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299512" imgH="845856" progId="Equation.3">
                  <p:embed/>
                </p:oleObj>
              </mc:Choice>
              <mc:Fallback>
                <p:oleObj name="公式" r:id="rId6" imgW="3299512" imgH="845856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0713" y="835025"/>
                        <a:ext cx="3286125" cy="86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2" name="Object 6">
            <a:extLst>
              <a:ext uri="{FF2B5EF4-FFF2-40B4-BE49-F238E27FC236}">
                <a16:creationId xmlns:a16="http://schemas.microsoft.com/office/drawing/2014/main" id="{23F55725-B0DA-5F21-B33F-32F9B52A2A31}"/>
              </a:ext>
            </a:extLst>
          </p:cNvPr>
          <p:cNvGraphicFramePr>
            <a:graphicFrameLocks/>
          </p:cNvGraphicFramePr>
          <p:nvPr/>
        </p:nvGraphicFramePr>
        <p:xfrm>
          <a:off x="3078163" y="1838325"/>
          <a:ext cx="30861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063308" imgH="472392" progId="Equation.3">
                  <p:embed/>
                </p:oleObj>
              </mc:Choice>
              <mc:Fallback>
                <p:oleObj name="公式" r:id="rId8" imgW="3063308" imgH="472392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8163" y="1838325"/>
                        <a:ext cx="3086100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3" name="Object 7">
            <a:extLst>
              <a:ext uri="{FF2B5EF4-FFF2-40B4-BE49-F238E27FC236}">
                <a16:creationId xmlns:a16="http://schemas.microsoft.com/office/drawing/2014/main" id="{130F0E01-2ABC-EF59-48ED-334C5E780A88}"/>
              </a:ext>
            </a:extLst>
          </p:cNvPr>
          <p:cNvGraphicFramePr>
            <a:graphicFrameLocks/>
          </p:cNvGraphicFramePr>
          <p:nvPr/>
        </p:nvGraphicFramePr>
        <p:xfrm>
          <a:off x="1065213" y="2492375"/>
          <a:ext cx="7594600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7566748" imgH="853416" progId="Equation.3">
                  <p:embed/>
                </p:oleObj>
              </mc:Choice>
              <mc:Fallback>
                <p:oleObj name="公式" r:id="rId10" imgW="7566748" imgH="853416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5213" y="2492375"/>
                        <a:ext cx="7594600" cy="877888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8" name="Object 8">
            <a:extLst>
              <a:ext uri="{FF2B5EF4-FFF2-40B4-BE49-F238E27FC236}">
                <a16:creationId xmlns:a16="http://schemas.microsoft.com/office/drawing/2014/main" id="{813855F9-4A55-066D-832D-D75D7858AC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6613" y="3663950"/>
          <a:ext cx="4214812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4175823" imgH="891648" progId="Equation.3">
                  <p:embed/>
                </p:oleObj>
              </mc:Choice>
              <mc:Fallback>
                <p:oleObj name="公式" r:id="rId12" imgW="4175823" imgH="891648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6613" y="3663950"/>
                        <a:ext cx="4214812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9" name="Object 9">
            <a:extLst>
              <a:ext uri="{FF2B5EF4-FFF2-40B4-BE49-F238E27FC236}">
                <a16:creationId xmlns:a16="http://schemas.microsoft.com/office/drawing/2014/main" id="{4FD2C26A-602D-280D-7B37-2790BFCC9F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35163" y="3860800"/>
          <a:ext cx="2711450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682312" imgH="548640" progId="Equation.3">
                  <p:embed/>
                </p:oleObj>
              </mc:Choice>
              <mc:Fallback>
                <p:oleObj name="公式" r:id="rId14" imgW="2682312" imgH="5486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5163" y="3860800"/>
                        <a:ext cx="2711450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0" name="Object 10">
            <a:extLst>
              <a:ext uri="{FF2B5EF4-FFF2-40B4-BE49-F238E27FC236}">
                <a16:creationId xmlns:a16="http://schemas.microsoft.com/office/drawing/2014/main" id="{57B3367B-C7EB-B4AC-5C50-973BF633F74C}"/>
              </a:ext>
            </a:extLst>
          </p:cNvPr>
          <p:cNvGraphicFramePr>
            <a:graphicFrameLocks/>
          </p:cNvGraphicFramePr>
          <p:nvPr/>
        </p:nvGraphicFramePr>
        <p:xfrm>
          <a:off x="2024063" y="5300663"/>
          <a:ext cx="5778500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5753183" imgH="937224" progId="Equation.3">
                  <p:embed/>
                </p:oleObj>
              </mc:Choice>
              <mc:Fallback>
                <p:oleObj name="公式" r:id="rId16" imgW="5753183" imgH="937224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4063" y="5300663"/>
                        <a:ext cx="5778500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1" name="Text Box 11">
            <a:extLst>
              <a:ext uri="{FF2B5EF4-FFF2-40B4-BE49-F238E27FC236}">
                <a16:creationId xmlns:a16="http://schemas.microsoft.com/office/drawing/2014/main" id="{9BEA725C-3F37-221A-CDB3-46EE17B01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163" y="3860800"/>
            <a:ext cx="1098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大小为</a:t>
            </a:r>
          </a:p>
        </p:txBody>
      </p:sp>
      <p:sp>
        <p:nvSpPr>
          <p:cNvPr id="25612" name="Text Box 12">
            <a:extLst>
              <a:ext uri="{FF2B5EF4-FFF2-40B4-BE49-F238E27FC236}">
                <a16:creationId xmlns:a16="http://schemas.microsoft.com/office/drawing/2014/main" id="{E0EC2372-B40A-E223-5A2E-9F68258108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4797425"/>
            <a:ext cx="3232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方向用方向余弦表示为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11" grpId="0"/>
      <p:bldP spid="2561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2">
            <a:extLst>
              <a:ext uri="{FF2B5EF4-FFF2-40B4-BE49-F238E27FC236}">
                <a16:creationId xmlns:a16="http://schemas.microsoft.com/office/drawing/2014/main" id="{3E9D49F3-1BE2-86FD-A71E-8F9AD228B0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575" y="304800"/>
            <a:ext cx="54959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rgbClr val="FFFF00"/>
                </a:solidFill>
                <a:latin typeface="宋体" panose="02010600030101010101" pitchFamily="2" charset="-122"/>
              </a:rPr>
              <a:t>四</a:t>
            </a:r>
            <a:r>
              <a:rPr kumimoji="1" lang="en-US" altLang="zh-CN" sz="2800" b="1">
                <a:solidFill>
                  <a:srgbClr val="FFFF00"/>
                </a:solidFill>
                <a:latin typeface="Times New Roman" panose="02020603050405020304" pitchFamily="18" charset="0"/>
              </a:rPr>
              <a:t>. </a:t>
            </a:r>
            <a:r>
              <a:rPr kumimoji="1" lang="zh-CN" altLang="en-US" sz="2800" b="1">
                <a:solidFill>
                  <a:srgbClr val="FFFF00"/>
                </a:solidFill>
                <a:latin typeface="宋体" panose="02010600030101010101" pitchFamily="2" charset="-122"/>
              </a:rPr>
              <a:t>运动学的二类问题</a:t>
            </a:r>
            <a:r>
              <a:rPr kumimoji="1" lang="en-US" altLang="zh-CN" sz="2800" b="1">
                <a:solidFill>
                  <a:srgbClr val="FFFF00"/>
                </a:solidFill>
                <a:latin typeface="宋体" panose="02010600030101010101" pitchFamily="2" charset="-122"/>
              </a:rPr>
              <a:t>(</a:t>
            </a:r>
            <a:r>
              <a:rPr kumimoji="1" lang="zh-CN" altLang="en-US" sz="2800" b="1">
                <a:solidFill>
                  <a:srgbClr val="FFFF00"/>
                </a:solidFill>
                <a:latin typeface="宋体" panose="02010600030101010101" pitchFamily="2" charset="-122"/>
              </a:rPr>
              <a:t>重点</a:t>
            </a:r>
            <a:r>
              <a:rPr kumimoji="1" lang="en-US" altLang="zh-CN" sz="2800" b="1">
                <a:solidFill>
                  <a:srgbClr val="FFFF00"/>
                </a:solidFill>
                <a:latin typeface="宋体" panose="02010600030101010101" pitchFamily="2" charset="-122"/>
              </a:rPr>
              <a:t>)</a:t>
            </a:r>
            <a:endParaRPr kumimoji="1" lang="zh-CN" altLang="en-US" sz="2800" b="1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23" name="Text Box 3">
            <a:extLst>
              <a:ext uri="{FF2B5EF4-FFF2-40B4-BE49-F238E27FC236}">
                <a16:creationId xmlns:a16="http://schemas.microsoft.com/office/drawing/2014/main" id="{093C4369-18E7-A3F0-BAB0-D453EFAB8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914400"/>
            <a:ext cx="228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</a:rPr>
              <a:t>1. </a:t>
            </a:r>
            <a:r>
              <a:rPr kumimoji="1" lang="zh-CN" altLang="en-US" sz="2400" b="1">
                <a:solidFill>
                  <a:srgbClr val="66FFFF"/>
                </a:solidFill>
                <a:latin typeface="宋体" panose="02010600030101010101" pitchFamily="2" charset="-122"/>
              </a:rPr>
              <a:t>第一类问题</a:t>
            </a:r>
            <a:endParaRPr kumimoji="1" lang="zh-CN" altLang="en-US" sz="2400">
              <a:solidFill>
                <a:srgbClr val="66FFFF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30724" name="Object 4">
            <a:extLst>
              <a:ext uri="{FF2B5EF4-FFF2-40B4-BE49-F238E27FC236}">
                <a16:creationId xmlns:a16="http://schemas.microsoft.com/office/drawing/2014/main" id="{E54589A8-E9E2-02E7-A016-4F5008635A6A}"/>
              </a:ext>
            </a:extLst>
          </p:cNvPr>
          <p:cNvGraphicFramePr>
            <a:graphicFrameLocks/>
          </p:cNvGraphicFramePr>
          <p:nvPr/>
        </p:nvGraphicFramePr>
        <p:xfrm>
          <a:off x="5772150" y="996950"/>
          <a:ext cx="81597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84898" imgH="320112" progId="Equation.3">
                  <p:embed/>
                </p:oleObj>
              </mc:Choice>
              <mc:Fallback>
                <p:oleObj name="公式" r:id="rId2" imgW="784898" imgH="320112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2150" y="996950"/>
                        <a:ext cx="815975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5" name="Text Box 5">
            <a:extLst>
              <a:ext uri="{FF2B5EF4-FFF2-40B4-BE49-F238E27FC236}">
                <a16:creationId xmlns:a16="http://schemas.microsoft.com/office/drawing/2014/main" id="{9A9C300B-00D6-B806-ACB0-F473A0EDE6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5750" y="914400"/>
            <a:ext cx="3108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已知运动学方程，求</a:t>
            </a:r>
            <a:endParaRPr kumimoji="1" lang="zh-CN" altLang="en-US" sz="240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26630" name="Text Box 6">
            <a:extLst>
              <a:ext uri="{FF2B5EF4-FFF2-40B4-BE49-F238E27FC236}">
                <a16:creationId xmlns:a16="http://schemas.microsoft.com/office/drawing/2014/main" id="{43E08751-910F-E1AC-344E-FCE09FD87D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981200"/>
            <a:ext cx="411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(1) 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t </a:t>
            </a:r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</a:rPr>
              <a:t>=1s</a:t>
            </a: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到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t </a:t>
            </a:r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</a:rPr>
              <a:t>=2s</a:t>
            </a: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质点的位移</a:t>
            </a:r>
            <a:endParaRPr kumimoji="1" lang="zh-CN" altLang="en-US" sz="280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26631" name="Text Box 7">
            <a:extLst>
              <a:ext uri="{FF2B5EF4-FFF2-40B4-BE49-F238E27FC236}">
                <a16:creationId xmlns:a16="http://schemas.microsoft.com/office/drawing/2014/main" id="{A39D43DE-687A-1DD9-618D-19F824F5EB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938" y="2565400"/>
            <a:ext cx="1981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(3)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轨迹方程</a:t>
            </a:r>
            <a:endParaRPr kumimoji="1" lang="zh-CN" altLang="en-US" sz="240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26632" name="Text Box 8">
            <a:extLst>
              <a:ext uri="{FF2B5EF4-FFF2-40B4-BE49-F238E27FC236}">
                <a16:creationId xmlns:a16="http://schemas.microsoft.com/office/drawing/2014/main" id="{7D7852B9-87B0-850A-F950-4BE63F2F91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63" y="19637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(2) 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t </a:t>
            </a:r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</a:rPr>
              <a:t>=2s</a:t>
            </a: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时</a:t>
            </a:r>
            <a:endParaRPr kumimoji="1" lang="zh-CN" altLang="en-US" sz="240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26633" name="Object 9">
            <a:extLst>
              <a:ext uri="{FF2B5EF4-FFF2-40B4-BE49-F238E27FC236}">
                <a16:creationId xmlns:a16="http://schemas.microsoft.com/office/drawing/2014/main" id="{39F99E94-683E-C70D-0220-50004FB7F9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04025" y="2076450"/>
          <a:ext cx="6477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17200" imgH="281880" progId="Equation.DSMT4">
                  <p:embed/>
                </p:oleObj>
              </mc:Choice>
              <mc:Fallback>
                <p:oleObj name="Equation" r:id="rId4" imgW="617200" imgH="28188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4025" y="2076450"/>
                        <a:ext cx="6477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6" name="Object 10">
            <a:extLst>
              <a:ext uri="{FF2B5EF4-FFF2-40B4-BE49-F238E27FC236}">
                <a16:creationId xmlns:a16="http://schemas.microsoft.com/office/drawing/2014/main" id="{E157BED9-C07A-9F65-F8E2-255D46082E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95700" y="3138488"/>
          <a:ext cx="14795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455476" imgH="396144" progId="Equation.3">
                  <p:embed/>
                </p:oleObj>
              </mc:Choice>
              <mc:Fallback>
                <p:oleObj name="公式" r:id="rId6" imgW="1455476" imgH="396144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5700" y="3138488"/>
                        <a:ext cx="147955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7" name="Object 11">
            <a:extLst>
              <a:ext uri="{FF2B5EF4-FFF2-40B4-BE49-F238E27FC236}">
                <a16:creationId xmlns:a16="http://schemas.microsoft.com/office/drawing/2014/main" id="{9B7DEC7E-25BE-5BBC-6BBB-969A52D6A2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62638" y="3173413"/>
          <a:ext cx="1820862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661210" imgH="396144" progId="Equation.3">
                  <p:embed/>
                </p:oleObj>
              </mc:Choice>
              <mc:Fallback>
                <p:oleObj name="公式" r:id="rId8" imgW="1661210" imgH="396144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2638" y="3173413"/>
                        <a:ext cx="1820862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8" name="Object 12">
            <a:extLst>
              <a:ext uri="{FF2B5EF4-FFF2-40B4-BE49-F238E27FC236}">
                <a16:creationId xmlns:a16="http://schemas.microsoft.com/office/drawing/2014/main" id="{603357AF-D010-3187-7865-5896559BA2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3730625"/>
          <a:ext cx="60356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5966480" imgH="396144" progId="Equation.3">
                  <p:embed/>
                </p:oleObj>
              </mc:Choice>
              <mc:Fallback>
                <p:oleObj name="公式" r:id="rId10" imgW="5966480" imgH="396144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3730625"/>
                        <a:ext cx="603567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9" name="Object 13">
            <a:extLst>
              <a:ext uri="{FF2B5EF4-FFF2-40B4-BE49-F238E27FC236}">
                <a16:creationId xmlns:a16="http://schemas.microsoft.com/office/drawing/2014/main" id="{E81BBF1F-AAF2-6C90-6A2A-6DFC78407B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4402138"/>
          <a:ext cx="2557462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529741" imgH="807624" progId="Equation.3">
                  <p:embed/>
                </p:oleObj>
              </mc:Choice>
              <mc:Fallback>
                <p:oleObj name="公式" r:id="rId12" imgW="2529741" imgH="807624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4402138"/>
                        <a:ext cx="2557462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0" name="Object 14">
            <a:extLst>
              <a:ext uri="{FF2B5EF4-FFF2-40B4-BE49-F238E27FC236}">
                <a16:creationId xmlns:a16="http://schemas.microsoft.com/office/drawing/2014/main" id="{C2C623F7-2586-83DD-F3F1-B9F4B992DF19}"/>
              </a:ext>
            </a:extLst>
          </p:cNvPr>
          <p:cNvGraphicFramePr>
            <a:graphicFrameLocks/>
          </p:cNvGraphicFramePr>
          <p:nvPr/>
        </p:nvGraphicFramePr>
        <p:xfrm>
          <a:off x="3132138" y="5373688"/>
          <a:ext cx="1887537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874506" imgH="396144" progId="Equation.3">
                  <p:embed/>
                </p:oleObj>
              </mc:Choice>
              <mc:Fallback>
                <p:oleObj name="公式" r:id="rId14" imgW="1874506" imgH="396144" progId="Equation.3">
                  <p:embed/>
                  <p:pic>
                    <p:nvPicPr>
                      <p:cNvPr id="0" name="Object 14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5373688"/>
                        <a:ext cx="1887537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1" name="Object 15">
            <a:extLst>
              <a:ext uri="{FF2B5EF4-FFF2-40B4-BE49-F238E27FC236}">
                <a16:creationId xmlns:a16="http://schemas.microsoft.com/office/drawing/2014/main" id="{8E99ECC0-DDAC-109A-6EDA-B0A971C013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1600" y="5949950"/>
          <a:ext cx="252095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499270" imgH="441936" progId="Equation.3">
                  <p:embed/>
                </p:oleObj>
              </mc:Choice>
              <mc:Fallback>
                <p:oleObj name="Equation" r:id="rId16" imgW="2499270" imgH="441936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5949950"/>
                        <a:ext cx="2520950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2" name="Object 16">
            <a:extLst>
              <a:ext uri="{FF2B5EF4-FFF2-40B4-BE49-F238E27FC236}">
                <a16:creationId xmlns:a16="http://schemas.microsoft.com/office/drawing/2014/main" id="{F2508775-D04D-7E93-CB09-C01FC4F5F22B}"/>
              </a:ext>
            </a:extLst>
          </p:cNvPr>
          <p:cNvGraphicFramePr>
            <a:graphicFrameLocks/>
          </p:cNvGraphicFramePr>
          <p:nvPr/>
        </p:nvGraphicFramePr>
        <p:xfrm>
          <a:off x="6300788" y="5913438"/>
          <a:ext cx="1795462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767750" imgH="441936" progId="Equation.3">
                  <p:embed/>
                </p:oleObj>
              </mc:Choice>
              <mc:Fallback>
                <p:oleObj name="公式" r:id="rId18" imgW="1767750" imgH="441936" progId="Equation.3">
                  <p:embed/>
                  <p:pic>
                    <p:nvPicPr>
                      <p:cNvPr id="0" name="Object 16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5913438"/>
                        <a:ext cx="1795462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41" name="Text Box 17">
            <a:extLst>
              <a:ext uri="{FF2B5EF4-FFF2-40B4-BE49-F238E27FC236}">
                <a16:creationId xmlns:a16="http://schemas.microsoft.com/office/drawing/2014/main" id="{F6C447A2-30DE-84AE-15F4-892A51E558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398588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已知一质点运动方程</a:t>
            </a:r>
          </a:p>
        </p:txBody>
      </p:sp>
      <p:graphicFrame>
        <p:nvGraphicFramePr>
          <p:cNvPr id="26642" name="Object 18">
            <a:extLst>
              <a:ext uri="{FF2B5EF4-FFF2-40B4-BE49-F238E27FC236}">
                <a16:creationId xmlns:a16="http://schemas.microsoft.com/office/drawing/2014/main" id="{21991D84-0E18-C80C-542E-B36ED21AD3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98875" y="1438275"/>
          <a:ext cx="26320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2613590" imgH="441936" progId="Equation.3">
                  <p:embed/>
                </p:oleObj>
              </mc:Choice>
              <mc:Fallback>
                <p:oleObj name="公式" r:id="rId20" imgW="2613590" imgH="441936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8875" y="1438275"/>
                        <a:ext cx="2632075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43" name="Text Box 19">
            <a:extLst>
              <a:ext uri="{FF2B5EF4-FFF2-40B4-BE49-F238E27FC236}">
                <a16:creationId xmlns:a16="http://schemas.microsoft.com/office/drawing/2014/main" id="{3E5077D0-3735-8E68-77BA-26C8EBF07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500" y="1981200"/>
            <a:ext cx="59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rgbClr val="FFFF00"/>
                </a:solidFill>
                <a:latin typeface="宋体" panose="02010600030101010101" pitchFamily="2" charset="-122"/>
              </a:rPr>
              <a:t>求</a:t>
            </a:r>
            <a:endParaRPr kumimoji="1" lang="zh-CN" altLang="en-US" sz="2400">
              <a:solidFill>
                <a:srgbClr val="FFFF00"/>
              </a:solidFill>
              <a:latin typeface="宋体" panose="02010600030101010101" pitchFamily="2" charset="-122"/>
            </a:endParaRPr>
          </a:p>
        </p:txBody>
      </p:sp>
      <p:sp>
        <p:nvSpPr>
          <p:cNvPr id="26644" name="Text Box 20">
            <a:extLst>
              <a:ext uri="{FF2B5EF4-FFF2-40B4-BE49-F238E27FC236}">
                <a16:creationId xmlns:a16="http://schemas.microsoft.com/office/drawing/2014/main" id="{DA23D475-18D5-9A7B-D05D-342E1DB112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39065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rgbClr val="FFFF00"/>
                </a:solidFill>
                <a:latin typeface="宋体" panose="02010600030101010101" pitchFamily="2" charset="-122"/>
              </a:rPr>
              <a:t>例</a:t>
            </a:r>
            <a:endParaRPr kumimoji="1" lang="zh-CN" altLang="en-US" sz="2400">
              <a:latin typeface="宋体" panose="02010600030101010101" pitchFamily="2" charset="-122"/>
            </a:endParaRPr>
          </a:p>
        </p:txBody>
      </p:sp>
      <p:sp>
        <p:nvSpPr>
          <p:cNvPr id="19477" name="Text Box 21">
            <a:extLst>
              <a:ext uri="{FF2B5EF4-FFF2-40B4-BE49-F238E27FC236}">
                <a16:creationId xmlns:a16="http://schemas.microsoft.com/office/drawing/2014/main" id="{C46F7C16-4748-7B31-3455-D1ABDFF0B7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" y="3116263"/>
            <a:ext cx="536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rgbClr val="FFFF00"/>
                </a:solidFill>
                <a:latin typeface="宋体" panose="02010600030101010101" pitchFamily="2" charset="-122"/>
              </a:rPr>
              <a:t>解</a:t>
            </a:r>
            <a:endParaRPr kumimoji="1" lang="zh-CN" altLang="en-US" sz="2400">
              <a:latin typeface="宋体" panose="02010600030101010101" pitchFamily="2" charset="-122"/>
            </a:endParaRPr>
          </a:p>
        </p:txBody>
      </p:sp>
      <p:sp>
        <p:nvSpPr>
          <p:cNvPr id="19478" name="Text Box 22">
            <a:extLst>
              <a:ext uri="{FF2B5EF4-FFF2-40B4-BE49-F238E27FC236}">
                <a16:creationId xmlns:a16="http://schemas.microsoft.com/office/drawing/2014/main" id="{5D0C9DE7-7582-4AD6-544A-1D5534939F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116263"/>
            <a:ext cx="663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(1)</a:t>
            </a:r>
            <a:endParaRPr kumimoji="1" lang="en-US" altLang="zh-CN" sz="2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79" name="Text Box 23">
            <a:extLst>
              <a:ext uri="{FF2B5EF4-FFF2-40B4-BE49-F238E27FC236}">
                <a16:creationId xmlns:a16="http://schemas.microsoft.com/office/drawing/2014/main" id="{F49EC14A-4A05-0CA2-5713-005B1BD308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350" y="4581525"/>
            <a:ext cx="603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(2)</a:t>
            </a:r>
            <a:endParaRPr kumimoji="1" lang="en-US" altLang="zh-CN" sz="2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80" name="Text Box 24">
            <a:extLst>
              <a:ext uri="{FF2B5EF4-FFF2-40B4-BE49-F238E27FC236}">
                <a16:creationId xmlns:a16="http://schemas.microsoft.com/office/drawing/2014/main" id="{30C07687-9A28-9865-3C95-ED807DDB16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175" y="5949950"/>
            <a:ext cx="682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(3)</a:t>
            </a:r>
            <a:endParaRPr kumimoji="1" lang="en-US" altLang="zh-CN" sz="2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81" name="Rectangle 25">
            <a:extLst>
              <a:ext uri="{FF2B5EF4-FFF2-40B4-BE49-F238E27FC236}">
                <a16:creationId xmlns:a16="http://schemas.microsoft.com/office/drawing/2014/main" id="{18F66136-25BB-FCC2-05EA-D821796128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5373688"/>
            <a:ext cx="15573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当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t </a:t>
            </a:r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</a:rPr>
              <a:t>=2s</a:t>
            </a: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时</a:t>
            </a:r>
          </a:p>
        </p:txBody>
      </p:sp>
      <p:graphicFrame>
        <p:nvGraphicFramePr>
          <p:cNvPr id="19482" name="Object 26">
            <a:extLst>
              <a:ext uri="{FF2B5EF4-FFF2-40B4-BE49-F238E27FC236}">
                <a16:creationId xmlns:a16="http://schemas.microsoft.com/office/drawing/2014/main" id="{8C98B0D2-A5EF-CEA9-94E0-78AF3FD9BE36}"/>
              </a:ext>
            </a:extLst>
          </p:cNvPr>
          <p:cNvGraphicFramePr>
            <a:graphicFrameLocks/>
          </p:cNvGraphicFramePr>
          <p:nvPr/>
        </p:nvGraphicFramePr>
        <p:xfrm>
          <a:off x="6084888" y="5373688"/>
          <a:ext cx="15335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508855" imgH="396144" progId="Equation.3">
                  <p:embed/>
                </p:oleObj>
              </mc:Choice>
              <mc:Fallback>
                <p:oleObj name="公式" r:id="rId22" imgW="1508855" imgH="396144" progId="Equation.3">
                  <p:embed/>
                  <p:pic>
                    <p:nvPicPr>
                      <p:cNvPr id="0" name="Object 26"/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5373688"/>
                        <a:ext cx="153352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83" name="Object 27">
            <a:extLst>
              <a:ext uri="{FF2B5EF4-FFF2-40B4-BE49-F238E27FC236}">
                <a16:creationId xmlns:a16="http://schemas.microsoft.com/office/drawing/2014/main" id="{4CB46383-9416-357B-3D61-3E1A4025F0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03800" y="4365625"/>
          <a:ext cx="2924175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2895609" imgH="853416" progId="Equation.3">
                  <p:embed/>
                </p:oleObj>
              </mc:Choice>
              <mc:Fallback>
                <p:oleObj name="公式" r:id="rId24" imgW="2895609" imgH="853416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4365625"/>
                        <a:ext cx="2924175" cy="877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84" name="Text Box 28">
            <a:extLst>
              <a:ext uri="{FF2B5EF4-FFF2-40B4-BE49-F238E27FC236}">
                <a16:creationId xmlns:a16="http://schemas.microsoft.com/office/drawing/2014/main" id="{D0E5DBAB-7ED2-D7ED-8FD4-7155CE6954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9838" y="3106738"/>
            <a:ext cx="2019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chemeClr val="bg1"/>
                </a:solidFill>
              </a:rPr>
              <a:t>由</a:t>
            </a:r>
            <a:r>
              <a:rPr kumimoji="1" lang="zh-CN" altLang="en-US" sz="2400" b="1">
                <a:solidFill>
                  <a:schemeClr val="bg1"/>
                </a:solidFill>
              </a:rPr>
              <a:t>运动方程得</a:t>
            </a:r>
          </a:p>
        </p:txBody>
      </p:sp>
      <p:sp>
        <p:nvSpPr>
          <p:cNvPr id="19485" name="Rectangle 29">
            <a:extLst>
              <a:ext uri="{FF2B5EF4-FFF2-40B4-BE49-F238E27FC236}">
                <a16:creationId xmlns:a16="http://schemas.microsoft.com/office/drawing/2014/main" id="{6DF1F3B6-C1C6-86D2-F674-9EBEB8C79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4663" y="5924550"/>
            <a:ext cx="1717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chemeClr val="bg1"/>
                </a:solidFill>
              </a:rPr>
              <a:t>轨迹方程为</a:t>
            </a:r>
          </a:p>
        </p:txBody>
      </p:sp>
      <p:sp>
        <p:nvSpPr>
          <p:cNvPr id="30750" name="TextBox 1">
            <a:extLst>
              <a:ext uri="{FF2B5EF4-FFF2-40B4-BE49-F238E27FC236}">
                <a16:creationId xmlns:a16="http://schemas.microsoft.com/office/drawing/2014/main" id="{8483C420-CE9D-59CC-1DAC-FFE3AB63DD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0225" y="928688"/>
            <a:ext cx="803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FF0000"/>
                </a:solidFill>
              </a:rPr>
              <a:t>求导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0" grpId="0"/>
      <p:bldP spid="26631" grpId="0"/>
      <p:bldP spid="26632" grpId="0"/>
      <p:bldP spid="26641" grpId="0"/>
      <p:bldP spid="26643" grpId="0"/>
      <p:bldP spid="26644" grpId="0"/>
      <p:bldP spid="19477" grpId="0"/>
      <p:bldP spid="19478" grpId="0"/>
      <p:bldP spid="19479" grpId="0"/>
      <p:bldP spid="19480" grpId="0"/>
      <p:bldP spid="19481" grpId="0"/>
      <p:bldP spid="19484" grpId="0"/>
      <p:bldP spid="1948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4">
            <a:extLst>
              <a:ext uri="{FF2B5EF4-FFF2-40B4-BE49-F238E27FC236}">
                <a16:creationId xmlns:a16="http://schemas.microsoft.com/office/drawing/2014/main" id="{EB2DC38B-F3E9-8B0E-63C3-E61794FDFE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84175"/>
            <a:ext cx="7773988" cy="97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一质点作匀速圆周运动，半径为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r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，角速度为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 i="1">
                <a:solidFill>
                  <a:srgbClr val="66FF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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。</a:t>
            </a:r>
            <a:r>
              <a:rPr lang="zh-CN" altLang="zh-CN" sz="2400" b="1">
                <a:solidFill>
                  <a:schemeClr val="bg1"/>
                </a:solidFill>
              </a:rPr>
              <a:t>书中例题：</a:t>
            </a:r>
            <a:r>
              <a:rPr lang="en-US" altLang="zh-CN" sz="2400" b="1">
                <a:solidFill>
                  <a:schemeClr val="bg1"/>
                </a:solidFill>
              </a:rPr>
              <a:t>1.1, 1.4</a:t>
            </a:r>
            <a:r>
              <a:rPr lang="zh-CN" altLang="zh-CN" sz="2400" b="1">
                <a:solidFill>
                  <a:schemeClr val="bg1"/>
                </a:solidFill>
              </a:rPr>
              <a:t>（</a:t>
            </a:r>
            <a:r>
              <a:rPr lang="en-US" altLang="zh-CN" sz="2400" b="1">
                <a:solidFill>
                  <a:schemeClr val="bg1"/>
                </a:solidFill>
              </a:rPr>
              <a:t>p.6;p.15</a:t>
            </a:r>
            <a:r>
              <a:rPr lang="zh-CN" altLang="en-US" sz="2400" b="1">
                <a:solidFill>
                  <a:schemeClr val="bg1"/>
                </a:solidFill>
              </a:rPr>
              <a:t>）</a:t>
            </a:r>
            <a:endParaRPr kumimoji="1" lang="zh-CN" altLang="en-US" sz="240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9221" name="Text Box 5">
            <a:extLst>
              <a:ext uri="{FF2B5EF4-FFF2-40B4-BE49-F238E27FC236}">
                <a16:creationId xmlns:a16="http://schemas.microsoft.com/office/drawing/2014/main" id="{E01BE36A-C4D7-0A51-973F-F3B1991A98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724025"/>
            <a:ext cx="472440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以圆心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O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为原点。建立直角坐标系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Oxy</a:t>
            </a:r>
            <a:r>
              <a:rPr kumimoji="1" lang="en-US" altLang="zh-CN" sz="2400" b="1" i="1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，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O </a:t>
            </a:r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点为起始时刻，设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t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时刻质点位于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P</a:t>
            </a:r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</a:rPr>
              <a:t> , 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y</a:t>
            </a:r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</a:rPr>
              <a:t>）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，用直角坐标表示的质点运动学方程为</a:t>
            </a:r>
          </a:p>
        </p:txBody>
      </p:sp>
      <p:graphicFrame>
        <p:nvGraphicFramePr>
          <p:cNvPr id="9222" name="Object 6">
            <a:extLst>
              <a:ext uri="{FF2B5EF4-FFF2-40B4-BE49-F238E27FC236}">
                <a16:creationId xmlns:a16="http://schemas.microsoft.com/office/drawing/2014/main" id="{AADE2882-75AB-6D9E-3CEC-6B4B1D35A79D}"/>
              </a:ext>
            </a:extLst>
          </p:cNvPr>
          <p:cNvGraphicFramePr>
            <a:graphicFrameLocks/>
          </p:cNvGraphicFramePr>
          <p:nvPr/>
        </p:nvGraphicFramePr>
        <p:xfrm>
          <a:off x="1252538" y="3810000"/>
          <a:ext cx="3752850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733886" imgH="365688" progId="Equation.3">
                  <p:embed/>
                </p:oleObj>
              </mc:Choice>
              <mc:Fallback>
                <p:oleObj name="公式" r:id="rId2" imgW="3733886" imgH="365688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2538" y="3810000"/>
                        <a:ext cx="3752850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4" name="Text Box 8">
            <a:extLst>
              <a:ext uri="{FF2B5EF4-FFF2-40B4-BE49-F238E27FC236}">
                <a16:creationId xmlns:a16="http://schemas.microsoft.com/office/drawing/2014/main" id="{3897F04B-06FB-995C-E420-689FA927F3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4221163"/>
            <a:ext cx="345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位矢表示为</a:t>
            </a:r>
            <a:endParaRPr kumimoji="1"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9226" name="Oval 10">
            <a:extLst>
              <a:ext uri="{FF2B5EF4-FFF2-40B4-BE49-F238E27FC236}">
                <a16:creationId xmlns:a16="http://schemas.microsoft.com/office/drawing/2014/main" id="{0C2FC54B-11D3-2CFA-508C-CA4EB8438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2809875"/>
            <a:ext cx="2058988" cy="2058988"/>
          </a:xfrm>
          <a:prstGeom prst="ellips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7" name="Line 11">
            <a:extLst>
              <a:ext uri="{FF2B5EF4-FFF2-40B4-BE49-F238E27FC236}">
                <a16:creationId xmlns:a16="http://schemas.microsoft.com/office/drawing/2014/main" id="{80F27B6F-D2D8-DD3C-227B-E96BC3C104A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64300" y="1933575"/>
            <a:ext cx="0" cy="190500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8" name="Line 12">
            <a:extLst>
              <a:ext uri="{FF2B5EF4-FFF2-40B4-BE49-F238E27FC236}">
                <a16:creationId xmlns:a16="http://schemas.microsoft.com/office/drawing/2014/main" id="{B3FAF348-E41D-558F-C1B6-C2B82E0866F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64300" y="3152775"/>
            <a:ext cx="762000" cy="6858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9229" name="Object 13">
            <a:extLst>
              <a:ext uri="{FF2B5EF4-FFF2-40B4-BE49-F238E27FC236}">
                <a16:creationId xmlns:a16="http://schemas.microsoft.com/office/drawing/2014/main" id="{B2A788F9-7A29-420A-2DB0-E7111A1526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01013" y="3603625"/>
          <a:ext cx="176212" cy="185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90606" imgH="205848" progId="Equation.3">
                  <p:embed/>
                </p:oleObj>
              </mc:Choice>
              <mc:Fallback>
                <p:oleObj name="公式" r:id="rId4" imgW="190606" imgH="205848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1013" y="3603625"/>
                        <a:ext cx="176212" cy="185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0" name="Object 14">
            <a:extLst>
              <a:ext uri="{FF2B5EF4-FFF2-40B4-BE49-F238E27FC236}">
                <a16:creationId xmlns:a16="http://schemas.microsoft.com/office/drawing/2014/main" id="{8328A750-A71F-5E51-6F87-CB4F49077D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88125" y="2060575"/>
          <a:ext cx="190500" cy="24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13297" imgH="281880" progId="Equation.3">
                  <p:embed/>
                </p:oleObj>
              </mc:Choice>
              <mc:Fallback>
                <p:oleObj name="公式" r:id="rId6" imgW="213297" imgH="28188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125" y="2060575"/>
                        <a:ext cx="190500" cy="242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1" name="Line 15">
            <a:extLst>
              <a:ext uri="{FF2B5EF4-FFF2-40B4-BE49-F238E27FC236}">
                <a16:creationId xmlns:a16="http://schemas.microsoft.com/office/drawing/2014/main" id="{79DE025A-2426-5481-D559-856B602BCFA4}"/>
              </a:ext>
            </a:extLst>
          </p:cNvPr>
          <p:cNvSpPr>
            <a:spLocks noChangeShapeType="1"/>
          </p:cNvSpPr>
          <p:nvPr/>
        </p:nvSpPr>
        <p:spPr bwMode="auto">
          <a:xfrm>
            <a:off x="7226300" y="3152775"/>
            <a:ext cx="0" cy="685800"/>
          </a:xfrm>
          <a:prstGeom prst="line">
            <a:avLst/>
          </a:prstGeom>
          <a:noFill/>
          <a:ln w="19050">
            <a:solidFill>
              <a:srgbClr val="FFFF6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32" name="Line 16">
            <a:extLst>
              <a:ext uri="{FF2B5EF4-FFF2-40B4-BE49-F238E27FC236}">
                <a16:creationId xmlns:a16="http://schemas.microsoft.com/office/drawing/2014/main" id="{AB057991-08BE-4AF7-87CC-D854183411B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64300" y="3152775"/>
            <a:ext cx="762000" cy="0"/>
          </a:xfrm>
          <a:prstGeom prst="line">
            <a:avLst/>
          </a:prstGeom>
          <a:noFill/>
          <a:ln w="19050">
            <a:solidFill>
              <a:srgbClr val="FFFF6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9233" name="Object 17">
            <a:extLst>
              <a:ext uri="{FF2B5EF4-FFF2-40B4-BE49-F238E27FC236}">
                <a16:creationId xmlns:a16="http://schemas.microsoft.com/office/drawing/2014/main" id="{E8FA8DCA-67AA-35E7-5872-A653E7C2D7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46950" y="2924175"/>
          <a:ext cx="223838" cy="23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1548" imgH="274320" progId="Equation.3">
                  <p:embed/>
                </p:oleObj>
              </mc:Choice>
              <mc:Fallback>
                <p:oleObj name="Equation" r:id="rId8" imgW="251548" imgH="27432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46950" y="2924175"/>
                        <a:ext cx="223838" cy="233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4" name="Object 18">
            <a:extLst>
              <a:ext uri="{FF2B5EF4-FFF2-40B4-BE49-F238E27FC236}">
                <a16:creationId xmlns:a16="http://schemas.microsoft.com/office/drawing/2014/main" id="{3B8BD52A-3F5D-FFEE-523F-9BC00B8F7B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19900" y="3568700"/>
          <a:ext cx="323850" cy="230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88559" imgH="274320" progId="Equation.3">
                  <p:embed/>
                </p:oleObj>
              </mc:Choice>
              <mc:Fallback>
                <p:oleObj name="公式" r:id="rId10" imgW="388559" imgH="27432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9900" y="3568700"/>
                        <a:ext cx="323850" cy="230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5" name="Object 19">
            <a:extLst>
              <a:ext uri="{FF2B5EF4-FFF2-40B4-BE49-F238E27FC236}">
                <a16:creationId xmlns:a16="http://schemas.microsoft.com/office/drawing/2014/main" id="{19AFE5D1-F429-8415-12A6-4CE8880C76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35813" y="3921125"/>
          <a:ext cx="173037" cy="182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90606" imgH="205848" progId="Equation.3">
                  <p:embed/>
                </p:oleObj>
              </mc:Choice>
              <mc:Fallback>
                <p:oleObj name="公式" r:id="rId12" imgW="190606" imgH="205848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5813" y="3921125"/>
                        <a:ext cx="173037" cy="182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6" name="Object 20">
            <a:extLst>
              <a:ext uri="{FF2B5EF4-FFF2-40B4-BE49-F238E27FC236}">
                <a16:creationId xmlns:a16="http://schemas.microsoft.com/office/drawing/2014/main" id="{4DE17DD9-E0D3-009A-807A-4BA4EE68E3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81725" y="3076575"/>
          <a:ext cx="1905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13297" imgH="281880" progId="Equation.3">
                  <p:embed/>
                </p:oleObj>
              </mc:Choice>
              <mc:Fallback>
                <p:oleObj name="Equation" r:id="rId14" imgW="213297" imgH="28188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1725" y="3076575"/>
                        <a:ext cx="1905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7" name="Object 21">
            <a:extLst>
              <a:ext uri="{FF2B5EF4-FFF2-40B4-BE49-F238E27FC236}">
                <a16:creationId xmlns:a16="http://schemas.microsoft.com/office/drawing/2014/main" id="{0276D601-0F04-ACCC-D968-F5C82D7D77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96025" y="3902075"/>
          <a:ext cx="233363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4239" imgH="289656" progId="Equation.3">
                  <p:embed/>
                </p:oleObj>
              </mc:Choice>
              <mc:Fallback>
                <p:oleObj name="Equation" r:id="rId16" imgW="274239" imgH="289656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6025" y="3902075"/>
                        <a:ext cx="233363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8" name="Object 22">
            <a:extLst>
              <a:ext uri="{FF2B5EF4-FFF2-40B4-BE49-F238E27FC236}">
                <a16:creationId xmlns:a16="http://schemas.microsoft.com/office/drawing/2014/main" id="{F36C086B-F7D2-88F4-543F-A6FFD908BE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67500" y="3252788"/>
          <a:ext cx="173038" cy="214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90606" imgH="243864" progId="Equation.3">
                  <p:embed/>
                </p:oleObj>
              </mc:Choice>
              <mc:Fallback>
                <p:oleObj name="公式" r:id="rId18" imgW="190606" imgH="243864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0" y="3252788"/>
                        <a:ext cx="173038" cy="214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9" name="Arc 23">
            <a:extLst>
              <a:ext uri="{FF2B5EF4-FFF2-40B4-BE49-F238E27FC236}">
                <a16:creationId xmlns:a16="http://schemas.microsoft.com/office/drawing/2014/main" id="{CA977D5F-BCCB-29DD-C6C2-15FF001C184D}"/>
              </a:ext>
            </a:extLst>
          </p:cNvPr>
          <p:cNvSpPr>
            <a:spLocks/>
          </p:cNvSpPr>
          <p:nvPr/>
        </p:nvSpPr>
        <p:spPr bwMode="auto">
          <a:xfrm rot="8896191" flipH="1">
            <a:off x="7219950" y="3416300"/>
            <a:ext cx="442913" cy="382588"/>
          </a:xfrm>
          <a:custGeom>
            <a:avLst/>
            <a:gdLst>
              <a:gd name="T0" fmla="*/ 2147483646 w 21600"/>
              <a:gd name="T1" fmla="*/ 0 h 13789"/>
              <a:gd name="T2" fmla="*/ 2147483646 w 21600"/>
              <a:gd name="T3" fmla="*/ 2147483646 h 13789"/>
              <a:gd name="T4" fmla="*/ 0 w 21600"/>
              <a:gd name="T5" fmla="*/ 2147483646 h 13789"/>
              <a:gd name="T6" fmla="*/ 0 60000 65536"/>
              <a:gd name="T7" fmla="*/ 0 60000 65536"/>
              <a:gd name="T8" fmla="*/ 0 60000 65536"/>
              <a:gd name="T9" fmla="*/ 0 w 21600"/>
              <a:gd name="T10" fmla="*/ 0 h 13789"/>
              <a:gd name="T11" fmla="*/ 21600 w 21600"/>
              <a:gd name="T12" fmla="*/ 13789 h 137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3789" fill="none" extrusionOk="0">
                <a:moveTo>
                  <a:pt x="16625" y="0"/>
                </a:moveTo>
                <a:cubicBezTo>
                  <a:pt x="19840" y="3876"/>
                  <a:pt x="21600" y="8753"/>
                  <a:pt x="21600" y="13789"/>
                </a:cubicBezTo>
              </a:path>
              <a:path w="21600" h="13789" stroke="0" extrusionOk="0">
                <a:moveTo>
                  <a:pt x="16625" y="0"/>
                </a:moveTo>
                <a:cubicBezTo>
                  <a:pt x="19840" y="3876"/>
                  <a:pt x="21600" y="8753"/>
                  <a:pt x="21600" y="13789"/>
                </a:cubicBezTo>
                <a:lnTo>
                  <a:pt x="0" y="13789"/>
                </a:lnTo>
                <a:lnTo>
                  <a:pt x="16625" y="0"/>
                </a:lnTo>
                <a:close/>
              </a:path>
            </a:pathLst>
          </a:custGeom>
          <a:noFill/>
          <a:ln w="28575">
            <a:solidFill>
              <a:srgbClr val="66FF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9240" name="Object 24">
            <a:extLst>
              <a:ext uri="{FF2B5EF4-FFF2-40B4-BE49-F238E27FC236}">
                <a16:creationId xmlns:a16="http://schemas.microsoft.com/office/drawing/2014/main" id="{EDBF7F73-1AF3-A1C5-9944-007E259D26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31125" y="3378200"/>
          <a:ext cx="153988" cy="18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67699" imgH="205848" progId="Equation.3">
                  <p:embed/>
                </p:oleObj>
              </mc:Choice>
              <mc:Fallback>
                <p:oleObj name="Equation" r:id="rId20" imgW="167699" imgH="205848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31125" y="3378200"/>
                        <a:ext cx="153988" cy="18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1" name="Line 25">
            <a:extLst>
              <a:ext uri="{FF2B5EF4-FFF2-40B4-BE49-F238E27FC236}">
                <a16:creationId xmlns:a16="http://schemas.microsoft.com/office/drawing/2014/main" id="{7A3073BA-108A-4C25-D47D-8290F61C8775}"/>
              </a:ext>
            </a:extLst>
          </p:cNvPr>
          <p:cNvSpPr>
            <a:spLocks noChangeShapeType="1"/>
          </p:cNvSpPr>
          <p:nvPr/>
        </p:nvSpPr>
        <p:spPr bwMode="auto">
          <a:xfrm>
            <a:off x="6464300" y="3859213"/>
            <a:ext cx="1981200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66" name="Rectangle 26">
            <a:extLst>
              <a:ext uri="{FF2B5EF4-FFF2-40B4-BE49-F238E27FC236}">
                <a16:creationId xmlns:a16="http://schemas.microsoft.com/office/drawing/2014/main" id="{F5B9A749-0132-2118-9564-E81E30A8D0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988" y="417513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rgbClr val="FFFF00"/>
                </a:solidFill>
                <a:latin typeface="宋体" panose="02010600030101010101" pitchFamily="2" charset="-122"/>
              </a:rPr>
              <a:t>例</a:t>
            </a:r>
          </a:p>
        </p:txBody>
      </p:sp>
      <p:sp>
        <p:nvSpPr>
          <p:cNvPr id="9243" name="Rectangle 27">
            <a:extLst>
              <a:ext uri="{FF2B5EF4-FFF2-40B4-BE49-F238E27FC236}">
                <a16:creationId xmlns:a16="http://schemas.microsoft.com/office/drawing/2014/main" id="{0B76C9DD-4CE7-DD30-200C-35689C0033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625" y="1773238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</a:rPr>
              <a:t>解</a:t>
            </a:r>
            <a:endParaRPr kumimoji="1" lang="zh-CN" altLang="en-US" sz="2400" b="1">
              <a:solidFill>
                <a:srgbClr val="FFFF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9244" name="Object 28">
            <a:extLst>
              <a:ext uri="{FF2B5EF4-FFF2-40B4-BE49-F238E27FC236}">
                <a16:creationId xmlns:a16="http://schemas.microsoft.com/office/drawing/2014/main" id="{0B95CC90-4080-345E-10C2-9C4B89E317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59563" y="2492375"/>
          <a:ext cx="220662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251548" imgH="205848" progId="Equation.3">
                  <p:embed/>
                </p:oleObj>
              </mc:Choice>
              <mc:Fallback>
                <p:oleObj name="公式" r:id="rId22" imgW="251548" imgH="205848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2492375"/>
                        <a:ext cx="220662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5" name="Object 29">
            <a:extLst>
              <a:ext uri="{FF2B5EF4-FFF2-40B4-BE49-F238E27FC236}">
                <a16:creationId xmlns:a16="http://schemas.microsoft.com/office/drawing/2014/main" id="{96DB8D1C-FAC7-2C80-1038-ED3B715571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50100" y="3062288"/>
          <a:ext cx="150813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167699" imgH="167616" progId="Equation.3">
                  <p:embed/>
                </p:oleObj>
              </mc:Choice>
              <mc:Fallback>
                <p:oleObj name="公式" r:id="rId24" imgW="167699" imgH="167616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0100" y="3062288"/>
                        <a:ext cx="150813" cy="15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6" name="Object 30">
            <a:extLst>
              <a:ext uri="{FF2B5EF4-FFF2-40B4-BE49-F238E27FC236}">
                <a16:creationId xmlns:a16="http://schemas.microsoft.com/office/drawing/2014/main" id="{2639D58B-44B3-524E-09C6-C1FD9A6EA0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0" y="2913063"/>
          <a:ext cx="630238" cy="31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761991" imgH="365688" progId="Equation.3">
                  <p:embed/>
                </p:oleObj>
              </mc:Choice>
              <mc:Fallback>
                <p:oleObj name="Equation" r:id="rId26" imgW="761991" imgH="365688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2913063"/>
                        <a:ext cx="630238" cy="312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7" name="Arc 31">
            <a:extLst>
              <a:ext uri="{FF2B5EF4-FFF2-40B4-BE49-F238E27FC236}">
                <a16:creationId xmlns:a16="http://schemas.microsoft.com/office/drawing/2014/main" id="{D2501F8D-9304-8CF6-DE3B-F9ECB80945E6}"/>
              </a:ext>
            </a:extLst>
          </p:cNvPr>
          <p:cNvSpPr>
            <a:spLocks/>
          </p:cNvSpPr>
          <p:nvPr/>
        </p:nvSpPr>
        <p:spPr bwMode="auto">
          <a:xfrm rot="5102552" flipH="1">
            <a:off x="6652419" y="2777331"/>
            <a:ext cx="504825" cy="398463"/>
          </a:xfrm>
          <a:custGeom>
            <a:avLst/>
            <a:gdLst>
              <a:gd name="T0" fmla="*/ 2147483646 w 21600"/>
              <a:gd name="T1" fmla="*/ 0 h 16703"/>
              <a:gd name="T2" fmla="*/ 2147483646 w 21600"/>
              <a:gd name="T3" fmla="*/ 2147483646 h 16703"/>
              <a:gd name="T4" fmla="*/ 0 w 21600"/>
              <a:gd name="T5" fmla="*/ 2147483646 h 16703"/>
              <a:gd name="T6" fmla="*/ 0 60000 65536"/>
              <a:gd name="T7" fmla="*/ 0 60000 65536"/>
              <a:gd name="T8" fmla="*/ 0 60000 65536"/>
              <a:gd name="T9" fmla="*/ 0 w 21600"/>
              <a:gd name="T10" fmla="*/ 0 h 16703"/>
              <a:gd name="T11" fmla="*/ 21600 w 21600"/>
              <a:gd name="T12" fmla="*/ 16703 h 1670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6703" fill="none" extrusionOk="0">
                <a:moveTo>
                  <a:pt x="13695" y="0"/>
                </a:moveTo>
                <a:cubicBezTo>
                  <a:pt x="18699" y="4102"/>
                  <a:pt x="21600" y="10232"/>
                  <a:pt x="21600" y="16703"/>
                </a:cubicBezTo>
              </a:path>
              <a:path w="21600" h="16703" stroke="0" extrusionOk="0">
                <a:moveTo>
                  <a:pt x="13695" y="0"/>
                </a:moveTo>
                <a:cubicBezTo>
                  <a:pt x="18699" y="4102"/>
                  <a:pt x="21600" y="10232"/>
                  <a:pt x="21600" y="16703"/>
                </a:cubicBezTo>
                <a:lnTo>
                  <a:pt x="0" y="16703"/>
                </a:lnTo>
                <a:lnTo>
                  <a:pt x="13695" y="0"/>
                </a:lnTo>
                <a:close/>
              </a:path>
            </a:pathLst>
          </a:custGeom>
          <a:noFill/>
          <a:ln w="28575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9248" name="Object 32">
            <a:extLst>
              <a:ext uri="{FF2B5EF4-FFF2-40B4-BE49-F238E27FC236}">
                <a16:creationId xmlns:a16="http://schemas.microsoft.com/office/drawing/2014/main" id="{54703FD5-9F13-C837-11C8-B409F5AFA3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32688" y="3903663"/>
          <a:ext cx="273050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320054" imgH="289656" progId="Equation.3">
                  <p:embed/>
                </p:oleObj>
              </mc:Choice>
              <mc:Fallback>
                <p:oleObj name="Equation" r:id="rId28" imgW="320054" imgH="289656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2688" y="3903663"/>
                        <a:ext cx="273050" cy="252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9" name="Object 33">
            <a:extLst>
              <a:ext uri="{FF2B5EF4-FFF2-40B4-BE49-F238E27FC236}">
                <a16:creationId xmlns:a16="http://schemas.microsoft.com/office/drawing/2014/main" id="{20348A26-1033-7BF4-53FC-A2456A41A7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92863" y="3767138"/>
          <a:ext cx="150812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167699" imgH="167616" progId="Equation.3">
                  <p:embed/>
                </p:oleObj>
              </mc:Choice>
              <mc:Fallback>
                <p:oleObj name="公式" r:id="rId30" imgW="167699" imgH="167616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2863" y="3767138"/>
                        <a:ext cx="150812" cy="15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50" name="Object 34">
            <a:extLst>
              <a:ext uri="{FF2B5EF4-FFF2-40B4-BE49-F238E27FC236}">
                <a16:creationId xmlns:a16="http://schemas.microsoft.com/office/drawing/2014/main" id="{667818B7-3C6A-67AF-653D-3A3E76EA03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12038" y="3762375"/>
          <a:ext cx="173037" cy="192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91413" imgH="99144" progId="Equation.3">
                  <p:embed/>
                </p:oleObj>
              </mc:Choice>
              <mc:Fallback>
                <p:oleObj name="Equation" r:id="rId32" imgW="91413" imgH="99144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2038" y="3762375"/>
                        <a:ext cx="173037" cy="192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51" name="Object 35">
            <a:extLst>
              <a:ext uri="{FF2B5EF4-FFF2-40B4-BE49-F238E27FC236}">
                <a16:creationId xmlns:a16="http://schemas.microsoft.com/office/drawing/2014/main" id="{6C545C29-7782-F5E4-D0CE-3B4F15A19355}"/>
              </a:ext>
            </a:extLst>
          </p:cNvPr>
          <p:cNvGraphicFramePr>
            <a:graphicFrameLocks/>
          </p:cNvGraphicFramePr>
          <p:nvPr/>
        </p:nvGraphicFramePr>
        <p:xfrm>
          <a:off x="685800" y="4678363"/>
          <a:ext cx="45561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4" imgW="4533911" imgH="396144" progId="Equation.3">
                  <p:embed/>
                </p:oleObj>
              </mc:Choice>
              <mc:Fallback>
                <p:oleObj name="公式" r:id="rId34" imgW="4533911" imgH="396144" progId="Equation.3">
                  <p:embed/>
                  <p:pic>
                    <p:nvPicPr>
                      <p:cNvPr id="0" name="Object 35"/>
                      <p:cNvPicPr>
                        <a:picLocks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678363"/>
                        <a:ext cx="455612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52" name="Rectangle 36">
            <a:extLst>
              <a:ext uri="{FF2B5EF4-FFF2-40B4-BE49-F238E27FC236}">
                <a16:creationId xmlns:a16="http://schemas.microsoft.com/office/drawing/2014/main" id="{45421D81-B1DB-42FF-31CD-91077CC42F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725" y="125730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</a:rPr>
              <a:t>求</a:t>
            </a:r>
          </a:p>
        </p:txBody>
      </p:sp>
      <p:sp>
        <p:nvSpPr>
          <p:cNvPr id="9253" name="Rectangle 37">
            <a:extLst>
              <a:ext uri="{FF2B5EF4-FFF2-40B4-BE49-F238E27FC236}">
                <a16:creationId xmlns:a16="http://schemas.microsoft.com/office/drawing/2014/main" id="{19B21C06-CB6F-F2B7-2DD3-21D591247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375" y="1262063"/>
            <a:ext cx="60626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chemeClr val="bg1"/>
                </a:solidFill>
                <a:latin typeface="仿宋_GB2312" panose="02010609030101010101" pitchFamily="49" charset="-122"/>
              </a:rPr>
              <a:t>用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直角坐标</a:t>
            </a:r>
            <a:r>
              <a:rPr kumimoji="1" lang="zh-CN" altLang="en-US" sz="2400" b="1">
                <a:solidFill>
                  <a:schemeClr val="bg1"/>
                </a:solidFill>
                <a:latin typeface="仿宋_GB2312" panose="02010609030101010101" pitchFamily="49" charset="-122"/>
              </a:rPr>
              <a:t>、位矢表示的质点运动学方程。</a:t>
            </a:r>
          </a:p>
        </p:txBody>
      </p:sp>
      <p:sp>
        <p:nvSpPr>
          <p:cNvPr id="9254" name="Arc 38">
            <a:extLst>
              <a:ext uri="{FF2B5EF4-FFF2-40B4-BE49-F238E27FC236}">
                <a16:creationId xmlns:a16="http://schemas.microsoft.com/office/drawing/2014/main" id="{D61650AC-F917-60DF-D7FD-391D8E060911}"/>
              </a:ext>
            </a:extLst>
          </p:cNvPr>
          <p:cNvSpPr>
            <a:spLocks/>
          </p:cNvSpPr>
          <p:nvPr/>
        </p:nvSpPr>
        <p:spPr bwMode="auto">
          <a:xfrm>
            <a:off x="6713538" y="3648075"/>
            <a:ext cx="71437" cy="203200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7C44FE9-AE53-E72E-433B-97401BAD3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5373688"/>
            <a:ext cx="4572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solidFill>
                  <a:schemeClr val="bg1"/>
                </a:solidFill>
              </a:rPr>
              <a:t>消去时间</a:t>
            </a:r>
            <a:r>
              <a:rPr lang="en-US" altLang="zh-CN" sz="2400" b="1">
                <a:solidFill>
                  <a:schemeClr val="bg1"/>
                </a:solidFill>
              </a:rPr>
              <a:t> </a:t>
            </a:r>
            <a:r>
              <a:rPr lang="en-US" altLang="zh-CN" sz="2400" b="1" i="1">
                <a:solidFill>
                  <a:schemeClr val="bg1"/>
                </a:solidFill>
              </a:rPr>
              <a:t>t </a:t>
            </a:r>
            <a:r>
              <a:rPr lang="zh-CN" altLang="zh-CN" sz="2400" b="1">
                <a:solidFill>
                  <a:schemeClr val="bg1"/>
                </a:solidFill>
              </a:rPr>
              <a:t>即得到轨迹方程：</a:t>
            </a:r>
          </a:p>
        </p:txBody>
      </p:sp>
      <p:graphicFrame>
        <p:nvGraphicFramePr>
          <p:cNvPr id="31780" name="对象 3">
            <a:extLst>
              <a:ext uri="{FF2B5EF4-FFF2-40B4-BE49-F238E27FC236}">
                <a16:creationId xmlns:a16="http://schemas.microsoft.com/office/drawing/2014/main" id="{EC877F62-19FA-ED16-19C1-C834B6E2B5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27600" y="2667000"/>
          <a:ext cx="914400" cy="179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428207" imgH="666100" progId="Equation.DSMT4">
                  <p:embed/>
                </p:oleObj>
              </mc:Choice>
              <mc:Fallback>
                <p:oleObj name="Equation" r:id="rId36" imgW="428207" imgH="6661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7600" y="2667000"/>
                        <a:ext cx="914400" cy="179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A4E6C0B1-CBF2-40ED-8328-1C65490966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5949950"/>
          <a:ext cx="1655763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749300" imgH="228600" progId="Equation.DSMT4">
                  <p:embed/>
                </p:oleObj>
              </mc:Choice>
              <mc:Fallback>
                <p:oleObj name="Equation" r:id="rId38" imgW="749300" imgH="2286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5949950"/>
                        <a:ext cx="1655763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2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9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9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9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9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9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1000"/>
                                        <p:tgtEl>
                                          <p:spTgt spid="9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9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9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9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9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9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1" grpId="0" build="p" autoUpdateAnimBg="0"/>
      <p:bldP spid="9224" grpId="0"/>
      <p:bldP spid="9226" grpId="0" animBg="1"/>
      <p:bldP spid="9243" grpId="0"/>
      <p:bldP spid="9252" grpId="0" build="p" autoUpdateAnimBg="0"/>
      <p:bldP spid="9253" grpId="0" build="p" autoUpdateAnimBg="0"/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矩形 1">
            <a:extLst>
              <a:ext uri="{FF2B5EF4-FFF2-40B4-BE49-F238E27FC236}">
                <a16:creationId xmlns:a16="http://schemas.microsoft.com/office/drawing/2014/main" id="{3ED583D8-5BC8-2AFE-C239-4A919E62A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563" y="9525"/>
            <a:ext cx="685800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zh-CN" sz="2400" b="1">
                <a:solidFill>
                  <a:schemeClr val="bg1"/>
                </a:solidFill>
              </a:rPr>
              <a:t>运动学方程对时间求导得速度：</a:t>
            </a:r>
          </a:p>
          <a:p>
            <a:pPr eaLnBrk="1" hangingPunct="1">
              <a:lnSpc>
                <a:spcPct val="150000"/>
              </a:lnSpc>
            </a:pPr>
            <a:endParaRPr lang="en-US" altLang="zh-CN" sz="2400" b="1">
              <a:solidFill>
                <a:schemeClr val="bg1"/>
              </a:solidFill>
            </a:endParaRPr>
          </a:p>
          <a:p>
            <a:pPr eaLnBrk="1" hangingPunct="1">
              <a:lnSpc>
                <a:spcPct val="150000"/>
              </a:lnSpc>
            </a:pPr>
            <a:endParaRPr lang="en-US" altLang="zh-CN" sz="2400" b="1">
              <a:solidFill>
                <a:schemeClr val="bg1"/>
              </a:solidFill>
            </a:endParaRPr>
          </a:p>
          <a:p>
            <a:pPr eaLnBrk="1" hangingPunct="1">
              <a:lnSpc>
                <a:spcPct val="150000"/>
              </a:lnSpc>
            </a:pPr>
            <a:endParaRPr lang="en-US" altLang="zh-CN" sz="2400" b="1">
              <a:solidFill>
                <a:schemeClr val="bg1"/>
              </a:solidFill>
            </a:endParaRPr>
          </a:p>
          <a:p>
            <a:pPr eaLnBrk="1" hangingPunct="1">
              <a:lnSpc>
                <a:spcPct val="150000"/>
              </a:lnSpc>
            </a:pPr>
            <a:endParaRPr lang="en-US" altLang="zh-CN" sz="2400" b="1">
              <a:solidFill>
                <a:schemeClr val="bg1"/>
              </a:solidFill>
            </a:endParaRPr>
          </a:p>
          <a:p>
            <a:pPr eaLnBrk="1" hangingPunct="1">
              <a:lnSpc>
                <a:spcPct val="150000"/>
              </a:lnSpc>
            </a:pPr>
            <a:endParaRPr lang="en-US" altLang="zh-CN" sz="2400" b="1">
              <a:solidFill>
                <a:schemeClr val="bg1"/>
              </a:solidFill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zh-CN" sz="2400" b="1">
                <a:solidFill>
                  <a:schemeClr val="bg1"/>
                </a:solidFill>
              </a:rPr>
              <a:t>速度对时间求导得加速度：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400" b="1">
                <a:solidFill>
                  <a:srgbClr val="FFC000"/>
                </a:solidFill>
              </a:rPr>
              <a:t>		</a:t>
            </a:r>
            <a:endParaRPr lang="zh-CN" altLang="zh-CN" sz="2400" b="1">
              <a:solidFill>
                <a:srgbClr val="FFC000"/>
              </a:solidFill>
            </a:endParaRPr>
          </a:p>
        </p:txBody>
      </p:sp>
      <p:sp>
        <p:nvSpPr>
          <p:cNvPr id="32771" name="Oval 10">
            <a:extLst>
              <a:ext uri="{FF2B5EF4-FFF2-40B4-BE49-F238E27FC236}">
                <a16:creationId xmlns:a16="http://schemas.microsoft.com/office/drawing/2014/main" id="{41839F01-6AA1-51C0-6848-33C42AAEFE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3438" y="1066800"/>
            <a:ext cx="2058987" cy="2058988"/>
          </a:xfrm>
          <a:prstGeom prst="ellips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772" name="Line 11">
            <a:extLst>
              <a:ext uri="{FF2B5EF4-FFF2-40B4-BE49-F238E27FC236}">
                <a16:creationId xmlns:a16="http://schemas.microsoft.com/office/drawing/2014/main" id="{C6366478-2D82-AC20-91AA-4FD8F921204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42138" y="190500"/>
            <a:ext cx="0" cy="190500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73" name="Line 12">
            <a:extLst>
              <a:ext uri="{FF2B5EF4-FFF2-40B4-BE49-F238E27FC236}">
                <a16:creationId xmlns:a16="http://schemas.microsoft.com/office/drawing/2014/main" id="{621EC087-2D34-FF30-DA21-A0A9F4FE088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42138" y="1409700"/>
            <a:ext cx="762000" cy="6858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2774" name="Object 13">
            <a:extLst>
              <a:ext uri="{FF2B5EF4-FFF2-40B4-BE49-F238E27FC236}">
                <a16:creationId xmlns:a16="http://schemas.microsoft.com/office/drawing/2014/main" id="{EDCFA6D7-6066-636C-851F-C97BB4891F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78850" y="1860550"/>
          <a:ext cx="176213" cy="185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90606" imgH="205848" progId="Equation.3">
                  <p:embed/>
                </p:oleObj>
              </mc:Choice>
              <mc:Fallback>
                <p:oleObj name="公式" r:id="rId2" imgW="190606" imgH="205848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8850" y="1860550"/>
                        <a:ext cx="176213" cy="185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5" name="Object 14">
            <a:extLst>
              <a:ext uri="{FF2B5EF4-FFF2-40B4-BE49-F238E27FC236}">
                <a16:creationId xmlns:a16="http://schemas.microsoft.com/office/drawing/2014/main" id="{E9B86C6A-4548-9A26-6258-94B8F7282A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65963" y="317500"/>
          <a:ext cx="190500" cy="24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13297" imgH="281880" progId="Equation.3">
                  <p:embed/>
                </p:oleObj>
              </mc:Choice>
              <mc:Fallback>
                <p:oleObj name="公式" r:id="rId4" imgW="213297" imgH="28188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5963" y="317500"/>
                        <a:ext cx="190500" cy="242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6" name="Line 15">
            <a:extLst>
              <a:ext uri="{FF2B5EF4-FFF2-40B4-BE49-F238E27FC236}">
                <a16:creationId xmlns:a16="http://schemas.microsoft.com/office/drawing/2014/main" id="{83BEAE9C-0458-59BA-5BFA-70246410EF29}"/>
              </a:ext>
            </a:extLst>
          </p:cNvPr>
          <p:cNvSpPr>
            <a:spLocks noChangeShapeType="1"/>
          </p:cNvSpPr>
          <p:nvPr/>
        </p:nvSpPr>
        <p:spPr bwMode="auto">
          <a:xfrm>
            <a:off x="7704138" y="1409700"/>
            <a:ext cx="0" cy="685800"/>
          </a:xfrm>
          <a:prstGeom prst="line">
            <a:avLst/>
          </a:prstGeom>
          <a:noFill/>
          <a:ln w="19050">
            <a:solidFill>
              <a:srgbClr val="FFFF6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77" name="Line 16">
            <a:extLst>
              <a:ext uri="{FF2B5EF4-FFF2-40B4-BE49-F238E27FC236}">
                <a16:creationId xmlns:a16="http://schemas.microsoft.com/office/drawing/2014/main" id="{476C6A20-DE49-4D04-3D6C-98DE381F95E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42138" y="1409700"/>
            <a:ext cx="762000" cy="0"/>
          </a:xfrm>
          <a:prstGeom prst="line">
            <a:avLst/>
          </a:prstGeom>
          <a:noFill/>
          <a:ln w="19050">
            <a:solidFill>
              <a:srgbClr val="FFFF6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2778" name="Object 17">
            <a:extLst>
              <a:ext uri="{FF2B5EF4-FFF2-40B4-BE49-F238E27FC236}">
                <a16:creationId xmlns:a16="http://schemas.microsoft.com/office/drawing/2014/main" id="{3C98BA23-1E9F-E9F1-5C63-0397EA6F0F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24788" y="1181100"/>
          <a:ext cx="223837" cy="23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1548" imgH="274320" progId="Equation.3">
                  <p:embed/>
                </p:oleObj>
              </mc:Choice>
              <mc:Fallback>
                <p:oleObj name="Equation" r:id="rId6" imgW="251548" imgH="27432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4788" y="1181100"/>
                        <a:ext cx="223837" cy="233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9" name="Object 18">
            <a:extLst>
              <a:ext uri="{FF2B5EF4-FFF2-40B4-BE49-F238E27FC236}">
                <a16:creationId xmlns:a16="http://schemas.microsoft.com/office/drawing/2014/main" id="{22C13A67-1FBE-5C07-6D52-FAB53372C1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97738" y="1825625"/>
          <a:ext cx="323850" cy="230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88559" imgH="274320" progId="Equation.3">
                  <p:embed/>
                </p:oleObj>
              </mc:Choice>
              <mc:Fallback>
                <p:oleObj name="公式" r:id="rId8" imgW="388559" imgH="27432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97738" y="1825625"/>
                        <a:ext cx="323850" cy="230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0" name="Object 19">
            <a:extLst>
              <a:ext uri="{FF2B5EF4-FFF2-40B4-BE49-F238E27FC236}">
                <a16:creationId xmlns:a16="http://schemas.microsoft.com/office/drawing/2014/main" id="{AC386946-4A54-756E-7750-45FD98949B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13650" y="2178050"/>
          <a:ext cx="173038" cy="182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90606" imgH="205848" progId="Equation.3">
                  <p:embed/>
                </p:oleObj>
              </mc:Choice>
              <mc:Fallback>
                <p:oleObj name="公式" r:id="rId10" imgW="190606" imgH="205848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13650" y="2178050"/>
                        <a:ext cx="173038" cy="182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1" name="Object 20">
            <a:extLst>
              <a:ext uri="{FF2B5EF4-FFF2-40B4-BE49-F238E27FC236}">
                <a16:creationId xmlns:a16="http://schemas.microsoft.com/office/drawing/2014/main" id="{8E16F0E8-6F2F-E623-A668-3360C40ECF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59563" y="1333500"/>
          <a:ext cx="1905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13297" imgH="281880" progId="Equation.3">
                  <p:embed/>
                </p:oleObj>
              </mc:Choice>
              <mc:Fallback>
                <p:oleObj name="Equation" r:id="rId12" imgW="213297" imgH="28188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1333500"/>
                        <a:ext cx="1905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2" name="Object 21">
            <a:extLst>
              <a:ext uri="{FF2B5EF4-FFF2-40B4-BE49-F238E27FC236}">
                <a16:creationId xmlns:a16="http://schemas.microsoft.com/office/drawing/2014/main" id="{39A6602D-628C-31E2-6D0B-C288434003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73863" y="2159000"/>
          <a:ext cx="233362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4239" imgH="289656" progId="Equation.3">
                  <p:embed/>
                </p:oleObj>
              </mc:Choice>
              <mc:Fallback>
                <p:oleObj name="Equation" r:id="rId14" imgW="274239" imgH="289656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3863" y="2159000"/>
                        <a:ext cx="233362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3" name="Object 22">
            <a:extLst>
              <a:ext uri="{FF2B5EF4-FFF2-40B4-BE49-F238E27FC236}">
                <a16:creationId xmlns:a16="http://schemas.microsoft.com/office/drawing/2014/main" id="{DEA61E9B-5091-54CD-B0EB-4B0A28CA44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45338" y="1509713"/>
          <a:ext cx="173037" cy="214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90606" imgH="243864" progId="Equation.3">
                  <p:embed/>
                </p:oleObj>
              </mc:Choice>
              <mc:Fallback>
                <p:oleObj name="公式" r:id="rId16" imgW="190606" imgH="243864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5338" y="1509713"/>
                        <a:ext cx="173037" cy="214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84" name="Arc 23">
            <a:extLst>
              <a:ext uri="{FF2B5EF4-FFF2-40B4-BE49-F238E27FC236}">
                <a16:creationId xmlns:a16="http://schemas.microsoft.com/office/drawing/2014/main" id="{78CF9CAD-EFC8-7056-B5C2-31EEE41ACAFB}"/>
              </a:ext>
            </a:extLst>
          </p:cNvPr>
          <p:cNvSpPr>
            <a:spLocks/>
          </p:cNvSpPr>
          <p:nvPr/>
        </p:nvSpPr>
        <p:spPr bwMode="auto">
          <a:xfrm rot="8896191" flipH="1">
            <a:off x="7697788" y="1673225"/>
            <a:ext cx="442912" cy="382588"/>
          </a:xfrm>
          <a:custGeom>
            <a:avLst/>
            <a:gdLst>
              <a:gd name="T0" fmla="*/ 2147483646 w 21600"/>
              <a:gd name="T1" fmla="*/ 0 h 13789"/>
              <a:gd name="T2" fmla="*/ 2147483646 w 21600"/>
              <a:gd name="T3" fmla="*/ 2147483646 h 13789"/>
              <a:gd name="T4" fmla="*/ 0 w 21600"/>
              <a:gd name="T5" fmla="*/ 2147483646 h 13789"/>
              <a:gd name="T6" fmla="*/ 0 60000 65536"/>
              <a:gd name="T7" fmla="*/ 0 60000 65536"/>
              <a:gd name="T8" fmla="*/ 0 60000 65536"/>
              <a:gd name="T9" fmla="*/ 0 w 21600"/>
              <a:gd name="T10" fmla="*/ 0 h 13789"/>
              <a:gd name="T11" fmla="*/ 21600 w 21600"/>
              <a:gd name="T12" fmla="*/ 13789 h 137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3789" fill="none" extrusionOk="0">
                <a:moveTo>
                  <a:pt x="16625" y="0"/>
                </a:moveTo>
                <a:cubicBezTo>
                  <a:pt x="19840" y="3876"/>
                  <a:pt x="21600" y="8753"/>
                  <a:pt x="21600" y="13789"/>
                </a:cubicBezTo>
              </a:path>
              <a:path w="21600" h="13789" stroke="0" extrusionOk="0">
                <a:moveTo>
                  <a:pt x="16625" y="0"/>
                </a:moveTo>
                <a:cubicBezTo>
                  <a:pt x="19840" y="3876"/>
                  <a:pt x="21600" y="8753"/>
                  <a:pt x="21600" y="13789"/>
                </a:cubicBezTo>
                <a:lnTo>
                  <a:pt x="0" y="13789"/>
                </a:lnTo>
                <a:lnTo>
                  <a:pt x="16625" y="0"/>
                </a:lnTo>
                <a:close/>
              </a:path>
            </a:pathLst>
          </a:custGeom>
          <a:noFill/>
          <a:ln w="28575">
            <a:solidFill>
              <a:srgbClr val="66FF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2785" name="Object 24">
            <a:extLst>
              <a:ext uri="{FF2B5EF4-FFF2-40B4-BE49-F238E27FC236}">
                <a16:creationId xmlns:a16="http://schemas.microsoft.com/office/drawing/2014/main" id="{D44171D0-8CEC-F9B5-ABF2-40F0D2AA1B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08963" y="1635125"/>
          <a:ext cx="153987" cy="18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67699" imgH="205848" progId="Equation.3">
                  <p:embed/>
                </p:oleObj>
              </mc:Choice>
              <mc:Fallback>
                <p:oleObj name="Equation" r:id="rId18" imgW="167699" imgH="205848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08963" y="1635125"/>
                        <a:ext cx="153987" cy="18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86" name="Line 25">
            <a:extLst>
              <a:ext uri="{FF2B5EF4-FFF2-40B4-BE49-F238E27FC236}">
                <a16:creationId xmlns:a16="http://schemas.microsoft.com/office/drawing/2014/main" id="{8BFCC79B-F322-A775-3FBA-5AD23EF080D2}"/>
              </a:ext>
            </a:extLst>
          </p:cNvPr>
          <p:cNvSpPr>
            <a:spLocks noChangeShapeType="1"/>
          </p:cNvSpPr>
          <p:nvPr/>
        </p:nvSpPr>
        <p:spPr bwMode="auto">
          <a:xfrm>
            <a:off x="6942138" y="2116138"/>
            <a:ext cx="1981200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2787" name="Object 28">
            <a:extLst>
              <a:ext uri="{FF2B5EF4-FFF2-40B4-BE49-F238E27FC236}">
                <a16:creationId xmlns:a16="http://schemas.microsoft.com/office/drawing/2014/main" id="{6577103E-C6DB-FF8A-3D92-B5A9650A6B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37400" y="749300"/>
          <a:ext cx="220663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251548" imgH="205848" progId="Equation.3">
                  <p:embed/>
                </p:oleObj>
              </mc:Choice>
              <mc:Fallback>
                <p:oleObj name="公式" r:id="rId20" imgW="251548" imgH="205848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7400" y="749300"/>
                        <a:ext cx="220663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8" name="Object 29">
            <a:extLst>
              <a:ext uri="{FF2B5EF4-FFF2-40B4-BE49-F238E27FC236}">
                <a16:creationId xmlns:a16="http://schemas.microsoft.com/office/drawing/2014/main" id="{881B1C05-26A0-84F4-FF1D-942C6B6FDA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7938" y="1319213"/>
          <a:ext cx="150812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67699" imgH="167616" progId="Equation.3">
                  <p:embed/>
                </p:oleObj>
              </mc:Choice>
              <mc:Fallback>
                <p:oleObj name="公式" r:id="rId22" imgW="167699" imgH="167616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7938" y="1319213"/>
                        <a:ext cx="150812" cy="15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9" name="Object 30">
            <a:extLst>
              <a:ext uri="{FF2B5EF4-FFF2-40B4-BE49-F238E27FC236}">
                <a16:creationId xmlns:a16="http://schemas.microsoft.com/office/drawing/2014/main" id="{8EB764F5-87B4-CA7D-2E32-021A48CA40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97838" y="1169988"/>
          <a:ext cx="630237" cy="31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761991" imgH="365688" progId="Equation.3">
                  <p:embed/>
                </p:oleObj>
              </mc:Choice>
              <mc:Fallback>
                <p:oleObj name="Equation" r:id="rId24" imgW="761991" imgH="365688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7838" y="1169988"/>
                        <a:ext cx="630237" cy="312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90" name="Arc 31">
            <a:extLst>
              <a:ext uri="{FF2B5EF4-FFF2-40B4-BE49-F238E27FC236}">
                <a16:creationId xmlns:a16="http://schemas.microsoft.com/office/drawing/2014/main" id="{006C7CF0-BAA5-D42E-DCC1-455A1D051541}"/>
              </a:ext>
            </a:extLst>
          </p:cNvPr>
          <p:cNvSpPr>
            <a:spLocks/>
          </p:cNvSpPr>
          <p:nvPr/>
        </p:nvSpPr>
        <p:spPr bwMode="auto">
          <a:xfrm rot="5102552" flipH="1">
            <a:off x="7130256" y="1034257"/>
            <a:ext cx="504825" cy="398462"/>
          </a:xfrm>
          <a:custGeom>
            <a:avLst/>
            <a:gdLst>
              <a:gd name="T0" fmla="*/ 2147483646 w 21600"/>
              <a:gd name="T1" fmla="*/ 0 h 16703"/>
              <a:gd name="T2" fmla="*/ 2147483646 w 21600"/>
              <a:gd name="T3" fmla="*/ 2147483646 h 16703"/>
              <a:gd name="T4" fmla="*/ 0 w 21600"/>
              <a:gd name="T5" fmla="*/ 2147483646 h 16703"/>
              <a:gd name="T6" fmla="*/ 0 60000 65536"/>
              <a:gd name="T7" fmla="*/ 0 60000 65536"/>
              <a:gd name="T8" fmla="*/ 0 60000 65536"/>
              <a:gd name="T9" fmla="*/ 0 w 21600"/>
              <a:gd name="T10" fmla="*/ 0 h 16703"/>
              <a:gd name="T11" fmla="*/ 21600 w 21600"/>
              <a:gd name="T12" fmla="*/ 16703 h 1670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6703" fill="none" extrusionOk="0">
                <a:moveTo>
                  <a:pt x="13695" y="0"/>
                </a:moveTo>
                <a:cubicBezTo>
                  <a:pt x="18699" y="4102"/>
                  <a:pt x="21600" y="10232"/>
                  <a:pt x="21600" y="16703"/>
                </a:cubicBezTo>
              </a:path>
              <a:path w="21600" h="16703" stroke="0" extrusionOk="0">
                <a:moveTo>
                  <a:pt x="13695" y="0"/>
                </a:moveTo>
                <a:cubicBezTo>
                  <a:pt x="18699" y="4102"/>
                  <a:pt x="21600" y="10232"/>
                  <a:pt x="21600" y="16703"/>
                </a:cubicBezTo>
                <a:lnTo>
                  <a:pt x="0" y="16703"/>
                </a:lnTo>
                <a:lnTo>
                  <a:pt x="13695" y="0"/>
                </a:lnTo>
                <a:close/>
              </a:path>
            </a:pathLst>
          </a:custGeom>
          <a:noFill/>
          <a:ln w="28575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2791" name="Object 32">
            <a:extLst>
              <a:ext uri="{FF2B5EF4-FFF2-40B4-BE49-F238E27FC236}">
                <a16:creationId xmlns:a16="http://schemas.microsoft.com/office/drawing/2014/main" id="{364A4C24-003C-E4D5-7773-1D6CC18053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10525" y="2160588"/>
          <a:ext cx="273050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320054" imgH="289656" progId="Equation.3">
                  <p:embed/>
                </p:oleObj>
              </mc:Choice>
              <mc:Fallback>
                <p:oleObj name="Equation" r:id="rId26" imgW="320054" imgH="289656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10525" y="2160588"/>
                        <a:ext cx="273050" cy="252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92" name="Object 33">
            <a:extLst>
              <a:ext uri="{FF2B5EF4-FFF2-40B4-BE49-F238E27FC236}">
                <a16:creationId xmlns:a16="http://schemas.microsoft.com/office/drawing/2014/main" id="{7A5D3606-419A-D210-05F3-898D4CD98A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70700" y="2024063"/>
          <a:ext cx="150813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167699" imgH="167616" progId="Equation.3">
                  <p:embed/>
                </p:oleObj>
              </mc:Choice>
              <mc:Fallback>
                <p:oleObj name="公式" r:id="rId28" imgW="167699" imgH="167616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0700" y="2024063"/>
                        <a:ext cx="150813" cy="15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93" name="Object 34">
            <a:extLst>
              <a:ext uri="{FF2B5EF4-FFF2-40B4-BE49-F238E27FC236}">
                <a16:creationId xmlns:a16="http://schemas.microsoft.com/office/drawing/2014/main" id="{26149E1E-6F44-06F9-95DA-425A582941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89875" y="2019300"/>
          <a:ext cx="173038" cy="192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91413" imgH="99144" progId="Equation.3">
                  <p:embed/>
                </p:oleObj>
              </mc:Choice>
              <mc:Fallback>
                <p:oleObj name="Equation" r:id="rId30" imgW="91413" imgH="99144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9875" y="2019300"/>
                        <a:ext cx="173038" cy="192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94" name="Arc 38">
            <a:extLst>
              <a:ext uri="{FF2B5EF4-FFF2-40B4-BE49-F238E27FC236}">
                <a16:creationId xmlns:a16="http://schemas.microsoft.com/office/drawing/2014/main" id="{E778F964-CC71-D21E-F321-4BBCF5817B93}"/>
              </a:ext>
            </a:extLst>
          </p:cNvPr>
          <p:cNvSpPr>
            <a:spLocks/>
          </p:cNvSpPr>
          <p:nvPr/>
        </p:nvSpPr>
        <p:spPr bwMode="auto">
          <a:xfrm>
            <a:off x="7191375" y="1905000"/>
            <a:ext cx="71438" cy="203200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B55EF32B-2DB2-59B9-6798-22529AC9EE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3913" y="787400"/>
          <a:ext cx="4110037" cy="232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905000" imgH="1079500" progId="Equation.DSMT4">
                  <p:embed/>
                </p:oleObj>
              </mc:Choice>
              <mc:Fallback>
                <p:oleObj name="Equation" r:id="rId32" imgW="1905000" imgH="10795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3913" y="787400"/>
                        <a:ext cx="4110037" cy="2328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5FAB2A4A-BAEE-06E2-B767-47DC9EEDFF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0275" y="3951288"/>
          <a:ext cx="3587750" cy="2630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663700" imgH="1219200" progId="Equation.DSMT4">
                  <p:embed/>
                </p:oleObj>
              </mc:Choice>
              <mc:Fallback>
                <p:oleObj name="Equation" r:id="rId34" imgW="1663700" imgH="12192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0275" y="3951288"/>
                        <a:ext cx="3587750" cy="2630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>
            <a:extLst>
              <a:ext uri="{FF2B5EF4-FFF2-40B4-BE49-F238E27FC236}">
                <a16:creationId xmlns:a16="http://schemas.microsoft.com/office/drawing/2014/main" id="{3519979C-E954-CDA4-0E4F-A811E498E5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115888"/>
            <a:ext cx="3090863" cy="2265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5" name="矩形 1">
            <a:extLst>
              <a:ext uri="{FF2B5EF4-FFF2-40B4-BE49-F238E27FC236}">
                <a16:creationId xmlns:a16="http://schemas.microsoft.com/office/drawing/2014/main" id="{37EA52F1-058C-6C86-C3A8-56A2B1CE0D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3513"/>
            <a:ext cx="615632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solidFill>
                  <a:srgbClr val="FFC000"/>
                </a:solidFill>
              </a:rPr>
              <a:t>书中例题：</a:t>
            </a:r>
            <a:r>
              <a:rPr lang="en-US" altLang="zh-CN" sz="2400" b="1">
                <a:solidFill>
                  <a:srgbClr val="FFC000"/>
                </a:solidFill>
              </a:rPr>
              <a:t>1.2, 1.6</a:t>
            </a:r>
            <a:r>
              <a:rPr lang="zh-CN" altLang="zh-CN" sz="2400" b="1">
                <a:solidFill>
                  <a:srgbClr val="FFC000"/>
                </a:solidFill>
              </a:rPr>
              <a:t>（</a:t>
            </a:r>
            <a:r>
              <a:rPr lang="en-US" altLang="zh-CN" sz="2400" b="1">
                <a:solidFill>
                  <a:srgbClr val="FFC000"/>
                </a:solidFill>
              </a:rPr>
              <a:t>p.7;p.17</a:t>
            </a:r>
            <a:r>
              <a:rPr lang="zh-CN" altLang="zh-CN" sz="2400" b="1">
                <a:solidFill>
                  <a:srgbClr val="FFC000"/>
                </a:solidFill>
              </a:rPr>
              <a:t>）（重点）</a:t>
            </a:r>
          </a:p>
          <a:p>
            <a:pPr eaLnBrk="1" hangingPunct="1"/>
            <a:r>
              <a:rPr lang="zh-CN" altLang="zh-CN" sz="2400" b="1">
                <a:solidFill>
                  <a:schemeClr val="bg1"/>
                </a:solidFill>
              </a:rPr>
              <a:t>直杆</a:t>
            </a:r>
            <a:r>
              <a:rPr lang="en-US" altLang="zh-CN" sz="2400" b="1">
                <a:solidFill>
                  <a:schemeClr val="bg1"/>
                </a:solidFill>
              </a:rPr>
              <a:t>AB</a:t>
            </a:r>
            <a:r>
              <a:rPr lang="zh-CN" altLang="zh-CN" sz="2400" b="1">
                <a:solidFill>
                  <a:schemeClr val="bg1"/>
                </a:solidFill>
              </a:rPr>
              <a:t>两端可以分别在两固定且相互垂直的直导线槽上滑动，已知杆的倾角</a:t>
            </a:r>
            <a:r>
              <a:rPr lang="en-US" altLang="zh-CN" sz="2400" b="1" i="1">
                <a:solidFill>
                  <a:schemeClr val="bg1"/>
                </a:solidFill>
              </a:rPr>
              <a:t>φ</a:t>
            </a:r>
            <a:r>
              <a:rPr lang="zh-CN" altLang="zh-CN" sz="2400" b="1">
                <a:solidFill>
                  <a:schemeClr val="bg1"/>
                </a:solidFill>
              </a:rPr>
              <a:t>＝</a:t>
            </a:r>
            <a:r>
              <a:rPr lang="zh-CN" altLang="zh-CN" sz="2400" b="1" i="1">
                <a:solidFill>
                  <a:schemeClr val="bg1"/>
                </a:solidFill>
              </a:rPr>
              <a:t>ω</a:t>
            </a:r>
            <a:r>
              <a:rPr lang="en-US" altLang="zh-CN" sz="2400" b="1" i="1">
                <a:solidFill>
                  <a:schemeClr val="bg1"/>
                </a:solidFill>
              </a:rPr>
              <a:t>t</a:t>
            </a:r>
            <a:r>
              <a:rPr lang="zh-CN" altLang="zh-CN" sz="2400" b="1">
                <a:solidFill>
                  <a:schemeClr val="bg1"/>
                </a:solidFill>
              </a:rPr>
              <a:t>随时间变化，其中</a:t>
            </a:r>
            <a:r>
              <a:rPr lang="zh-CN" altLang="zh-CN" sz="2400" b="1" i="1">
                <a:solidFill>
                  <a:schemeClr val="bg1"/>
                </a:solidFill>
              </a:rPr>
              <a:t>ω</a:t>
            </a:r>
            <a:r>
              <a:rPr lang="zh-CN" altLang="zh-CN" sz="2400" b="1">
                <a:solidFill>
                  <a:schemeClr val="bg1"/>
                </a:solidFill>
              </a:rPr>
              <a:t>为常量。</a:t>
            </a:r>
            <a:endParaRPr lang="en-US" altLang="zh-CN" sz="2400" b="1">
              <a:solidFill>
                <a:schemeClr val="bg1"/>
              </a:solidFill>
            </a:endParaRPr>
          </a:p>
          <a:p>
            <a:pPr eaLnBrk="1" hangingPunct="1"/>
            <a:r>
              <a:rPr lang="zh-CN" altLang="zh-CN" sz="2400" b="1">
                <a:solidFill>
                  <a:schemeClr val="bg1"/>
                </a:solidFill>
              </a:rPr>
              <a:t>求：杆中</a:t>
            </a:r>
            <a:r>
              <a:rPr lang="en-US" altLang="zh-CN" sz="2400" b="1">
                <a:solidFill>
                  <a:schemeClr val="bg1"/>
                </a:solidFill>
              </a:rPr>
              <a:t>M</a:t>
            </a:r>
            <a:r>
              <a:rPr lang="zh-CN" altLang="zh-CN" sz="2400" b="1">
                <a:solidFill>
                  <a:schemeClr val="bg1"/>
                </a:solidFill>
              </a:rPr>
              <a:t>点的运动</a:t>
            </a:r>
            <a:r>
              <a:rPr lang="zh-CN" altLang="en-US" sz="2400" b="1">
                <a:solidFill>
                  <a:schemeClr val="bg1"/>
                </a:solidFill>
              </a:rPr>
              <a:t>轨迹方程和加速度</a:t>
            </a:r>
            <a:r>
              <a:rPr lang="zh-CN" altLang="zh-CN" sz="2400" b="1">
                <a:solidFill>
                  <a:schemeClr val="bg1"/>
                </a:solidFill>
              </a:rPr>
              <a:t>。</a:t>
            </a:r>
          </a:p>
          <a:p>
            <a:pPr eaLnBrk="1" hangingPunct="1"/>
            <a:endParaRPr lang="zh-CN" altLang="zh-CN" sz="2400" b="1">
              <a:solidFill>
                <a:schemeClr val="bg1"/>
              </a:solidFill>
            </a:endParaRPr>
          </a:p>
        </p:txBody>
      </p:sp>
      <p:sp>
        <p:nvSpPr>
          <p:cNvPr id="32772" name="矩形 2">
            <a:extLst>
              <a:ext uri="{FF2B5EF4-FFF2-40B4-BE49-F238E27FC236}">
                <a16:creationId xmlns:a16="http://schemas.microsoft.com/office/drawing/2014/main" id="{668A9015-AA00-BB52-715F-1DA2F33873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381250"/>
            <a:ext cx="8280400" cy="415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="1">
                <a:solidFill>
                  <a:schemeClr val="bg1"/>
                </a:solidFill>
              </a:rPr>
              <a:t>解：运动学方程为：</a:t>
            </a:r>
            <a:r>
              <a:rPr lang="en-US" altLang="zh-CN" sz="2400" b="1">
                <a:solidFill>
                  <a:schemeClr val="bg1"/>
                </a:solidFill>
              </a:rPr>
              <a:t>	</a:t>
            </a:r>
          </a:p>
          <a:p>
            <a:pPr eaLnBrk="1" hangingPunct="1"/>
            <a:endParaRPr lang="en-US" altLang="zh-CN" sz="2400" b="1">
              <a:solidFill>
                <a:schemeClr val="bg1"/>
              </a:solidFill>
            </a:endParaRPr>
          </a:p>
          <a:p>
            <a:pPr eaLnBrk="1" hangingPunct="1"/>
            <a:r>
              <a:rPr lang="zh-CN" altLang="zh-CN" sz="2400" b="1">
                <a:solidFill>
                  <a:schemeClr val="bg1"/>
                </a:solidFill>
              </a:rPr>
              <a:t>消去时间</a:t>
            </a:r>
            <a:r>
              <a:rPr lang="en-US" altLang="zh-CN" sz="2400" b="1">
                <a:solidFill>
                  <a:schemeClr val="bg1"/>
                </a:solidFill>
              </a:rPr>
              <a:t>t</a:t>
            </a:r>
            <a:r>
              <a:rPr lang="zh-CN" altLang="zh-CN" sz="2400" b="1">
                <a:solidFill>
                  <a:schemeClr val="bg1"/>
                </a:solidFill>
              </a:rPr>
              <a:t>得到轨迹方程：</a:t>
            </a:r>
          </a:p>
          <a:p>
            <a:pPr eaLnBrk="1" hangingPunct="1"/>
            <a:endParaRPr lang="en-US" altLang="zh-CN" sz="2400" b="1">
              <a:solidFill>
                <a:srgbClr val="FFC000"/>
              </a:solidFill>
            </a:endParaRPr>
          </a:p>
          <a:p>
            <a:pPr eaLnBrk="1" hangingPunct="1"/>
            <a:r>
              <a:rPr lang="en-US" altLang="zh-CN" sz="2400" b="1">
                <a:solidFill>
                  <a:srgbClr val="FFC000"/>
                </a:solidFill>
              </a:rPr>
              <a:t>	</a:t>
            </a:r>
            <a:r>
              <a:rPr lang="en-US" altLang="zh-CN" sz="2400" b="1">
                <a:solidFill>
                  <a:schemeClr val="bg1"/>
                </a:solidFill>
              </a:rPr>
              <a:t>		</a:t>
            </a:r>
          </a:p>
          <a:p>
            <a:pPr eaLnBrk="1" hangingPunct="1"/>
            <a:r>
              <a:rPr lang="zh-CN" altLang="zh-CN" sz="2400" b="1">
                <a:solidFill>
                  <a:schemeClr val="bg1"/>
                </a:solidFill>
              </a:rPr>
              <a:t>椭圆运动学方程对时间</a:t>
            </a:r>
            <a:r>
              <a:rPr lang="en-US" altLang="zh-CN" sz="2400" b="1">
                <a:solidFill>
                  <a:schemeClr val="bg1"/>
                </a:solidFill>
              </a:rPr>
              <a:t>t</a:t>
            </a:r>
            <a:r>
              <a:rPr lang="zh-CN" altLang="zh-CN" sz="2400" b="1">
                <a:solidFill>
                  <a:schemeClr val="bg1"/>
                </a:solidFill>
              </a:rPr>
              <a:t>求导数得速度：</a:t>
            </a:r>
          </a:p>
          <a:p>
            <a:pPr eaLnBrk="1" hangingPunct="1"/>
            <a:endParaRPr lang="en-US" altLang="zh-CN" sz="2400" b="1">
              <a:solidFill>
                <a:schemeClr val="bg1"/>
              </a:solidFill>
            </a:endParaRPr>
          </a:p>
          <a:p>
            <a:pPr eaLnBrk="1" hangingPunct="1"/>
            <a:r>
              <a:rPr lang="zh-CN" altLang="zh-CN" sz="2400" b="1">
                <a:solidFill>
                  <a:schemeClr val="bg1"/>
                </a:solidFill>
              </a:rPr>
              <a:t>速度对时间</a:t>
            </a:r>
            <a:r>
              <a:rPr lang="en-US" altLang="zh-CN" sz="2400" b="1">
                <a:solidFill>
                  <a:schemeClr val="bg1"/>
                </a:solidFill>
              </a:rPr>
              <a:t>t</a:t>
            </a:r>
            <a:r>
              <a:rPr lang="zh-CN" altLang="zh-CN" sz="2400" b="1">
                <a:solidFill>
                  <a:schemeClr val="bg1"/>
                </a:solidFill>
              </a:rPr>
              <a:t>求导数得加速度：</a:t>
            </a:r>
          </a:p>
          <a:p>
            <a:pPr eaLnBrk="1" hangingPunct="1"/>
            <a:r>
              <a:rPr lang="en-US" altLang="zh-CN" sz="2400" b="1">
                <a:solidFill>
                  <a:schemeClr val="bg1"/>
                </a:solidFill>
              </a:rPr>
              <a:t>			</a:t>
            </a:r>
          </a:p>
          <a:p>
            <a:pPr eaLnBrk="1" hangingPunct="1"/>
            <a:endParaRPr lang="en-US" altLang="zh-CN" sz="2400" b="1">
              <a:solidFill>
                <a:schemeClr val="bg1"/>
              </a:solidFill>
            </a:endParaRPr>
          </a:p>
          <a:p>
            <a:pPr eaLnBrk="1" hangingPunct="1"/>
            <a:r>
              <a:rPr lang="zh-CN" altLang="zh-CN" sz="2400" b="1">
                <a:solidFill>
                  <a:schemeClr val="bg1"/>
                </a:solidFill>
              </a:rPr>
              <a:t>加速度的大小</a:t>
            </a:r>
            <a:r>
              <a:rPr lang="zh-CN" altLang="en-US" sz="2400" b="1">
                <a:solidFill>
                  <a:schemeClr val="bg1"/>
                </a:solidFill>
              </a:rPr>
              <a:t>和方向</a:t>
            </a:r>
            <a:r>
              <a:rPr lang="zh-CN" altLang="zh-CN" sz="2400" b="1">
                <a:solidFill>
                  <a:schemeClr val="bg1"/>
                </a:solidFill>
              </a:rPr>
              <a:t>：</a:t>
            </a:r>
            <a:r>
              <a:rPr lang="en-US" altLang="zh-CN" sz="2400" b="1">
                <a:solidFill>
                  <a:schemeClr val="bg1"/>
                </a:solidFill>
              </a:rPr>
              <a:t>	</a:t>
            </a:r>
            <a:endParaRPr lang="zh-CN" altLang="zh-CN" sz="2400" b="1">
              <a:solidFill>
                <a:srgbClr val="FFC000"/>
              </a:solidFill>
            </a:endParaRPr>
          </a:p>
        </p:txBody>
      </p:sp>
      <p:graphicFrame>
        <p:nvGraphicFramePr>
          <p:cNvPr id="32773" name="对象 3">
            <a:extLst>
              <a:ext uri="{FF2B5EF4-FFF2-40B4-BE49-F238E27FC236}">
                <a16:creationId xmlns:a16="http://schemas.microsoft.com/office/drawing/2014/main" id="{00952A18-67E9-D457-F0F7-836A6D5BA4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06838" y="6067425"/>
          <a:ext cx="140335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09336" imgH="203112" progId="Equation.DSMT4">
                  <p:embed/>
                </p:oleObj>
              </mc:Choice>
              <mc:Fallback>
                <p:oleObj name="Equation" r:id="rId3" imgW="609336" imgH="203112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6838" y="6067425"/>
                        <a:ext cx="1403350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4" name="对象 1">
            <a:extLst>
              <a:ext uri="{FF2B5EF4-FFF2-40B4-BE49-F238E27FC236}">
                <a16:creationId xmlns:a16="http://schemas.microsoft.com/office/drawing/2014/main" id="{51B8985F-2EA0-A687-ADF8-E2132DB4CA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2500" y="2381250"/>
          <a:ext cx="200025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37836" imgH="203112" progId="Equation.DSMT4">
                  <p:embed/>
                </p:oleObj>
              </mc:Choice>
              <mc:Fallback>
                <p:oleObj name="Equation" r:id="rId5" imgW="837836" imgH="203112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2381250"/>
                        <a:ext cx="2000250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5" name="对象 2">
            <a:extLst>
              <a:ext uri="{FF2B5EF4-FFF2-40B4-BE49-F238E27FC236}">
                <a16:creationId xmlns:a16="http://schemas.microsoft.com/office/drawing/2014/main" id="{87817975-A1AF-696B-D62E-B9A170BD98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67400" y="2381250"/>
          <a:ext cx="1941513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12447" imgH="203112" progId="Equation.DSMT4">
                  <p:embed/>
                </p:oleObj>
              </mc:Choice>
              <mc:Fallback>
                <p:oleObj name="Equation" r:id="rId7" imgW="812447" imgH="203112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2381250"/>
                        <a:ext cx="1941513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6" name="对象 3">
            <a:extLst>
              <a:ext uri="{FF2B5EF4-FFF2-40B4-BE49-F238E27FC236}">
                <a16:creationId xmlns:a16="http://schemas.microsoft.com/office/drawing/2014/main" id="{23B1A00C-0E85-802B-1D7D-98723B1A03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10050" y="2997200"/>
          <a:ext cx="1727200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23586" imgH="418918" progId="Equation.DSMT4">
                  <p:embed/>
                </p:oleObj>
              </mc:Choice>
              <mc:Fallback>
                <p:oleObj name="Equation" r:id="rId9" imgW="723586" imgH="418918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0050" y="2997200"/>
                        <a:ext cx="1727200" cy="1001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7" name="对象 4">
            <a:extLst>
              <a:ext uri="{FF2B5EF4-FFF2-40B4-BE49-F238E27FC236}">
                <a16:creationId xmlns:a16="http://schemas.microsoft.com/office/drawing/2014/main" id="{9CC388B6-8E4F-6CB8-5CDD-66725085A1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26150" y="4076700"/>
          <a:ext cx="2486025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040948" imgH="228501" progId="Equation.DSMT4">
                  <p:embed/>
                </p:oleObj>
              </mc:Choice>
              <mc:Fallback>
                <p:oleObj name="Equation" r:id="rId11" imgW="1040948" imgH="228501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6150" y="4076700"/>
                        <a:ext cx="2486025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8" name="对象 5">
            <a:extLst>
              <a:ext uri="{FF2B5EF4-FFF2-40B4-BE49-F238E27FC236}">
                <a16:creationId xmlns:a16="http://schemas.microsoft.com/office/drawing/2014/main" id="{F601354C-0CC6-10D4-E806-62EFC5197F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1238" y="4581525"/>
          <a:ext cx="2281237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977900" imgH="241300" progId="Equation.DSMT4">
                  <p:embed/>
                </p:oleObj>
              </mc:Choice>
              <mc:Fallback>
                <p:oleObj name="Equation" r:id="rId13" imgW="977900" imgH="24130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1238" y="4581525"/>
                        <a:ext cx="2281237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9" name="对象 6">
            <a:extLst>
              <a:ext uri="{FF2B5EF4-FFF2-40B4-BE49-F238E27FC236}">
                <a16:creationId xmlns:a16="http://schemas.microsoft.com/office/drawing/2014/main" id="{44BA44AB-9D72-4816-4CE0-8BA7B44D7A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00563" y="5445125"/>
          <a:ext cx="2608262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117115" imgH="253890" progId="Equation.DSMT4">
                  <p:embed/>
                </p:oleObj>
              </mc:Choice>
              <mc:Fallback>
                <p:oleObj name="Equation" r:id="rId15" imgW="1117115" imgH="25389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5445125"/>
                        <a:ext cx="2608262" cy="5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0" name="对象 7">
            <a:extLst>
              <a:ext uri="{FF2B5EF4-FFF2-40B4-BE49-F238E27FC236}">
                <a16:creationId xmlns:a16="http://schemas.microsoft.com/office/drawing/2014/main" id="{184610AB-75F6-9F8A-6262-57F1D2D400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8750" y="5445125"/>
          <a:ext cx="2759075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155700" imgH="241300" progId="Equation.DSMT4">
                  <p:embed/>
                </p:oleObj>
              </mc:Choice>
              <mc:Fallback>
                <p:oleObj name="Equation" r:id="rId17" imgW="1155700" imgH="2413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0" y="5445125"/>
                        <a:ext cx="2759075" cy="57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3">
            <a:extLst>
              <a:ext uri="{FF2B5EF4-FFF2-40B4-BE49-F238E27FC236}">
                <a16:creationId xmlns:a16="http://schemas.microsoft.com/office/drawing/2014/main" id="{F66DC242-155B-D23C-560E-940BDFB02C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3175"/>
            <a:ext cx="3770313" cy="76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课后习题</a:t>
            </a:r>
            <a:r>
              <a:rPr lang="en-US" altLang="zh-CN" sz="2400" b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P48   1.4</a:t>
            </a:r>
            <a:r>
              <a:rPr lang="zh-CN" altLang="en-US" sz="2400" b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（重点）</a:t>
            </a:r>
            <a:endParaRPr lang="zh-CN" altLang="en-US" sz="700" b="1">
              <a:solidFill>
                <a:srgbClr val="FFC000"/>
              </a:solidFill>
            </a:endParaRPr>
          </a:p>
          <a:p>
            <a:endParaRPr lang="zh-CN" altLang="en-US" sz="2000" b="1"/>
          </a:p>
        </p:txBody>
      </p:sp>
      <p:sp>
        <p:nvSpPr>
          <p:cNvPr id="34819" name="Rectangle 26">
            <a:extLst>
              <a:ext uri="{FF2B5EF4-FFF2-40B4-BE49-F238E27FC236}">
                <a16:creationId xmlns:a16="http://schemas.microsoft.com/office/drawing/2014/main" id="{9B2E72B0-356A-833F-ED95-2A8B04C7E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3813" y="515938"/>
            <a:ext cx="9167813" cy="196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在湖中有一小船，岸边有人用绳子跨过一高处的滑轮拉船靠岸，当绳子以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通过滑轮时，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(1)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求船速，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船速比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大还是比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小？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不变，船是否作匀速运动？如果不是匀速运动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其加速度是多少？</a:t>
            </a:r>
          </a:p>
          <a:p>
            <a:endParaRPr lang="zh-CN" altLang="en-US" sz="1000" b="1" dirty="0">
              <a:solidFill>
                <a:schemeClr val="bg1"/>
              </a:solidFill>
            </a:endParaRPr>
          </a:p>
          <a:p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34820" name="Rectangle 6">
            <a:extLst>
              <a:ext uri="{FF2B5EF4-FFF2-40B4-BE49-F238E27FC236}">
                <a16:creationId xmlns:a16="http://schemas.microsoft.com/office/drawing/2014/main" id="{801E292C-64B8-8DC6-D29B-C3DCBFB182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7158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26632" name="Picture 8">
            <a:extLst>
              <a:ext uri="{FF2B5EF4-FFF2-40B4-BE49-F238E27FC236}">
                <a16:creationId xmlns:a16="http://schemas.microsoft.com/office/drawing/2014/main" id="{076E4E94-7AD8-0B9C-EA21-45BF036E4E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0338" y="3860800"/>
            <a:ext cx="5375275" cy="2663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822" name="Picture 30">
            <a:extLst>
              <a:ext uri="{FF2B5EF4-FFF2-40B4-BE49-F238E27FC236}">
                <a16:creationId xmlns:a16="http://schemas.microsoft.com/office/drawing/2014/main" id="{A8C13EC5-78EF-D406-1D7C-83BC1278D8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0" y="2100263"/>
            <a:ext cx="4314825" cy="171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3">
            <a:extLst>
              <a:ext uri="{FF2B5EF4-FFF2-40B4-BE49-F238E27FC236}">
                <a16:creationId xmlns:a16="http://schemas.microsoft.com/office/drawing/2014/main" id="{22120895-D436-1D85-71C8-15E324BDB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1425" y="374650"/>
            <a:ext cx="6178550" cy="2751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652" name="Picture 4">
            <a:extLst>
              <a:ext uri="{FF2B5EF4-FFF2-40B4-BE49-F238E27FC236}">
                <a16:creationId xmlns:a16="http://schemas.microsoft.com/office/drawing/2014/main" id="{D8D39537-EAA8-497A-6AA5-D3148FB2D4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3213100"/>
            <a:ext cx="8016875" cy="3097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16">
            <a:extLst>
              <a:ext uri="{FF2B5EF4-FFF2-40B4-BE49-F238E27FC236}">
                <a16:creationId xmlns:a16="http://schemas.microsoft.com/office/drawing/2014/main" id="{C1BB3FAE-9A24-8E2C-4F60-A86CA21BEA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77838"/>
            <a:ext cx="2514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</a:rPr>
              <a:t>2. </a:t>
            </a:r>
            <a:r>
              <a:rPr kumimoji="1" lang="zh-CN" altLang="en-US" sz="2400" b="1">
                <a:solidFill>
                  <a:srgbClr val="66FFFF"/>
                </a:solidFill>
                <a:latin typeface="宋体" panose="02010600030101010101" pitchFamily="2" charset="-122"/>
              </a:rPr>
              <a:t>第二类问题</a:t>
            </a:r>
            <a:endParaRPr kumimoji="1" lang="zh-CN" altLang="en-US" sz="2400">
              <a:solidFill>
                <a:srgbClr val="66FFFF"/>
              </a:solidFill>
              <a:latin typeface="宋体" panose="02010600030101010101" pitchFamily="2" charset="-122"/>
            </a:endParaRPr>
          </a:p>
        </p:txBody>
      </p:sp>
      <p:sp>
        <p:nvSpPr>
          <p:cNvPr id="36867" name="Rectangle 21">
            <a:extLst>
              <a:ext uri="{FF2B5EF4-FFF2-40B4-BE49-F238E27FC236}">
                <a16:creationId xmlns:a16="http://schemas.microsoft.com/office/drawing/2014/main" id="{A0835DE7-7C0D-9E16-7A8F-1B36559F43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9700" y="477838"/>
            <a:ext cx="3873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已知加速度和初始条件，求</a:t>
            </a:r>
          </a:p>
        </p:txBody>
      </p:sp>
      <p:graphicFrame>
        <p:nvGraphicFramePr>
          <p:cNvPr id="36868" name="Object 22">
            <a:extLst>
              <a:ext uri="{FF2B5EF4-FFF2-40B4-BE49-F238E27FC236}">
                <a16:creationId xmlns:a16="http://schemas.microsoft.com/office/drawing/2014/main" id="{B39D079B-1BB8-877F-3536-1C813A131A0F}"/>
              </a:ext>
            </a:extLst>
          </p:cNvPr>
          <p:cNvGraphicFramePr>
            <a:graphicFrameLocks/>
          </p:cNvGraphicFramePr>
          <p:nvPr/>
        </p:nvGraphicFramePr>
        <p:xfrm>
          <a:off x="6516688" y="566738"/>
          <a:ext cx="801687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77335" imgH="312336" progId="Equation.3">
                  <p:embed/>
                </p:oleObj>
              </mc:Choice>
              <mc:Fallback>
                <p:oleObj name="公式" r:id="rId2" imgW="777335" imgH="312336" progId="Equation.3">
                  <p:embed/>
                  <p:pic>
                    <p:nvPicPr>
                      <p:cNvPr id="0" name="Object 2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688" y="566738"/>
                        <a:ext cx="801687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9" name="TextBox 26">
            <a:extLst>
              <a:ext uri="{FF2B5EF4-FFF2-40B4-BE49-F238E27FC236}">
                <a16:creationId xmlns:a16="http://schemas.microsoft.com/office/drawing/2014/main" id="{9B97E597-AB6F-30E1-9691-3F5AA12294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4750" y="528638"/>
            <a:ext cx="803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FF0000"/>
                </a:solidFill>
              </a:rPr>
              <a:t>积分</a:t>
            </a:r>
          </a:p>
        </p:txBody>
      </p:sp>
      <p:sp>
        <p:nvSpPr>
          <p:cNvPr id="32774" name="矩形 1">
            <a:extLst>
              <a:ext uri="{FF2B5EF4-FFF2-40B4-BE49-F238E27FC236}">
                <a16:creationId xmlns:a16="http://schemas.microsoft.com/office/drawing/2014/main" id="{8ADCA6DC-5085-3E41-DDCA-18E5DE79C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25" y="1412875"/>
            <a:ext cx="6588125" cy="46609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defRPr/>
            </a:pPr>
            <a:r>
              <a:rPr lang="zh-CN" altLang="zh-CN" sz="2400" b="1" dirty="0">
                <a:solidFill>
                  <a:schemeClr val="bg1"/>
                </a:solidFill>
              </a:rPr>
              <a:t>问：如果知道质点的加速度，能否确定质点的速度？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zh-CN" altLang="zh-CN" sz="2400" b="1" dirty="0">
                <a:solidFill>
                  <a:schemeClr val="bg1"/>
                </a:solidFill>
              </a:rPr>
              <a:t>实例：自由落体实验：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zh-CN" altLang="zh-CN" sz="2400" b="1" dirty="0">
                <a:solidFill>
                  <a:schemeClr val="bg1"/>
                </a:solidFill>
              </a:rPr>
              <a:t>（</a:t>
            </a:r>
            <a:r>
              <a:rPr lang="en-US" altLang="zh-CN" sz="2400" b="1" dirty="0">
                <a:solidFill>
                  <a:schemeClr val="bg1"/>
                </a:solidFill>
              </a:rPr>
              <a:t>1</a:t>
            </a:r>
            <a:r>
              <a:rPr lang="zh-CN" altLang="zh-CN" sz="2400" b="1" dirty="0">
                <a:solidFill>
                  <a:schemeClr val="bg1"/>
                </a:solidFill>
              </a:rPr>
              <a:t>）自由下落；（</a:t>
            </a:r>
            <a:r>
              <a:rPr lang="en-US" altLang="zh-CN" sz="2400" b="1" dirty="0">
                <a:solidFill>
                  <a:schemeClr val="bg1"/>
                </a:solidFill>
              </a:rPr>
              <a:t>2</a:t>
            </a:r>
            <a:r>
              <a:rPr lang="zh-CN" altLang="zh-CN" sz="2400" b="1" dirty="0">
                <a:solidFill>
                  <a:schemeClr val="bg1"/>
                </a:solidFill>
              </a:rPr>
              <a:t>）上抛；（</a:t>
            </a:r>
            <a:r>
              <a:rPr lang="en-US" altLang="zh-CN" sz="2400" b="1" dirty="0">
                <a:solidFill>
                  <a:schemeClr val="bg1"/>
                </a:solidFill>
              </a:rPr>
              <a:t>3</a:t>
            </a:r>
            <a:r>
              <a:rPr lang="zh-CN" altLang="zh-CN" sz="2400" b="1" dirty="0">
                <a:solidFill>
                  <a:schemeClr val="bg1"/>
                </a:solidFill>
              </a:rPr>
              <a:t>）下抛</a:t>
            </a:r>
          </a:p>
          <a:p>
            <a:pPr eaLnBrk="1" hangingPunct="1">
              <a:lnSpc>
                <a:spcPct val="125000"/>
              </a:lnSpc>
              <a:defRPr/>
            </a:pPr>
            <a:endParaRPr lang="en-US" altLang="zh-CN" sz="2400" b="1" dirty="0">
              <a:solidFill>
                <a:schemeClr val="bg1"/>
              </a:solidFill>
            </a:endParaRPr>
          </a:p>
          <a:p>
            <a:pPr marL="342900" indent="-342900" eaLnBrk="1" hangingPunct="1">
              <a:lnSpc>
                <a:spcPct val="125000"/>
              </a:lnSpc>
              <a:buFont typeface="Arial" panose="020B0604020202020204" pitchFamily="34" charset="0"/>
              <a:buChar char="•"/>
              <a:defRPr/>
            </a:pPr>
            <a:r>
              <a:rPr lang="zh-CN" altLang="zh-CN" sz="2400" b="1" dirty="0">
                <a:solidFill>
                  <a:schemeClr val="bg1"/>
                </a:solidFill>
              </a:rPr>
              <a:t>已知质点的加速度和质点的初始速度，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zh-CN" altLang="zh-CN" sz="2400" b="1" dirty="0">
                <a:solidFill>
                  <a:schemeClr val="bg1"/>
                </a:solidFill>
              </a:rPr>
              <a:t>——不定积分</a:t>
            </a:r>
            <a:r>
              <a:rPr lang="en-US" altLang="zh-CN" sz="2400" b="1" dirty="0">
                <a:solidFill>
                  <a:schemeClr val="bg1"/>
                </a:solidFill>
              </a:rPr>
              <a:t>  +  </a:t>
            </a:r>
            <a:r>
              <a:rPr lang="zh-CN" altLang="zh-CN" sz="2400" b="1" dirty="0">
                <a:solidFill>
                  <a:schemeClr val="bg1"/>
                </a:solidFill>
              </a:rPr>
              <a:t>初条件，确定出质点的速度。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 marL="342900" indent="-342900" eaLnBrk="1" hangingPunct="1">
              <a:lnSpc>
                <a:spcPct val="125000"/>
              </a:lnSpc>
              <a:buFont typeface="Arial" panose="020B0604020202020204" pitchFamily="34" charset="0"/>
              <a:buChar char="•"/>
              <a:defRPr/>
            </a:pPr>
            <a:r>
              <a:rPr lang="zh-CN" altLang="zh-CN" sz="2400" b="1" dirty="0">
                <a:solidFill>
                  <a:schemeClr val="bg1"/>
                </a:solidFill>
              </a:rPr>
              <a:t>已知质点的速度和质点的初始位置，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 eaLnBrk="1" hangingPunct="1">
              <a:lnSpc>
                <a:spcPct val="125000"/>
              </a:lnSpc>
              <a:defRPr/>
            </a:pPr>
            <a:r>
              <a:rPr lang="zh-CN" altLang="zh-CN" sz="2400" b="1" dirty="0">
                <a:solidFill>
                  <a:schemeClr val="bg1"/>
                </a:solidFill>
              </a:rPr>
              <a:t>——不定积分</a:t>
            </a:r>
            <a:r>
              <a:rPr lang="en-US" altLang="zh-CN" sz="2400" b="1" dirty="0">
                <a:solidFill>
                  <a:schemeClr val="bg1"/>
                </a:solidFill>
              </a:rPr>
              <a:t>  + </a:t>
            </a:r>
            <a:r>
              <a:rPr lang="zh-CN" altLang="zh-CN" sz="2400" b="1" dirty="0">
                <a:solidFill>
                  <a:schemeClr val="bg1"/>
                </a:solidFill>
              </a:rPr>
              <a:t>初条件，确定出质点的运动学方程。</a:t>
            </a:r>
          </a:p>
        </p:txBody>
      </p:sp>
      <p:pic>
        <p:nvPicPr>
          <p:cNvPr id="36871" name="图片 1">
            <a:extLst>
              <a:ext uri="{FF2B5EF4-FFF2-40B4-BE49-F238E27FC236}">
                <a16:creationId xmlns:a16="http://schemas.microsoft.com/office/drawing/2014/main" id="{ECDAE532-DA36-3057-50D1-C6EC5299E0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9563" y="1557338"/>
            <a:ext cx="2320925" cy="435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矩形 1">
            <a:extLst>
              <a:ext uri="{FF2B5EF4-FFF2-40B4-BE49-F238E27FC236}">
                <a16:creationId xmlns:a16="http://schemas.microsoft.com/office/drawing/2014/main" id="{264F4D52-E717-F867-8134-851774D11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115888"/>
            <a:ext cx="7775575" cy="17081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defRPr/>
            </a:pPr>
            <a:r>
              <a:rPr lang="zh-CN" altLang="zh-CN" sz="2800" b="1" dirty="0">
                <a:solidFill>
                  <a:schemeClr val="bg1"/>
                </a:solidFill>
                <a:latin typeface="+mn-lt"/>
              </a:rPr>
              <a:t>例题：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zh-CN" altLang="zh-CN" sz="2800" b="1" dirty="0">
                <a:solidFill>
                  <a:schemeClr val="bg1"/>
                </a:solidFill>
                <a:latin typeface="+mn-lt"/>
              </a:rPr>
              <a:t>已知：</a:t>
            </a:r>
            <a:r>
              <a:rPr lang="en-US" altLang="zh-CN" sz="2800" b="1" i="1" dirty="0">
                <a:solidFill>
                  <a:schemeClr val="bg1"/>
                </a:solidFill>
                <a:latin typeface="+mn-lt"/>
              </a:rPr>
              <a:t>a</a:t>
            </a:r>
            <a:r>
              <a:rPr lang="zh-CN" altLang="zh-CN" sz="2800" b="1" dirty="0">
                <a:solidFill>
                  <a:schemeClr val="bg1"/>
                </a:solidFill>
                <a:latin typeface="+mn-lt"/>
              </a:rPr>
              <a:t>＝</a:t>
            </a:r>
            <a:r>
              <a:rPr lang="en-US" altLang="zh-CN" sz="2800" b="1" dirty="0">
                <a:solidFill>
                  <a:schemeClr val="bg1"/>
                </a:solidFill>
                <a:latin typeface="+mn-lt"/>
              </a:rPr>
              <a:t>100</a:t>
            </a:r>
            <a:r>
              <a:rPr lang="zh-CN" altLang="zh-CN" sz="2800" b="1" dirty="0">
                <a:solidFill>
                  <a:schemeClr val="bg1"/>
                </a:solidFill>
                <a:latin typeface="+mn-lt"/>
              </a:rPr>
              <a:t>－</a:t>
            </a:r>
            <a:r>
              <a:rPr lang="en-US" altLang="zh-CN" sz="2800" b="1" dirty="0">
                <a:solidFill>
                  <a:schemeClr val="bg1"/>
                </a:solidFill>
                <a:latin typeface="+mn-lt"/>
              </a:rPr>
              <a:t>4</a:t>
            </a:r>
            <a:r>
              <a:rPr lang="en-US" altLang="zh-CN" sz="2800" b="1" i="1" dirty="0">
                <a:solidFill>
                  <a:schemeClr val="bg1"/>
                </a:solidFill>
                <a:latin typeface="+mn-lt"/>
              </a:rPr>
              <a:t>t</a:t>
            </a:r>
            <a:r>
              <a:rPr lang="en-US" altLang="zh-CN" sz="2800" b="1" baseline="30000" dirty="0">
                <a:solidFill>
                  <a:schemeClr val="bg1"/>
                </a:solidFill>
                <a:latin typeface="+mn-lt"/>
              </a:rPr>
              <a:t>2</a:t>
            </a:r>
            <a:r>
              <a:rPr lang="zh-CN" altLang="zh-CN" sz="2800" b="1" dirty="0">
                <a:solidFill>
                  <a:schemeClr val="bg1"/>
                </a:solidFill>
                <a:latin typeface="+mn-lt"/>
              </a:rPr>
              <a:t>，且</a:t>
            </a:r>
            <a:r>
              <a:rPr lang="en-US" altLang="zh-CN" sz="2800" b="1" i="1" dirty="0">
                <a:solidFill>
                  <a:schemeClr val="bg1"/>
                </a:solidFill>
                <a:latin typeface="+mn-lt"/>
              </a:rPr>
              <a:t>t</a:t>
            </a:r>
            <a:r>
              <a:rPr lang="zh-CN" altLang="zh-CN" sz="2800" b="1" dirty="0">
                <a:solidFill>
                  <a:schemeClr val="bg1"/>
                </a:solidFill>
                <a:latin typeface="+mn-lt"/>
              </a:rPr>
              <a:t>＝</a:t>
            </a:r>
            <a:r>
              <a:rPr lang="en-US" altLang="zh-CN" sz="2800" b="1" dirty="0">
                <a:solidFill>
                  <a:schemeClr val="bg1"/>
                </a:solidFill>
                <a:latin typeface="+mn-lt"/>
              </a:rPr>
              <a:t>0</a:t>
            </a:r>
            <a:r>
              <a:rPr lang="zh-CN" altLang="zh-CN" sz="2800" b="1" dirty="0">
                <a:solidFill>
                  <a:schemeClr val="bg1"/>
                </a:solidFill>
                <a:latin typeface="+mn-lt"/>
              </a:rPr>
              <a:t>时，</a:t>
            </a:r>
            <a:r>
              <a:rPr lang="en-US" altLang="zh-CN" sz="2800" b="1" i="1" dirty="0">
                <a:solidFill>
                  <a:schemeClr val="bg1"/>
                </a:solidFill>
                <a:latin typeface="+mn-lt"/>
              </a:rPr>
              <a:t>v</a:t>
            </a:r>
            <a:r>
              <a:rPr lang="zh-CN" altLang="zh-CN" sz="2800" b="1" dirty="0">
                <a:solidFill>
                  <a:schemeClr val="bg1"/>
                </a:solidFill>
                <a:latin typeface="+mn-lt"/>
              </a:rPr>
              <a:t>＝</a:t>
            </a:r>
            <a:r>
              <a:rPr lang="en-US" altLang="zh-CN" sz="2800" b="1" dirty="0">
                <a:solidFill>
                  <a:schemeClr val="bg1"/>
                </a:solidFill>
                <a:latin typeface="+mn-lt"/>
              </a:rPr>
              <a:t>0</a:t>
            </a:r>
            <a:r>
              <a:rPr lang="zh-CN" altLang="zh-CN" sz="2800" b="1" dirty="0">
                <a:solidFill>
                  <a:schemeClr val="bg1"/>
                </a:solidFill>
                <a:latin typeface="+mn-lt"/>
              </a:rPr>
              <a:t>，</a:t>
            </a:r>
            <a:r>
              <a:rPr lang="en-US" altLang="zh-CN" sz="2800" b="1" i="1" dirty="0">
                <a:solidFill>
                  <a:schemeClr val="bg1"/>
                </a:solidFill>
                <a:latin typeface="+mn-lt"/>
              </a:rPr>
              <a:t>x</a:t>
            </a:r>
            <a:r>
              <a:rPr lang="zh-CN" altLang="zh-CN" sz="2800" b="1" dirty="0">
                <a:solidFill>
                  <a:schemeClr val="bg1"/>
                </a:solidFill>
                <a:latin typeface="+mn-lt"/>
              </a:rPr>
              <a:t>＝</a:t>
            </a:r>
            <a:r>
              <a:rPr lang="en-US" altLang="zh-CN" sz="2800" b="1" dirty="0">
                <a:solidFill>
                  <a:schemeClr val="bg1"/>
                </a:solidFill>
                <a:latin typeface="+mn-lt"/>
              </a:rPr>
              <a:t>0</a:t>
            </a:r>
            <a:endParaRPr lang="zh-CN" altLang="zh-CN" sz="2800" b="1" dirty="0">
              <a:solidFill>
                <a:schemeClr val="bg1"/>
              </a:solidFill>
              <a:latin typeface="+mn-lt"/>
            </a:endParaRPr>
          </a:p>
          <a:p>
            <a:pPr eaLnBrk="1" hangingPunct="1">
              <a:lnSpc>
                <a:spcPct val="125000"/>
              </a:lnSpc>
              <a:defRPr/>
            </a:pPr>
            <a:r>
              <a:rPr lang="zh-CN" altLang="zh-CN" sz="2800" b="1" dirty="0">
                <a:solidFill>
                  <a:schemeClr val="bg1"/>
                </a:solidFill>
                <a:latin typeface="+mn-lt"/>
              </a:rPr>
              <a:t>求：速度</a:t>
            </a:r>
            <a:r>
              <a:rPr lang="en-US" altLang="zh-CN" sz="2800" b="1" i="1" dirty="0">
                <a:solidFill>
                  <a:schemeClr val="bg1"/>
                </a:solidFill>
                <a:latin typeface="+mn-lt"/>
              </a:rPr>
              <a:t>v</a:t>
            </a:r>
            <a:r>
              <a:rPr lang="zh-CN" altLang="zh-CN" sz="2800" b="1" dirty="0">
                <a:solidFill>
                  <a:schemeClr val="bg1"/>
                </a:solidFill>
                <a:latin typeface="+mn-lt"/>
              </a:rPr>
              <a:t>和运动学方程</a:t>
            </a: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191F5009-A263-D9B9-F979-1A4BF591F0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813" y="1824038"/>
          <a:ext cx="6030912" cy="94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27300" imgH="393700" progId="Equation.DSMT4">
                  <p:embed/>
                </p:oleObj>
              </mc:Choice>
              <mc:Fallback>
                <p:oleObj name="Equation" r:id="rId2" imgW="2527300" imgH="3937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1824038"/>
                        <a:ext cx="6030912" cy="941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D01F36E5-526F-B9D0-5C26-0223ECD380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39975" y="2781300"/>
          <a:ext cx="3849688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12900" imgH="215900" progId="Equation.DSMT4">
                  <p:embed/>
                </p:oleObj>
              </mc:Choice>
              <mc:Fallback>
                <p:oleObj name="Equation" r:id="rId4" imgW="1612900" imgH="2159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2781300"/>
                        <a:ext cx="3849688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9A4A2378-DFF6-CB68-78BD-73CA6D1E8E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65488" y="3284538"/>
          <a:ext cx="2243137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39392" imgH="393529" progId="Equation.DSMT4">
                  <p:embed/>
                </p:oleObj>
              </mc:Choice>
              <mc:Fallback>
                <p:oleObj name="Equation" r:id="rId6" imgW="939392" imgH="393529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5488" y="3284538"/>
                        <a:ext cx="2243137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A79FF769-840F-7C50-8162-D58E3F4DD6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4005263"/>
          <a:ext cx="6091238" cy="94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52700" imgH="393700" progId="Equation.DSMT4">
                  <p:embed/>
                </p:oleObj>
              </mc:Choice>
              <mc:Fallback>
                <p:oleObj name="Equation" r:id="rId8" imgW="2552700" imgH="3937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4005263"/>
                        <a:ext cx="6091238" cy="941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0BE873A3-A965-58FB-2168-A00A1D1870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2050" y="5157788"/>
          <a:ext cx="391160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38300" imgH="228600" progId="Equation.DSMT4">
                  <p:embed/>
                </p:oleObj>
              </mc:Choice>
              <mc:Fallback>
                <p:oleObj name="Equation" r:id="rId10" imgW="1638300" imgH="22860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2050" y="5157788"/>
                        <a:ext cx="3911600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6A944227-BD1C-298B-8E04-A742711560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2500" y="5732463"/>
          <a:ext cx="2090738" cy="94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75920" imgH="393529" progId="Equation.DSMT4">
                  <p:embed/>
                </p:oleObj>
              </mc:Choice>
              <mc:Fallback>
                <p:oleObj name="Equation" r:id="rId12" imgW="875920" imgH="393529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5732463"/>
                        <a:ext cx="2090738" cy="941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矩形 1">
            <a:extLst>
              <a:ext uri="{FF2B5EF4-FFF2-40B4-BE49-F238E27FC236}">
                <a16:creationId xmlns:a16="http://schemas.microsoft.com/office/drawing/2014/main" id="{5A7B9E8C-CEB0-AB6D-23CD-FF76D20F9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88913"/>
            <a:ext cx="7993062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chemeClr val="bg1"/>
                </a:solidFill>
              </a:rPr>
              <a:t>教材</a:t>
            </a:r>
            <a:r>
              <a:rPr lang="en-US" altLang="zh-CN" sz="2400" b="1">
                <a:solidFill>
                  <a:schemeClr val="bg1"/>
                </a:solidFill>
              </a:rPr>
              <a:t>P23  </a:t>
            </a:r>
            <a:r>
              <a:rPr lang="zh-CN" altLang="en-US" sz="2400" b="1">
                <a:solidFill>
                  <a:schemeClr val="bg1"/>
                </a:solidFill>
              </a:rPr>
              <a:t>均变速直线运动中速度、时间和位移三者之间的关系的推导</a:t>
            </a:r>
            <a:endParaRPr lang="en-US" altLang="zh-CN" sz="2400" b="1">
              <a:solidFill>
                <a:schemeClr val="bg1"/>
              </a:solidFill>
            </a:endParaRPr>
          </a:p>
        </p:txBody>
      </p:sp>
      <p:pic>
        <p:nvPicPr>
          <p:cNvPr id="38915" name="Picture 4">
            <a:extLst>
              <a:ext uri="{FF2B5EF4-FFF2-40B4-BE49-F238E27FC236}">
                <a16:creationId xmlns:a16="http://schemas.microsoft.com/office/drawing/2014/main" id="{8499FDDD-2302-A6A3-44C2-0F7A921BB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063" y="1125538"/>
            <a:ext cx="7962900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1" name="Picture 5">
            <a:extLst>
              <a:ext uri="{FF2B5EF4-FFF2-40B4-BE49-F238E27FC236}">
                <a16:creationId xmlns:a16="http://schemas.microsoft.com/office/drawing/2014/main" id="{CFB6A53D-96B4-4881-C2F4-99F7F257F8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25" y="2205038"/>
            <a:ext cx="7962900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2" name="Picture 6">
            <a:extLst>
              <a:ext uri="{FF2B5EF4-FFF2-40B4-BE49-F238E27FC236}">
                <a16:creationId xmlns:a16="http://schemas.microsoft.com/office/drawing/2014/main" id="{4902D78A-20CD-3FDC-EE0D-1E2970C282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25" y="3662363"/>
            <a:ext cx="796290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>
            <a:extLst>
              <a:ext uri="{FF2B5EF4-FFF2-40B4-BE49-F238E27FC236}">
                <a16:creationId xmlns:a16="http://schemas.microsoft.com/office/drawing/2014/main" id="{467F6624-4660-E23E-F30E-F63E342F8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0550"/>
            <a:ext cx="9036050" cy="2333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9939" name="Picture 3">
            <a:extLst>
              <a:ext uri="{FF2B5EF4-FFF2-40B4-BE49-F238E27FC236}">
                <a16:creationId xmlns:a16="http://schemas.microsoft.com/office/drawing/2014/main" id="{B4C05817-6158-B1E3-4F58-8029B9A2CC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2924175"/>
            <a:ext cx="5716588" cy="2938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9940" name="TextBox 2">
            <a:extLst>
              <a:ext uri="{FF2B5EF4-FFF2-40B4-BE49-F238E27FC236}">
                <a16:creationId xmlns:a16="http://schemas.microsoft.com/office/drawing/2014/main" id="{F481F64E-064D-DC48-1AA3-984C970139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5888"/>
            <a:ext cx="36480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rgbClr val="FFC000"/>
                </a:solidFill>
              </a:rPr>
              <a:t>书中例题</a:t>
            </a:r>
            <a:r>
              <a:rPr lang="en-US" altLang="zh-CN" sz="2000" b="1">
                <a:solidFill>
                  <a:srgbClr val="FFC000"/>
                </a:solidFill>
              </a:rPr>
              <a:t>1.9 P21</a:t>
            </a:r>
            <a:r>
              <a:rPr lang="zh-CN" altLang="en-US" sz="2000" b="1">
                <a:solidFill>
                  <a:srgbClr val="FFC000"/>
                </a:solidFill>
              </a:rPr>
              <a:t>（斜抛运动）</a:t>
            </a: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8428EC99-8DCB-2603-0C4B-2264CE37BB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0425" y="3213100"/>
          <a:ext cx="2735263" cy="230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70000" imgH="1066800" progId="Equation.DSMT4">
                  <p:embed/>
                </p:oleObj>
              </mc:Choice>
              <mc:Fallback>
                <p:oleObj name="Equation" r:id="rId4" imgW="1270000" imgH="10668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425" y="3213100"/>
                        <a:ext cx="2735263" cy="230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B4F8D99C-6FEF-76FA-24A9-F7BA1198E3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850" y="5907088"/>
          <a:ext cx="4032250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28800" imgH="279400" progId="Equation.DSMT4">
                  <p:embed/>
                </p:oleObj>
              </mc:Choice>
              <mc:Fallback>
                <p:oleObj name="Equation" r:id="rId6" imgW="1828800" imgH="2794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5907088"/>
                        <a:ext cx="4032250" cy="617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6471CD07-E9C6-25C1-F024-3104601CFC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87900" y="5949950"/>
          <a:ext cx="374491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01800" imgH="241300" progId="Equation.DSMT4">
                  <p:embed/>
                </p:oleObj>
              </mc:Choice>
              <mc:Fallback>
                <p:oleObj name="Equation" r:id="rId8" imgW="1701800" imgH="2413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5949950"/>
                        <a:ext cx="374491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62" name="对象 1">
            <a:extLst>
              <a:ext uri="{FF2B5EF4-FFF2-40B4-BE49-F238E27FC236}">
                <a16:creationId xmlns:a16="http://schemas.microsoft.com/office/drawing/2014/main" id="{6FA22110-A664-A2E1-131C-E79DD649A4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188913"/>
          <a:ext cx="7307262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40100" imgH="228600" progId="Equation.DSMT4">
                  <p:embed/>
                </p:oleObj>
              </mc:Choice>
              <mc:Fallback>
                <p:oleObj name="Equation" r:id="rId2" imgW="3340100" imgH="2286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88913"/>
                        <a:ext cx="7307262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1F4A26C9-CE08-5390-A0F4-494E5AA1EA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5000" y="836613"/>
          <a:ext cx="7847013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543300" imgH="508000" progId="Equation.DSMT4">
                  <p:embed/>
                </p:oleObj>
              </mc:Choice>
              <mc:Fallback>
                <p:oleObj name="Equation" r:id="rId4" imgW="3543300" imgH="5080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000" y="836613"/>
                        <a:ext cx="7847013" cy="113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45EE4FB6-BEA2-E5E3-044E-8A018E69A3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2133600"/>
          <a:ext cx="7623175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492500" imgH="482600" progId="Equation.DSMT4">
                  <p:embed/>
                </p:oleObj>
              </mc:Choice>
              <mc:Fallback>
                <p:oleObj name="Equation" r:id="rId6" imgW="3492500" imgH="4826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2133600"/>
                        <a:ext cx="7623175" cy="105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96CBE527-8AFA-C018-3ADB-99B4159E5F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3270250"/>
          <a:ext cx="6892925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022600" imgH="355600" progId="Equation.DSMT4">
                  <p:embed/>
                </p:oleObj>
              </mc:Choice>
              <mc:Fallback>
                <p:oleObj name="Equation" r:id="rId8" imgW="3022600" imgH="35560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3270250"/>
                        <a:ext cx="6892925" cy="81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D4DFE2E8-CA76-88BC-9B56-A75E2BE705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3525" y="4206875"/>
          <a:ext cx="8464550" cy="1439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898900" imgH="660400" progId="Equation.DSMT4">
                  <p:embed/>
                </p:oleObj>
              </mc:Choice>
              <mc:Fallback>
                <p:oleObj name="Equation" r:id="rId10" imgW="3898900" imgH="66040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525" y="4206875"/>
                        <a:ext cx="8464550" cy="1439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7FFB08A1-AF0B-D7AB-95E4-19B3286FA1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9263" y="5726113"/>
          <a:ext cx="809307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064000" imgH="431800" progId="Equation.DSMT4">
                  <p:embed/>
                </p:oleObj>
              </mc:Choice>
              <mc:Fallback>
                <p:oleObj name="Equation" r:id="rId12" imgW="4064000" imgH="4318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263" y="5726113"/>
                        <a:ext cx="8093075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Freeform 2">
            <a:extLst>
              <a:ext uri="{FF2B5EF4-FFF2-40B4-BE49-F238E27FC236}">
                <a16:creationId xmlns:a16="http://schemas.microsoft.com/office/drawing/2014/main" id="{CEE09114-F670-0BED-F3FF-34E50BBD72A4}"/>
              </a:ext>
            </a:extLst>
          </p:cNvPr>
          <p:cNvSpPr>
            <a:spLocks/>
          </p:cNvSpPr>
          <p:nvPr/>
        </p:nvSpPr>
        <p:spPr bwMode="auto">
          <a:xfrm>
            <a:off x="6300788" y="2249488"/>
            <a:ext cx="2232025" cy="647700"/>
          </a:xfrm>
          <a:custGeom>
            <a:avLst/>
            <a:gdLst>
              <a:gd name="T0" fmla="*/ 0 w 1406"/>
              <a:gd name="T1" fmla="*/ 2147483646 h 408"/>
              <a:gd name="T2" fmla="*/ 2147483646 w 1406"/>
              <a:gd name="T3" fmla="*/ 2147483646 h 408"/>
              <a:gd name="T4" fmla="*/ 2147483646 w 1406"/>
              <a:gd name="T5" fmla="*/ 2147483646 h 408"/>
              <a:gd name="T6" fmla="*/ 2147483646 w 1406"/>
              <a:gd name="T7" fmla="*/ 2147483646 h 408"/>
              <a:gd name="T8" fmla="*/ 2147483646 w 1406"/>
              <a:gd name="T9" fmla="*/ 2147483646 h 408"/>
              <a:gd name="T10" fmla="*/ 2147483646 w 1406"/>
              <a:gd name="T11" fmla="*/ 2147483646 h 408"/>
              <a:gd name="T12" fmla="*/ 2147483646 w 1406"/>
              <a:gd name="T13" fmla="*/ 2147483646 h 408"/>
              <a:gd name="T14" fmla="*/ 2147483646 w 1406"/>
              <a:gd name="T15" fmla="*/ 2147483646 h 40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406" h="408">
                <a:moveTo>
                  <a:pt x="0" y="355"/>
                </a:moveTo>
                <a:cubicBezTo>
                  <a:pt x="58" y="305"/>
                  <a:pt x="247" y="114"/>
                  <a:pt x="345" y="57"/>
                </a:cubicBezTo>
                <a:cubicBezTo>
                  <a:pt x="443" y="0"/>
                  <a:pt x="510" y="9"/>
                  <a:pt x="589" y="13"/>
                </a:cubicBezTo>
                <a:cubicBezTo>
                  <a:pt x="668" y="17"/>
                  <a:pt x="741" y="41"/>
                  <a:pt x="817" y="83"/>
                </a:cubicBezTo>
                <a:cubicBezTo>
                  <a:pt x="893" y="125"/>
                  <a:pt x="984" y="219"/>
                  <a:pt x="1044" y="264"/>
                </a:cubicBezTo>
                <a:cubicBezTo>
                  <a:pt x="1104" y="309"/>
                  <a:pt x="1135" y="332"/>
                  <a:pt x="1180" y="355"/>
                </a:cubicBezTo>
                <a:cubicBezTo>
                  <a:pt x="1225" y="378"/>
                  <a:pt x="1278" y="392"/>
                  <a:pt x="1316" y="400"/>
                </a:cubicBezTo>
                <a:cubicBezTo>
                  <a:pt x="1354" y="408"/>
                  <a:pt x="1380" y="404"/>
                  <a:pt x="1406" y="400"/>
                </a:cubicBezTo>
              </a:path>
            </a:pathLst>
          </a:custGeom>
          <a:noFill/>
          <a:ln w="19050" cmpd="sng">
            <a:solidFill>
              <a:srgbClr val="66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987" name="Freeform 3">
            <a:extLst>
              <a:ext uri="{FF2B5EF4-FFF2-40B4-BE49-F238E27FC236}">
                <a16:creationId xmlns:a16="http://schemas.microsoft.com/office/drawing/2014/main" id="{888E0937-1DB5-1337-4CA0-6D6E9CCF5E3C}"/>
              </a:ext>
            </a:extLst>
          </p:cNvPr>
          <p:cNvSpPr>
            <a:spLocks/>
          </p:cNvSpPr>
          <p:nvPr/>
        </p:nvSpPr>
        <p:spPr bwMode="auto">
          <a:xfrm>
            <a:off x="6503988" y="3867150"/>
            <a:ext cx="1905000" cy="857250"/>
          </a:xfrm>
          <a:custGeom>
            <a:avLst/>
            <a:gdLst>
              <a:gd name="T0" fmla="*/ 2147483646 w 915"/>
              <a:gd name="T1" fmla="*/ 2147483646 h 540"/>
              <a:gd name="T2" fmla="*/ 2147483646 w 915"/>
              <a:gd name="T3" fmla="*/ 2147483646 h 540"/>
              <a:gd name="T4" fmla="*/ 2147483646 w 915"/>
              <a:gd name="T5" fmla="*/ 2147483646 h 540"/>
              <a:gd name="T6" fmla="*/ 2147483646 w 915"/>
              <a:gd name="T7" fmla="*/ 2147483646 h 540"/>
              <a:gd name="T8" fmla="*/ 2147483646 w 915"/>
              <a:gd name="T9" fmla="*/ 2147483646 h 540"/>
              <a:gd name="T10" fmla="*/ 2147483646 w 915"/>
              <a:gd name="T11" fmla="*/ 2147483646 h 540"/>
              <a:gd name="T12" fmla="*/ 2147483646 w 915"/>
              <a:gd name="T13" fmla="*/ 2147483646 h 540"/>
              <a:gd name="T14" fmla="*/ 2147483646 w 915"/>
              <a:gd name="T15" fmla="*/ 2147483646 h 540"/>
              <a:gd name="T16" fmla="*/ 2147483646 w 915"/>
              <a:gd name="T17" fmla="*/ 2147483646 h 540"/>
              <a:gd name="T18" fmla="*/ 2147483646 w 915"/>
              <a:gd name="T19" fmla="*/ 2147483646 h 540"/>
              <a:gd name="T20" fmla="*/ 2147483646 w 915"/>
              <a:gd name="T21" fmla="*/ 2147483646 h 540"/>
              <a:gd name="T22" fmla="*/ 2147483646 w 915"/>
              <a:gd name="T23" fmla="*/ 2147483646 h 540"/>
              <a:gd name="T24" fmla="*/ 0 w 915"/>
              <a:gd name="T25" fmla="*/ 2147483646 h 540"/>
              <a:gd name="T26" fmla="*/ 2147483646 w 915"/>
              <a:gd name="T27" fmla="*/ 2147483646 h 540"/>
              <a:gd name="T28" fmla="*/ 2147483646 w 915"/>
              <a:gd name="T29" fmla="*/ 2147483646 h 540"/>
              <a:gd name="T30" fmla="*/ 2147483646 w 915"/>
              <a:gd name="T31" fmla="*/ 2147483646 h 540"/>
              <a:gd name="T32" fmla="*/ 2147483646 w 915"/>
              <a:gd name="T33" fmla="*/ 2147483646 h 540"/>
              <a:gd name="T34" fmla="*/ 2147483646 w 915"/>
              <a:gd name="T35" fmla="*/ 2147483646 h 540"/>
              <a:gd name="T36" fmla="*/ 2147483646 w 915"/>
              <a:gd name="T37" fmla="*/ 2147483646 h 540"/>
              <a:gd name="T38" fmla="*/ 2147483646 w 915"/>
              <a:gd name="T39" fmla="*/ 2147483646 h 540"/>
              <a:gd name="T40" fmla="*/ 2147483646 w 915"/>
              <a:gd name="T41" fmla="*/ 2147483646 h 540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915" h="540">
                <a:moveTo>
                  <a:pt x="882" y="294"/>
                </a:moveTo>
                <a:cubicBezTo>
                  <a:pt x="880" y="280"/>
                  <a:pt x="882" y="265"/>
                  <a:pt x="876" y="252"/>
                </a:cubicBezTo>
                <a:cubicBezTo>
                  <a:pt x="873" y="245"/>
                  <a:pt x="862" y="246"/>
                  <a:pt x="858" y="240"/>
                </a:cubicBezTo>
                <a:cubicBezTo>
                  <a:pt x="851" y="229"/>
                  <a:pt x="857" y="211"/>
                  <a:pt x="846" y="204"/>
                </a:cubicBezTo>
                <a:cubicBezTo>
                  <a:pt x="813" y="182"/>
                  <a:pt x="782" y="157"/>
                  <a:pt x="744" y="144"/>
                </a:cubicBezTo>
                <a:cubicBezTo>
                  <a:pt x="707" y="132"/>
                  <a:pt x="668" y="129"/>
                  <a:pt x="630" y="120"/>
                </a:cubicBezTo>
                <a:cubicBezTo>
                  <a:pt x="607" y="114"/>
                  <a:pt x="592" y="99"/>
                  <a:pt x="570" y="90"/>
                </a:cubicBezTo>
                <a:cubicBezTo>
                  <a:pt x="526" y="72"/>
                  <a:pt x="479" y="62"/>
                  <a:pt x="432" y="54"/>
                </a:cubicBezTo>
                <a:cubicBezTo>
                  <a:pt x="308" y="57"/>
                  <a:pt x="168" y="0"/>
                  <a:pt x="96" y="108"/>
                </a:cubicBezTo>
                <a:cubicBezTo>
                  <a:pt x="89" y="136"/>
                  <a:pt x="81" y="147"/>
                  <a:pt x="60" y="168"/>
                </a:cubicBezTo>
                <a:cubicBezTo>
                  <a:pt x="49" y="200"/>
                  <a:pt x="29" y="225"/>
                  <a:pt x="18" y="258"/>
                </a:cubicBezTo>
                <a:cubicBezTo>
                  <a:pt x="14" y="270"/>
                  <a:pt x="10" y="282"/>
                  <a:pt x="6" y="294"/>
                </a:cubicBezTo>
                <a:cubicBezTo>
                  <a:pt x="4" y="300"/>
                  <a:pt x="0" y="312"/>
                  <a:pt x="0" y="312"/>
                </a:cubicBezTo>
                <a:cubicBezTo>
                  <a:pt x="2" y="329"/>
                  <a:pt x="2" y="364"/>
                  <a:pt x="12" y="384"/>
                </a:cubicBezTo>
                <a:cubicBezTo>
                  <a:pt x="26" y="411"/>
                  <a:pt x="20" y="395"/>
                  <a:pt x="42" y="414"/>
                </a:cubicBezTo>
                <a:cubicBezTo>
                  <a:pt x="101" y="467"/>
                  <a:pt x="85" y="465"/>
                  <a:pt x="174" y="474"/>
                </a:cubicBezTo>
                <a:cubicBezTo>
                  <a:pt x="242" y="508"/>
                  <a:pt x="315" y="525"/>
                  <a:pt x="390" y="540"/>
                </a:cubicBezTo>
                <a:cubicBezTo>
                  <a:pt x="515" y="534"/>
                  <a:pt x="636" y="526"/>
                  <a:pt x="762" y="522"/>
                </a:cubicBezTo>
                <a:cubicBezTo>
                  <a:pt x="811" y="512"/>
                  <a:pt x="852" y="498"/>
                  <a:pt x="888" y="462"/>
                </a:cubicBezTo>
                <a:cubicBezTo>
                  <a:pt x="898" y="431"/>
                  <a:pt x="904" y="398"/>
                  <a:pt x="912" y="366"/>
                </a:cubicBezTo>
                <a:cubicBezTo>
                  <a:pt x="910" y="349"/>
                  <a:pt x="915" y="278"/>
                  <a:pt x="882" y="294"/>
                </a:cubicBezTo>
                <a:close/>
              </a:path>
            </a:pathLst>
          </a:custGeom>
          <a:solidFill>
            <a:srgbClr val="CCCCFF">
              <a:alpha val="50195"/>
            </a:srgbClr>
          </a:solidFill>
          <a:ln w="9525" cap="flat" cmpd="sng">
            <a:solidFill>
              <a:schemeClr val="hlink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88" name="Text Box 4">
            <a:extLst>
              <a:ext uri="{FF2B5EF4-FFF2-40B4-BE49-F238E27FC236}">
                <a16:creationId xmlns:a16="http://schemas.microsoft.com/office/drawing/2014/main" id="{DE4E7AB3-13E3-9805-8E99-1E04E8817D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333375"/>
            <a:ext cx="69342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147888" indent="-178593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3200" b="1">
                <a:solidFill>
                  <a:srgbClr val="66FF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1.4  </a:t>
            </a:r>
            <a:r>
              <a:rPr kumimoji="1" lang="zh-CN" altLang="en-US" sz="3200" b="1">
                <a:solidFill>
                  <a:srgbClr val="66FF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用自然坐标表示平面曲线运动中的速度和加速度</a:t>
            </a:r>
          </a:p>
        </p:txBody>
      </p:sp>
      <p:sp>
        <p:nvSpPr>
          <p:cNvPr id="41989" name="Text Box 5">
            <a:extLst>
              <a:ext uri="{FF2B5EF4-FFF2-40B4-BE49-F238E27FC236}">
                <a16:creationId xmlns:a16="http://schemas.microsoft.com/office/drawing/2014/main" id="{0CEA4F19-FDF8-91DA-EFCE-06B5F1C70A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850" y="1538288"/>
            <a:ext cx="1905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rgbClr val="FFFF66"/>
                </a:solidFill>
                <a:latin typeface="宋体" panose="02010600030101010101" pitchFamily="2" charset="-122"/>
              </a:rPr>
              <a:t>一</a:t>
            </a:r>
            <a:r>
              <a:rPr kumimoji="1" lang="en-US" altLang="zh-CN" sz="2800" b="1">
                <a:solidFill>
                  <a:srgbClr val="FFFF66"/>
                </a:solidFill>
                <a:latin typeface="Times New Roman" panose="02020603050405020304" pitchFamily="18" charset="0"/>
              </a:rPr>
              <a:t>. </a:t>
            </a:r>
            <a:r>
              <a:rPr kumimoji="1" lang="zh-CN" altLang="en-US" sz="2800" b="1">
                <a:solidFill>
                  <a:srgbClr val="FFFF00"/>
                </a:solidFill>
                <a:latin typeface="宋体" panose="02010600030101010101" pitchFamily="2" charset="-122"/>
              </a:rPr>
              <a:t>速度</a:t>
            </a:r>
            <a:endParaRPr kumimoji="1" lang="zh-CN" altLang="en-US" sz="2400" b="1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9462" name="Object 6">
            <a:extLst>
              <a:ext uri="{FF2B5EF4-FFF2-40B4-BE49-F238E27FC236}">
                <a16:creationId xmlns:a16="http://schemas.microsoft.com/office/drawing/2014/main" id="{3AFED867-1F13-71DF-3814-1DE925C479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2349500"/>
          <a:ext cx="27686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50818" imgH="365688" progId="Equation.3">
                  <p:embed/>
                </p:oleObj>
              </mc:Choice>
              <mc:Fallback>
                <p:oleObj name="Equation" r:id="rId2" imgW="2750818" imgH="365688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349500"/>
                        <a:ext cx="27686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3" name="Object 7">
            <a:extLst>
              <a:ext uri="{FF2B5EF4-FFF2-40B4-BE49-F238E27FC236}">
                <a16:creationId xmlns:a16="http://schemas.microsoft.com/office/drawing/2014/main" id="{EFDDE813-C8AE-C1B4-AC84-89CB4ADB97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2500" y="5199063"/>
          <a:ext cx="1665288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653646" imgH="807624" progId="Equation.3">
                  <p:embed/>
                </p:oleObj>
              </mc:Choice>
              <mc:Fallback>
                <p:oleObj name="公式" r:id="rId4" imgW="1653646" imgH="807624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5199063"/>
                        <a:ext cx="1665288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4" name="Object 8">
            <a:extLst>
              <a:ext uri="{FF2B5EF4-FFF2-40B4-BE49-F238E27FC236}">
                <a16:creationId xmlns:a16="http://schemas.microsoft.com/office/drawing/2014/main" id="{97815CAD-12DB-EC53-8CB3-D7B41D4850C3}"/>
              </a:ext>
            </a:extLst>
          </p:cNvPr>
          <p:cNvGraphicFramePr>
            <a:graphicFrameLocks/>
          </p:cNvGraphicFramePr>
          <p:nvPr/>
        </p:nvGraphicFramePr>
        <p:xfrm>
          <a:off x="1116013" y="4119563"/>
          <a:ext cx="4748212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724301" imgH="807624" progId="Equation.3">
                  <p:embed/>
                </p:oleObj>
              </mc:Choice>
              <mc:Fallback>
                <p:oleObj name="公式" r:id="rId6" imgW="4724301" imgH="807624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4119563"/>
                        <a:ext cx="4748212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5" name="AutoShape 9">
            <a:extLst>
              <a:ext uri="{FF2B5EF4-FFF2-40B4-BE49-F238E27FC236}">
                <a16:creationId xmlns:a16="http://schemas.microsoft.com/office/drawing/2014/main" id="{6201FCE0-D36D-CDBD-8CDB-8EEDEC358A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4663" y="5978525"/>
            <a:ext cx="3170237" cy="415925"/>
          </a:xfrm>
          <a:prstGeom prst="wedgeRectCallout">
            <a:avLst>
              <a:gd name="adj1" fmla="val -33977"/>
              <a:gd name="adj2" fmla="val -107634"/>
            </a:avLst>
          </a:prstGeom>
          <a:solidFill>
            <a:srgbClr val="3333CC">
              <a:alpha val="14117"/>
            </a:srgbClr>
          </a:solidFill>
          <a:ln w="19050">
            <a:solidFill>
              <a:srgbClr val="66FFFF">
                <a:alpha val="32156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chemeClr val="bg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速度矢量在切线上的投影</a:t>
            </a:r>
          </a:p>
        </p:txBody>
      </p:sp>
      <p:graphicFrame>
        <p:nvGraphicFramePr>
          <p:cNvPr id="19466" name="Object 10">
            <a:extLst>
              <a:ext uri="{FF2B5EF4-FFF2-40B4-BE49-F238E27FC236}">
                <a16:creationId xmlns:a16="http://schemas.microsoft.com/office/drawing/2014/main" id="{C5A757DB-A74C-6393-8961-C0D9ED2DEA29}"/>
              </a:ext>
            </a:extLst>
          </p:cNvPr>
          <p:cNvGraphicFramePr>
            <a:graphicFrameLocks/>
          </p:cNvGraphicFramePr>
          <p:nvPr/>
        </p:nvGraphicFramePr>
        <p:xfrm>
          <a:off x="895350" y="3078163"/>
          <a:ext cx="3670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642256" imgH="807624" progId="Equation.3">
                  <p:embed/>
                </p:oleObj>
              </mc:Choice>
              <mc:Fallback>
                <p:oleObj name="公式" r:id="rId8" imgW="3642256" imgH="807624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5350" y="3078163"/>
                        <a:ext cx="36703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5" name="Line 11">
            <a:extLst>
              <a:ext uri="{FF2B5EF4-FFF2-40B4-BE49-F238E27FC236}">
                <a16:creationId xmlns:a16="http://schemas.microsoft.com/office/drawing/2014/main" id="{73E72422-9832-BD8B-00F6-9F595C6014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08788" y="2571750"/>
            <a:ext cx="1066800" cy="17526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1996" name="Object 12">
            <a:extLst>
              <a:ext uri="{FF2B5EF4-FFF2-40B4-BE49-F238E27FC236}">
                <a16:creationId xmlns:a16="http://schemas.microsoft.com/office/drawing/2014/main" id="{F05B11E3-E1CE-7183-D8E8-58B75F76EC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37288" y="3325813"/>
          <a:ext cx="471487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556258" imgH="365688" progId="Equation.3">
                  <p:embed/>
                </p:oleObj>
              </mc:Choice>
              <mc:Fallback>
                <p:oleObj name="公式" r:id="rId10" imgW="556258" imgH="365688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7288" y="3325813"/>
                        <a:ext cx="471487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7" name="Object 13">
            <a:extLst>
              <a:ext uri="{FF2B5EF4-FFF2-40B4-BE49-F238E27FC236}">
                <a16:creationId xmlns:a16="http://schemas.microsoft.com/office/drawing/2014/main" id="{F8176C83-C0D6-E276-31AE-93281A10F6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02513" y="3303588"/>
          <a:ext cx="996950" cy="31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219272" imgH="365688" progId="Equation.3">
                  <p:embed/>
                </p:oleObj>
              </mc:Choice>
              <mc:Fallback>
                <p:oleObj name="公式" r:id="rId12" imgW="1219272" imgH="365688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2513" y="3303588"/>
                        <a:ext cx="996950" cy="312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8" name="Object 14">
            <a:extLst>
              <a:ext uri="{FF2B5EF4-FFF2-40B4-BE49-F238E27FC236}">
                <a16:creationId xmlns:a16="http://schemas.microsoft.com/office/drawing/2014/main" id="{F6D5DD1C-3A03-B8A4-BAF9-47C0C1D5EC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46913" y="2555875"/>
          <a:ext cx="431800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403903" imgH="274320" progId="Equation.3">
                  <p:embed/>
                </p:oleObj>
              </mc:Choice>
              <mc:Fallback>
                <p:oleObj name="公式" r:id="rId14" imgW="403903" imgH="27432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6913" y="2555875"/>
                        <a:ext cx="431800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9" name="Object 15">
            <a:extLst>
              <a:ext uri="{FF2B5EF4-FFF2-40B4-BE49-F238E27FC236}">
                <a16:creationId xmlns:a16="http://schemas.microsoft.com/office/drawing/2014/main" id="{8C1CE6BA-EF32-8A20-2A21-955A5186BA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27813" y="2046288"/>
          <a:ext cx="223837" cy="233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51548" imgH="274320" progId="Equation.3">
                  <p:embed/>
                </p:oleObj>
              </mc:Choice>
              <mc:Fallback>
                <p:oleObj name="Equation" r:id="rId16" imgW="251548" imgH="27432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7813" y="2046288"/>
                        <a:ext cx="223837" cy="233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00" name="Object 16">
            <a:extLst>
              <a:ext uri="{FF2B5EF4-FFF2-40B4-BE49-F238E27FC236}">
                <a16:creationId xmlns:a16="http://schemas.microsoft.com/office/drawing/2014/main" id="{D6E596A7-B5F9-B886-058D-2ADAF7D53D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73938" y="2006600"/>
          <a:ext cx="323850" cy="24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88559" imgH="281880" progId="Equation.3">
                  <p:embed/>
                </p:oleObj>
              </mc:Choice>
              <mc:Fallback>
                <p:oleObj name="Equation" r:id="rId18" imgW="388559" imgH="28188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73938" y="2006600"/>
                        <a:ext cx="323850" cy="242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01" name="Line 17">
            <a:extLst>
              <a:ext uri="{FF2B5EF4-FFF2-40B4-BE49-F238E27FC236}">
                <a16:creationId xmlns:a16="http://schemas.microsoft.com/office/drawing/2014/main" id="{61D341F5-CCFB-520D-5C10-EE51F3DFCB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08788" y="2343150"/>
            <a:ext cx="0" cy="19812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02" name="Line 18">
            <a:extLst>
              <a:ext uri="{FF2B5EF4-FFF2-40B4-BE49-F238E27FC236}">
                <a16:creationId xmlns:a16="http://schemas.microsoft.com/office/drawing/2014/main" id="{626D79E2-93F8-2A5C-B689-55E754978B9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8313" y="2362200"/>
            <a:ext cx="1058862" cy="23495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03" name="Line 19">
            <a:extLst>
              <a:ext uri="{FF2B5EF4-FFF2-40B4-BE49-F238E27FC236}">
                <a16:creationId xmlns:a16="http://schemas.microsoft.com/office/drawing/2014/main" id="{50EF874A-20F1-17BA-2620-F404191952E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05613" y="1866900"/>
            <a:ext cx="715962" cy="498475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2004" name="Object 20">
            <a:extLst>
              <a:ext uri="{FF2B5EF4-FFF2-40B4-BE49-F238E27FC236}">
                <a16:creationId xmlns:a16="http://schemas.microsoft.com/office/drawing/2014/main" id="{CA57F1BF-CBDE-5AC7-654D-C704B06638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31113" y="1709738"/>
          <a:ext cx="179387" cy="23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205733" imgH="274320" progId="Equation.3">
                  <p:embed/>
                </p:oleObj>
              </mc:Choice>
              <mc:Fallback>
                <p:oleObj name="公式" r:id="rId20" imgW="205733" imgH="27432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1113" y="1709738"/>
                        <a:ext cx="179387" cy="231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05" name="Object 21">
            <a:extLst>
              <a:ext uri="{FF2B5EF4-FFF2-40B4-BE49-F238E27FC236}">
                <a16:creationId xmlns:a16="http://schemas.microsoft.com/office/drawing/2014/main" id="{58286EC0-3DD2-A48E-DC7C-3E27240E5E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32738" y="2254250"/>
          <a:ext cx="233362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74239" imgH="365688" progId="Equation.3">
                  <p:embed/>
                </p:oleObj>
              </mc:Choice>
              <mc:Fallback>
                <p:oleObj name="Equation" r:id="rId22" imgW="274239" imgH="365688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2738" y="2254250"/>
                        <a:ext cx="233362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06" name="Object 22">
            <a:extLst>
              <a:ext uri="{FF2B5EF4-FFF2-40B4-BE49-F238E27FC236}">
                <a16:creationId xmlns:a16="http://schemas.microsoft.com/office/drawing/2014/main" id="{122953DD-FD10-DB03-EB65-B6F437C595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70638" y="2727325"/>
          <a:ext cx="273050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320054" imgH="396144" progId="Equation.3">
                  <p:embed/>
                </p:oleObj>
              </mc:Choice>
              <mc:Fallback>
                <p:oleObj name="Equation" r:id="rId24" imgW="320054" imgH="396144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0638" y="2727325"/>
                        <a:ext cx="273050" cy="33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07" name="Line 23">
            <a:extLst>
              <a:ext uri="{FF2B5EF4-FFF2-40B4-BE49-F238E27FC236}">
                <a16:creationId xmlns:a16="http://schemas.microsoft.com/office/drawing/2014/main" id="{DA6D2082-99B2-298F-9419-967C9C3CCBC7}"/>
              </a:ext>
            </a:extLst>
          </p:cNvPr>
          <p:cNvSpPr>
            <a:spLocks noChangeShapeType="1"/>
          </p:cNvSpPr>
          <p:nvPr/>
        </p:nvSpPr>
        <p:spPr bwMode="auto">
          <a:xfrm rot="20803377" flipV="1">
            <a:off x="6199188" y="2362200"/>
            <a:ext cx="381000" cy="22860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2008" name="Object 24">
            <a:extLst>
              <a:ext uri="{FF2B5EF4-FFF2-40B4-BE49-F238E27FC236}">
                <a16:creationId xmlns:a16="http://schemas.microsoft.com/office/drawing/2014/main" id="{1E124BCD-0B30-8AA4-3B8C-F63D07B79C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84888" y="2151063"/>
          <a:ext cx="2667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312490" imgH="365688" progId="Equation.3">
                  <p:embed/>
                </p:oleObj>
              </mc:Choice>
              <mc:Fallback>
                <p:oleObj name="Equation" r:id="rId26" imgW="312490" imgH="365688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2151063"/>
                        <a:ext cx="2667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09" name="Object 25">
            <a:extLst>
              <a:ext uri="{FF2B5EF4-FFF2-40B4-BE49-F238E27FC236}">
                <a16:creationId xmlns:a16="http://schemas.microsoft.com/office/drawing/2014/main" id="{B27D0310-BE6E-C129-01EE-AC013780BE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99388" y="2765425"/>
          <a:ext cx="204787" cy="23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228641" imgH="274320" progId="Equation.3">
                  <p:embed/>
                </p:oleObj>
              </mc:Choice>
              <mc:Fallback>
                <p:oleObj name="Equation" r:id="rId28" imgW="228641" imgH="27432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99388" y="2765425"/>
                        <a:ext cx="204787" cy="234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10" name="Object 26">
            <a:extLst>
              <a:ext uri="{FF2B5EF4-FFF2-40B4-BE49-F238E27FC236}">
                <a16:creationId xmlns:a16="http://schemas.microsoft.com/office/drawing/2014/main" id="{CA140746-9FEC-C69C-C991-2CBD27F73F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19913" y="4224338"/>
          <a:ext cx="233362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274239" imgH="289656" progId="Equation.3">
                  <p:embed/>
                </p:oleObj>
              </mc:Choice>
              <mc:Fallback>
                <p:oleObj name="Equation" r:id="rId30" imgW="274239" imgH="289656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9913" y="4224338"/>
                        <a:ext cx="233362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11" name="Object 27">
            <a:extLst>
              <a:ext uri="{FF2B5EF4-FFF2-40B4-BE49-F238E27FC236}">
                <a16:creationId xmlns:a16="http://schemas.microsoft.com/office/drawing/2014/main" id="{269EBD1D-0870-D47C-C1D0-AB3CA23E69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27888" y="4152900"/>
          <a:ext cx="871537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2" imgW="1051574" imgH="381024" progId="Equation.3">
                  <p:embed/>
                </p:oleObj>
              </mc:Choice>
              <mc:Fallback>
                <p:oleObj name="公式" r:id="rId32" imgW="1051574" imgH="381024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7888" y="4152900"/>
                        <a:ext cx="871537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12" name="Rectangle 28">
            <a:extLst>
              <a:ext uri="{FF2B5EF4-FFF2-40B4-BE49-F238E27FC236}">
                <a16:creationId xmlns:a16="http://schemas.microsoft.com/office/drawing/2014/main" id="{3411D766-22CB-AE6B-1AA5-89DAE5483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0950" y="2408238"/>
            <a:ext cx="2905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•</a:t>
            </a:r>
            <a:endParaRPr kumimoji="1" lang="en-US" altLang="zh-CN" sz="2400" b="1">
              <a:solidFill>
                <a:srgbClr val="FFFF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013" name="Text Box 29">
            <a:extLst>
              <a:ext uri="{FF2B5EF4-FFF2-40B4-BE49-F238E27FC236}">
                <a16:creationId xmlns:a16="http://schemas.microsoft.com/office/drawing/2014/main" id="{761EF000-1FE9-11C6-97C7-60833C3E9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1625" y="4079875"/>
            <a:ext cx="3254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rgbClr val="FFFF66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</a:t>
            </a:r>
          </a:p>
        </p:txBody>
      </p:sp>
      <p:sp>
        <p:nvSpPr>
          <p:cNvPr id="42014" name="Text Box 30">
            <a:extLst>
              <a:ext uri="{FF2B5EF4-FFF2-40B4-BE49-F238E27FC236}">
                <a16:creationId xmlns:a16="http://schemas.microsoft.com/office/drawing/2014/main" id="{12760DA8-432C-ECD3-428B-9603E18F1D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0038" y="2143125"/>
            <a:ext cx="301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000" b="1">
                <a:solidFill>
                  <a:srgbClr val="FFFF66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</a:t>
            </a:r>
          </a:p>
        </p:txBody>
      </p:sp>
      <p:sp>
        <p:nvSpPr>
          <p:cNvPr id="42015" name="Text Box 31">
            <a:extLst>
              <a:ext uri="{FF2B5EF4-FFF2-40B4-BE49-F238E27FC236}">
                <a16:creationId xmlns:a16="http://schemas.microsoft.com/office/drawing/2014/main" id="{C4A4014F-FCE0-2416-A4A1-3058D03189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1125" y="2373313"/>
            <a:ext cx="301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000" b="1">
                <a:solidFill>
                  <a:srgbClr val="FFFF66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</a:t>
            </a:r>
          </a:p>
        </p:txBody>
      </p:sp>
      <p:graphicFrame>
        <p:nvGraphicFramePr>
          <p:cNvPr id="19488" name="Object 32">
            <a:extLst>
              <a:ext uri="{FF2B5EF4-FFF2-40B4-BE49-F238E27FC236}">
                <a16:creationId xmlns:a16="http://schemas.microsoft.com/office/drawing/2014/main" id="{BFF67068-042A-3900-B027-3ADAD8F7274C}"/>
              </a:ext>
            </a:extLst>
          </p:cNvPr>
          <p:cNvGraphicFramePr>
            <a:graphicFrameLocks/>
          </p:cNvGraphicFramePr>
          <p:nvPr/>
        </p:nvGraphicFramePr>
        <p:xfrm>
          <a:off x="1122363" y="5140325"/>
          <a:ext cx="2297112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4" imgW="2270846" imgH="822960" progId="Equation.3">
                  <p:embed/>
                </p:oleObj>
              </mc:Choice>
              <mc:Fallback>
                <p:oleObj name="公式" r:id="rId34" imgW="2270846" imgH="822960" progId="Equation.3">
                  <p:embed/>
                  <p:pic>
                    <p:nvPicPr>
                      <p:cNvPr id="0" name="Object 32"/>
                      <p:cNvPicPr>
                        <a:picLocks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2363" y="5140325"/>
                        <a:ext cx="2297112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4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4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4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4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9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5" grpId="0" animBg="1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2">
            <a:extLst>
              <a:ext uri="{FF2B5EF4-FFF2-40B4-BE49-F238E27FC236}">
                <a16:creationId xmlns:a16="http://schemas.microsoft.com/office/drawing/2014/main" id="{B7FF1BEB-2FA5-EEC5-5555-FC3BBBE8DC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319088"/>
            <a:ext cx="2286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rgbClr val="FFFF66"/>
                </a:solidFill>
                <a:latin typeface="宋体" panose="02010600030101010101" pitchFamily="2" charset="-122"/>
              </a:rPr>
              <a:t>二</a:t>
            </a:r>
            <a:r>
              <a:rPr kumimoji="1" lang="en-US" altLang="zh-CN" sz="2800" b="1">
                <a:solidFill>
                  <a:srgbClr val="FFFF66"/>
                </a:solidFill>
                <a:latin typeface="Times New Roman" panose="02020603050405020304" pitchFamily="18" charset="0"/>
              </a:rPr>
              <a:t>. </a:t>
            </a:r>
            <a:r>
              <a:rPr kumimoji="1" lang="zh-CN" altLang="en-US" sz="2800" b="1">
                <a:solidFill>
                  <a:srgbClr val="FFFF00"/>
                </a:solidFill>
                <a:latin typeface="宋体" panose="02010600030101010101" pitchFamily="2" charset="-122"/>
              </a:rPr>
              <a:t>加速度</a:t>
            </a:r>
            <a:endParaRPr kumimoji="1" lang="zh-CN" altLang="en-US" sz="2800" b="1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83" name="Line 3">
            <a:extLst>
              <a:ext uri="{FF2B5EF4-FFF2-40B4-BE49-F238E27FC236}">
                <a16:creationId xmlns:a16="http://schemas.microsoft.com/office/drawing/2014/main" id="{0CFE6D5B-74CD-FFE1-7558-38C86B58313A}"/>
              </a:ext>
            </a:extLst>
          </p:cNvPr>
          <p:cNvSpPr>
            <a:spLocks noChangeShapeType="1"/>
          </p:cNvSpPr>
          <p:nvPr/>
        </p:nvSpPr>
        <p:spPr bwMode="auto">
          <a:xfrm rot="4059142">
            <a:off x="7301707" y="5050631"/>
            <a:ext cx="700088" cy="485775"/>
          </a:xfrm>
          <a:prstGeom prst="line">
            <a:avLst/>
          </a:prstGeom>
          <a:noFill/>
          <a:ln w="28575">
            <a:solidFill>
              <a:srgbClr val="66FF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0484" name="Object 4">
            <a:extLst>
              <a:ext uri="{FF2B5EF4-FFF2-40B4-BE49-F238E27FC236}">
                <a16:creationId xmlns:a16="http://schemas.microsoft.com/office/drawing/2014/main" id="{F5E08BAA-ECF9-8914-1F4D-C5AD043283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18325" y="4540250"/>
          <a:ext cx="485775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86729" imgH="396144" progId="Equation.3">
                  <p:embed/>
                </p:oleObj>
              </mc:Choice>
              <mc:Fallback>
                <p:oleObj name="公式" r:id="rId2" imgW="586729" imgH="396144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8325" y="4540250"/>
                        <a:ext cx="485775" cy="33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5" name="Object 5">
            <a:extLst>
              <a:ext uri="{FF2B5EF4-FFF2-40B4-BE49-F238E27FC236}">
                <a16:creationId xmlns:a16="http://schemas.microsoft.com/office/drawing/2014/main" id="{C06F7FCF-8F19-0199-C43D-A29AD769D8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81775" y="5700713"/>
          <a:ext cx="1014413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241963" imgH="396144" progId="Equation.3">
                  <p:embed/>
                </p:oleObj>
              </mc:Choice>
              <mc:Fallback>
                <p:oleObj name="公式" r:id="rId4" imgW="1241963" imgH="396144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1775" y="5700713"/>
                        <a:ext cx="1014413" cy="334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6" name="Object 6">
            <a:extLst>
              <a:ext uri="{FF2B5EF4-FFF2-40B4-BE49-F238E27FC236}">
                <a16:creationId xmlns:a16="http://schemas.microsoft.com/office/drawing/2014/main" id="{640BA53D-F067-5E1D-507C-23E6E2A77B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94613" y="5181600"/>
          <a:ext cx="406400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79972" imgH="312336" progId="Equation.3">
                  <p:embed/>
                </p:oleObj>
              </mc:Choice>
              <mc:Fallback>
                <p:oleObj name="公式" r:id="rId6" imgW="479972" imgH="312336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4613" y="5181600"/>
                        <a:ext cx="406400" cy="263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7" name="Object 7">
            <a:extLst>
              <a:ext uri="{FF2B5EF4-FFF2-40B4-BE49-F238E27FC236}">
                <a16:creationId xmlns:a16="http://schemas.microsoft.com/office/drawing/2014/main" id="{E47071D8-31CB-6755-FAFF-6D4B5FAC54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67563" y="5056188"/>
          <a:ext cx="395287" cy="23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72408" imgH="274320" progId="Equation.3">
                  <p:embed/>
                </p:oleObj>
              </mc:Choice>
              <mc:Fallback>
                <p:oleObj name="公式" r:id="rId8" imgW="472408" imgH="27432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7563" y="5056188"/>
                        <a:ext cx="395287" cy="231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6" name="Object 8">
            <a:extLst>
              <a:ext uri="{FF2B5EF4-FFF2-40B4-BE49-F238E27FC236}">
                <a16:creationId xmlns:a16="http://schemas.microsoft.com/office/drawing/2014/main" id="{96E7466E-93D6-F41E-63D7-5E93821049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3600" y="868363"/>
          <a:ext cx="19431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920321" imgH="807624" progId="Equation.3">
                  <p:embed/>
                </p:oleObj>
              </mc:Choice>
              <mc:Fallback>
                <p:oleObj name="公式" r:id="rId10" imgW="1920321" imgH="807624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3600" y="868363"/>
                        <a:ext cx="19431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9" name="Object 9">
            <a:extLst>
              <a:ext uri="{FF2B5EF4-FFF2-40B4-BE49-F238E27FC236}">
                <a16:creationId xmlns:a16="http://schemas.microsoft.com/office/drawing/2014/main" id="{C8ABFE21-8A09-0290-6712-E2CF7D996E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35363" y="796925"/>
          <a:ext cx="4846637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4800586" imgH="853416" progId="Equation.3">
                  <p:embed/>
                </p:oleObj>
              </mc:Choice>
              <mc:Fallback>
                <p:oleObj name="公式" r:id="rId12" imgW="4800586" imgH="853416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5363" y="796925"/>
                        <a:ext cx="4846637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0" name="Text Box 10">
            <a:extLst>
              <a:ext uri="{FF2B5EF4-FFF2-40B4-BE49-F238E27FC236}">
                <a16:creationId xmlns:a16="http://schemas.microsoft.com/office/drawing/2014/main" id="{B64D9021-2842-CEA1-79BD-7D18522B18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903413"/>
            <a:ext cx="1577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第一项：</a:t>
            </a:r>
            <a:endParaRPr kumimoji="1" lang="zh-CN" altLang="en-US" sz="2400" b="1">
              <a:solidFill>
                <a:srgbClr val="FFFF00"/>
              </a:solidFill>
            </a:endParaRPr>
          </a:p>
        </p:txBody>
      </p:sp>
      <p:graphicFrame>
        <p:nvGraphicFramePr>
          <p:cNvPr id="20491" name="Object 11">
            <a:extLst>
              <a:ext uri="{FF2B5EF4-FFF2-40B4-BE49-F238E27FC236}">
                <a16:creationId xmlns:a16="http://schemas.microsoft.com/office/drawing/2014/main" id="{C7F809F9-13B5-D772-E26E-AB311137DA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13088" y="2597150"/>
          <a:ext cx="533400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510443" imgH="853416" progId="Equation.3">
                  <p:embed/>
                </p:oleObj>
              </mc:Choice>
              <mc:Fallback>
                <p:oleObj name="公式" r:id="rId14" imgW="510443" imgH="853416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3088" y="2597150"/>
                        <a:ext cx="533400" cy="874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2" name="Text Box 12">
            <a:extLst>
              <a:ext uri="{FF2B5EF4-FFF2-40B4-BE49-F238E27FC236}">
                <a16:creationId xmlns:a16="http://schemas.microsoft.com/office/drawing/2014/main" id="{C8C335B4-BE9B-AFDA-FD79-4A70ED38EA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5150" y="3605213"/>
            <a:ext cx="1223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</a:rPr>
              <a:t>方向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为</a:t>
            </a:r>
            <a:endParaRPr kumimoji="1" lang="zh-CN" altLang="en-US" sz="2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0493" name="Object 13">
            <a:extLst>
              <a:ext uri="{FF2B5EF4-FFF2-40B4-BE49-F238E27FC236}">
                <a16:creationId xmlns:a16="http://schemas.microsoft.com/office/drawing/2014/main" id="{01B29D5A-0B06-FE8E-BDD4-298154FBA3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81350" y="3678238"/>
          <a:ext cx="238125" cy="32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13297" imgH="312336" progId="Equation.3">
                  <p:embed/>
                </p:oleObj>
              </mc:Choice>
              <mc:Fallback>
                <p:oleObj name="公式" r:id="rId16" imgW="213297" imgH="312336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1350" y="3678238"/>
                        <a:ext cx="238125" cy="328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4" name="Object 14">
            <a:extLst>
              <a:ext uri="{FF2B5EF4-FFF2-40B4-BE49-F238E27FC236}">
                <a16:creationId xmlns:a16="http://schemas.microsoft.com/office/drawing/2014/main" id="{0F8B9BC6-34B0-A934-D6C3-95BC067466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32363" y="1974850"/>
          <a:ext cx="342900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320054" imgH="396144" progId="Equation.3">
                  <p:embed/>
                </p:oleObj>
              </mc:Choice>
              <mc:Fallback>
                <p:oleObj name="公式" r:id="rId18" imgW="320054" imgH="396144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1974850"/>
                        <a:ext cx="342900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5" name="Text Box 15">
            <a:extLst>
              <a:ext uri="{FF2B5EF4-FFF2-40B4-BE49-F238E27FC236}">
                <a16:creationId xmlns:a16="http://schemas.microsoft.com/office/drawing/2014/main" id="{A3DADB0E-FA1B-9898-1BF1-789ED63962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4675" y="4300538"/>
            <a:ext cx="1143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</a:rPr>
              <a:t>意义：</a:t>
            </a:r>
          </a:p>
        </p:txBody>
      </p:sp>
      <p:sp>
        <p:nvSpPr>
          <p:cNvPr id="20496" name="Text Box 16">
            <a:extLst>
              <a:ext uri="{FF2B5EF4-FFF2-40B4-BE49-F238E27FC236}">
                <a16:creationId xmlns:a16="http://schemas.microsoft.com/office/drawing/2014/main" id="{1C123C84-00EF-48B9-88B1-833574481D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" y="5135563"/>
            <a:ext cx="1616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第二项：</a:t>
            </a:r>
          </a:p>
        </p:txBody>
      </p:sp>
      <p:graphicFrame>
        <p:nvGraphicFramePr>
          <p:cNvPr id="20497" name="Object 17">
            <a:extLst>
              <a:ext uri="{FF2B5EF4-FFF2-40B4-BE49-F238E27FC236}">
                <a16:creationId xmlns:a16="http://schemas.microsoft.com/office/drawing/2014/main" id="{17B0F664-7346-B7BD-C126-13AD50AB90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4978400"/>
          <a:ext cx="877888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853404" imgH="807624" progId="Equation.3">
                  <p:embed/>
                </p:oleObj>
              </mc:Choice>
              <mc:Fallback>
                <p:oleObj name="公式" r:id="rId20" imgW="853404" imgH="807624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4978400"/>
                        <a:ext cx="877888" cy="830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8" name="Text Box 18">
            <a:extLst>
              <a:ext uri="{FF2B5EF4-FFF2-40B4-BE49-F238E27FC236}">
                <a16:creationId xmlns:a16="http://schemas.microsoft.com/office/drawing/2014/main" id="{FB132090-6B27-C959-BBAA-3A8F2315D2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0338" y="4325938"/>
            <a:ext cx="4032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反映速度大小变化的快慢</a:t>
            </a:r>
          </a:p>
        </p:txBody>
      </p:sp>
      <p:graphicFrame>
        <p:nvGraphicFramePr>
          <p:cNvPr id="20499" name="Object 19">
            <a:extLst>
              <a:ext uri="{FF2B5EF4-FFF2-40B4-BE49-F238E27FC236}">
                <a16:creationId xmlns:a16="http://schemas.microsoft.com/office/drawing/2014/main" id="{AEDFA256-DBAF-56E3-E9A7-2A56285152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84888" y="3284538"/>
          <a:ext cx="4826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579165" imgH="365688" progId="Equation.3">
                  <p:embed/>
                </p:oleObj>
              </mc:Choice>
              <mc:Fallback>
                <p:oleObj name="公式" r:id="rId22" imgW="579165" imgH="365688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3284538"/>
                        <a:ext cx="4826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00" name="Object 20">
            <a:extLst>
              <a:ext uri="{FF2B5EF4-FFF2-40B4-BE49-F238E27FC236}">
                <a16:creationId xmlns:a16="http://schemas.microsoft.com/office/drawing/2014/main" id="{1100227B-E384-7078-5CDC-5F30E26DB2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9925" y="3548063"/>
          <a:ext cx="1008063" cy="31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1234399" imgH="365688" progId="Equation.3">
                  <p:embed/>
                </p:oleObj>
              </mc:Choice>
              <mc:Fallback>
                <p:oleObj name="公式" r:id="rId24" imgW="1234399" imgH="365688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9925" y="3548063"/>
                        <a:ext cx="1008063" cy="312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01" name="Object 21">
            <a:extLst>
              <a:ext uri="{FF2B5EF4-FFF2-40B4-BE49-F238E27FC236}">
                <a16:creationId xmlns:a16="http://schemas.microsoft.com/office/drawing/2014/main" id="{51F46C2F-EB1D-F6C1-FF61-AADD2E74F4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27763" y="2332038"/>
          <a:ext cx="223837" cy="233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51548" imgH="274320" progId="Equation.3">
                  <p:embed/>
                </p:oleObj>
              </mc:Choice>
              <mc:Fallback>
                <p:oleObj name="Equation" r:id="rId26" imgW="251548" imgH="27432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7763" y="2332038"/>
                        <a:ext cx="223837" cy="233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02" name="Object 22">
            <a:extLst>
              <a:ext uri="{FF2B5EF4-FFF2-40B4-BE49-F238E27FC236}">
                <a16:creationId xmlns:a16="http://schemas.microsoft.com/office/drawing/2014/main" id="{0531C3A6-F385-8F35-BA3C-9E35F7F175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92888" y="2141538"/>
          <a:ext cx="482600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586729" imgH="396144" progId="Equation.3">
                  <p:embed/>
                </p:oleObj>
              </mc:Choice>
              <mc:Fallback>
                <p:oleObj name="公式" r:id="rId28" imgW="586729" imgH="396144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2888" y="2141538"/>
                        <a:ext cx="482600" cy="331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03" name="Object 23">
            <a:extLst>
              <a:ext uri="{FF2B5EF4-FFF2-40B4-BE49-F238E27FC236}">
                <a16:creationId xmlns:a16="http://schemas.microsoft.com/office/drawing/2014/main" id="{72EF7604-5D66-7084-5C85-96A36C0CF2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94575" y="2452688"/>
          <a:ext cx="233363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274239" imgH="365688" progId="Equation.3">
                  <p:embed/>
                </p:oleObj>
              </mc:Choice>
              <mc:Fallback>
                <p:oleObj name="Equation" r:id="rId30" imgW="274239" imgH="365688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4575" y="2452688"/>
                        <a:ext cx="233363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4" name="Line 24">
            <a:extLst>
              <a:ext uri="{FF2B5EF4-FFF2-40B4-BE49-F238E27FC236}">
                <a16:creationId xmlns:a16="http://schemas.microsoft.com/office/drawing/2014/main" id="{6F023F50-2B1E-6C6B-785A-4B87E280BD28}"/>
              </a:ext>
            </a:extLst>
          </p:cNvPr>
          <p:cNvSpPr>
            <a:spLocks noChangeShapeType="1"/>
          </p:cNvSpPr>
          <p:nvPr/>
        </p:nvSpPr>
        <p:spPr bwMode="auto">
          <a:xfrm rot="20803377" flipV="1">
            <a:off x="5881688" y="2700338"/>
            <a:ext cx="381000" cy="22860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0505" name="Object 25">
            <a:extLst>
              <a:ext uri="{FF2B5EF4-FFF2-40B4-BE49-F238E27FC236}">
                <a16:creationId xmlns:a16="http://schemas.microsoft.com/office/drawing/2014/main" id="{D33FFECB-A036-90BD-90DF-FCD2A140EF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35638" y="3122613"/>
          <a:ext cx="204787" cy="23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228641" imgH="274320" progId="Equation.3">
                  <p:embed/>
                </p:oleObj>
              </mc:Choice>
              <mc:Fallback>
                <p:oleObj name="Equation" r:id="rId32" imgW="228641" imgH="27432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5638" y="3122613"/>
                        <a:ext cx="204787" cy="234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06" name="Object 26">
            <a:extLst>
              <a:ext uri="{FF2B5EF4-FFF2-40B4-BE49-F238E27FC236}">
                <a16:creationId xmlns:a16="http://schemas.microsoft.com/office/drawing/2014/main" id="{40AF8842-D60B-DA01-0B71-2D981E3386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10325" y="3676650"/>
          <a:ext cx="233363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274239" imgH="289656" progId="Equation.3">
                  <p:embed/>
                </p:oleObj>
              </mc:Choice>
              <mc:Fallback>
                <p:oleObj name="Equation" r:id="rId34" imgW="274239" imgH="289656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0325" y="3676650"/>
                        <a:ext cx="233363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7" name="Line 27">
            <a:extLst>
              <a:ext uri="{FF2B5EF4-FFF2-40B4-BE49-F238E27FC236}">
                <a16:creationId xmlns:a16="http://schemas.microsoft.com/office/drawing/2014/main" id="{19E03AEE-6AA5-E54C-2C5E-B0C3ABA75571}"/>
              </a:ext>
            </a:extLst>
          </p:cNvPr>
          <p:cNvSpPr>
            <a:spLocks noChangeShapeType="1"/>
          </p:cNvSpPr>
          <p:nvPr/>
        </p:nvSpPr>
        <p:spPr bwMode="auto">
          <a:xfrm rot="4375276" flipV="1">
            <a:off x="7462838" y="2986088"/>
            <a:ext cx="762000" cy="4572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0508" name="Object 28">
            <a:extLst>
              <a:ext uri="{FF2B5EF4-FFF2-40B4-BE49-F238E27FC236}">
                <a16:creationId xmlns:a16="http://schemas.microsoft.com/office/drawing/2014/main" id="{C097A4F7-8F92-6D63-F72D-F7B5250E15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40650" y="2781300"/>
          <a:ext cx="100330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6" imgW="1241963" imgH="396144" progId="Equation.3">
                  <p:embed/>
                </p:oleObj>
              </mc:Choice>
              <mc:Fallback>
                <p:oleObj name="公式" r:id="rId36" imgW="1241963" imgH="396144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0650" y="2781300"/>
                        <a:ext cx="1003300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09" name="Object 29">
            <a:extLst>
              <a:ext uri="{FF2B5EF4-FFF2-40B4-BE49-F238E27FC236}">
                <a16:creationId xmlns:a16="http://schemas.microsoft.com/office/drawing/2014/main" id="{1E569C0F-0747-C500-FD28-E2319F14E3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51638" y="3003550"/>
          <a:ext cx="395287" cy="230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8" imgW="472408" imgH="274320" progId="Equation.3">
                  <p:embed/>
                </p:oleObj>
              </mc:Choice>
              <mc:Fallback>
                <p:oleObj name="公式" r:id="rId38" imgW="472408" imgH="27432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1638" y="3003550"/>
                        <a:ext cx="395287" cy="230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10" name="Arc 30">
            <a:extLst>
              <a:ext uri="{FF2B5EF4-FFF2-40B4-BE49-F238E27FC236}">
                <a16:creationId xmlns:a16="http://schemas.microsoft.com/office/drawing/2014/main" id="{E112ECCB-4761-8C44-F49B-9DC980AD689C}"/>
              </a:ext>
            </a:extLst>
          </p:cNvPr>
          <p:cNvSpPr>
            <a:spLocks/>
          </p:cNvSpPr>
          <p:nvPr/>
        </p:nvSpPr>
        <p:spPr bwMode="auto">
          <a:xfrm>
            <a:off x="6643688" y="3303588"/>
            <a:ext cx="449262" cy="142875"/>
          </a:xfrm>
          <a:custGeom>
            <a:avLst/>
            <a:gdLst>
              <a:gd name="T0" fmla="*/ 0 w 22495"/>
              <a:gd name="T1" fmla="*/ 2147483646 h 21600"/>
              <a:gd name="T2" fmla="*/ 2147483646 w 22495"/>
              <a:gd name="T3" fmla="*/ 2147483646 h 21600"/>
              <a:gd name="T4" fmla="*/ 2147483646 w 22495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2495" h="21600" fill="none" extrusionOk="0">
                <a:moveTo>
                  <a:pt x="0" y="122"/>
                </a:moveTo>
                <a:cubicBezTo>
                  <a:pt x="762" y="40"/>
                  <a:pt x="1529" y="-1"/>
                  <a:pt x="2296" y="0"/>
                </a:cubicBezTo>
                <a:cubicBezTo>
                  <a:pt x="11273" y="0"/>
                  <a:pt x="19314" y="5552"/>
                  <a:pt x="22495" y="13947"/>
                </a:cubicBezTo>
              </a:path>
              <a:path w="22495" h="21600" stroke="0" extrusionOk="0">
                <a:moveTo>
                  <a:pt x="0" y="122"/>
                </a:moveTo>
                <a:cubicBezTo>
                  <a:pt x="762" y="40"/>
                  <a:pt x="1529" y="-1"/>
                  <a:pt x="2296" y="0"/>
                </a:cubicBezTo>
                <a:cubicBezTo>
                  <a:pt x="11273" y="0"/>
                  <a:pt x="19314" y="5552"/>
                  <a:pt x="22495" y="13947"/>
                </a:cubicBezTo>
                <a:lnTo>
                  <a:pt x="2296" y="21600"/>
                </a:lnTo>
                <a:lnTo>
                  <a:pt x="0" y="122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11" name="Line 31">
            <a:extLst>
              <a:ext uri="{FF2B5EF4-FFF2-40B4-BE49-F238E27FC236}">
                <a16:creationId xmlns:a16="http://schemas.microsoft.com/office/drawing/2014/main" id="{66775576-AE93-080F-8C05-C927512DFC00}"/>
              </a:ext>
            </a:extLst>
          </p:cNvPr>
          <p:cNvSpPr>
            <a:spLocks noChangeShapeType="1"/>
          </p:cNvSpPr>
          <p:nvPr/>
        </p:nvSpPr>
        <p:spPr bwMode="auto">
          <a:xfrm rot="6383871" flipV="1">
            <a:off x="6221413" y="2933700"/>
            <a:ext cx="762000" cy="457200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12" name="Line 32">
            <a:extLst>
              <a:ext uri="{FF2B5EF4-FFF2-40B4-BE49-F238E27FC236}">
                <a16:creationId xmlns:a16="http://schemas.microsoft.com/office/drawing/2014/main" id="{357C0DF7-85B0-059F-C9F7-280FC0744DDD}"/>
              </a:ext>
            </a:extLst>
          </p:cNvPr>
          <p:cNvSpPr>
            <a:spLocks noChangeShapeType="1"/>
          </p:cNvSpPr>
          <p:nvPr/>
        </p:nvSpPr>
        <p:spPr bwMode="auto">
          <a:xfrm rot="9775276" flipV="1">
            <a:off x="6840538" y="3052763"/>
            <a:ext cx="762000" cy="4572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13" name="Line 33">
            <a:extLst>
              <a:ext uri="{FF2B5EF4-FFF2-40B4-BE49-F238E27FC236}">
                <a16:creationId xmlns:a16="http://schemas.microsoft.com/office/drawing/2014/main" id="{E84A90F6-E1B8-9B54-48EE-6AB40F186BFC}"/>
              </a:ext>
            </a:extLst>
          </p:cNvPr>
          <p:cNvSpPr>
            <a:spLocks noChangeShapeType="1"/>
          </p:cNvSpPr>
          <p:nvPr/>
        </p:nvSpPr>
        <p:spPr bwMode="auto">
          <a:xfrm rot="6383871" flipV="1">
            <a:off x="6059487" y="3003551"/>
            <a:ext cx="1204913" cy="722312"/>
          </a:xfrm>
          <a:prstGeom prst="line">
            <a:avLst/>
          </a:prstGeom>
          <a:noFill/>
          <a:ln w="19050">
            <a:solidFill>
              <a:srgbClr val="66FF33"/>
            </a:solidFill>
            <a:prstDash val="dash"/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14" name="Line 34">
            <a:extLst>
              <a:ext uri="{FF2B5EF4-FFF2-40B4-BE49-F238E27FC236}">
                <a16:creationId xmlns:a16="http://schemas.microsoft.com/office/drawing/2014/main" id="{6E3A7B7E-BCEA-ED49-E3FA-DD1D6B2C12A0}"/>
              </a:ext>
            </a:extLst>
          </p:cNvPr>
          <p:cNvSpPr>
            <a:spLocks noChangeShapeType="1"/>
          </p:cNvSpPr>
          <p:nvPr/>
        </p:nvSpPr>
        <p:spPr bwMode="auto">
          <a:xfrm rot="9775276" flipV="1">
            <a:off x="6348413" y="3079750"/>
            <a:ext cx="1374775" cy="835025"/>
          </a:xfrm>
          <a:prstGeom prst="line">
            <a:avLst/>
          </a:prstGeom>
          <a:noFill/>
          <a:ln w="19050">
            <a:solidFill>
              <a:srgbClr val="FFFF00"/>
            </a:solidFill>
            <a:prstDash val="dash"/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15" name="Line 35">
            <a:extLst>
              <a:ext uri="{FF2B5EF4-FFF2-40B4-BE49-F238E27FC236}">
                <a16:creationId xmlns:a16="http://schemas.microsoft.com/office/drawing/2014/main" id="{FC89325E-4DF6-A269-3A1B-05741C4C0A40}"/>
              </a:ext>
            </a:extLst>
          </p:cNvPr>
          <p:cNvSpPr>
            <a:spLocks noChangeShapeType="1"/>
          </p:cNvSpPr>
          <p:nvPr/>
        </p:nvSpPr>
        <p:spPr bwMode="auto">
          <a:xfrm rot="983871" flipV="1">
            <a:off x="6943725" y="4751388"/>
            <a:ext cx="763588" cy="476250"/>
          </a:xfrm>
          <a:prstGeom prst="line">
            <a:avLst/>
          </a:prstGeom>
          <a:noFill/>
          <a:ln w="38100">
            <a:solidFill>
              <a:srgbClr val="66FF33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16" name="Line 36">
            <a:extLst>
              <a:ext uri="{FF2B5EF4-FFF2-40B4-BE49-F238E27FC236}">
                <a16:creationId xmlns:a16="http://schemas.microsoft.com/office/drawing/2014/main" id="{7759F160-C544-A9C5-EBB0-4A36C9F8DF4A}"/>
              </a:ext>
            </a:extLst>
          </p:cNvPr>
          <p:cNvSpPr>
            <a:spLocks noChangeShapeType="1"/>
          </p:cNvSpPr>
          <p:nvPr/>
        </p:nvSpPr>
        <p:spPr bwMode="auto">
          <a:xfrm rot="4375276" flipV="1">
            <a:off x="6862763" y="5189538"/>
            <a:ext cx="762000" cy="4572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17" name="Arc 37">
            <a:extLst>
              <a:ext uri="{FF2B5EF4-FFF2-40B4-BE49-F238E27FC236}">
                <a16:creationId xmlns:a16="http://schemas.microsoft.com/office/drawing/2014/main" id="{133D2A40-2E14-B5F6-7223-53A807A9EDCA}"/>
              </a:ext>
            </a:extLst>
          </p:cNvPr>
          <p:cNvSpPr>
            <a:spLocks/>
          </p:cNvSpPr>
          <p:nvPr/>
        </p:nvSpPr>
        <p:spPr bwMode="auto">
          <a:xfrm>
            <a:off x="6926263" y="5070475"/>
            <a:ext cx="166687" cy="176213"/>
          </a:xfrm>
          <a:custGeom>
            <a:avLst/>
            <a:gdLst>
              <a:gd name="T0" fmla="*/ 2147483646 w 21600"/>
              <a:gd name="T1" fmla="*/ 0 h 16850"/>
              <a:gd name="T2" fmla="*/ 2147483646 w 21600"/>
              <a:gd name="T3" fmla="*/ 2147483646 h 16850"/>
              <a:gd name="T4" fmla="*/ 0 w 21600"/>
              <a:gd name="T5" fmla="*/ 2147483646 h 1685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16850" fill="none" extrusionOk="0">
                <a:moveTo>
                  <a:pt x="20267" y="-1"/>
                </a:moveTo>
                <a:cubicBezTo>
                  <a:pt x="21148" y="2391"/>
                  <a:pt x="21600" y="4920"/>
                  <a:pt x="21600" y="7469"/>
                </a:cubicBezTo>
                <a:cubicBezTo>
                  <a:pt x="21600" y="10717"/>
                  <a:pt x="20867" y="13924"/>
                  <a:pt x="19456" y="16850"/>
                </a:cubicBezTo>
              </a:path>
              <a:path w="21600" h="16850" stroke="0" extrusionOk="0">
                <a:moveTo>
                  <a:pt x="20267" y="-1"/>
                </a:moveTo>
                <a:cubicBezTo>
                  <a:pt x="21148" y="2391"/>
                  <a:pt x="21600" y="4920"/>
                  <a:pt x="21600" y="7469"/>
                </a:cubicBezTo>
                <a:cubicBezTo>
                  <a:pt x="21600" y="10717"/>
                  <a:pt x="20867" y="13924"/>
                  <a:pt x="19456" y="16850"/>
                </a:cubicBezTo>
                <a:lnTo>
                  <a:pt x="0" y="7469"/>
                </a:lnTo>
                <a:lnTo>
                  <a:pt x="20267" y="-1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18" name="Freeform 38">
            <a:extLst>
              <a:ext uri="{FF2B5EF4-FFF2-40B4-BE49-F238E27FC236}">
                <a16:creationId xmlns:a16="http://schemas.microsoft.com/office/drawing/2014/main" id="{31564E2A-CAF5-6B5B-DF1B-137C97851684}"/>
              </a:ext>
            </a:extLst>
          </p:cNvPr>
          <p:cNvSpPr>
            <a:spLocks/>
          </p:cNvSpPr>
          <p:nvPr/>
        </p:nvSpPr>
        <p:spPr bwMode="auto">
          <a:xfrm>
            <a:off x="5989638" y="2644775"/>
            <a:ext cx="2232025" cy="598488"/>
          </a:xfrm>
          <a:custGeom>
            <a:avLst/>
            <a:gdLst>
              <a:gd name="T0" fmla="*/ 0 w 1406"/>
              <a:gd name="T1" fmla="*/ 2147483646 h 377"/>
              <a:gd name="T2" fmla="*/ 2147483646 w 1406"/>
              <a:gd name="T3" fmla="*/ 2147483646 h 377"/>
              <a:gd name="T4" fmla="*/ 2147483646 w 1406"/>
              <a:gd name="T5" fmla="*/ 2147483646 h 377"/>
              <a:gd name="T6" fmla="*/ 2147483646 w 1406"/>
              <a:gd name="T7" fmla="*/ 2147483646 h 377"/>
              <a:gd name="T8" fmla="*/ 2147483646 w 1406"/>
              <a:gd name="T9" fmla="*/ 2147483646 h 377"/>
              <a:gd name="T10" fmla="*/ 2147483646 w 1406"/>
              <a:gd name="T11" fmla="*/ 2147483646 h 377"/>
              <a:gd name="T12" fmla="*/ 2147483646 w 1406"/>
              <a:gd name="T13" fmla="*/ 2147483646 h 377"/>
              <a:gd name="T14" fmla="*/ 2147483646 w 1406"/>
              <a:gd name="T15" fmla="*/ 2147483646 h 37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406" h="377">
                <a:moveTo>
                  <a:pt x="0" y="324"/>
                </a:moveTo>
                <a:cubicBezTo>
                  <a:pt x="51" y="279"/>
                  <a:pt x="207" y="104"/>
                  <a:pt x="307" y="52"/>
                </a:cubicBezTo>
                <a:cubicBezTo>
                  <a:pt x="407" y="0"/>
                  <a:pt x="511" y="3"/>
                  <a:pt x="601" y="10"/>
                </a:cubicBezTo>
                <a:cubicBezTo>
                  <a:pt x="691" y="17"/>
                  <a:pt x="773" y="57"/>
                  <a:pt x="847" y="94"/>
                </a:cubicBezTo>
                <a:cubicBezTo>
                  <a:pt x="921" y="131"/>
                  <a:pt x="989" y="195"/>
                  <a:pt x="1044" y="233"/>
                </a:cubicBezTo>
                <a:cubicBezTo>
                  <a:pt x="1099" y="271"/>
                  <a:pt x="1135" y="301"/>
                  <a:pt x="1180" y="324"/>
                </a:cubicBezTo>
                <a:cubicBezTo>
                  <a:pt x="1225" y="347"/>
                  <a:pt x="1278" y="361"/>
                  <a:pt x="1316" y="369"/>
                </a:cubicBezTo>
                <a:cubicBezTo>
                  <a:pt x="1354" y="377"/>
                  <a:pt x="1380" y="373"/>
                  <a:pt x="1406" y="369"/>
                </a:cubicBezTo>
              </a:path>
            </a:pathLst>
          </a:custGeom>
          <a:noFill/>
          <a:ln w="19050" cmpd="sng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19" name="Rectangle 39">
            <a:extLst>
              <a:ext uri="{FF2B5EF4-FFF2-40B4-BE49-F238E27FC236}">
                <a16:creationId xmlns:a16="http://schemas.microsoft.com/office/drawing/2014/main" id="{9044510D-AE47-E0A2-FEC6-A1CD239B5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2813050"/>
            <a:ext cx="1101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rgbClr val="66FFFF"/>
                </a:solidFill>
              </a:rPr>
              <a:t>大小</a:t>
            </a:r>
            <a:r>
              <a:rPr kumimoji="1" lang="zh-CN" altLang="en-US" sz="2400" b="1">
                <a:solidFill>
                  <a:schemeClr val="bg1"/>
                </a:solidFill>
              </a:rPr>
              <a:t>为</a:t>
            </a:r>
          </a:p>
        </p:txBody>
      </p:sp>
      <p:sp>
        <p:nvSpPr>
          <p:cNvPr id="20520" name="Rectangle 40">
            <a:extLst>
              <a:ext uri="{FF2B5EF4-FFF2-40B4-BE49-F238E27FC236}">
                <a16:creationId xmlns:a16="http://schemas.microsoft.com/office/drawing/2014/main" id="{B335A9E5-FFC3-F719-1681-901C3F494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1903413"/>
            <a:ext cx="2025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1"/>
                </a:solidFill>
              </a:rPr>
              <a:t>叫</a:t>
            </a:r>
            <a:r>
              <a:rPr kumimoji="1" lang="zh-CN" altLang="en-US" sz="2400" b="1">
                <a:solidFill>
                  <a:srgbClr val="66FFFF"/>
                </a:solidFill>
              </a:rPr>
              <a:t>切向加速度</a:t>
            </a:r>
          </a:p>
        </p:txBody>
      </p:sp>
      <p:graphicFrame>
        <p:nvGraphicFramePr>
          <p:cNvPr id="20521" name="Object 41">
            <a:extLst>
              <a:ext uri="{FF2B5EF4-FFF2-40B4-BE49-F238E27FC236}">
                <a16:creationId xmlns:a16="http://schemas.microsoft.com/office/drawing/2014/main" id="{87F675AC-D60A-1CEB-31E8-B40ED7779E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1687513"/>
          <a:ext cx="774700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0" imgW="746864" imgH="853416" progId="Equation.3">
                  <p:embed/>
                </p:oleObj>
              </mc:Choice>
              <mc:Fallback>
                <p:oleObj name="公式" r:id="rId40" imgW="746864" imgH="853416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1687513"/>
                        <a:ext cx="774700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2" name="Object 42">
            <a:extLst>
              <a:ext uri="{FF2B5EF4-FFF2-40B4-BE49-F238E27FC236}">
                <a16:creationId xmlns:a16="http://schemas.microsoft.com/office/drawing/2014/main" id="{31AF38D3-E57C-4618-D13E-AAC03C9992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89350" y="2668588"/>
          <a:ext cx="738188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2" imgW="708613" imgH="807624" progId="Equation.3">
                  <p:embed/>
                </p:oleObj>
              </mc:Choice>
              <mc:Fallback>
                <p:oleObj name="公式" r:id="rId42" imgW="708613" imgH="807624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9350" y="2668588"/>
                        <a:ext cx="738188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23" name="Rectangle 43">
            <a:extLst>
              <a:ext uri="{FF2B5EF4-FFF2-40B4-BE49-F238E27FC236}">
                <a16:creationId xmlns:a16="http://schemas.microsoft.com/office/drawing/2014/main" id="{B7F2FC02-9D53-0B22-986F-1C5C5AD2A0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5" y="5160963"/>
            <a:ext cx="2012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1"/>
                </a:solidFill>
              </a:rPr>
              <a:t>叫法向加速度</a:t>
            </a:r>
          </a:p>
        </p:txBody>
      </p:sp>
      <p:graphicFrame>
        <p:nvGraphicFramePr>
          <p:cNvPr id="20524" name="Object 44">
            <a:extLst>
              <a:ext uri="{FF2B5EF4-FFF2-40B4-BE49-F238E27FC236}">
                <a16:creationId xmlns:a16="http://schemas.microsoft.com/office/drawing/2014/main" id="{1E5F5FE2-7D0B-7F2D-DA33-A786039EB5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10150" y="5226050"/>
          <a:ext cx="330200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4" imgW="312490" imgH="403920" progId="Equation.3">
                  <p:embed/>
                </p:oleObj>
              </mc:Choice>
              <mc:Fallback>
                <p:oleObj name="公式" r:id="rId44" imgW="312490" imgH="403920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0150" y="5226050"/>
                        <a:ext cx="330200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5" name="Object 45">
            <a:extLst>
              <a:ext uri="{FF2B5EF4-FFF2-40B4-BE49-F238E27FC236}">
                <a16:creationId xmlns:a16="http://schemas.microsoft.com/office/drawing/2014/main" id="{FFE2F511-AB17-56BD-2F66-69CB3E88C0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03425" y="6091238"/>
          <a:ext cx="30003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6" imgW="2956551" imgH="396144" progId="Equation.3">
                  <p:embed/>
                </p:oleObj>
              </mc:Choice>
              <mc:Fallback>
                <p:oleObj name="公式" r:id="rId46" imgW="2956551" imgH="396144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3425" y="6091238"/>
                        <a:ext cx="300037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26" name="Text Box 46">
            <a:extLst>
              <a:ext uri="{FF2B5EF4-FFF2-40B4-BE49-F238E27FC236}">
                <a16:creationId xmlns:a16="http://schemas.microsoft.com/office/drawing/2014/main" id="{925ACBBD-34B3-BAB7-5A70-EF47AE6358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7775" y="2487613"/>
            <a:ext cx="301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000" b="1">
                <a:solidFill>
                  <a:srgbClr val="66FF33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</a:t>
            </a:r>
          </a:p>
        </p:txBody>
      </p:sp>
      <p:sp>
        <p:nvSpPr>
          <p:cNvPr id="20527" name="Line 47">
            <a:extLst>
              <a:ext uri="{FF2B5EF4-FFF2-40B4-BE49-F238E27FC236}">
                <a16:creationId xmlns:a16="http://schemas.microsoft.com/office/drawing/2014/main" id="{5BA87FAD-E97E-4448-5445-B4AA3860C5E7}"/>
              </a:ext>
            </a:extLst>
          </p:cNvPr>
          <p:cNvSpPr>
            <a:spLocks noChangeShapeType="1"/>
          </p:cNvSpPr>
          <p:nvPr/>
        </p:nvSpPr>
        <p:spPr bwMode="auto">
          <a:xfrm rot="983871" flipV="1">
            <a:off x="6524625" y="2282825"/>
            <a:ext cx="677863" cy="539750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28" name="Text Box 48">
            <a:extLst>
              <a:ext uri="{FF2B5EF4-FFF2-40B4-BE49-F238E27FC236}">
                <a16:creationId xmlns:a16="http://schemas.microsoft.com/office/drawing/2014/main" id="{AE3D7C1D-F23F-A5AF-014D-A928F7DB82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2988" y="2713038"/>
            <a:ext cx="301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000" b="1">
                <a:solidFill>
                  <a:srgbClr val="FFFF66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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4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4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0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0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0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20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04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04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05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05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0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0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0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20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0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1000"/>
                                        <p:tgtEl>
                                          <p:spTgt spid="20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0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0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0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1000"/>
                                        <p:tgtEl>
                                          <p:spTgt spid="20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1000"/>
                                        <p:tgtEl>
                                          <p:spTgt spid="20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0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1000"/>
                                        <p:tgtEl>
                                          <p:spTgt spid="20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1000"/>
                                        <p:tgtEl>
                                          <p:spTgt spid="20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1000"/>
                                        <p:tgtEl>
                                          <p:spTgt spid="20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1000"/>
                                        <p:tgtEl>
                                          <p:spTgt spid="20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1000"/>
                                        <p:tgtEl>
                                          <p:spTgt spid="20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20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9" dur="1000"/>
                                        <p:tgtEl>
                                          <p:spTgt spid="20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1000"/>
                                        <p:tgtEl>
                                          <p:spTgt spid="20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6" dur="1000"/>
                                        <p:tgtEl>
                                          <p:spTgt spid="20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1000"/>
                                        <p:tgtEl>
                                          <p:spTgt spid="20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1000"/>
                                        <p:tgtEl>
                                          <p:spTgt spid="20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205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205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20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20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 nodeType="clickPar">
                      <p:stCondLst>
                        <p:cond delay="indefinite"/>
                      </p:stCondLst>
                      <p:childTnLst>
                        <p:par>
                          <p:cTn id="1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3" dur="5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 nodeType="clickPar">
                      <p:stCondLst>
                        <p:cond delay="indefinite"/>
                      </p:stCondLst>
                      <p:childTnLst>
                        <p:par>
                          <p:cTn id="1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2" dur="2000"/>
                                        <p:tgtEl>
                                          <p:spTgt spid="20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0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6" dur="500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90" grpId="0" autoUpdateAnimBg="0"/>
      <p:bldP spid="20492" grpId="0" autoUpdateAnimBg="0"/>
      <p:bldP spid="20495" grpId="0" autoUpdateAnimBg="0"/>
      <p:bldP spid="20496" grpId="0" autoUpdateAnimBg="0"/>
      <p:bldP spid="20498" grpId="0" autoUpdateAnimBg="0"/>
      <p:bldP spid="20519" grpId="0"/>
      <p:bldP spid="20520" grpId="0"/>
      <p:bldP spid="20523" grpId="0"/>
      <p:bldP spid="20526" grpId="0"/>
      <p:bldP spid="2052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6" name="Object 2">
            <a:extLst>
              <a:ext uri="{FF2B5EF4-FFF2-40B4-BE49-F238E27FC236}">
                <a16:creationId xmlns:a16="http://schemas.microsoft.com/office/drawing/2014/main" id="{6F0E078E-646A-0403-0D6D-08AD48B836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8888" y="447675"/>
          <a:ext cx="1222375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96365" imgH="289656" progId="Equation.3">
                  <p:embed/>
                </p:oleObj>
              </mc:Choice>
              <mc:Fallback>
                <p:oleObj name="公式" r:id="rId2" imgW="1196365" imgH="289656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447675"/>
                        <a:ext cx="1222375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7" name="Object 3">
            <a:extLst>
              <a:ext uri="{FF2B5EF4-FFF2-40B4-BE49-F238E27FC236}">
                <a16:creationId xmlns:a16="http://schemas.microsoft.com/office/drawing/2014/main" id="{1982E8A3-D7A1-E3D6-B1AA-5D94F41BA8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1463" y="1671638"/>
          <a:ext cx="1598612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562017" imgH="320112" progId="Equation.3">
                  <p:embed/>
                </p:oleObj>
              </mc:Choice>
              <mc:Fallback>
                <p:oleObj name="公式" r:id="rId4" imgW="1562017" imgH="320112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1463" y="1671638"/>
                        <a:ext cx="1598612" cy="344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8" name="Object 4">
            <a:extLst>
              <a:ext uri="{FF2B5EF4-FFF2-40B4-BE49-F238E27FC236}">
                <a16:creationId xmlns:a16="http://schemas.microsoft.com/office/drawing/2014/main" id="{0D4CFCF0-41C2-E961-3610-85DDE2E708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1000125"/>
          <a:ext cx="2419350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385166" imgH="434376" progId="Equation.3">
                  <p:embed/>
                </p:oleObj>
              </mc:Choice>
              <mc:Fallback>
                <p:oleObj name="公式" r:id="rId6" imgW="2385166" imgH="434376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1000125"/>
                        <a:ext cx="2419350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9" name="Object 5">
            <a:extLst>
              <a:ext uri="{FF2B5EF4-FFF2-40B4-BE49-F238E27FC236}">
                <a16:creationId xmlns:a16="http://schemas.microsoft.com/office/drawing/2014/main" id="{5D25BBE0-4663-703F-10C5-4DAD96970E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03800" y="1023938"/>
          <a:ext cx="1082675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051574" imgH="320112" progId="Equation.3">
                  <p:embed/>
                </p:oleObj>
              </mc:Choice>
              <mc:Fallback>
                <p:oleObj name="公式" r:id="rId8" imgW="1051574" imgH="320112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1023938"/>
                        <a:ext cx="1082675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Object 6">
            <a:extLst>
              <a:ext uri="{FF2B5EF4-FFF2-40B4-BE49-F238E27FC236}">
                <a16:creationId xmlns:a16="http://schemas.microsoft.com/office/drawing/2014/main" id="{1671F740-7914-D4F6-06BF-CABA156329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79838" y="1023938"/>
          <a:ext cx="869950" cy="29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845840" imgH="274320" progId="Equation.3">
                  <p:embed/>
                </p:oleObj>
              </mc:Choice>
              <mc:Fallback>
                <p:oleObj name="公式" r:id="rId10" imgW="845840" imgH="27432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1023938"/>
                        <a:ext cx="869950" cy="29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1" name="Text Box 7">
            <a:extLst>
              <a:ext uri="{FF2B5EF4-FFF2-40B4-BE49-F238E27FC236}">
                <a16:creationId xmlns:a16="http://schemas.microsoft.com/office/drawing/2014/main" id="{FE49EBD5-4234-5CCB-7461-46A4C5CF41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376238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chemeClr val="bg1"/>
                </a:solidFill>
              </a:rPr>
              <a:t>当</a:t>
            </a:r>
          </a:p>
        </p:txBody>
      </p:sp>
      <p:sp>
        <p:nvSpPr>
          <p:cNvPr id="21512" name="Rectangle 8">
            <a:extLst>
              <a:ext uri="{FF2B5EF4-FFF2-40B4-BE49-F238E27FC236}">
                <a16:creationId xmlns:a16="http://schemas.microsoft.com/office/drawing/2014/main" id="{BDEDDE22-6E82-A9D5-B03D-39EF8B0E93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0438" y="395288"/>
            <a:ext cx="5762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/>
              <a:t> </a:t>
            </a:r>
            <a:r>
              <a:rPr lang="zh-CN" altLang="en-US" sz="2400" b="1">
                <a:solidFill>
                  <a:schemeClr val="bg1"/>
                </a:solidFill>
              </a:rPr>
              <a:t>时</a:t>
            </a:r>
          </a:p>
        </p:txBody>
      </p:sp>
      <p:sp>
        <p:nvSpPr>
          <p:cNvPr id="21513" name="Text Box 9">
            <a:extLst>
              <a:ext uri="{FF2B5EF4-FFF2-40B4-BE49-F238E27FC236}">
                <a16:creationId xmlns:a16="http://schemas.microsoft.com/office/drawing/2014/main" id="{0DFE9696-49CD-5874-763A-F21AAAD9C7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3438" y="2328863"/>
            <a:ext cx="796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chemeClr val="bg1"/>
                </a:solidFill>
              </a:rPr>
              <a:t>因而</a:t>
            </a:r>
          </a:p>
        </p:txBody>
      </p:sp>
      <p:graphicFrame>
        <p:nvGraphicFramePr>
          <p:cNvPr id="21514" name="Object 10">
            <a:extLst>
              <a:ext uri="{FF2B5EF4-FFF2-40B4-BE49-F238E27FC236}">
                <a16:creationId xmlns:a16="http://schemas.microsoft.com/office/drawing/2014/main" id="{510065E9-8562-BAEE-2F0B-549006DC8E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46500" y="2176463"/>
          <a:ext cx="46291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4617761" imgH="807624" progId="Equation.3">
                  <p:embed/>
                </p:oleObj>
              </mc:Choice>
              <mc:Fallback>
                <p:oleObj name="公式" r:id="rId12" imgW="4617761" imgH="807624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6500" y="2176463"/>
                        <a:ext cx="462915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5" name="Object 11">
            <a:extLst>
              <a:ext uri="{FF2B5EF4-FFF2-40B4-BE49-F238E27FC236}">
                <a16:creationId xmlns:a16="http://schemas.microsoft.com/office/drawing/2014/main" id="{F9143F0A-A170-DCC0-8CFD-E70EBF882D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27200" y="2144713"/>
          <a:ext cx="1912938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889850" imgH="807624" progId="Equation.3">
                  <p:embed/>
                </p:oleObj>
              </mc:Choice>
              <mc:Fallback>
                <p:oleObj name="公式" r:id="rId14" imgW="1889850" imgH="807624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7200" y="2144713"/>
                        <a:ext cx="1912938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6" name="Object 12">
            <a:extLst>
              <a:ext uri="{FF2B5EF4-FFF2-40B4-BE49-F238E27FC236}">
                <a16:creationId xmlns:a16="http://schemas.microsoft.com/office/drawing/2014/main" id="{749C87C0-44F9-D2C0-A03B-5E3A42EF40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66875" y="3184525"/>
          <a:ext cx="3678238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3642256" imgH="853416" progId="Equation.3">
                  <p:embed/>
                </p:oleObj>
              </mc:Choice>
              <mc:Fallback>
                <p:oleObj name="公式" r:id="rId16" imgW="3642256" imgH="853416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6875" y="3184525"/>
                        <a:ext cx="3678238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7" name="Rectangle 13">
            <a:extLst>
              <a:ext uri="{FF2B5EF4-FFF2-40B4-BE49-F238E27FC236}">
                <a16:creationId xmlns:a16="http://schemas.microsoft.com/office/drawing/2014/main" id="{AFAFF9CE-CC5F-895A-19E6-8A230F747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4337050"/>
            <a:ext cx="3384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66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法向加速度：  </a:t>
            </a:r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</a:rPr>
              <a:t>大小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为</a:t>
            </a:r>
          </a:p>
        </p:txBody>
      </p:sp>
      <p:graphicFrame>
        <p:nvGraphicFramePr>
          <p:cNvPr id="21518" name="Object 14">
            <a:extLst>
              <a:ext uri="{FF2B5EF4-FFF2-40B4-BE49-F238E27FC236}">
                <a16:creationId xmlns:a16="http://schemas.microsoft.com/office/drawing/2014/main" id="{52DF17F3-3E0E-4E6F-E78A-0F837E93AC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95738" y="4121150"/>
          <a:ext cx="407987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388559" imgH="853416" progId="Equation.3">
                  <p:embed/>
                </p:oleObj>
              </mc:Choice>
              <mc:Fallback>
                <p:oleObj name="公式" r:id="rId18" imgW="388559" imgH="853416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4121150"/>
                        <a:ext cx="407987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9" name="Text Box 15">
            <a:extLst>
              <a:ext uri="{FF2B5EF4-FFF2-40B4-BE49-F238E27FC236}">
                <a16:creationId xmlns:a16="http://schemas.microsoft.com/office/drawing/2014/main" id="{01346913-80FE-9AB6-F488-0095819FF4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9700" y="4337050"/>
            <a:ext cx="1223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</a:rPr>
              <a:t>方向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为</a:t>
            </a:r>
            <a:endParaRPr kumimoji="1" lang="zh-CN" altLang="en-US" sz="2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1520" name="Object 16">
            <a:extLst>
              <a:ext uri="{FF2B5EF4-FFF2-40B4-BE49-F238E27FC236}">
                <a16:creationId xmlns:a16="http://schemas.microsoft.com/office/drawing/2014/main" id="{38977CCA-BF19-08BE-CC6E-94901C7106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78575" y="4462463"/>
          <a:ext cx="225425" cy="277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205733" imgH="251424" progId="Equation.3">
                  <p:embed/>
                </p:oleObj>
              </mc:Choice>
              <mc:Fallback>
                <p:oleObj name="公式" r:id="rId20" imgW="205733" imgH="251424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8575" y="4462463"/>
                        <a:ext cx="225425" cy="277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21" name="Text Box 17">
            <a:extLst>
              <a:ext uri="{FF2B5EF4-FFF2-40B4-BE49-F238E27FC236}">
                <a16:creationId xmlns:a16="http://schemas.microsoft.com/office/drawing/2014/main" id="{34BB1FC9-498D-8F47-4050-B9F76019DE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8888" y="5070475"/>
            <a:ext cx="358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反映速度方向变化的快慢</a:t>
            </a:r>
          </a:p>
        </p:txBody>
      </p:sp>
      <p:sp>
        <p:nvSpPr>
          <p:cNvPr id="21522" name="Text Box 18">
            <a:extLst>
              <a:ext uri="{FF2B5EF4-FFF2-40B4-BE49-F238E27FC236}">
                <a16:creationId xmlns:a16="http://schemas.microsoft.com/office/drawing/2014/main" id="{4362113E-EE98-0ECE-38A3-12F0B49266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9713" y="5070475"/>
            <a:ext cx="13604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</a:rPr>
              <a:t>意义：</a:t>
            </a:r>
          </a:p>
        </p:txBody>
      </p:sp>
      <p:sp>
        <p:nvSpPr>
          <p:cNvPr id="21523" name="Rectangle 19">
            <a:extLst>
              <a:ext uri="{FF2B5EF4-FFF2-40B4-BE49-F238E27FC236}">
                <a16:creationId xmlns:a16="http://schemas.microsoft.com/office/drawing/2014/main" id="{39599B12-393E-C7A5-1CEC-F8726418E9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5822950"/>
            <a:ext cx="1152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66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加速度</a:t>
            </a:r>
          </a:p>
        </p:txBody>
      </p:sp>
      <p:graphicFrame>
        <p:nvGraphicFramePr>
          <p:cNvPr id="21524" name="Object 20">
            <a:extLst>
              <a:ext uri="{FF2B5EF4-FFF2-40B4-BE49-F238E27FC236}">
                <a16:creationId xmlns:a16="http://schemas.microsoft.com/office/drawing/2014/main" id="{68840BC5-D775-9967-0482-506D0FED36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46313" y="5586413"/>
          <a:ext cx="5948362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908300" imgH="444500" progId="Equation.DSMT4">
                  <p:embed/>
                </p:oleObj>
              </mc:Choice>
              <mc:Fallback>
                <p:oleObj name="Equation" r:id="rId22" imgW="2908300" imgH="4445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6313" y="5586413"/>
                        <a:ext cx="5948362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25" name="AutoShape 21">
            <a:extLst>
              <a:ext uri="{FF2B5EF4-FFF2-40B4-BE49-F238E27FC236}">
                <a16:creationId xmlns:a16="http://schemas.microsoft.com/office/drawing/2014/main" id="{BB547694-B465-253A-28A6-3494CF3DB3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2950" y="3400425"/>
            <a:ext cx="1225550" cy="415925"/>
          </a:xfrm>
          <a:prstGeom prst="wedgeRectCallout">
            <a:avLst>
              <a:gd name="adj1" fmla="val 11449"/>
              <a:gd name="adj2" fmla="val -162000"/>
            </a:avLst>
          </a:prstGeom>
          <a:solidFill>
            <a:srgbClr val="3333CC">
              <a:alpha val="14117"/>
            </a:srgbClr>
          </a:solidFill>
          <a:ln w="19050">
            <a:solidFill>
              <a:srgbClr val="66FFFF">
                <a:alpha val="32156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chemeClr val="bg1"/>
                </a:solidFill>
                <a:ea typeface="楷体_GB2312" panose="02010609030101010101" pitchFamily="49" charset="-122"/>
              </a:rPr>
              <a:t>曲率半径</a:t>
            </a:r>
          </a:p>
        </p:txBody>
      </p:sp>
      <p:grpSp>
        <p:nvGrpSpPr>
          <p:cNvPr id="21526" name="Group 22">
            <a:extLst>
              <a:ext uri="{FF2B5EF4-FFF2-40B4-BE49-F238E27FC236}">
                <a16:creationId xmlns:a16="http://schemas.microsoft.com/office/drawing/2014/main" id="{65D78FC5-982A-728A-AC68-8D5502FEFEF8}"/>
              </a:ext>
            </a:extLst>
          </p:cNvPr>
          <p:cNvGrpSpPr>
            <a:grpSpLocks/>
          </p:cNvGrpSpPr>
          <p:nvPr/>
        </p:nvGrpSpPr>
        <p:grpSpPr bwMode="auto">
          <a:xfrm>
            <a:off x="6732588" y="465138"/>
            <a:ext cx="1519237" cy="1495425"/>
            <a:chOff x="4241" y="311"/>
            <a:chExt cx="957" cy="942"/>
          </a:xfrm>
        </p:grpSpPr>
        <p:sp>
          <p:nvSpPr>
            <p:cNvPr id="44055" name="Line 23">
              <a:extLst>
                <a:ext uri="{FF2B5EF4-FFF2-40B4-BE49-F238E27FC236}">
                  <a16:creationId xmlns:a16="http://schemas.microsoft.com/office/drawing/2014/main" id="{3F3361D5-5FFE-1D39-0C0B-6B8A41720AA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4059142">
              <a:off x="4694" y="633"/>
              <a:ext cx="441" cy="306"/>
            </a:xfrm>
            <a:prstGeom prst="line">
              <a:avLst/>
            </a:prstGeom>
            <a:noFill/>
            <a:ln w="28575">
              <a:solidFill>
                <a:srgbClr val="66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4056" name="Object 24">
              <a:extLst>
                <a:ext uri="{FF2B5EF4-FFF2-40B4-BE49-F238E27FC236}">
                  <a16:creationId xmlns:a16="http://schemas.microsoft.com/office/drawing/2014/main" id="{DDA110C7-13B2-7A8A-E561-827DB69A47A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53" y="311"/>
            <a:ext cx="306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4" imgW="586729" imgH="396144" progId="Equation.3">
                    <p:embed/>
                  </p:oleObj>
                </mc:Choice>
                <mc:Fallback>
                  <p:oleObj name="公式" r:id="rId24" imgW="586729" imgH="396144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53" y="311"/>
                          <a:ext cx="306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57" name="Object 25">
              <a:extLst>
                <a:ext uri="{FF2B5EF4-FFF2-40B4-BE49-F238E27FC236}">
                  <a16:creationId xmlns:a16="http://schemas.microsoft.com/office/drawing/2014/main" id="{9212A62A-7350-5CD1-154E-6E3DFC90ED1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41" y="1042"/>
            <a:ext cx="639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6" imgW="1241963" imgH="396144" progId="Equation.3">
                    <p:embed/>
                  </p:oleObj>
                </mc:Choice>
                <mc:Fallback>
                  <p:oleObj name="公式" r:id="rId26" imgW="1241963" imgH="396144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1" y="1042"/>
                          <a:ext cx="639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58" name="Object 26">
              <a:extLst>
                <a:ext uri="{FF2B5EF4-FFF2-40B4-BE49-F238E27FC236}">
                  <a16:creationId xmlns:a16="http://schemas.microsoft.com/office/drawing/2014/main" id="{AF42BA07-5EE1-0589-64F8-4D23B35A693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42" y="715"/>
            <a:ext cx="256" cy="1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8" imgW="479972" imgH="312336" progId="Equation.3">
                    <p:embed/>
                  </p:oleObj>
                </mc:Choice>
                <mc:Fallback>
                  <p:oleObj name="公式" r:id="rId28" imgW="479972" imgH="312336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2" y="715"/>
                          <a:ext cx="256" cy="1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59" name="Object 27">
              <a:extLst>
                <a:ext uri="{FF2B5EF4-FFF2-40B4-BE49-F238E27FC236}">
                  <a16:creationId xmlns:a16="http://schemas.microsoft.com/office/drawing/2014/main" id="{F7411C6B-DE90-896B-B75E-755EF1EB8B1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10" y="636"/>
            <a:ext cx="249" cy="1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0" imgW="472408" imgH="274320" progId="Equation.3">
                    <p:embed/>
                  </p:oleObj>
                </mc:Choice>
                <mc:Fallback>
                  <p:oleObj name="公式" r:id="rId30" imgW="472408" imgH="274320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10" y="636"/>
                          <a:ext cx="249" cy="1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60" name="Line 28">
              <a:extLst>
                <a:ext uri="{FF2B5EF4-FFF2-40B4-BE49-F238E27FC236}">
                  <a16:creationId xmlns:a16="http://schemas.microsoft.com/office/drawing/2014/main" id="{16F6B3BD-757E-76CD-77CB-F5DB808A4CA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983871" flipV="1">
              <a:off x="4469" y="444"/>
              <a:ext cx="481" cy="300"/>
            </a:xfrm>
            <a:prstGeom prst="line">
              <a:avLst/>
            </a:prstGeom>
            <a:noFill/>
            <a:ln w="38100">
              <a:solidFill>
                <a:srgbClr val="66FF33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61" name="Line 29">
              <a:extLst>
                <a:ext uri="{FF2B5EF4-FFF2-40B4-BE49-F238E27FC236}">
                  <a16:creationId xmlns:a16="http://schemas.microsoft.com/office/drawing/2014/main" id="{0C5E8E01-1964-3014-F7C3-FEAF7DF22EE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4375276" flipV="1">
              <a:off x="4418" y="720"/>
              <a:ext cx="480" cy="288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62" name="Arc 30">
              <a:extLst>
                <a:ext uri="{FF2B5EF4-FFF2-40B4-BE49-F238E27FC236}">
                  <a16:creationId xmlns:a16="http://schemas.microsoft.com/office/drawing/2014/main" id="{957AB5E6-31E3-0D15-9553-DEB0EA55C8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0" y="639"/>
              <a:ext cx="93" cy="122"/>
            </a:xfrm>
            <a:custGeom>
              <a:avLst/>
              <a:gdLst>
                <a:gd name="T0" fmla="*/ 0 w 21600"/>
                <a:gd name="T1" fmla="*/ 0 h 19448"/>
                <a:gd name="T2" fmla="*/ 0 w 21600"/>
                <a:gd name="T3" fmla="*/ 0 h 19448"/>
                <a:gd name="T4" fmla="*/ 0 w 21600"/>
                <a:gd name="T5" fmla="*/ 0 h 194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19448" fill="none" extrusionOk="0">
                  <a:moveTo>
                    <a:pt x="21330" y="0"/>
                  </a:moveTo>
                  <a:cubicBezTo>
                    <a:pt x="21509" y="1124"/>
                    <a:pt x="21600" y="2261"/>
                    <a:pt x="21600" y="3400"/>
                  </a:cubicBezTo>
                  <a:cubicBezTo>
                    <a:pt x="21600" y="9519"/>
                    <a:pt x="19004" y="15351"/>
                    <a:pt x="14457" y="19447"/>
                  </a:cubicBezTo>
                </a:path>
                <a:path w="21600" h="19448" stroke="0" extrusionOk="0">
                  <a:moveTo>
                    <a:pt x="21330" y="0"/>
                  </a:moveTo>
                  <a:cubicBezTo>
                    <a:pt x="21509" y="1124"/>
                    <a:pt x="21600" y="2261"/>
                    <a:pt x="21600" y="3400"/>
                  </a:cubicBezTo>
                  <a:cubicBezTo>
                    <a:pt x="21600" y="9519"/>
                    <a:pt x="19004" y="15351"/>
                    <a:pt x="14457" y="19447"/>
                  </a:cubicBezTo>
                  <a:lnTo>
                    <a:pt x="0" y="3400"/>
                  </a:lnTo>
                  <a:lnTo>
                    <a:pt x="21330" y="0"/>
                  </a:lnTo>
                  <a:close/>
                </a:path>
              </a:pathLst>
            </a:cu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15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5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21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1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1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1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1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1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1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1" grpId="0"/>
      <p:bldP spid="21512" grpId="0"/>
      <p:bldP spid="21513" grpId="0"/>
      <p:bldP spid="21517" grpId="0"/>
      <p:bldP spid="21519" grpId="0" autoUpdateAnimBg="0"/>
      <p:bldP spid="21521" grpId="0" autoUpdateAnimBg="0"/>
      <p:bldP spid="21522" grpId="0" autoUpdateAnimBg="0"/>
      <p:bldP spid="21523" grpId="0"/>
      <p:bldP spid="2152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reeform 2">
            <a:extLst>
              <a:ext uri="{FF2B5EF4-FFF2-40B4-BE49-F238E27FC236}">
                <a16:creationId xmlns:a16="http://schemas.microsoft.com/office/drawing/2014/main" id="{82F27A72-0BCD-BCCE-330B-8B3AA6C86C8E}"/>
              </a:ext>
            </a:extLst>
          </p:cNvPr>
          <p:cNvSpPr>
            <a:spLocks/>
          </p:cNvSpPr>
          <p:nvPr/>
        </p:nvSpPr>
        <p:spPr bwMode="auto">
          <a:xfrm>
            <a:off x="5475288" y="3128963"/>
            <a:ext cx="2228850" cy="1147762"/>
          </a:xfrm>
          <a:custGeom>
            <a:avLst/>
            <a:gdLst>
              <a:gd name="T0" fmla="*/ 0 w 1404"/>
              <a:gd name="T1" fmla="*/ 2147483646 h 723"/>
              <a:gd name="T2" fmla="*/ 2147483646 w 1404"/>
              <a:gd name="T3" fmla="*/ 2147483646 h 723"/>
              <a:gd name="T4" fmla="*/ 2147483646 w 1404"/>
              <a:gd name="T5" fmla="*/ 2147483646 h 723"/>
              <a:gd name="T6" fmla="*/ 2147483646 w 1404"/>
              <a:gd name="T7" fmla="*/ 2147483646 h 723"/>
              <a:gd name="T8" fmla="*/ 2147483646 w 1404"/>
              <a:gd name="T9" fmla="*/ 2147483646 h 7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04" h="723">
                <a:moveTo>
                  <a:pt x="0" y="723"/>
                </a:moveTo>
                <a:cubicBezTo>
                  <a:pt x="53" y="648"/>
                  <a:pt x="206" y="390"/>
                  <a:pt x="312" y="276"/>
                </a:cubicBezTo>
                <a:cubicBezTo>
                  <a:pt x="418" y="162"/>
                  <a:pt x="519" y="82"/>
                  <a:pt x="639" y="41"/>
                </a:cubicBezTo>
                <a:cubicBezTo>
                  <a:pt x="759" y="0"/>
                  <a:pt x="904" y="8"/>
                  <a:pt x="1031" y="29"/>
                </a:cubicBezTo>
                <a:cubicBezTo>
                  <a:pt x="1158" y="50"/>
                  <a:pt x="1326" y="137"/>
                  <a:pt x="1404" y="165"/>
                </a:cubicBezTo>
              </a:path>
            </a:pathLst>
          </a:custGeom>
          <a:noFill/>
          <a:ln w="38100" cmpd="sng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1FA9FEDA-7836-B8BB-AA13-3DD515E648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319088"/>
            <a:ext cx="9017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FFFF00"/>
                </a:solidFill>
                <a:latin typeface="Times New Roman" panose="02020603050405020304" pitchFamily="18" charset="0"/>
              </a:rPr>
              <a:t>讨论</a:t>
            </a:r>
            <a:endParaRPr kumimoji="1" lang="zh-CN" altLang="en-US" sz="2400" b="1">
              <a:solidFill>
                <a:srgbClr val="FFFF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45060" name="Rectangle 4">
            <a:extLst>
              <a:ext uri="{FF2B5EF4-FFF2-40B4-BE49-F238E27FC236}">
                <a16:creationId xmlns:a16="http://schemas.microsoft.com/office/drawing/2014/main" id="{37D79146-119C-FC8A-F8B9-B6916AB41E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888" y="817563"/>
            <a:ext cx="2032000" cy="639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在一般情况下</a:t>
            </a:r>
            <a:br>
              <a:rPr kumimoji="1" lang="zh-CN" altLang="en-US" sz="2400" b="1">
                <a:solidFill>
                  <a:srgbClr val="FFFFCC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</a:br>
            <a:endParaRPr kumimoji="1" lang="zh-CN" altLang="en-US" sz="1200" b="1">
              <a:solidFill>
                <a:srgbClr val="FFFFCC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graphicFrame>
        <p:nvGraphicFramePr>
          <p:cNvPr id="45061" name="Object 5">
            <a:extLst>
              <a:ext uri="{FF2B5EF4-FFF2-40B4-BE49-F238E27FC236}">
                <a16:creationId xmlns:a16="http://schemas.microsoft.com/office/drawing/2014/main" id="{F7011439-E967-0234-1840-662E7A3D86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09888" y="620713"/>
          <a:ext cx="5540375" cy="95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5615956" imgH="929664" progId="Equation.3">
                  <p:embed/>
                </p:oleObj>
              </mc:Choice>
              <mc:Fallback>
                <p:oleObj name="公式" r:id="rId3" imgW="5615956" imgH="929664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9888" y="620713"/>
                        <a:ext cx="5540375" cy="954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2" name="Rectangle 6">
            <a:extLst>
              <a:ext uri="{FF2B5EF4-FFF2-40B4-BE49-F238E27FC236}">
                <a16:creationId xmlns:a16="http://schemas.microsoft.com/office/drawing/2014/main" id="{6F2093D2-5664-464D-3221-A167666676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0" y="1595438"/>
            <a:ext cx="2892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其中</a:t>
            </a:r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  <a:ea typeface="楷体_GB2312" panose="02010609030101010101" pitchFamily="49" charset="-122"/>
                <a:sym typeface="Symbol" panose="05050102010706020507" pitchFamily="18" charset="2"/>
              </a:rPr>
              <a:t> 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楷体_GB2312" panose="02010609030101010101" pitchFamily="49" charset="-122"/>
                <a:sym typeface="Symbol" panose="05050102010706020507" pitchFamily="18" charset="2"/>
              </a:rPr>
              <a:t>为曲率半径，</a:t>
            </a:r>
            <a:endParaRPr kumimoji="1" lang="zh-CN" altLang="en-US" sz="1200" b="1">
              <a:solidFill>
                <a:srgbClr val="FFFFCC"/>
              </a:solidFill>
              <a:latin typeface="Times New Roman" panose="02020603050405020304" pitchFamily="18" charset="0"/>
              <a:ea typeface="楷体_GB2312" panose="0201060903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23559" name="Rectangle 7">
            <a:extLst>
              <a:ext uri="{FF2B5EF4-FFF2-40B4-BE49-F238E27FC236}">
                <a16:creationId xmlns:a16="http://schemas.microsoft.com/office/drawing/2014/main" id="{177C66E7-5AC7-0678-14B7-BABA1AFA0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0" y="2036763"/>
            <a:ext cx="76200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楷体_GB2312" panose="02010609030101010101" pitchFamily="49" charset="-122"/>
                <a:sym typeface="Symbol" panose="05050102010706020507" pitchFamily="18" charset="2"/>
              </a:rPr>
              <a:t>引入曲率圆后，整条曲线就可看成是由许多不同曲率半径的圆弧所构成</a:t>
            </a:r>
            <a:endParaRPr kumimoji="1" lang="zh-CN" altLang="en-US" sz="1200" b="1">
              <a:solidFill>
                <a:schemeClr val="bg1"/>
              </a:solidFill>
              <a:latin typeface="Times New Roman" panose="02020603050405020304" pitchFamily="18" charset="0"/>
              <a:ea typeface="楷体_GB2312" panose="02010609030101010101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23560" name="Object 8">
            <a:extLst>
              <a:ext uri="{FF2B5EF4-FFF2-40B4-BE49-F238E27FC236}">
                <a16:creationId xmlns:a16="http://schemas.microsoft.com/office/drawing/2014/main" id="{2CBF94C1-E34B-CD4B-047E-1820B7BDFF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00375" y="4868863"/>
          <a:ext cx="3730625" cy="91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3733886" imgH="891648" progId="Equation.3">
                  <p:embed/>
                </p:oleObj>
              </mc:Choice>
              <mc:Fallback>
                <p:oleObj name="公式" r:id="rId5" imgW="3733886" imgH="891648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4868863"/>
                        <a:ext cx="3730625" cy="912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1" name="Arc 9">
            <a:extLst>
              <a:ext uri="{FF2B5EF4-FFF2-40B4-BE49-F238E27FC236}">
                <a16:creationId xmlns:a16="http://schemas.microsoft.com/office/drawing/2014/main" id="{383B5BC7-B5E5-AB55-D393-39B4436381AD}"/>
              </a:ext>
            </a:extLst>
          </p:cNvPr>
          <p:cNvSpPr>
            <a:spLocks/>
          </p:cNvSpPr>
          <p:nvPr/>
        </p:nvSpPr>
        <p:spPr bwMode="auto">
          <a:xfrm>
            <a:off x="1657350" y="3317875"/>
            <a:ext cx="914400" cy="914400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9525">
            <a:solidFill>
              <a:srgbClr val="0066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2" name="AutoShape 10">
            <a:extLst>
              <a:ext uri="{FF2B5EF4-FFF2-40B4-BE49-F238E27FC236}">
                <a16:creationId xmlns:a16="http://schemas.microsoft.com/office/drawing/2014/main" id="{12B8A792-A8E3-75F9-25F6-6B5E08A8E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1700" y="3155950"/>
            <a:ext cx="1630363" cy="1616075"/>
          </a:xfrm>
          <a:prstGeom prst="flowChartConnector">
            <a:avLst/>
          </a:prstGeom>
          <a:noFill/>
          <a:ln w="19050">
            <a:solidFill>
              <a:srgbClr val="66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003300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66FFFF"/>
              </a:solidFill>
            </a:endParaRPr>
          </a:p>
        </p:txBody>
      </p:sp>
      <p:sp>
        <p:nvSpPr>
          <p:cNvPr id="23563" name="Line 11">
            <a:extLst>
              <a:ext uri="{FF2B5EF4-FFF2-40B4-BE49-F238E27FC236}">
                <a16:creationId xmlns:a16="http://schemas.microsoft.com/office/drawing/2014/main" id="{A311AEC5-D01C-D202-F526-FC11191930CE}"/>
              </a:ext>
            </a:extLst>
          </p:cNvPr>
          <p:cNvSpPr>
            <a:spLocks noChangeShapeType="1"/>
          </p:cNvSpPr>
          <p:nvPr/>
        </p:nvSpPr>
        <p:spPr bwMode="auto">
          <a:xfrm>
            <a:off x="6773863" y="3143250"/>
            <a:ext cx="1417637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4" name="Line 12">
            <a:extLst>
              <a:ext uri="{FF2B5EF4-FFF2-40B4-BE49-F238E27FC236}">
                <a16:creationId xmlns:a16="http://schemas.microsoft.com/office/drawing/2014/main" id="{07A9B40C-1BA8-9B41-443C-0354B4585E9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67513" y="3197225"/>
            <a:ext cx="14287" cy="731838"/>
          </a:xfrm>
          <a:prstGeom prst="line">
            <a:avLst/>
          </a:prstGeom>
          <a:noFill/>
          <a:ln w="28575">
            <a:solidFill>
              <a:srgbClr val="FFCC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5" name="Line 13">
            <a:extLst>
              <a:ext uri="{FF2B5EF4-FFF2-40B4-BE49-F238E27FC236}">
                <a16:creationId xmlns:a16="http://schemas.microsoft.com/office/drawing/2014/main" id="{1EC5E1C2-160A-FC9A-A049-ACAB632689FA}"/>
              </a:ext>
            </a:extLst>
          </p:cNvPr>
          <p:cNvSpPr>
            <a:spLocks noChangeShapeType="1"/>
          </p:cNvSpPr>
          <p:nvPr/>
        </p:nvSpPr>
        <p:spPr bwMode="auto">
          <a:xfrm>
            <a:off x="6773863" y="3943350"/>
            <a:ext cx="1417637" cy="0"/>
          </a:xfrm>
          <a:prstGeom prst="line">
            <a:avLst/>
          </a:prstGeom>
          <a:noFill/>
          <a:ln w="9525" cap="rnd">
            <a:solidFill>
              <a:schemeClr val="bg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6" name="Line 14">
            <a:extLst>
              <a:ext uri="{FF2B5EF4-FFF2-40B4-BE49-F238E27FC236}">
                <a16:creationId xmlns:a16="http://schemas.microsoft.com/office/drawing/2014/main" id="{219467A9-5DCE-71D2-D660-7C70257544B6}"/>
              </a:ext>
            </a:extLst>
          </p:cNvPr>
          <p:cNvSpPr>
            <a:spLocks noChangeShapeType="1"/>
          </p:cNvSpPr>
          <p:nvPr/>
        </p:nvSpPr>
        <p:spPr bwMode="auto">
          <a:xfrm>
            <a:off x="8191500" y="3154363"/>
            <a:ext cx="0" cy="774700"/>
          </a:xfrm>
          <a:prstGeom prst="line">
            <a:avLst/>
          </a:prstGeom>
          <a:noFill/>
          <a:ln w="9525" cap="rnd">
            <a:solidFill>
              <a:schemeClr val="bg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7" name="Line 15">
            <a:extLst>
              <a:ext uri="{FF2B5EF4-FFF2-40B4-BE49-F238E27FC236}">
                <a16:creationId xmlns:a16="http://schemas.microsoft.com/office/drawing/2014/main" id="{4BD884F6-552D-F8FD-A446-3BB626ADAB5B}"/>
              </a:ext>
            </a:extLst>
          </p:cNvPr>
          <p:cNvSpPr>
            <a:spLocks noChangeShapeType="1"/>
          </p:cNvSpPr>
          <p:nvPr/>
        </p:nvSpPr>
        <p:spPr bwMode="auto">
          <a:xfrm>
            <a:off x="6773863" y="3190875"/>
            <a:ext cx="1417637" cy="752475"/>
          </a:xfrm>
          <a:prstGeom prst="line">
            <a:avLst/>
          </a:prstGeom>
          <a:noFill/>
          <a:ln w="28575">
            <a:solidFill>
              <a:srgbClr val="FFCC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8" name="Rectangle 16">
            <a:extLst>
              <a:ext uri="{FF2B5EF4-FFF2-40B4-BE49-F238E27FC236}">
                <a16:creationId xmlns:a16="http://schemas.microsoft.com/office/drawing/2014/main" id="{2FB5CBC8-C114-947C-8429-37D752F15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1613" y="3190875"/>
            <a:ext cx="387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000" b="1" i="1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</a:p>
        </p:txBody>
      </p:sp>
      <p:sp>
        <p:nvSpPr>
          <p:cNvPr id="23569" name="Line 17">
            <a:extLst>
              <a:ext uri="{FF2B5EF4-FFF2-40B4-BE49-F238E27FC236}">
                <a16:creationId xmlns:a16="http://schemas.microsoft.com/office/drawing/2014/main" id="{3FCFA655-687D-660F-6A0D-6AE51BBD92F7}"/>
              </a:ext>
            </a:extLst>
          </p:cNvPr>
          <p:cNvSpPr>
            <a:spLocks noChangeShapeType="1"/>
          </p:cNvSpPr>
          <p:nvPr/>
        </p:nvSpPr>
        <p:spPr bwMode="auto">
          <a:xfrm rot="3838206">
            <a:off x="6461919" y="3793331"/>
            <a:ext cx="1588" cy="771525"/>
          </a:xfrm>
          <a:prstGeom prst="line">
            <a:avLst/>
          </a:prstGeom>
          <a:noFill/>
          <a:ln w="28575">
            <a:solidFill>
              <a:srgbClr val="66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3570" name="Object 18">
            <a:extLst>
              <a:ext uri="{FF2B5EF4-FFF2-40B4-BE49-F238E27FC236}">
                <a16:creationId xmlns:a16="http://schemas.microsoft.com/office/drawing/2014/main" id="{91BDDA25-2A1E-A5F6-3FB5-5A75AE5386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80175" y="3457575"/>
          <a:ext cx="26670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312490" imgH="403920" progId="Equation.3">
                  <p:embed/>
                </p:oleObj>
              </mc:Choice>
              <mc:Fallback>
                <p:oleObj name="公式" r:id="rId7" imgW="312490" imgH="40392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0175" y="3457575"/>
                        <a:ext cx="266700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1" name="Object 19">
            <a:extLst>
              <a:ext uri="{FF2B5EF4-FFF2-40B4-BE49-F238E27FC236}">
                <a16:creationId xmlns:a16="http://schemas.microsoft.com/office/drawing/2014/main" id="{2C8BC9EA-C71E-A574-0B43-3F5400E117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93063" y="2763838"/>
          <a:ext cx="27305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320054" imgH="396144" progId="Equation.3">
                  <p:embed/>
                </p:oleObj>
              </mc:Choice>
              <mc:Fallback>
                <p:oleObj name="公式" r:id="rId9" imgW="320054" imgH="396144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93063" y="2763838"/>
                        <a:ext cx="273050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2" name="Object 20">
            <a:extLst>
              <a:ext uri="{FF2B5EF4-FFF2-40B4-BE49-F238E27FC236}">
                <a16:creationId xmlns:a16="http://schemas.microsoft.com/office/drawing/2014/main" id="{121AC852-8058-D7E9-2688-93AE203A25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64488" y="4019550"/>
          <a:ext cx="184150" cy="24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05733" imgH="281880" progId="Equation.3">
                  <p:embed/>
                </p:oleObj>
              </mc:Choice>
              <mc:Fallback>
                <p:oleObj name="Equation" r:id="rId11" imgW="205733" imgH="28188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64488" y="4019550"/>
                        <a:ext cx="184150" cy="246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3" name="Object 21">
            <a:extLst>
              <a:ext uri="{FF2B5EF4-FFF2-40B4-BE49-F238E27FC236}">
                <a16:creationId xmlns:a16="http://schemas.microsoft.com/office/drawing/2014/main" id="{78BD245A-87AD-04CF-A34F-675B5FF6E5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50100" y="2813050"/>
          <a:ext cx="184150" cy="23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205733" imgH="274320" progId="Equation.3">
                  <p:embed/>
                </p:oleObj>
              </mc:Choice>
              <mc:Fallback>
                <p:oleObj name="公式" r:id="rId13" imgW="205733" imgH="27432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0100" y="2813050"/>
                        <a:ext cx="184150" cy="234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4" name="Line 22">
            <a:extLst>
              <a:ext uri="{FF2B5EF4-FFF2-40B4-BE49-F238E27FC236}">
                <a16:creationId xmlns:a16="http://schemas.microsoft.com/office/drawing/2014/main" id="{D48CF98B-8695-9BF5-4561-61BFF5AC982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43700" y="3141663"/>
            <a:ext cx="674688" cy="11112"/>
          </a:xfrm>
          <a:prstGeom prst="line">
            <a:avLst/>
          </a:prstGeom>
          <a:noFill/>
          <a:ln w="38100">
            <a:solidFill>
              <a:srgbClr val="66FF3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3575" name="Object 23">
            <a:extLst>
              <a:ext uri="{FF2B5EF4-FFF2-40B4-BE49-F238E27FC236}">
                <a16:creationId xmlns:a16="http://schemas.microsoft.com/office/drawing/2014/main" id="{24288B0F-F2BA-5BBF-6309-3B717009DE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65888" y="4171950"/>
          <a:ext cx="223837" cy="25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251548" imgH="289656" progId="Equation.3">
                  <p:embed/>
                </p:oleObj>
              </mc:Choice>
              <mc:Fallback>
                <p:oleObj name="公式" r:id="rId15" imgW="251548" imgH="289656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5888" y="4171950"/>
                        <a:ext cx="223837" cy="255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6" name="Object 24">
            <a:extLst>
              <a:ext uri="{FF2B5EF4-FFF2-40B4-BE49-F238E27FC236}">
                <a16:creationId xmlns:a16="http://schemas.microsoft.com/office/drawing/2014/main" id="{93F1FEC5-BFF5-4074-E27A-42D13CF11B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77025" y="2800350"/>
          <a:ext cx="223838" cy="23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51548" imgH="274320" progId="Equation.3">
                  <p:embed/>
                </p:oleObj>
              </mc:Choice>
              <mc:Fallback>
                <p:oleObj name="Equation" r:id="rId17" imgW="251548" imgH="27432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7025" y="2800350"/>
                        <a:ext cx="223838" cy="233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7" name="Object 25">
            <a:extLst>
              <a:ext uri="{FF2B5EF4-FFF2-40B4-BE49-F238E27FC236}">
                <a16:creationId xmlns:a16="http://schemas.microsoft.com/office/drawing/2014/main" id="{D25CDD0B-2F8D-E32E-E7FA-3D35B464F9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76388" y="2876550"/>
          <a:ext cx="223837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51548" imgH="281880" progId="Equation.3">
                  <p:embed/>
                </p:oleObj>
              </mc:Choice>
              <mc:Fallback>
                <p:oleObj name="Equation" r:id="rId19" imgW="251548" imgH="28188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6388" y="2876550"/>
                        <a:ext cx="223837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8" name="Object 26">
            <a:extLst>
              <a:ext uri="{FF2B5EF4-FFF2-40B4-BE49-F238E27FC236}">
                <a16:creationId xmlns:a16="http://schemas.microsoft.com/office/drawing/2014/main" id="{A1FE3AD3-ADBF-7948-31C7-A55CF887A7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0" y="3606800"/>
          <a:ext cx="223838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51548" imgH="289656" progId="Equation.3">
                  <p:embed/>
                </p:oleObj>
              </mc:Choice>
              <mc:Fallback>
                <p:oleObj name="Equation" r:id="rId21" imgW="251548" imgH="289656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606800"/>
                        <a:ext cx="223838" cy="25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9" name="Oval 27">
            <a:extLst>
              <a:ext uri="{FF2B5EF4-FFF2-40B4-BE49-F238E27FC236}">
                <a16:creationId xmlns:a16="http://schemas.microsoft.com/office/drawing/2014/main" id="{E220BB72-77B1-A68C-72F4-6160D6E6A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9225" y="3240088"/>
            <a:ext cx="914400" cy="914400"/>
          </a:xfrm>
          <a:prstGeom prst="ellips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80" name="Line 28">
            <a:extLst>
              <a:ext uri="{FF2B5EF4-FFF2-40B4-BE49-F238E27FC236}">
                <a16:creationId xmlns:a16="http://schemas.microsoft.com/office/drawing/2014/main" id="{03735297-208C-7308-B3F7-91FB506CCC96}"/>
              </a:ext>
            </a:extLst>
          </p:cNvPr>
          <p:cNvSpPr>
            <a:spLocks noChangeShapeType="1"/>
          </p:cNvSpPr>
          <p:nvPr/>
        </p:nvSpPr>
        <p:spPr bwMode="auto">
          <a:xfrm rot="-2549473">
            <a:off x="4464050" y="3600450"/>
            <a:ext cx="49213" cy="844550"/>
          </a:xfrm>
          <a:prstGeom prst="line">
            <a:avLst/>
          </a:prstGeom>
          <a:noFill/>
          <a:ln w="28575">
            <a:solidFill>
              <a:srgbClr val="66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3581" name="Object 29">
            <a:extLst>
              <a:ext uri="{FF2B5EF4-FFF2-40B4-BE49-F238E27FC236}">
                <a16:creationId xmlns:a16="http://schemas.microsoft.com/office/drawing/2014/main" id="{0C0EA752-4A8A-7AA6-4850-9519DFDFEB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03688" y="4032250"/>
          <a:ext cx="284162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327617" imgH="381024" progId="Equation.3">
                  <p:embed/>
                </p:oleObj>
              </mc:Choice>
              <mc:Fallback>
                <p:oleObj name="公式" r:id="rId23" imgW="327617" imgH="381024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3688" y="4032250"/>
                        <a:ext cx="284162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82" name="Object 30">
            <a:extLst>
              <a:ext uri="{FF2B5EF4-FFF2-40B4-BE49-F238E27FC236}">
                <a16:creationId xmlns:a16="http://schemas.microsoft.com/office/drawing/2014/main" id="{6CA859CB-AE7C-45C0-29F9-59869C3D3F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48050" y="4591050"/>
          <a:ext cx="223838" cy="23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51548" imgH="274320" progId="Equation.3">
                  <p:embed/>
                </p:oleObj>
              </mc:Choice>
              <mc:Fallback>
                <p:oleObj name="Equation" r:id="rId25" imgW="251548" imgH="27432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8050" y="4591050"/>
                        <a:ext cx="223838" cy="233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87" name="Object 31">
            <a:extLst>
              <a:ext uri="{FF2B5EF4-FFF2-40B4-BE49-F238E27FC236}">
                <a16:creationId xmlns:a16="http://schemas.microsoft.com/office/drawing/2014/main" id="{0839E56C-9DDB-C7A2-F2EF-0B2A85AFED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4425" y="1670050"/>
          <a:ext cx="238125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213297" imgH="281880" progId="Equation.3">
                  <p:embed/>
                </p:oleObj>
              </mc:Choice>
              <mc:Fallback>
                <p:oleObj name="Equation" r:id="rId27" imgW="213297" imgH="28188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4425" y="1670050"/>
                        <a:ext cx="238125" cy="306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88" name="Rectangle 32">
            <a:extLst>
              <a:ext uri="{FF2B5EF4-FFF2-40B4-BE49-F238E27FC236}">
                <a16:creationId xmlns:a16="http://schemas.microsoft.com/office/drawing/2014/main" id="{D5186F4F-2CC0-B6C8-E426-E5852B95B9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1565275"/>
            <a:ext cx="3302000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楷体_GB2312" panose="02010609030101010101" pitchFamily="49" charset="-122"/>
                <a:sym typeface="Symbol" panose="05050102010706020507" pitchFamily="18" charset="2"/>
              </a:rPr>
              <a:t>的方向指向曲率圆中心</a:t>
            </a:r>
            <a:r>
              <a:rPr kumimoji="1" lang="zh-CN" altLang="en-US" sz="1200" b="1">
                <a:solidFill>
                  <a:schemeClr val="hlink"/>
                </a:solidFill>
                <a:latin typeface="Times New Roman" panose="02020603050405020304" pitchFamily="18" charset="0"/>
                <a:ea typeface="楷体_GB2312" panose="02010609030101010101" pitchFamily="49" charset="-122"/>
                <a:sym typeface="Symbol" panose="05050102010706020507" pitchFamily="18" charset="2"/>
              </a:rPr>
              <a:t> </a:t>
            </a:r>
            <a:br>
              <a:rPr kumimoji="1" lang="zh-CN" altLang="en-US" sz="1200" b="1">
                <a:solidFill>
                  <a:schemeClr val="hlink"/>
                </a:solidFill>
                <a:latin typeface="Times New Roman" panose="02020603050405020304" pitchFamily="18" charset="0"/>
                <a:ea typeface="楷体_GB2312" panose="02010609030101010101" pitchFamily="49" charset="-122"/>
                <a:sym typeface="Symbol" panose="05050102010706020507" pitchFamily="18" charset="2"/>
              </a:rPr>
            </a:br>
            <a:endParaRPr kumimoji="1" lang="zh-CN" altLang="en-US" sz="1200" b="1">
              <a:solidFill>
                <a:schemeClr val="hlink"/>
              </a:solidFill>
              <a:latin typeface="Times New Roman" panose="02020603050405020304" pitchFamily="18" charset="0"/>
              <a:ea typeface="楷体_GB2312" panose="0201060903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23585" name="Arc 33">
            <a:extLst>
              <a:ext uri="{FF2B5EF4-FFF2-40B4-BE49-F238E27FC236}">
                <a16:creationId xmlns:a16="http://schemas.microsoft.com/office/drawing/2014/main" id="{560350FF-2475-8035-5307-9B779DE989C3}"/>
              </a:ext>
            </a:extLst>
          </p:cNvPr>
          <p:cNvSpPr>
            <a:spLocks/>
          </p:cNvSpPr>
          <p:nvPr/>
        </p:nvSpPr>
        <p:spPr bwMode="auto">
          <a:xfrm rot="1538920">
            <a:off x="7558088" y="3182938"/>
            <a:ext cx="360362" cy="493712"/>
          </a:xfrm>
          <a:custGeom>
            <a:avLst/>
            <a:gdLst>
              <a:gd name="T0" fmla="*/ 2147483646 w 21600"/>
              <a:gd name="T1" fmla="*/ 0 h 21098"/>
              <a:gd name="T2" fmla="*/ 2147483646 w 21600"/>
              <a:gd name="T3" fmla="*/ 2147483646 h 21098"/>
              <a:gd name="T4" fmla="*/ 0 w 21600"/>
              <a:gd name="T5" fmla="*/ 2147483646 h 2109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098" fill="none" extrusionOk="0">
                <a:moveTo>
                  <a:pt x="4629" y="0"/>
                </a:moveTo>
                <a:cubicBezTo>
                  <a:pt x="14539" y="2174"/>
                  <a:pt x="21600" y="10952"/>
                  <a:pt x="21600" y="21098"/>
                </a:cubicBezTo>
              </a:path>
              <a:path w="21600" h="21098" stroke="0" extrusionOk="0">
                <a:moveTo>
                  <a:pt x="4629" y="0"/>
                </a:moveTo>
                <a:cubicBezTo>
                  <a:pt x="14539" y="2174"/>
                  <a:pt x="21600" y="10952"/>
                  <a:pt x="21600" y="21098"/>
                </a:cubicBezTo>
                <a:lnTo>
                  <a:pt x="0" y="21098"/>
                </a:lnTo>
                <a:lnTo>
                  <a:pt x="4629" y="0"/>
                </a:lnTo>
                <a:close/>
              </a:path>
            </a:pathLst>
          </a:cu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90" name="AutoShape 34">
            <a:extLst>
              <a:ext uri="{FF2B5EF4-FFF2-40B4-BE49-F238E27FC236}">
                <a16:creationId xmlns:a16="http://schemas.microsoft.com/office/drawing/2014/main" id="{46F42454-9656-9A57-91FA-63F321E5E1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82575"/>
            <a:ext cx="360363" cy="576263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477647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87" name="Oval 35">
            <a:extLst>
              <a:ext uri="{FF2B5EF4-FFF2-40B4-BE49-F238E27FC236}">
                <a16:creationId xmlns:a16="http://schemas.microsoft.com/office/drawing/2014/main" id="{AC8F7369-20E2-8567-AF4A-8D2962FCD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0088" y="2808288"/>
            <a:ext cx="1814512" cy="1812925"/>
          </a:xfrm>
          <a:prstGeom prst="ellips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88" name="Rectangle 36">
            <a:extLst>
              <a:ext uri="{FF2B5EF4-FFF2-40B4-BE49-F238E27FC236}">
                <a16:creationId xmlns:a16="http://schemas.microsoft.com/office/drawing/2014/main" id="{6D5AAE3A-3F08-C654-FA96-85CBA5CE16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0350" y="2836863"/>
            <a:ext cx="3270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rgbClr val="FFFF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•</a:t>
            </a:r>
            <a:endParaRPr kumimoji="1" lang="en-US" altLang="zh-CN" sz="2400" b="1">
              <a:solidFill>
                <a:srgbClr val="FFFFCC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23589" name="Freeform 37">
            <a:extLst>
              <a:ext uri="{FF2B5EF4-FFF2-40B4-BE49-F238E27FC236}">
                <a16:creationId xmlns:a16="http://schemas.microsoft.com/office/drawing/2014/main" id="{F81BAFFC-CC4E-9F58-A2E2-51251181DD86}"/>
              </a:ext>
            </a:extLst>
          </p:cNvPr>
          <p:cNvSpPr>
            <a:spLocks/>
          </p:cNvSpPr>
          <p:nvPr/>
        </p:nvSpPr>
        <p:spPr bwMode="auto">
          <a:xfrm>
            <a:off x="1108075" y="3184525"/>
            <a:ext cx="3862388" cy="1533525"/>
          </a:xfrm>
          <a:custGeom>
            <a:avLst/>
            <a:gdLst>
              <a:gd name="T0" fmla="*/ 0 w 2433"/>
              <a:gd name="T1" fmla="*/ 2147483646 h 966"/>
              <a:gd name="T2" fmla="*/ 2147483646 w 2433"/>
              <a:gd name="T3" fmla="*/ 2147483646 h 966"/>
              <a:gd name="T4" fmla="*/ 2147483646 w 2433"/>
              <a:gd name="T5" fmla="*/ 2147483646 h 966"/>
              <a:gd name="T6" fmla="*/ 2147483646 w 2433"/>
              <a:gd name="T7" fmla="*/ 2147483646 h 966"/>
              <a:gd name="T8" fmla="*/ 2147483646 w 2433"/>
              <a:gd name="T9" fmla="*/ 2147483646 h 966"/>
              <a:gd name="T10" fmla="*/ 2147483646 w 2433"/>
              <a:gd name="T11" fmla="*/ 2147483646 h 966"/>
              <a:gd name="T12" fmla="*/ 2147483646 w 2433"/>
              <a:gd name="T13" fmla="*/ 2147483646 h 966"/>
              <a:gd name="T14" fmla="*/ 2147483646 w 2433"/>
              <a:gd name="T15" fmla="*/ 2147483646 h 96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33" h="966">
                <a:moveTo>
                  <a:pt x="0" y="289"/>
                </a:moveTo>
                <a:cubicBezTo>
                  <a:pt x="39" y="261"/>
                  <a:pt x="164" y="163"/>
                  <a:pt x="233" y="118"/>
                </a:cubicBezTo>
                <a:cubicBezTo>
                  <a:pt x="302" y="73"/>
                  <a:pt x="354" y="36"/>
                  <a:pt x="411" y="22"/>
                </a:cubicBezTo>
                <a:cubicBezTo>
                  <a:pt x="468" y="8"/>
                  <a:pt x="497" y="0"/>
                  <a:pt x="576" y="34"/>
                </a:cubicBezTo>
                <a:cubicBezTo>
                  <a:pt x="655" y="68"/>
                  <a:pt x="723" y="98"/>
                  <a:pt x="888" y="229"/>
                </a:cubicBezTo>
                <a:cubicBezTo>
                  <a:pt x="1053" y="360"/>
                  <a:pt x="1370" y="698"/>
                  <a:pt x="1568" y="818"/>
                </a:cubicBezTo>
                <a:cubicBezTo>
                  <a:pt x="1766" y="938"/>
                  <a:pt x="1932" y="938"/>
                  <a:pt x="2076" y="952"/>
                </a:cubicBezTo>
                <a:cubicBezTo>
                  <a:pt x="2220" y="966"/>
                  <a:pt x="2374" y="912"/>
                  <a:pt x="2433" y="904"/>
                </a:cubicBezTo>
              </a:path>
            </a:pathLst>
          </a:custGeom>
          <a:noFill/>
          <a:ln w="38100" cmpd="sng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90" name="Text Box 38">
            <a:extLst>
              <a:ext uri="{FF2B5EF4-FFF2-40B4-BE49-F238E27FC236}">
                <a16:creationId xmlns:a16="http://schemas.microsoft.com/office/drawing/2014/main" id="{AE121170-EC41-962A-BACB-B1182345F5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3788" y="4321175"/>
            <a:ext cx="3254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rgbClr val="66FF33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</a:t>
            </a:r>
          </a:p>
        </p:txBody>
      </p:sp>
      <p:sp>
        <p:nvSpPr>
          <p:cNvPr id="23591" name="Text Box 39">
            <a:extLst>
              <a:ext uri="{FF2B5EF4-FFF2-40B4-BE49-F238E27FC236}">
                <a16:creationId xmlns:a16="http://schemas.microsoft.com/office/drawing/2014/main" id="{CC217496-0DB7-CDC3-48A3-70C4392428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675" y="2962275"/>
            <a:ext cx="3254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rgbClr val="66FF33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</a:t>
            </a:r>
          </a:p>
        </p:txBody>
      </p:sp>
      <p:sp>
        <p:nvSpPr>
          <p:cNvPr id="23592" name="Line 40">
            <a:extLst>
              <a:ext uri="{FF2B5EF4-FFF2-40B4-BE49-F238E27FC236}">
                <a16:creationId xmlns:a16="http://schemas.microsoft.com/office/drawing/2014/main" id="{A2AB6733-8CD0-6B5C-0D5F-51C48A65D38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590675" y="3357563"/>
            <a:ext cx="293688" cy="357187"/>
          </a:xfrm>
          <a:prstGeom prst="line">
            <a:avLst/>
          </a:prstGeom>
          <a:noFill/>
          <a:ln w="28575">
            <a:solidFill>
              <a:srgbClr val="66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122665-6B14-44CB-54D1-F4B889B4B4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888" y="6021388"/>
            <a:ext cx="69564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chemeClr val="bg1"/>
                </a:solidFill>
              </a:rPr>
              <a:t>直线运动和圆周运动是一般平面曲线运动的特例。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23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3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4" dur="500"/>
                                        <p:tgtEl>
                                          <p:spTgt spid="23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3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23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3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3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3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3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3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23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23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2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1000"/>
                                        <p:tgtEl>
                                          <p:spTgt spid="23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35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35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9" grpId="0" autoUpdateAnimBg="0"/>
      <p:bldP spid="23562" grpId="0" animBg="1"/>
      <p:bldP spid="23568" grpId="0" autoUpdateAnimBg="0"/>
      <p:bldP spid="23579" grpId="0" animBg="1"/>
      <p:bldP spid="23587" grpId="0" animBg="1"/>
      <p:bldP spid="23588" grpId="0" autoUpdateAnimBg="0"/>
      <p:bldP spid="23590" grpId="0"/>
      <p:bldP spid="23591" grpId="0"/>
      <p:bldP spid="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2">
            <a:extLst>
              <a:ext uri="{FF2B5EF4-FFF2-40B4-BE49-F238E27FC236}">
                <a16:creationId xmlns:a16="http://schemas.microsoft.com/office/drawing/2014/main" id="{C8C77AF3-C1C3-75DF-9E14-47B5F5B724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36550"/>
            <a:ext cx="7848600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一汽车在半径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R</a:t>
            </a:r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=200 m</a:t>
            </a: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的圆弧形公路上行驶，其运动学方程为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s </a:t>
            </a:r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=20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t </a:t>
            </a:r>
            <a:r>
              <a:rPr kumimoji="1" lang="en-US" altLang="zh-CN" sz="2400" b="1">
                <a:solidFill>
                  <a:srgbClr val="66FFFF"/>
                </a:solidFill>
                <a:latin typeface="Symbol" panose="05050102010706020507" pitchFamily="18" charset="2"/>
                <a:ea typeface="仿宋_GB2312" panose="02010609030101010101" pitchFamily="49" charset="-122"/>
              </a:rPr>
              <a:t>-</a:t>
            </a:r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 0.2 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t </a:t>
            </a:r>
            <a:r>
              <a:rPr kumimoji="1" lang="en-US" altLang="zh-CN" sz="2400" b="1" baseline="28000">
                <a:solidFill>
                  <a:srgbClr val="66FFFF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2 </a:t>
            </a:r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(SI)</a:t>
            </a: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 </a:t>
            </a:r>
            <a:r>
              <a:rPr kumimoji="1" lang="en-US" altLang="zh-CN" sz="2400" b="1">
                <a:solidFill>
                  <a:schemeClr val="bg1"/>
                </a:solidFill>
                <a:latin typeface="宋体" panose="02010600030101010101" pitchFamily="2" charset="-122"/>
              </a:rPr>
              <a:t>.</a:t>
            </a:r>
          </a:p>
        </p:txBody>
      </p:sp>
      <p:graphicFrame>
        <p:nvGraphicFramePr>
          <p:cNvPr id="22531" name="Object 3">
            <a:extLst>
              <a:ext uri="{FF2B5EF4-FFF2-40B4-BE49-F238E27FC236}">
                <a16:creationId xmlns:a16="http://schemas.microsoft.com/office/drawing/2014/main" id="{01DC84F9-EBD2-3007-D422-43DFB8DFB0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95425" y="2365375"/>
          <a:ext cx="2524125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491706" imgH="807624" progId="Equation.3">
                  <p:embed/>
                </p:oleObj>
              </mc:Choice>
              <mc:Fallback>
                <p:oleObj name="公式" r:id="rId2" imgW="2491706" imgH="807624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5425" y="2365375"/>
                        <a:ext cx="2524125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4" name="Text Box 4">
            <a:extLst>
              <a:ext uri="{FF2B5EF4-FFF2-40B4-BE49-F238E27FC236}">
                <a16:creationId xmlns:a16="http://schemas.microsoft.com/office/drawing/2014/main" id="{1C1F2A9A-4B14-CA29-DACE-BC6C3B8321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905000"/>
            <a:ext cx="800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根据速度和加速度在自然坐标系中的表示形式，有</a:t>
            </a:r>
            <a:endParaRPr kumimoji="1" lang="zh-CN" altLang="en-US" sz="2400" b="1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22533" name="Object 5">
            <a:extLst>
              <a:ext uri="{FF2B5EF4-FFF2-40B4-BE49-F238E27FC236}">
                <a16:creationId xmlns:a16="http://schemas.microsoft.com/office/drawing/2014/main" id="{8E7F905D-9A7E-29E6-341D-824F171A0E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54150" y="3203575"/>
          <a:ext cx="21590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118274" imgH="807624" progId="Equation.3">
                  <p:embed/>
                </p:oleObj>
              </mc:Choice>
              <mc:Fallback>
                <p:oleObj name="公式" r:id="rId4" imgW="2118274" imgH="807624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4150" y="3203575"/>
                        <a:ext cx="2159000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4" name="Object 6">
            <a:extLst>
              <a:ext uri="{FF2B5EF4-FFF2-40B4-BE49-F238E27FC236}">
                <a16:creationId xmlns:a16="http://schemas.microsoft.com/office/drawing/2014/main" id="{D4221EA6-D14E-B4D5-9F14-3D37E6023C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75150" y="3130550"/>
          <a:ext cx="309245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063308" imgH="853416" progId="Equation.3">
                  <p:embed/>
                </p:oleObj>
              </mc:Choice>
              <mc:Fallback>
                <p:oleObj name="公式" r:id="rId6" imgW="3063308" imgH="853416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5150" y="3130550"/>
                        <a:ext cx="309245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5" name="Object 7">
            <a:extLst>
              <a:ext uri="{FF2B5EF4-FFF2-40B4-BE49-F238E27FC236}">
                <a16:creationId xmlns:a16="http://schemas.microsoft.com/office/drawing/2014/main" id="{3A43082E-D055-86C0-D8E8-7A63B99259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97000" y="4095750"/>
          <a:ext cx="596265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5958917" imgH="1089720" progId="Equation.3">
                  <p:embed/>
                </p:oleObj>
              </mc:Choice>
              <mc:Fallback>
                <p:oleObj name="公式" r:id="rId8" imgW="5958917" imgH="108972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7000" y="4095750"/>
                        <a:ext cx="5962650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6" name="Object 8">
            <a:extLst>
              <a:ext uri="{FF2B5EF4-FFF2-40B4-BE49-F238E27FC236}">
                <a16:creationId xmlns:a16="http://schemas.microsoft.com/office/drawing/2014/main" id="{07C3734B-79F9-E0E6-5BC3-6F8D52E110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32350" y="2579688"/>
          <a:ext cx="2166938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141182" imgH="365688" progId="Equation.3">
                  <p:embed/>
                </p:oleObj>
              </mc:Choice>
              <mc:Fallback>
                <p:oleObj name="公式" r:id="rId10" imgW="2141182" imgH="365688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2350" y="2579688"/>
                        <a:ext cx="2166938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7" name="Object 9">
            <a:extLst>
              <a:ext uri="{FF2B5EF4-FFF2-40B4-BE49-F238E27FC236}">
                <a16:creationId xmlns:a16="http://schemas.microsoft.com/office/drawing/2014/main" id="{FBDDF4A7-B854-C3AB-5C8B-4C47DBA0A4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16050" y="5264150"/>
          <a:ext cx="6684963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682657" imgH="1089720" progId="Equation.DSMT4">
                  <p:embed/>
                </p:oleObj>
              </mc:Choice>
              <mc:Fallback>
                <p:oleObj name="Equation" r:id="rId12" imgW="6682657" imgH="108972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6050" y="5264150"/>
                        <a:ext cx="6684963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90" name="Rectangle 10">
            <a:extLst>
              <a:ext uri="{FF2B5EF4-FFF2-40B4-BE49-F238E27FC236}">
                <a16:creationId xmlns:a16="http://schemas.microsoft.com/office/drawing/2014/main" id="{BC87F16B-D5EC-DEA7-D06B-5176A9756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625" y="381000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</a:rPr>
              <a:t>例</a:t>
            </a:r>
          </a:p>
        </p:txBody>
      </p:sp>
      <p:sp>
        <p:nvSpPr>
          <p:cNvPr id="46091" name="Rectangle 11">
            <a:extLst>
              <a:ext uri="{FF2B5EF4-FFF2-40B4-BE49-F238E27FC236}">
                <a16:creationId xmlns:a16="http://schemas.microsoft.com/office/drawing/2014/main" id="{9AD24562-663D-4E4F-92DC-3EB4125741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588" y="1371600"/>
            <a:ext cx="53927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汽车在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t </a:t>
            </a:r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= 1 s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时的速度和加速度大小。</a:t>
            </a:r>
          </a:p>
        </p:txBody>
      </p:sp>
      <p:sp>
        <p:nvSpPr>
          <p:cNvPr id="46092" name="Rectangle 12">
            <a:extLst>
              <a:ext uri="{FF2B5EF4-FFF2-40B4-BE49-F238E27FC236}">
                <a16:creationId xmlns:a16="http://schemas.microsoft.com/office/drawing/2014/main" id="{50DCF0B4-387E-B60D-1572-ABCDD3FF78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371600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rgbClr val="FFFF00"/>
                </a:solidFill>
                <a:latin typeface="宋体" panose="02010600030101010101" pitchFamily="2" charset="-122"/>
              </a:rPr>
              <a:t>求</a:t>
            </a:r>
            <a:endParaRPr kumimoji="1" lang="zh-CN" altLang="en-US" sz="2400" b="1">
              <a:solidFill>
                <a:srgbClr val="FFFF00"/>
              </a:solidFill>
              <a:latin typeface="仿宋_GB2312" panose="02010609030101010101" pitchFamily="49" charset="-122"/>
              <a:ea typeface="仿宋_GB2312" panose="02010609030101010101" pitchFamily="49" charset="-122"/>
            </a:endParaRPr>
          </a:p>
        </p:txBody>
      </p:sp>
      <p:sp>
        <p:nvSpPr>
          <p:cNvPr id="46093" name="Rectangle 13">
            <a:extLst>
              <a:ext uri="{FF2B5EF4-FFF2-40B4-BE49-F238E27FC236}">
                <a16:creationId xmlns:a16="http://schemas.microsoft.com/office/drawing/2014/main" id="{73DFFE8A-74E5-C0FA-92EF-EBF7E8F9DA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905000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</a:rPr>
              <a:t>解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2" descr="图形1">
            <a:extLst>
              <a:ext uri="{FF2B5EF4-FFF2-40B4-BE49-F238E27FC236}">
                <a16:creationId xmlns:a16="http://schemas.microsoft.com/office/drawing/2014/main" id="{B1FFF735-3272-05B7-28D1-69EA2C993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1E748D"/>
              </a:clrFrom>
              <a:clrTo>
                <a:srgbClr val="1E748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2" t="2719" r="3401" b="6828"/>
          <a:stretch>
            <a:fillRect/>
          </a:stretch>
        </p:blipFill>
        <p:spPr bwMode="auto">
          <a:xfrm>
            <a:off x="5580063" y="2060575"/>
            <a:ext cx="2952750" cy="237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07" name="Rectangle 3">
            <a:extLst>
              <a:ext uri="{FF2B5EF4-FFF2-40B4-BE49-F238E27FC236}">
                <a16:creationId xmlns:a16="http://schemas.microsoft.com/office/drawing/2014/main" id="{8046290E-1B46-8051-C57F-FCBBF3F46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613" y="7938"/>
            <a:ext cx="7924800" cy="111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将一根光滑的钢丝弯成一个竖直平面内的曲线，质点可沿钢丝向下滑动。已知质点运动的切向加速度为</a:t>
            </a:r>
            <a:endParaRPr kumimoji="1" lang="zh-CN" altLang="en-US" sz="1200" b="1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47108" name="Rectangle 4">
            <a:extLst>
              <a:ext uri="{FF2B5EF4-FFF2-40B4-BE49-F238E27FC236}">
                <a16:creationId xmlns:a16="http://schemas.microsoft.com/office/drawing/2014/main" id="{719E6F74-8977-7795-24CB-0683CDF07A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050925"/>
            <a:ext cx="7847013" cy="1049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g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为重力加速度</a:t>
            </a:r>
            <a:r>
              <a:rPr kumimoji="1" lang="zh-CN" altLang="en-US" sz="2400" b="1">
                <a:solidFill>
                  <a:schemeClr val="bg1"/>
                </a:solidFill>
                <a:latin typeface="仿宋_GB2312" panose="02010609030101010101" pitchFamily="49" charset="-122"/>
                <a:ea typeface="仿宋_GB2312" panose="02010609030101010101" pitchFamily="49" charset="-122"/>
              </a:rPr>
              <a:t>，</a:t>
            </a:r>
            <a:r>
              <a:rPr kumimoji="1" lang="zh-CN" altLang="en-US" sz="2400" b="1" i="1">
                <a:solidFill>
                  <a:srgbClr val="66FFFF"/>
                </a:solidFill>
                <a:latin typeface="Times New Roman" panose="02020603050405020304" pitchFamily="18" charset="0"/>
                <a:ea typeface="仿宋_GB2312" panose="02010609030101010101" pitchFamily="49" charset="-122"/>
                <a:sym typeface="Symbol" panose="05050102010706020507" pitchFamily="18" charset="2"/>
              </a:rPr>
              <a:t> </a:t>
            </a:r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  <a:ea typeface="仿宋_GB2312" panose="02010609030101010101" pitchFamily="49" charset="-122"/>
                <a:sym typeface="Symbol" panose="05050102010706020507" pitchFamily="18" charset="2"/>
              </a:rPr>
              <a:t>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为切向与水平方向的夹角</a:t>
            </a:r>
            <a:r>
              <a:rPr kumimoji="1" lang="en-US" altLang="zh-CN" sz="2400" b="1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初始速度</a:t>
            </a:r>
            <a:endParaRPr kumimoji="1" lang="en-US" altLang="zh-CN" sz="2400" b="1">
              <a:solidFill>
                <a:schemeClr val="bg1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40000"/>
              </a:lnSpc>
            </a:pP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初始位置为   </a:t>
            </a:r>
            <a:r>
              <a:rPr kumimoji="1" lang="en-US" altLang="zh-CN" sz="2400" b="1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.</a:t>
            </a:r>
          </a:p>
        </p:txBody>
      </p:sp>
      <p:graphicFrame>
        <p:nvGraphicFramePr>
          <p:cNvPr id="47109" name="Object 5">
            <a:extLst>
              <a:ext uri="{FF2B5EF4-FFF2-40B4-BE49-F238E27FC236}">
                <a16:creationId xmlns:a16="http://schemas.microsoft.com/office/drawing/2014/main" id="{6FE3F0BE-9EE1-C6DF-5BA2-F2BB2F3098C8}"/>
              </a:ext>
            </a:extLst>
          </p:cNvPr>
          <p:cNvGraphicFramePr>
            <a:graphicFrameLocks/>
          </p:cNvGraphicFramePr>
          <p:nvPr/>
        </p:nvGraphicFramePr>
        <p:xfrm>
          <a:off x="7116763" y="565150"/>
          <a:ext cx="1838325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813565" imgH="396144" progId="Equation.3">
                  <p:embed/>
                </p:oleObj>
              </mc:Choice>
              <mc:Fallback>
                <p:oleObj name="公式" r:id="rId3" imgW="1813565" imgH="396144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6763" y="565150"/>
                        <a:ext cx="1838325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0" name="Line 6">
            <a:extLst>
              <a:ext uri="{FF2B5EF4-FFF2-40B4-BE49-F238E27FC236}">
                <a16:creationId xmlns:a16="http://schemas.microsoft.com/office/drawing/2014/main" id="{C8B04531-9EDF-1FCC-7CF7-7837DABD9574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2788" y="4791075"/>
            <a:ext cx="2971800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11" name="Line 7">
            <a:extLst>
              <a:ext uri="{FF2B5EF4-FFF2-40B4-BE49-F238E27FC236}">
                <a16:creationId xmlns:a16="http://schemas.microsoft.com/office/drawing/2014/main" id="{FA206A04-817B-94A3-9C8F-87DDDF1905D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88200" y="2200275"/>
            <a:ext cx="0" cy="297180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12" name="Line 8">
            <a:extLst>
              <a:ext uri="{FF2B5EF4-FFF2-40B4-BE49-F238E27FC236}">
                <a16:creationId xmlns:a16="http://schemas.microsoft.com/office/drawing/2014/main" id="{B7521C50-61E7-B539-695D-65F2D08FE176}"/>
              </a:ext>
            </a:extLst>
          </p:cNvPr>
          <p:cNvSpPr>
            <a:spLocks noChangeShapeType="1"/>
          </p:cNvSpPr>
          <p:nvPr/>
        </p:nvSpPr>
        <p:spPr bwMode="auto">
          <a:xfrm rot="562308" flipH="1">
            <a:off x="7096125" y="2490788"/>
            <a:ext cx="1362075" cy="2803525"/>
          </a:xfrm>
          <a:prstGeom prst="line">
            <a:avLst/>
          </a:prstGeom>
          <a:noFill/>
          <a:ln w="15875">
            <a:solidFill>
              <a:schemeClr val="bg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13" name="Line 9">
            <a:extLst>
              <a:ext uri="{FF2B5EF4-FFF2-40B4-BE49-F238E27FC236}">
                <a16:creationId xmlns:a16="http://schemas.microsoft.com/office/drawing/2014/main" id="{E3EA2E19-B8FC-A594-7C8A-10821024171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16850" y="3213100"/>
            <a:ext cx="439738" cy="614363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58" name="Line 10">
            <a:extLst>
              <a:ext uri="{FF2B5EF4-FFF2-40B4-BE49-F238E27FC236}">
                <a16:creationId xmlns:a16="http://schemas.microsoft.com/office/drawing/2014/main" id="{2C62D99A-07C0-F293-6633-B58213843628}"/>
              </a:ext>
            </a:extLst>
          </p:cNvPr>
          <p:cNvSpPr>
            <a:spLocks noChangeShapeType="1"/>
          </p:cNvSpPr>
          <p:nvPr/>
        </p:nvSpPr>
        <p:spPr bwMode="auto">
          <a:xfrm>
            <a:off x="7816850" y="3213100"/>
            <a:ext cx="427038" cy="0"/>
          </a:xfrm>
          <a:prstGeom prst="line">
            <a:avLst/>
          </a:prstGeom>
          <a:noFill/>
          <a:ln w="19050">
            <a:solidFill>
              <a:schemeClr val="bg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15" name="Rectangle 11">
            <a:extLst>
              <a:ext uri="{FF2B5EF4-FFF2-40B4-BE49-F238E27FC236}">
                <a16:creationId xmlns:a16="http://schemas.microsoft.com/office/drawing/2014/main" id="{B1782E47-F05E-AF5C-8222-4A39370C8D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2554288"/>
            <a:ext cx="1865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由题意可知</a:t>
            </a:r>
          </a:p>
        </p:txBody>
      </p:sp>
      <p:graphicFrame>
        <p:nvGraphicFramePr>
          <p:cNvPr id="27660" name="Object 12">
            <a:extLst>
              <a:ext uri="{FF2B5EF4-FFF2-40B4-BE49-F238E27FC236}">
                <a16:creationId xmlns:a16="http://schemas.microsoft.com/office/drawing/2014/main" id="{4AD0C645-D07B-CB65-8721-D8AD933913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4500" y="3048000"/>
          <a:ext cx="4792663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762552" imgH="807624" progId="Equation.3">
                  <p:embed/>
                </p:oleObj>
              </mc:Choice>
              <mc:Fallback>
                <p:oleObj name="Equation" r:id="rId5" imgW="4762552" imgH="807624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500" y="3048000"/>
                        <a:ext cx="4792663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1" name="Object 13">
            <a:extLst>
              <a:ext uri="{FF2B5EF4-FFF2-40B4-BE49-F238E27FC236}">
                <a16:creationId xmlns:a16="http://schemas.microsoft.com/office/drawing/2014/main" id="{E4EAB713-A4CF-2344-466C-EA1E96FE0E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6575" y="4005263"/>
          <a:ext cx="2481263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2446108" imgH="365688" progId="Equation.3">
                  <p:embed/>
                </p:oleObj>
              </mc:Choice>
              <mc:Fallback>
                <p:oleObj name="公式" r:id="rId7" imgW="2446108" imgH="365688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575" y="4005263"/>
                        <a:ext cx="2481263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2" name="Rectangle 14">
            <a:extLst>
              <a:ext uri="{FF2B5EF4-FFF2-40B4-BE49-F238E27FC236}">
                <a16:creationId xmlns:a16="http://schemas.microsoft.com/office/drawing/2014/main" id="{C5990527-A702-D3DC-C238-25B0897D6E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4524375"/>
            <a:ext cx="2568575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从图中分析看出</a:t>
            </a:r>
            <a:br>
              <a:rPr kumimoji="1" lang="zh-CN" altLang="en-US" sz="2400">
                <a:solidFill>
                  <a:schemeClr val="bg1"/>
                </a:solidFill>
                <a:latin typeface="Times New Roman" panose="02020603050405020304" pitchFamily="18" charset="0"/>
              </a:rPr>
            </a:br>
            <a:endParaRPr kumimoji="1" lang="zh-CN" altLang="en-US" sz="12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7665" name="Object 17">
            <a:extLst>
              <a:ext uri="{FF2B5EF4-FFF2-40B4-BE49-F238E27FC236}">
                <a16:creationId xmlns:a16="http://schemas.microsoft.com/office/drawing/2014/main" id="{F842CAEA-D496-5596-C7AA-51A63A0ED2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72013" y="5133975"/>
          <a:ext cx="300355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987022" imgH="480168" progId="Equation.DSMT4">
                  <p:embed/>
                </p:oleObj>
              </mc:Choice>
              <mc:Fallback>
                <p:oleObj name="Equation" r:id="rId9" imgW="2987022" imgH="480168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2013" y="5133975"/>
                        <a:ext cx="3003550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6" name="Object 18">
            <a:extLst>
              <a:ext uri="{FF2B5EF4-FFF2-40B4-BE49-F238E27FC236}">
                <a16:creationId xmlns:a16="http://schemas.microsoft.com/office/drawing/2014/main" id="{E70650EF-570E-6DFD-1B49-49FB978485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89263" y="4356100"/>
          <a:ext cx="1422400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394534" imgH="807624" progId="Equation.3">
                  <p:embed/>
                </p:oleObj>
              </mc:Choice>
              <mc:Fallback>
                <p:oleObj name="公式" r:id="rId11" imgW="1394534" imgH="807624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9263" y="4356100"/>
                        <a:ext cx="1422400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7" name="Object 19">
            <a:extLst>
              <a:ext uri="{FF2B5EF4-FFF2-40B4-BE49-F238E27FC236}">
                <a16:creationId xmlns:a16="http://schemas.microsoft.com/office/drawing/2014/main" id="{3DC4EBD6-5CB7-0204-4EDA-D1EAB1CBDB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34263" y="3213100"/>
          <a:ext cx="306387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58088" imgH="365688" progId="Equation.3">
                  <p:embed/>
                </p:oleObj>
              </mc:Choice>
              <mc:Fallback>
                <p:oleObj name="Equation" r:id="rId13" imgW="358088" imgH="365688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34263" y="3213100"/>
                        <a:ext cx="306387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2" name="Object 20">
            <a:extLst>
              <a:ext uri="{FF2B5EF4-FFF2-40B4-BE49-F238E27FC236}">
                <a16:creationId xmlns:a16="http://schemas.microsoft.com/office/drawing/2014/main" id="{986EA17E-60FE-5315-DE0C-2A9E9A8424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32750" y="3630613"/>
          <a:ext cx="287338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27617" imgH="289656" progId="Equation.3">
                  <p:embed/>
                </p:oleObj>
              </mc:Choice>
              <mc:Fallback>
                <p:oleObj name="Equation" r:id="rId15" imgW="327617" imgH="289656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32750" y="3630613"/>
                        <a:ext cx="287338" cy="25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3" name="Object 21">
            <a:extLst>
              <a:ext uri="{FF2B5EF4-FFF2-40B4-BE49-F238E27FC236}">
                <a16:creationId xmlns:a16="http://schemas.microsoft.com/office/drawing/2014/main" id="{6DF72810-F508-2F8A-8BB3-4C2D22F3D8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43788" y="3643313"/>
          <a:ext cx="223837" cy="23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51548" imgH="274320" progId="Equation.3">
                  <p:embed/>
                </p:oleObj>
              </mc:Choice>
              <mc:Fallback>
                <p:oleObj name="Equation" r:id="rId17" imgW="251548" imgH="27432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3788" y="3643313"/>
                        <a:ext cx="223837" cy="234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4" name="Object 22">
            <a:extLst>
              <a:ext uri="{FF2B5EF4-FFF2-40B4-BE49-F238E27FC236}">
                <a16:creationId xmlns:a16="http://schemas.microsoft.com/office/drawing/2014/main" id="{136ACF71-C3F3-6989-F282-5A6475A06A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31075" y="2320925"/>
          <a:ext cx="193675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13297" imgH="281880" progId="Equation.3">
                  <p:embed/>
                </p:oleObj>
              </mc:Choice>
              <mc:Fallback>
                <p:oleObj name="Equation" r:id="rId19" imgW="213297" imgH="28188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1075" y="2320925"/>
                        <a:ext cx="193675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5" name="Object 23">
            <a:extLst>
              <a:ext uri="{FF2B5EF4-FFF2-40B4-BE49-F238E27FC236}">
                <a16:creationId xmlns:a16="http://schemas.microsoft.com/office/drawing/2014/main" id="{2E9C85AF-751D-2790-0B9E-56FA9AB557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27988" y="4868863"/>
          <a:ext cx="173037" cy="182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90606" imgH="205848" progId="Equation.3">
                  <p:embed/>
                </p:oleObj>
              </mc:Choice>
              <mc:Fallback>
                <p:oleObj name="Equation" r:id="rId21" imgW="190606" imgH="205848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7988" y="4868863"/>
                        <a:ext cx="173037" cy="182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6" name="Object 24">
            <a:extLst>
              <a:ext uri="{FF2B5EF4-FFF2-40B4-BE49-F238E27FC236}">
                <a16:creationId xmlns:a16="http://schemas.microsoft.com/office/drawing/2014/main" id="{22F5BDA7-12AE-8542-2978-73993B41E6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40588" y="4840288"/>
          <a:ext cx="233362" cy="255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274239" imgH="289656" progId="Equation.3">
                  <p:embed/>
                </p:oleObj>
              </mc:Choice>
              <mc:Fallback>
                <p:oleObj name="公式" r:id="rId23" imgW="274239" imgH="289656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0588" y="4840288"/>
                        <a:ext cx="233362" cy="255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7" name="Object 25">
            <a:extLst>
              <a:ext uri="{FF2B5EF4-FFF2-40B4-BE49-F238E27FC236}">
                <a16:creationId xmlns:a16="http://schemas.microsoft.com/office/drawing/2014/main" id="{BD03D207-8CA6-6ECD-1DE2-5EDD600F77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02538" y="4332288"/>
          <a:ext cx="250825" cy="249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5" imgW="289583" imgH="289656" progId="Equation.3">
                  <p:embed/>
                </p:oleObj>
              </mc:Choice>
              <mc:Fallback>
                <p:oleObj name="公式" r:id="rId25" imgW="289583" imgH="289656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2538" y="4332288"/>
                        <a:ext cx="250825" cy="249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28" name="Rectangle 26">
            <a:extLst>
              <a:ext uri="{FF2B5EF4-FFF2-40B4-BE49-F238E27FC236}">
                <a16:creationId xmlns:a16="http://schemas.microsoft.com/office/drawing/2014/main" id="{7308D503-85EB-0CCB-BA58-91574C156C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75" y="82550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rgbClr val="FFFF00"/>
                </a:solidFill>
                <a:latin typeface="宋体" panose="02010600030101010101" pitchFamily="2" charset="-122"/>
              </a:rPr>
              <a:t>例</a:t>
            </a:r>
          </a:p>
        </p:txBody>
      </p:sp>
      <p:sp>
        <p:nvSpPr>
          <p:cNvPr id="47129" name="Rectangle 27">
            <a:extLst>
              <a:ext uri="{FF2B5EF4-FFF2-40B4-BE49-F238E27FC236}">
                <a16:creationId xmlns:a16="http://schemas.microsoft.com/office/drawing/2014/main" id="{FED0F124-2FC3-C26C-A0DD-A822067C58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043113"/>
            <a:ext cx="4311650" cy="603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40000"/>
              </a:lnSpc>
            </a:pP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质点在钢丝上各处的运动速度</a:t>
            </a:r>
            <a:r>
              <a:rPr kumimoji="1" lang="en-US" altLang="zh-CN" sz="2400" b="1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47130" name="Rectangle 28">
            <a:extLst>
              <a:ext uri="{FF2B5EF4-FFF2-40B4-BE49-F238E27FC236}">
                <a16:creationId xmlns:a16="http://schemas.microsoft.com/office/drawing/2014/main" id="{F7A4C156-19BB-4459-7EE2-DAA83CC35D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838" y="2116138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rgbClr val="FFFF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求</a:t>
            </a:r>
          </a:p>
        </p:txBody>
      </p:sp>
      <p:sp>
        <p:nvSpPr>
          <p:cNvPr id="47131" name="Rectangle 29">
            <a:extLst>
              <a:ext uri="{FF2B5EF4-FFF2-40B4-BE49-F238E27FC236}">
                <a16:creationId xmlns:a16="http://schemas.microsoft.com/office/drawing/2014/main" id="{41DE16E1-0ACC-5F8A-31F0-6A0D7CE398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50" y="2554288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rgbClr val="FFFF00"/>
                </a:solidFill>
                <a:latin typeface="宋体" panose="02010600030101010101" pitchFamily="2" charset="-122"/>
              </a:rPr>
              <a:t>解</a:t>
            </a:r>
          </a:p>
        </p:txBody>
      </p:sp>
      <p:sp>
        <p:nvSpPr>
          <p:cNvPr id="27678" name="Line 30">
            <a:extLst>
              <a:ext uri="{FF2B5EF4-FFF2-40B4-BE49-F238E27FC236}">
                <a16:creationId xmlns:a16="http://schemas.microsoft.com/office/drawing/2014/main" id="{645766B0-D048-517E-2E13-8182D51B94B5}"/>
              </a:ext>
            </a:extLst>
          </p:cNvPr>
          <p:cNvSpPr>
            <a:spLocks noChangeShapeType="1"/>
          </p:cNvSpPr>
          <p:nvPr/>
        </p:nvSpPr>
        <p:spPr bwMode="auto">
          <a:xfrm>
            <a:off x="7797800" y="3213100"/>
            <a:ext cx="0" cy="576263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33" name="Arc 31">
            <a:extLst>
              <a:ext uri="{FF2B5EF4-FFF2-40B4-BE49-F238E27FC236}">
                <a16:creationId xmlns:a16="http://schemas.microsoft.com/office/drawing/2014/main" id="{F00083C3-D2CA-AD50-000F-8443B364398B}"/>
              </a:ext>
            </a:extLst>
          </p:cNvPr>
          <p:cNvSpPr>
            <a:spLocks/>
          </p:cNvSpPr>
          <p:nvPr/>
        </p:nvSpPr>
        <p:spPr bwMode="auto">
          <a:xfrm>
            <a:off x="7385050" y="4437063"/>
            <a:ext cx="144463" cy="360362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>
            <a:solidFill>
              <a:srgbClr val="66FF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34" name="Oval 32">
            <a:extLst>
              <a:ext uri="{FF2B5EF4-FFF2-40B4-BE49-F238E27FC236}">
                <a16:creationId xmlns:a16="http://schemas.microsoft.com/office/drawing/2014/main" id="{4E03EF13-90CD-99ED-E880-B95DF3A594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5413" y="3732213"/>
            <a:ext cx="130175" cy="14287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7135" name="对象 1">
            <a:extLst>
              <a:ext uri="{FF2B5EF4-FFF2-40B4-BE49-F238E27FC236}">
                <a16:creationId xmlns:a16="http://schemas.microsoft.com/office/drawing/2014/main" id="{C29766AA-FDBD-C7A0-FC2B-33F08AB86D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70900" y="1050925"/>
          <a:ext cx="41275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65028" imgH="228501" progId="Equation.DSMT4">
                  <p:embed/>
                </p:oleObj>
              </mc:Choice>
              <mc:Fallback>
                <p:oleObj name="Equation" r:id="rId27" imgW="165028" imgH="228501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0900" y="1050925"/>
                        <a:ext cx="41275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36" name="对象 2">
            <a:extLst>
              <a:ext uri="{FF2B5EF4-FFF2-40B4-BE49-F238E27FC236}">
                <a16:creationId xmlns:a16="http://schemas.microsoft.com/office/drawing/2014/main" id="{4B6FDDB7-4826-645B-BF91-8E30EB0889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47925" y="1601788"/>
          <a:ext cx="330200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77646" imgH="228402" progId="Equation.DSMT4">
                  <p:embed/>
                </p:oleObj>
              </mc:Choice>
              <mc:Fallback>
                <p:oleObj name="Equation" r:id="rId29" imgW="177646" imgH="228402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7925" y="1601788"/>
                        <a:ext cx="330200" cy="42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3843" name="Picture 51">
            <a:extLst>
              <a:ext uri="{FF2B5EF4-FFF2-40B4-BE49-F238E27FC236}">
                <a16:creationId xmlns:a16="http://schemas.microsoft.com/office/drawing/2014/main" id="{4D126262-724F-451B-AD5F-0C7494C9A6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63" y="5762625"/>
            <a:ext cx="8953500" cy="1095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7664" name="Object 16">
            <a:extLst>
              <a:ext uri="{FF2B5EF4-FFF2-40B4-BE49-F238E27FC236}">
                <a16:creationId xmlns:a16="http://schemas.microsoft.com/office/drawing/2014/main" id="{E4D6C798-9C11-141A-8E77-3E9DD636BD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4575" y="4953000"/>
          <a:ext cx="2944813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2" imgW="2918516" imgH="708696" progId="Equation.3">
                  <p:embed/>
                </p:oleObj>
              </mc:Choice>
              <mc:Fallback>
                <p:oleObj name="公式" r:id="rId32" imgW="2918516" imgH="708696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4575" y="4953000"/>
                        <a:ext cx="2944813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6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6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7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7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7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27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76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76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76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76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7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76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76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38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38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62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Box 1">
            <a:extLst>
              <a:ext uri="{FF2B5EF4-FFF2-40B4-BE49-F238E27FC236}">
                <a16:creationId xmlns:a16="http://schemas.microsoft.com/office/drawing/2014/main" id="{1F599FA9-0C66-3E64-486F-F0D22319B6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8113" y="184150"/>
            <a:ext cx="13684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chemeClr val="bg1"/>
                </a:solidFill>
              </a:rPr>
              <a:t>小结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33EC83-8397-063A-2EB7-2286D5665F3C}"/>
              </a:ext>
            </a:extLst>
          </p:cNvPr>
          <p:cNvSpPr txBox="1"/>
          <p:nvPr/>
        </p:nvSpPr>
        <p:spPr>
          <a:xfrm>
            <a:off x="395288" y="692150"/>
            <a:ext cx="8262937" cy="67405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400" b="1" dirty="0">
                <a:solidFill>
                  <a:schemeClr val="bg1"/>
                </a:solidFill>
              </a:rPr>
              <a:t>研究质点运动学的方法：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 eaLnBrk="1" hangingPunct="1">
              <a:defRPr/>
            </a:pPr>
            <a:r>
              <a:rPr lang="en-US" altLang="zh-CN" sz="2400" b="1" dirty="0">
                <a:solidFill>
                  <a:schemeClr val="bg1"/>
                </a:solidFill>
              </a:rPr>
              <a:t>1.</a:t>
            </a:r>
            <a:r>
              <a:rPr lang="zh-CN" altLang="en-US" sz="2400" b="1" dirty="0">
                <a:solidFill>
                  <a:schemeClr val="bg1"/>
                </a:solidFill>
              </a:rPr>
              <a:t>确定研究对象（把研究物体抽象为质点）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 eaLnBrk="1" hangingPunct="1">
              <a:defRPr/>
            </a:pPr>
            <a:r>
              <a:rPr lang="en-US" altLang="zh-CN" sz="2400" b="1" dirty="0">
                <a:solidFill>
                  <a:schemeClr val="bg1"/>
                </a:solidFill>
              </a:rPr>
              <a:t>2.</a:t>
            </a:r>
            <a:r>
              <a:rPr lang="zh-CN" altLang="en-US" sz="2400" b="1" dirty="0">
                <a:solidFill>
                  <a:schemeClr val="bg1"/>
                </a:solidFill>
              </a:rPr>
              <a:t>确定参考系（合理选择参照物和坐标系）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 eaLnBrk="1" hangingPunct="1">
              <a:defRPr/>
            </a:pPr>
            <a:r>
              <a:rPr lang="en-US" altLang="zh-CN" sz="2400" b="1" dirty="0">
                <a:solidFill>
                  <a:schemeClr val="bg1"/>
                </a:solidFill>
              </a:rPr>
              <a:t>3.</a:t>
            </a:r>
            <a:r>
              <a:rPr lang="zh-CN" altLang="en-US" sz="2400" b="1" dirty="0">
                <a:solidFill>
                  <a:schemeClr val="bg1"/>
                </a:solidFill>
              </a:rPr>
              <a:t>确定研究对象的运动状态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zh-CN" altLang="en-US" sz="2400" b="1" dirty="0">
                <a:solidFill>
                  <a:schemeClr val="bg1"/>
                </a:solidFill>
              </a:rPr>
              <a:t>运动学方程描述了任意时刻质点的空间位置（位矢对时间的函数）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endParaRPr lang="en-US" altLang="zh-CN" sz="2400" b="1" dirty="0">
              <a:solidFill>
                <a:schemeClr val="bg1"/>
              </a:solidFill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endParaRPr lang="en-US" altLang="zh-CN" sz="2400" b="1" dirty="0">
              <a:solidFill>
                <a:schemeClr val="bg1"/>
              </a:solidFill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endParaRPr lang="en-US" altLang="zh-CN" sz="2400" b="1" dirty="0">
              <a:solidFill>
                <a:schemeClr val="bg1"/>
              </a:solidFill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endParaRPr lang="en-US" altLang="zh-CN" sz="2400" b="1" dirty="0">
              <a:solidFill>
                <a:schemeClr val="bg1"/>
              </a:solidFill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endParaRPr lang="en-US" altLang="zh-CN" sz="2400" b="1" dirty="0">
              <a:solidFill>
                <a:schemeClr val="bg1"/>
              </a:solidFill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endParaRPr lang="en-US" altLang="zh-CN" sz="2400" b="1" dirty="0">
              <a:solidFill>
                <a:schemeClr val="bg1"/>
              </a:solidFill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endParaRPr lang="en-US" altLang="zh-CN" sz="2400" b="1" dirty="0">
              <a:solidFill>
                <a:schemeClr val="bg1"/>
              </a:solidFill>
            </a:endParaRPr>
          </a:p>
          <a:p>
            <a:pPr eaLnBrk="1" hangingPunct="1">
              <a:defRPr/>
            </a:pPr>
            <a:endParaRPr lang="en-US" altLang="zh-CN" sz="2400" b="1" dirty="0">
              <a:solidFill>
                <a:schemeClr val="bg1"/>
              </a:solidFill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zh-CN" altLang="en-US" sz="2400" b="1" dirty="0">
                <a:solidFill>
                  <a:schemeClr val="bg1"/>
                </a:solidFill>
              </a:rPr>
              <a:t>质点的速度反映了某一时刻质点的运动状态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zh-CN" altLang="en-US" sz="2400" b="1" dirty="0">
                <a:solidFill>
                  <a:schemeClr val="bg1"/>
                </a:solidFill>
              </a:rPr>
              <a:t>加速度反映某一时刻质点的运动状态的变化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 eaLnBrk="1" hangingPunct="1">
              <a:defRPr/>
            </a:pPr>
            <a:endParaRPr lang="en-US" altLang="zh-CN" sz="2400" b="1" dirty="0">
              <a:solidFill>
                <a:schemeClr val="bg1"/>
              </a:solidFill>
            </a:endParaRPr>
          </a:p>
          <a:p>
            <a:pPr eaLnBrk="1" hangingPunct="1">
              <a:defRPr/>
            </a:pPr>
            <a:r>
              <a:rPr lang="en-US" altLang="zh-CN" sz="2400" b="1" dirty="0">
                <a:solidFill>
                  <a:schemeClr val="bg1"/>
                </a:solidFill>
              </a:rPr>
              <a:t>  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46083" name="Picture 3">
            <a:extLst>
              <a:ext uri="{FF2B5EF4-FFF2-40B4-BE49-F238E27FC236}">
                <a16:creationId xmlns:a16="http://schemas.microsoft.com/office/drawing/2014/main" id="{70D23B20-1B59-3BD3-6C53-0D3C6CA5E5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3068638"/>
            <a:ext cx="5599112" cy="2592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2">
            <a:extLst>
              <a:ext uri="{FF2B5EF4-FFF2-40B4-BE49-F238E27FC236}">
                <a16:creationId xmlns:a16="http://schemas.microsoft.com/office/drawing/2014/main" id="{18E83D4B-07E2-7278-D580-A5D5C13B6A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25" y="122238"/>
            <a:ext cx="4760913" cy="3379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0" name="组合 19">
            <a:extLst>
              <a:ext uri="{FF2B5EF4-FFF2-40B4-BE49-F238E27FC236}">
                <a16:creationId xmlns:a16="http://schemas.microsoft.com/office/drawing/2014/main" id="{23A0A831-CDFA-484A-97A5-17F210EE8BBC}"/>
              </a:ext>
            </a:extLst>
          </p:cNvPr>
          <p:cNvGrpSpPr>
            <a:grpSpLocks/>
          </p:cNvGrpSpPr>
          <p:nvPr/>
        </p:nvGrpSpPr>
        <p:grpSpPr bwMode="auto">
          <a:xfrm>
            <a:off x="5818188" y="822325"/>
            <a:ext cx="2840037" cy="2366963"/>
            <a:chOff x="5799954" y="1164537"/>
            <a:chExt cx="2840916" cy="2366088"/>
          </a:xfrm>
        </p:grpSpPr>
        <p:sp>
          <p:nvSpPr>
            <p:cNvPr id="49159" name="TextBox 1">
              <a:extLst>
                <a:ext uri="{FF2B5EF4-FFF2-40B4-BE49-F238E27FC236}">
                  <a16:creationId xmlns:a16="http://schemas.microsoft.com/office/drawing/2014/main" id="{EA140CF0-9B9A-0515-C8F0-41055C699B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2949" y="1164537"/>
              <a:ext cx="173156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>
                  <a:solidFill>
                    <a:schemeClr val="bg1"/>
                  </a:solidFill>
                </a:rPr>
                <a:t>运动学方程</a:t>
              </a:r>
            </a:p>
          </p:txBody>
        </p:sp>
        <p:sp>
          <p:nvSpPr>
            <p:cNvPr id="49160" name="TextBox 7">
              <a:extLst>
                <a:ext uri="{FF2B5EF4-FFF2-40B4-BE49-F238E27FC236}">
                  <a16:creationId xmlns:a16="http://schemas.microsoft.com/office/drawing/2014/main" id="{0B78994B-EFF0-E25B-55D1-CCB83A828A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0205" y="2132856"/>
              <a:ext cx="80342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>
                  <a:solidFill>
                    <a:schemeClr val="bg1"/>
                  </a:solidFill>
                </a:rPr>
                <a:t>速度</a:t>
              </a:r>
            </a:p>
          </p:txBody>
        </p:sp>
        <p:sp>
          <p:nvSpPr>
            <p:cNvPr id="49161" name="TextBox 8">
              <a:extLst>
                <a:ext uri="{FF2B5EF4-FFF2-40B4-BE49-F238E27FC236}">
                  <a16:creationId xmlns:a16="http://schemas.microsoft.com/office/drawing/2014/main" id="{C4E07790-3990-6E7B-0A73-DED6AD23F3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05515" y="3068960"/>
              <a:ext cx="111280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>
                  <a:solidFill>
                    <a:schemeClr val="bg1"/>
                  </a:solidFill>
                </a:rPr>
                <a:t>加速度</a:t>
              </a:r>
            </a:p>
          </p:txBody>
        </p: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253081DD-E7AB-C980-E86A-7F13C954EE1A}"/>
                </a:ext>
              </a:extLst>
            </p:cNvPr>
            <p:cNvCxnSpPr/>
            <p:nvPr/>
          </p:nvCxnSpPr>
          <p:spPr>
            <a:xfrm>
              <a:off x="6662233" y="1734239"/>
              <a:ext cx="0" cy="503051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6DA678D6-E645-49E0-9510-47BF1F4807C4}"/>
                </a:ext>
              </a:extLst>
            </p:cNvPr>
            <p:cNvCxnSpPr/>
            <p:nvPr/>
          </p:nvCxnSpPr>
          <p:spPr>
            <a:xfrm>
              <a:off x="6673349" y="2594346"/>
              <a:ext cx="0" cy="504638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8639B264-7477-9224-7854-5584667718E7}"/>
                </a:ext>
              </a:extLst>
            </p:cNvPr>
            <p:cNvCxnSpPr/>
            <p:nvPr/>
          </p:nvCxnSpPr>
          <p:spPr>
            <a:xfrm flipH="1" flipV="1">
              <a:off x="6822620" y="2508653"/>
              <a:ext cx="1587" cy="59191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3BF158EF-6479-9251-BCD0-86B25B3FCF58}"/>
                </a:ext>
              </a:extLst>
            </p:cNvPr>
            <p:cNvCxnSpPr/>
            <p:nvPr/>
          </p:nvCxnSpPr>
          <p:spPr>
            <a:xfrm flipV="1">
              <a:off x="6824208" y="1699327"/>
              <a:ext cx="0" cy="537963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166" name="TextBox 18">
              <a:extLst>
                <a:ext uri="{FF2B5EF4-FFF2-40B4-BE49-F238E27FC236}">
                  <a16:creationId xmlns:a16="http://schemas.microsoft.com/office/drawing/2014/main" id="{62F958C7-644B-C38F-E13A-7E4C38329F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99954" y="1765330"/>
              <a:ext cx="646331" cy="369332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chemeClr val="bg1"/>
                  </a:solidFill>
                </a:rPr>
                <a:t>求导</a:t>
              </a:r>
            </a:p>
          </p:txBody>
        </p:sp>
        <p:sp>
          <p:nvSpPr>
            <p:cNvPr id="49167" name="TextBox 20">
              <a:extLst>
                <a:ext uri="{FF2B5EF4-FFF2-40B4-BE49-F238E27FC236}">
                  <a16:creationId xmlns:a16="http://schemas.microsoft.com/office/drawing/2014/main" id="{982AC9F8-F0D0-E0B1-F739-3672E84D27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20863" y="2619952"/>
              <a:ext cx="646331" cy="369332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chemeClr val="bg1"/>
                  </a:solidFill>
                </a:rPr>
                <a:t>求导</a:t>
              </a:r>
            </a:p>
          </p:txBody>
        </p:sp>
        <p:sp>
          <p:nvSpPr>
            <p:cNvPr id="49168" name="TextBox 21">
              <a:extLst>
                <a:ext uri="{FF2B5EF4-FFF2-40B4-BE49-F238E27FC236}">
                  <a16:creationId xmlns:a16="http://schemas.microsoft.com/office/drawing/2014/main" id="{AA5B0370-9945-A10E-89EA-2987DDA4F8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02278" y="2633875"/>
              <a:ext cx="1704313" cy="369332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chemeClr val="bg1"/>
                  </a:solidFill>
                </a:rPr>
                <a:t>积分</a:t>
              </a:r>
              <a:r>
                <a:rPr lang="en-US" altLang="zh-CN">
                  <a:solidFill>
                    <a:schemeClr val="bg1"/>
                  </a:solidFill>
                </a:rPr>
                <a:t>+</a:t>
              </a:r>
              <a:r>
                <a:rPr lang="zh-CN" altLang="en-US">
                  <a:solidFill>
                    <a:schemeClr val="bg1"/>
                  </a:solidFill>
                </a:rPr>
                <a:t>初始条件</a:t>
              </a:r>
            </a:p>
          </p:txBody>
        </p:sp>
        <p:sp>
          <p:nvSpPr>
            <p:cNvPr id="49169" name="TextBox 22">
              <a:extLst>
                <a:ext uri="{FF2B5EF4-FFF2-40B4-BE49-F238E27FC236}">
                  <a16:creationId xmlns:a16="http://schemas.microsoft.com/office/drawing/2014/main" id="{AE5C3432-E5F5-D4F6-A484-1FA205608C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36557" y="1759694"/>
              <a:ext cx="1704313" cy="369332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chemeClr val="bg1"/>
                  </a:solidFill>
                </a:rPr>
                <a:t>积分</a:t>
              </a:r>
              <a:r>
                <a:rPr lang="en-US" altLang="zh-CN">
                  <a:solidFill>
                    <a:schemeClr val="bg1"/>
                  </a:solidFill>
                </a:rPr>
                <a:t>+</a:t>
              </a:r>
              <a:r>
                <a:rPr lang="zh-CN" altLang="en-US">
                  <a:solidFill>
                    <a:schemeClr val="bg1"/>
                  </a:solidFill>
                </a:rPr>
                <a:t>初始条件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CA093DA8-E682-8B1A-81DE-5E1769CE84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3788" y="504825"/>
            <a:ext cx="12096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 b="1">
                <a:solidFill>
                  <a:schemeClr val="bg1"/>
                </a:solidFill>
              </a:rPr>
              <a:t>第一类问题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0B3CF1F-EEA6-6BEB-6817-878CE19ACC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5825" y="493713"/>
            <a:ext cx="12112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 b="1">
                <a:solidFill>
                  <a:schemeClr val="bg1"/>
                </a:solidFill>
              </a:rPr>
              <a:t>第二类问题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1A51FD8-30D3-B601-2232-A480004461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3644900"/>
            <a:ext cx="8424863" cy="28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bg1"/>
                </a:solidFill>
              </a:rPr>
              <a:t>直角坐标下各个运动分量的速度、加速度</a:t>
            </a:r>
            <a:r>
              <a:rPr lang="zh-CN" altLang="en-US" sz="2000" b="1">
                <a:solidFill>
                  <a:srgbClr val="FF0000"/>
                </a:solidFill>
              </a:rPr>
              <a:t>方向不变</a:t>
            </a:r>
            <a:r>
              <a:rPr lang="zh-CN" altLang="en-US" sz="2000" b="1">
                <a:solidFill>
                  <a:schemeClr val="bg1"/>
                </a:solidFill>
              </a:rPr>
              <a:t>，把曲线运动分解为分量方向上的直线运动。</a:t>
            </a:r>
            <a:endParaRPr lang="en-US" altLang="zh-CN" sz="2000" b="1">
              <a:solidFill>
                <a:schemeClr val="bg1"/>
              </a:solidFill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bg1"/>
                </a:solidFill>
              </a:rPr>
              <a:t>自然坐标下运动</a:t>
            </a:r>
            <a:r>
              <a:rPr lang="zh-CN" altLang="en-US" sz="2000" b="1">
                <a:solidFill>
                  <a:srgbClr val="FF0000"/>
                </a:solidFill>
              </a:rPr>
              <a:t>轨迹确定</a:t>
            </a:r>
            <a:r>
              <a:rPr lang="zh-CN" altLang="en-US" sz="2000" b="1">
                <a:solidFill>
                  <a:schemeClr val="bg1"/>
                </a:solidFill>
              </a:rPr>
              <a:t>，将运动分解为沿切向方向的直线运动和沿法向方向的圆周运动。</a:t>
            </a:r>
            <a:endParaRPr lang="en-US" altLang="zh-CN" sz="2000" b="1">
              <a:solidFill>
                <a:schemeClr val="bg1"/>
              </a:solidFill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bg1"/>
                </a:solidFill>
              </a:rPr>
              <a:t>第一类问题的关键是根据已知运动规律和空间几何关系写出</a:t>
            </a:r>
            <a:r>
              <a:rPr lang="zh-CN" altLang="en-US" sz="2000" b="1">
                <a:solidFill>
                  <a:srgbClr val="FF0000"/>
                </a:solidFill>
              </a:rPr>
              <a:t>运动学方程</a:t>
            </a:r>
            <a:r>
              <a:rPr lang="zh-CN" altLang="en-US" sz="2000" b="1">
                <a:solidFill>
                  <a:schemeClr val="bg1"/>
                </a:solidFill>
              </a:rPr>
              <a:t>，然后利用</a:t>
            </a:r>
            <a:r>
              <a:rPr lang="zh-CN" altLang="en-US" sz="2000" b="1">
                <a:solidFill>
                  <a:srgbClr val="FF0000"/>
                </a:solidFill>
              </a:rPr>
              <a:t>求导和微分</a:t>
            </a:r>
            <a:r>
              <a:rPr lang="zh-CN" altLang="en-US" sz="2000" b="1">
                <a:solidFill>
                  <a:schemeClr val="bg1"/>
                </a:solidFill>
              </a:rPr>
              <a:t>运算求速度、加速度与时间或位移的关系。</a:t>
            </a:r>
            <a:endParaRPr lang="en-US" altLang="zh-CN" sz="2000" b="1">
              <a:solidFill>
                <a:schemeClr val="bg1"/>
              </a:solidFill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bg1"/>
                </a:solidFill>
              </a:rPr>
              <a:t>第二类问题的关键是根据已知加速度与时间或坐标的函数关系，写出运动学</a:t>
            </a:r>
            <a:r>
              <a:rPr lang="zh-CN" altLang="en-US" sz="2000" b="1">
                <a:solidFill>
                  <a:srgbClr val="FF0000"/>
                </a:solidFill>
              </a:rPr>
              <a:t>微分方程</a:t>
            </a:r>
            <a:r>
              <a:rPr lang="zh-CN" altLang="en-US" sz="2000" b="1">
                <a:solidFill>
                  <a:schemeClr val="bg1"/>
                </a:solidFill>
              </a:rPr>
              <a:t>，通过积分求速度和运动学方程。注意由始末条件确定</a:t>
            </a:r>
            <a:r>
              <a:rPr lang="zh-CN" altLang="en-US" sz="2000" b="1">
                <a:solidFill>
                  <a:srgbClr val="FF0000"/>
                </a:solidFill>
              </a:rPr>
              <a:t>定积分上下限</a:t>
            </a:r>
            <a:r>
              <a:rPr lang="zh-CN" altLang="en-US" sz="2000" b="1">
                <a:solidFill>
                  <a:schemeClr val="bg1"/>
                </a:solidFill>
              </a:rPr>
              <a:t>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2">
            <a:extLst>
              <a:ext uri="{FF2B5EF4-FFF2-40B4-BE49-F238E27FC236}">
                <a16:creationId xmlns:a16="http://schemas.microsoft.com/office/drawing/2014/main" id="{2223AC92-4452-21DD-968F-196D17E51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333375"/>
            <a:ext cx="8172450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10800" bIns="10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sz="3200" b="1">
                <a:solidFill>
                  <a:srgbClr val="66FF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1.5  </a:t>
            </a:r>
            <a:r>
              <a:rPr kumimoji="1" lang="zh-CN" altLang="en-US" sz="3200" b="1">
                <a:solidFill>
                  <a:srgbClr val="66FF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圆周运动的角量描述  角量与线量的关系</a:t>
            </a:r>
          </a:p>
        </p:txBody>
      </p:sp>
      <p:sp>
        <p:nvSpPr>
          <p:cNvPr id="28675" name="Text Box 3">
            <a:extLst>
              <a:ext uri="{FF2B5EF4-FFF2-40B4-BE49-F238E27FC236}">
                <a16:creationId xmlns:a16="http://schemas.microsoft.com/office/drawing/2014/main" id="{DFEDE372-B665-D521-1918-10F43B9A17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350" y="5884863"/>
            <a:ext cx="606107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按右手法则确定</a:t>
            </a:r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kumimoji="1" lang="zh-CN" altLang="en-US" sz="2400" b="1" i="1">
                <a:solidFill>
                  <a:srgbClr val="66FF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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的正负变化</a:t>
            </a:r>
            <a:r>
              <a:rPr kumimoji="1" lang="en-US" altLang="zh-CN" sz="2400" b="1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逆时针为正。</a:t>
            </a:r>
          </a:p>
        </p:txBody>
      </p:sp>
      <p:graphicFrame>
        <p:nvGraphicFramePr>
          <p:cNvPr id="28676" name="Object 4">
            <a:extLst>
              <a:ext uri="{FF2B5EF4-FFF2-40B4-BE49-F238E27FC236}">
                <a16:creationId xmlns:a16="http://schemas.microsoft.com/office/drawing/2014/main" id="{F347089D-5A5A-4316-8F24-5F94E201EE80}"/>
              </a:ext>
            </a:extLst>
          </p:cNvPr>
          <p:cNvGraphicFramePr>
            <a:graphicFrameLocks/>
          </p:cNvGraphicFramePr>
          <p:nvPr/>
        </p:nvGraphicFramePr>
        <p:xfrm>
          <a:off x="1104900" y="4197350"/>
          <a:ext cx="1158875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27859" imgH="365688" progId="Equation.3">
                  <p:embed/>
                </p:oleObj>
              </mc:Choice>
              <mc:Fallback>
                <p:oleObj name="公式" r:id="rId2" imgW="1127859" imgH="365688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4900" y="4197350"/>
                        <a:ext cx="1158875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8" name="Oval 6">
            <a:extLst>
              <a:ext uri="{FF2B5EF4-FFF2-40B4-BE49-F238E27FC236}">
                <a16:creationId xmlns:a16="http://schemas.microsoft.com/office/drawing/2014/main" id="{9A839A99-1482-E382-175A-3F1A411D8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7425" y="3981450"/>
            <a:ext cx="1800225" cy="1800225"/>
          </a:xfrm>
          <a:prstGeom prst="ellipse">
            <a:avLst/>
          </a:prstGeom>
          <a:noFill/>
          <a:ln w="28575">
            <a:solidFill>
              <a:srgbClr val="66FF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79" name="Line 7">
            <a:extLst>
              <a:ext uri="{FF2B5EF4-FFF2-40B4-BE49-F238E27FC236}">
                <a16:creationId xmlns:a16="http://schemas.microsoft.com/office/drawing/2014/main" id="{B80E8085-5005-C8A9-3920-ED5E6CA6572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18225" y="4860925"/>
            <a:ext cx="2216150" cy="1588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80" name="Line 8">
            <a:extLst>
              <a:ext uri="{FF2B5EF4-FFF2-40B4-BE49-F238E27FC236}">
                <a16:creationId xmlns:a16="http://schemas.microsoft.com/office/drawing/2014/main" id="{48CA7643-D432-6248-C364-5C8FEE9B02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67538" y="4429125"/>
            <a:ext cx="790575" cy="433388"/>
          </a:xfrm>
          <a:prstGeom prst="line">
            <a:avLst/>
          </a:prstGeom>
          <a:noFill/>
          <a:ln w="28575">
            <a:solidFill>
              <a:srgbClr val="FFDC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81" name="Line 9">
            <a:extLst>
              <a:ext uri="{FF2B5EF4-FFF2-40B4-BE49-F238E27FC236}">
                <a16:creationId xmlns:a16="http://schemas.microsoft.com/office/drawing/2014/main" id="{699525A3-39B7-C60F-8B44-9D2242A6945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51663" y="4135438"/>
            <a:ext cx="503237" cy="720725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8682" name="Object 10">
            <a:extLst>
              <a:ext uri="{FF2B5EF4-FFF2-40B4-BE49-F238E27FC236}">
                <a16:creationId xmlns:a16="http://schemas.microsoft.com/office/drawing/2014/main" id="{F61EF0B7-C3DF-BA20-4286-8F75C70D53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31138" y="4232275"/>
          <a:ext cx="227012" cy="23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1548" imgH="274320" progId="Equation.3">
                  <p:embed/>
                </p:oleObj>
              </mc:Choice>
              <mc:Fallback>
                <p:oleObj name="Equation" r:id="rId4" imgW="251548" imgH="27432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31138" y="4232275"/>
                        <a:ext cx="227012" cy="236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3" name="Object 11">
            <a:extLst>
              <a:ext uri="{FF2B5EF4-FFF2-40B4-BE49-F238E27FC236}">
                <a16:creationId xmlns:a16="http://schemas.microsoft.com/office/drawing/2014/main" id="{9894FEBD-034D-0F2C-3B86-25812C0720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42213" y="3771900"/>
          <a:ext cx="238125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4239" imgH="365688" progId="Equation.3">
                  <p:embed/>
                </p:oleObj>
              </mc:Choice>
              <mc:Fallback>
                <p:oleObj name="Equation" r:id="rId6" imgW="274239" imgH="365688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2213" y="3771900"/>
                        <a:ext cx="238125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4" name="Object 12">
            <a:extLst>
              <a:ext uri="{FF2B5EF4-FFF2-40B4-BE49-F238E27FC236}">
                <a16:creationId xmlns:a16="http://schemas.microsoft.com/office/drawing/2014/main" id="{FF7A6BB6-7F3D-0088-CF03-5E0C2A63BE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77063" y="4895850"/>
          <a:ext cx="233362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74239" imgH="289656" progId="Equation.3">
                  <p:embed/>
                </p:oleObj>
              </mc:Choice>
              <mc:Fallback>
                <p:oleObj name="公式" r:id="rId8" imgW="274239" imgH="289656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7063" y="4895850"/>
                        <a:ext cx="233362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5" name="Object 13">
            <a:extLst>
              <a:ext uri="{FF2B5EF4-FFF2-40B4-BE49-F238E27FC236}">
                <a16:creationId xmlns:a16="http://schemas.microsoft.com/office/drawing/2014/main" id="{72B3BDDA-2F6E-7172-636D-385AAE4286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70775" y="4592638"/>
          <a:ext cx="187325" cy="255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5733" imgH="289656" progId="Equation.3">
                  <p:embed/>
                </p:oleObj>
              </mc:Choice>
              <mc:Fallback>
                <p:oleObj name="Equation" r:id="rId10" imgW="205733" imgH="289656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0775" y="4592638"/>
                        <a:ext cx="187325" cy="255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6" name="Object 14">
            <a:extLst>
              <a:ext uri="{FF2B5EF4-FFF2-40B4-BE49-F238E27FC236}">
                <a16:creationId xmlns:a16="http://schemas.microsoft.com/office/drawing/2014/main" id="{6F18000B-33F9-1D2F-A8A5-4B35F51220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54875" y="4305300"/>
          <a:ext cx="471488" cy="25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556258" imgH="289656" progId="Equation.3">
                  <p:embed/>
                </p:oleObj>
              </mc:Choice>
              <mc:Fallback>
                <p:oleObj name="公式" r:id="rId12" imgW="556258" imgH="289656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4875" y="4305300"/>
                        <a:ext cx="471488" cy="255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7" name="Object 15">
            <a:extLst>
              <a:ext uri="{FF2B5EF4-FFF2-40B4-BE49-F238E27FC236}">
                <a16:creationId xmlns:a16="http://schemas.microsoft.com/office/drawing/2014/main" id="{E08C7E6D-6BCB-36DB-3755-67B518EECA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05775" y="4949825"/>
          <a:ext cx="176213" cy="185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90606" imgH="205848" progId="Equation.3">
                  <p:embed/>
                </p:oleObj>
              </mc:Choice>
              <mc:Fallback>
                <p:oleObj name="公式" r:id="rId14" imgW="190606" imgH="205848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5775" y="4949825"/>
                        <a:ext cx="176213" cy="185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93" name="Text Box 21">
            <a:extLst>
              <a:ext uri="{FF2B5EF4-FFF2-40B4-BE49-F238E27FC236}">
                <a16:creationId xmlns:a16="http://schemas.microsoft.com/office/drawing/2014/main" id="{091D63B4-13BF-4C8E-F173-EAF67DAF76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" y="3552825"/>
            <a:ext cx="38862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rgbClr val="FFFF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一</a:t>
            </a:r>
            <a:r>
              <a:rPr kumimoji="1" lang="en-US" altLang="zh-CN" sz="2800" b="1">
                <a:solidFill>
                  <a:srgbClr val="FFFF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  <a:r>
              <a:rPr kumimoji="1" lang="zh-CN" altLang="en-US" sz="2800" b="1">
                <a:solidFill>
                  <a:srgbClr val="FFFF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角位置与角位移</a:t>
            </a:r>
            <a:endParaRPr kumimoji="1" lang="zh-CN" altLang="en-US" sz="2400" b="1">
              <a:solidFill>
                <a:srgbClr val="FFFF00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8696" name="Text Box 24">
            <a:extLst>
              <a:ext uri="{FF2B5EF4-FFF2-40B4-BE49-F238E27FC236}">
                <a16:creationId xmlns:a16="http://schemas.microsoft.com/office/drawing/2014/main" id="{9D486A73-C424-42E9-7C60-4EE4261346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4100" y="4132263"/>
            <a:ext cx="32004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角位置（运动学方程</a:t>
            </a:r>
            <a:r>
              <a:rPr kumimoji="1" lang="en-US" altLang="zh-CN" sz="2400" b="1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)</a:t>
            </a:r>
          </a:p>
        </p:txBody>
      </p:sp>
      <p:graphicFrame>
        <p:nvGraphicFramePr>
          <p:cNvPr id="28697" name="Object 25">
            <a:extLst>
              <a:ext uri="{FF2B5EF4-FFF2-40B4-BE49-F238E27FC236}">
                <a16:creationId xmlns:a16="http://schemas.microsoft.com/office/drawing/2014/main" id="{7FDA2899-B174-2264-6B74-034C0C7B55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81125" y="4818063"/>
          <a:ext cx="1436688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417225" imgH="289656" progId="Equation.3">
                  <p:embed/>
                </p:oleObj>
              </mc:Choice>
              <mc:Fallback>
                <p:oleObj name="公式" r:id="rId16" imgW="1417225" imgH="289656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1125" y="4818063"/>
                        <a:ext cx="1436688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98" name="Text Box 26">
            <a:extLst>
              <a:ext uri="{FF2B5EF4-FFF2-40B4-BE49-F238E27FC236}">
                <a16:creationId xmlns:a16="http://schemas.microsoft.com/office/drawing/2014/main" id="{3F85E7C7-DC7B-CA18-D81F-B6252E7B8B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00" y="4741863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当</a:t>
            </a:r>
          </a:p>
        </p:txBody>
      </p:sp>
      <p:sp>
        <p:nvSpPr>
          <p:cNvPr id="28699" name="Text Box 27">
            <a:extLst>
              <a:ext uri="{FF2B5EF4-FFF2-40B4-BE49-F238E27FC236}">
                <a16:creationId xmlns:a16="http://schemas.microsoft.com/office/drawing/2014/main" id="{AC1BCA16-7761-DA56-AB6B-48F0708808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5275263"/>
            <a:ext cx="4525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kumimoji="1" lang="zh-CN" altLang="en-US" sz="2400" b="1" i="1">
                <a:solidFill>
                  <a:srgbClr val="66FF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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为质点圆周运动的角位移</a:t>
            </a:r>
          </a:p>
        </p:txBody>
      </p:sp>
      <p:sp>
        <p:nvSpPr>
          <p:cNvPr id="28706" name="Arc 34">
            <a:extLst>
              <a:ext uri="{FF2B5EF4-FFF2-40B4-BE49-F238E27FC236}">
                <a16:creationId xmlns:a16="http://schemas.microsoft.com/office/drawing/2014/main" id="{16746999-28BE-BB84-27FF-70ED39576E8C}"/>
              </a:ext>
            </a:extLst>
          </p:cNvPr>
          <p:cNvSpPr>
            <a:spLocks/>
          </p:cNvSpPr>
          <p:nvPr/>
        </p:nvSpPr>
        <p:spPr bwMode="auto">
          <a:xfrm>
            <a:off x="7112000" y="4568825"/>
            <a:ext cx="152400" cy="122238"/>
          </a:xfrm>
          <a:custGeom>
            <a:avLst/>
            <a:gdLst>
              <a:gd name="T0" fmla="*/ 2147483646 w 21519"/>
              <a:gd name="T1" fmla="*/ 0 h 19964"/>
              <a:gd name="T2" fmla="*/ 2147483646 w 21519"/>
              <a:gd name="T3" fmla="*/ 2147483646 h 19964"/>
              <a:gd name="T4" fmla="*/ 0 w 21519"/>
              <a:gd name="T5" fmla="*/ 2147483646 h 1996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519" h="19964" fill="none" extrusionOk="0">
                <a:moveTo>
                  <a:pt x="8246" y="-1"/>
                </a:moveTo>
                <a:cubicBezTo>
                  <a:pt x="15703" y="3080"/>
                  <a:pt x="20822" y="10060"/>
                  <a:pt x="21519" y="18098"/>
                </a:cubicBezTo>
              </a:path>
              <a:path w="21519" h="19964" stroke="0" extrusionOk="0">
                <a:moveTo>
                  <a:pt x="8246" y="-1"/>
                </a:moveTo>
                <a:cubicBezTo>
                  <a:pt x="15703" y="3080"/>
                  <a:pt x="20822" y="10060"/>
                  <a:pt x="21519" y="18098"/>
                </a:cubicBezTo>
                <a:lnTo>
                  <a:pt x="0" y="19964"/>
                </a:lnTo>
                <a:lnTo>
                  <a:pt x="8246" y="-1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707" name="Oval 35">
            <a:extLst>
              <a:ext uri="{FF2B5EF4-FFF2-40B4-BE49-F238E27FC236}">
                <a16:creationId xmlns:a16="http://schemas.microsoft.com/office/drawing/2014/main" id="{2F25298D-8C43-C3FD-63A1-8224D75068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702550" y="4376738"/>
            <a:ext cx="104775" cy="111125"/>
          </a:xfrm>
          <a:prstGeom prst="ellipse">
            <a:avLst/>
          </a:prstGeom>
          <a:solidFill>
            <a:srgbClr val="FF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8708" name="Line 36">
            <a:extLst>
              <a:ext uri="{FF2B5EF4-FFF2-40B4-BE49-F238E27FC236}">
                <a16:creationId xmlns:a16="http://schemas.microsoft.com/office/drawing/2014/main" id="{AC3A3165-BAA3-58A2-16F5-584AC44676D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946900" y="3729038"/>
            <a:ext cx="20638" cy="1844675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8709" name="Object 37">
            <a:extLst>
              <a:ext uri="{FF2B5EF4-FFF2-40B4-BE49-F238E27FC236}">
                <a16:creationId xmlns:a16="http://schemas.microsoft.com/office/drawing/2014/main" id="{9AE571C0-BC22-4A65-C54A-852796CBFD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43738" y="3686175"/>
          <a:ext cx="193675" cy="24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13297" imgH="281880" progId="Equation.3">
                  <p:embed/>
                </p:oleObj>
              </mc:Choice>
              <mc:Fallback>
                <p:oleObj name="公式" r:id="rId18" imgW="213297" imgH="28188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3738" y="3686175"/>
                        <a:ext cx="193675" cy="242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10" name="Arc 38">
            <a:extLst>
              <a:ext uri="{FF2B5EF4-FFF2-40B4-BE49-F238E27FC236}">
                <a16:creationId xmlns:a16="http://schemas.microsoft.com/office/drawing/2014/main" id="{6551113C-4AE8-F2E5-70E4-69F6A06223D1}"/>
              </a:ext>
            </a:extLst>
          </p:cNvPr>
          <p:cNvSpPr>
            <a:spLocks/>
          </p:cNvSpPr>
          <p:nvPr/>
        </p:nvSpPr>
        <p:spPr bwMode="auto">
          <a:xfrm>
            <a:off x="7367588" y="4646613"/>
            <a:ext cx="71437" cy="215900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>
            <a:solidFill>
              <a:srgbClr val="FFDC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711" name="Oval 39">
            <a:extLst>
              <a:ext uri="{FF2B5EF4-FFF2-40B4-BE49-F238E27FC236}">
                <a16:creationId xmlns:a16="http://schemas.microsoft.com/office/drawing/2014/main" id="{1B3C1A2C-3B32-7B2A-6787-5C5AF9E219D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08863" y="4070350"/>
            <a:ext cx="104775" cy="104775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7D3AE8-3FD4-9100-25F2-4E9BD163A7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5" y="908050"/>
            <a:ext cx="7599363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sz="2400" b="1">
                <a:solidFill>
                  <a:schemeClr val="bg1"/>
                </a:solidFill>
              </a:rPr>
              <a:t>当质点绕定点或定轴转动时，质点做圆周运动，质点任意时刻的位置可以用圆周上的</a:t>
            </a:r>
            <a:r>
              <a:rPr lang="zh-CN" altLang="en-US" sz="2400" b="1">
                <a:solidFill>
                  <a:srgbClr val="FFC000"/>
                </a:solidFill>
              </a:rPr>
              <a:t>角度坐标</a:t>
            </a:r>
            <a:r>
              <a:rPr lang="zh-CN" altLang="en-US" sz="2400" b="1">
                <a:solidFill>
                  <a:schemeClr val="bg1"/>
                </a:solidFill>
              </a:rPr>
              <a:t>来确定。</a:t>
            </a:r>
            <a:endParaRPr lang="en-US" altLang="zh-CN" sz="2400" b="1">
              <a:solidFill>
                <a:schemeClr val="bg1"/>
              </a:solidFill>
            </a:endParaRPr>
          </a:p>
          <a:p>
            <a:pPr eaLnBrk="1" hangingPunct="1">
              <a:lnSpc>
                <a:spcPct val="125000"/>
              </a:lnSpc>
            </a:pPr>
            <a:r>
              <a:rPr lang="zh-CN" altLang="en-US" sz="2400" b="1">
                <a:solidFill>
                  <a:srgbClr val="FFC000"/>
                </a:solidFill>
              </a:rPr>
              <a:t>线量</a:t>
            </a:r>
            <a:r>
              <a:rPr lang="en-US" altLang="zh-CN" sz="2400" b="1">
                <a:solidFill>
                  <a:schemeClr val="bg1"/>
                </a:solidFill>
              </a:rPr>
              <a:t>: </a:t>
            </a:r>
            <a:r>
              <a:rPr lang="zh-CN" altLang="en-US" sz="2400" b="1">
                <a:solidFill>
                  <a:schemeClr val="bg1"/>
                </a:solidFill>
              </a:rPr>
              <a:t>自然坐标系下以运动曲线为基准的基本参量</a:t>
            </a:r>
            <a:r>
              <a:rPr lang="en-US" altLang="zh-CN" sz="2400" b="1">
                <a:solidFill>
                  <a:schemeClr val="bg1"/>
                </a:solidFill>
              </a:rPr>
              <a:t>.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2400" b="1">
                <a:solidFill>
                  <a:srgbClr val="FFC000"/>
                </a:solidFill>
              </a:rPr>
              <a:t>角量</a:t>
            </a:r>
            <a:r>
              <a:rPr lang="en-US" altLang="zh-CN" sz="2400" b="1">
                <a:solidFill>
                  <a:schemeClr val="bg1"/>
                </a:solidFill>
              </a:rPr>
              <a:t>: </a:t>
            </a:r>
            <a:r>
              <a:rPr lang="zh-CN" altLang="en-US" sz="2400" b="1">
                <a:solidFill>
                  <a:schemeClr val="bg1"/>
                </a:solidFill>
              </a:rPr>
              <a:t>极坐标系下以</a:t>
            </a:r>
            <a:r>
              <a:rPr lang="zh-CN" altLang="en-US" sz="2400" b="1">
                <a:solidFill>
                  <a:srgbClr val="FFC000"/>
                </a:solidFill>
              </a:rPr>
              <a:t>旋转角度</a:t>
            </a:r>
            <a:r>
              <a:rPr lang="zh-CN" altLang="en-US" sz="2400" b="1">
                <a:solidFill>
                  <a:schemeClr val="bg1"/>
                </a:solidFill>
              </a:rPr>
              <a:t>为基准的基本参量</a:t>
            </a:r>
            <a:r>
              <a:rPr lang="en-US" altLang="zh-CN" sz="2400" b="1">
                <a:solidFill>
                  <a:schemeClr val="bg1"/>
                </a:solidFill>
              </a:rPr>
              <a:t>.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2400" b="1">
                <a:solidFill>
                  <a:schemeClr val="bg1"/>
                </a:solidFill>
              </a:rPr>
              <a:t>它们存在着一一对应的概念和数学换算关系。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A491BD-2043-FA54-9407-4F8F7D7974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2875" y="5884863"/>
            <a:ext cx="22113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chemeClr val="bg1"/>
                </a:solidFill>
              </a:rPr>
              <a:t>国际单位：</a:t>
            </a:r>
            <a:r>
              <a:rPr lang="en-US" altLang="zh-CN" sz="2400" b="1">
                <a:solidFill>
                  <a:schemeClr val="bg1"/>
                </a:solidFill>
              </a:rPr>
              <a:t>rad</a:t>
            </a:r>
            <a:endParaRPr lang="zh-CN" altLang="en-US" sz="24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8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8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1000"/>
                                        <p:tgtEl>
                                          <p:spTgt spid="28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8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8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1000"/>
                                        <p:tgtEl>
                                          <p:spTgt spid="28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8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8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8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8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8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8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8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9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8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autoUpdateAnimBg="0"/>
      <p:bldP spid="28678" grpId="0" animBg="1" autoUpdateAnimBg="0"/>
      <p:bldP spid="28693" grpId="0" autoUpdateAnimBg="0"/>
      <p:bldP spid="28696" grpId="0" autoUpdateAnimBg="0"/>
      <p:bldP spid="28698" grpId="0" autoUpdateAnimBg="0"/>
      <p:bldP spid="28699" grpId="0" autoUpdateAnimBg="0"/>
      <p:bldP spid="28707" grpId="0" animBg="1"/>
      <p:bldP spid="28711" grpId="0" animBg="1"/>
      <p:bldP spid="2" grpId="0"/>
      <p:bldP spid="3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5">
            <a:extLst>
              <a:ext uri="{FF2B5EF4-FFF2-40B4-BE49-F238E27FC236}">
                <a16:creationId xmlns:a16="http://schemas.microsoft.com/office/drawing/2014/main" id="{6D3BA7A9-7110-1941-19ED-BAFEBECB9E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1803400"/>
          <a:ext cx="2938462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910736" imgH="807624" progId="Equation.3">
                  <p:embed/>
                </p:oleObj>
              </mc:Choice>
              <mc:Fallback>
                <p:oleObj name="公式" r:id="rId2" imgW="2910736" imgH="807624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803400"/>
                        <a:ext cx="2938462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Oval 16">
            <a:extLst>
              <a:ext uri="{FF2B5EF4-FFF2-40B4-BE49-F238E27FC236}">
                <a16:creationId xmlns:a16="http://schemas.microsoft.com/office/drawing/2014/main" id="{8DFDC675-4BDA-D0FE-49AD-0492A6B89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7888" y="788988"/>
            <a:ext cx="2209800" cy="990600"/>
          </a:xfrm>
          <a:prstGeom prst="ellips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" name="Line 17">
            <a:extLst>
              <a:ext uri="{FF2B5EF4-FFF2-40B4-BE49-F238E27FC236}">
                <a16:creationId xmlns:a16="http://schemas.microsoft.com/office/drawing/2014/main" id="{0D2A9259-7D60-7AB0-4478-529F1FC6499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24688" y="255588"/>
            <a:ext cx="0" cy="99060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" name="Object 18">
            <a:extLst>
              <a:ext uri="{FF2B5EF4-FFF2-40B4-BE49-F238E27FC236}">
                <a16:creationId xmlns:a16="http://schemas.microsoft.com/office/drawing/2014/main" id="{2CB99CC8-BEBA-8B92-1592-C8666153C8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38988" y="220663"/>
          <a:ext cx="579437" cy="29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701049" imgH="350568" progId="Equation.3">
                  <p:embed/>
                </p:oleObj>
              </mc:Choice>
              <mc:Fallback>
                <p:oleObj name="公式" r:id="rId4" imgW="701049" imgH="350568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8988" y="220663"/>
                        <a:ext cx="579437" cy="29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Line 19">
            <a:extLst>
              <a:ext uri="{FF2B5EF4-FFF2-40B4-BE49-F238E27FC236}">
                <a16:creationId xmlns:a16="http://schemas.microsoft.com/office/drawing/2014/main" id="{8A130A52-F55B-174F-0B1F-536257627BDD}"/>
              </a:ext>
            </a:extLst>
          </p:cNvPr>
          <p:cNvSpPr>
            <a:spLocks noChangeShapeType="1"/>
          </p:cNvSpPr>
          <p:nvPr/>
        </p:nvSpPr>
        <p:spPr bwMode="auto">
          <a:xfrm>
            <a:off x="7024688" y="1246188"/>
            <a:ext cx="685800" cy="45720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Line 20">
            <a:extLst>
              <a:ext uri="{FF2B5EF4-FFF2-40B4-BE49-F238E27FC236}">
                <a16:creationId xmlns:a16="http://schemas.microsoft.com/office/drawing/2014/main" id="{F9B4D8EE-4590-B9BD-2302-4A3F29264B77}"/>
              </a:ext>
            </a:extLst>
          </p:cNvPr>
          <p:cNvSpPr>
            <a:spLocks noChangeShapeType="1"/>
          </p:cNvSpPr>
          <p:nvPr/>
        </p:nvSpPr>
        <p:spPr bwMode="auto">
          <a:xfrm>
            <a:off x="7024688" y="1246188"/>
            <a:ext cx="1143000" cy="7620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Text Box 22">
            <a:extLst>
              <a:ext uri="{FF2B5EF4-FFF2-40B4-BE49-F238E27FC236}">
                <a16:creationId xmlns:a16="http://schemas.microsoft.com/office/drawing/2014/main" id="{ED8328E5-018E-595F-DA15-CF48D7ABE8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1179513"/>
            <a:ext cx="426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质点作圆周运动的角速度为</a:t>
            </a:r>
            <a:endParaRPr kumimoji="1" lang="zh-CN" altLang="en-US" sz="1200" b="1">
              <a:solidFill>
                <a:srgbClr val="FFFFCC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9" name="Text Box 23">
            <a:extLst>
              <a:ext uri="{FF2B5EF4-FFF2-40B4-BE49-F238E27FC236}">
                <a16:creationId xmlns:a16="http://schemas.microsoft.com/office/drawing/2014/main" id="{42097ABA-486F-1D64-3A74-D3C186945C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1288" y="2058988"/>
            <a:ext cx="47244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描述质点转动快慢和方向的物理量</a:t>
            </a:r>
          </a:p>
        </p:txBody>
      </p:sp>
      <p:sp>
        <p:nvSpPr>
          <p:cNvPr id="51210" name="Text Box 28">
            <a:extLst>
              <a:ext uri="{FF2B5EF4-FFF2-40B4-BE49-F238E27FC236}">
                <a16:creationId xmlns:a16="http://schemas.microsoft.com/office/drawing/2014/main" id="{DBC78AE2-6CBD-96C1-EA81-9A23808AAD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55588"/>
            <a:ext cx="21336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rgbClr val="FFFF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二</a:t>
            </a:r>
            <a:r>
              <a:rPr kumimoji="1" lang="en-US" altLang="zh-CN" sz="2800" b="1">
                <a:solidFill>
                  <a:srgbClr val="FFFF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  <a:r>
              <a:rPr kumimoji="1" lang="zh-CN" altLang="en-US" sz="2800" b="1">
                <a:solidFill>
                  <a:srgbClr val="FFFF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角速度</a:t>
            </a:r>
            <a:br>
              <a:rPr kumimoji="1" lang="zh-CN" altLang="en-US" sz="2800" b="1">
                <a:solidFill>
                  <a:srgbClr val="FFFF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</a:br>
            <a:endParaRPr kumimoji="1" lang="zh-CN" altLang="en-US" sz="1200" b="1">
              <a:solidFill>
                <a:srgbClr val="FFFF00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11" name="Object 29">
            <a:extLst>
              <a:ext uri="{FF2B5EF4-FFF2-40B4-BE49-F238E27FC236}">
                <a16:creationId xmlns:a16="http://schemas.microsoft.com/office/drawing/2014/main" id="{428ECBAA-ED24-18A7-F729-374B0D4CB3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67488" y="330200"/>
          <a:ext cx="223837" cy="18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1548" imgH="205848" progId="Equation.3">
                  <p:embed/>
                </p:oleObj>
              </mc:Choice>
              <mc:Fallback>
                <p:oleObj name="Equation" r:id="rId6" imgW="251548" imgH="205848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7488" y="330200"/>
                        <a:ext cx="223837" cy="18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0">
            <a:extLst>
              <a:ext uri="{FF2B5EF4-FFF2-40B4-BE49-F238E27FC236}">
                <a16:creationId xmlns:a16="http://schemas.microsoft.com/office/drawing/2014/main" id="{F6DB6477-E756-BC39-8CEF-6EB31574F5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8088" y="1766888"/>
          <a:ext cx="223837" cy="233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1548" imgH="274320" progId="Equation.3">
                  <p:embed/>
                </p:oleObj>
              </mc:Choice>
              <mc:Fallback>
                <p:oleObj name="Equation" r:id="rId8" imgW="251548" imgH="27432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8088" y="1766888"/>
                        <a:ext cx="223837" cy="233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31">
            <a:extLst>
              <a:ext uri="{FF2B5EF4-FFF2-40B4-BE49-F238E27FC236}">
                <a16:creationId xmlns:a16="http://schemas.microsoft.com/office/drawing/2014/main" id="{3AAE1224-CCFF-CF74-A88C-789B87B198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32588" y="1157288"/>
          <a:ext cx="215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0606" imgH="205848" progId="Equation.3">
                  <p:embed/>
                </p:oleObj>
              </mc:Choice>
              <mc:Fallback>
                <p:oleObj name="Equation" r:id="rId10" imgW="190606" imgH="205848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588" y="1157288"/>
                        <a:ext cx="2159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32">
            <a:extLst>
              <a:ext uri="{FF2B5EF4-FFF2-40B4-BE49-F238E27FC236}">
                <a16:creationId xmlns:a16="http://schemas.microsoft.com/office/drawing/2014/main" id="{BB9413F7-41C7-71F6-2A56-C476F4AF95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75" y="1209675"/>
          <a:ext cx="233363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74239" imgH="365688" progId="Equation.3">
                  <p:embed/>
                </p:oleObj>
              </mc:Choice>
              <mc:Fallback>
                <p:oleObj name="Equation" r:id="rId12" imgW="274239" imgH="365688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75" y="1209675"/>
                        <a:ext cx="233363" cy="312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33">
            <a:extLst>
              <a:ext uri="{FF2B5EF4-FFF2-40B4-BE49-F238E27FC236}">
                <a16:creationId xmlns:a16="http://schemas.microsoft.com/office/drawing/2014/main" id="{031AD154-10EE-D70D-9BC3-8E2E8CC2B3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1738" y="1338263"/>
          <a:ext cx="431800" cy="255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510443" imgH="289656" progId="Equation.3">
                  <p:embed/>
                </p:oleObj>
              </mc:Choice>
              <mc:Fallback>
                <p:oleObj name="公式" r:id="rId14" imgW="510443" imgH="289656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1738" y="1338263"/>
                        <a:ext cx="431800" cy="255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Arc 40">
            <a:extLst>
              <a:ext uri="{FF2B5EF4-FFF2-40B4-BE49-F238E27FC236}">
                <a16:creationId xmlns:a16="http://schemas.microsoft.com/office/drawing/2014/main" id="{431D57CC-900D-A180-237D-2162695FEB91}"/>
              </a:ext>
            </a:extLst>
          </p:cNvPr>
          <p:cNvSpPr>
            <a:spLocks/>
          </p:cNvSpPr>
          <p:nvPr/>
        </p:nvSpPr>
        <p:spPr bwMode="auto">
          <a:xfrm flipV="1">
            <a:off x="7407275" y="1304925"/>
            <a:ext cx="144463" cy="204788"/>
          </a:xfrm>
          <a:custGeom>
            <a:avLst/>
            <a:gdLst>
              <a:gd name="T0" fmla="*/ 2147483646 w 21600"/>
              <a:gd name="T1" fmla="*/ 0 h 20420"/>
              <a:gd name="T2" fmla="*/ 2147483646 w 21600"/>
              <a:gd name="T3" fmla="*/ 2147483646 h 20420"/>
              <a:gd name="T4" fmla="*/ 0 w 21600"/>
              <a:gd name="T5" fmla="*/ 2147483646 h 2042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0420" fill="none" extrusionOk="0">
                <a:moveTo>
                  <a:pt x="7041" y="-1"/>
                </a:moveTo>
                <a:cubicBezTo>
                  <a:pt x="15753" y="3003"/>
                  <a:pt x="21600" y="11204"/>
                  <a:pt x="21600" y="20420"/>
                </a:cubicBezTo>
              </a:path>
              <a:path w="21600" h="20420" stroke="0" extrusionOk="0">
                <a:moveTo>
                  <a:pt x="7041" y="-1"/>
                </a:moveTo>
                <a:cubicBezTo>
                  <a:pt x="15753" y="3003"/>
                  <a:pt x="21600" y="11204"/>
                  <a:pt x="21600" y="20420"/>
                </a:cubicBezTo>
                <a:lnTo>
                  <a:pt x="0" y="20420"/>
                </a:lnTo>
                <a:lnTo>
                  <a:pt x="7041" y="-1"/>
                </a:lnTo>
                <a:close/>
              </a:path>
            </a:pathLst>
          </a:custGeom>
          <a:noFill/>
          <a:ln w="19050">
            <a:solidFill>
              <a:srgbClr val="FFFF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45988E-6101-8E07-0FD4-458990CB0B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600" y="2636838"/>
            <a:ext cx="7777163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chemeClr val="bg1"/>
                </a:solidFill>
              </a:rPr>
              <a:t>矢量</a:t>
            </a:r>
            <a:r>
              <a:rPr lang="en-US" altLang="zh-CN" sz="2400" b="1" i="1">
                <a:solidFill>
                  <a:schemeClr val="bg1"/>
                </a:solidFill>
              </a:rPr>
              <a:t>k</a:t>
            </a:r>
            <a:r>
              <a:rPr lang="zh-CN" altLang="en-US" sz="2400" b="1">
                <a:solidFill>
                  <a:schemeClr val="bg1"/>
                </a:solidFill>
              </a:rPr>
              <a:t>反映角速度的方向，与质点旋转的平面垂直，指向右手螺旋的方向。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3048645-70B9-E143-9D09-CE1D2D7146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75" y="606425"/>
            <a:ext cx="24669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chemeClr val="bg1"/>
                </a:solidFill>
              </a:rPr>
              <a:t>国际单位：</a:t>
            </a:r>
            <a:r>
              <a:rPr lang="en-US" altLang="zh-CN" sz="2400" b="1">
                <a:solidFill>
                  <a:schemeClr val="bg1"/>
                </a:solidFill>
              </a:rPr>
              <a:t>rad/s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graphicFrame>
        <p:nvGraphicFramePr>
          <p:cNvPr id="49" name="Object 2">
            <a:extLst>
              <a:ext uri="{FF2B5EF4-FFF2-40B4-BE49-F238E27FC236}">
                <a16:creationId xmlns:a16="http://schemas.microsoft.com/office/drawing/2014/main" id="{08A1C9D1-D8B1-64D9-74D2-49C2B01C0A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9350" y="4557713"/>
          <a:ext cx="3298825" cy="30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3261261" imgH="281880" progId="Equation.3">
                  <p:embed/>
                </p:oleObj>
              </mc:Choice>
              <mc:Fallback>
                <p:oleObj name="公式" r:id="rId16" imgW="3261261" imgH="28188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9350" y="4557713"/>
                        <a:ext cx="3298825" cy="306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3">
            <a:extLst>
              <a:ext uri="{FF2B5EF4-FFF2-40B4-BE49-F238E27FC236}">
                <a16:creationId xmlns:a16="http://schemas.microsoft.com/office/drawing/2014/main" id="{B870F06F-3A30-ED70-A626-4306DBE06F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95375" y="5092700"/>
          <a:ext cx="3935413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3939619" imgH="899208" progId="Equation.3">
                  <p:embed/>
                </p:oleObj>
              </mc:Choice>
              <mc:Fallback>
                <p:oleObj name="公式" r:id="rId18" imgW="3939619" imgH="899208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5375" y="5092700"/>
                        <a:ext cx="3935413" cy="925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Oval 11">
            <a:extLst>
              <a:ext uri="{FF2B5EF4-FFF2-40B4-BE49-F238E27FC236}">
                <a16:creationId xmlns:a16="http://schemas.microsoft.com/office/drawing/2014/main" id="{1AE10AC0-3E0A-B39A-D1BA-42B355792F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5750" y="3378200"/>
            <a:ext cx="2057400" cy="1066800"/>
          </a:xfrm>
          <a:prstGeom prst="ellips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9" name="Line 12">
            <a:extLst>
              <a:ext uri="{FF2B5EF4-FFF2-40B4-BE49-F238E27FC236}">
                <a16:creationId xmlns:a16="http://schemas.microsoft.com/office/drawing/2014/main" id="{88777170-BE74-ACF7-7B78-A75EB0A885D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21600" y="3116263"/>
            <a:ext cx="0" cy="823912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60" name="Object 13">
            <a:extLst>
              <a:ext uri="{FF2B5EF4-FFF2-40B4-BE49-F238E27FC236}">
                <a16:creationId xmlns:a16="http://schemas.microsoft.com/office/drawing/2014/main" id="{92773AC5-6B49-3E00-C86F-F0D9B00E0F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46950" y="3105150"/>
          <a:ext cx="18415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205733" imgH="251424" progId="Equation.3">
                  <p:embed/>
                </p:oleObj>
              </mc:Choice>
              <mc:Fallback>
                <p:oleObj name="公式" r:id="rId20" imgW="205733" imgH="251424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46950" y="3105150"/>
                        <a:ext cx="18415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Line 14">
            <a:extLst>
              <a:ext uri="{FF2B5EF4-FFF2-40B4-BE49-F238E27FC236}">
                <a16:creationId xmlns:a16="http://schemas.microsoft.com/office/drawing/2014/main" id="{DAF11EAC-4E24-50CA-EA7B-B868B07FA245}"/>
              </a:ext>
            </a:extLst>
          </p:cNvPr>
          <p:cNvSpPr>
            <a:spLocks noChangeShapeType="1"/>
          </p:cNvSpPr>
          <p:nvPr/>
        </p:nvSpPr>
        <p:spPr bwMode="auto">
          <a:xfrm>
            <a:off x="7721600" y="3940175"/>
            <a:ext cx="766763" cy="279400"/>
          </a:xfrm>
          <a:prstGeom prst="line">
            <a:avLst/>
          </a:prstGeom>
          <a:noFill/>
          <a:ln w="31750">
            <a:solidFill>
              <a:srgbClr val="00FF00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62" name="Object 15">
            <a:extLst>
              <a:ext uri="{FF2B5EF4-FFF2-40B4-BE49-F238E27FC236}">
                <a16:creationId xmlns:a16="http://schemas.microsoft.com/office/drawing/2014/main" id="{C810D50D-20E9-2192-41F8-64C496573D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45450" y="3771900"/>
          <a:ext cx="150813" cy="17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67699" imgH="190512" progId="Equation.3">
                  <p:embed/>
                </p:oleObj>
              </mc:Choice>
              <mc:Fallback>
                <p:oleObj name="Equation" r:id="rId22" imgW="167699" imgH="190512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45450" y="3771900"/>
                        <a:ext cx="150813" cy="171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16">
            <a:extLst>
              <a:ext uri="{FF2B5EF4-FFF2-40B4-BE49-F238E27FC236}">
                <a16:creationId xmlns:a16="http://schemas.microsoft.com/office/drawing/2014/main" id="{9112D6A1-C7D2-0988-4435-A695D1876F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72350" y="3790950"/>
          <a:ext cx="233363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274239" imgH="289656" progId="Equation.3">
                  <p:embed/>
                </p:oleObj>
              </mc:Choice>
              <mc:Fallback>
                <p:oleObj name="公式" r:id="rId24" imgW="274239" imgH="289656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72350" y="3790950"/>
                        <a:ext cx="233363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Object 17">
            <a:extLst>
              <a:ext uri="{FF2B5EF4-FFF2-40B4-BE49-F238E27FC236}">
                <a16:creationId xmlns:a16="http://schemas.microsoft.com/office/drawing/2014/main" id="{E8BF3975-6402-3400-14A6-0D8431F1F1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64563" y="4252913"/>
          <a:ext cx="223837" cy="233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51548" imgH="274320" progId="Equation.3">
                  <p:embed/>
                </p:oleObj>
              </mc:Choice>
              <mc:Fallback>
                <p:oleObj name="Equation" r:id="rId26" imgW="251548" imgH="27432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64563" y="4252913"/>
                        <a:ext cx="223837" cy="233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Object 18">
            <a:extLst>
              <a:ext uri="{FF2B5EF4-FFF2-40B4-BE49-F238E27FC236}">
                <a16:creationId xmlns:a16="http://schemas.microsoft.com/office/drawing/2014/main" id="{A994E199-DE3C-382C-B793-5DAD73F4EE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59750" y="3062288"/>
          <a:ext cx="363538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434374" imgH="289656" progId="Equation.3">
                  <p:embed/>
                </p:oleObj>
              </mc:Choice>
              <mc:Fallback>
                <p:oleObj name="Equation" r:id="rId28" imgW="434374" imgH="289656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9750" y="3062288"/>
                        <a:ext cx="363538" cy="250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" name="Line 19">
            <a:extLst>
              <a:ext uri="{FF2B5EF4-FFF2-40B4-BE49-F238E27FC236}">
                <a16:creationId xmlns:a16="http://schemas.microsoft.com/office/drawing/2014/main" id="{3624ABB9-3ACF-C572-1FDD-58787444E24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21600" y="3328988"/>
            <a:ext cx="0" cy="611187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67" name="Object 20">
            <a:extLst>
              <a:ext uri="{FF2B5EF4-FFF2-40B4-BE49-F238E27FC236}">
                <a16:creationId xmlns:a16="http://schemas.microsoft.com/office/drawing/2014/main" id="{A9737F03-3B76-4784-1CC1-D933F78E7F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72413" y="3063875"/>
          <a:ext cx="233362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274239" imgH="365688" progId="Equation.3">
                  <p:embed/>
                </p:oleObj>
              </mc:Choice>
              <mc:Fallback>
                <p:oleObj name="Equation" r:id="rId30" imgW="274239" imgH="365688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2413" y="3063875"/>
                        <a:ext cx="233362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" name="Text Box 21">
            <a:extLst>
              <a:ext uri="{FF2B5EF4-FFF2-40B4-BE49-F238E27FC236}">
                <a16:creationId xmlns:a16="http://schemas.microsoft.com/office/drawing/2014/main" id="{B3341206-A47D-9BAE-E696-C4904664F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575" y="3462338"/>
            <a:ext cx="3048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rgbClr val="FFFF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三</a:t>
            </a:r>
            <a:r>
              <a:rPr kumimoji="1" lang="en-US" altLang="zh-CN" sz="2800" b="1">
                <a:solidFill>
                  <a:srgbClr val="FFFF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  <a:r>
              <a:rPr kumimoji="1" lang="zh-CN" altLang="en-US" sz="2800" b="1">
                <a:solidFill>
                  <a:srgbClr val="FFFF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角加速度</a:t>
            </a:r>
          </a:p>
        </p:txBody>
      </p:sp>
      <p:sp>
        <p:nvSpPr>
          <p:cNvPr id="69" name="Text Box 22">
            <a:extLst>
              <a:ext uri="{FF2B5EF4-FFF2-40B4-BE49-F238E27FC236}">
                <a16:creationId xmlns:a16="http://schemas.microsoft.com/office/drawing/2014/main" id="{8E70AD41-5928-37BD-FE70-408878AB9B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5525" y="3949700"/>
            <a:ext cx="51054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rgbClr val="66FF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角加速度</a:t>
            </a:r>
            <a:r>
              <a:rPr kumimoji="1" lang="zh-CN" altLang="en-US" sz="2400" b="1">
                <a:solidFill>
                  <a:srgbClr val="FFFFCC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 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角速度对时间的一阶导数</a:t>
            </a:r>
            <a:endParaRPr kumimoji="1" lang="zh-CN" altLang="en-US" sz="1200" b="1">
              <a:solidFill>
                <a:schemeClr val="bg1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70" name="Text Box 23">
            <a:extLst>
              <a:ext uri="{FF2B5EF4-FFF2-40B4-BE49-F238E27FC236}">
                <a16:creationId xmlns:a16="http://schemas.microsoft.com/office/drawing/2014/main" id="{D76E5F3E-3A17-9CA6-82DE-640D903D47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325" y="6159500"/>
            <a:ext cx="381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角加速度的方向与</a:t>
            </a:r>
            <a:endParaRPr kumimoji="1" lang="zh-CN" altLang="en-US" sz="1200" b="1">
              <a:solidFill>
                <a:schemeClr val="bg1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71" name="Object 24">
            <a:extLst>
              <a:ext uri="{FF2B5EF4-FFF2-40B4-BE49-F238E27FC236}">
                <a16:creationId xmlns:a16="http://schemas.microsoft.com/office/drawing/2014/main" id="{3830C713-7729-18EB-F1A9-37E204A5AE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40125" y="6232525"/>
          <a:ext cx="45402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2" imgW="434374" imgH="327672" progId="Equation.3">
                  <p:embed/>
                </p:oleObj>
              </mc:Choice>
              <mc:Fallback>
                <p:oleObj name="公式" r:id="rId32" imgW="434374" imgH="327672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0125" y="6232525"/>
                        <a:ext cx="454025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" name="Rectangle 44">
            <a:extLst>
              <a:ext uri="{FF2B5EF4-FFF2-40B4-BE49-F238E27FC236}">
                <a16:creationId xmlns:a16="http://schemas.microsoft.com/office/drawing/2014/main" id="{C1F394D3-0F60-FAE9-8865-C87B10EE18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1125" y="6159500"/>
            <a:ext cx="1704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的方向相同</a:t>
            </a:r>
          </a:p>
        </p:txBody>
      </p:sp>
      <p:sp>
        <p:nvSpPr>
          <p:cNvPr id="75" name="Freeform 56">
            <a:extLst>
              <a:ext uri="{FF2B5EF4-FFF2-40B4-BE49-F238E27FC236}">
                <a16:creationId xmlns:a16="http://schemas.microsoft.com/office/drawing/2014/main" id="{26B59162-F3E9-BA0C-6B5E-5D016658D053}"/>
              </a:ext>
            </a:extLst>
          </p:cNvPr>
          <p:cNvSpPr>
            <a:spLocks/>
          </p:cNvSpPr>
          <p:nvPr/>
        </p:nvSpPr>
        <p:spPr bwMode="auto">
          <a:xfrm>
            <a:off x="7480300" y="4530725"/>
            <a:ext cx="503238" cy="68263"/>
          </a:xfrm>
          <a:custGeom>
            <a:avLst/>
            <a:gdLst>
              <a:gd name="T0" fmla="*/ 0 w 317"/>
              <a:gd name="T1" fmla="*/ 2147483646 h 43"/>
              <a:gd name="T2" fmla="*/ 2147483646 w 317"/>
              <a:gd name="T3" fmla="*/ 2147483646 h 43"/>
              <a:gd name="T4" fmla="*/ 2147483646 w 317"/>
              <a:gd name="T5" fmla="*/ 2147483646 h 43"/>
              <a:gd name="T6" fmla="*/ 2147483646 w 317"/>
              <a:gd name="T7" fmla="*/ 0 h 4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17" h="43">
                <a:moveTo>
                  <a:pt x="0" y="15"/>
                </a:moveTo>
                <a:cubicBezTo>
                  <a:pt x="13" y="19"/>
                  <a:pt x="48" y="33"/>
                  <a:pt x="77" y="37"/>
                </a:cubicBezTo>
                <a:cubicBezTo>
                  <a:pt x="106" y="41"/>
                  <a:pt x="143" y="43"/>
                  <a:pt x="173" y="40"/>
                </a:cubicBezTo>
                <a:cubicBezTo>
                  <a:pt x="203" y="37"/>
                  <a:pt x="287" y="8"/>
                  <a:pt x="317" y="0"/>
                </a:cubicBezTo>
              </a:path>
            </a:pathLst>
          </a:custGeom>
          <a:noFill/>
          <a:ln w="19050" cmpd="sng">
            <a:solidFill>
              <a:schemeClr val="bg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2004477-F0DE-1C58-3729-9BF502C906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2900" y="3494088"/>
            <a:ext cx="2819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chemeClr val="bg1"/>
                </a:solidFill>
              </a:rPr>
              <a:t>国际单位：</a:t>
            </a:r>
            <a:r>
              <a:rPr lang="en-US" altLang="zh-CN" sz="2400" b="1">
                <a:solidFill>
                  <a:schemeClr val="bg1"/>
                </a:solidFill>
              </a:rPr>
              <a:t>rad/s^2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graphicFrame>
        <p:nvGraphicFramePr>
          <p:cNvPr id="104" name="Object 26">
            <a:extLst>
              <a:ext uri="{FF2B5EF4-FFF2-40B4-BE49-F238E27FC236}">
                <a16:creationId xmlns:a16="http://schemas.microsoft.com/office/drawing/2014/main" id="{4F27FBC3-60C9-EF77-9952-33073070A8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70825" y="6430963"/>
          <a:ext cx="409575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434374" imgH="289656" progId="Equation.3">
                  <p:embed/>
                </p:oleObj>
              </mc:Choice>
              <mc:Fallback>
                <p:oleObj name="Equation" r:id="rId34" imgW="434374" imgH="289656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0825" y="6430963"/>
                        <a:ext cx="409575" cy="28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" name="Line 27">
            <a:extLst>
              <a:ext uri="{FF2B5EF4-FFF2-40B4-BE49-F238E27FC236}">
                <a16:creationId xmlns:a16="http://schemas.microsoft.com/office/drawing/2014/main" id="{BCB090B8-8602-4A03-64C1-40BB69060E81}"/>
              </a:ext>
            </a:extLst>
          </p:cNvPr>
          <p:cNvSpPr>
            <a:spLocks noChangeShapeType="1"/>
          </p:cNvSpPr>
          <p:nvPr/>
        </p:nvSpPr>
        <p:spPr bwMode="auto">
          <a:xfrm>
            <a:off x="7724775" y="6059488"/>
            <a:ext cx="0" cy="7620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6" name="Group 45">
            <a:extLst>
              <a:ext uri="{FF2B5EF4-FFF2-40B4-BE49-F238E27FC236}">
                <a16:creationId xmlns:a16="http://schemas.microsoft.com/office/drawing/2014/main" id="{FEC88230-052A-0CAD-FB91-6D90C084A0DB}"/>
              </a:ext>
            </a:extLst>
          </p:cNvPr>
          <p:cNvGrpSpPr>
            <a:grpSpLocks/>
          </p:cNvGrpSpPr>
          <p:nvPr/>
        </p:nvGrpSpPr>
        <p:grpSpPr bwMode="auto">
          <a:xfrm>
            <a:off x="6657975" y="4687888"/>
            <a:ext cx="2152650" cy="1339850"/>
            <a:chOff x="3936" y="2676"/>
            <a:chExt cx="1356" cy="843"/>
          </a:xfrm>
        </p:grpSpPr>
        <p:sp>
          <p:nvSpPr>
            <p:cNvPr id="51243" name="Oval 46">
              <a:extLst>
                <a:ext uri="{FF2B5EF4-FFF2-40B4-BE49-F238E27FC236}">
                  <a16:creationId xmlns:a16="http://schemas.microsoft.com/office/drawing/2014/main" id="{5981FCD6-7061-7926-DE6E-F3A7723854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847"/>
              <a:ext cx="1296" cy="672"/>
            </a:xfrm>
            <a:prstGeom prst="ellips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33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1244" name="Line 47">
              <a:extLst>
                <a:ext uri="{FF2B5EF4-FFF2-40B4-BE49-F238E27FC236}">
                  <a16:creationId xmlns:a16="http://schemas.microsoft.com/office/drawing/2014/main" id="{93123CDF-FBC0-7187-C187-90F966222E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08" y="2676"/>
              <a:ext cx="0" cy="519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51245" name="Object 48">
              <a:extLst>
                <a:ext uri="{FF2B5EF4-FFF2-40B4-BE49-F238E27FC236}">
                  <a16:creationId xmlns:a16="http://schemas.microsoft.com/office/drawing/2014/main" id="{64F9CEF3-572F-F86F-235E-E634B28765D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35" y="2704"/>
            <a:ext cx="141" cy="1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6" imgW="251548" imgH="205848" progId="Equation.3">
                    <p:embed/>
                  </p:oleObj>
                </mc:Choice>
                <mc:Fallback>
                  <p:oleObj name="Equation" r:id="rId36" imgW="251548" imgH="205848" progId="Equation.3">
                    <p:embed/>
                    <p:pic>
                      <p:nvPicPr>
                        <p:cNvPr id="0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5" y="2704"/>
                          <a:ext cx="141" cy="1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246" name="Line 49">
              <a:extLst>
                <a:ext uri="{FF2B5EF4-FFF2-40B4-BE49-F238E27FC236}">
                  <a16:creationId xmlns:a16="http://schemas.microsoft.com/office/drawing/2014/main" id="{A458608A-F678-57E2-CFD5-582D5106E2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3183"/>
              <a:ext cx="528" cy="192"/>
            </a:xfrm>
            <a:prstGeom prst="line">
              <a:avLst/>
            </a:prstGeom>
            <a:noFill/>
            <a:ln w="317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51247" name="Object 50">
              <a:extLst>
                <a:ext uri="{FF2B5EF4-FFF2-40B4-BE49-F238E27FC236}">
                  <a16:creationId xmlns:a16="http://schemas.microsoft.com/office/drawing/2014/main" id="{1D1A7296-3FDA-09B8-5110-C701F1A4869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76" y="3041"/>
            <a:ext cx="95" cy="1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8" imgW="167699" imgH="190512" progId="Equation.3">
                    <p:embed/>
                  </p:oleObj>
                </mc:Choice>
                <mc:Fallback>
                  <p:oleObj name="Equation" r:id="rId38" imgW="167699" imgH="190512" progId="Equation.3">
                    <p:embed/>
                    <p:pic>
                      <p:nvPicPr>
                        <p:cNvPr id="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6" y="3041"/>
                          <a:ext cx="95" cy="1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48" name="Object 51">
              <a:extLst>
                <a:ext uri="{FF2B5EF4-FFF2-40B4-BE49-F238E27FC236}">
                  <a16:creationId xmlns:a16="http://schemas.microsoft.com/office/drawing/2014/main" id="{4BE8B9B5-5521-1A85-1206-771DBAD111D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03" y="3110"/>
            <a:ext cx="145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0" imgW="274239" imgH="289656" progId="Equation.3">
                    <p:embed/>
                  </p:oleObj>
                </mc:Choice>
                <mc:Fallback>
                  <p:oleObj name="公式" r:id="rId40" imgW="274239" imgH="289656" progId="Equation.3">
                    <p:embed/>
                    <p:pic>
                      <p:nvPicPr>
                        <p:cNvPr id="0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03" y="3110"/>
                          <a:ext cx="145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49" name="Object 52">
              <a:extLst>
                <a:ext uri="{FF2B5EF4-FFF2-40B4-BE49-F238E27FC236}">
                  <a16:creationId xmlns:a16="http://schemas.microsoft.com/office/drawing/2014/main" id="{E04E5F39-33B5-B093-1ABD-0CC09D13FC3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51" y="3336"/>
            <a:ext cx="141" cy="1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2" imgW="251548" imgH="274320" progId="Equation.3">
                    <p:embed/>
                  </p:oleObj>
                </mc:Choice>
                <mc:Fallback>
                  <p:oleObj name="Equation" r:id="rId42" imgW="251548" imgH="274320" progId="Equation.3">
                    <p:embed/>
                    <p:pic>
                      <p:nvPicPr>
                        <p:cNvPr id="0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51" y="3336"/>
                          <a:ext cx="141" cy="1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4" name="Freeform 57">
            <a:extLst>
              <a:ext uri="{FF2B5EF4-FFF2-40B4-BE49-F238E27FC236}">
                <a16:creationId xmlns:a16="http://schemas.microsoft.com/office/drawing/2014/main" id="{B716BC6F-3083-4D61-7BC5-2F5F89A421AC}"/>
              </a:ext>
            </a:extLst>
          </p:cNvPr>
          <p:cNvSpPr>
            <a:spLocks/>
          </p:cNvSpPr>
          <p:nvPr/>
        </p:nvSpPr>
        <p:spPr bwMode="auto">
          <a:xfrm>
            <a:off x="7358063" y="6173788"/>
            <a:ext cx="719137" cy="60325"/>
          </a:xfrm>
          <a:custGeom>
            <a:avLst/>
            <a:gdLst>
              <a:gd name="T0" fmla="*/ 0 w 453"/>
              <a:gd name="T1" fmla="*/ 2147483646 h 38"/>
              <a:gd name="T2" fmla="*/ 2147483646 w 453"/>
              <a:gd name="T3" fmla="*/ 2147483646 h 38"/>
              <a:gd name="T4" fmla="*/ 2147483646 w 453"/>
              <a:gd name="T5" fmla="*/ 0 h 3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53" h="38">
                <a:moveTo>
                  <a:pt x="0" y="12"/>
                </a:moveTo>
                <a:cubicBezTo>
                  <a:pt x="36" y="16"/>
                  <a:pt x="144" y="38"/>
                  <a:pt x="219" y="36"/>
                </a:cubicBezTo>
                <a:cubicBezTo>
                  <a:pt x="294" y="34"/>
                  <a:pt x="404" y="7"/>
                  <a:pt x="453" y="0"/>
                </a:cubicBezTo>
              </a:path>
            </a:pathLst>
          </a:custGeom>
          <a:noFill/>
          <a:ln w="19050" cmpd="sng">
            <a:solidFill>
              <a:schemeClr val="bg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15" name="对象 114">
            <a:extLst>
              <a:ext uri="{FF2B5EF4-FFF2-40B4-BE49-F238E27FC236}">
                <a16:creationId xmlns:a16="http://schemas.microsoft.com/office/drawing/2014/main" id="{8FEDDEFE-A41E-C911-1A95-5D7410FDE4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91375" y="6332538"/>
          <a:ext cx="233363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4" imgW="274239" imgH="365688" progId="Equation.3">
                  <p:embed/>
                </p:oleObj>
              </mc:Choice>
              <mc:Fallback>
                <p:oleObj name="Equation" r:id="rId44" imgW="274239" imgH="365688" progId="Equation.3">
                  <p:embed/>
                  <p:pic>
                    <p:nvPicPr>
                      <p:cNvPr id="0" name="对象 1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1375" y="6332538"/>
                        <a:ext cx="233363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75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 nodeType="clickPar">
                      <p:stCondLst>
                        <p:cond delay="indefinite"/>
                      </p:stCondLst>
                      <p:childTnLst>
                        <p:par>
                          <p:cTn id="1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utoUpdateAnimBg="0"/>
      <p:bldP spid="9" grpId="0" autoUpdateAnimBg="0"/>
      <p:bldP spid="17" grpId="0"/>
      <p:bldP spid="48" grpId="0"/>
      <p:bldP spid="58" grpId="0" animBg="1"/>
      <p:bldP spid="68" grpId="0" autoUpdateAnimBg="0"/>
      <p:bldP spid="69" grpId="0" autoUpdateAnimBg="0"/>
      <p:bldP spid="70" grpId="0" autoUpdateAnimBg="0"/>
      <p:bldP spid="73" grpId="0" build="p" autoUpdateAnimBg="0"/>
      <p:bldP spid="103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724" name="Object 28">
            <a:extLst>
              <a:ext uri="{FF2B5EF4-FFF2-40B4-BE49-F238E27FC236}">
                <a16:creationId xmlns:a16="http://schemas.microsoft.com/office/drawing/2014/main" id="{35C67C7F-75D4-3DCE-FD6F-7265410E5E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19213" y="1557338"/>
          <a:ext cx="13747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348720" imgH="434376" progId="Equation.3">
                  <p:embed/>
                </p:oleObj>
              </mc:Choice>
              <mc:Fallback>
                <p:oleObj name="公式" r:id="rId2" imgW="1348720" imgH="434376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9213" y="1557338"/>
                        <a:ext cx="137477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27" name="Text Box 29">
            <a:extLst>
              <a:ext uri="{FF2B5EF4-FFF2-40B4-BE49-F238E27FC236}">
                <a16:creationId xmlns:a16="http://schemas.microsoft.com/office/drawing/2014/main" id="{EBAFAC6D-B8EE-E539-C426-0E1D51FD02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975" y="200025"/>
            <a:ext cx="3733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rgbClr val="FFFF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四</a:t>
            </a:r>
            <a:r>
              <a:rPr kumimoji="1" lang="en-US" altLang="zh-CN" sz="2800" b="1">
                <a:solidFill>
                  <a:srgbClr val="FFFF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  <a:r>
              <a:rPr kumimoji="1" lang="zh-CN" altLang="en-US" sz="2800" b="1">
                <a:solidFill>
                  <a:srgbClr val="FFFF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角量与线量的关系</a:t>
            </a:r>
          </a:p>
        </p:txBody>
      </p:sp>
      <p:sp>
        <p:nvSpPr>
          <p:cNvPr id="29726" name="Line 30">
            <a:extLst>
              <a:ext uri="{FF2B5EF4-FFF2-40B4-BE49-F238E27FC236}">
                <a16:creationId xmlns:a16="http://schemas.microsoft.com/office/drawing/2014/main" id="{DBD52845-E23E-AF3E-B587-FD14AE461BA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41838" y="2259013"/>
            <a:ext cx="1143000" cy="152400"/>
          </a:xfrm>
          <a:prstGeom prst="line">
            <a:avLst/>
          </a:prstGeom>
          <a:noFill/>
          <a:ln w="25400">
            <a:solidFill>
              <a:srgbClr val="FFFF00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27" name="Oval 31">
            <a:extLst>
              <a:ext uri="{FF2B5EF4-FFF2-40B4-BE49-F238E27FC236}">
                <a16:creationId xmlns:a16="http://schemas.microsoft.com/office/drawing/2014/main" id="{8F4B4095-16B7-538C-1236-063373543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2638" y="1649413"/>
            <a:ext cx="2362200" cy="1295400"/>
          </a:xfrm>
          <a:prstGeom prst="ellipse">
            <a:avLst/>
          </a:prstGeom>
          <a:noFill/>
          <a:ln w="19050">
            <a:solidFill>
              <a:srgbClr val="FFFF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728" name="Line 32">
            <a:extLst>
              <a:ext uri="{FF2B5EF4-FFF2-40B4-BE49-F238E27FC236}">
                <a16:creationId xmlns:a16="http://schemas.microsoft.com/office/drawing/2014/main" id="{3C83A0EB-C5A1-C38B-9EF5-3CE1BB6A5EB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41838" y="1230313"/>
            <a:ext cx="0" cy="1039812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29" name="Line 33">
            <a:extLst>
              <a:ext uri="{FF2B5EF4-FFF2-40B4-BE49-F238E27FC236}">
                <a16:creationId xmlns:a16="http://schemas.microsoft.com/office/drawing/2014/main" id="{FBED7BEE-2F7C-62B7-C347-1AEEA3A59AD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41838" y="2259013"/>
            <a:ext cx="762000" cy="533400"/>
          </a:xfrm>
          <a:prstGeom prst="line">
            <a:avLst/>
          </a:prstGeom>
          <a:noFill/>
          <a:ln w="25400">
            <a:solidFill>
              <a:srgbClr val="FFFF00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9730" name="Object 34">
            <a:extLst>
              <a:ext uri="{FF2B5EF4-FFF2-40B4-BE49-F238E27FC236}">
                <a16:creationId xmlns:a16="http://schemas.microsoft.com/office/drawing/2014/main" id="{DACB23DF-37B0-C7F5-1D71-C2F9C6266D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84725" y="1204913"/>
          <a:ext cx="1160463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425005" imgH="350568" progId="Equation.3">
                  <p:embed/>
                </p:oleObj>
              </mc:Choice>
              <mc:Fallback>
                <p:oleObj name="公式" r:id="rId4" imgW="1425005" imgH="350568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4725" y="1204913"/>
                        <a:ext cx="1160463" cy="29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31" name="Line 35">
            <a:extLst>
              <a:ext uri="{FF2B5EF4-FFF2-40B4-BE49-F238E27FC236}">
                <a16:creationId xmlns:a16="http://schemas.microsoft.com/office/drawing/2014/main" id="{D8C9852C-066A-1EED-1CB0-E302623ABBB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89550" y="2254250"/>
            <a:ext cx="990600" cy="533400"/>
          </a:xfrm>
          <a:prstGeom prst="line">
            <a:avLst/>
          </a:prstGeom>
          <a:noFill/>
          <a:ln w="34925">
            <a:solidFill>
              <a:srgbClr val="00FF00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9732" name="Object 36">
            <a:extLst>
              <a:ext uri="{FF2B5EF4-FFF2-40B4-BE49-F238E27FC236}">
                <a16:creationId xmlns:a16="http://schemas.microsoft.com/office/drawing/2014/main" id="{23F7BBE2-7248-5ABB-3D2D-9E31742D8C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26125" y="2036763"/>
          <a:ext cx="179388" cy="239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5733" imgH="281880" progId="Equation.3">
                  <p:embed/>
                </p:oleObj>
              </mc:Choice>
              <mc:Fallback>
                <p:oleObj name="Equation" r:id="rId6" imgW="205733" imgH="28188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6125" y="2036763"/>
                        <a:ext cx="179388" cy="239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33" name="Object 37">
            <a:extLst>
              <a:ext uri="{FF2B5EF4-FFF2-40B4-BE49-F238E27FC236}">
                <a16:creationId xmlns:a16="http://schemas.microsoft.com/office/drawing/2014/main" id="{9FB3083E-8EDB-8742-D4EB-99169A3779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30738" y="2505075"/>
          <a:ext cx="173037" cy="23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0606" imgH="274320" progId="Equation.3">
                  <p:embed/>
                </p:oleObj>
              </mc:Choice>
              <mc:Fallback>
                <p:oleObj name="Equation" r:id="rId8" imgW="190606" imgH="27432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0738" y="2505075"/>
                        <a:ext cx="173037" cy="233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34" name="Object 38">
            <a:extLst>
              <a:ext uri="{FF2B5EF4-FFF2-40B4-BE49-F238E27FC236}">
                <a16:creationId xmlns:a16="http://schemas.microsoft.com/office/drawing/2014/main" id="{57AC2972-02B3-04C7-5859-52ABE190A3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75250" y="2849563"/>
          <a:ext cx="223838" cy="233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1548" imgH="274320" progId="Equation.3">
                  <p:embed/>
                </p:oleObj>
              </mc:Choice>
              <mc:Fallback>
                <p:oleObj name="Equation" r:id="rId10" imgW="251548" imgH="27432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5250" y="2849563"/>
                        <a:ext cx="223838" cy="233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35" name="Object 39">
            <a:extLst>
              <a:ext uri="{FF2B5EF4-FFF2-40B4-BE49-F238E27FC236}">
                <a16:creationId xmlns:a16="http://schemas.microsoft.com/office/drawing/2014/main" id="{CF743FD9-33E0-9013-E7D4-7767BF9009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8938" y="2143125"/>
          <a:ext cx="233362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74239" imgH="289656" progId="Equation.3">
                  <p:embed/>
                </p:oleObj>
              </mc:Choice>
              <mc:Fallback>
                <p:oleObj name="公式" r:id="rId12" imgW="274239" imgH="289656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8938" y="2143125"/>
                        <a:ext cx="233362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36" name="Line 40">
            <a:extLst>
              <a:ext uri="{FF2B5EF4-FFF2-40B4-BE49-F238E27FC236}">
                <a16:creationId xmlns:a16="http://schemas.microsoft.com/office/drawing/2014/main" id="{56F98234-1CED-7F1B-2B88-97B6ECDFCBD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86375" y="2406650"/>
            <a:ext cx="368300" cy="374650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9737" name="Object 41">
            <a:extLst>
              <a:ext uri="{FF2B5EF4-FFF2-40B4-BE49-F238E27FC236}">
                <a16:creationId xmlns:a16="http://schemas.microsoft.com/office/drawing/2014/main" id="{B63F6155-E4F7-4E7B-C2CF-A589CE8E38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84838" y="2644775"/>
          <a:ext cx="312737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365868" imgH="289656" progId="Equation.3">
                  <p:embed/>
                </p:oleObj>
              </mc:Choice>
              <mc:Fallback>
                <p:oleObj name="公式" r:id="rId14" imgW="365868" imgH="289656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4838" y="2644775"/>
                        <a:ext cx="312737" cy="252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38" name="Object 42">
            <a:extLst>
              <a:ext uri="{FF2B5EF4-FFF2-40B4-BE49-F238E27FC236}">
                <a16:creationId xmlns:a16="http://schemas.microsoft.com/office/drawing/2014/main" id="{4094DF88-EE0E-56F1-F759-351ADCA7A0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45063" y="2347913"/>
          <a:ext cx="338137" cy="236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434374" imgH="289656" progId="Equation.3">
                  <p:embed/>
                </p:oleObj>
              </mc:Choice>
              <mc:Fallback>
                <p:oleObj name="公式" r:id="rId16" imgW="434374" imgH="289656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5063" y="2347913"/>
                        <a:ext cx="338137" cy="236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39" name="Object 43">
            <a:extLst>
              <a:ext uri="{FF2B5EF4-FFF2-40B4-BE49-F238E27FC236}">
                <a16:creationId xmlns:a16="http://schemas.microsoft.com/office/drawing/2014/main" id="{D567C112-9DA4-24AE-C562-58FB1D486F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20775" y="2347913"/>
          <a:ext cx="19050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882070" imgH="350568" progId="Equation.3">
                  <p:embed/>
                </p:oleObj>
              </mc:Choice>
              <mc:Fallback>
                <p:oleObj name="公式" r:id="rId18" imgW="1882070" imgH="350568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0775" y="2347913"/>
                        <a:ext cx="1905000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42" name="Text Box 53">
            <a:extLst>
              <a:ext uri="{FF2B5EF4-FFF2-40B4-BE49-F238E27FC236}">
                <a16:creationId xmlns:a16="http://schemas.microsoft.com/office/drawing/2014/main" id="{03151D3C-43AA-1B67-33BA-34A7077F46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863" y="765175"/>
            <a:ext cx="472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1.  </a:t>
            </a:r>
            <a:r>
              <a:rPr kumimoji="1" lang="zh-CN" altLang="en-US" sz="2400" b="1">
                <a:solidFill>
                  <a:srgbClr val="66FF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位移与角</a:t>
            </a:r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位移</a:t>
            </a:r>
            <a:r>
              <a:rPr kumimoji="1" lang="zh-CN" altLang="en-US" sz="2400" b="1">
                <a:solidFill>
                  <a:srgbClr val="66FF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的矢量关系式</a:t>
            </a:r>
          </a:p>
        </p:txBody>
      </p:sp>
      <p:sp>
        <p:nvSpPr>
          <p:cNvPr id="29750" name="Arc 54">
            <a:extLst>
              <a:ext uri="{FF2B5EF4-FFF2-40B4-BE49-F238E27FC236}">
                <a16:creationId xmlns:a16="http://schemas.microsoft.com/office/drawing/2014/main" id="{7B7D2B36-6E71-6BB0-1D91-93FC00223A2D}"/>
              </a:ext>
            </a:extLst>
          </p:cNvPr>
          <p:cNvSpPr>
            <a:spLocks/>
          </p:cNvSpPr>
          <p:nvPr/>
        </p:nvSpPr>
        <p:spPr bwMode="auto">
          <a:xfrm>
            <a:off x="4710113" y="2278063"/>
            <a:ext cx="152400" cy="155575"/>
          </a:xfrm>
          <a:custGeom>
            <a:avLst/>
            <a:gdLst>
              <a:gd name="T0" fmla="*/ 2147483646 w 21227"/>
              <a:gd name="T1" fmla="*/ 2147483646 h 14798"/>
              <a:gd name="T2" fmla="*/ 2147483646 w 21227"/>
              <a:gd name="T3" fmla="*/ 2147483646 h 14798"/>
              <a:gd name="T4" fmla="*/ 0 w 21227"/>
              <a:gd name="T5" fmla="*/ 0 h 1479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227" h="14798" fill="none" extrusionOk="0">
                <a:moveTo>
                  <a:pt x="21227" y="3995"/>
                </a:moveTo>
                <a:cubicBezTo>
                  <a:pt x="20464" y="8046"/>
                  <a:pt x="18559" y="11794"/>
                  <a:pt x="15734" y="14797"/>
                </a:cubicBezTo>
              </a:path>
              <a:path w="21227" h="14798" stroke="0" extrusionOk="0">
                <a:moveTo>
                  <a:pt x="21227" y="3995"/>
                </a:moveTo>
                <a:cubicBezTo>
                  <a:pt x="20464" y="8046"/>
                  <a:pt x="18559" y="11794"/>
                  <a:pt x="15734" y="14797"/>
                </a:cubicBezTo>
                <a:lnTo>
                  <a:pt x="0" y="0"/>
                </a:lnTo>
                <a:lnTo>
                  <a:pt x="21227" y="3995"/>
                </a:lnTo>
                <a:close/>
              </a:path>
            </a:pathLst>
          </a:custGeom>
          <a:noFill/>
          <a:ln w="19050">
            <a:solidFill>
              <a:srgbClr val="FFFF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2FA6EC-297F-DF15-0E3C-22B3AEBF33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0" y="3500438"/>
            <a:ext cx="7705725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chemeClr val="bg1"/>
                </a:solidFill>
              </a:rPr>
              <a:t>这是本课程第一次遇到</a:t>
            </a:r>
            <a:r>
              <a:rPr lang="zh-CN" altLang="en-US" sz="2400" b="1">
                <a:solidFill>
                  <a:srgbClr val="FFC000"/>
                </a:solidFill>
              </a:rPr>
              <a:t>矢量叉乘</a:t>
            </a:r>
            <a:r>
              <a:rPr lang="zh-CN" altLang="en-US" sz="2400" b="1">
                <a:solidFill>
                  <a:schemeClr val="bg1"/>
                </a:solidFill>
              </a:rPr>
              <a:t>，两个矢量叉乘结果仍为一个矢量，矢量的方向为</a:t>
            </a:r>
            <a:r>
              <a:rPr lang="zh-CN" altLang="en-US" sz="2400" b="1">
                <a:solidFill>
                  <a:srgbClr val="FFC000"/>
                </a:solidFill>
              </a:rPr>
              <a:t>垂直于两个矢量组成的平面</a:t>
            </a:r>
            <a:r>
              <a:rPr lang="zh-CN" altLang="en-US" sz="2400" b="1">
                <a:solidFill>
                  <a:schemeClr val="bg1"/>
                </a:solidFill>
              </a:rPr>
              <a:t>（新矢量分别与两个矢量垂直）且</a:t>
            </a:r>
            <a:r>
              <a:rPr lang="zh-CN" altLang="en-US" sz="2400" b="1">
                <a:solidFill>
                  <a:srgbClr val="FFC000"/>
                </a:solidFill>
              </a:rPr>
              <a:t>三个矢量方向满足右手螺旋法则</a:t>
            </a:r>
            <a:r>
              <a:rPr lang="zh-CN" altLang="en-US" sz="2400" b="1">
                <a:solidFill>
                  <a:schemeClr val="bg1"/>
                </a:solidFill>
              </a:rPr>
              <a:t>的顺序，矢量的大小为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0619144A-33E7-6DEA-C9C6-352DA03060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30488" y="5229225"/>
          <a:ext cx="4311650" cy="1027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336800" imgH="558800" progId="Equation.DSMT4">
                  <p:embed/>
                </p:oleObj>
              </mc:Choice>
              <mc:Fallback>
                <p:oleObj name="Equation" r:id="rId20" imgW="2336800" imgH="5588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0488" y="5229225"/>
                        <a:ext cx="4311650" cy="1027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>
            <a:extLst>
              <a:ext uri="{FF2B5EF4-FFF2-40B4-BE49-F238E27FC236}">
                <a16:creationId xmlns:a16="http://schemas.microsoft.com/office/drawing/2014/main" id="{8AC4CE7E-B9B5-E394-ABC5-68AF50A401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1463" y="765175"/>
            <a:ext cx="2490787" cy="244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9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9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1000"/>
                                        <p:tgtEl>
                                          <p:spTgt spid="29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9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9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9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9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9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9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27" grpId="0" animBg="1"/>
      <p:bldP spid="3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250" name="Object 2">
            <a:extLst>
              <a:ext uri="{FF2B5EF4-FFF2-40B4-BE49-F238E27FC236}">
                <a16:creationId xmlns:a16="http://schemas.microsoft.com/office/drawing/2014/main" id="{E92CF447-E350-EE91-A60C-2CE0E4D1C8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90713" y="981075"/>
          <a:ext cx="5145087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151111" imgH="822960" progId="Equation.3">
                  <p:embed/>
                </p:oleObj>
              </mc:Choice>
              <mc:Fallback>
                <p:oleObj name="公式" r:id="rId2" imgW="5151111" imgH="82296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0713" y="981075"/>
                        <a:ext cx="5145087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1" name="Object 3">
            <a:extLst>
              <a:ext uri="{FF2B5EF4-FFF2-40B4-BE49-F238E27FC236}">
                <a16:creationId xmlns:a16="http://schemas.microsoft.com/office/drawing/2014/main" id="{740AD5BB-10ED-084F-4286-01B2BE7D1463}"/>
              </a:ext>
            </a:extLst>
          </p:cNvPr>
          <p:cNvGraphicFramePr>
            <a:graphicFrameLocks/>
          </p:cNvGraphicFramePr>
          <p:nvPr/>
        </p:nvGraphicFramePr>
        <p:xfrm>
          <a:off x="1608138" y="2032000"/>
          <a:ext cx="1006475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975288" imgH="274320" progId="Equation.3">
                  <p:embed/>
                </p:oleObj>
              </mc:Choice>
              <mc:Fallback>
                <p:oleObj name="公式" r:id="rId4" imgW="975288" imgH="274320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8138" y="2032000"/>
                        <a:ext cx="1006475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2" name="Object 4">
            <a:extLst>
              <a:ext uri="{FF2B5EF4-FFF2-40B4-BE49-F238E27FC236}">
                <a16:creationId xmlns:a16="http://schemas.microsoft.com/office/drawing/2014/main" id="{3DAB7802-E97B-0004-A0C4-81F92294C9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8263" y="1974850"/>
          <a:ext cx="765175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746864" imgH="281880" progId="Equation.3">
                  <p:embed/>
                </p:oleObj>
              </mc:Choice>
              <mc:Fallback>
                <p:oleObj name="公式" r:id="rId6" imgW="746864" imgH="2818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1974850"/>
                        <a:ext cx="765175" cy="30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3" name="Text Box 5">
            <a:extLst>
              <a:ext uri="{FF2B5EF4-FFF2-40B4-BE49-F238E27FC236}">
                <a16:creationId xmlns:a16="http://schemas.microsoft.com/office/drawing/2014/main" id="{5F404A07-7AA0-FCFD-E276-D3A88FB479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457200"/>
            <a:ext cx="472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2. </a:t>
            </a:r>
            <a:r>
              <a:rPr kumimoji="1" lang="zh-CN" altLang="en-US" sz="2400" b="1">
                <a:solidFill>
                  <a:srgbClr val="66FF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速度与角速度的矢量关系式</a:t>
            </a:r>
          </a:p>
        </p:txBody>
      </p:sp>
      <p:sp>
        <p:nvSpPr>
          <p:cNvPr id="53254" name="Text Box 6">
            <a:extLst>
              <a:ext uri="{FF2B5EF4-FFF2-40B4-BE49-F238E27FC236}">
                <a16:creationId xmlns:a16="http://schemas.microsoft.com/office/drawing/2014/main" id="{E9F76817-12ED-3204-F506-42645EAA84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238" y="1905000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rgbClr val="66FF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大小</a:t>
            </a:r>
          </a:p>
        </p:txBody>
      </p:sp>
      <p:sp>
        <p:nvSpPr>
          <p:cNvPr id="53255" name="Text Box 7">
            <a:extLst>
              <a:ext uri="{FF2B5EF4-FFF2-40B4-BE49-F238E27FC236}">
                <a16:creationId xmlns:a16="http://schemas.microsoft.com/office/drawing/2014/main" id="{A00670C5-4822-26E5-72AC-7883B8D824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7363" y="19050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rgbClr val="66FF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方向</a:t>
            </a:r>
          </a:p>
        </p:txBody>
      </p:sp>
      <p:sp>
        <p:nvSpPr>
          <p:cNvPr id="53256" name="Rectangle 8">
            <a:extLst>
              <a:ext uri="{FF2B5EF4-FFF2-40B4-BE49-F238E27FC236}">
                <a16:creationId xmlns:a16="http://schemas.microsoft.com/office/drawing/2014/main" id="{439FDFA9-756F-91D7-9DF2-49F2147F5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6300" y="1905000"/>
            <a:ext cx="2806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sz="2400" b="1">
                <a:solidFill>
                  <a:srgbClr val="FFFF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1" lang="zh-CN" altLang="en-US" sz="2400" b="1">
                <a:solidFill>
                  <a:srgbClr val="FFFF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由右手法则确定</a:t>
            </a:r>
            <a:r>
              <a:rPr kumimoji="1" lang="en-US" altLang="zh-CN" sz="2400" b="1">
                <a:solidFill>
                  <a:srgbClr val="FFFF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) </a:t>
            </a:r>
          </a:p>
        </p:txBody>
      </p:sp>
      <p:sp>
        <p:nvSpPr>
          <p:cNvPr id="53257" name="Rectangle 9">
            <a:extLst>
              <a:ext uri="{FF2B5EF4-FFF2-40B4-BE49-F238E27FC236}">
                <a16:creationId xmlns:a16="http://schemas.microsoft.com/office/drawing/2014/main" id="{9F9F518C-51E2-862D-B49B-FFE9786D8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3663" y="1905000"/>
            <a:ext cx="1419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400" b="1">
                <a:solidFill>
                  <a:srgbClr val="FFFF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1" lang="zh-CN" altLang="en-US" sz="2400" b="1">
                <a:solidFill>
                  <a:srgbClr val="FFFF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标量式</a:t>
            </a:r>
            <a:r>
              <a:rPr kumimoji="1" lang="en-US" altLang="zh-CN" sz="2400" b="1">
                <a:solidFill>
                  <a:srgbClr val="FFFF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)</a:t>
            </a:r>
          </a:p>
        </p:txBody>
      </p:sp>
      <p:graphicFrame>
        <p:nvGraphicFramePr>
          <p:cNvPr id="30730" name="Object 10">
            <a:extLst>
              <a:ext uri="{FF2B5EF4-FFF2-40B4-BE49-F238E27FC236}">
                <a16:creationId xmlns:a16="http://schemas.microsoft.com/office/drawing/2014/main" id="{D5A9B48A-056B-7E2B-5EA2-BE21AB7F08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2325" y="3182938"/>
          <a:ext cx="4968875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952941" imgH="807624" progId="Equation.3">
                  <p:embed/>
                </p:oleObj>
              </mc:Choice>
              <mc:Fallback>
                <p:oleObj name="公式" r:id="rId8" imgW="4952941" imgH="807624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325" y="3182938"/>
                        <a:ext cx="4968875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1" name="Object 11">
            <a:extLst>
              <a:ext uri="{FF2B5EF4-FFF2-40B4-BE49-F238E27FC236}">
                <a16:creationId xmlns:a16="http://schemas.microsoft.com/office/drawing/2014/main" id="{913D8C80-A237-F473-0F8B-AB57341DF4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5150" y="4868863"/>
          <a:ext cx="1198563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188801" imgH="396144" progId="Equation.3">
                  <p:embed/>
                </p:oleObj>
              </mc:Choice>
              <mc:Fallback>
                <p:oleObj name="公式" r:id="rId10" imgW="1188801" imgH="396144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4868863"/>
                        <a:ext cx="1198563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2" name="Object 12">
            <a:extLst>
              <a:ext uri="{FF2B5EF4-FFF2-40B4-BE49-F238E27FC236}">
                <a16:creationId xmlns:a16="http://schemas.microsoft.com/office/drawing/2014/main" id="{46961E49-6AF8-7B42-CF42-90D1B478BA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813" y="6042025"/>
          <a:ext cx="201612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996390" imgH="457272" progId="Equation.3">
                  <p:embed/>
                </p:oleObj>
              </mc:Choice>
              <mc:Fallback>
                <p:oleObj name="公式" r:id="rId12" imgW="1996390" imgH="457272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6042025"/>
                        <a:ext cx="201612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3" name="Oval 13">
            <a:extLst>
              <a:ext uri="{FF2B5EF4-FFF2-40B4-BE49-F238E27FC236}">
                <a16:creationId xmlns:a16="http://schemas.microsoft.com/office/drawing/2014/main" id="{6D815102-B6F0-5AE5-45CA-D746191B07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708525"/>
            <a:ext cx="2895600" cy="1447800"/>
          </a:xfrm>
          <a:prstGeom prst="ellips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734" name="Line 14">
            <a:extLst>
              <a:ext uri="{FF2B5EF4-FFF2-40B4-BE49-F238E27FC236}">
                <a16:creationId xmlns:a16="http://schemas.microsoft.com/office/drawing/2014/main" id="{D0FA20DC-4D68-0F5F-25D3-A24FEB31C7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05600" y="4076700"/>
            <a:ext cx="0" cy="1331913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35" name="Line 15">
            <a:extLst>
              <a:ext uri="{FF2B5EF4-FFF2-40B4-BE49-F238E27FC236}">
                <a16:creationId xmlns:a16="http://schemas.microsoft.com/office/drawing/2014/main" id="{E9DF6AC4-6371-0610-E512-25582A7BBA87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5394325"/>
            <a:ext cx="1106488" cy="550863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36" name="Line 16">
            <a:extLst>
              <a:ext uri="{FF2B5EF4-FFF2-40B4-BE49-F238E27FC236}">
                <a16:creationId xmlns:a16="http://schemas.microsoft.com/office/drawing/2014/main" id="{4BE0D3C1-903D-51EF-8FA9-A8FCAF1F196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48600" y="5394325"/>
            <a:ext cx="914400" cy="533400"/>
          </a:xfrm>
          <a:prstGeom prst="line">
            <a:avLst/>
          </a:prstGeom>
          <a:noFill/>
          <a:ln w="38100">
            <a:solidFill>
              <a:srgbClr val="00FFFF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0737" name="Object 17">
            <a:extLst>
              <a:ext uri="{FF2B5EF4-FFF2-40B4-BE49-F238E27FC236}">
                <a16:creationId xmlns:a16="http://schemas.microsoft.com/office/drawing/2014/main" id="{C144E6CF-48A4-9B73-8DD3-99184F9593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0" y="5613400"/>
          <a:ext cx="219075" cy="26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90606" imgH="243864" progId="Equation.3">
                  <p:embed/>
                </p:oleObj>
              </mc:Choice>
              <mc:Fallback>
                <p:oleObj name="公式" r:id="rId14" imgW="190606" imgH="243864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5613400"/>
                        <a:ext cx="219075" cy="268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8" name="Object 18">
            <a:extLst>
              <a:ext uri="{FF2B5EF4-FFF2-40B4-BE49-F238E27FC236}">
                <a16:creationId xmlns:a16="http://schemas.microsoft.com/office/drawing/2014/main" id="{6ECCE2A5-23D4-C9C0-3406-551C8CE175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43813" y="6057900"/>
          <a:ext cx="223837" cy="23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51548" imgH="274320" progId="Equation.3">
                  <p:embed/>
                </p:oleObj>
              </mc:Choice>
              <mc:Fallback>
                <p:oleObj name="Equation" r:id="rId16" imgW="251548" imgH="27432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3813" y="6057900"/>
                        <a:ext cx="223837" cy="233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9" name="Object 19">
            <a:extLst>
              <a:ext uri="{FF2B5EF4-FFF2-40B4-BE49-F238E27FC236}">
                <a16:creationId xmlns:a16="http://schemas.microsoft.com/office/drawing/2014/main" id="{AF788D1E-C438-B434-4A30-0D748166BA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94700" y="5689600"/>
          <a:ext cx="184150" cy="23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05733" imgH="274320" progId="Equation.3">
                  <p:embed/>
                </p:oleObj>
              </mc:Choice>
              <mc:Fallback>
                <p:oleObj name="公式" r:id="rId18" imgW="205733" imgH="27432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4700" y="5689600"/>
                        <a:ext cx="184150" cy="233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40" name="Object 20">
            <a:extLst>
              <a:ext uri="{FF2B5EF4-FFF2-40B4-BE49-F238E27FC236}">
                <a16:creationId xmlns:a16="http://schemas.microsoft.com/office/drawing/2014/main" id="{BF216204-5F7C-C8DD-6646-48B5AB649B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24600" y="5219700"/>
          <a:ext cx="233363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274239" imgH="289656" progId="Equation.3">
                  <p:embed/>
                </p:oleObj>
              </mc:Choice>
              <mc:Fallback>
                <p:oleObj name="公式" r:id="rId20" imgW="274239" imgH="289656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5219700"/>
                        <a:ext cx="233363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41" name="Object 21">
            <a:extLst>
              <a:ext uri="{FF2B5EF4-FFF2-40B4-BE49-F238E27FC236}">
                <a16:creationId xmlns:a16="http://schemas.microsoft.com/office/drawing/2014/main" id="{77B3CBAC-1666-A3FF-04CD-804851F4CB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00788" y="4216400"/>
          <a:ext cx="193675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213297" imgH="312336" progId="Equation.3">
                  <p:embed/>
                </p:oleObj>
              </mc:Choice>
              <mc:Fallback>
                <p:oleObj name="公式" r:id="rId22" imgW="213297" imgH="312336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4216400"/>
                        <a:ext cx="193675" cy="263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42" name="Object 22">
            <a:extLst>
              <a:ext uri="{FF2B5EF4-FFF2-40B4-BE49-F238E27FC236}">
                <a16:creationId xmlns:a16="http://schemas.microsoft.com/office/drawing/2014/main" id="{10F24BCD-5EEE-ED6D-4C65-19E631D256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77050" y="4205288"/>
          <a:ext cx="30480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358088" imgH="403920" progId="Equation.3">
                  <p:embed/>
                </p:oleObj>
              </mc:Choice>
              <mc:Fallback>
                <p:oleObj name="公式" r:id="rId24" imgW="358088" imgH="40392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7050" y="4205288"/>
                        <a:ext cx="304800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43" name="Text Box 23">
            <a:extLst>
              <a:ext uri="{FF2B5EF4-FFF2-40B4-BE49-F238E27FC236}">
                <a16:creationId xmlns:a16="http://schemas.microsoft.com/office/drawing/2014/main" id="{DB252026-DC96-7ABB-9980-107FF041D4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611438"/>
            <a:ext cx="5029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3. </a:t>
            </a:r>
            <a:r>
              <a:rPr kumimoji="1" lang="zh-CN" altLang="en-US" sz="2400" b="1">
                <a:solidFill>
                  <a:srgbClr val="66FF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加速度与角加速度的矢量关系式</a:t>
            </a:r>
          </a:p>
        </p:txBody>
      </p:sp>
      <p:sp>
        <p:nvSpPr>
          <p:cNvPr id="30744" name="Text Box 24">
            <a:extLst>
              <a:ext uri="{FF2B5EF4-FFF2-40B4-BE49-F238E27FC236}">
                <a16:creationId xmlns:a16="http://schemas.microsoft.com/office/drawing/2014/main" id="{D787DD53-FA68-A231-8403-84322169A1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138" y="4195763"/>
            <a:ext cx="31321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rgbClr val="FFFF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第一项为切向加速度</a:t>
            </a:r>
            <a:endParaRPr kumimoji="1" lang="zh-CN" altLang="en-US" sz="1200" b="1">
              <a:solidFill>
                <a:srgbClr val="FFFFFF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0745" name="Text Box 25">
            <a:extLst>
              <a:ext uri="{FF2B5EF4-FFF2-40B4-BE49-F238E27FC236}">
                <a16:creationId xmlns:a16="http://schemas.microsoft.com/office/drawing/2014/main" id="{F9533561-DDA9-FFF3-31BA-277759AA2D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419725"/>
            <a:ext cx="3305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rgbClr val="FFFF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第二项</a:t>
            </a:r>
            <a:r>
              <a:rPr kumimoji="1" lang="zh-CN" altLang="en-US" sz="2400" b="1">
                <a:solidFill>
                  <a:srgbClr val="FFFFFF"/>
                </a:solidFill>
                <a:sym typeface="Symbol" panose="05050102010706020507" pitchFamily="18" charset="2"/>
              </a:rPr>
              <a:t>为法向加速度</a:t>
            </a:r>
          </a:p>
        </p:txBody>
      </p:sp>
      <p:sp>
        <p:nvSpPr>
          <p:cNvPr id="30746" name="Oval 26">
            <a:extLst>
              <a:ext uri="{FF2B5EF4-FFF2-40B4-BE49-F238E27FC236}">
                <a16:creationId xmlns:a16="http://schemas.microsoft.com/office/drawing/2014/main" id="{3AB2D339-A7EE-1313-B673-149B149BE0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4300" y="5861050"/>
            <a:ext cx="152400" cy="152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0747" name="Object 27">
            <a:extLst>
              <a:ext uri="{FF2B5EF4-FFF2-40B4-BE49-F238E27FC236}">
                <a16:creationId xmlns:a16="http://schemas.microsoft.com/office/drawing/2014/main" id="{E33D05B4-17D2-EB94-CAFF-8AB0BF4725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35650" y="3389313"/>
          <a:ext cx="201295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988827" imgH="327672" progId="Equation.3">
                  <p:embed/>
                </p:oleObj>
              </mc:Choice>
              <mc:Fallback>
                <p:oleObj name="Equation" r:id="rId26" imgW="1988827" imgH="327672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5650" y="3389313"/>
                        <a:ext cx="201295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30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0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0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0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0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0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0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0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0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33" grpId="0" animBg="1"/>
      <p:bldP spid="30743" grpId="0" autoUpdateAnimBg="0"/>
      <p:bldP spid="30744" grpId="0" autoUpdateAnimBg="0"/>
      <p:bldP spid="30745" grpId="0" autoUpdateAnimBg="0"/>
      <p:bldP spid="30746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3">
            <a:extLst>
              <a:ext uri="{FF2B5EF4-FFF2-40B4-BE49-F238E27FC236}">
                <a16:creationId xmlns:a16="http://schemas.microsoft.com/office/drawing/2014/main" id="{165A460B-4F46-AADE-C377-376CA339B3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" y="260350"/>
            <a:ext cx="3811588" cy="4021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4275" name="Picture 4">
            <a:extLst>
              <a:ext uri="{FF2B5EF4-FFF2-40B4-BE49-F238E27FC236}">
                <a16:creationId xmlns:a16="http://schemas.microsoft.com/office/drawing/2014/main" id="{63CA4C60-A11D-2CDA-0A17-6EEF5BE05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175" y="260350"/>
            <a:ext cx="5005388" cy="534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2">
            <a:extLst>
              <a:ext uri="{FF2B5EF4-FFF2-40B4-BE49-F238E27FC236}">
                <a16:creationId xmlns:a16="http://schemas.microsoft.com/office/drawing/2014/main" id="{3F532A48-20B1-5ADC-49CD-60482CDF4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466850"/>
            <a:ext cx="807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2400" b="1">
              <a:solidFill>
                <a:schemeClr val="bg1"/>
              </a:solidFill>
              <a:latin typeface="仿宋_GB2312" panose="02010609030101010101" pitchFamily="49" charset="-122"/>
              <a:ea typeface="仿宋_GB2312" panose="02010609030101010101" pitchFamily="49" charset="-122"/>
            </a:endParaRPr>
          </a:p>
        </p:txBody>
      </p:sp>
      <p:sp>
        <p:nvSpPr>
          <p:cNvPr id="55299" name="Text Box 3">
            <a:extLst>
              <a:ext uri="{FF2B5EF4-FFF2-40B4-BE49-F238E27FC236}">
                <a16:creationId xmlns:a16="http://schemas.microsoft.com/office/drawing/2014/main" id="{2D31C23A-8D62-0834-CC55-D604407910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76250"/>
            <a:ext cx="8131175" cy="142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一质点在水平面内以顺时针方向沿半径为</a:t>
            </a:r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</a:rPr>
              <a:t>2 m</a:t>
            </a: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的圆形轨道运动。此质点的角速度与运动时间的平方成正比，即  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ω=kt </a:t>
            </a:r>
            <a:r>
              <a:rPr kumimoji="1" lang="en-US" altLang="zh-CN" sz="2000" b="1" i="1" baseline="30000">
                <a:solidFill>
                  <a:srgbClr val="66FFFF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000">
                <a:solidFill>
                  <a:srgbClr val="66FFFF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000">
                <a:solidFill>
                  <a:srgbClr val="66FFFF"/>
                </a:solidFill>
                <a:latin typeface="Times New Roman" panose="02020603050405020304" pitchFamily="18" charset="0"/>
              </a:rPr>
              <a:t>，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k</a:t>
            </a:r>
            <a:r>
              <a:rPr kumimoji="1" lang="en-US" altLang="zh-CN" sz="2400" i="1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为待定常数</a:t>
            </a:r>
            <a:r>
              <a:rPr kumimoji="1" lang="en-US" altLang="zh-CN" sz="2400" b="1">
                <a:solidFill>
                  <a:schemeClr val="bg1"/>
                </a:solidFill>
                <a:latin typeface="宋体" panose="02010600030101010101" pitchFamily="2" charset="-122"/>
              </a:rPr>
              <a:t>.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已知质点在</a:t>
            </a:r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</a:rPr>
              <a:t>2 s</a:t>
            </a: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末的线速度为 </a:t>
            </a:r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</a:rPr>
              <a:t>32 m/s</a:t>
            </a:r>
            <a:r>
              <a:rPr kumimoji="1" lang="en-US" altLang="zh-CN" sz="2400" b="1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55300" name="Rectangle 4">
            <a:extLst>
              <a:ext uri="{FF2B5EF4-FFF2-40B4-BE49-F238E27FC236}">
                <a16:creationId xmlns:a16="http://schemas.microsoft.com/office/drawing/2014/main" id="{5A601D53-9CFA-CF69-F1A4-2C491FA407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1924050"/>
            <a:ext cx="4522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t </a:t>
            </a:r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  <a:ea typeface="仿宋_GB2312" panose="02010609030101010101" pitchFamily="49" charset="-122"/>
              </a:rPr>
              <a:t>=0.5 s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时质点的线速度和加速度</a:t>
            </a:r>
          </a:p>
        </p:txBody>
      </p:sp>
      <p:graphicFrame>
        <p:nvGraphicFramePr>
          <p:cNvPr id="32773" name="Object 5">
            <a:extLst>
              <a:ext uri="{FF2B5EF4-FFF2-40B4-BE49-F238E27FC236}">
                <a16:creationId xmlns:a16="http://schemas.microsoft.com/office/drawing/2014/main" id="{C1E54EB2-4DEF-158A-ADAF-909C96E29BF1}"/>
              </a:ext>
            </a:extLst>
          </p:cNvPr>
          <p:cNvGraphicFramePr>
            <a:graphicFrameLocks/>
          </p:cNvGraphicFramePr>
          <p:nvPr/>
        </p:nvGraphicFramePr>
        <p:xfrm>
          <a:off x="2555875" y="2538413"/>
          <a:ext cx="168592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661210" imgH="289656" progId="Equation.3">
                  <p:embed/>
                </p:oleObj>
              </mc:Choice>
              <mc:Fallback>
                <p:oleObj name="公式" r:id="rId2" imgW="1661210" imgH="289656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2538413"/>
                        <a:ext cx="1685925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4" name="Object 6">
            <a:extLst>
              <a:ext uri="{FF2B5EF4-FFF2-40B4-BE49-F238E27FC236}">
                <a16:creationId xmlns:a16="http://schemas.microsoft.com/office/drawing/2014/main" id="{F3ADD831-878C-3AB2-24DC-C35ECA4A2C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3284538"/>
          <a:ext cx="204787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042205" imgH="365688" progId="Equation.3">
                  <p:embed/>
                </p:oleObj>
              </mc:Choice>
              <mc:Fallback>
                <p:oleObj name="公式" r:id="rId4" imgW="2042205" imgH="365688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284538"/>
                        <a:ext cx="2047875" cy="39052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5" name="Object 7">
            <a:extLst>
              <a:ext uri="{FF2B5EF4-FFF2-40B4-BE49-F238E27FC236}">
                <a16:creationId xmlns:a16="http://schemas.microsoft.com/office/drawing/2014/main" id="{7E4CC7F1-A440-C3E3-32D6-A9CB174440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27538" y="4235450"/>
          <a:ext cx="3516312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482338" imgH="807624" progId="Equation.3">
                  <p:embed/>
                </p:oleObj>
              </mc:Choice>
              <mc:Fallback>
                <p:oleObj name="公式" r:id="rId6" imgW="3482338" imgH="807624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4235450"/>
                        <a:ext cx="3516312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6" name="Object 8">
            <a:extLst>
              <a:ext uri="{FF2B5EF4-FFF2-40B4-BE49-F238E27FC236}">
                <a16:creationId xmlns:a16="http://schemas.microsoft.com/office/drawing/2014/main" id="{47E897E6-23D8-B1EA-CF2F-B323693994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21188" y="5149850"/>
          <a:ext cx="399097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962310" imgH="518184" progId="Equation.3">
                  <p:embed/>
                </p:oleObj>
              </mc:Choice>
              <mc:Fallback>
                <p:oleObj name="公式" r:id="rId8" imgW="3962310" imgH="518184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1188" y="5149850"/>
                        <a:ext cx="3990975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7" name="Object 9">
            <a:extLst>
              <a:ext uri="{FF2B5EF4-FFF2-40B4-BE49-F238E27FC236}">
                <a16:creationId xmlns:a16="http://schemas.microsoft.com/office/drawing/2014/main" id="{239B4EA1-2FB0-4FE9-C223-A4C6C09097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35525" y="2381250"/>
          <a:ext cx="2327275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31366" imgH="393529" progId="Equation.DSMT4">
                  <p:embed/>
                </p:oleObj>
              </mc:Choice>
              <mc:Fallback>
                <p:oleObj name="Equation" r:id="rId10" imgW="1231366" imgH="393529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5525" y="2381250"/>
                        <a:ext cx="2327275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8" name="Object 10">
            <a:extLst>
              <a:ext uri="{FF2B5EF4-FFF2-40B4-BE49-F238E27FC236}">
                <a16:creationId xmlns:a16="http://schemas.microsoft.com/office/drawing/2014/main" id="{0790A24D-D320-40C9-5C71-95A365E547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4438" y="3213100"/>
          <a:ext cx="11684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158330" imgH="365688" progId="Equation.3">
                  <p:embed/>
                </p:oleObj>
              </mc:Choice>
              <mc:Fallback>
                <p:oleObj name="公式" r:id="rId12" imgW="1158330" imgH="365688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3213100"/>
                        <a:ext cx="1168400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9" name="Object 11">
            <a:extLst>
              <a:ext uri="{FF2B5EF4-FFF2-40B4-BE49-F238E27FC236}">
                <a16:creationId xmlns:a16="http://schemas.microsoft.com/office/drawing/2014/main" id="{D719B358-5103-4FEF-7385-FFF4AE7E30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6013" y="4452938"/>
          <a:ext cx="2801937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804196" imgH="365688" progId="Equation.3">
                  <p:embed/>
                </p:oleObj>
              </mc:Choice>
              <mc:Fallback>
                <p:oleObj name="公式" r:id="rId14" imgW="2804196" imgH="365688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4452938"/>
                        <a:ext cx="2801937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0" name="Object 12">
            <a:extLst>
              <a:ext uri="{FF2B5EF4-FFF2-40B4-BE49-F238E27FC236}">
                <a16:creationId xmlns:a16="http://schemas.microsoft.com/office/drawing/2014/main" id="{DA097D85-696A-DD03-64FA-E26F06814C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74763" y="4956175"/>
          <a:ext cx="2605087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567992" imgH="853416" progId="Equation.3">
                  <p:embed/>
                </p:oleObj>
              </mc:Choice>
              <mc:Fallback>
                <p:oleObj name="公式" r:id="rId16" imgW="2567992" imgH="853416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4763" y="4956175"/>
                        <a:ext cx="2605087" cy="87947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1" name="Object 13">
            <a:extLst>
              <a:ext uri="{FF2B5EF4-FFF2-40B4-BE49-F238E27FC236}">
                <a16:creationId xmlns:a16="http://schemas.microsoft.com/office/drawing/2014/main" id="{D321748E-E4E8-9BC8-5C03-79EC3EC8FF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4438" y="5732463"/>
          <a:ext cx="31353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3108906" imgH="891648" progId="Equation.3">
                  <p:embed/>
                </p:oleObj>
              </mc:Choice>
              <mc:Fallback>
                <p:oleObj name="公式" r:id="rId18" imgW="3108906" imgH="891648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5732463"/>
                        <a:ext cx="31353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82" name="Rectangle 14">
            <a:extLst>
              <a:ext uri="{FF2B5EF4-FFF2-40B4-BE49-F238E27FC236}">
                <a16:creationId xmlns:a16="http://schemas.microsoft.com/office/drawing/2014/main" id="{A11FE7E8-89C8-479B-75A3-DB6B3C4F5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075" y="2457450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rgbClr val="FFFF00"/>
                </a:solidFill>
                <a:latin typeface="Times New Roman" panose="02020603050405020304" pitchFamily="18" charset="0"/>
              </a:rPr>
              <a:t>解</a:t>
            </a:r>
          </a:p>
        </p:txBody>
      </p:sp>
      <p:sp>
        <p:nvSpPr>
          <p:cNvPr id="55311" name="Rectangle 15">
            <a:extLst>
              <a:ext uri="{FF2B5EF4-FFF2-40B4-BE49-F238E27FC236}">
                <a16:creationId xmlns:a16="http://schemas.microsoft.com/office/drawing/2014/main" id="{23BC1589-ADD1-622C-395C-805B1A9BA3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075" y="511175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rgbClr val="FFFF00"/>
                </a:solidFill>
                <a:latin typeface="宋体" panose="02010600030101010101" pitchFamily="2" charset="-122"/>
              </a:rPr>
              <a:t>例</a:t>
            </a:r>
          </a:p>
        </p:txBody>
      </p:sp>
      <p:sp>
        <p:nvSpPr>
          <p:cNvPr id="55312" name="Rectangle 16">
            <a:extLst>
              <a:ext uri="{FF2B5EF4-FFF2-40B4-BE49-F238E27FC236}">
                <a16:creationId xmlns:a16="http://schemas.microsoft.com/office/drawing/2014/main" id="{2A1F54A7-777C-2556-60F1-154414634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075" y="1924050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rgbClr val="FFFF00"/>
                </a:solidFill>
                <a:latin typeface="宋体" panose="02010600030101010101" pitchFamily="2" charset="-122"/>
              </a:rPr>
              <a:t>求</a:t>
            </a:r>
          </a:p>
        </p:txBody>
      </p:sp>
      <p:sp>
        <p:nvSpPr>
          <p:cNvPr id="32785" name="Text Box 17">
            <a:extLst>
              <a:ext uri="{FF2B5EF4-FFF2-40B4-BE49-F238E27FC236}">
                <a16:creationId xmlns:a16="http://schemas.microsoft.com/office/drawing/2014/main" id="{CD1147D6-F42B-CDF3-5CB2-0E79946D23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275" y="3860800"/>
            <a:ext cx="17795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当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t </a:t>
            </a:r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</a:rPr>
              <a:t>=0.5 s 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时</a:t>
            </a:r>
          </a:p>
        </p:txBody>
      </p:sp>
      <p:sp>
        <p:nvSpPr>
          <p:cNvPr id="32786" name="Text Box 18">
            <a:extLst>
              <a:ext uri="{FF2B5EF4-FFF2-40B4-BE49-F238E27FC236}">
                <a16:creationId xmlns:a16="http://schemas.microsoft.com/office/drawing/2014/main" id="{5F68E417-D61C-5E0E-91BC-95ADB612BD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0913" y="2492375"/>
            <a:ext cx="1416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chemeClr val="bg1"/>
                </a:solidFill>
              </a:rPr>
              <a:t>由题意得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82" grpId="0"/>
      <p:bldP spid="32785" grpId="0"/>
      <p:bldP spid="32786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Picture 3">
            <a:extLst>
              <a:ext uri="{FF2B5EF4-FFF2-40B4-BE49-F238E27FC236}">
                <a16:creationId xmlns:a16="http://schemas.microsoft.com/office/drawing/2014/main" id="{006A86E5-51F1-FFA6-B5B5-059BB6142A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" y="1971675"/>
            <a:ext cx="2171700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6323" name="Picture 7">
            <a:extLst>
              <a:ext uri="{FF2B5EF4-FFF2-40B4-BE49-F238E27FC236}">
                <a16:creationId xmlns:a16="http://schemas.microsoft.com/office/drawing/2014/main" id="{F2449F7F-A80A-32E6-892F-3B0152C3F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" y="0"/>
            <a:ext cx="9104313" cy="199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CF92B5DF-DEFF-AC32-50B8-F47BB1D0AC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9113" y="2022475"/>
          <a:ext cx="5383212" cy="159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55900" imgH="812800" progId="Equation.DSMT4">
                  <p:embed/>
                </p:oleObj>
              </mc:Choice>
              <mc:Fallback>
                <p:oleObj name="Equation" r:id="rId4" imgW="2755900" imgH="8128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2022475"/>
                        <a:ext cx="5383212" cy="1592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D6C60934-4B51-44D6-040D-5453A4EFFB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32138" y="3644900"/>
          <a:ext cx="5334000" cy="169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30500" imgH="863600" progId="Equation.DSMT4">
                  <p:embed/>
                </p:oleObj>
              </mc:Choice>
              <mc:Fallback>
                <p:oleObj name="Equation" r:id="rId6" imgW="2730500" imgH="8636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3644900"/>
                        <a:ext cx="5334000" cy="169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3FF797F6-DE69-D1C1-A6E3-6989026C89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750" y="5229225"/>
          <a:ext cx="6426200" cy="1339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289300" imgH="685800" progId="Equation.DSMT4">
                  <p:embed/>
                </p:oleObj>
              </mc:Choice>
              <mc:Fallback>
                <p:oleObj name="Equation" r:id="rId8" imgW="3289300" imgH="6858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5229225"/>
                        <a:ext cx="6426200" cy="1339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3">
            <a:extLst>
              <a:ext uri="{FF2B5EF4-FFF2-40B4-BE49-F238E27FC236}">
                <a16:creationId xmlns:a16="http://schemas.microsoft.com/office/drawing/2014/main" id="{0B4875BD-EEF2-2C9E-0386-DDB488279B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333375"/>
            <a:ext cx="6592887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090738" indent="-209073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3200" b="1">
                <a:solidFill>
                  <a:srgbClr val="66FF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1.6  </a:t>
            </a:r>
            <a:r>
              <a:rPr kumimoji="1" lang="zh-CN" altLang="en-US" sz="3200" b="1">
                <a:solidFill>
                  <a:srgbClr val="66FF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不同参考系中的速度和加速度变换定理简介</a:t>
            </a:r>
            <a:endParaRPr kumimoji="1" lang="zh-CN" altLang="en-US" sz="3200" b="1">
              <a:solidFill>
                <a:srgbClr val="66FF33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7347" name="图片 3">
            <a:extLst>
              <a:ext uri="{FF2B5EF4-FFF2-40B4-BE49-F238E27FC236}">
                <a16:creationId xmlns:a16="http://schemas.microsoft.com/office/drawing/2014/main" id="{55F9CFE1-CA78-5F05-2258-53D828AD92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825" y="1557338"/>
            <a:ext cx="7593013" cy="187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48" name="图片 5">
            <a:extLst>
              <a:ext uri="{FF2B5EF4-FFF2-40B4-BE49-F238E27FC236}">
                <a16:creationId xmlns:a16="http://schemas.microsoft.com/office/drawing/2014/main" id="{1AFB5093-CD11-A107-A34C-FE05F8FF74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825" y="3586163"/>
            <a:ext cx="3565525" cy="287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49" name="文本框 6">
            <a:extLst>
              <a:ext uri="{FF2B5EF4-FFF2-40B4-BE49-F238E27FC236}">
                <a16:creationId xmlns:a16="http://schemas.microsoft.com/office/drawing/2014/main" id="{9352EE58-7887-662A-5CBA-3582324119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538" y="3478213"/>
            <a:ext cx="4392612" cy="304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>
                <a:solidFill>
                  <a:schemeClr val="bg1"/>
                </a:solidFill>
              </a:rPr>
              <a:t>我们可以看到运动具有相对性，而不同参考系下的位移、速度和加速度间应当满足一个矢量关系，称为</a:t>
            </a:r>
            <a:r>
              <a:rPr lang="zh-CN" altLang="en-US" sz="2400" b="1">
                <a:solidFill>
                  <a:srgbClr val="FFC000"/>
                </a:solidFill>
              </a:rPr>
              <a:t>伽利略变换</a:t>
            </a:r>
            <a:r>
              <a:rPr lang="zh-CN" altLang="en-US" sz="2400" b="1">
                <a:solidFill>
                  <a:schemeClr val="bg1"/>
                </a:solidFill>
              </a:rPr>
              <a:t>。</a:t>
            </a:r>
            <a:endParaRPr lang="en-US" altLang="zh-CN" sz="2400" b="1">
              <a:solidFill>
                <a:schemeClr val="bg1"/>
              </a:solidFill>
            </a:endParaRPr>
          </a:p>
          <a:p>
            <a:r>
              <a:rPr lang="zh-CN" altLang="en-US" sz="2400" b="1">
                <a:solidFill>
                  <a:schemeClr val="bg1"/>
                </a:solidFill>
              </a:rPr>
              <a:t>伽利略变换只能用于低速宏观的机械运动。不能用于描述高速问题和电磁问题中的相对运动间的关系。</a:t>
            </a:r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Freeform 2">
            <a:extLst>
              <a:ext uri="{FF2B5EF4-FFF2-40B4-BE49-F238E27FC236}">
                <a16:creationId xmlns:a16="http://schemas.microsoft.com/office/drawing/2014/main" id="{B850AB13-9557-8D2A-AFE3-15D4B9CB2F47}"/>
              </a:ext>
            </a:extLst>
          </p:cNvPr>
          <p:cNvSpPr>
            <a:spLocks/>
          </p:cNvSpPr>
          <p:nvPr/>
        </p:nvSpPr>
        <p:spPr bwMode="auto">
          <a:xfrm>
            <a:off x="5722938" y="2541588"/>
            <a:ext cx="1117600" cy="963612"/>
          </a:xfrm>
          <a:custGeom>
            <a:avLst/>
            <a:gdLst>
              <a:gd name="T0" fmla="*/ 2147483646 w 704"/>
              <a:gd name="T1" fmla="*/ 2147483646 h 607"/>
              <a:gd name="T2" fmla="*/ 2147483646 w 704"/>
              <a:gd name="T3" fmla="*/ 2147483646 h 607"/>
              <a:gd name="T4" fmla="*/ 2147483646 w 704"/>
              <a:gd name="T5" fmla="*/ 2147483646 h 607"/>
              <a:gd name="T6" fmla="*/ 2147483646 w 704"/>
              <a:gd name="T7" fmla="*/ 2147483646 h 607"/>
              <a:gd name="T8" fmla="*/ 2147483646 w 704"/>
              <a:gd name="T9" fmla="*/ 2147483646 h 607"/>
              <a:gd name="T10" fmla="*/ 2147483646 w 704"/>
              <a:gd name="T11" fmla="*/ 2147483646 h 607"/>
              <a:gd name="T12" fmla="*/ 2147483646 w 704"/>
              <a:gd name="T13" fmla="*/ 2147483646 h 607"/>
              <a:gd name="T14" fmla="*/ 2147483646 w 704"/>
              <a:gd name="T15" fmla="*/ 2147483646 h 607"/>
              <a:gd name="T16" fmla="*/ 2147483646 w 704"/>
              <a:gd name="T17" fmla="*/ 2147483646 h 607"/>
              <a:gd name="T18" fmla="*/ 2147483646 w 704"/>
              <a:gd name="T19" fmla="*/ 2147483646 h 607"/>
              <a:gd name="T20" fmla="*/ 2147483646 w 704"/>
              <a:gd name="T21" fmla="*/ 2147483646 h 607"/>
              <a:gd name="T22" fmla="*/ 2147483646 w 704"/>
              <a:gd name="T23" fmla="*/ 2147483646 h 607"/>
              <a:gd name="T24" fmla="*/ 2147483646 w 704"/>
              <a:gd name="T25" fmla="*/ 2147483646 h 607"/>
              <a:gd name="T26" fmla="*/ 2147483646 w 704"/>
              <a:gd name="T27" fmla="*/ 2147483646 h 607"/>
              <a:gd name="T28" fmla="*/ 2147483646 w 704"/>
              <a:gd name="T29" fmla="*/ 2147483646 h 607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704" h="607">
                <a:moveTo>
                  <a:pt x="68" y="279"/>
                </a:moveTo>
                <a:cubicBezTo>
                  <a:pt x="82" y="0"/>
                  <a:pt x="0" y="49"/>
                  <a:pt x="188" y="27"/>
                </a:cubicBezTo>
                <a:cubicBezTo>
                  <a:pt x="220" y="23"/>
                  <a:pt x="252" y="19"/>
                  <a:pt x="284" y="15"/>
                </a:cubicBezTo>
                <a:cubicBezTo>
                  <a:pt x="394" y="26"/>
                  <a:pt x="480" y="45"/>
                  <a:pt x="584" y="75"/>
                </a:cubicBezTo>
                <a:cubicBezTo>
                  <a:pt x="600" y="91"/>
                  <a:pt x="620" y="104"/>
                  <a:pt x="632" y="123"/>
                </a:cubicBezTo>
                <a:cubicBezTo>
                  <a:pt x="645" y="145"/>
                  <a:pt x="645" y="172"/>
                  <a:pt x="656" y="195"/>
                </a:cubicBezTo>
                <a:cubicBezTo>
                  <a:pt x="665" y="213"/>
                  <a:pt x="680" y="227"/>
                  <a:pt x="692" y="243"/>
                </a:cubicBezTo>
                <a:cubicBezTo>
                  <a:pt x="696" y="259"/>
                  <a:pt x="704" y="275"/>
                  <a:pt x="704" y="291"/>
                </a:cubicBezTo>
                <a:cubicBezTo>
                  <a:pt x="704" y="331"/>
                  <a:pt x="659" y="376"/>
                  <a:pt x="632" y="399"/>
                </a:cubicBezTo>
                <a:cubicBezTo>
                  <a:pt x="568" y="452"/>
                  <a:pt x="464" y="471"/>
                  <a:pt x="392" y="519"/>
                </a:cubicBezTo>
                <a:cubicBezTo>
                  <a:pt x="259" y="607"/>
                  <a:pt x="342" y="576"/>
                  <a:pt x="260" y="603"/>
                </a:cubicBezTo>
                <a:cubicBezTo>
                  <a:pt x="236" y="595"/>
                  <a:pt x="212" y="587"/>
                  <a:pt x="188" y="579"/>
                </a:cubicBezTo>
                <a:cubicBezTo>
                  <a:pt x="161" y="570"/>
                  <a:pt x="156" y="531"/>
                  <a:pt x="140" y="507"/>
                </a:cubicBezTo>
                <a:cubicBezTo>
                  <a:pt x="107" y="457"/>
                  <a:pt x="126" y="481"/>
                  <a:pt x="80" y="435"/>
                </a:cubicBezTo>
                <a:cubicBezTo>
                  <a:pt x="55" y="361"/>
                  <a:pt x="68" y="412"/>
                  <a:pt x="68" y="279"/>
                </a:cubicBezTo>
                <a:close/>
              </a:path>
            </a:pathLst>
          </a:custGeom>
          <a:solidFill>
            <a:srgbClr val="FFFFFF">
              <a:alpha val="50195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FFFF00"/>
                </a:solidFill>
                <a:prstDash val="dash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796" name="Line 4">
            <a:extLst>
              <a:ext uri="{FF2B5EF4-FFF2-40B4-BE49-F238E27FC236}">
                <a16:creationId xmlns:a16="http://schemas.microsoft.com/office/drawing/2014/main" id="{E989CA17-00EB-902C-07D3-4982AE18520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46738" y="1203325"/>
            <a:ext cx="0" cy="2424113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797" name="Line 5">
            <a:extLst>
              <a:ext uri="{FF2B5EF4-FFF2-40B4-BE49-F238E27FC236}">
                <a16:creationId xmlns:a16="http://schemas.microsoft.com/office/drawing/2014/main" id="{0B634AC9-76C9-D1D7-B257-71ACA6412160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1500" y="3613150"/>
            <a:ext cx="3190875" cy="4763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798" name="Line 6">
            <a:extLst>
              <a:ext uri="{FF2B5EF4-FFF2-40B4-BE49-F238E27FC236}">
                <a16:creationId xmlns:a16="http://schemas.microsoft.com/office/drawing/2014/main" id="{F95E668F-EEA6-1CA9-589E-2AD0938D4801}"/>
              </a:ext>
            </a:extLst>
          </p:cNvPr>
          <p:cNvSpPr>
            <a:spLocks noChangeShapeType="1"/>
          </p:cNvSpPr>
          <p:nvPr/>
        </p:nvSpPr>
        <p:spPr bwMode="auto">
          <a:xfrm rot="21124976" flipV="1">
            <a:off x="6184900" y="1187450"/>
            <a:ext cx="2057400" cy="9398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799" name="Line 7">
            <a:extLst>
              <a:ext uri="{FF2B5EF4-FFF2-40B4-BE49-F238E27FC236}">
                <a16:creationId xmlns:a16="http://schemas.microsoft.com/office/drawing/2014/main" id="{3ACB6ACA-F33A-583C-4AEA-F25E64728750}"/>
              </a:ext>
            </a:extLst>
          </p:cNvPr>
          <p:cNvSpPr>
            <a:spLocks noChangeShapeType="1"/>
          </p:cNvSpPr>
          <p:nvPr/>
        </p:nvSpPr>
        <p:spPr bwMode="auto">
          <a:xfrm rot="21378022" flipV="1">
            <a:off x="6313488" y="1895475"/>
            <a:ext cx="1597025" cy="300038"/>
          </a:xfrm>
          <a:prstGeom prst="line">
            <a:avLst/>
          </a:prstGeom>
          <a:noFill/>
          <a:ln w="38100">
            <a:solidFill>
              <a:srgbClr val="66FF33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00" name="Line 8">
            <a:extLst>
              <a:ext uri="{FF2B5EF4-FFF2-40B4-BE49-F238E27FC236}">
                <a16:creationId xmlns:a16="http://schemas.microsoft.com/office/drawing/2014/main" id="{8B303061-09E8-1CEA-50AE-765CDA7F8AC2}"/>
              </a:ext>
            </a:extLst>
          </p:cNvPr>
          <p:cNvSpPr>
            <a:spLocks noChangeShapeType="1"/>
          </p:cNvSpPr>
          <p:nvPr/>
        </p:nvSpPr>
        <p:spPr bwMode="auto">
          <a:xfrm rot="1866101" flipV="1">
            <a:off x="7018338" y="2882900"/>
            <a:ext cx="541337" cy="530225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01" name="Line 9">
            <a:extLst>
              <a:ext uri="{FF2B5EF4-FFF2-40B4-BE49-F238E27FC236}">
                <a16:creationId xmlns:a16="http://schemas.microsoft.com/office/drawing/2014/main" id="{598246CD-A421-7CE9-56A1-F4E66E96C5E9}"/>
              </a:ext>
            </a:extLst>
          </p:cNvPr>
          <p:cNvSpPr>
            <a:spLocks noChangeShapeType="1"/>
          </p:cNvSpPr>
          <p:nvPr/>
        </p:nvSpPr>
        <p:spPr bwMode="auto">
          <a:xfrm rot="20740995" flipV="1">
            <a:off x="7829550" y="1103313"/>
            <a:ext cx="431800" cy="663575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33802" name="Freeform 10">
            <a:extLst>
              <a:ext uri="{FF2B5EF4-FFF2-40B4-BE49-F238E27FC236}">
                <a16:creationId xmlns:a16="http://schemas.microsoft.com/office/drawing/2014/main" id="{355BB1C5-6CB0-A381-3677-A452DE2D31B7}"/>
              </a:ext>
            </a:extLst>
          </p:cNvPr>
          <p:cNvSpPr>
            <a:spLocks/>
          </p:cNvSpPr>
          <p:nvPr/>
        </p:nvSpPr>
        <p:spPr bwMode="auto">
          <a:xfrm>
            <a:off x="7323138" y="2035175"/>
            <a:ext cx="1117600" cy="963613"/>
          </a:xfrm>
          <a:custGeom>
            <a:avLst/>
            <a:gdLst>
              <a:gd name="T0" fmla="*/ 2147483646 w 704"/>
              <a:gd name="T1" fmla="*/ 2147483646 h 607"/>
              <a:gd name="T2" fmla="*/ 2147483646 w 704"/>
              <a:gd name="T3" fmla="*/ 2147483646 h 607"/>
              <a:gd name="T4" fmla="*/ 2147483646 w 704"/>
              <a:gd name="T5" fmla="*/ 2147483646 h 607"/>
              <a:gd name="T6" fmla="*/ 2147483646 w 704"/>
              <a:gd name="T7" fmla="*/ 2147483646 h 607"/>
              <a:gd name="T8" fmla="*/ 2147483646 w 704"/>
              <a:gd name="T9" fmla="*/ 2147483646 h 607"/>
              <a:gd name="T10" fmla="*/ 2147483646 w 704"/>
              <a:gd name="T11" fmla="*/ 2147483646 h 607"/>
              <a:gd name="T12" fmla="*/ 2147483646 w 704"/>
              <a:gd name="T13" fmla="*/ 2147483646 h 607"/>
              <a:gd name="T14" fmla="*/ 2147483646 w 704"/>
              <a:gd name="T15" fmla="*/ 2147483646 h 607"/>
              <a:gd name="T16" fmla="*/ 2147483646 w 704"/>
              <a:gd name="T17" fmla="*/ 2147483646 h 607"/>
              <a:gd name="T18" fmla="*/ 2147483646 w 704"/>
              <a:gd name="T19" fmla="*/ 2147483646 h 607"/>
              <a:gd name="T20" fmla="*/ 2147483646 w 704"/>
              <a:gd name="T21" fmla="*/ 2147483646 h 607"/>
              <a:gd name="T22" fmla="*/ 2147483646 w 704"/>
              <a:gd name="T23" fmla="*/ 2147483646 h 607"/>
              <a:gd name="T24" fmla="*/ 2147483646 w 704"/>
              <a:gd name="T25" fmla="*/ 2147483646 h 607"/>
              <a:gd name="T26" fmla="*/ 2147483646 w 704"/>
              <a:gd name="T27" fmla="*/ 2147483646 h 607"/>
              <a:gd name="T28" fmla="*/ 2147483646 w 704"/>
              <a:gd name="T29" fmla="*/ 2147483646 h 607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704" h="607">
                <a:moveTo>
                  <a:pt x="68" y="279"/>
                </a:moveTo>
                <a:cubicBezTo>
                  <a:pt x="82" y="0"/>
                  <a:pt x="0" y="49"/>
                  <a:pt x="188" y="27"/>
                </a:cubicBezTo>
                <a:cubicBezTo>
                  <a:pt x="220" y="23"/>
                  <a:pt x="252" y="19"/>
                  <a:pt x="284" y="15"/>
                </a:cubicBezTo>
                <a:cubicBezTo>
                  <a:pt x="394" y="26"/>
                  <a:pt x="480" y="45"/>
                  <a:pt x="584" y="75"/>
                </a:cubicBezTo>
                <a:cubicBezTo>
                  <a:pt x="600" y="91"/>
                  <a:pt x="620" y="104"/>
                  <a:pt x="632" y="123"/>
                </a:cubicBezTo>
                <a:cubicBezTo>
                  <a:pt x="645" y="145"/>
                  <a:pt x="645" y="172"/>
                  <a:pt x="656" y="195"/>
                </a:cubicBezTo>
                <a:cubicBezTo>
                  <a:pt x="665" y="213"/>
                  <a:pt x="680" y="227"/>
                  <a:pt x="692" y="243"/>
                </a:cubicBezTo>
                <a:cubicBezTo>
                  <a:pt x="696" y="259"/>
                  <a:pt x="704" y="275"/>
                  <a:pt x="704" y="291"/>
                </a:cubicBezTo>
                <a:cubicBezTo>
                  <a:pt x="704" y="331"/>
                  <a:pt x="659" y="376"/>
                  <a:pt x="632" y="399"/>
                </a:cubicBezTo>
                <a:cubicBezTo>
                  <a:pt x="568" y="452"/>
                  <a:pt x="464" y="471"/>
                  <a:pt x="392" y="519"/>
                </a:cubicBezTo>
                <a:cubicBezTo>
                  <a:pt x="259" y="607"/>
                  <a:pt x="342" y="576"/>
                  <a:pt x="260" y="603"/>
                </a:cubicBezTo>
                <a:cubicBezTo>
                  <a:pt x="236" y="595"/>
                  <a:pt x="212" y="587"/>
                  <a:pt x="188" y="579"/>
                </a:cubicBezTo>
                <a:cubicBezTo>
                  <a:pt x="161" y="570"/>
                  <a:pt x="156" y="531"/>
                  <a:pt x="140" y="507"/>
                </a:cubicBezTo>
                <a:cubicBezTo>
                  <a:pt x="107" y="457"/>
                  <a:pt x="126" y="481"/>
                  <a:pt x="80" y="435"/>
                </a:cubicBezTo>
                <a:cubicBezTo>
                  <a:pt x="55" y="361"/>
                  <a:pt x="68" y="412"/>
                  <a:pt x="68" y="279"/>
                </a:cubicBezTo>
                <a:close/>
              </a:path>
            </a:pathLst>
          </a:custGeom>
          <a:solidFill>
            <a:srgbClr val="FFFFFF">
              <a:alpha val="50195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CCFF99"/>
                </a:solidFill>
                <a:prstDash val="dash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33803" name="Oval 11">
            <a:extLst>
              <a:ext uri="{FF2B5EF4-FFF2-40B4-BE49-F238E27FC236}">
                <a16:creationId xmlns:a16="http://schemas.microsoft.com/office/drawing/2014/main" id="{4B2D10D5-8A8F-5AE6-8918-BBF657D345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6538" y="1812925"/>
            <a:ext cx="90487" cy="90488"/>
          </a:xfrm>
          <a:prstGeom prst="ellipse">
            <a:avLst/>
          </a:prstGeom>
          <a:solidFill>
            <a:srgbClr val="FFFF00"/>
          </a:solidFill>
          <a:ln w="9525">
            <a:solidFill>
              <a:srgbClr val="FFFF6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3804" name="Oval 12">
            <a:extLst>
              <a:ext uri="{FF2B5EF4-FFF2-40B4-BE49-F238E27FC236}">
                <a16:creationId xmlns:a16="http://schemas.microsoft.com/office/drawing/2014/main" id="{E2350998-A7F0-6D83-93F1-04656455AA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1650" y="1009650"/>
            <a:ext cx="90488" cy="100013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3805" name="Line 13">
            <a:extLst>
              <a:ext uri="{FF2B5EF4-FFF2-40B4-BE49-F238E27FC236}">
                <a16:creationId xmlns:a16="http://schemas.microsoft.com/office/drawing/2014/main" id="{0A125D2F-473F-96CD-D83B-68C26F2C841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027738" y="1355725"/>
            <a:ext cx="3175" cy="180975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06" name="Line 14">
            <a:extLst>
              <a:ext uri="{FF2B5EF4-FFF2-40B4-BE49-F238E27FC236}">
                <a16:creationId xmlns:a16="http://schemas.microsoft.com/office/drawing/2014/main" id="{36CB6593-CB2C-F5A0-F688-9381D7DF9D0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27738" y="3151188"/>
            <a:ext cx="860425" cy="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07" name="Text Box 15">
            <a:extLst>
              <a:ext uri="{FF2B5EF4-FFF2-40B4-BE49-F238E27FC236}">
                <a16:creationId xmlns:a16="http://schemas.microsoft.com/office/drawing/2014/main" id="{AFA4007F-15A6-11A6-D6BB-1F46CE4852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6313" y="2798763"/>
            <a:ext cx="49530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kumimoji="1" lang="en-US" altLang="zh-CN" sz="1000">
                <a:solidFill>
                  <a:srgbClr val="FFFF00"/>
                </a:solidFill>
                <a:latin typeface="Times New Roman" panose="02020603050405020304" pitchFamily="18" charset="0"/>
              </a:rPr>
              <a:t>·</a:t>
            </a:r>
            <a:endParaRPr kumimoji="1" lang="en-US" altLang="zh-CN" sz="1000">
              <a:solidFill>
                <a:srgbClr val="FFFF00"/>
              </a:solidFill>
              <a:latin typeface="宋体" panose="02010600030101010101" pitchFamily="2" charset="-122"/>
            </a:endParaRPr>
          </a:p>
        </p:txBody>
      </p:sp>
      <p:sp>
        <p:nvSpPr>
          <p:cNvPr id="33808" name="Oval 16">
            <a:extLst>
              <a:ext uri="{FF2B5EF4-FFF2-40B4-BE49-F238E27FC236}">
                <a16:creationId xmlns:a16="http://schemas.microsoft.com/office/drawing/2014/main" id="{D18C1330-1112-2897-B43B-6C70781CD5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6338" y="2193925"/>
            <a:ext cx="90487" cy="904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3809" name="Object 17">
            <a:extLst>
              <a:ext uri="{FF2B5EF4-FFF2-40B4-BE49-F238E27FC236}">
                <a16:creationId xmlns:a16="http://schemas.microsoft.com/office/drawing/2014/main" id="{519594D3-B4ED-294B-19AE-8C4CF52E4E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88163" y="1279525"/>
          <a:ext cx="346075" cy="23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03903" imgH="274320" progId="Equation.3">
                  <p:embed/>
                </p:oleObj>
              </mc:Choice>
              <mc:Fallback>
                <p:oleObj name="公式" r:id="rId2" imgW="403903" imgH="27432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8163" y="1279525"/>
                        <a:ext cx="346075" cy="233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0" name="Object 18">
            <a:extLst>
              <a:ext uri="{FF2B5EF4-FFF2-40B4-BE49-F238E27FC236}">
                <a16:creationId xmlns:a16="http://schemas.microsoft.com/office/drawing/2014/main" id="{6884F796-D380-9713-5B81-EC5464FB26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40700" y="1316038"/>
          <a:ext cx="409575" cy="255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79972" imgH="289656" progId="Equation.3">
                  <p:embed/>
                </p:oleObj>
              </mc:Choice>
              <mc:Fallback>
                <p:oleObj name="公式" r:id="rId4" imgW="479972" imgH="289656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40700" y="1316038"/>
                        <a:ext cx="409575" cy="255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1" name="Object 19">
            <a:extLst>
              <a:ext uri="{FF2B5EF4-FFF2-40B4-BE49-F238E27FC236}">
                <a16:creationId xmlns:a16="http://schemas.microsoft.com/office/drawing/2014/main" id="{D59D0172-F3EE-7EE9-8BB0-DFCE5B4B40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04038" y="2192338"/>
          <a:ext cx="4318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18223" imgH="281880" progId="Equation.3">
                  <p:embed/>
                </p:oleObj>
              </mc:Choice>
              <mc:Fallback>
                <p:oleObj name="公式" r:id="rId6" imgW="518223" imgH="28188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4038" y="2192338"/>
                        <a:ext cx="4318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87" name="Text Box 20">
            <a:extLst>
              <a:ext uri="{FF2B5EF4-FFF2-40B4-BE49-F238E27FC236}">
                <a16:creationId xmlns:a16="http://schemas.microsoft.com/office/drawing/2014/main" id="{742C088E-FC76-A037-020E-62A7A3107E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63" y="725488"/>
            <a:ext cx="2362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rgbClr val="FFFF00"/>
                </a:solidFill>
                <a:latin typeface="宋体" panose="02010600030101010101" pitchFamily="2" charset="-122"/>
              </a:rPr>
              <a:t>一</a:t>
            </a:r>
            <a:r>
              <a:rPr kumimoji="1" lang="en-US" altLang="zh-CN" sz="2800" b="1">
                <a:solidFill>
                  <a:srgbClr val="FFFF00"/>
                </a:solidFill>
                <a:latin typeface="Times New Roman" panose="02020603050405020304" pitchFamily="18" charset="0"/>
              </a:rPr>
              <a:t>. </a:t>
            </a:r>
            <a:r>
              <a:rPr kumimoji="1" lang="zh-CN" altLang="en-US" sz="2800" b="1">
                <a:solidFill>
                  <a:srgbClr val="FFFF00"/>
                </a:solidFill>
                <a:latin typeface="宋体" panose="02010600030101010101" pitchFamily="2" charset="-122"/>
              </a:rPr>
              <a:t>基本概念</a:t>
            </a:r>
          </a:p>
        </p:txBody>
      </p:sp>
      <p:sp>
        <p:nvSpPr>
          <p:cNvPr id="58388" name="Text Box 21">
            <a:extLst>
              <a:ext uri="{FF2B5EF4-FFF2-40B4-BE49-F238E27FC236}">
                <a16:creationId xmlns:a16="http://schemas.microsoft.com/office/drawing/2014/main" id="{344565EF-502A-21EC-B1E0-5C4749EE31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888" y="3157538"/>
            <a:ext cx="4191000" cy="690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绝对参照系</a:t>
            </a:r>
            <a:r>
              <a:rPr kumimoji="1" lang="en-US" altLang="zh-CN" sz="2800" b="1" i="1">
                <a:solidFill>
                  <a:srgbClr val="66FFFF"/>
                </a:solidFill>
                <a:latin typeface="Times New Roman" panose="02020603050405020304" pitchFamily="18" charset="0"/>
              </a:rPr>
              <a:t>s </a:t>
            </a:r>
            <a:r>
              <a:rPr kumimoji="1" lang="zh-CN" altLang="en-US" sz="2400" b="1" i="1">
                <a:solidFill>
                  <a:schemeClr val="bg1"/>
                </a:solidFill>
                <a:latin typeface="宋体" panose="02010600030101010101" pitchFamily="2" charset="-122"/>
              </a:rPr>
              <a:t>，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相对参照系</a:t>
            </a:r>
            <a:r>
              <a:rPr kumimoji="1" lang="en-US" altLang="zh-CN" sz="2800" b="1" i="1">
                <a:solidFill>
                  <a:srgbClr val="66FFFF"/>
                </a:solidFill>
                <a:latin typeface="Times New Roman" panose="02020603050405020304" pitchFamily="18" charset="0"/>
              </a:rPr>
              <a:t>s'</a:t>
            </a:r>
            <a:r>
              <a:rPr kumimoji="1" lang="en-US" altLang="zh-CN" sz="2400" b="1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58389" name="Text Box 22">
            <a:extLst>
              <a:ext uri="{FF2B5EF4-FFF2-40B4-BE49-F238E27FC236}">
                <a16:creationId xmlns:a16="http://schemas.microsoft.com/office/drawing/2014/main" id="{3317A424-04CA-9091-CF33-FDB21AED1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9188" y="1427163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solidFill>
                  <a:schemeClr val="bg1"/>
                </a:solidFill>
                <a:latin typeface="宋体" panose="02010600030101010101" pitchFamily="2" charset="-122"/>
              </a:rPr>
              <a:t>(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研究对象</a:t>
            </a:r>
            <a:r>
              <a:rPr kumimoji="1" lang="en-US" altLang="zh-CN" sz="2400" b="1">
                <a:solidFill>
                  <a:schemeClr val="bg1"/>
                </a:solidFill>
                <a:latin typeface="宋体" panose="02010600030101010101" pitchFamily="2" charset="-122"/>
              </a:rPr>
              <a:t>)</a:t>
            </a:r>
          </a:p>
        </p:txBody>
      </p:sp>
      <p:graphicFrame>
        <p:nvGraphicFramePr>
          <p:cNvPr id="58390" name="Object 30">
            <a:extLst>
              <a:ext uri="{FF2B5EF4-FFF2-40B4-BE49-F238E27FC236}">
                <a16:creationId xmlns:a16="http://schemas.microsoft.com/office/drawing/2014/main" id="{7363C93D-6354-1C13-9ACB-F48E2C53C0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60588" y="1516063"/>
          <a:ext cx="2794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1548" imgH="274320" progId="Equation.3">
                  <p:embed/>
                </p:oleObj>
              </mc:Choice>
              <mc:Fallback>
                <p:oleObj name="Equation" r:id="rId8" imgW="251548" imgH="27432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0588" y="1516063"/>
                        <a:ext cx="2794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91" name="Rectangle 32">
            <a:extLst>
              <a:ext uri="{FF2B5EF4-FFF2-40B4-BE49-F238E27FC236}">
                <a16:creationId xmlns:a16="http://schemas.microsoft.com/office/drawing/2014/main" id="{04762548-7004-C6DC-1D5F-AA526FF47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175" y="2257425"/>
            <a:ext cx="4257675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rgbClr val="66FFFF"/>
                </a:solidFill>
                <a:latin typeface="宋体" panose="02010600030101010101" pitchFamily="2" charset="-122"/>
              </a:rPr>
              <a:t>二个参照系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（这里只讨论参照系间只发生平动）</a:t>
            </a:r>
          </a:p>
        </p:txBody>
      </p:sp>
      <p:graphicFrame>
        <p:nvGraphicFramePr>
          <p:cNvPr id="33825" name="Object 33">
            <a:extLst>
              <a:ext uri="{FF2B5EF4-FFF2-40B4-BE49-F238E27FC236}">
                <a16:creationId xmlns:a16="http://schemas.microsoft.com/office/drawing/2014/main" id="{AB53D70D-E4EF-BBC7-7F91-7168267401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51513" y="1571625"/>
          <a:ext cx="193675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3297" imgH="289656" progId="Equation.3">
                  <p:embed/>
                </p:oleObj>
              </mc:Choice>
              <mc:Fallback>
                <p:oleObj name="Equation" r:id="rId10" imgW="213297" imgH="289656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1513" y="1571625"/>
                        <a:ext cx="193675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26" name="Object 34">
            <a:extLst>
              <a:ext uri="{FF2B5EF4-FFF2-40B4-BE49-F238E27FC236}">
                <a16:creationId xmlns:a16="http://schemas.microsoft.com/office/drawing/2014/main" id="{FC942A70-9B48-E94D-CBC8-1AFD736A08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88038" y="3197225"/>
          <a:ext cx="238125" cy="25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74239" imgH="289656" progId="Equation.3">
                  <p:embed/>
                </p:oleObj>
              </mc:Choice>
              <mc:Fallback>
                <p:oleObj name="公式" r:id="rId12" imgW="274239" imgH="289656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8038" y="3197225"/>
                        <a:ext cx="238125" cy="255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27" name="Object 35">
            <a:extLst>
              <a:ext uri="{FF2B5EF4-FFF2-40B4-BE49-F238E27FC236}">
                <a16:creationId xmlns:a16="http://schemas.microsoft.com/office/drawing/2014/main" id="{4EAA282F-E59D-3BE2-8A3E-C60B122991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35613" y="3629025"/>
          <a:ext cx="238125" cy="25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74239" imgH="289656" progId="Equation.3">
                  <p:embed/>
                </p:oleObj>
              </mc:Choice>
              <mc:Fallback>
                <p:oleObj name="公式" r:id="rId14" imgW="274239" imgH="289656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5613" y="3629025"/>
                        <a:ext cx="238125" cy="255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28" name="Object 36">
            <a:extLst>
              <a:ext uri="{FF2B5EF4-FFF2-40B4-BE49-F238E27FC236}">
                <a16:creationId xmlns:a16="http://schemas.microsoft.com/office/drawing/2014/main" id="{33F3E7CD-CAF7-0494-EBB9-7CCEB005DC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78488" y="1211263"/>
          <a:ext cx="193675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13297" imgH="281880" progId="Equation.3">
                  <p:embed/>
                </p:oleObj>
              </mc:Choice>
              <mc:Fallback>
                <p:oleObj name="Equation" r:id="rId16" imgW="213297" imgH="28188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8488" y="1211263"/>
                        <a:ext cx="193675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29" name="Object 37">
            <a:extLst>
              <a:ext uri="{FF2B5EF4-FFF2-40B4-BE49-F238E27FC236}">
                <a16:creationId xmlns:a16="http://schemas.microsoft.com/office/drawing/2014/main" id="{67C81699-915F-CFE5-7AF4-FC0AECAC92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29638" y="3403600"/>
          <a:ext cx="173037" cy="18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90606" imgH="205848" progId="Equation.3">
                  <p:embed/>
                </p:oleObj>
              </mc:Choice>
              <mc:Fallback>
                <p:oleObj name="Equation" r:id="rId18" imgW="190606" imgH="205848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29638" y="3403600"/>
                        <a:ext cx="173037" cy="18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30" name="Object 38">
            <a:extLst>
              <a:ext uri="{FF2B5EF4-FFF2-40B4-BE49-F238E27FC236}">
                <a16:creationId xmlns:a16="http://schemas.microsoft.com/office/drawing/2014/main" id="{512EFB75-968D-9FC7-4C2A-BEE7E9E000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1150" y="1643063"/>
          <a:ext cx="153988" cy="18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67699" imgH="205848" progId="Equation.3">
                  <p:embed/>
                </p:oleObj>
              </mc:Choice>
              <mc:Fallback>
                <p:oleObj name="公式" r:id="rId20" imgW="167699" imgH="205848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1150" y="1643063"/>
                        <a:ext cx="153988" cy="18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31" name="Line 39">
            <a:extLst>
              <a:ext uri="{FF2B5EF4-FFF2-40B4-BE49-F238E27FC236}">
                <a16:creationId xmlns:a16="http://schemas.microsoft.com/office/drawing/2014/main" id="{B56E02F4-DB42-E9E8-E361-08E49D06732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627938" y="898525"/>
            <a:ext cx="3175" cy="18288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32" name="Line 40">
            <a:extLst>
              <a:ext uri="{FF2B5EF4-FFF2-40B4-BE49-F238E27FC236}">
                <a16:creationId xmlns:a16="http://schemas.microsoft.com/office/drawing/2014/main" id="{A7CE8CD4-50AF-676A-E47E-8E1A73AA414C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7938" y="2727325"/>
            <a:ext cx="860425" cy="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3833" name="Object 41">
            <a:extLst>
              <a:ext uri="{FF2B5EF4-FFF2-40B4-BE49-F238E27FC236}">
                <a16:creationId xmlns:a16="http://schemas.microsoft.com/office/drawing/2014/main" id="{3EE948D1-B9AF-86F0-7B61-3E58A416A3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69150" y="3271838"/>
          <a:ext cx="184150" cy="223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205733" imgH="251424" progId="Equation.3">
                  <p:embed/>
                </p:oleObj>
              </mc:Choice>
              <mc:Fallback>
                <p:oleObj name="公式" r:id="rId22" imgW="205733" imgH="251424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9150" y="3271838"/>
                        <a:ext cx="184150" cy="223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34" name="Object 42">
            <a:extLst>
              <a:ext uri="{FF2B5EF4-FFF2-40B4-BE49-F238E27FC236}">
                <a16:creationId xmlns:a16="http://schemas.microsoft.com/office/drawing/2014/main" id="{73B7C5F8-E690-18E6-7C32-72AD1BFDE9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80150" y="1825625"/>
          <a:ext cx="227013" cy="23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51548" imgH="274320" progId="Equation.3">
                  <p:embed/>
                </p:oleObj>
              </mc:Choice>
              <mc:Fallback>
                <p:oleObj name="Equation" r:id="rId24" imgW="251548" imgH="274320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0150" y="1825625"/>
                        <a:ext cx="227013" cy="236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35" name="Object 43">
            <a:extLst>
              <a:ext uri="{FF2B5EF4-FFF2-40B4-BE49-F238E27FC236}">
                <a16:creationId xmlns:a16="http://schemas.microsoft.com/office/drawing/2014/main" id="{78B7F7BA-BAAD-F6FD-7FBC-C3B07B0C5B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27738" y="2041525"/>
          <a:ext cx="227012" cy="24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51548" imgH="281880" progId="Equation.3">
                  <p:embed/>
                </p:oleObj>
              </mc:Choice>
              <mc:Fallback>
                <p:oleObj name="Equation" r:id="rId26" imgW="251548" imgH="281880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7738" y="2041525"/>
                        <a:ext cx="227012" cy="242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36" name="Object 44">
            <a:extLst>
              <a:ext uri="{FF2B5EF4-FFF2-40B4-BE49-F238E27FC236}">
                <a16:creationId xmlns:a16="http://schemas.microsoft.com/office/drawing/2014/main" id="{1230DF50-CC18-DC52-E59B-104BA96A94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02375" y="2268538"/>
          <a:ext cx="261938" cy="239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312490" imgH="281880" progId="Equation.3">
                  <p:embed/>
                </p:oleObj>
              </mc:Choice>
              <mc:Fallback>
                <p:oleObj name="Equation" r:id="rId28" imgW="312490" imgH="281880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2375" y="2268538"/>
                        <a:ext cx="261938" cy="239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37" name="Object 45">
            <a:extLst>
              <a:ext uri="{FF2B5EF4-FFF2-40B4-BE49-F238E27FC236}">
                <a16:creationId xmlns:a16="http://schemas.microsoft.com/office/drawing/2014/main" id="{921B4173-67B0-E46C-DB62-A85D5D171E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78775" y="1735138"/>
          <a:ext cx="261938" cy="239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312490" imgH="281880" progId="Equation.3">
                  <p:embed/>
                </p:oleObj>
              </mc:Choice>
              <mc:Fallback>
                <p:oleObj name="Equation" r:id="rId30" imgW="312490" imgH="281880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78775" y="1735138"/>
                        <a:ext cx="261938" cy="239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38" name="Object 46">
            <a:extLst>
              <a:ext uri="{FF2B5EF4-FFF2-40B4-BE49-F238E27FC236}">
                <a16:creationId xmlns:a16="http://schemas.microsoft.com/office/drawing/2014/main" id="{04B89C8D-D349-4569-34BB-32C4AA2E3B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08950" y="682625"/>
          <a:ext cx="227013" cy="23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251548" imgH="274320" progId="Equation.3">
                  <p:embed/>
                </p:oleObj>
              </mc:Choice>
              <mc:Fallback>
                <p:oleObj name="Equation" r:id="rId32" imgW="251548" imgH="274320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8950" y="682625"/>
                        <a:ext cx="227013" cy="236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39" name="Object 47">
            <a:extLst>
              <a:ext uri="{FF2B5EF4-FFF2-40B4-BE49-F238E27FC236}">
                <a16:creationId xmlns:a16="http://schemas.microsoft.com/office/drawing/2014/main" id="{67B338E2-149F-D9DE-E2FA-A3F575B1C6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37550" y="762000"/>
          <a:ext cx="227013" cy="23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251548" imgH="274320" progId="Equation.3">
                  <p:embed/>
                </p:oleObj>
              </mc:Choice>
              <mc:Fallback>
                <p:oleObj name="Equation" r:id="rId34" imgW="251548" imgH="274320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37550" y="762000"/>
                        <a:ext cx="227013" cy="233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407" name="Rectangle 48">
            <a:extLst>
              <a:ext uri="{FF2B5EF4-FFF2-40B4-BE49-F238E27FC236}">
                <a16:creationId xmlns:a16="http://schemas.microsoft.com/office/drawing/2014/main" id="{13EB0DAA-0AE1-DB9C-EDD5-D982CA319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813" y="1427163"/>
            <a:ext cx="1403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rgbClr val="66FFFF"/>
                </a:solidFill>
                <a:latin typeface="宋体" panose="02010600030101010101" pitchFamily="2" charset="-122"/>
              </a:rPr>
              <a:t>一个动点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BCBBA31-A7D7-3484-A9A7-14D34913A759}"/>
              </a:ext>
            </a:extLst>
          </p:cNvPr>
          <p:cNvGrpSpPr>
            <a:grpSpLocks/>
          </p:cNvGrpSpPr>
          <p:nvPr/>
        </p:nvGrpSpPr>
        <p:grpSpPr bwMode="auto">
          <a:xfrm>
            <a:off x="801688" y="3916363"/>
            <a:ext cx="6475412" cy="2181225"/>
            <a:chOff x="762000" y="3986213"/>
            <a:chExt cx="6475413" cy="2181225"/>
          </a:xfrm>
        </p:grpSpPr>
        <p:sp>
          <p:nvSpPr>
            <p:cNvPr id="58414" name="Text Box 23">
              <a:extLst>
                <a:ext uri="{FF2B5EF4-FFF2-40B4-BE49-F238E27FC236}">
                  <a16:creationId xmlns:a16="http://schemas.microsoft.com/office/drawing/2014/main" id="{82B532A2-737F-D9AA-502F-3574D641D8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2000" y="3986213"/>
              <a:ext cx="1600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>
                  <a:solidFill>
                    <a:srgbClr val="66FFFF"/>
                  </a:solidFill>
                  <a:latin typeface="宋体" panose="02010600030101010101" pitchFamily="2" charset="-122"/>
                </a:rPr>
                <a:t>三种运动</a:t>
              </a:r>
              <a:endParaRPr kumimoji="1" lang="zh-CN" altLang="en-US" sz="2400">
                <a:solidFill>
                  <a:srgbClr val="66FFFF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8415" name="Text Box 24">
              <a:extLst>
                <a:ext uri="{FF2B5EF4-FFF2-40B4-BE49-F238E27FC236}">
                  <a16:creationId xmlns:a16="http://schemas.microsoft.com/office/drawing/2014/main" id="{CF2F56E7-37ED-139E-3219-4C0995EC38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4425" y="4581525"/>
              <a:ext cx="3705225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Char char="•"/>
              </a:pPr>
              <a:r>
                <a:rPr kumimoji="1" lang="zh-CN" altLang="en-US" sz="2400" b="1" i="1">
                  <a:solidFill>
                    <a:srgbClr val="FFFFFF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800" b="1" i="1">
                  <a:solidFill>
                    <a:srgbClr val="66FFFF"/>
                  </a:solidFill>
                  <a:latin typeface="Times New Roman" panose="02020603050405020304" pitchFamily="18" charset="0"/>
                </a:rPr>
                <a:t>s'</a:t>
              </a:r>
              <a:r>
                <a:rPr kumimoji="1" lang="en-US" altLang="zh-CN" sz="2400" b="1" i="1">
                  <a:solidFill>
                    <a:srgbClr val="66FFFF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zh-CN" altLang="en-US" sz="2400" b="1">
                  <a:solidFill>
                    <a:schemeClr val="bg1"/>
                  </a:solidFill>
                  <a:latin typeface="宋体" panose="02010600030101010101" pitchFamily="2" charset="-122"/>
                </a:rPr>
                <a:t>系相对于</a:t>
              </a:r>
              <a:r>
                <a:rPr kumimoji="1" lang="en-US" altLang="zh-CN" sz="2800" b="1" i="1">
                  <a:solidFill>
                    <a:srgbClr val="66FFFF"/>
                  </a:solidFill>
                  <a:latin typeface="Times New Roman" panose="02020603050405020304" pitchFamily="18" charset="0"/>
                </a:rPr>
                <a:t>s</a:t>
              </a:r>
              <a:r>
                <a:rPr kumimoji="1" lang="en-US" altLang="zh-CN" sz="2400" b="1" i="1">
                  <a:solidFill>
                    <a:srgbClr val="66FFFF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zh-CN" altLang="en-US" sz="2400" b="1">
                  <a:solidFill>
                    <a:schemeClr val="bg1"/>
                  </a:solidFill>
                  <a:latin typeface="宋体" panose="02010600030101010101" pitchFamily="2" charset="-122"/>
                </a:rPr>
                <a:t>系的位移：</a:t>
              </a:r>
            </a:p>
          </p:txBody>
        </p:sp>
        <p:graphicFrame>
          <p:nvGraphicFramePr>
            <p:cNvPr id="58416" name="Object 25">
              <a:extLst>
                <a:ext uri="{FF2B5EF4-FFF2-40B4-BE49-F238E27FC236}">
                  <a16:creationId xmlns:a16="http://schemas.microsoft.com/office/drawing/2014/main" id="{7E3AACE5-F3F3-72D8-CDC3-519C0DDF00A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24400" y="4665663"/>
            <a:ext cx="549275" cy="307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6" imgW="518223" imgH="281880" progId="Equation.3">
                    <p:embed/>
                  </p:oleObj>
                </mc:Choice>
                <mc:Fallback>
                  <p:oleObj name="公式" r:id="rId36" imgW="518223" imgH="281880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24400" y="4665663"/>
                          <a:ext cx="549275" cy="3079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8417" name="Text Box 26">
              <a:extLst>
                <a:ext uri="{FF2B5EF4-FFF2-40B4-BE49-F238E27FC236}">
                  <a16:creationId xmlns:a16="http://schemas.microsoft.com/office/drawing/2014/main" id="{A42729B5-757F-209B-697B-4EF97594F7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4275" y="5119688"/>
              <a:ext cx="3819525" cy="4270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Char char="•"/>
              </a:pPr>
              <a:r>
                <a:rPr kumimoji="1" lang="zh-CN" altLang="en-US" sz="2400" b="1" i="1">
                  <a:solidFill>
                    <a:srgbClr val="FFFFCC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400" b="1" i="1">
                  <a:solidFill>
                    <a:srgbClr val="66FFFF"/>
                  </a:solidFill>
                  <a:latin typeface="Times New Roman" panose="02020603050405020304" pitchFamily="18" charset="0"/>
                </a:rPr>
                <a:t>B </a:t>
              </a:r>
              <a:r>
                <a:rPr kumimoji="1" lang="zh-CN" altLang="en-US" sz="2400" b="1">
                  <a:solidFill>
                    <a:schemeClr val="bg1"/>
                  </a:solidFill>
                  <a:latin typeface="宋体" panose="02010600030101010101" pitchFamily="2" charset="-122"/>
                </a:rPr>
                <a:t>点相对于</a:t>
              </a:r>
              <a:r>
                <a:rPr kumimoji="1" lang="en-US" altLang="zh-CN" sz="2800" b="1" i="1">
                  <a:solidFill>
                    <a:srgbClr val="66FFFF"/>
                  </a:solidFill>
                  <a:latin typeface="Times New Roman" panose="02020603050405020304" pitchFamily="18" charset="0"/>
                </a:rPr>
                <a:t>s'</a:t>
              </a:r>
              <a:r>
                <a:rPr kumimoji="1" lang="en-US" altLang="zh-CN" sz="2400" b="1" i="1">
                  <a:solidFill>
                    <a:srgbClr val="66FFFF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zh-CN" altLang="en-US" sz="2400" b="1">
                  <a:solidFill>
                    <a:schemeClr val="bg1"/>
                  </a:solidFill>
                  <a:latin typeface="宋体" panose="02010600030101010101" pitchFamily="2" charset="-122"/>
                </a:rPr>
                <a:t>系的位移：</a:t>
              </a:r>
            </a:p>
          </p:txBody>
        </p:sp>
        <p:graphicFrame>
          <p:nvGraphicFramePr>
            <p:cNvPr id="58418" name="Object 27">
              <a:extLst>
                <a:ext uri="{FF2B5EF4-FFF2-40B4-BE49-F238E27FC236}">
                  <a16:creationId xmlns:a16="http://schemas.microsoft.com/office/drawing/2014/main" id="{629414BF-F296-0113-64FB-F9412FB8E32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62500" y="5214938"/>
            <a:ext cx="508000" cy="3159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8" imgW="479972" imgH="289656" progId="Equation.3">
                    <p:embed/>
                  </p:oleObj>
                </mc:Choice>
                <mc:Fallback>
                  <p:oleObj name="公式" r:id="rId38" imgW="479972" imgH="289656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2500" y="5214938"/>
                          <a:ext cx="508000" cy="3159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8419" name="Text Box 28">
              <a:extLst>
                <a:ext uri="{FF2B5EF4-FFF2-40B4-BE49-F238E27FC236}">
                  <a16:creationId xmlns:a16="http://schemas.microsoft.com/office/drawing/2014/main" id="{BF9D0F92-19C2-5D7A-AC86-EC843A5008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900" y="5648325"/>
              <a:ext cx="36576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Char char="•"/>
              </a:pPr>
              <a:r>
                <a:rPr kumimoji="1" lang="zh-CN" altLang="en-US" sz="2400" b="1" i="1">
                  <a:solidFill>
                    <a:srgbClr val="FFFFCC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400" b="1" i="1">
                  <a:solidFill>
                    <a:srgbClr val="66FFFF"/>
                  </a:solidFill>
                  <a:latin typeface="Times New Roman" panose="02020603050405020304" pitchFamily="18" charset="0"/>
                </a:rPr>
                <a:t>B </a:t>
              </a:r>
              <a:r>
                <a:rPr kumimoji="1" lang="zh-CN" altLang="en-US" sz="2400" b="1">
                  <a:solidFill>
                    <a:schemeClr val="bg1"/>
                  </a:solidFill>
                  <a:latin typeface="宋体" panose="02010600030101010101" pitchFamily="2" charset="-122"/>
                </a:rPr>
                <a:t>点相对于</a:t>
              </a:r>
              <a:r>
                <a:rPr kumimoji="1" lang="en-US" altLang="zh-CN" sz="2800" b="1" i="1">
                  <a:solidFill>
                    <a:srgbClr val="66FFFF"/>
                  </a:solidFill>
                  <a:latin typeface="Times New Roman" panose="02020603050405020304" pitchFamily="18" charset="0"/>
                </a:rPr>
                <a:t>s </a:t>
              </a:r>
              <a:r>
                <a:rPr kumimoji="1" lang="zh-CN" altLang="en-US" sz="2400" b="1">
                  <a:solidFill>
                    <a:schemeClr val="bg1"/>
                  </a:solidFill>
                  <a:latin typeface="宋体" panose="02010600030101010101" pitchFamily="2" charset="-122"/>
                </a:rPr>
                <a:t>系的位移：</a:t>
              </a:r>
            </a:p>
          </p:txBody>
        </p:sp>
        <p:graphicFrame>
          <p:nvGraphicFramePr>
            <p:cNvPr id="58420" name="Object 29">
              <a:extLst>
                <a:ext uri="{FF2B5EF4-FFF2-40B4-BE49-F238E27FC236}">
                  <a16:creationId xmlns:a16="http://schemas.microsoft.com/office/drawing/2014/main" id="{2F2AE786-0F80-05F2-FB59-9F1D2AD6B2E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00600" y="5745163"/>
            <a:ext cx="425450" cy="288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0" imgW="403903" imgH="274320" progId="Equation.3">
                    <p:embed/>
                  </p:oleObj>
                </mc:Choice>
                <mc:Fallback>
                  <p:oleObj name="公式" r:id="rId40" imgW="403903" imgH="274320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0600" y="5745163"/>
                          <a:ext cx="425450" cy="2889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8421" name="Rectangle 31">
              <a:extLst>
                <a:ext uri="{FF2B5EF4-FFF2-40B4-BE49-F238E27FC236}">
                  <a16:creationId xmlns:a16="http://schemas.microsoft.com/office/drawing/2014/main" id="{76BD05EF-2058-DA79-A9D5-577B4722F5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1875" y="3986213"/>
              <a:ext cx="32321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 sz="2400" b="1">
                  <a:solidFill>
                    <a:srgbClr val="FFFFFF"/>
                  </a:solidFill>
                  <a:latin typeface="宋体" panose="02010600030101010101" pitchFamily="2" charset="-122"/>
                </a:rPr>
                <a:t>绝对、相对</a:t>
              </a:r>
              <a:r>
                <a:rPr kumimoji="1" lang="zh-CN" altLang="en-US" sz="2400" b="1">
                  <a:solidFill>
                    <a:schemeClr val="bg1"/>
                  </a:solidFill>
                  <a:latin typeface="宋体" panose="02010600030101010101" pitchFamily="2" charset="-122"/>
                </a:rPr>
                <a:t>和</a:t>
              </a:r>
              <a:r>
                <a:rPr kumimoji="1" lang="zh-CN" altLang="en-US" sz="2400" b="1">
                  <a:solidFill>
                    <a:srgbClr val="FFFFFF"/>
                  </a:solidFill>
                  <a:latin typeface="宋体" panose="02010600030101010101" pitchFamily="2" charset="-122"/>
                </a:rPr>
                <a:t>牵连运动</a:t>
              </a:r>
            </a:p>
          </p:txBody>
        </p:sp>
        <p:sp>
          <p:nvSpPr>
            <p:cNvPr id="58422" name="Rectangle 49">
              <a:extLst>
                <a:ext uri="{FF2B5EF4-FFF2-40B4-BE49-F238E27FC236}">
                  <a16:creationId xmlns:a16="http://schemas.microsoft.com/office/drawing/2014/main" id="{413BED48-C1BC-AF83-344B-27B9D3C16D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1938" y="4640263"/>
              <a:ext cx="1860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4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—</a:t>
              </a:r>
              <a:r>
                <a:rPr kumimoji="1" lang="en-US" altLang="zh-CN" sz="2400" b="1">
                  <a:solidFill>
                    <a:schemeClr val="bg1"/>
                  </a:solidFill>
                  <a:latin typeface="宋体" panose="02010600030101010101" pitchFamily="2" charset="-122"/>
                </a:rPr>
                <a:t> </a:t>
              </a:r>
              <a:r>
                <a:rPr kumimoji="1" lang="zh-CN" altLang="en-US" sz="2400" b="1">
                  <a:solidFill>
                    <a:schemeClr val="bg1"/>
                  </a:solidFill>
                  <a:latin typeface="宋体" panose="02010600030101010101" pitchFamily="2" charset="-122"/>
                </a:rPr>
                <a:t>牵连位移</a:t>
              </a:r>
            </a:p>
          </p:txBody>
        </p:sp>
        <p:sp>
          <p:nvSpPr>
            <p:cNvPr id="58423" name="Rectangle 50">
              <a:extLst>
                <a:ext uri="{FF2B5EF4-FFF2-40B4-BE49-F238E27FC236}">
                  <a16:creationId xmlns:a16="http://schemas.microsoft.com/office/drawing/2014/main" id="{1C2F9D3E-7F1D-C272-D496-2BFA6D28C8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6863" y="5145088"/>
              <a:ext cx="1860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4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—</a:t>
              </a:r>
              <a:r>
                <a:rPr kumimoji="1" lang="en-US" altLang="zh-CN" sz="2400" b="1">
                  <a:solidFill>
                    <a:schemeClr val="bg1"/>
                  </a:solidFill>
                  <a:latin typeface="宋体" panose="02010600030101010101" pitchFamily="2" charset="-122"/>
                </a:rPr>
                <a:t> </a:t>
              </a:r>
              <a:r>
                <a:rPr kumimoji="1" lang="zh-CN" altLang="en-US" sz="2400" b="1">
                  <a:solidFill>
                    <a:schemeClr val="bg1"/>
                  </a:solidFill>
                  <a:latin typeface="宋体" panose="02010600030101010101" pitchFamily="2" charset="-122"/>
                </a:rPr>
                <a:t>相对位移</a:t>
              </a:r>
            </a:p>
          </p:txBody>
        </p:sp>
        <p:sp>
          <p:nvSpPr>
            <p:cNvPr id="58424" name="Rectangle 51">
              <a:extLst>
                <a:ext uri="{FF2B5EF4-FFF2-40B4-BE49-F238E27FC236}">
                  <a16:creationId xmlns:a16="http://schemas.microsoft.com/office/drawing/2014/main" id="{B2DB3367-48CA-9AFD-683C-76ADC97454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1938" y="5648325"/>
              <a:ext cx="1860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—</a:t>
              </a:r>
              <a:r>
                <a:rPr kumimoji="1" lang="en-US" altLang="zh-CN" sz="2400" b="1">
                  <a:solidFill>
                    <a:schemeClr val="bg1"/>
                  </a:solidFill>
                  <a:latin typeface="宋体" panose="02010600030101010101" pitchFamily="2" charset="-122"/>
                </a:rPr>
                <a:t> </a:t>
              </a:r>
              <a:r>
                <a:rPr kumimoji="1" lang="zh-CN" altLang="en-US" sz="2400" b="1">
                  <a:solidFill>
                    <a:schemeClr val="bg1"/>
                  </a:solidFill>
                  <a:latin typeface="宋体" panose="02010600030101010101" pitchFamily="2" charset="-122"/>
                </a:rPr>
                <a:t>绝对位移</a:t>
              </a:r>
            </a:p>
          </p:txBody>
        </p:sp>
      </p:grpSp>
      <p:sp>
        <p:nvSpPr>
          <p:cNvPr id="33844" name="Line 52">
            <a:extLst>
              <a:ext uri="{FF2B5EF4-FFF2-40B4-BE49-F238E27FC236}">
                <a16:creationId xmlns:a16="http://schemas.microsoft.com/office/drawing/2014/main" id="{745DD9D2-C40A-CC1D-00F2-00BBA6A8A3D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65838" y="2270125"/>
            <a:ext cx="228600" cy="838200"/>
          </a:xfrm>
          <a:prstGeom prst="line">
            <a:avLst/>
          </a:prstGeom>
          <a:noFill/>
          <a:ln w="19050">
            <a:solidFill>
              <a:srgbClr val="FFFF66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33845" name="Line 53">
            <a:extLst>
              <a:ext uri="{FF2B5EF4-FFF2-40B4-BE49-F238E27FC236}">
                <a16:creationId xmlns:a16="http://schemas.microsoft.com/office/drawing/2014/main" id="{A103E3B5-177E-68FB-6E9C-196FC0A7C78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56513" y="1889125"/>
            <a:ext cx="228600" cy="838200"/>
          </a:xfrm>
          <a:prstGeom prst="line">
            <a:avLst/>
          </a:prstGeom>
          <a:noFill/>
          <a:ln w="19050">
            <a:solidFill>
              <a:srgbClr val="FFFF66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33846" name="Line 54">
            <a:extLst>
              <a:ext uri="{FF2B5EF4-FFF2-40B4-BE49-F238E27FC236}">
                <a16:creationId xmlns:a16="http://schemas.microsoft.com/office/drawing/2014/main" id="{C9C1B80F-7896-45D0-6F28-4C7B54B2256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84838" y="2270125"/>
            <a:ext cx="609600" cy="1295400"/>
          </a:xfrm>
          <a:prstGeom prst="line">
            <a:avLst/>
          </a:prstGeom>
          <a:noFill/>
          <a:ln w="19050">
            <a:solidFill>
              <a:srgbClr val="66FF33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33847" name="Line 55">
            <a:extLst>
              <a:ext uri="{FF2B5EF4-FFF2-40B4-BE49-F238E27FC236}">
                <a16:creationId xmlns:a16="http://schemas.microsoft.com/office/drawing/2014/main" id="{1559A8FD-25BF-4C11-E42B-EF0F1A3B6076}"/>
              </a:ext>
            </a:extLst>
          </p:cNvPr>
          <p:cNvSpPr>
            <a:spLocks noChangeShapeType="1"/>
          </p:cNvSpPr>
          <p:nvPr/>
        </p:nvSpPr>
        <p:spPr bwMode="auto">
          <a:xfrm rot="21378022" flipV="1">
            <a:off x="6059488" y="2794000"/>
            <a:ext cx="1563687" cy="290513"/>
          </a:xfrm>
          <a:prstGeom prst="line">
            <a:avLst/>
          </a:prstGeom>
          <a:noFill/>
          <a:ln w="19050">
            <a:solidFill>
              <a:srgbClr val="66FF33"/>
            </a:solidFill>
            <a:prstDash val="dash"/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3848" name="Object 56">
            <a:extLst>
              <a:ext uri="{FF2B5EF4-FFF2-40B4-BE49-F238E27FC236}">
                <a16:creationId xmlns:a16="http://schemas.microsoft.com/office/drawing/2014/main" id="{1C93D377-8680-9625-9A3C-3A840F919B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3738" y="6154738"/>
          <a:ext cx="24638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2" imgW="2446108" imgH="312336" progId="Equation.3">
                  <p:embed/>
                </p:oleObj>
              </mc:Choice>
              <mc:Fallback>
                <p:oleObj name="公式" r:id="rId42" imgW="2446108" imgH="312336" progId="Equation.3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3738" y="6154738"/>
                        <a:ext cx="24638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3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3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3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3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3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3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3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33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3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3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3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33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3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3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3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3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3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3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3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3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3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3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33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33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3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33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3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33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33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33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33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03" grpId="0" animBg="1"/>
      <p:bldP spid="33804" grpId="0" animBg="1"/>
      <p:bldP spid="33807" grpId="0" autoUpdateAnimBg="0"/>
      <p:bldP spid="33808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2">
            <a:extLst>
              <a:ext uri="{FF2B5EF4-FFF2-40B4-BE49-F238E27FC236}">
                <a16:creationId xmlns:a16="http://schemas.microsoft.com/office/drawing/2014/main" id="{52F19E2C-C0F2-04AE-87B7-34234633AD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765175"/>
            <a:ext cx="6629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rgbClr val="FFFF00"/>
                </a:solidFill>
                <a:latin typeface="Times New Roman" panose="02020603050405020304" pitchFamily="18" charset="0"/>
              </a:rPr>
              <a:t>二</a:t>
            </a:r>
            <a:r>
              <a:rPr kumimoji="1" lang="en-US" altLang="zh-CN" sz="2800" b="1">
                <a:solidFill>
                  <a:srgbClr val="FFFF00"/>
                </a:solidFill>
                <a:latin typeface="Times New Roman" panose="02020603050405020304" pitchFamily="18" charset="0"/>
              </a:rPr>
              <a:t>. </a:t>
            </a:r>
            <a:r>
              <a:rPr kumimoji="1" lang="zh-CN" altLang="en-US" sz="2800" b="1">
                <a:solidFill>
                  <a:srgbClr val="FFFF00"/>
                </a:solidFill>
                <a:latin typeface="Times New Roman" panose="02020603050405020304" pitchFamily="18" charset="0"/>
              </a:rPr>
              <a:t>速度变换定理   加速度变换定理</a:t>
            </a:r>
            <a:endParaRPr kumimoji="1" lang="zh-CN" altLang="en-US" sz="1200" b="1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9395" name="Text Box 3">
            <a:extLst>
              <a:ext uri="{FF2B5EF4-FFF2-40B4-BE49-F238E27FC236}">
                <a16:creationId xmlns:a16="http://schemas.microsoft.com/office/drawing/2014/main" id="{50500503-AAAA-7B43-2672-DD12CB81CA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341438"/>
            <a:ext cx="2209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</a:rPr>
              <a:t>1. </a:t>
            </a:r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</a:rPr>
              <a:t>速度变换</a:t>
            </a:r>
          </a:p>
        </p:txBody>
      </p:sp>
      <p:graphicFrame>
        <p:nvGraphicFramePr>
          <p:cNvPr id="59396" name="Object 4">
            <a:extLst>
              <a:ext uri="{FF2B5EF4-FFF2-40B4-BE49-F238E27FC236}">
                <a16:creationId xmlns:a16="http://schemas.microsoft.com/office/drawing/2014/main" id="{33ED38FE-3893-18F9-7E26-208381A28B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5500" y="1941513"/>
          <a:ext cx="4340225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328178" imgH="807624" progId="Equation.3">
                  <p:embed/>
                </p:oleObj>
              </mc:Choice>
              <mc:Fallback>
                <p:oleObj name="公式" r:id="rId2" imgW="4328178" imgH="807624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500" y="1941513"/>
                        <a:ext cx="4340225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1" name="Object 5">
            <a:extLst>
              <a:ext uri="{FF2B5EF4-FFF2-40B4-BE49-F238E27FC236}">
                <a16:creationId xmlns:a16="http://schemas.microsoft.com/office/drawing/2014/main" id="{349FBC8F-9CC5-06FE-E425-A1C9FB4037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2913063"/>
          <a:ext cx="3822700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794828" imgH="807624" progId="Equation.3">
                  <p:embed/>
                </p:oleObj>
              </mc:Choice>
              <mc:Fallback>
                <p:oleObj name="公式" r:id="rId4" imgW="3794828" imgH="807624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913063"/>
                        <a:ext cx="3822700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2" name="Object 6">
            <a:extLst>
              <a:ext uri="{FF2B5EF4-FFF2-40B4-BE49-F238E27FC236}">
                <a16:creationId xmlns:a16="http://schemas.microsoft.com/office/drawing/2014/main" id="{AF4ADD34-768E-490D-1F96-8F1B849BD3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47800" y="3970338"/>
          <a:ext cx="63658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377947" imgH="441936" progId="Equation.3">
                  <p:embed/>
                </p:oleObj>
              </mc:Choice>
              <mc:Fallback>
                <p:oleObj name="Equation" r:id="rId6" imgW="6377947" imgH="441936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3970338"/>
                        <a:ext cx="6365875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3" name="Object 7">
            <a:extLst>
              <a:ext uri="{FF2B5EF4-FFF2-40B4-BE49-F238E27FC236}">
                <a16:creationId xmlns:a16="http://schemas.microsoft.com/office/drawing/2014/main" id="{F8BC8E71-85F0-C270-9610-8C3419C7E4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8263" y="2997200"/>
          <a:ext cx="3360737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575555" imgH="434376" progId="Equation.3">
                  <p:embed/>
                </p:oleObj>
              </mc:Choice>
              <mc:Fallback>
                <p:oleObj name="公式" r:id="rId8" imgW="2575555" imgH="434376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2997200"/>
                        <a:ext cx="3360737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4" name="Object 8">
            <a:extLst>
              <a:ext uri="{FF2B5EF4-FFF2-40B4-BE49-F238E27FC236}">
                <a16:creationId xmlns:a16="http://schemas.microsoft.com/office/drawing/2014/main" id="{854EA088-73EB-FF84-A2FF-CEF76A6919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3600" y="2074863"/>
          <a:ext cx="1965325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58356" imgH="662904" progId="Equation.3">
                  <p:embed/>
                </p:oleObj>
              </mc:Choice>
              <mc:Fallback>
                <p:oleObj name="Equation" r:id="rId10" imgW="1958356" imgH="662904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2074863"/>
                        <a:ext cx="1965325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5" name="Object 9">
            <a:extLst>
              <a:ext uri="{FF2B5EF4-FFF2-40B4-BE49-F238E27FC236}">
                <a16:creationId xmlns:a16="http://schemas.microsoft.com/office/drawing/2014/main" id="{459447EA-9656-D7B1-5575-BD509326C8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6138" y="5084763"/>
          <a:ext cx="7480300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6362603" imgH="822960" progId="Equation.3">
                  <p:embed/>
                </p:oleObj>
              </mc:Choice>
              <mc:Fallback>
                <p:oleObj name="公式" r:id="rId12" imgW="6362603" imgH="82296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6138" y="5084763"/>
                        <a:ext cx="7480300" cy="1008062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6" name="Text Box 10">
            <a:extLst>
              <a:ext uri="{FF2B5EF4-FFF2-40B4-BE49-F238E27FC236}">
                <a16:creationId xmlns:a16="http://schemas.microsoft.com/office/drawing/2014/main" id="{66367F6E-6FBD-314D-5F9D-D5AFA3A878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4484688"/>
            <a:ext cx="2667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</a:rPr>
              <a:t>2. </a:t>
            </a:r>
            <a:r>
              <a:rPr kumimoji="1" lang="zh-CN" altLang="en-US" sz="2400" b="1">
                <a:solidFill>
                  <a:srgbClr val="66FFFF"/>
                </a:solidFill>
                <a:latin typeface="宋体" panose="02010600030101010101" pitchFamily="2" charset="-122"/>
              </a:rPr>
              <a:t>加</a:t>
            </a:r>
            <a:r>
              <a:rPr kumimoji="1" lang="zh-CN" altLang="en-US" sz="2400" b="1">
                <a:solidFill>
                  <a:srgbClr val="66FFFF"/>
                </a:solidFill>
                <a:latin typeface="Times New Roman" panose="02020603050405020304" pitchFamily="18" charset="0"/>
              </a:rPr>
              <a:t>速度变换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48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48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48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48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4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4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6" grpId="0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ext Box 2">
            <a:extLst>
              <a:ext uri="{FF2B5EF4-FFF2-40B4-BE49-F238E27FC236}">
                <a16:creationId xmlns:a16="http://schemas.microsoft.com/office/drawing/2014/main" id="{15CB237C-5DF2-DF76-A54E-CA383949A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65125"/>
            <a:ext cx="8058150" cy="146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一个带篷子的卡车，篷高为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</a:rPr>
              <a:t>=2 m</a:t>
            </a: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，当它停在马路边时，雨滴可落入车内达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i="1">
                <a:solidFill>
                  <a:srgbClr val="66FFFF"/>
                </a:solidFill>
                <a:latin typeface="Times New Roman" panose="02020603050405020304" pitchFamily="18" charset="0"/>
              </a:rPr>
              <a:t>d</a:t>
            </a:r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</a:rPr>
              <a:t>=1 m</a:t>
            </a: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，而当它以</a:t>
            </a:r>
            <a:r>
              <a:rPr kumimoji="1" lang="en-US" altLang="zh-CN" sz="2400" b="1">
                <a:solidFill>
                  <a:srgbClr val="66FFFF"/>
                </a:solidFill>
                <a:latin typeface="Times New Roman" panose="02020603050405020304" pitchFamily="18" charset="0"/>
              </a:rPr>
              <a:t>15 km/h</a:t>
            </a: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的速率运动时，雨滴恰好不能落入车中。</a:t>
            </a:r>
          </a:p>
        </p:txBody>
      </p:sp>
      <p:graphicFrame>
        <p:nvGraphicFramePr>
          <p:cNvPr id="35843" name="Object 3">
            <a:extLst>
              <a:ext uri="{FF2B5EF4-FFF2-40B4-BE49-F238E27FC236}">
                <a16:creationId xmlns:a16="http://schemas.microsoft.com/office/drawing/2014/main" id="{EFDB6572-8A45-138C-EE26-284FF7B50D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87738" y="4121150"/>
          <a:ext cx="16287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607831" imgH="403920" progId="Equation.3">
                  <p:embed/>
                </p:oleObj>
              </mc:Choice>
              <mc:Fallback>
                <p:oleObj name="公式" r:id="rId2" imgW="1607831" imgH="40392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7738" y="4121150"/>
                        <a:ext cx="162877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4" name="Object 4">
            <a:extLst>
              <a:ext uri="{FF2B5EF4-FFF2-40B4-BE49-F238E27FC236}">
                <a16:creationId xmlns:a16="http://schemas.microsoft.com/office/drawing/2014/main" id="{CDF4A327-EF16-AC57-ACB3-FD87EDF6E2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4663" y="5157788"/>
          <a:ext cx="3170237" cy="88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162284" imgH="860976" progId="Equation.3">
                  <p:embed/>
                </p:oleObj>
              </mc:Choice>
              <mc:Fallback>
                <p:oleObj name="公式" r:id="rId4" imgW="3162284" imgH="860976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663" y="5157788"/>
                        <a:ext cx="3170237" cy="887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5" name="Line 5">
            <a:extLst>
              <a:ext uri="{FF2B5EF4-FFF2-40B4-BE49-F238E27FC236}">
                <a16:creationId xmlns:a16="http://schemas.microsoft.com/office/drawing/2014/main" id="{BBBB928B-5954-C61C-CDD7-29EBEE42A9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88250" y="1316038"/>
            <a:ext cx="762000" cy="1447800"/>
          </a:xfrm>
          <a:prstGeom prst="line">
            <a:avLst/>
          </a:prstGeom>
          <a:noFill/>
          <a:ln w="25400">
            <a:solidFill>
              <a:srgbClr val="66FF66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5846" name="Object 6">
            <a:extLst>
              <a:ext uri="{FF2B5EF4-FFF2-40B4-BE49-F238E27FC236}">
                <a16:creationId xmlns:a16="http://schemas.microsoft.com/office/drawing/2014/main" id="{431BB8F6-3521-A021-6BC1-72E63E182C5A}"/>
              </a:ext>
            </a:extLst>
          </p:cNvPr>
          <p:cNvGraphicFramePr>
            <a:graphicFrameLocks/>
          </p:cNvGraphicFramePr>
          <p:nvPr/>
        </p:nvGraphicFramePr>
        <p:xfrm>
          <a:off x="8045450" y="3867150"/>
          <a:ext cx="331788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21884" imgH="114264" progId="Equation.3">
                  <p:embed/>
                </p:oleObj>
              </mc:Choice>
              <mc:Fallback>
                <p:oleObj name="公式" r:id="rId6" imgW="121884" imgH="114264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45450" y="3867150"/>
                        <a:ext cx="331788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7" name="Line 7">
            <a:extLst>
              <a:ext uri="{FF2B5EF4-FFF2-40B4-BE49-F238E27FC236}">
                <a16:creationId xmlns:a16="http://schemas.microsoft.com/office/drawing/2014/main" id="{D6B712F9-34D9-5E92-5090-C2A0B155D60B}"/>
              </a:ext>
            </a:extLst>
          </p:cNvPr>
          <p:cNvSpPr>
            <a:spLocks noChangeShapeType="1"/>
          </p:cNvSpPr>
          <p:nvPr/>
        </p:nvSpPr>
        <p:spPr bwMode="auto">
          <a:xfrm>
            <a:off x="8426450" y="3105150"/>
            <a:ext cx="0" cy="14478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48" name="Line 8">
            <a:extLst>
              <a:ext uri="{FF2B5EF4-FFF2-40B4-BE49-F238E27FC236}">
                <a16:creationId xmlns:a16="http://schemas.microsoft.com/office/drawing/2014/main" id="{1701ECF3-7788-B65D-193C-F2B14082B73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64450" y="3105150"/>
            <a:ext cx="762000" cy="144780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49" name="Line 9">
            <a:extLst>
              <a:ext uri="{FF2B5EF4-FFF2-40B4-BE49-F238E27FC236}">
                <a16:creationId xmlns:a16="http://schemas.microsoft.com/office/drawing/2014/main" id="{FB9A6A77-F1E3-9690-105C-31A19E0700F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64450" y="4552950"/>
            <a:ext cx="762000" cy="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50" name="Rectangle 10">
            <a:extLst>
              <a:ext uri="{FF2B5EF4-FFF2-40B4-BE49-F238E27FC236}">
                <a16:creationId xmlns:a16="http://schemas.microsoft.com/office/drawing/2014/main" id="{2C9D4248-910C-EB1F-D815-F820947A8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4250" y="1620838"/>
            <a:ext cx="2133600" cy="1143000"/>
          </a:xfrm>
          <a:prstGeom prst="rect">
            <a:avLst/>
          </a:prstGeom>
          <a:noFill/>
          <a:ln w="9525">
            <a:solidFill>
              <a:srgbClr val="FF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>
              <a:solidFill>
                <a:srgbClr val="FFFFCC"/>
              </a:solidFill>
              <a:latin typeface="宋体" panose="02010600030101010101" pitchFamily="2" charset="-122"/>
            </a:endParaRPr>
          </a:p>
        </p:txBody>
      </p:sp>
      <p:grpSp>
        <p:nvGrpSpPr>
          <p:cNvPr id="35851" name="Group 11">
            <a:extLst>
              <a:ext uri="{FF2B5EF4-FFF2-40B4-BE49-F238E27FC236}">
                <a16:creationId xmlns:a16="http://schemas.microsoft.com/office/drawing/2014/main" id="{9269101A-9904-F683-C7E6-7F43F9D12508}"/>
              </a:ext>
            </a:extLst>
          </p:cNvPr>
          <p:cNvGrpSpPr>
            <a:grpSpLocks/>
          </p:cNvGrpSpPr>
          <p:nvPr/>
        </p:nvGrpSpPr>
        <p:grpSpPr bwMode="auto">
          <a:xfrm>
            <a:off x="5073650" y="1925638"/>
            <a:ext cx="1066800" cy="1066800"/>
            <a:chOff x="3552" y="1392"/>
            <a:chExt cx="672" cy="672"/>
          </a:xfrm>
        </p:grpSpPr>
        <p:sp>
          <p:nvSpPr>
            <p:cNvPr id="60450" name="Line 12">
              <a:extLst>
                <a:ext uri="{FF2B5EF4-FFF2-40B4-BE49-F238E27FC236}">
                  <a16:creationId xmlns:a16="http://schemas.microsoft.com/office/drawing/2014/main" id="{4B54F5D9-5E84-2454-C793-5C45E906E3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1392"/>
              <a:ext cx="192" cy="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51" name="Line 13">
              <a:extLst>
                <a:ext uri="{FF2B5EF4-FFF2-40B4-BE49-F238E27FC236}">
                  <a16:creationId xmlns:a16="http://schemas.microsoft.com/office/drawing/2014/main" id="{38EC07E8-89F1-1249-FC94-616A7469D4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0" y="1392"/>
              <a:ext cx="144" cy="24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52" name="Line 14">
              <a:extLst>
                <a:ext uri="{FF2B5EF4-FFF2-40B4-BE49-F238E27FC236}">
                  <a16:creationId xmlns:a16="http://schemas.microsoft.com/office/drawing/2014/main" id="{DAE873C0-7409-37C0-6950-1235F31440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632"/>
              <a:ext cx="288" cy="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53" name="Line 15">
              <a:extLst>
                <a:ext uri="{FF2B5EF4-FFF2-40B4-BE49-F238E27FC236}">
                  <a16:creationId xmlns:a16="http://schemas.microsoft.com/office/drawing/2014/main" id="{6B3CC0B6-61F6-7005-3F6F-AA1655E07C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632"/>
              <a:ext cx="0" cy="288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54" name="Line 16">
              <a:extLst>
                <a:ext uri="{FF2B5EF4-FFF2-40B4-BE49-F238E27FC236}">
                  <a16:creationId xmlns:a16="http://schemas.microsoft.com/office/drawing/2014/main" id="{2CF09D05-44F4-4734-21A4-A6F861C561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920"/>
              <a:ext cx="672" cy="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55" name="Rectangle 17">
              <a:extLst>
                <a:ext uri="{FF2B5EF4-FFF2-40B4-BE49-F238E27FC236}">
                  <a16:creationId xmlns:a16="http://schemas.microsoft.com/office/drawing/2014/main" id="{46806EA2-40DF-78FF-D446-5262799FC1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1488"/>
              <a:ext cx="1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0456" name="Oval 18">
              <a:extLst>
                <a:ext uri="{FF2B5EF4-FFF2-40B4-BE49-F238E27FC236}">
                  <a16:creationId xmlns:a16="http://schemas.microsoft.com/office/drawing/2014/main" id="{EA240399-A62E-E7D8-2EF9-181A64269A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1824"/>
              <a:ext cx="240" cy="240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35859" name="Oval 19">
            <a:extLst>
              <a:ext uri="{FF2B5EF4-FFF2-40B4-BE49-F238E27FC236}">
                <a16:creationId xmlns:a16="http://schemas.microsoft.com/office/drawing/2014/main" id="{78C7CAFB-D438-15A6-C24F-F81C9C3F4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4850" y="2611438"/>
            <a:ext cx="381000" cy="381000"/>
          </a:xfrm>
          <a:prstGeom prst="ellipse">
            <a:avLst/>
          </a:prstGeom>
          <a:solidFill>
            <a:srgbClr val="FF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5860" name="Line 20">
            <a:extLst>
              <a:ext uri="{FF2B5EF4-FFF2-40B4-BE49-F238E27FC236}">
                <a16:creationId xmlns:a16="http://schemas.microsoft.com/office/drawing/2014/main" id="{4122FC79-B2BC-0B20-A47F-A924031FCADD}"/>
              </a:ext>
            </a:extLst>
          </p:cNvPr>
          <p:cNvSpPr>
            <a:spLocks noChangeShapeType="1"/>
          </p:cNvSpPr>
          <p:nvPr/>
        </p:nvSpPr>
        <p:spPr bwMode="auto">
          <a:xfrm>
            <a:off x="6597650" y="1620838"/>
            <a:ext cx="0" cy="114300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61" name="Line 21">
            <a:extLst>
              <a:ext uri="{FF2B5EF4-FFF2-40B4-BE49-F238E27FC236}">
                <a16:creationId xmlns:a16="http://schemas.microsoft.com/office/drawing/2014/main" id="{9A82D03A-37DD-4BB7-8A5C-152841B5B3D9}"/>
              </a:ext>
            </a:extLst>
          </p:cNvPr>
          <p:cNvSpPr>
            <a:spLocks noChangeShapeType="1"/>
          </p:cNvSpPr>
          <p:nvPr/>
        </p:nvSpPr>
        <p:spPr bwMode="auto">
          <a:xfrm>
            <a:off x="7588250" y="2230438"/>
            <a:ext cx="0" cy="5334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62" name="Line 22">
            <a:extLst>
              <a:ext uri="{FF2B5EF4-FFF2-40B4-BE49-F238E27FC236}">
                <a16:creationId xmlns:a16="http://schemas.microsoft.com/office/drawing/2014/main" id="{939CFBE3-5ED1-CF21-0817-9C287A355015}"/>
              </a:ext>
            </a:extLst>
          </p:cNvPr>
          <p:cNvSpPr>
            <a:spLocks noChangeShapeType="1"/>
          </p:cNvSpPr>
          <p:nvPr/>
        </p:nvSpPr>
        <p:spPr bwMode="auto">
          <a:xfrm>
            <a:off x="7588250" y="2382838"/>
            <a:ext cx="609600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5863" name="Object 23">
            <a:extLst>
              <a:ext uri="{FF2B5EF4-FFF2-40B4-BE49-F238E27FC236}">
                <a16:creationId xmlns:a16="http://schemas.microsoft.com/office/drawing/2014/main" id="{D99C90A5-FCB2-699A-910D-90E05627455B}"/>
              </a:ext>
            </a:extLst>
          </p:cNvPr>
          <p:cNvGraphicFramePr>
            <a:graphicFrameLocks/>
          </p:cNvGraphicFramePr>
          <p:nvPr/>
        </p:nvGraphicFramePr>
        <p:xfrm>
          <a:off x="6305550" y="2066925"/>
          <a:ext cx="215900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0606" imgH="289656" progId="Equation.3">
                  <p:embed/>
                </p:oleObj>
              </mc:Choice>
              <mc:Fallback>
                <p:oleObj name="Equation" r:id="rId8" imgW="190606" imgH="289656" progId="Equation.3">
                  <p:embed/>
                  <p:pic>
                    <p:nvPicPr>
                      <p:cNvPr id="0" name="Object 23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5550" y="2066925"/>
                        <a:ext cx="215900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64" name="Object 24">
            <a:extLst>
              <a:ext uri="{FF2B5EF4-FFF2-40B4-BE49-F238E27FC236}">
                <a16:creationId xmlns:a16="http://schemas.microsoft.com/office/drawing/2014/main" id="{F84AF612-AC6E-2CD8-A0DA-D3063E2F2366}"/>
              </a:ext>
            </a:extLst>
          </p:cNvPr>
          <p:cNvGraphicFramePr>
            <a:graphicFrameLocks/>
          </p:cNvGraphicFramePr>
          <p:nvPr/>
        </p:nvGraphicFramePr>
        <p:xfrm>
          <a:off x="7789863" y="2382838"/>
          <a:ext cx="255587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28641" imgH="289656" progId="Equation.3">
                  <p:embed/>
                </p:oleObj>
              </mc:Choice>
              <mc:Fallback>
                <p:oleObj name="Equation" r:id="rId10" imgW="228641" imgH="289656" progId="Equation.3">
                  <p:embed/>
                  <p:pic>
                    <p:nvPicPr>
                      <p:cNvPr id="0" name="Object 24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89863" y="2382838"/>
                        <a:ext cx="255587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65" name="Line 25">
            <a:extLst>
              <a:ext uri="{FF2B5EF4-FFF2-40B4-BE49-F238E27FC236}">
                <a16:creationId xmlns:a16="http://schemas.microsoft.com/office/drawing/2014/main" id="{64917DDE-CE34-6DCF-AEEF-2FBD8C5C53F3}"/>
              </a:ext>
            </a:extLst>
          </p:cNvPr>
          <p:cNvSpPr>
            <a:spLocks noChangeShapeType="1"/>
          </p:cNvSpPr>
          <p:nvPr/>
        </p:nvSpPr>
        <p:spPr bwMode="auto">
          <a:xfrm>
            <a:off x="4692650" y="2992438"/>
            <a:ext cx="3733800" cy="0"/>
          </a:xfrm>
          <a:prstGeom prst="line">
            <a:avLst/>
          </a:prstGeom>
          <a:noFill/>
          <a:ln w="31750">
            <a:solidFill>
              <a:srgbClr val="CCFF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66" name="Line 26">
            <a:extLst>
              <a:ext uri="{FF2B5EF4-FFF2-40B4-BE49-F238E27FC236}">
                <a16:creationId xmlns:a16="http://schemas.microsoft.com/office/drawing/2014/main" id="{88B63E7E-EFF5-3964-62ED-963822B0393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92650" y="2230438"/>
            <a:ext cx="762000" cy="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5867" name="Object 27">
            <a:extLst>
              <a:ext uri="{FF2B5EF4-FFF2-40B4-BE49-F238E27FC236}">
                <a16:creationId xmlns:a16="http://schemas.microsoft.com/office/drawing/2014/main" id="{28CBB6CD-9989-17C1-F378-5B617764C126}"/>
              </a:ext>
            </a:extLst>
          </p:cNvPr>
          <p:cNvGraphicFramePr>
            <a:graphicFrameLocks/>
          </p:cNvGraphicFramePr>
          <p:nvPr/>
        </p:nvGraphicFramePr>
        <p:xfrm>
          <a:off x="7485063" y="3608388"/>
          <a:ext cx="33178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12490" imgH="403920" progId="Equation.3">
                  <p:embed/>
                </p:oleObj>
              </mc:Choice>
              <mc:Fallback>
                <p:oleObj name="公式" r:id="rId12" imgW="312490" imgH="403920" progId="Equation.3">
                  <p:embed/>
                  <p:pic>
                    <p:nvPicPr>
                      <p:cNvPr id="0" name="Object 27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5063" y="3608388"/>
                        <a:ext cx="331787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68" name="Object 28">
            <a:extLst>
              <a:ext uri="{FF2B5EF4-FFF2-40B4-BE49-F238E27FC236}">
                <a16:creationId xmlns:a16="http://schemas.microsoft.com/office/drawing/2014/main" id="{C250B357-FDAC-E967-02FF-2C6C3EB2F4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05375" y="1720850"/>
          <a:ext cx="320675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89583" imgH="403920" progId="Equation.3">
                  <p:embed/>
                </p:oleObj>
              </mc:Choice>
              <mc:Fallback>
                <p:oleObj name="公式" r:id="rId14" imgW="289583" imgH="40392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5375" y="1720850"/>
                        <a:ext cx="320675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69" name="Object 29">
            <a:extLst>
              <a:ext uri="{FF2B5EF4-FFF2-40B4-BE49-F238E27FC236}">
                <a16:creationId xmlns:a16="http://schemas.microsoft.com/office/drawing/2014/main" id="{0E4F35D1-8FA1-09F0-3BFF-B102CB6A79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62975" y="3544888"/>
          <a:ext cx="3206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89583" imgH="396144" progId="Equation.3">
                  <p:embed/>
                </p:oleObj>
              </mc:Choice>
              <mc:Fallback>
                <p:oleObj name="公式" r:id="rId16" imgW="289583" imgH="396144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62975" y="3544888"/>
                        <a:ext cx="32067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70" name="Text Box 30">
            <a:extLst>
              <a:ext uri="{FF2B5EF4-FFF2-40B4-BE49-F238E27FC236}">
                <a16:creationId xmlns:a16="http://schemas.microsoft.com/office/drawing/2014/main" id="{175D2229-72C6-A582-F9CA-462133C4A1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4095750"/>
            <a:ext cx="3352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根据速度变换定理</a:t>
            </a:r>
          </a:p>
        </p:txBody>
      </p:sp>
      <p:sp>
        <p:nvSpPr>
          <p:cNvPr id="35871" name="Text Box 31">
            <a:extLst>
              <a:ext uri="{FF2B5EF4-FFF2-40B4-BE49-F238E27FC236}">
                <a16:creationId xmlns:a16="http://schemas.microsoft.com/office/drawing/2014/main" id="{49B24DD0-3740-4EAD-B9E9-CB0ECBD7FA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663" y="4724400"/>
            <a:ext cx="19050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画出矢量图</a:t>
            </a:r>
          </a:p>
        </p:txBody>
      </p:sp>
      <p:sp>
        <p:nvSpPr>
          <p:cNvPr id="35872" name="Line 32">
            <a:extLst>
              <a:ext uri="{FF2B5EF4-FFF2-40B4-BE49-F238E27FC236}">
                <a16:creationId xmlns:a16="http://schemas.microsoft.com/office/drawing/2014/main" id="{9EB4D715-E3CF-7D7D-3467-328603472594}"/>
              </a:ext>
            </a:extLst>
          </p:cNvPr>
          <p:cNvSpPr>
            <a:spLocks noChangeShapeType="1"/>
          </p:cNvSpPr>
          <p:nvPr/>
        </p:nvSpPr>
        <p:spPr bwMode="auto">
          <a:xfrm>
            <a:off x="8350250" y="1330325"/>
            <a:ext cx="0" cy="14478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5873" name="Object 33">
            <a:extLst>
              <a:ext uri="{FF2B5EF4-FFF2-40B4-BE49-F238E27FC236}">
                <a16:creationId xmlns:a16="http://schemas.microsoft.com/office/drawing/2014/main" id="{0AD1DB0C-CAB7-4955-23BC-4F71033D02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84663" y="5157788"/>
          <a:ext cx="3559175" cy="1343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3550843" imgH="1318248" progId="Equation.3">
                  <p:embed/>
                </p:oleObj>
              </mc:Choice>
              <mc:Fallback>
                <p:oleObj name="公式" r:id="rId18" imgW="3550843" imgH="1318248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3" y="5157788"/>
                        <a:ext cx="3559175" cy="1343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74" name="Object 34">
            <a:extLst>
              <a:ext uri="{FF2B5EF4-FFF2-40B4-BE49-F238E27FC236}">
                <a16:creationId xmlns:a16="http://schemas.microsoft.com/office/drawing/2014/main" id="{F1228C6B-AAE8-7476-FAD7-8B683A136C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29575" y="4673600"/>
          <a:ext cx="320675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289583" imgH="403920" progId="Equation.3">
                  <p:embed/>
                </p:oleObj>
              </mc:Choice>
              <mc:Fallback>
                <p:oleObj name="公式" r:id="rId20" imgW="289583" imgH="40392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9575" y="4673600"/>
                        <a:ext cx="320675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44" name="Rectangle 35">
            <a:extLst>
              <a:ext uri="{FF2B5EF4-FFF2-40B4-BE49-F238E27FC236}">
                <a16:creationId xmlns:a16="http://schemas.microsoft.com/office/drawing/2014/main" id="{643C6BD2-ABC3-BE74-318A-DDFCE69A14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457200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rgbClr val="FFFF00"/>
                </a:solidFill>
                <a:latin typeface="宋体" panose="02010600030101010101" pitchFamily="2" charset="-122"/>
              </a:rPr>
              <a:t>例</a:t>
            </a:r>
          </a:p>
        </p:txBody>
      </p:sp>
      <p:sp>
        <p:nvSpPr>
          <p:cNvPr id="35876" name="Rectangle 36">
            <a:extLst>
              <a:ext uri="{FF2B5EF4-FFF2-40B4-BE49-F238E27FC236}">
                <a16:creationId xmlns:a16="http://schemas.microsoft.com/office/drawing/2014/main" id="{EDD5C67E-B478-B15E-512F-B1F4A37EA0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875" y="2422525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rgbClr val="FFFF00"/>
                </a:solidFill>
                <a:latin typeface="宋体" panose="02010600030101010101" pitchFamily="2" charset="-122"/>
              </a:rPr>
              <a:t>解</a:t>
            </a:r>
          </a:p>
        </p:txBody>
      </p:sp>
      <p:sp>
        <p:nvSpPr>
          <p:cNvPr id="35877" name="Rectangle 37">
            <a:extLst>
              <a:ext uri="{FF2B5EF4-FFF2-40B4-BE49-F238E27FC236}">
                <a16:creationId xmlns:a16="http://schemas.microsoft.com/office/drawing/2014/main" id="{CC8483FB-3517-B706-5A9B-6C8AF5A7C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288" y="1871663"/>
            <a:ext cx="26289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5000"/>
              </a:lnSpc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雨滴的速度矢量。</a:t>
            </a:r>
          </a:p>
        </p:txBody>
      </p:sp>
      <p:sp>
        <p:nvSpPr>
          <p:cNvPr id="35878" name="Rectangle 38">
            <a:extLst>
              <a:ext uri="{FF2B5EF4-FFF2-40B4-BE49-F238E27FC236}">
                <a16:creationId xmlns:a16="http://schemas.microsoft.com/office/drawing/2014/main" id="{7CD27100-3F1A-7628-5316-9D190F1F4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875" y="1905000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rgbClr val="FFFF00"/>
                </a:solidFill>
                <a:latin typeface="宋体" panose="02010600030101010101" pitchFamily="2" charset="-122"/>
              </a:rPr>
              <a:t>求</a:t>
            </a:r>
          </a:p>
        </p:txBody>
      </p:sp>
      <p:sp>
        <p:nvSpPr>
          <p:cNvPr id="35879" name="Arc 39">
            <a:extLst>
              <a:ext uri="{FF2B5EF4-FFF2-40B4-BE49-F238E27FC236}">
                <a16:creationId xmlns:a16="http://schemas.microsoft.com/office/drawing/2014/main" id="{647FE100-B0D0-F070-8E79-7B1D9F82EA7D}"/>
              </a:ext>
            </a:extLst>
          </p:cNvPr>
          <p:cNvSpPr>
            <a:spLocks/>
          </p:cNvSpPr>
          <p:nvPr/>
        </p:nvSpPr>
        <p:spPr bwMode="auto">
          <a:xfrm flipH="1" flipV="1">
            <a:off x="8204200" y="3495675"/>
            <a:ext cx="215900" cy="144463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>
            <a:solidFill>
              <a:srgbClr val="66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" name="Rectangle 37">
            <a:extLst>
              <a:ext uri="{FF2B5EF4-FFF2-40B4-BE49-F238E27FC236}">
                <a16:creationId xmlns:a16="http://schemas.microsoft.com/office/drawing/2014/main" id="{3247FD71-48CC-9B8F-C541-71CA7F53C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5" y="3071813"/>
            <a:ext cx="7369175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雨滴的速度是相对于静止地面的</a:t>
            </a:r>
            <a:r>
              <a:rPr kumimoji="1"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绝对速度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，车速是</a:t>
            </a:r>
            <a:r>
              <a:rPr kumimoji="1"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牵连速度</a:t>
            </a:r>
            <a:r>
              <a:rPr kumimoji="1"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，雨滴相对于车竖直下落的速度是</a:t>
            </a:r>
            <a:r>
              <a:rPr kumimoji="1"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相对速度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5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5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5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5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5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5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5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35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5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35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5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5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5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5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5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2" dur="500"/>
                                        <p:tgtEl>
                                          <p:spTgt spid="3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5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3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5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35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35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1000"/>
                                        <p:tgtEl>
                                          <p:spTgt spid="35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358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358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50" grpId="0" animBg="1" autoUpdateAnimBg="0"/>
      <p:bldP spid="35859" grpId="0" animBg="1"/>
      <p:bldP spid="35870" grpId="0" autoUpdateAnimBg="0"/>
      <p:bldP spid="35871" grpId="0" autoUpdateAnimBg="0"/>
      <p:bldP spid="35876" grpId="0" autoUpdateAnimBg="0"/>
      <p:bldP spid="35877" grpId="0" autoUpdateAnimBg="0"/>
      <p:bldP spid="35878" grpId="0" autoUpdateAnimBg="0"/>
      <p:bldP spid="40" grpId="0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矩形 1">
            <a:extLst>
              <a:ext uri="{FF2B5EF4-FFF2-40B4-BE49-F238E27FC236}">
                <a16:creationId xmlns:a16="http://schemas.microsoft.com/office/drawing/2014/main" id="{3A6048D1-E4F2-1477-DA38-D099E6A5CE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2349500"/>
            <a:ext cx="6678612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>
                <a:solidFill>
                  <a:srgbClr val="FFC000"/>
                </a:solidFill>
              </a:rPr>
              <a:t>作业：</a:t>
            </a:r>
          </a:p>
          <a:p>
            <a:pPr eaLnBrk="1" hangingPunct="1"/>
            <a:r>
              <a:rPr lang="en-US" altLang="zh-CN" sz="2800" b="1">
                <a:solidFill>
                  <a:srgbClr val="FFC000"/>
                </a:solidFill>
              </a:rPr>
              <a:t>P.49</a:t>
            </a:r>
            <a:r>
              <a:rPr lang="zh-CN" altLang="zh-CN" sz="2800" b="1">
                <a:solidFill>
                  <a:srgbClr val="FFC000"/>
                </a:solidFill>
              </a:rPr>
              <a:t>：</a:t>
            </a:r>
            <a:r>
              <a:rPr lang="en-US" altLang="zh-CN" sz="2800" b="1">
                <a:solidFill>
                  <a:schemeClr val="bg1"/>
                </a:solidFill>
              </a:rPr>
              <a:t>1.6 ; 1.10; 1.11; 1.24</a:t>
            </a:r>
            <a:endParaRPr lang="zh-CN" altLang="zh-CN" sz="28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1_默认设计模板">
  <a:themeElements>
    <a:clrScheme name="1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3912</TotalTime>
  <Words>3210</Words>
  <Application>Microsoft Office PowerPoint</Application>
  <PresentationFormat>全屏显示(4:3)</PresentationFormat>
  <Paragraphs>420</Paragraphs>
  <Slides>58</Slides>
  <Notes>5</Notes>
  <HiddenSlides>1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58</vt:i4>
      </vt:variant>
    </vt:vector>
  </HeadingPairs>
  <TitlesOfParts>
    <vt:vector size="72" baseType="lpstr">
      <vt:lpstr>仿宋_GB2312</vt:lpstr>
      <vt:lpstr>黑体</vt:lpstr>
      <vt:lpstr>楷体_GB2312</vt:lpstr>
      <vt:lpstr>宋体</vt:lpstr>
      <vt:lpstr>Arial</vt:lpstr>
      <vt:lpstr>Bookman Old Style</vt:lpstr>
      <vt:lpstr>Calibri</vt:lpstr>
      <vt:lpstr>Symbol</vt:lpstr>
      <vt:lpstr>Times New Roman</vt:lpstr>
      <vt:lpstr>Wingdings</vt:lpstr>
      <vt:lpstr>1_默认设计模板</vt:lpstr>
      <vt:lpstr>Clip</vt:lpstr>
      <vt:lpstr>公式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xjtu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大学物理电子教案</dc:title>
  <dc:subject>CH1-1</dc:subject>
  <dc:creator>喻有理</dc:creator>
  <cp:lastModifiedBy>LuoXiaoguang</cp:lastModifiedBy>
  <cp:revision>238</cp:revision>
  <cp:lastPrinted>2025-11-23T20:37:33Z</cp:lastPrinted>
  <dcterms:created xsi:type="dcterms:W3CDTF">2002-06-18T00:43:24Z</dcterms:created>
  <dcterms:modified xsi:type="dcterms:W3CDTF">2026-03-03T06:35:24Z</dcterms:modified>
</cp:coreProperties>
</file>